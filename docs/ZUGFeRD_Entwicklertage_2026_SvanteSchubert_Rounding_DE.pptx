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9"/>
  </p:notesMasterIdLst>
  <p:sldIdLst>
    <p:sldId id="301" r:id="rId2"/>
    <p:sldId id="331" r:id="rId25"/>
    <p:sldId id="328" r:id="rId26"/>
    <p:sldId id="329" r:id="rId27"/>
    <p:sldId id="330" r:id="rId28"/>
    <p:sldId id="337" r:id="rId29"/>
    <p:sldId id="336" r:id="rId30"/>
    <p:sldId id="335" r:id="rId31"/>
    <p:sldId id="332" r:id="rId32"/>
    <p:sldId id="334" r:id="rId38"/>
  </p:sldIdLst>
  <p:sldSz cx="12192000" cy="6858000"/>
  <p:notesSz cx="6858000" cy="12192000"/>
  <p:embeddedFontLst>
    <p:embeddedFont>
      <p:font typeface="Consolas" panose="020B0609020204030204" pitchFamily="49" charset="0"/>
      <p:regular r:id="rId40"/>
      <p:bold r:id="rId41"/>
      <p:italic r:id="rId42"/>
      <p:boldItalic r:id="rId43"/>
    </p:embeddedFont>
    <p:embeddedFont>
      <p:font typeface="Inter Light Text Light" panose="02000503000000020004" pitchFamily="2" charset="0"/>
      <p:regular r:id="rId44"/>
    </p:embeddedFont>
    <p:embeddedFont>
      <p:font typeface="Inter Medium Text Medium" panose="02000503000000020004" pitchFamily="2" charset="0"/>
      <p:regular r:id="rId45"/>
    </p:embeddedFont>
    <p:embeddedFont>
      <p:font typeface="Inter SemiBold Text SemiBold" panose="02000503000000020004" pitchFamily="2" charset="0"/>
      <p:regular r:id="rId46"/>
    </p:embeddedFont>
    <p:embeddedFont>
      <p:font typeface="Inter Text" panose="02000503000000020004" pitchFamily="2" charset="0"/>
      <p:regular r:id="rId47"/>
      <p:bold r:id="rId4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166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7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32" Type="http://schemas.openxmlformats.org/officeDocument/2006/relationships/slide" Target="slides/slide31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28" Type="http://schemas.openxmlformats.org/officeDocument/2006/relationships/slide" Target="slides/slide27.xml"/><Relationship Id="rId49" Type="http://schemas.openxmlformats.org/officeDocument/2006/relationships/presProps" Target="presProps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tableStyles" Target="tableStyles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1" Type="http://schemas.openxmlformats.org/officeDocument/2006/relationships/theme" Target="theme/theme1.xml"/><Relationship Id="rId25" Type="http://schemas.openxmlformats.org/officeDocument/2006/relationships/slide" Target="slides/slide24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290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Begrüßung. Thema: die neue EN 16931-1:2026 aus Sicht der Syntax-Bindings — UBL und CII als Träger der Semantik.</a:t>
            </a:r>
          </a:p>
          <a:p>
            <a:r>
              <a:rPr lang="de-DE" dirty="0"/>
              <a:t>Vorstellen: Editor der Syntax-Bindings (CEN/TC 434 WG3), von DIN entsandt.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github.com/ConnectingEurope/CEN-TC434-WG1/issues/163 — 'Round only once: no rounding of intermediate values, only of the amounts that are paid are being rounded' (Update 3 vom 14.10.2026).</a:t>
            </a:r>
          </a:p>
          <a:p>
            <a:r>
              <a:rPr lang="de-DE" dirty="0"/>
              <a:t>Die EN 16931-1:2026 sagt in 6.5.14 schon das Richtige: gerundet wird das Endergebnis, nicht Zwischenergebnisse. Das gilt aber nur je Regel; Tabelle 28 und der erste Spiegelstrich von 6.5.14 zwingen jedes Ergebnis wieder auf Cent, bevor es in die nächste Regel geht. Deshalb braucht es Toleranzen bis 1 EUR (BR-S-9, BR-IG-9, BR-IP-9).</a:t>
            </a:r>
          </a:p>
          <a:p>
            <a:r>
              <a:rPr lang="de-DE" dirty="0"/>
              <a:t>Update 3: Gerundet wird nur, was bezahlt wird — der Zahlbetrag BT-115 und die Beträge, die ihn ändern: BT-113 (gezahlter Betrag), BT-172 (Skontobetrag), BT-179 (Gebühren im Namen Dritter), BT-183 (Verzugsbetrag). Sie stehen in der Minor Unit der Währung (ISO 4217, Spalte 'minor unit'; EUR: Cent) — die Bank überweist keine kleineren Beträge. BT-114 (Rundungsbetrag) trägt die eine Rundung. Alles andere, auch die USt, steht so genau da, wie der Aussteller rechnet.</a:t>
            </a:r>
          </a:p>
          <a:p>
            <a:r>
              <a:rPr lang="de-DE" dirty="0"/>
              <a:t>Die USt wird nicht je Rechnung überwiesen, sondern mit der Steuererklärung (Art. 206 MwStSystRL). Wie die USt einer Rechnung gerundet wird, ist nationales Recht: Verlangt es Cent — in Deutschland UStAE 14.5 (20) 'nach Cent genau' —, schränkt eine nationale CIUS BT-110 und BT-117 auf die Minor Unit ein (EN 16931-1:2026, Tabelle 29: 'Restrict allowed fraction digits'). Die Kern-Validierung meldet das als Warnung.</a:t>
            </a:r>
          </a:p>
          <a:p>
            <a:r>
              <a:rPr lang="de-DE" dirty="0"/>
              <a:t>Validierung: exakt aus den angegebenen Werten, bei unendlichen Divisionen mit 34 Stellen (IEEE 754 decimal128). Gleich: gültig. Innerhalb der heutigen Toleranz: gültig mit Warnung — ob die Abweichung akzeptiert wird, entscheidet die Finanzverwaltung; eine Warnung schützt nicht vor Sanktionen. Außerhalb: Fehler. Für Summen gilt 0,005 × (1 + Anzahl der Summanden), wie in #164 vorgeschlagen. Die Toleranzen bleiben, eine Übergangszeit ist nicht nötig: Jede heute gültige Rechnung bleibt gültig, höchstens mit Warnung.</a:t>
            </a:r>
          </a:p>
          <a:p>
            <a:r>
              <a:rPr lang="de-DE" dirty="0"/>
              <a:t>Empfänger validieren mit dieser Genauigkeit, buchen den Zahlbetrag BT-115 und dürfen alle anderen Werte intern runden; die Originalrechnung bleibt gespeichert (Art. 233 und 244 MwStSystRL). Ab 1. Juli 2030 braucht eine EN-16931-konforme E-Rechnung keine Zustimmung des Empfängers mehr (neuer Art. 232, ViDA).</a:t>
            </a:r>
          </a:p>
          <a:p>
            <a:r>
              <a:rPr lang="de-DE" dirty="0"/>
              <a:t>Beispiel Kassenbon → Rechnung (#148): 1.000 × 9,99 € inkl. 19 % USt = 9.990,00 € mit 1.595,04 € USt. Heute (BT-146 mit 4 Stellen: 8,3950) ergibt die Rechnung 9.990,05 € — 5 Cent zu viel, USt 1 Cent zu hoch. Mit #163 und 10 Stellen (8,3949579832): Zahlbetrag 9.990,00 €, BT-114 = −0,000000008. Mit USt in Cent, wo das Gesetz es verlangt: 1.595,04 € (Warnung), Zahlbetrag 9.990,00 €.</a:t>
            </a:r>
          </a:p>
          <a:p>
            <a:r>
              <a:rPr lang="de-DE" dirty="0"/>
              <a:t>Diskussion: Die Trennung in Warnung und Fehler greift die dritte Option von Cyrille Sautereau (FR) auf. Offen sind DRR-Meldungen mit Cent-Zeilen (FR: PPF nimmt bis 6 Stellen an) und die Rückwärtskompatibilität (Paul Simons). Die WG1 hat 2020 schon beschlossen, die Begrenzung von BT-131 aufzuheben (Issue #7).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Drei Folienpaare mit identischem Aufbau — beim Durchblättern sieht man nur die Unterschiede.</a:t>
            </a:r>
          </a:p>
          <a:p>
            <a:r>
              <a:rPr lang="de-DE" dirty="0"/>
              <a:t>Regenbogen: Die sieben berechneten BTs laufen von oben nach unten durch den Regenbogen — BT-146 rot, BT-131 orange, BT-106 gelb, BT-116 grün, BT-117 blau, BT-110 violett, BT-115 magenta. Wo eine spätere Zeile einen von ihnen wieder verwendet, steht er dort fett in derselben Farbe (BT-146 in BT-131, BT-131 in BT-106 und BT-116, BT-116 in BT-117, BT-117 in BT-110, BT-110 in BT-115). Eingangswerte bleiben dunkelblau.</a:t>
            </a:r>
          </a:p>
          <a:p>
            <a:r>
              <a:rPr lang="de-DE" dirty="0"/>
              <a:t>Rahmen: blau = Eingabe- und Zwischenwerte, violett = Endergebnisse. Rechts daneben stehen alle BTs der Kette mit ihren erlaubten Nachkommastellen, die berechneten in ihrer Regenbogenfarbe; zwei BTs teilen sich eine Zeile, wenn sie dieselben Nachkommastellen haben. Alle Eingangswerte — auch Zu- und Abschläge auf Dokumentebene und der USt-Satz — stehen im oberen Kasten, unten die Endergebnisse BT-116, BT-117, BT-110 und der Zahlbetrag BT-115.</a:t>
            </a:r>
          </a:p>
          <a:p>
            <a:r>
              <a:rPr lang="de-DE" dirty="0"/>
              <a:t>Die ±-Werte links gelten für 100 Zeilen à 100 Stück, 19 % USt, alle Rundungen in dieselbe Richtung. Wie weit das wachsen kann, zeigen die Folien 'Wie groß wird die Abweichung?' (Worst Case mit Zeilenanzahl und Menge).</a:t>
            </a:r>
          </a:p>
          <a:p>
            <a:r>
              <a:rPr lang="de-DE" dirty="0"/>
              <a:t>Farben der Nachkommastellen: rot = von der Norm erzwungene Rundung eines Werts, der nicht bezahlt wird (2017/2026: BT-131, BT-106, BT-116, BT-117, BT-110; 2026 auch BT-146); grün = gezahlter Betrag, einmal gerundet: der Zahlbetrag BT-115 — 2017 fest auf 2 Nachkommastellen (Tabelle 26), seit 2026 auf die Minor Unit der Währung (ISO 4217; EUR: Cent, JPY: ganze Yen, KWD: 3 Nachkommastellen); orange = Eingangswert, der wegen einer Begrenzung gerundet werden muss; 'frei' = keine Begrenzung (#163). Der USt-Satz ist eine gesetzliche Konstante und wird nicht gerundet.</a:t>
            </a:r>
          </a:p>
          <a:p>
            <a:r>
              <a:rPr lang="de-DE" dirty="0"/>
              <a:t>Warum BT-116, BT-117 und BT-110 keine Endwerte mehr sind: Nach Update 3 von #163 (14.10.2026) wird nur gerundet, was bezahlt wird. Die USt wird mit der Steuererklärung bezahlt, nicht je Rechnung (Art. 206 MwStSystRL); die USt-Voranmeldung nimmt die Bemessungsgrundlage sogar nur in vollen Euro (BMF-Anleitung 2026). Verlangt nationales Recht die USt je Rechnung in Cent (UStAE 14.5 (20)), schränkt eine nationale CIUS BT-117 und BT-110 auf die Minor Unit ein (Tabelle 29) — die Kern-Validierung meldet das als Warnung.</a:t>
            </a:r>
          </a:p>
          <a:p>
            <a:r>
              <a:rPr lang="de-DE" dirty="0"/>
              <a:t>BT-115 Zahlbetrag = BT-112 Gesamtbetrag (BT-109 netto + BT-110 USt) − BT-113 Vorauszahlung + Σ BT-179 Gebühren im Namen Dritter + BT-114 Rundungsbetrag (BR-CO-16). 2017 und 2026 landen die Fehler aller Zwischenrundungen im Zahlbetrag (± 0,60 € bzw. ± 1,19 € bei 100 Zeilen à 100 Stück); mit #163 wird er einmal gerundet, und BT-114 zeigt diese Rundung.</a:t>
            </a:r>
          </a:p>
          <a:p>
            <a:r>
              <a:rPr lang="de-DE" dirty="0"/>
              <a:t>2017 (Tabelle 26): Nur Beträge sind begrenzt — fest auf 2 Nachkommastellen, unabhängig von der Währung; Preise, Mengen, Basismengen und Sätze sind unbegrenzt. Eine Zwischenrundung: BT-131 weicht je Zeile um bis zu 0,005 € ab, über 100 Zeilen bis zu 0,50 €; die USt darauf um bis zu 0,10 € (9,5 Cent, gerundet).</a:t>
            </a:r>
          </a:p>
          <a:p>
            <a:r>
              <a:rPr lang="de-DE" dirty="0"/>
              <a:t>Schon 2017 widerspricht die Tabelle dem Text der Norm: 'Rounding shall be done on the final calculation results not on any intermediate results'.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Regenbogen: Die sieben berechneten BTs laufen von oben nach unten durch den Regenbogen — BT-146 rot, BT-131 orange, BT-106 gelb, BT-116 grün, BT-117 blau, BT-110 violett, BT-115 magenta. Wo eine spätere Zeile einen von ihnen wieder verwendet, steht er dort fett in derselben Farbe (BT-146 in BT-131, BT-131 in BT-106 und BT-116, BT-116 in BT-117, BT-117 in BT-110, BT-110 in BT-115). Eingangswerte bleiben dunkelblau.</a:t>
            </a:r>
          </a:p>
          <a:p>
            <a:r>
              <a:rPr lang="de-DE" dirty="0"/>
              <a:t>Rahmen: blau = Eingabe- und Zwischenwerte, violett = Endergebnisse. Rechts daneben stehen alle BTs der Kette mit ihren erlaubten Nachkommastellen, die berechneten in ihrer Regenbogenfarbe; zwei BTs teilen sich eine Zeile, wenn sie dieselben Nachkommastellen haben. Alle Eingangswerte — auch Zu- und Abschläge auf Dokumentebene und der USt-Satz — stehen im oberen Kasten, unten die Endergebnisse BT-116, BT-117, BT-110 und der Zahlbetrag BT-115.</a:t>
            </a:r>
          </a:p>
          <a:p>
            <a:r>
              <a:rPr lang="de-DE" dirty="0"/>
              <a:t>Die ±-Werte links gelten für 100 Zeilen à 100 Stück, 19 % USt, alle Rundungen in dieselbe Richtung. Wie weit das wachsen kann, zeigen die Folien 'Wie groß wird die Abweichung?' (Worst Case mit Zeilenanzahl und Menge).</a:t>
            </a:r>
          </a:p>
          <a:p>
            <a:r>
              <a:rPr lang="de-DE" dirty="0"/>
              <a:t>Farben der Nachkommastellen: rot = von der Norm erzwungene Rundung eines Werts, der nicht bezahlt wird (2017/2026: BT-131, BT-106, BT-116, BT-117, BT-110; 2026 auch BT-146); grün = gezahlter Betrag, einmal gerundet: der Zahlbetrag BT-115, auf die Minor Unit der Währung (ISO 4217; EUR: Cent, JPY: ganze Yen, KWD: 3 Nachkommastellen); orange = Eingangswert, der wegen einer Begrenzung gerundet werden muss; 'frei' = keine Begrenzung (#163). Der USt-Satz ist eine gesetzliche Konstante und wird nicht gerundet.</a:t>
            </a:r>
          </a:p>
          <a:p>
            <a:r>
              <a:rPr lang="de-DE" dirty="0"/>
              <a:t>Warum BT-116, BT-117 und BT-110 keine Endwerte mehr sind: Nach Update 3 von #163 (14.10.2026) wird nur gerundet, was bezahlt wird. Die USt wird mit der Steuererklärung bezahlt, nicht je Rechnung (Art. 206 MwStSystRL); die USt-Voranmeldung nimmt die Bemessungsgrundlage sogar nur in vollen Euro (BMF-Anleitung 2026). Verlangt nationales Recht die USt je Rechnung in Cent (UStAE 14.5 (20)), schränkt eine nationale CIUS BT-117 und BT-110 auf die Minor Unit ein (Tabelle 29) — die Kern-Validierung meldet das als Warnung.</a:t>
            </a:r>
          </a:p>
          <a:p>
            <a:r>
              <a:rPr lang="de-DE" dirty="0"/>
              <a:t>BT-115 Zahlbetrag = BT-112 Gesamtbetrag (BT-109 netto + BT-110 USt) − BT-113 Vorauszahlung + Σ BT-179 Gebühren im Namen Dritter + BT-114 Rundungsbetrag (BR-CO-16). 2017 und 2026 landen die Fehler aller Zwischenrundungen im Zahlbetrag (± 0,60 € bzw. ± 1,19 € bei 100 Zeilen à 100 Stück); mit #163 wird er einmal gerundet, und BT-114 zeigt diese Rundung.</a:t>
            </a:r>
          </a:p>
          <a:p>
            <a:r>
              <a:rPr lang="de-DE" dirty="0"/>
              <a:t>2026 (Tabelle 28): BT-146 bis BT-148 auf 'minor unit + 2' (EUR: 4), BT-129 auf 4, BT-149 auf 2, Sätze auf 2, alle Beträge auf die minor unit (EUR: 2). Zwei Zwischenrundungen: BT-146 (bis 0,00005 € je Stück) und BT-131.</a:t>
            </a:r>
          </a:p>
          <a:p>
            <a:r>
              <a:rPr lang="de-DE" dirty="0"/>
              <a:t>Je Zeile: 100 × 0,00005 € aus dem Preis + 0,005 € aus der Zeilenrundung = 0,01 €. Über 100 Zeilen: 1,00 € Netto; USt 1,00 € × 19 % = 0,19 € (der Versatz um genau 19 Cent bleibt nach dem Runden erhalten); Gesamt 1,19 €.</a:t>
            </a:r>
          </a:p>
          <a:p>
            <a:r>
              <a:rPr lang="de-DE" dirty="0"/>
              <a:t>Die Toleranzen der 2026er Regeln fangen solche Differenzen auf (bis 1 EUR bei BR-S-9) — sie verstecken sie aber auch. Mit #163 trennen sie Warnung von Fehler: Die Abweichung wird sichtbar. Konkretes Beispiel mit Zahlen (Kassenbon 1.000 × 9,99 €): siehe Notizen zu #163.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Regenbogen: Die sieben berechneten BTs laufen von oben nach unten durch den Regenbogen — BT-146 rot, BT-131 orange, BT-106 gelb, BT-116 grün, BT-117 blau, BT-110 violett, BT-115 magenta. Wo eine spätere Zeile einen von ihnen wieder verwendet, steht er dort fett in derselben Farbe (BT-146 in BT-131, BT-131 in BT-106 und BT-116, BT-116 in BT-117, BT-117 in BT-110, BT-110 in BT-115). Eingangswerte bleiben dunkelblau.</a:t>
            </a:r>
          </a:p>
          <a:p>
            <a:r>
              <a:rPr lang="de-DE" dirty="0"/>
              <a:t>Rahmen: blau = Eingabe- und Zwischenwerte, violett = Endergebnisse. Rechts daneben stehen alle BTs der Kette mit ihren erlaubten Nachkommastellen, die berechneten in ihrer Regenbogenfarbe; zwei BTs teilen sich eine Zeile, wenn sie dieselben Nachkommastellen haben. Alle Eingangswerte — auch Zu- und Abschläge auf Dokumentebene und der USt-Satz — stehen im oberen Kasten, unten die Endergebnisse BT-116, BT-117, BT-110 und der Zahlbetrag BT-115.</a:t>
            </a:r>
          </a:p>
          <a:p>
            <a:r>
              <a:rPr lang="de-DE" dirty="0"/>
              <a:t>Die ±-Werte links gelten für 100 Zeilen à 100 Stück, 19 % USt, alle Rundungen in dieselbe Richtung. Wie weit das wachsen kann, zeigen die Folien 'Wie groß wird die Abweichung?' (Worst Case mit Zeilenanzahl und Menge).</a:t>
            </a:r>
          </a:p>
          <a:p>
            <a:r>
              <a:rPr lang="de-DE" dirty="0"/>
              <a:t>Farben der Nachkommastellen: rot = von der Norm erzwungene Rundung eines Werts, der nicht bezahlt wird (2017/2026: BT-131, BT-106, BT-116, BT-117, BT-110; 2026 auch BT-146); grün = gezahlter Betrag, einmal gerundet: der Zahlbetrag BT-115, auf die Minor Unit der Währung (ISO 4217; EUR: Cent, JPY: ganze Yen, KWD: 3 Nachkommastellen); orange = Eingangswert, der wegen einer Begrenzung gerundet werden muss; 'frei' = keine Begrenzung (#163). Der USt-Satz ist eine gesetzliche Konstante und wird nicht gerundet.</a:t>
            </a:r>
          </a:p>
          <a:p>
            <a:r>
              <a:rPr lang="de-DE" dirty="0"/>
              <a:t>Warum BT-116, BT-117 und BT-110 keine Endwerte mehr sind: Nach Update 3 von #163 (14.10.2026) wird nur gerundet, was bezahlt wird. Die USt wird mit der Steuererklärung bezahlt, nicht je Rechnung (Art. 206 MwStSystRL); die USt-Voranmeldung nimmt die Bemessungsgrundlage sogar nur in vollen Euro (BMF-Anleitung 2026). Verlangt nationales Recht die USt je Rechnung in Cent (UStAE 14.5 (20)), schränkt eine nationale CIUS BT-117 und BT-110 auf die Minor Unit ein (Tabelle 29) — die Kern-Validierung meldet das als Warnung.</a:t>
            </a:r>
          </a:p>
          <a:p>
            <a:r>
              <a:rPr lang="de-DE" dirty="0"/>
              <a:t>BT-115 Zahlbetrag = BT-112 Gesamtbetrag (BT-109 netto + BT-110 USt) − BT-113 Vorauszahlung + Σ BT-179 Gebühren im Namen Dritter + BT-114 Rundungsbetrag (BR-CO-16). 2017 und 2026 landen die Fehler aller Zwischenrundungen im Zahlbetrag (± 0,60 € bzw. ± 1,19 € bei 100 Zeilen à 100 Stück); mit #163 wird er einmal gerundet, und BT-114 zeigt diese Rundung.</a:t>
            </a:r>
          </a:p>
          <a:p>
            <a:r>
              <a:rPr lang="de-DE" dirty="0"/>
              <a:t>Vorschlag #163: Zwischenwerte werden nicht mehr zwangsweise gerundet, Eingangswerte (Mengen, Preise, Prozentsätze) nicht mehr begrenzt; der USt-Satz bleibt als gesetzliche Konstante bei 2 Nachkommastellen.</a:t>
            </a:r>
          </a:p>
          <a:p>
            <a:r>
              <a:rPr lang="de-DE" dirty="0"/>
              <a:t>Gerundet wird nur der Zahlbetrag BT-115 (dazu BT-113, BT-172, BT-179 und BT-183, die ihn ändern); BT-114 (Rundungsbetrag) macht die eine Rundung sichtbar. Die USt bleibt so genau wie gerechnet; Cent nur per nationaler CIUS, als Warnung. Damit gibt es keine Abweichung durch Zwischenrundung — in jeder Zeilenzahl.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 entsteht die Abweichung — Schritt für Schritt (EN 16931-1:2017):</a:t>
            </a:r>
          </a:p>
          <a:p>
            <a:r>
              <a:rPr lang="de-DE" dirty="0"/>
              <a:t>1. Preis BT-146: 2017 nicht begrenzt. Der Preis bleibt exakt, z. B. 0,123449 €. Faktor 1 (Preisrundung × Menge) entfällt.</a:t>
            </a:r>
          </a:p>
          <a:p>
            <a:r>
              <a:rPr lang="de-DE" dirty="0"/>
              <a:t>2. Zeilenbetrag BT-131 = Preis × Menge: muss auf 2 Nachkommastellen gerundet werden — 2017 fest, unabhängig von der Währung (Tabelle 26). Schlimmster Fall: Der exakte Betrag endet genau auf einen halben Cent, z. B. 12,345 € → 12,35 €. Das sind 0,005 € Abweichung — in jeder Zeile.</a:t>
            </a:r>
          </a:p>
          <a:p>
            <a:r>
              <a:rPr lang="de-DE" dirty="0"/>
              <a:t>3. Summen BT-106 und BT-116 addieren n gerundete Zeilen. Runden alle Zeilen in dieselbe Richtung, addieren sich die halben Cent: n × 0,005 €. 100 Zeilen: 0,50 €; 10.000 Zeilen: 50,00 €.</a:t>
            </a:r>
          </a:p>
          <a:p>
            <a:r>
              <a:rPr lang="de-DE" dirty="0"/>
              <a:t>4. USt BT-117 = 19 % von BT-116: 19 % × 0,50 € = 0,095 € → nach der Rundung auf 2 Nachkommastellen bis zu 0,10 €.</a:t>
            </a:r>
          </a:p>
          <a:p>
            <a:r>
              <a:rPr lang="de-DE" dirty="0"/>
              <a:t>Ergebnis: Die Abweichung wächst linear mit der Zeilenanzahl, ohne Obergrenze. Die Menge je Zeile spielt 2017 keine Rolle — deshalb sind alle Spalten der Tabelle gleich.</a:t>
            </a:r>
          </a:p>
          <a:p>
            <a:r>
              <a:rPr lang="de-DE" dirty="0"/>
              <a:t>Die Tabelle zeigt die Obergrenze. In der Praxis runden Zeilen mal auf, mal ab und gleichen sich teilweise aus.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 entsteht die Abweichung — Schritt für Schritt (EN 16931-1:2026):</a:t>
            </a:r>
          </a:p>
          <a:p>
            <a:r>
              <a:rPr lang="de-DE" dirty="0"/>
              <a:t>1. Preis BT-146 (Faktor 1): darf nur Minor Unit + 2 Nachkommastellen haben (Tabelle 28; EUR: 4). Der exakte Preis — z. B. 0,123449 € aus Bruttopreis minus Rabatt oder aus einem Brutto-Kassenbon — wird einmal in 4 Stellen 'hineingedrückt': 0,1234 €. Fehler 0,000049 €, höchstens 0,00005 € (eine halbe Einheit der 4. Stelle).</a:t>
            </a:r>
          </a:p>
          <a:p>
            <a:r>
              <a:rPr lang="de-DE" dirty="0"/>
              <a:t>2. Zeilenbetrag BT-131 = Preis × Menge: Gerundet wird nicht je Stück — aber der gerundete Preis steckt in jedem Stück. Die Menge multipliziert den einen Preisfehler: 10.000 Stück × 0,000049 € = 0,49 € (WG1-Issue #148: 1.234,00 € statt 1.234,49 €). Höchstens Q × 0,00005 €.</a:t>
            </a:r>
          </a:p>
          <a:p>
            <a:r>
              <a:rPr lang="de-DE" dirty="0"/>
              <a:t>3. Dazu rundet BT-131 auf die Minor Unit (EUR: Cent): noch einmal bis zu 0,005 €. Je Zeile also bis zu Q × 0,00005 € + 0,005 € — das zeigt die erste Tabellenzeile (100 Stück: 0,005 € + 0,005 € = 0,01 €; 10.000 Stück: 0,50 € + 0,005 € = 0,505 €; 1.000.000 Stück: 50,00 € + 0,005 € = 50,005 €).</a:t>
            </a:r>
          </a:p>
          <a:p>
            <a:r>
              <a:rPr lang="de-DE" dirty="0"/>
              <a:t>4. Summen BT-106 und BT-116 (Faktor 2) addieren n Zeilen. Im schlimmsten Fall in dieselbe Richtung: n × (Q × 0,00005 € + 0,005 €). Die erste Tabellenzeile zeigt den Fehler je Zeile als Summe der beiden Teile (Preis × Menge + Cent-Rundung); jede weitere Zeile ist Zeilenanzahl × dieser Wert.</a:t>
            </a:r>
          </a:p>
          <a:p>
            <a:r>
              <a:rPr lang="de-DE" dirty="0"/>
              <a:t>Zum Nachrechnen: 100 Zeilen à 10.000 Stück → je Zeile 10.000 × 0,00005 € + 0,005 € = 0,505 € → × 100 Zeilen = 50,50 € netto. USt: 19 % × 50,50 € = 9,595 € → bis zu 9,60 €.</a:t>
            </a:r>
          </a:p>
          <a:p>
            <a:r>
              <a:rPr lang="de-DE" dirty="0"/>
              <a:t>Die Ecke der Tabelle: 10.000 Zeilen à 1.000.000 Stück → je Zeile 1.000.000 × 0,00005 € + 0,005 € = 50,005 € → × 10.000 Zeilen = 500.050 €. Extrem, aber es zeigt: nach oben offen. Große Mengen gibt es z. B. bei Energie (kWh), Kleinteilen oder Datenvolumen.</a:t>
            </a:r>
          </a:p>
          <a:p>
            <a:r>
              <a:rPr lang="de-DE" dirty="0"/>
              <a:t>Warum der Preis schwerer wiegt als die Zeilen: Der Preisfehler gleicht sich innerhalb einer Zeile nie aus, er wird mit der Menge voll multipliziert. Über viele Zeilen gleichen sich Rundungen dagegen teilweise aus; die Tabelle zeigt die Obergrenze.</a:t>
            </a:r>
          </a:p>
          <a:p>
            <a:r>
              <a:rPr lang="de-DE" dirty="0"/>
              <a:t>Ebenso ist BT-129 (Menge) auf 4 Nachkommastellen begrenzt: Bei teuren Artikeln fehlen je Zeile bis zu 0,00005 × Preis (z. B. 0,00005 kg × 20.000 €/kg = 1,00 €).</a:t>
            </a:r>
          </a:p>
          <a:p>
            <a:r>
              <a:rPr lang="de-DE" dirty="0"/>
              <a:t>Die Toleranzen der 2026er Regeln (bis 1 EUR, z. B. BR-S-9) fangen nur kleine Abweichungen auf — und verstecken die Ursache. Mit #163 trennen dieselben Toleranzen Warnung von Fehler: Die Abweichung wird sichtbar statt versteckt.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 bleibt die Abweichung bei null — Schritt für Schritt (Vorschlag #163):</a:t>
            </a:r>
          </a:p>
          <a:p>
            <a:r>
              <a:rPr lang="de-DE" dirty="0"/>
              <a:t>1. Preis BT-146 und Menge bleiben exakt, ihre Nachkommastellen sind nicht begrenzt. Faktor 1 (Preisrundung × Menge) entfällt.</a:t>
            </a:r>
          </a:p>
          <a:p>
            <a:r>
              <a:rPr lang="de-DE" dirty="0"/>
              <a:t>2. Zeilenbetrag BT-131 und Summe BT-106 werden nicht gerundet, sondern exakt weitergerechnet. Faktor 2 (Zeilenanzahl) entfällt — egal wie viele Zeilen.</a:t>
            </a:r>
          </a:p>
          <a:p>
            <a:r>
              <a:rPr lang="de-DE" dirty="0"/>
              <a:t>3. Gerundet wird nur, was bezahlt wird: der Zahlbetrag BT-115, einmal aus dem exakten Gesamtbetrag auf die Minor Unit der Währung (EUR: Cent); BT-114 (Rundungsbetrag) zeigt diese eine Rundung. Die USt BT-117 und die Bemessungsgrundlage BT-116 bleiben so genau wie gerechnet. Verlangt nationales Recht die USt in Cent (UStAE 14.5 (20)), schränkt eine nationale CIUS sie ein — die Validierung meldet das als Warnung, nicht als Fehler.</a:t>
            </a:r>
          </a:p>
          <a:p>
            <a:r>
              <a:rPr lang="de-DE" dirty="0"/>
              <a:t>Ergebnis: ± 0 Abweichung durch Zwischenrundung, für jede Menge und jede Zeilenanzahl. Voraussetzung ist exakte Dezimalarithmetik — siehe die Folien zur exakten Rechnungsarithmetik.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github.com/ConnectingEurope/CEN-TC434-WG1/issues/164 — 'Gross price model: use Item net price plus VAT as the leading price and extract the VAT once per VAT category'.</a:t>
            </a:r>
          </a:p>
          <a:p>
            <a:r>
              <a:rPr lang="de-DE" dirty="0"/>
              <a:t>Die EN 16931 kennt nur das Nettomodell: Nettopreise summieren, USt aufschlagen. Viele Preise sind aber inklusive USt festgelegt: Buchpreisbindung (§ 5 BuchPrG), Kassenbons oberhalb der Kleinbetragsgrenze, Händler und Marktplätze, gesetzlich festgesetzte Preise.</a:t>
            </a:r>
          </a:p>
          <a:p>
            <a:r>
              <a:rPr lang="de-DE" dirty="0"/>
              <a:t>Vorschlag: zwei Rechenmodelle, jede Rechnung nutzt genau eins. Im Bruttomodell wird die USt je Kategorie einmal herausgerechnet: BT-117 = BT-116V × BT-119 ÷ (100 + BT-119), von der Norm nicht gerundet (Cent nur, wo nationales Recht es verlangt — unter #163 eine Warnung); BT-116 = BT-116V − BT-117. Neue Business Terms mit Suffix V ('plus VAT'), z. B. BT-146V, BT-131V, BT-116V — 'gross' ist in der EN 16931 schon für den Preis vor Rabatt (BT-148) vergeben.</a:t>
            </a:r>
          </a:p>
          <a:p>
            <a:r>
              <a:rPr lang="de-DE" dirty="0"/>
              <a:t>Beispiel: 1.000 Bücher à 24,95 € inkl. 7 % USt = 24.950,00 € mit 1.632,24 € USt. Das Nettomodell der EN 16931-1:2026 (BT-146 mit 4 Nachkommastellen: 23,3178) ergibt 24.950,05 € und 1.632,25 € USt. Es gibt keinen Wert in der Toleranz von BR-CO-32, der 24.950,00 € mit korrekt gerundeter USt ergibt.</a:t>
            </a:r>
          </a:p>
          <a:p>
            <a:r>
              <a:rPr lang="de-DE" dirty="0"/>
              <a:t>Ergänzt #163: In beiden Modellen werden nur die gezahlten Beträge gerundet, etwa der Zahlbetrag BT-115; die herausgerechnete USt BT-117 steht wie berechnet, in Cent nur nach nationalem Recht (Warnung). Im Beispiel ist das die einzige Rundung: 1.632,24299… € werden 1.632,24 €, weil UStAE 14.5 (20) Cent verlangt. BT-146 wird im Bruttomodell als abgeleiteter Informationspreis mit einer halben Einheit seiner letzten Stelle geprüft — ohne Warnung, weil er in keine Rechnung eingeht. In der Diskussion schlägt Paul Simons alternativ Kategorie N mit Befreiungsgrund vor; Cyrille Sautereau unterstützt Bruttopreise im Modell, mit Indikator.</a:t>
            </a:r>
          </a:p>
          <a:p>
            <a:r>
              <a:rPr lang="de-DE" dirty="0"/>
              <a:t>Heute oft unmöglich (#163, Abschnitt 'Gross prices'): Mit Netto und USt in der Minor Unit (EUR: Cent) erreicht eine Rechnung bei 19 % USt nur 100 von 119 Bruttobeträgen; 19 von 119 (16 %) fallen weg, z. B. 9,99 € (8,39 + 1,59 = 9,98; 8,40 + 1,60 = 10,00). Bei 7 % USt sind es 7/107 (7 %), bei 20 % 20/120 (17 %), bei 21 % 21/121 (17 %). Simulation mit Dezimalarithmetik, zufällige Bruttobeträge: 1 Zeile 16 %, 2 Zeilen 34 %, 5 Zeilen 52 %, 10 Zeilen 66 %, 35 Zeilen 81 % treffen die Kassenbon-Summe nicht ohne Umgehung.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Dank und Einladung, bei den Issues mitzulesen und mitzudiskutieren. Links: WG1 #163/#164, WG3-Issue-Tracker, Svanton, XSLT-4.0-Vorschlag.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svanteschubert.github.io/testy/ZUGFeRD_Entwicklertage_2026_SvanteSchubert_Syntax-Binding_DE.pdf" TargetMode="Externa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svante-schubert-2913232/" TargetMode="Externa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qt4cg/qtspecs/issues/2935" TargetMode="External"/><Relationship Id="rId3" Type="http://schemas.openxmlformats.org/officeDocument/2006/relationships/image" Target="../media/image37.jpg"/><Relationship Id="rId7" Type="http://schemas.openxmlformats.org/officeDocument/2006/relationships/hyperlink" Target="https://github.com/svanteschubert/Saxon-HE-enhanced-accuracy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vanteschubert/CEN-TC434-WG3/issues" TargetMode="External"/><Relationship Id="rId11" Type="http://schemas.openxmlformats.org/officeDocument/2006/relationships/image" Target="../media/image38.png"/><Relationship Id="rId5" Type="http://schemas.openxmlformats.org/officeDocument/2006/relationships/hyperlink" Target="https://github.com/ConnectingEurope/CEN-TC434-WG1/issues/163" TargetMode="External"/><Relationship Id="rId10" Type="http://schemas.openxmlformats.org/officeDocument/2006/relationships/hyperlink" Target="https://svanteschubert.github.io/testy/ZUGFeRD_Entwicklertage_2026_SvanteSchubert_Syntax-Binding_DE.pptx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linkedin.com/in/svante-schubert-291323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eader 4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9FB0D8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44598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7E91C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spc="4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ZUGFERD-ENTWICKLERTAGE 2026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95528" y="22402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de-DE" sz="6000" dirty="0">
                <a:solidFill>
                  <a:srgbClr val="DCE6FF"/>
                </a:solidFill>
                <a:latin typeface="Inter Light Text Light" pitchFamily="34" charset="0"/>
                <a:ea typeface="Inter Light Text Light" pitchFamily="34" charset="-122"/>
                <a:cs typeface="Inter Light Text Light" pitchFamily="34" charset="-120"/>
              </a:rPr>
              <a:t>Syntax-Binding der</a:t>
            </a:r>
          </a:p>
          <a:p>
            <a:pPr marL="0" indent="0" algn="l">
              <a:lnSpc>
                <a:spcPct val="98000"/>
              </a:lnSpc>
              <a:buNone/>
            </a:pPr>
            <a:r>
              <a:rPr lang="de-DE" sz="66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22960" y="43434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de-DE" sz="1600" dirty="0">
                <a:solidFill>
                  <a:srgbClr val="C4D2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Die Semantik ist die Fracht, die Syntax der Träger — was die neue Norm für UBL, CII und ZUGFeRD bedeutet.</a:t>
            </a:r>
          </a:p>
        </p:txBody>
      </p:sp>
      <p:sp>
        <p:nvSpPr>
          <p:cNvPr id="8" name="Shape 8"/>
          <p:cNvSpPr/>
          <p:nvPr/>
        </p:nvSpPr>
        <p:spPr>
          <a:xfrm>
            <a:off x="822960" y="5532120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50992"/>
            <a:ext cx="219456" cy="219456"/>
          </a:xfrm>
          <a:prstGeom prst="rect">
            <a:avLst/>
          </a:prstGeom>
        </p:spPr>
      </p:pic>
      <p:sp>
        <p:nvSpPr>
          <p:cNvPr id="10" name="Text 10"/>
          <p:cNvSpPr txBox="1"/>
          <p:nvPr/>
        </p:nvSpPr>
        <p:spPr>
          <a:xfrm>
            <a:off x="1463040" y="54864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4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Svante Schubert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de-DE" sz="1200" dirty="0">
                <a:solidFill>
                  <a:srgbClr val="C4D2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Editor der Syntax-Bindings · CEN/TC 434 WG3 · für DIN</a:t>
            </a:r>
          </a:p>
        </p:txBody>
      </p:sp>
      <p:sp>
        <p:nvSpPr>
          <p:cNvPr id="11" name="QR Card pdf"/>
          <p:cNvSpPr/>
          <p:nvPr/>
        </p:nvSpPr>
        <p:spPr>
          <a:xfrm>
            <a:off x="9537192" y="2359152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A123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2" name="QR Slides pdf" descr="QR-Code: Folien als PDF (https://svanteschubert.github.io/testy/ZUGFeRD_Entwicklertage_2026_SvanteSchubert_Syntax-Binding_DE.pdf)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0344" y="2432304"/>
            <a:ext cx="1682496" cy="1682496"/>
          </a:xfrm>
          <a:prstGeom prst="rect">
            <a:avLst/>
          </a:prstGeom>
        </p:spPr>
      </p:pic>
      <p:sp>
        <p:nvSpPr>
          <p:cNvPr id="13" name="QR Caption pdf">
            <a:hlinkClick r:id="rId5"/>
          </p:cNvPr>
          <p:cNvSpPr txBox="1"/>
          <p:nvPr/>
        </p:nvSpPr>
        <p:spPr>
          <a:xfrm>
            <a:off x="9171432" y="4242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000" spc="100" dirty="0">
                <a:solidFill>
                  <a:srgbClr val="C4D2F4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Folien als PDF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AMENDMENT · MEIN VORSCHLAG 1/2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Nur einmal runden (#163)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Gerundet wird nur, was bezahlt wird — sonst nichts.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7D73E2F-A595-473C-9F0C-80BA506D5B08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24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Card 8"/>
          <p:cNvSpPr/>
          <p:nvPr/>
        </p:nvSpPr>
        <p:spPr>
          <a:xfrm>
            <a:off x="822960" y="233172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IconCircle 9"/>
          <p:cNvSpPr/>
          <p:nvPr/>
        </p:nvSpPr>
        <p:spPr>
          <a:xfrm>
            <a:off x="1060704" y="2532888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0" name="Ico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46" y="2643530"/>
            <a:ext cx="181051" cy="181051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1600200" y="25146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Gezahlte Beträge — einmal gerundet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33856" y="299008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BT-115 Zahlbetrag: in der Minor Unit der Währung (EUR: Cent)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BT-114 Rundungsbetrag trägt die eine Rundung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BT-113, BT-172, BT-179, BT-183 ebenso — sie ändern den Zahlbetrag</a:t>
            </a:r>
          </a:p>
        </p:txBody>
      </p:sp>
      <p:sp>
        <p:nvSpPr>
          <p:cNvPr id="13" name="Card 13"/>
          <p:cNvSpPr/>
          <p:nvPr/>
        </p:nvSpPr>
        <p:spPr>
          <a:xfrm>
            <a:off x="822960" y="4160520"/>
            <a:ext cx="5166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IconCircle 14"/>
          <p:cNvSpPr/>
          <p:nvPr/>
        </p:nvSpPr>
        <p:spPr>
          <a:xfrm>
            <a:off x="1060704" y="4361688"/>
            <a:ext cx="402336" cy="402336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5" name="Icon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" y="4472330"/>
            <a:ext cx="181051" cy="181051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1600200" y="43434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Alles andere — auch die USt — wie berechnet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133856" y="4818888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Preise, Zeilen, Summen, Bemessungsgrundlage und USt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Cent-USt nur per nationaler CIUS (z. B. UStAE 14.5 (20))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Wer heute auf die Minor Unit rundet, bleibt gültig (Warnung)</a:t>
            </a:r>
          </a:p>
        </p:txBody>
      </p:sp>
      <p:sp>
        <p:nvSpPr>
          <p:cNvPr id="18" name="Panel 18"/>
          <p:cNvSpPr/>
          <p:nvPr/>
        </p:nvSpPr>
        <p:spPr>
          <a:xfrm>
            <a:off x="6172200" y="2331720"/>
            <a:ext cx="5193792" cy="3474720"/>
          </a:xfrm>
          <a:prstGeom prst="roundRect">
            <a:avLst>
              <a:gd name="adj" fmla="val 2631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9"/>
          <p:cNvSpPr txBox="1"/>
          <p:nvPr/>
        </p:nvSpPr>
        <p:spPr>
          <a:xfrm>
            <a:off x="649224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WAS SICH ÄNDERT</a:t>
            </a:r>
          </a:p>
        </p:txBody>
      </p:sp>
      <p:sp>
        <p:nvSpPr>
          <p:cNvPr id="20" name="Shape 20"/>
          <p:cNvSpPr/>
          <p:nvPr/>
        </p:nvSpPr>
        <p:spPr>
          <a:xfrm>
            <a:off x="6492240" y="2944368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21"/>
          <p:cNvSpPr txBox="1"/>
          <p:nvPr/>
        </p:nvSpPr>
        <p:spPr>
          <a:xfrm>
            <a:off x="649224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949440" y="2880360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6.5.14 gilt für die ganze Rechenkette, nicht nur je Regel</a:t>
            </a:r>
          </a:p>
        </p:txBody>
      </p:sp>
      <p:sp>
        <p:nvSpPr>
          <p:cNvPr id="23" name="Shape 23"/>
          <p:cNvSpPr/>
          <p:nvPr/>
        </p:nvSpPr>
        <p:spPr>
          <a:xfrm>
            <a:off x="6492240" y="3511296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4"/>
          <p:cNvSpPr txBox="1"/>
          <p:nvPr/>
        </p:nvSpPr>
        <p:spPr>
          <a:xfrm>
            <a:off x="6492240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6949440" y="344728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Exakte Validierung (decimal128): gleich → gültig, in der Toleranz → Warnung, sonst Fehler</a:t>
            </a:r>
          </a:p>
        </p:txBody>
      </p:sp>
      <p:sp>
        <p:nvSpPr>
          <p:cNvPr id="26" name="Shape 26"/>
          <p:cNvSpPr/>
          <p:nvPr/>
        </p:nvSpPr>
        <p:spPr>
          <a:xfrm>
            <a:off x="6492240" y="4078224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7"/>
          <p:cNvSpPr txBox="1"/>
          <p:nvPr/>
        </p:nvSpPr>
        <p:spPr>
          <a:xfrm>
            <a:off x="6492240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949440" y="4014216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Heutige Toleranzen bleiben — sie trennen jetzt Warnung von Fehler</a:t>
            </a:r>
          </a:p>
        </p:txBody>
      </p:sp>
      <p:sp>
        <p:nvSpPr>
          <p:cNvPr id="29" name="Shape 29"/>
          <p:cNvSpPr/>
          <p:nvPr/>
        </p:nvSpPr>
        <p:spPr>
          <a:xfrm>
            <a:off x="6492240" y="4645152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30"/>
          <p:cNvSpPr txBox="1"/>
          <p:nvPr/>
        </p:nvSpPr>
        <p:spPr>
          <a:xfrm>
            <a:off x="6492240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6949440" y="4581144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Keine Anforderung an Software: weder Maximum noch Minimum an Nachkommastellen</a:t>
            </a:r>
          </a:p>
        </p:txBody>
      </p:sp>
      <p:sp>
        <p:nvSpPr>
          <p:cNvPr id="32" name="Shape 32"/>
          <p:cNvSpPr/>
          <p:nvPr/>
        </p:nvSpPr>
        <p:spPr>
          <a:xfrm>
            <a:off x="6492240" y="5212080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3"/>
          <p:cNvSpPr txBox="1"/>
          <p:nvPr/>
        </p:nvSpPr>
        <p:spPr>
          <a:xfrm>
            <a:off x="6492240" y="5212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949440" y="5148072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Syntax unverändert: Beträge in UBL und CII sind xsd:decimal</a:t>
            </a:r>
          </a:p>
        </p:txBody>
      </p:sp>
      <p:sp>
        <p:nvSpPr>
          <p:cNvPr id="35" name="Pill 35"/>
          <p:cNvSpPr/>
          <p:nvPr/>
        </p:nvSpPr>
        <p:spPr>
          <a:xfrm>
            <a:off x="822960" y="5943600"/>
            <a:ext cx="10543032" cy="41148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Stand 14.10.2026: Update 3 in WG1  ·  </a:t>
            </a:r>
            <a:r>
              <a:rPr lang="de-DE" sz="11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Warnung/Fehler nach der 3. Option von Cyrille Sautereau · offen: DRR mit Cent-Zeilen (FR), Rückwärtskompatibilität</a:t>
            </a:r>
          </a:p>
        </p:txBody>
      </p:sp>
      <p:sp>
        <p:nvSpPr>
          <p:cNvPr id="36" name="Speaker 36">
            <a:hlinkClick r:id="rId5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2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RECHENKETTE · EN 16931-1:2017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Vom Bruttopreis über Nettopreis zur USt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DCF4905E-37B2-437C-A529-BB0811F32B64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25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822960" y="1847088"/>
            <a:ext cx="219456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Eine Zwischenrundung:</a:t>
            </a:r>
          </a:p>
        </p:txBody>
      </p:sp>
      <p:sp>
        <p:nvSpPr>
          <p:cNvPr id="9" name="Pill 9"/>
          <p:cNvSpPr/>
          <p:nvPr/>
        </p:nvSpPr>
        <p:spPr>
          <a:xfrm>
            <a:off x="2833726" y="1856232"/>
            <a:ext cx="2927909" cy="310896"/>
          </a:xfrm>
          <a:prstGeom prst="roundRect">
            <a:avLst>
              <a:gd name="adj" fmla="val 50000"/>
            </a:avLst>
          </a:prstGeom>
          <a:solidFill>
            <a:srgbClr val="FFF3E6"/>
          </a:solidFill>
          <a:ln w="9525">
            <a:solidFill>
              <a:srgbClr val="F5CFA3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C257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 auf 2 Nachkommastellen</a:t>
            </a:r>
          </a:p>
        </p:txBody>
      </p:sp>
      <p:sp>
        <p:nvSpPr>
          <p:cNvPr id="10" name="Frame 10"/>
          <p:cNvSpPr/>
          <p:nvPr/>
        </p:nvSpPr>
        <p:spPr>
          <a:xfrm>
            <a:off x="694944" y="2240280"/>
            <a:ext cx="7022592" cy="1709928"/>
          </a:xfrm>
          <a:prstGeom prst="roundRect">
            <a:avLst>
              <a:gd name="adj" fmla="val 5529"/>
            </a:avLst>
          </a:prstGeom>
          <a:solidFill>
            <a:srgbClr val="EEF4FC"/>
          </a:solidFill>
          <a:ln w="19050">
            <a:solidFill>
              <a:srgbClr val="2F7F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11"/>
          <p:cNvSpPr txBox="1"/>
          <p:nvPr/>
        </p:nvSpPr>
        <p:spPr>
          <a:xfrm>
            <a:off x="868680" y="22677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50" spc="150" dirty="0">
                <a:solidFill>
                  <a:srgbClr val="2F7FD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EINGABE- &amp; ZWISCHENWERTE</a:t>
            </a:r>
          </a:p>
        </p:txBody>
      </p:sp>
      <p:sp>
        <p:nvSpPr>
          <p:cNvPr id="12" name="Frame 12"/>
          <p:cNvSpPr/>
          <p:nvPr/>
        </p:nvSpPr>
        <p:spPr>
          <a:xfrm>
            <a:off x="694944" y="4023360"/>
            <a:ext cx="7022592" cy="2203704"/>
          </a:xfrm>
          <a:prstGeom prst="roundRect">
            <a:avLst>
              <a:gd name="adj" fmla="val 5529"/>
            </a:avLst>
          </a:prstGeom>
          <a:solidFill>
            <a:srgbClr val="F4F0FC"/>
          </a:solidFill>
          <a:ln w="19050">
            <a:solidFill>
              <a:srgbClr val="7B57D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3"/>
          <p:cNvSpPr txBox="1"/>
          <p:nvPr/>
        </p:nvSpPr>
        <p:spPr>
          <a:xfrm>
            <a:off x="868680" y="40507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50" spc="150" dirty="0">
                <a:solidFill>
                  <a:srgbClr val="7B57D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ENDERGEBNISSE</a:t>
            </a:r>
          </a:p>
        </p:txBody>
      </p:sp>
      <p:sp>
        <p:nvSpPr>
          <p:cNvPr id="14" name="Card 14"/>
          <p:cNvSpPr/>
          <p:nvPr/>
        </p:nvSpPr>
        <p:spPr>
          <a:xfrm>
            <a:off x="822960" y="2450592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Pill 15"/>
          <p:cNvSpPr/>
          <p:nvPr/>
        </p:nvSpPr>
        <p:spPr>
          <a:xfrm>
            <a:off x="960120" y="2549652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965960" y="2465832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Artikelnettopreis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965960" y="2656332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BT-148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Artikelbruttopreis −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BT-147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Artikelpreisrabatt</a:t>
            </a:r>
          </a:p>
        </p:txBody>
      </p:sp>
      <p:sp>
        <p:nvSpPr>
          <p:cNvPr id="18" name="Pill 18"/>
          <p:cNvSpPr/>
          <p:nvPr/>
        </p:nvSpPr>
        <p:spPr>
          <a:xfrm>
            <a:off x="4773168" y="2503932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unbegrenzt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ungerundet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989320" y="2481072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577840" y="2717292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exakt angegeben</a:t>
            </a:r>
          </a:p>
        </p:txBody>
      </p:sp>
      <p:cxnSp>
        <p:nvCxnSpPr>
          <p:cNvPr id="21" name="Connector 21"/>
          <p:cNvCxnSpPr/>
          <p:nvPr/>
        </p:nvCxnSpPr>
        <p:spPr>
          <a:xfrm>
            <a:off x="1303020" y="2907792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22" name="Card 22"/>
          <p:cNvSpPr/>
          <p:nvPr/>
        </p:nvSpPr>
        <p:spPr>
          <a:xfrm>
            <a:off x="822960" y="2944368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Pill 23"/>
          <p:cNvSpPr/>
          <p:nvPr/>
        </p:nvSpPr>
        <p:spPr>
          <a:xfrm>
            <a:off x="960120" y="3043428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EF6C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965960" y="2959608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Nettobetrag der Zeile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965960" y="3150108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Preis ×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Menge ÷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Basismenge +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BT-141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Zuschläge −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BT-136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Abschläge der Zeile</a:t>
            </a:r>
          </a:p>
        </p:txBody>
      </p:sp>
      <p:sp>
        <p:nvSpPr>
          <p:cNvPr id="26" name="Pill 26"/>
          <p:cNvSpPr/>
          <p:nvPr/>
        </p:nvSpPr>
        <p:spPr>
          <a:xfrm>
            <a:off x="4773168" y="2997708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Zwischenrundung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5989320" y="2974848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0,005 €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5577840" y="3211068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je Zeile</a:t>
            </a:r>
          </a:p>
        </p:txBody>
      </p:sp>
      <p:cxnSp>
        <p:nvCxnSpPr>
          <p:cNvPr id="29" name="Connector 29"/>
          <p:cNvCxnSpPr/>
          <p:nvPr/>
        </p:nvCxnSpPr>
        <p:spPr>
          <a:xfrm>
            <a:off x="1303020" y="3401568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30" name="Card 30"/>
          <p:cNvSpPr/>
          <p:nvPr/>
        </p:nvSpPr>
        <p:spPr>
          <a:xfrm>
            <a:off x="822960" y="3438144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Pill 31"/>
          <p:cNvSpPr/>
          <p:nvPr/>
        </p:nvSpPr>
        <p:spPr>
          <a:xfrm>
            <a:off x="960120" y="3537204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C791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965960" y="3453384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Summe der Nettobeträge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965960" y="3643884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de-DE" sz="8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Nettobeträge aller Rechnungszeilen</a:t>
            </a:r>
          </a:p>
        </p:txBody>
      </p:sp>
      <p:sp>
        <p:nvSpPr>
          <p:cNvPr id="34" name="Pill 34"/>
          <p:cNvSpPr/>
          <p:nvPr/>
        </p:nvSpPr>
        <p:spPr>
          <a:xfrm>
            <a:off x="4773168" y="3491484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Σ gerundeter Werte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5989320" y="3468624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0,50 €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577840" y="3704844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× 100 Zeilen</a:t>
            </a:r>
          </a:p>
        </p:txBody>
      </p:sp>
      <p:sp>
        <p:nvSpPr>
          <p:cNvPr id="37" name="Card 37"/>
          <p:cNvSpPr/>
          <p:nvPr/>
        </p:nvSpPr>
        <p:spPr>
          <a:xfrm>
            <a:off x="822960" y="4233672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Pill 38"/>
          <p:cNvSpPr/>
          <p:nvPr/>
        </p:nvSpPr>
        <p:spPr>
          <a:xfrm>
            <a:off x="960120" y="4332732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1965960" y="4248912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Bemessungsgrundlage je Kategorie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965960" y="4439412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de-DE" sz="8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Zeilen +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Zuschläge</a:t>
            </a:r>
            <a:b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−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BT-92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Abschläge auf Dokumentebene</a:t>
            </a:r>
          </a:p>
        </p:txBody>
      </p:sp>
      <p:sp>
        <p:nvSpPr>
          <p:cNvPr id="41" name="Pill 41"/>
          <p:cNvSpPr/>
          <p:nvPr/>
        </p:nvSpPr>
        <p:spPr>
          <a:xfrm>
            <a:off x="4773168" y="4287012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Zwischenrundung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5989320" y="4264152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0,50 €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5577840" y="4500372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Σ gerundeter Zeilen</a:t>
            </a:r>
          </a:p>
        </p:txBody>
      </p:sp>
      <p:cxnSp>
        <p:nvCxnSpPr>
          <p:cNvPr id="44" name="Connector 44"/>
          <p:cNvCxnSpPr/>
          <p:nvPr/>
        </p:nvCxnSpPr>
        <p:spPr>
          <a:xfrm>
            <a:off x="1303020" y="4690872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45" name="Card 45"/>
          <p:cNvSpPr/>
          <p:nvPr/>
        </p:nvSpPr>
        <p:spPr>
          <a:xfrm>
            <a:off x="822960" y="4727448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6" name="Pill 46"/>
          <p:cNvSpPr/>
          <p:nvPr/>
        </p:nvSpPr>
        <p:spPr>
          <a:xfrm>
            <a:off x="960120" y="4826508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1965960" y="4742688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USt-Betrag je Kategorie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1965960" y="4933188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 ×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USt-Satz ÷ 100</a:t>
            </a:r>
          </a:p>
        </p:txBody>
      </p:sp>
      <p:sp>
        <p:nvSpPr>
          <p:cNvPr id="49" name="Pill 49"/>
          <p:cNvSpPr/>
          <p:nvPr/>
        </p:nvSpPr>
        <p:spPr>
          <a:xfrm>
            <a:off x="4773168" y="4780788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Zwischenrundung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5989320" y="4757928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0,10 €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5577840" y="4994148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0,50 € × 19 %</a:t>
            </a:r>
          </a:p>
        </p:txBody>
      </p:sp>
      <p:cxnSp>
        <p:nvCxnSpPr>
          <p:cNvPr id="52" name="Connector 52"/>
          <p:cNvCxnSpPr/>
          <p:nvPr/>
        </p:nvCxnSpPr>
        <p:spPr>
          <a:xfrm>
            <a:off x="1303020" y="5184648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53" name="Card 53"/>
          <p:cNvSpPr/>
          <p:nvPr/>
        </p:nvSpPr>
        <p:spPr>
          <a:xfrm>
            <a:off x="822960" y="5221224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4" name="Pill 54"/>
          <p:cNvSpPr/>
          <p:nvPr/>
        </p:nvSpPr>
        <p:spPr>
          <a:xfrm>
            <a:off x="960120" y="5320284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1965960" y="5236464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USt-Gesamtbetrag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1965960" y="5426964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de-DE" sz="800" b="1" dirty="0">
                <a:solidFill>
                  <a:srgbClr val="1565C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USt-Beträge aller Kategorien</a:t>
            </a:r>
          </a:p>
        </p:txBody>
      </p:sp>
      <p:sp>
        <p:nvSpPr>
          <p:cNvPr id="57" name="Pill 57"/>
          <p:cNvSpPr/>
          <p:nvPr/>
        </p:nvSpPr>
        <p:spPr>
          <a:xfrm>
            <a:off x="4773168" y="5274564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Σ gerundeter Werte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5989320" y="5251704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0,10 €</a:t>
            </a:r>
          </a:p>
        </p:txBody>
      </p:sp>
      <p:sp>
        <p:nvSpPr>
          <p:cNvPr id="59" name="Panel 59"/>
          <p:cNvSpPr/>
          <p:nvPr/>
        </p:nvSpPr>
        <p:spPr>
          <a:xfrm>
            <a:off x="7845552" y="2240280"/>
            <a:ext cx="3520440" cy="1709928"/>
          </a:xfrm>
          <a:prstGeom prst="roundRect">
            <a:avLst>
              <a:gd name="adj" fmla="val 5529"/>
            </a:avLst>
          </a:prstGeom>
          <a:solidFill>
            <a:srgbClr val="1A2B5E"/>
          </a:solidFill>
          <a:ln w="19050">
            <a:solidFill>
              <a:srgbClr val="7DB3FF"/>
            </a:solidFill>
            <a:prstDash val="solid"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0" name="Text 60"/>
          <p:cNvSpPr txBox="1"/>
          <p:nvPr/>
        </p:nvSpPr>
        <p:spPr>
          <a:xfrm>
            <a:off x="8065008" y="229514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7DB3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ERLAUBTE NACHKOMMASTELLEN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8065008" y="2542032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BT-148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Bruttopreis, </a:t>
            </a: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BT-147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Rabatt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10515600" y="2542032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unbegrenzt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8065008" y="2693822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b="1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Artikelnettopreis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10515600" y="2693822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unbegrenzt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8065008" y="2845613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Menge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10515600" y="2845613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unbegrenzt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8065008" y="2997403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Basismenge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10515600" y="2997403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unbegrenzt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8065008" y="3149194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BT-141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Zuschläge, </a:t>
            </a: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BT-136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Abschläge</a:t>
            </a:r>
            <a:r>
              <a:rPr lang="de-DE" sz="750" dirty="0">
                <a:solidFill>
                  <a:srgbClr val="7E8CB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· Zeile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10515600" y="3149194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71" name="Text 71"/>
          <p:cNvSpPr txBox="1"/>
          <p:nvPr/>
        </p:nvSpPr>
        <p:spPr>
          <a:xfrm>
            <a:off x="8065008" y="3300984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b="1" dirty="0">
                <a:solidFill>
                  <a:srgbClr val="FFB74D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Nettobetrag der Zeile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10515600" y="3300984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8065008" y="3452774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b="1" dirty="0">
                <a:solidFill>
                  <a:srgbClr val="FFE066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Summe der Nettobeträge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10515600" y="3452774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75" name="Text 75"/>
          <p:cNvSpPr txBox="1"/>
          <p:nvPr/>
        </p:nvSpPr>
        <p:spPr>
          <a:xfrm>
            <a:off x="8065008" y="3604565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Zuschläge, </a:t>
            </a: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BT-92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Abschläge</a:t>
            </a:r>
            <a:r>
              <a:rPr lang="de-DE" sz="750" dirty="0">
                <a:solidFill>
                  <a:srgbClr val="7E8CB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· Dokument</a:t>
            </a:r>
          </a:p>
        </p:txBody>
      </p:sp>
      <p:sp>
        <p:nvSpPr>
          <p:cNvPr id="76" name="Text 76"/>
          <p:cNvSpPr txBox="1"/>
          <p:nvPr/>
        </p:nvSpPr>
        <p:spPr>
          <a:xfrm>
            <a:off x="10515600" y="3604565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77" name="Text 77"/>
          <p:cNvSpPr txBox="1"/>
          <p:nvPr/>
        </p:nvSpPr>
        <p:spPr>
          <a:xfrm>
            <a:off x="8065008" y="3756355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USt-Satz (Gesetz)</a:t>
            </a:r>
          </a:p>
        </p:txBody>
      </p:sp>
      <p:sp>
        <p:nvSpPr>
          <p:cNvPr id="78" name="Text 78"/>
          <p:cNvSpPr txBox="1"/>
          <p:nvPr/>
        </p:nvSpPr>
        <p:spPr>
          <a:xfrm>
            <a:off x="10515600" y="3756355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unbegrenzt</a:t>
            </a:r>
          </a:p>
        </p:txBody>
      </p:sp>
      <p:sp>
        <p:nvSpPr>
          <p:cNvPr id="79" name="Panel 79"/>
          <p:cNvSpPr/>
          <p:nvPr/>
        </p:nvSpPr>
        <p:spPr>
          <a:xfrm>
            <a:off x="7845552" y="4023360"/>
            <a:ext cx="3520440" cy="2203704"/>
          </a:xfrm>
          <a:prstGeom prst="roundRect">
            <a:avLst>
              <a:gd name="adj" fmla="val 5529"/>
            </a:avLst>
          </a:prstGeom>
          <a:solidFill>
            <a:srgbClr val="1A2B5E"/>
          </a:solidFill>
          <a:ln w="19050">
            <a:solidFill>
              <a:srgbClr val="B9A2FF"/>
            </a:solidFill>
            <a:prstDash val="solid"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0" name="Text 80"/>
          <p:cNvSpPr txBox="1"/>
          <p:nvPr/>
        </p:nvSpPr>
        <p:spPr>
          <a:xfrm>
            <a:off x="8065008" y="407822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B9A2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NACHKOMMASTELLEN · ENDWERTE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8065008" y="435254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81C784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 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Bemessungsgrundlage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10515600" y="435254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83" name="Text 83"/>
          <p:cNvSpPr txBox="1"/>
          <p:nvPr/>
        </p:nvSpPr>
        <p:spPr>
          <a:xfrm>
            <a:off x="8065008" y="462686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82B1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 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USt-Betrag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10515600" y="462686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8065008" y="490118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CE93D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 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USt-Gesamtbetrag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10515600" y="490118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8065008" y="5669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dirty="0">
                <a:solidFill>
                  <a:srgbClr val="B9A2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Worst Case </a:t>
            </a: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mit Zeilenanzahl und Menge:</a:t>
            </a:r>
          </a:p>
          <a:p>
            <a:pPr marL="0" indent="0" algn="l">
              <a:buNone/>
            </a:pP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 „Wie groß wird die Abweichung?“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822960" y="63093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Rot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gerundeter Zwischenwert   </a:t>
            </a:r>
            <a:r>
              <a:rPr lang="de-DE" sz="85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Grün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gezahlter Betrag, einmal gerundet (Bank)   </a:t>
            </a:r>
            <a:r>
              <a:rPr lang="de-DE" sz="850" dirty="0">
                <a:solidFill>
                  <a:srgbClr val="D98A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Orange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gerundeter Eingangswert</a:t>
            </a:r>
          </a:p>
          <a:p>
            <a:pPr marL="0" indent="0" algn="l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NK = Nachkommastellen · 2017 (Tab. 26): alle Beträge fest 2 NK, unabhängig von der Währung · ± bei 100 Zeilen à 100 Stück, 19 % USt</a:t>
            </a:r>
          </a:p>
          <a:p>
            <a:pPr marL="0" indent="0" algn="l">
              <a:buNone/>
            </a:pPr>
            <a:r>
              <a:rPr lang="de-DE" sz="850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Regen</a:t>
            </a:r>
            <a:r>
              <a:rPr lang="de-DE" sz="850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bo</a:t>
            </a:r>
            <a:r>
              <a:rPr lang="de-DE" sz="850" dirty="0">
                <a:solidFill>
                  <a:srgbClr val="1565C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gen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Reihenfolge der Rechenschritte; ein BT behält seine Farbe, wo er weiter unten wieder verwendet wird</a:t>
            </a:r>
          </a:p>
        </p:txBody>
      </p:sp>
      <p:sp>
        <p:nvSpPr>
          <p:cNvPr id="89" name="Card 89"/>
          <p:cNvSpPr/>
          <p:nvPr/>
        </p:nvSpPr>
        <p:spPr>
          <a:xfrm>
            <a:off x="822960" y="5715000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0" name="Pill 90"/>
          <p:cNvSpPr/>
          <p:nvPr/>
        </p:nvSpPr>
        <p:spPr>
          <a:xfrm>
            <a:off x="960120" y="5814060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AD1457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BT-115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1965960" y="5730240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Zahlbetrag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965960" y="5920740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b="1" dirty="0">
                <a:solidFill>
                  <a:srgbClr val="6A1B9A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USt-Gesamtbetrag +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netto</a:t>
            </a:r>
            <a:b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−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BT-113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Vorauszahlung +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BT-114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Rundungsbetrag</a:t>
            </a:r>
          </a:p>
        </p:txBody>
      </p:sp>
      <p:sp>
        <p:nvSpPr>
          <p:cNvPr id="93" name="Pill 93"/>
          <p:cNvSpPr/>
          <p:nvPr/>
        </p:nvSpPr>
        <p:spPr>
          <a:xfrm>
            <a:off x="4773168" y="5768340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1E8A4C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Endwert · Bank</a:t>
            </a:r>
          </a:p>
        </p:txBody>
      </p:sp>
      <p:sp>
        <p:nvSpPr>
          <p:cNvPr id="94" name="Text 94"/>
          <p:cNvSpPr txBox="1"/>
          <p:nvPr/>
        </p:nvSpPr>
        <p:spPr>
          <a:xfrm>
            <a:off x="5989320" y="5745480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0,60 €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5577840" y="5981700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0,50 € + 0,10 €</a:t>
            </a:r>
          </a:p>
        </p:txBody>
      </p:sp>
      <p:cxnSp>
        <p:nvCxnSpPr>
          <p:cNvPr id="96" name="Connector 96"/>
          <p:cNvCxnSpPr/>
          <p:nvPr/>
        </p:nvCxnSpPr>
        <p:spPr>
          <a:xfrm>
            <a:off x="1303020" y="5678424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97" name="Text 97"/>
          <p:cNvSpPr txBox="1"/>
          <p:nvPr/>
        </p:nvSpPr>
        <p:spPr>
          <a:xfrm>
            <a:off x="8065008" y="517550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F48FB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BT-115 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Zahlbetrag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9994392" y="5175504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81C784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99" name="Reuse 99"/>
          <p:cNvSpPr/>
          <p:nvPr/>
        </p:nvSpPr>
        <p:spPr>
          <a:xfrm>
            <a:off x="1645920" y="2679192"/>
            <a:ext cx="309067" cy="530351"/>
          </a:xfrm>
          <a:custGeom>
            <a:avLst/>
            <a:gdLst/>
            <a:ahLst/>
            <a:cxnLst/>
            <a:rect l="l" t="t" r="r" b="b"/>
            <a:pathLst>
              <a:path w="309067" h="530351" fill="none">
                <a:moveTo>
                  <a:pt x="0" y="0"/>
                </a:moveTo>
                <a:lnTo>
                  <a:pt x="256032" y="0"/>
                </a:lnTo>
                <a:lnTo>
                  <a:pt x="256032" y="530351"/>
                </a:lnTo>
                <a:lnTo>
                  <a:pt x="309067" y="530351"/>
                </a:lnTo>
              </a:path>
            </a:pathLst>
          </a:custGeom>
          <a:noFill/>
          <a:ln w="15875">
            <a:solidFill>
              <a:srgbClr val="D32F2F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0" name="Reuse 100"/>
          <p:cNvSpPr/>
          <p:nvPr/>
        </p:nvSpPr>
        <p:spPr>
          <a:xfrm>
            <a:off x="1645920" y="3172968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210311" y="0"/>
                </a:lnTo>
                <a:lnTo>
                  <a:pt x="21031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EF6C00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1" name="Reuse 101"/>
          <p:cNvSpPr/>
          <p:nvPr/>
        </p:nvSpPr>
        <p:spPr>
          <a:xfrm>
            <a:off x="1645920" y="3172968"/>
            <a:ext cx="309067" cy="1325880"/>
          </a:xfrm>
          <a:custGeom>
            <a:avLst/>
            <a:gdLst/>
            <a:ahLst/>
            <a:cxnLst/>
            <a:rect l="l" t="t" r="r" b="b"/>
            <a:pathLst>
              <a:path w="309067" h="1325880" fill="none">
                <a:moveTo>
                  <a:pt x="0" y="0"/>
                </a:moveTo>
                <a:lnTo>
                  <a:pt x="210311" y="0"/>
                </a:lnTo>
                <a:lnTo>
                  <a:pt x="210311" y="1325880"/>
                </a:lnTo>
                <a:lnTo>
                  <a:pt x="309067" y="1325880"/>
                </a:lnTo>
              </a:path>
            </a:pathLst>
          </a:custGeom>
          <a:noFill/>
          <a:ln w="15875">
            <a:solidFill>
              <a:srgbClr val="EF6C00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2" name="Reuse 102"/>
          <p:cNvSpPr/>
          <p:nvPr/>
        </p:nvSpPr>
        <p:spPr>
          <a:xfrm>
            <a:off x="1645920" y="4462272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164591" y="0"/>
                </a:lnTo>
                <a:lnTo>
                  <a:pt x="16459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2E7D32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3" name="Reuse 103"/>
          <p:cNvSpPr/>
          <p:nvPr/>
        </p:nvSpPr>
        <p:spPr>
          <a:xfrm>
            <a:off x="1645920" y="4956048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118871" y="0"/>
                </a:lnTo>
                <a:lnTo>
                  <a:pt x="11887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1565C0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4" name="Reuse 104"/>
          <p:cNvSpPr/>
          <p:nvPr/>
        </p:nvSpPr>
        <p:spPr>
          <a:xfrm>
            <a:off x="1645920" y="5449824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73151" y="0"/>
                </a:lnTo>
                <a:lnTo>
                  <a:pt x="7315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6A1B9A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RECHENKETTE · EN 16931-1:2026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Vom Bruttopreis über Nettopreis zur USt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D3E2CDAE-2F23-4283-8153-FFAA4570C66A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26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822960" y="1847088"/>
            <a:ext cx="219456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Zwei Zwischenrundungen:</a:t>
            </a:r>
          </a:p>
        </p:txBody>
      </p:sp>
      <p:sp>
        <p:nvSpPr>
          <p:cNvPr id="9" name="Pill 9"/>
          <p:cNvSpPr/>
          <p:nvPr/>
        </p:nvSpPr>
        <p:spPr>
          <a:xfrm>
            <a:off x="3014777" y="1856232"/>
            <a:ext cx="2569464" cy="310896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 w="9525">
            <a:solidFill>
              <a:srgbClr val="F5C2BF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C6282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 auf Minor Unit + 2</a:t>
            </a:r>
          </a:p>
        </p:txBody>
      </p:sp>
      <p:sp>
        <p:nvSpPr>
          <p:cNvPr id="10" name="Pill 10"/>
          <p:cNvSpPr/>
          <p:nvPr/>
        </p:nvSpPr>
        <p:spPr>
          <a:xfrm>
            <a:off x="5712257" y="1856232"/>
            <a:ext cx="2569464" cy="310896"/>
          </a:xfrm>
          <a:prstGeom prst="roundRect">
            <a:avLst>
              <a:gd name="adj" fmla="val 50000"/>
            </a:avLst>
          </a:prstGeom>
          <a:solidFill>
            <a:srgbClr val="FFF3E6"/>
          </a:solidFill>
          <a:ln w="9525">
            <a:solidFill>
              <a:srgbClr val="F5CFA3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C257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 auf die Minor Unit</a:t>
            </a:r>
          </a:p>
        </p:txBody>
      </p:sp>
      <p:sp>
        <p:nvSpPr>
          <p:cNvPr id="11" name="Frame 11"/>
          <p:cNvSpPr/>
          <p:nvPr/>
        </p:nvSpPr>
        <p:spPr>
          <a:xfrm>
            <a:off x="694944" y="2240280"/>
            <a:ext cx="7022592" cy="1709928"/>
          </a:xfrm>
          <a:prstGeom prst="roundRect">
            <a:avLst>
              <a:gd name="adj" fmla="val 5529"/>
            </a:avLst>
          </a:prstGeom>
          <a:solidFill>
            <a:srgbClr val="EEF4FC"/>
          </a:solidFill>
          <a:ln w="19050">
            <a:solidFill>
              <a:srgbClr val="2F7F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2"/>
          <p:cNvSpPr txBox="1"/>
          <p:nvPr/>
        </p:nvSpPr>
        <p:spPr>
          <a:xfrm>
            <a:off x="868680" y="22677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50" spc="150" dirty="0">
                <a:solidFill>
                  <a:srgbClr val="2F7FD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EINGABE- &amp; ZWISCHENWERTE</a:t>
            </a:r>
          </a:p>
        </p:txBody>
      </p:sp>
      <p:sp>
        <p:nvSpPr>
          <p:cNvPr id="13" name="Frame 13"/>
          <p:cNvSpPr/>
          <p:nvPr/>
        </p:nvSpPr>
        <p:spPr>
          <a:xfrm>
            <a:off x="694944" y="4023360"/>
            <a:ext cx="7022592" cy="2203704"/>
          </a:xfrm>
          <a:prstGeom prst="roundRect">
            <a:avLst>
              <a:gd name="adj" fmla="val 5529"/>
            </a:avLst>
          </a:prstGeom>
          <a:solidFill>
            <a:srgbClr val="F4F0FC"/>
          </a:solidFill>
          <a:ln w="19050">
            <a:solidFill>
              <a:srgbClr val="7B57D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4"/>
          <p:cNvSpPr txBox="1"/>
          <p:nvPr/>
        </p:nvSpPr>
        <p:spPr>
          <a:xfrm>
            <a:off x="868680" y="40507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50" spc="150" dirty="0">
                <a:solidFill>
                  <a:srgbClr val="7B57D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ENDERGEBNISSE</a:t>
            </a:r>
          </a:p>
        </p:txBody>
      </p:sp>
      <p:sp>
        <p:nvSpPr>
          <p:cNvPr id="15" name="Card 15"/>
          <p:cNvSpPr/>
          <p:nvPr/>
        </p:nvSpPr>
        <p:spPr>
          <a:xfrm>
            <a:off x="822960" y="2450592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Pill 16"/>
          <p:cNvSpPr/>
          <p:nvPr/>
        </p:nvSpPr>
        <p:spPr>
          <a:xfrm>
            <a:off x="960120" y="2549652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965960" y="2465832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Artikelnettopreis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965960" y="2656332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BT-148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Artikelbruttopreis −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BT-147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Artikelpreisrabatt</a:t>
            </a:r>
          </a:p>
        </p:txBody>
      </p:sp>
      <p:sp>
        <p:nvSpPr>
          <p:cNvPr id="19" name="Pill 19"/>
          <p:cNvSpPr/>
          <p:nvPr/>
        </p:nvSpPr>
        <p:spPr>
          <a:xfrm>
            <a:off x="4773168" y="2503932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00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 + 2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Zwischenrundung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989320" y="2481072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0,00005 €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577840" y="2717292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Preis einmal gerundet</a:t>
            </a:r>
          </a:p>
        </p:txBody>
      </p:sp>
      <p:cxnSp>
        <p:nvCxnSpPr>
          <p:cNvPr id="22" name="Connector 22"/>
          <p:cNvCxnSpPr/>
          <p:nvPr/>
        </p:nvCxnSpPr>
        <p:spPr>
          <a:xfrm>
            <a:off x="1303020" y="2907792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23" name="Card 23"/>
          <p:cNvSpPr/>
          <p:nvPr/>
        </p:nvSpPr>
        <p:spPr>
          <a:xfrm>
            <a:off x="822960" y="2944368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Pill 24"/>
          <p:cNvSpPr/>
          <p:nvPr/>
        </p:nvSpPr>
        <p:spPr>
          <a:xfrm>
            <a:off x="960120" y="3043428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EF6C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965960" y="2959608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Nettobetrag der Zeile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1965960" y="3150108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Preis ×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Menge ÷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Basismenge +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BT-141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Zuschläge −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BT-136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Abschläge der Zeile</a:t>
            </a:r>
          </a:p>
        </p:txBody>
      </p:sp>
      <p:sp>
        <p:nvSpPr>
          <p:cNvPr id="27" name="Pill 27"/>
          <p:cNvSpPr/>
          <p:nvPr/>
        </p:nvSpPr>
        <p:spPr>
          <a:xfrm>
            <a:off x="4773168" y="2997708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Zwischenrundung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5989320" y="2974848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0,01 €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5577840" y="3211068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0,005 € + 100 × 0,00005 €</a:t>
            </a:r>
          </a:p>
        </p:txBody>
      </p:sp>
      <p:cxnSp>
        <p:nvCxnSpPr>
          <p:cNvPr id="30" name="Connector 30"/>
          <p:cNvCxnSpPr/>
          <p:nvPr/>
        </p:nvCxnSpPr>
        <p:spPr>
          <a:xfrm>
            <a:off x="1303020" y="3401568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31" name="Card 31"/>
          <p:cNvSpPr/>
          <p:nvPr/>
        </p:nvSpPr>
        <p:spPr>
          <a:xfrm>
            <a:off x="822960" y="3438144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Pill 32"/>
          <p:cNvSpPr/>
          <p:nvPr/>
        </p:nvSpPr>
        <p:spPr>
          <a:xfrm>
            <a:off x="960120" y="3537204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C791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965960" y="3453384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Summe der Nettobeträge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1965960" y="3643884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de-DE" sz="8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Nettobeträge aller Rechnungszeilen</a:t>
            </a:r>
          </a:p>
        </p:txBody>
      </p:sp>
      <p:sp>
        <p:nvSpPr>
          <p:cNvPr id="35" name="Pill 35"/>
          <p:cNvSpPr/>
          <p:nvPr/>
        </p:nvSpPr>
        <p:spPr>
          <a:xfrm>
            <a:off x="4773168" y="3491484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Σ gerundeter Werte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989320" y="3468624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1,00 €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5577840" y="3704844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× 100 Zeilen</a:t>
            </a:r>
          </a:p>
        </p:txBody>
      </p:sp>
      <p:sp>
        <p:nvSpPr>
          <p:cNvPr id="38" name="Card 38"/>
          <p:cNvSpPr/>
          <p:nvPr/>
        </p:nvSpPr>
        <p:spPr>
          <a:xfrm>
            <a:off x="822960" y="4233672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9" name="Pill 39"/>
          <p:cNvSpPr/>
          <p:nvPr/>
        </p:nvSpPr>
        <p:spPr>
          <a:xfrm>
            <a:off x="960120" y="4332732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965960" y="4248912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Bemessungsgrundlage je Kategorie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1965960" y="4439412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de-DE" sz="8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Zeilen +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Zuschläge</a:t>
            </a:r>
            <a:b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−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BT-92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Abschläge auf Dokumentebene</a:t>
            </a:r>
          </a:p>
        </p:txBody>
      </p:sp>
      <p:sp>
        <p:nvSpPr>
          <p:cNvPr id="42" name="Pill 42"/>
          <p:cNvSpPr/>
          <p:nvPr/>
        </p:nvSpPr>
        <p:spPr>
          <a:xfrm>
            <a:off x="4773168" y="4287012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Zwischenrundung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5989320" y="4264152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1,00 €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5577840" y="4500372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Σ gerundeter Zeilen</a:t>
            </a:r>
          </a:p>
        </p:txBody>
      </p:sp>
      <p:cxnSp>
        <p:nvCxnSpPr>
          <p:cNvPr id="45" name="Connector 45"/>
          <p:cNvCxnSpPr/>
          <p:nvPr/>
        </p:nvCxnSpPr>
        <p:spPr>
          <a:xfrm>
            <a:off x="1303020" y="4690872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46" name="Card 46"/>
          <p:cNvSpPr/>
          <p:nvPr/>
        </p:nvSpPr>
        <p:spPr>
          <a:xfrm>
            <a:off x="822960" y="4727448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7" name="Pill 47"/>
          <p:cNvSpPr/>
          <p:nvPr/>
        </p:nvSpPr>
        <p:spPr>
          <a:xfrm>
            <a:off x="960120" y="4826508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1965960" y="4742688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USt-Betrag je Kategorie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1965960" y="4933188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 ×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USt-Satz ÷ 100</a:t>
            </a:r>
          </a:p>
        </p:txBody>
      </p:sp>
      <p:sp>
        <p:nvSpPr>
          <p:cNvPr id="50" name="Pill 50"/>
          <p:cNvSpPr/>
          <p:nvPr/>
        </p:nvSpPr>
        <p:spPr>
          <a:xfrm>
            <a:off x="4773168" y="4780788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Zwischenrundung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5989320" y="4757928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0,19 €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5577840" y="4994148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1,00 € × 19 %</a:t>
            </a:r>
          </a:p>
        </p:txBody>
      </p:sp>
      <p:cxnSp>
        <p:nvCxnSpPr>
          <p:cNvPr id="53" name="Connector 53"/>
          <p:cNvCxnSpPr/>
          <p:nvPr/>
        </p:nvCxnSpPr>
        <p:spPr>
          <a:xfrm>
            <a:off x="1303020" y="5184648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54" name="Card 54"/>
          <p:cNvSpPr/>
          <p:nvPr/>
        </p:nvSpPr>
        <p:spPr>
          <a:xfrm>
            <a:off x="822960" y="5221224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5" name="Pill 55"/>
          <p:cNvSpPr/>
          <p:nvPr/>
        </p:nvSpPr>
        <p:spPr>
          <a:xfrm>
            <a:off x="960120" y="5320284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1965960" y="5236464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USt-Gesamtbetrag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1965960" y="5426964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de-DE" sz="800" b="1" dirty="0">
                <a:solidFill>
                  <a:srgbClr val="1565C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USt-Beträge aller Kategorien</a:t>
            </a:r>
          </a:p>
        </p:txBody>
      </p:sp>
      <p:sp>
        <p:nvSpPr>
          <p:cNvPr id="58" name="Pill 58"/>
          <p:cNvSpPr/>
          <p:nvPr/>
        </p:nvSpPr>
        <p:spPr>
          <a:xfrm>
            <a:off x="4773168" y="5274564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C0392B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Σ gerundeter Werte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5989320" y="5251704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0,19 €</a:t>
            </a:r>
          </a:p>
        </p:txBody>
      </p:sp>
      <p:sp>
        <p:nvSpPr>
          <p:cNvPr id="60" name="Panel 60"/>
          <p:cNvSpPr/>
          <p:nvPr/>
        </p:nvSpPr>
        <p:spPr>
          <a:xfrm>
            <a:off x="7845552" y="2240280"/>
            <a:ext cx="3520440" cy="1709928"/>
          </a:xfrm>
          <a:prstGeom prst="roundRect">
            <a:avLst>
              <a:gd name="adj" fmla="val 5529"/>
            </a:avLst>
          </a:prstGeom>
          <a:solidFill>
            <a:srgbClr val="1A2B5E"/>
          </a:solidFill>
          <a:ln w="19050">
            <a:solidFill>
              <a:srgbClr val="7DB3FF"/>
            </a:solidFill>
            <a:prstDash val="solid"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1" name="Text 61"/>
          <p:cNvSpPr txBox="1"/>
          <p:nvPr/>
        </p:nvSpPr>
        <p:spPr>
          <a:xfrm>
            <a:off x="8065008" y="229514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7DB3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ERLAUBTE NACHKOMMASTELLEN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8065008" y="2542032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BT-148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Bruttopreis, </a:t>
            </a: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BT-147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Rabatt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9994392" y="2542032"/>
            <a:ext cx="118872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 + 2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8065008" y="2693822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b="1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Artikelnettopreis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9994392" y="2693822"/>
            <a:ext cx="118872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 + 2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8065008" y="2845613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Menge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10515600" y="2845613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4 NK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8065008" y="2997403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Basismenge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10515600" y="2997403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8065008" y="3149194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BT-141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Zuschläge, </a:t>
            </a: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BT-136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Abschläge</a:t>
            </a:r>
            <a:r>
              <a:rPr lang="de-DE" sz="750" dirty="0">
                <a:solidFill>
                  <a:srgbClr val="7E8CB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· Zeile</a:t>
            </a:r>
          </a:p>
        </p:txBody>
      </p:sp>
      <p:sp>
        <p:nvSpPr>
          <p:cNvPr id="71" name="Text 71"/>
          <p:cNvSpPr txBox="1"/>
          <p:nvPr/>
        </p:nvSpPr>
        <p:spPr>
          <a:xfrm>
            <a:off x="9994392" y="3149194"/>
            <a:ext cx="118872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8065008" y="3300984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b="1" dirty="0">
                <a:solidFill>
                  <a:srgbClr val="FFB74D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Nettobetrag der Zeile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9994392" y="3300984"/>
            <a:ext cx="118872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8065008" y="3452774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b="1" dirty="0">
                <a:solidFill>
                  <a:srgbClr val="FFE066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Summe der Nettobeträge</a:t>
            </a:r>
          </a:p>
        </p:txBody>
      </p:sp>
      <p:sp>
        <p:nvSpPr>
          <p:cNvPr id="75" name="Text 75"/>
          <p:cNvSpPr txBox="1"/>
          <p:nvPr/>
        </p:nvSpPr>
        <p:spPr>
          <a:xfrm>
            <a:off x="9994392" y="3452774"/>
            <a:ext cx="118872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76" name="Text 76"/>
          <p:cNvSpPr txBox="1"/>
          <p:nvPr/>
        </p:nvSpPr>
        <p:spPr>
          <a:xfrm>
            <a:off x="8065008" y="3604565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Zuschläge, </a:t>
            </a: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BT-92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Abschläge</a:t>
            </a:r>
            <a:r>
              <a:rPr lang="de-DE" sz="750" dirty="0">
                <a:solidFill>
                  <a:srgbClr val="7E8CB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· Dokument</a:t>
            </a:r>
          </a:p>
        </p:txBody>
      </p:sp>
      <p:sp>
        <p:nvSpPr>
          <p:cNvPr id="77" name="Text 77"/>
          <p:cNvSpPr txBox="1"/>
          <p:nvPr/>
        </p:nvSpPr>
        <p:spPr>
          <a:xfrm>
            <a:off x="9994392" y="3604565"/>
            <a:ext cx="118872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B547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78" name="Text 78"/>
          <p:cNvSpPr txBox="1"/>
          <p:nvPr/>
        </p:nvSpPr>
        <p:spPr>
          <a:xfrm>
            <a:off x="8065008" y="3756355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USt-Satz (Gesetz)</a:t>
            </a:r>
          </a:p>
        </p:txBody>
      </p:sp>
      <p:sp>
        <p:nvSpPr>
          <p:cNvPr id="79" name="Text 79"/>
          <p:cNvSpPr txBox="1"/>
          <p:nvPr/>
        </p:nvSpPr>
        <p:spPr>
          <a:xfrm>
            <a:off x="10515600" y="3756355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80" name="Panel 80"/>
          <p:cNvSpPr/>
          <p:nvPr/>
        </p:nvSpPr>
        <p:spPr>
          <a:xfrm>
            <a:off x="7845552" y="4023360"/>
            <a:ext cx="3520440" cy="2203704"/>
          </a:xfrm>
          <a:prstGeom prst="roundRect">
            <a:avLst>
              <a:gd name="adj" fmla="val 5529"/>
            </a:avLst>
          </a:prstGeom>
          <a:solidFill>
            <a:srgbClr val="1A2B5E"/>
          </a:solidFill>
          <a:ln w="19050">
            <a:solidFill>
              <a:srgbClr val="B9A2FF"/>
            </a:solidFill>
            <a:prstDash val="solid"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1" name="Text 81"/>
          <p:cNvSpPr txBox="1"/>
          <p:nvPr/>
        </p:nvSpPr>
        <p:spPr>
          <a:xfrm>
            <a:off x="8065008" y="407822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B9A2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NACHKOMMASTELLEN · ENDWERTE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8065008" y="435254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81C784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 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Bemessungsgrundlage</a:t>
            </a:r>
          </a:p>
        </p:txBody>
      </p:sp>
      <p:sp>
        <p:nvSpPr>
          <p:cNvPr id="83" name="Text 83"/>
          <p:cNvSpPr txBox="1"/>
          <p:nvPr/>
        </p:nvSpPr>
        <p:spPr>
          <a:xfrm>
            <a:off x="9994392" y="4352544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8065008" y="462686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82B1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 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USt-Betrag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9994392" y="4626864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8065008" y="490118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CE93D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 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USt-Gesamtbetrag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9994392" y="4901184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8065008" y="5669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dirty="0">
                <a:solidFill>
                  <a:srgbClr val="B9A2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Worst Case </a:t>
            </a: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mit Zeilenanzahl und Menge:</a:t>
            </a:r>
          </a:p>
          <a:p>
            <a:pPr marL="0" indent="0" algn="l">
              <a:buNone/>
            </a:pP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 „Wie groß wird die Abweichung?“</a:t>
            </a:r>
          </a:p>
        </p:txBody>
      </p:sp>
      <p:sp>
        <p:nvSpPr>
          <p:cNvPr id="89" name="Text 89"/>
          <p:cNvSpPr txBox="1"/>
          <p:nvPr/>
        </p:nvSpPr>
        <p:spPr>
          <a:xfrm>
            <a:off x="822960" y="63093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Rot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gerundeter Zwischenwert   </a:t>
            </a:r>
            <a:r>
              <a:rPr lang="de-DE" sz="85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Grün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gezahlter Betrag, einmal gerundet (Bank)   </a:t>
            </a:r>
            <a:r>
              <a:rPr lang="de-DE" sz="850" dirty="0">
                <a:solidFill>
                  <a:srgbClr val="D98A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Orange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gerundeter Eingangswert</a:t>
            </a:r>
          </a:p>
          <a:p>
            <a:pPr marL="0" indent="0" algn="l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NK = Nachkommastellen · Minor Unit = kleinste Währungseinheit, ISO 4217 (EUR: 2 NK) · ± bei 100 Zeilen à 100 Stück, 19 % USt</a:t>
            </a:r>
          </a:p>
          <a:p>
            <a:pPr marL="0" indent="0" algn="l">
              <a:buNone/>
            </a:pPr>
            <a:r>
              <a:rPr lang="de-DE" sz="850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Regen</a:t>
            </a:r>
            <a:r>
              <a:rPr lang="de-DE" sz="850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bo</a:t>
            </a:r>
            <a:r>
              <a:rPr lang="de-DE" sz="850" dirty="0">
                <a:solidFill>
                  <a:srgbClr val="1565C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gen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Reihenfolge der Rechenschritte; ein BT behält seine Farbe, wo er weiter unten wieder verwendet wird</a:t>
            </a:r>
          </a:p>
        </p:txBody>
      </p:sp>
      <p:sp>
        <p:nvSpPr>
          <p:cNvPr id="90" name="Card 90"/>
          <p:cNvSpPr/>
          <p:nvPr/>
        </p:nvSpPr>
        <p:spPr>
          <a:xfrm>
            <a:off x="822960" y="5715000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1" name="Pill 91"/>
          <p:cNvSpPr/>
          <p:nvPr/>
        </p:nvSpPr>
        <p:spPr>
          <a:xfrm>
            <a:off x="960120" y="5814060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AD1457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BT-115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965960" y="5730240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Zahlbetrag</a:t>
            </a:r>
          </a:p>
        </p:txBody>
      </p:sp>
      <p:sp>
        <p:nvSpPr>
          <p:cNvPr id="93" name="Text 93"/>
          <p:cNvSpPr txBox="1"/>
          <p:nvPr/>
        </p:nvSpPr>
        <p:spPr>
          <a:xfrm>
            <a:off x="1965960" y="5920740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b="1" dirty="0">
                <a:solidFill>
                  <a:srgbClr val="6A1B9A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USt-Gesamtbetrag +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netto</a:t>
            </a:r>
            <a:b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−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BT-113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Vorauszahlung +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BT-114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Rundungsbetrag</a:t>
            </a:r>
          </a:p>
        </p:txBody>
      </p:sp>
      <p:sp>
        <p:nvSpPr>
          <p:cNvPr id="94" name="Pill 94"/>
          <p:cNvSpPr/>
          <p:nvPr/>
        </p:nvSpPr>
        <p:spPr>
          <a:xfrm>
            <a:off x="4773168" y="5768340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1E8A4C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Endwert · Bank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5989320" y="5745480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1,19 €</a:t>
            </a:r>
          </a:p>
        </p:txBody>
      </p:sp>
      <p:sp>
        <p:nvSpPr>
          <p:cNvPr id="96" name="Text 96"/>
          <p:cNvSpPr txBox="1"/>
          <p:nvPr/>
        </p:nvSpPr>
        <p:spPr>
          <a:xfrm>
            <a:off x="5577840" y="5981700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1,00 € + 0,19 €</a:t>
            </a:r>
          </a:p>
        </p:txBody>
      </p:sp>
      <p:cxnSp>
        <p:nvCxnSpPr>
          <p:cNvPr id="97" name="Connector 97"/>
          <p:cNvCxnSpPr/>
          <p:nvPr/>
        </p:nvCxnSpPr>
        <p:spPr>
          <a:xfrm>
            <a:off x="1303020" y="5678424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98" name="Text 98"/>
          <p:cNvSpPr txBox="1"/>
          <p:nvPr/>
        </p:nvSpPr>
        <p:spPr>
          <a:xfrm>
            <a:off x="8065008" y="517550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F48FB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BT-115 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Zahlbetrag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9994392" y="5175504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81C784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100" name="Reuse 100"/>
          <p:cNvSpPr/>
          <p:nvPr/>
        </p:nvSpPr>
        <p:spPr>
          <a:xfrm>
            <a:off x="1645920" y="2679192"/>
            <a:ext cx="309067" cy="530351"/>
          </a:xfrm>
          <a:custGeom>
            <a:avLst/>
            <a:gdLst/>
            <a:ahLst/>
            <a:cxnLst/>
            <a:rect l="l" t="t" r="r" b="b"/>
            <a:pathLst>
              <a:path w="309067" h="530351" fill="none">
                <a:moveTo>
                  <a:pt x="0" y="0"/>
                </a:moveTo>
                <a:lnTo>
                  <a:pt x="256032" y="0"/>
                </a:lnTo>
                <a:lnTo>
                  <a:pt x="256032" y="530351"/>
                </a:lnTo>
                <a:lnTo>
                  <a:pt x="309067" y="530351"/>
                </a:lnTo>
              </a:path>
            </a:pathLst>
          </a:custGeom>
          <a:noFill/>
          <a:ln w="15875">
            <a:solidFill>
              <a:srgbClr val="D32F2F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1" name="Reuse 101"/>
          <p:cNvSpPr/>
          <p:nvPr/>
        </p:nvSpPr>
        <p:spPr>
          <a:xfrm>
            <a:off x="1645920" y="3172968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210311" y="0"/>
                </a:lnTo>
                <a:lnTo>
                  <a:pt x="21031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EF6C00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2" name="Reuse 102"/>
          <p:cNvSpPr/>
          <p:nvPr/>
        </p:nvSpPr>
        <p:spPr>
          <a:xfrm>
            <a:off x="1645920" y="3172968"/>
            <a:ext cx="309067" cy="1325880"/>
          </a:xfrm>
          <a:custGeom>
            <a:avLst/>
            <a:gdLst/>
            <a:ahLst/>
            <a:cxnLst/>
            <a:rect l="l" t="t" r="r" b="b"/>
            <a:pathLst>
              <a:path w="309067" h="1325880" fill="none">
                <a:moveTo>
                  <a:pt x="0" y="0"/>
                </a:moveTo>
                <a:lnTo>
                  <a:pt x="210311" y="0"/>
                </a:lnTo>
                <a:lnTo>
                  <a:pt x="210311" y="1325880"/>
                </a:lnTo>
                <a:lnTo>
                  <a:pt x="309067" y="1325880"/>
                </a:lnTo>
              </a:path>
            </a:pathLst>
          </a:custGeom>
          <a:noFill/>
          <a:ln w="15875">
            <a:solidFill>
              <a:srgbClr val="EF6C00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3" name="Reuse 103"/>
          <p:cNvSpPr/>
          <p:nvPr/>
        </p:nvSpPr>
        <p:spPr>
          <a:xfrm>
            <a:off x="1645920" y="4462272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164591" y="0"/>
                </a:lnTo>
                <a:lnTo>
                  <a:pt x="16459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2E7D32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4" name="Reuse 104"/>
          <p:cNvSpPr/>
          <p:nvPr/>
        </p:nvSpPr>
        <p:spPr>
          <a:xfrm>
            <a:off x="1645920" y="4956048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118871" y="0"/>
                </a:lnTo>
                <a:lnTo>
                  <a:pt x="11887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1565C0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5" name="Reuse 105"/>
          <p:cNvSpPr/>
          <p:nvPr/>
        </p:nvSpPr>
        <p:spPr>
          <a:xfrm>
            <a:off x="1645920" y="5449824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73151" y="0"/>
                </a:lnTo>
                <a:lnTo>
                  <a:pt x="7315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6A1B9A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RECHENKETTE · VORSCHLAG EN 16931-1:2026 AMENDMENT (#163)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Vom Bruttopreis über Nettopreis zur USt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4055174-2971-41F0-AAA2-FCF21F98D99D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27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Pill 8"/>
          <p:cNvSpPr/>
          <p:nvPr/>
        </p:nvSpPr>
        <p:spPr>
          <a:xfrm>
            <a:off x="822960" y="1856232"/>
            <a:ext cx="2211019" cy="310896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Keine Zwischenrundung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161995" y="1847088"/>
            <a:ext cx="735360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— gerundet wird nur der Zahlbetrag BT-115; BT-114 zeigt die Rundung.</a:t>
            </a:r>
          </a:p>
        </p:txBody>
      </p:sp>
      <p:sp>
        <p:nvSpPr>
          <p:cNvPr id="10" name="Frame 10"/>
          <p:cNvSpPr/>
          <p:nvPr/>
        </p:nvSpPr>
        <p:spPr>
          <a:xfrm>
            <a:off x="694944" y="2240280"/>
            <a:ext cx="7022592" cy="1709928"/>
          </a:xfrm>
          <a:prstGeom prst="roundRect">
            <a:avLst>
              <a:gd name="adj" fmla="val 5529"/>
            </a:avLst>
          </a:prstGeom>
          <a:solidFill>
            <a:srgbClr val="EEF4FC"/>
          </a:solidFill>
          <a:ln w="19050">
            <a:solidFill>
              <a:srgbClr val="2F7F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11"/>
          <p:cNvSpPr txBox="1"/>
          <p:nvPr/>
        </p:nvSpPr>
        <p:spPr>
          <a:xfrm>
            <a:off x="868680" y="22677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50" spc="150" dirty="0">
                <a:solidFill>
                  <a:srgbClr val="2F7FD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EINGABE- &amp; ZWISCHENWERTE</a:t>
            </a:r>
          </a:p>
        </p:txBody>
      </p:sp>
      <p:sp>
        <p:nvSpPr>
          <p:cNvPr id="12" name="Frame 12"/>
          <p:cNvSpPr/>
          <p:nvPr/>
        </p:nvSpPr>
        <p:spPr>
          <a:xfrm>
            <a:off x="694944" y="4023360"/>
            <a:ext cx="7022592" cy="2203704"/>
          </a:xfrm>
          <a:prstGeom prst="roundRect">
            <a:avLst>
              <a:gd name="adj" fmla="val 5529"/>
            </a:avLst>
          </a:prstGeom>
          <a:solidFill>
            <a:srgbClr val="F4F0FC"/>
          </a:solidFill>
          <a:ln w="19050">
            <a:solidFill>
              <a:srgbClr val="7B57D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3"/>
          <p:cNvSpPr txBox="1"/>
          <p:nvPr/>
        </p:nvSpPr>
        <p:spPr>
          <a:xfrm>
            <a:off x="868680" y="40507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50" spc="150" dirty="0">
                <a:solidFill>
                  <a:srgbClr val="7B57D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ENDERGEBNISSE</a:t>
            </a:r>
          </a:p>
        </p:txBody>
      </p:sp>
      <p:sp>
        <p:nvSpPr>
          <p:cNvPr id="14" name="Card 14"/>
          <p:cNvSpPr/>
          <p:nvPr/>
        </p:nvSpPr>
        <p:spPr>
          <a:xfrm>
            <a:off x="822960" y="2450592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Pill 15"/>
          <p:cNvSpPr/>
          <p:nvPr/>
        </p:nvSpPr>
        <p:spPr>
          <a:xfrm>
            <a:off x="960120" y="2549652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965960" y="2465832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Artikelnettopreis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965960" y="2656332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BT-148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Artikelbruttopreis −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BT-147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Artikelpreisrabatt</a:t>
            </a:r>
          </a:p>
        </p:txBody>
      </p:sp>
      <p:sp>
        <p:nvSpPr>
          <p:cNvPr id="18" name="Pill 18"/>
          <p:cNvSpPr/>
          <p:nvPr/>
        </p:nvSpPr>
        <p:spPr>
          <a:xfrm>
            <a:off x="4773168" y="2503932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ungerundet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989320" y="2481072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577840" y="2717292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wie vereinbart</a:t>
            </a:r>
          </a:p>
        </p:txBody>
      </p:sp>
      <p:cxnSp>
        <p:nvCxnSpPr>
          <p:cNvPr id="21" name="Connector 21"/>
          <p:cNvCxnSpPr/>
          <p:nvPr/>
        </p:nvCxnSpPr>
        <p:spPr>
          <a:xfrm>
            <a:off x="1303020" y="2907792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22" name="Card 22"/>
          <p:cNvSpPr/>
          <p:nvPr/>
        </p:nvSpPr>
        <p:spPr>
          <a:xfrm>
            <a:off x="822960" y="2944368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Pill 23"/>
          <p:cNvSpPr/>
          <p:nvPr/>
        </p:nvSpPr>
        <p:spPr>
          <a:xfrm>
            <a:off x="960120" y="3043428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EF6C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965960" y="2959608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Nettobetrag der Zeile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965960" y="3150108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Preis ×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Menge ÷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Basismenge +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BT-141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Zuschläge −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BT-136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Abschläge der Zeile</a:t>
            </a:r>
          </a:p>
        </p:txBody>
      </p:sp>
      <p:sp>
        <p:nvSpPr>
          <p:cNvPr id="26" name="Pill 26"/>
          <p:cNvSpPr/>
          <p:nvPr/>
        </p:nvSpPr>
        <p:spPr>
          <a:xfrm>
            <a:off x="4773168" y="2997708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ungerundet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5989320" y="2974848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5577840" y="3211068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exakt</a:t>
            </a:r>
          </a:p>
        </p:txBody>
      </p:sp>
      <p:cxnSp>
        <p:nvCxnSpPr>
          <p:cNvPr id="29" name="Connector 29"/>
          <p:cNvCxnSpPr/>
          <p:nvPr/>
        </p:nvCxnSpPr>
        <p:spPr>
          <a:xfrm>
            <a:off x="1303020" y="3401568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30" name="Card 30"/>
          <p:cNvSpPr/>
          <p:nvPr/>
        </p:nvSpPr>
        <p:spPr>
          <a:xfrm>
            <a:off x="822960" y="3438144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Pill 31"/>
          <p:cNvSpPr/>
          <p:nvPr/>
        </p:nvSpPr>
        <p:spPr>
          <a:xfrm>
            <a:off x="960120" y="3537204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C7910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965960" y="3453384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Summe der Nettobeträge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965960" y="3643884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de-DE" sz="8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Nettobeträge aller Rechnungszeilen</a:t>
            </a:r>
          </a:p>
        </p:txBody>
      </p:sp>
      <p:sp>
        <p:nvSpPr>
          <p:cNvPr id="34" name="Pill 34"/>
          <p:cNvSpPr/>
          <p:nvPr/>
        </p:nvSpPr>
        <p:spPr>
          <a:xfrm>
            <a:off x="4773168" y="3491484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ungerundet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5989320" y="3468624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577840" y="3704844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exakte Summe</a:t>
            </a:r>
          </a:p>
        </p:txBody>
      </p:sp>
      <p:sp>
        <p:nvSpPr>
          <p:cNvPr id="37" name="Card 37"/>
          <p:cNvSpPr/>
          <p:nvPr/>
        </p:nvSpPr>
        <p:spPr>
          <a:xfrm>
            <a:off x="822960" y="4233672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Pill 38"/>
          <p:cNvSpPr/>
          <p:nvPr/>
        </p:nvSpPr>
        <p:spPr>
          <a:xfrm>
            <a:off x="960120" y="4332732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1965960" y="4248912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Bemessungsgrundlage je Kategorie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965960" y="4439412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de-DE" sz="8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Zeilen +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Zuschläge</a:t>
            </a:r>
            <a:b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− Σ 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BT-92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Abschläge auf Dokumentebene</a:t>
            </a:r>
          </a:p>
        </p:txBody>
      </p:sp>
      <p:sp>
        <p:nvSpPr>
          <p:cNvPr id="41" name="Pill 41"/>
          <p:cNvSpPr/>
          <p:nvPr/>
        </p:nvSpPr>
        <p:spPr>
          <a:xfrm>
            <a:off x="4773168" y="4287012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ungerundet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5989320" y="4264152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5577840" y="4500372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exakt</a:t>
            </a:r>
          </a:p>
        </p:txBody>
      </p:sp>
      <p:cxnSp>
        <p:nvCxnSpPr>
          <p:cNvPr id="44" name="Connector 44"/>
          <p:cNvCxnSpPr/>
          <p:nvPr/>
        </p:nvCxnSpPr>
        <p:spPr>
          <a:xfrm>
            <a:off x="1303020" y="4690872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45" name="Card 45"/>
          <p:cNvSpPr/>
          <p:nvPr/>
        </p:nvSpPr>
        <p:spPr>
          <a:xfrm>
            <a:off x="822960" y="4727448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6" name="Pill 46"/>
          <p:cNvSpPr/>
          <p:nvPr/>
        </p:nvSpPr>
        <p:spPr>
          <a:xfrm>
            <a:off x="960120" y="4826508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1965960" y="4742688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USt-Betrag je Kategorie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1965960" y="4933188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 ×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USt-Satz ÷ 100</a:t>
            </a:r>
          </a:p>
        </p:txBody>
      </p:sp>
      <p:sp>
        <p:nvSpPr>
          <p:cNvPr id="49" name="Pill 49"/>
          <p:cNvSpPr/>
          <p:nvPr/>
        </p:nvSpPr>
        <p:spPr>
          <a:xfrm>
            <a:off x="4773168" y="4780788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ungerundet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5989320" y="4757928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5577840" y="4994148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Minor Unit nur per CIUS → Warnung</a:t>
            </a:r>
          </a:p>
        </p:txBody>
      </p:sp>
      <p:cxnSp>
        <p:nvCxnSpPr>
          <p:cNvPr id="52" name="Connector 52"/>
          <p:cNvCxnSpPr/>
          <p:nvPr/>
        </p:nvCxnSpPr>
        <p:spPr>
          <a:xfrm>
            <a:off x="1303020" y="5184648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53" name="Card 53"/>
          <p:cNvSpPr/>
          <p:nvPr/>
        </p:nvSpPr>
        <p:spPr>
          <a:xfrm>
            <a:off x="822960" y="5221224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4" name="Pill 54"/>
          <p:cNvSpPr/>
          <p:nvPr/>
        </p:nvSpPr>
        <p:spPr>
          <a:xfrm>
            <a:off x="960120" y="5320284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1965960" y="5236464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USt-Gesamtbetrag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1965960" y="5426964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Σ </a:t>
            </a:r>
            <a:r>
              <a:rPr lang="de-DE" sz="800" b="1" dirty="0">
                <a:solidFill>
                  <a:srgbClr val="1565C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USt-Beträge aller Kategorien</a:t>
            </a:r>
          </a:p>
        </p:txBody>
      </p:sp>
      <p:sp>
        <p:nvSpPr>
          <p:cNvPr id="57" name="Pill 57"/>
          <p:cNvSpPr/>
          <p:nvPr/>
        </p:nvSpPr>
        <p:spPr>
          <a:xfrm>
            <a:off x="4773168" y="5274564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ungerundet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5989320" y="5251704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59" name="Panel 59"/>
          <p:cNvSpPr/>
          <p:nvPr/>
        </p:nvSpPr>
        <p:spPr>
          <a:xfrm>
            <a:off x="7845552" y="2240280"/>
            <a:ext cx="3520440" cy="1709928"/>
          </a:xfrm>
          <a:prstGeom prst="roundRect">
            <a:avLst>
              <a:gd name="adj" fmla="val 5529"/>
            </a:avLst>
          </a:prstGeom>
          <a:solidFill>
            <a:srgbClr val="1A2B5E"/>
          </a:solidFill>
          <a:ln w="19050">
            <a:solidFill>
              <a:srgbClr val="7DB3FF"/>
            </a:solidFill>
            <a:prstDash val="solid"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0" name="Text 60"/>
          <p:cNvSpPr txBox="1"/>
          <p:nvPr/>
        </p:nvSpPr>
        <p:spPr>
          <a:xfrm>
            <a:off x="8065008" y="229514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7DB3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ERLAUBTE NACHKOMMASTELLEN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8065008" y="2542032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BT-148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Bruttopreis, </a:t>
            </a: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BT-147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Rabatt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10515600" y="2542032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8065008" y="2693822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b="1" dirty="0">
                <a:solidFill>
                  <a:srgbClr val="FF8A8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Artikelnettopreis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10515600" y="2693822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8065008" y="2845613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Menge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10515600" y="2845613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8065008" y="2997403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Basismenge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10515600" y="2997403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8065008" y="3149194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BT-141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Zuschläge, </a:t>
            </a: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BT-136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Abschläge</a:t>
            </a:r>
            <a:r>
              <a:rPr lang="de-DE" sz="750" dirty="0">
                <a:solidFill>
                  <a:srgbClr val="7E8CB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· Zeile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10515600" y="3149194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71" name="Text 71"/>
          <p:cNvSpPr txBox="1"/>
          <p:nvPr/>
        </p:nvSpPr>
        <p:spPr>
          <a:xfrm>
            <a:off x="8065008" y="3300984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b="1" dirty="0">
                <a:solidFill>
                  <a:srgbClr val="FFB74D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Nettobetrag der Zeile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10515600" y="3300984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8065008" y="3452774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b="1" dirty="0">
                <a:solidFill>
                  <a:srgbClr val="FFE066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Summe der Nettobeträge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10515600" y="3452774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75" name="Text 75"/>
          <p:cNvSpPr txBox="1"/>
          <p:nvPr/>
        </p:nvSpPr>
        <p:spPr>
          <a:xfrm>
            <a:off x="8065008" y="3604565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Zuschläge, </a:t>
            </a: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BT-92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Abschläge</a:t>
            </a:r>
            <a:r>
              <a:rPr lang="de-DE" sz="750" dirty="0">
                <a:solidFill>
                  <a:srgbClr val="7E8CB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· Dokument</a:t>
            </a:r>
          </a:p>
        </p:txBody>
      </p:sp>
      <p:sp>
        <p:nvSpPr>
          <p:cNvPr id="76" name="Text 76"/>
          <p:cNvSpPr txBox="1"/>
          <p:nvPr/>
        </p:nvSpPr>
        <p:spPr>
          <a:xfrm>
            <a:off x="10515600" y="3604565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77" name="Text 77"/>
          <p:cNvSpPr txBox="1"/>
          <p:nvPr/>
        </p:nvSpPr>
        <p:spPr>
          <a:xfrm>
            <a:off x="8065008" y="3756355"/>
            <a:ext cx="2514600" cy="151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BT-119 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USt-Satz (Gesetz)</a:t>
            </a:r>
          </a:p>
        </p:txBody>
      </p:sp>
      <p:sp>
        <p:nvSpPr>
          <p:cNvPr id="78" name="Text 78"/>
          <p:cNvSpPr txBox="1"/>
          <p:nvPr/>
        </p:nvSpPr>
        <p:spPr>
          <a:xfrm>
            <a:off x="10515600" y="3756355"/>
            <a:ext cx="667512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 NK</a:t>
            </a:r>
          </a:p>
        </p:txBody>
      </p:sp>
      <p:sp>
        <p:nvSpPr>
          <p:cNvPr id="79" name="Panel 79"/>
          <p:cNvSpPr/>
          <p:nvPr/>
        </p:nvSpPr>
        <p:spPr>
          <a:xfrm>
            <a:off x="7845552" y="4023360"/>
            <a:ext cx="3520440" cy="2203704"/>
          </a:xfrm>
          <a:prstGeom prst="roundRect">
            <a:avLst>
              <a:gd name="adj" fmla="val 5529"/>
            </a:avLst>
          </a:prstGeom>
          <a:solidFill>
            <a:srgbClr val="1A2B5E"/>
          </a:solidFill>
          <a:ln w="19050">
            <a:solidFill>
              <a:srgbClr val="B9A2FF"/>
            </a:solidFill>
            <a:prstDash val="solid"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0" name="Text 80"/>
          <p:cNvSpPr txBox="1"/>
          <p:nvPr/>
        </p:nvSpPr>
        <p:spPr>
          <a:xfrm>
            <a:off x="8065008" y="407822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B9A2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NACHKOMMASTELLEN · ENDWERTE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8065008" y="435254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81C784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 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Bemessungsgrundlage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10515600" y="435254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83" name="Text 83"/>
          <p:cNvSpPr txBox="1"/>
          <p:nvPr/>
        </p:nvSpPr>
        <p:spPr>
          <a:xfrm>
            <a:off x="8065008" y="462686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82B1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BT-117 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USt-Betrag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10515600" y="462686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8065008" y="490118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CE93D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 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USt-Gesamtbetrag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10515600" y="4901184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58D6B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8065008" y="5669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dirty="0">
                <a:solidFill>
                  <a:srgbClr val="B9A2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Worst Case </a:t>
            </a: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mit Zeilenanzahl und Menge:</a:t>
            </a:r>
          </a:p>
          <a:p>
            <a:pPr marL="0" indent="0" algn="l">
              <a:buNone/>
            </a:pP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→ „Wie groß wird die Abweichung?“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822960" y="63093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850" dirty="0">
                <a:solidFill>
                  <a:srgbClr val="C0392B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Rot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gerundeter Zwischenwert   </a:t>
            </a:r>
            <a:r>
              <a:rPr lang="de-DE" sz="85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Grün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gezahlter Betrag, einmal gerundet (Bank)   </a:t>
            </a:r>
            <a:r>
              <a:rPr lang="de-DE" sz="850" dirty="0">
                <a:solidFill>
                  <a:srgbClr val="D98A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Orange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gerundeter Eingangswert</a:t>
            </a:r>
          </a:p>
          <a:p>
            <a:pPr marL="0" indent="0" algn="l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NK = Nachkommastellen · Minor Unit = kleinste Währungseinheit, ISO 4217 (EUR: 2 NK) · ± bei 100 Zeilen à 100 Stück, 19 % USt</a:t>
            </a:r>
          </a:p>
          <a:p>
            <a:pPr marL="0" indent="0" algn="l">
              <a:buNone/>
            </a:pPr>
            <a:r>
              <a:rPr lang="de-DE" sz="850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Regen</a:t>
            </a:r>
            <a:r>
              <a:rPr lang="de-DE" sz="850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bo</a:t>
            </a:r>
            <a:r>
              <a:rPr lang="de-DE" sz="850" dirty="0">
                <a:solidFill>
                  <a:srgbClr val="1565C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gen</a:t>
            </a: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Reihenfolge der Rechenschritte; ein BT behält seine Farbe, wo er weiter unten wieder verwendet wird</a:t>
            </a:r>
          </a:p>
        </p:txBody>
      </p:sp>
      <p:sp>
        <p:nvSpPr>
          <p:cNvPr id="89" name="Card 89"/>
          <p:cNvSpPr/>
          <p:nvPr/>
        </p:nvSpPr>
        <p:spPr>
          <a:xfrm>
            <a:off x="822960" y="5715000"/>
            <a:ext cx="6766560" cy="45720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0" name="Pill 90"/>
          <p:cNvSpPr/>
          <p:nvPr/>
        </p:nvSpPr>
        <p:spPr>
          <a:xfrm>
            <a:off x="960120" y="5814060"/>
            <a:ext cx="685800" cy="259080"/>
          </a:xfrm>
          <a:prstGeom prst="roundRect">
            <a:avLst>
              <a:gd name="adj" fmla="val 50000"/>
            </a:avLst>
          </a:prstGeom>
          <a:solidFill>
            <a:srgbClr val="AD1457"/>
          </a:solidFill>
          <a:ln>
            <a:noFill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BT-115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1965960" y="5730240"/>
            <a:ext cx="2788920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Zahlbetrag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965960" y="5920740"/>
            <a:ext cx="2788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= </a:t>
            </a:r>
            <a:r>
              <a:rPr lang="de-DE" sz="800" b="1" dirty="0">
                <a:solidFill>
                  <a:srgbClr val="6A1B9A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BT-110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USt-Gesamtbetrag +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BT-109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netto</a:t>
            </a:r>
            <a:b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−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BT-113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Vorauszahlung + </a:t>
            </a:r>
            <a:r>
              <a:rPr lang="de-DE" sz="8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BT-114</a:t>
            </a:r>
            <a:r>
              <a:rPr lang="de-DE" sz="8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Rundungsbetrag</a:t>
            </a:r>
          </a:p>
        </p:txBody>
      </p:sp>
      <p:sp>
        <p:nvSpPr>
          <p:cNvPr id="93" name="Pill 93"/>
          <p:cNvSpPr/>
          <p:nvPr/>
        </p:nvSpPr>
        <p:spPr>
          <a:xfrm>
            <a:off x="4773168" y="5768340"/>
            <a:ext cx="1207008" cy="350520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18288" tIns="18288" rIns="18288" bIns="18288" rtlCol="0" anchor="ctr"/>
          <a:lstStyle/>
          <a:p>
            <a:pPr marL="0" indent="0" algn="ctr">
              <a:buNone/>
            </a:pPr>
            <a:r>
              <a:rPr lang="de-DE" sz="1150" dirty="0">
                <a:solidFill>
                  <a:srgbClr val="1E8A4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  <a:p>
            <a:pPr marL="0" indent="0" algn="ctr">
              <a:buNone/>
            </a:pPr>
            <a:r>
              <a:rPr lang="de-DE" sz="800" dirty="0">
                <a:solidFill>
                  <a:srgbClr val="1E8A4C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einmal gerundet</a:t>
            </a:r>
          </a:p>
        </p:txBody>
      </p:sp>
      <p:sp>
        <p:nvSpPr>
          <p:cNvPr id="94" name="Text 94"/>
          <p:cNvSpPr txBox="1"/>
          <p:nvPr/>
        </p:nvSpPr>
        <p:spPr>
          <a:xfrm>
            <a:off x="5989320" y="5745480"/>
            <a:ext cx="1508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30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5577840" y="5981700"/>
            <a:ext cx="19202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BT-114 zeigt die Rundung</a:t>
            </a:r>
          </a:p>
        </p:txBody>
      </p:sp>
      <p:cxnSp>
        <p:nvCxnSpPr>
          <p:cNvPr id="96" name="Connector 96"/>
          <p:cNvCxnSpPr/>
          <p:nvPr/>
        </p:nvCxnSpPr>
        <p:spPr>
          <a:xfrm>
            <a:off x="1303020" y="5678424"/>
            <a:ext cx="0" cy="36576"/>
          </a:xfrm>
          <a:prstGeom prst="line">
            <a:avLst/>
          </a:prstGeom>
          <a:ln w="15875">
            <a:solidFill>
              <a:srgbClr val="9AA4C2"/>
            </a:solidFill>
          </a:ln>
        </p:spPr>
      </p:cxnSp>
      <p:sp>
        <p:nvSpPr>
          <p:cNvPr id="97" name="Text 97"/>
          <p:cNvSpPr txBox="1"/>
          <p:nvPr/>
        </p:nvSpPr>
        <p:spPr>
          <a:xfrm>
            <a:off x="8065008" y="5175504"/>
            <a:ext cx="2514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000" b="1" dirty="0">
                <a:solidFill>
                  <a:srgbClr val="F48FB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BT-115 </a:t>
            </a:r>
            <a:r>
              <a:rPr lang="de-DE" sz="10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Zahlbetrag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9994392" y="5175504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81C784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Minor Unit</a:t>
            </a:r>
          </a:p>
        </p:txBody>
      </p:sp>
      <p:sp>
        <p:nvSpPr>
          <p:cNvPr id="99" name="Reuse 99"/>
          <p:cNvSpPr/>
          <p:nvPr/>
        </p:nvSpPr>
        <p:spPr>
          <a:xfrm>
            <a:off x="1645920" y="2679192"/>
            <a:ext cx="309067" cy="530351"/>
          </a:xfrm>
          <a:custGeom>
            <a:avLst/>
            <a:gdLst/>
            <a:ahLst/>
            <a:cxnLst/>
            <a:rect l="l" t="t" r="r" b="b"/>
            <a:pathLst>
              <a:path w="309067" h="530351" fill="none">
                <a:moveTo>
                  <a:pt x="0" y="0"/>
                </a:moveTo>
                <a:lnTo>
                  <a:pt x="256032" y="0"/>
                </a:lnTo>
                <a:lnTo>
                  <a:pt x="256032" y="530351"/>
                </a:lnTo>
                <a:lnTo>
                  <a:pt x="309067" y="530351"/>
                </a:lnTo>
              </a:path>
            </a:pathLst>
          </a:custGeom>
          <a:noFill/>
          <a:ln w="15875">
            <a:solidFill>
              <a:srgbClr val="D32F2F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0" name="Reuse 100"/>
          <p:cNvSpPr/>
          <p:nvPr/>
        </p:nvSpPr>
        <p:spPr>
          <a:xfrm>
            <a:off x="1645920" y="3172968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210311" y="0"/>
                </a:lnTo>
                <a:lnTo>
                  <a:pt x="21031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EF6C00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1" name="Reuse 101"/>
          <p:cNvSpPr/>
          <p:nvPr/>
        </p:nvSpPr>
        <p:spPr>
          <a:xfrm>
            <a:off x="1645920" y="3172968"/>
            <a:ext cx="309067" cy="1325880"/>
          </a:xfrm>
          <a:custGeom>
            <a:avLst/>
            <a:gdLst/>
            <a:ahLst/>
            <a:cxnLst/>
            <a:rect l="l" t="t" r="r" b="b"/>
            <a:pathLst>
              <a:path w="309067" h="1325880" fill="none">
                <a:moveTo>
                  <a:pt x="0" y="0"/>
                </a:moveTo>
                <a:lnTo>
                  <a:pt x="210311" y="0"/>
                </a:lnTo>
                <a:lnTo>
                  <a:pt x="210311" y="1325880"/>
                </a:lnTo>
                <a:lnTo>
                  <a:pt x="309067" y="1325880"/>
                </a:lnTo>
              </a:path>
            </a:pathLst>
          </a:custGeom>
          <a:noFill/>
          <a:ln w="15875">
            <a:solidFill>
              <a:srgbClr val="EF6C00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2" name="Reuse 102"/>
          <p:cNvSpPr/>
          <p:nvPr/>
        </p:nvSpPr>
        <p:spPr>
          <a:xfrm>
            <a:off x="1645920" y="4462272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164591" y="0"/>
                </a:lnTo>
                <a:lnTo>
                  <a:pt x="16459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2E7D32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3" name="Reuse 103"/>
          <p:cNvSpPr/>
          <p:nvPr/>
        </p:nvSpPr>
        <p:spPr>
          <a:xfrm>
            <a:off x="1645920" y="4956048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118871" y="0"/>
                </a:lnTo>
                <a:lnTo>
                  <a:pt x="11887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1565C0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4" name="Reuse 104"/>
          <p:cNvSpPr/>
          <p:nvPr/>
        </p:nvSpPr>
        <p:spPr>
          <a:xfrm>
            <a:off x="1645920" y="5449824"/>
            <a:ext cx="309067" cy="530352"/>
          </a:xfrm>
          <a:custGeom>
            <a:avLst/>
            <a:gdLst/>
            <a:ahLst/>
            <a:cxnLst/>
            <a:rect l="l" t="t" r="r" b="b"/>
            <a:pathLst>
              <a:path w="309067" h="530352" fill="none">
                <a:moveTo>
                  <a:pt x="0" y="0"/>
                </a:moveTo>
                <a:lnTo>
                  <a:pt x="73151" y="0"/>
                </a:lnTo>
                <a:lnTo>
                  <a:pt x="73151" y="530352"/>
                </a:lnTo>
                <a:lnTo>
                  <a:pt x="309067" y="530352"/>
                </a:lnTo>
              </a:path>
            </a:pathLst>
          </a:custGeom>
          <a:noFill/>
          <a:ln w="15875">
            <a:solidFill>
              <a:srgbClr val="6A1B9A"/>
            </a:solidFill>
            <a:round/>
            <a:tailEnd type="triangle" w="sm" len="sm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2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WORST CASE · EN 16931-1:2017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Wie groß wird die Abweichung?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CFF8C59E-DB43-45C8-AAB1-F463E6DDD355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28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agline 8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Ein Faktor: die Zeilenanzahl n — jede Zeile rundet </a:t>
            </a:r>
            <a:r>
              <a:rPr lang="de-DE" sz="130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1300" dirty="0">
                <a:solidFill>
                  <a:srgbClr val="EF6C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Nettobetrag der Zeile</a:t>
            </a: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und verliert bis zu ± 0,005 €.</a:t>
            </a:r>
          </a:p>
        </p:txBody>
      </p:sp>
      <p:sp>
        <p:nvSpPr>
          <p:cNvPr id="9" name="Card 9"/>
          <p:cNvSpPr/>
          <p:nvPr/>
        </p:nvSpPr>
        <p:spPr>
          <a:xfrm>
            <a:off x="822960" y="2331720"/>
            <a:ext cx="516636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IconCircle 10"/>
          <p:cNvSpPr/>
          <p:nvPr/>
        </p:nvSpPr>
        <p:spPr>
          <a:xfrm>
            <a:off x="1060704" y="2423160"/>
            <a:ext cx="402336" cy="402336"/>
          </a:xfrm>
          <a:prstGeom prst="ellipse">
            <a:avLst/>
          </a:prstGeom>
          <a:solidFill>
            <a:srgbClr val="C2CAD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1" name="Ico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" y="2533802"/>
            <a:ext cx="181051" cy="181051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1600200" y="24048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Faktor 1 · Preisrundung × Menge Q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97280" y="29260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de-DE" sz="105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de-DE" sz="1050" dirty="0">
                <a:solidFill>
                  <a:srgbClr val="D32F2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Artikelnettopreis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ist 2017 nicht begrenzt — der Preis wird nicht gerundet, die Menge vergrößert keinen Fehler.</a:t>
            </a:r>
          </a:p>
        </p:txBody>
      </p:sp>
      <p:sp>
        <p:nvSpPr>
          <p:cNvPr id="14" name="Pill 14"/>
          <p:cNvSpPr/>
          <p:nvPr/>
        </p:nvSpPr>
        <p:spPr>
          <a:xfrm>
            <a:off x="1097280" y="37124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entfällt</a:t>
            </a:r>
          </a:p>
        </p:txBody>
      </p:sp>
      <p:sp>
        <p:nvSpPr>
          <p:cNvPr id="15" name="Card 15"/>
          <p:cNvSpPr/>
          <p:nvPr/>
        </p:nvSpPr>
        <p:spPr>
          <a:xfrm>
            <a:off x="6199632" y="2331720"/>
            <a:ext cx="516636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IconCircle 16"/>
          <p:cNvSpPr/>
          <p:nvPr/>
        </p:nvSpPr>
        <p:spPr>
          <a:xfrm>
            <a:off x="6437376" y="2423160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7" name="Icon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018" y="2533802"/>
            <a:ext cx="181051" cy="181051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6976872" y="24048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Faktor 2 · Zeilenanzahl n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473952" y="29260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Jede Zeile rundet </a:t>
            </a:r>
            <a:r>
              <a:rPr lang="de-DE" sz="105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1050" dirty="0">
                <a:solidFill>
                  <a:srgbClr val="EF6C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Nettobetrag der Zeile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auf</a:t>
            </a:r>
            <a:b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2 Nachkommastellen: bis zu ± 0,005 €. </a:t>
            </a:r>
            <a:r>
              <a:rPr lang="de-DE" sz="10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  <a:r>
              <a:rPr lang="de-DE" sz="10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der</a:t>
            </a:r>
            <a:br>
              <a:rPr lang="de-DE" sz="10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10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Nettobeträge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und </a:t>
            </a:r>
            <a:r>
              <a:rPr lang="de-DE" sz="10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10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summieren alle n</a:t>
            </a:r>
            <a:b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Zeilen — und damit die Fehler aller Zeilen.</a:t>
            </a:r>
          </a:p>
        </p:txBody>
      </p:sp>
      <p:sp>
        <p:nvSpPr>
          <p:cNvPr id="20" name="Pill 20"/>
          <p:cNvSpPr/>
          <p:nvPr/>
        </p:nvSpPr>
        <p:spPr>
          <a:xfrm>
            <a:off x="6473952" y="37124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n × 0,005 €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22960" y="420624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ABWEICHUNG NETTO  </a:t>
            </a:r>
            <a:r>
              <a:rPr lang="de-DE" sz="9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  <a:r>
              <a:rPr lang="de-DE" sz="9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der Nettobeträge</a:t>
            </a:r>
            <a:r>
              <a:rPr lang="de-DE" sz="9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/ </a:t>
            </a:r>
            <a:r>
              <a:rPr lang="de-DE" sz="9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9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</a:t>
            </a:r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822960" y="4480560"/>
          <a:ext cx="6766560" cy="1609344"/>
        </p:xfrm>
        <a:graphic>
          <a:graphicData uri="http://schemas.openxmlformats.org/drawingml/2006/table">
            <a:tbl>
              <a:tblPr firstRow="1" bandRow="1"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Stück je Zeile (Q) →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de-DE" sz="85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↓ Zeilen (n)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2435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10.000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1.000.000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 Zeile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0,005 €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0,005 €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0,005 €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0,005 €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0,005 €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0,005 €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Zeilen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0,50 €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0,50 €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0,50 €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10.000 Zeilen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50,00 €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50,00 €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50,00 €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Panel 23"/>
          <p:cNvSpPr/>
          <p:nvPr/>
        </p:nvSpPr>
        <p:spPr>
          <a:xfrm>
            <a:off x="7818120" y="4224528"/>
            <a:ext cx="3547872" cy="1883664"/>
          </a:xfrm>
          <a:prstGeom prst="roundRect">
            <a:avLst>
              <a:gd name="adj" fmla="val 4854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4"/>
          <p:cNvSpPr txBox="1"/>
          <p:nvPr/>
        </p:nvSpPr>
        <p:spPr>
          <a:xfrm>
            <a:off x="8092440" y="4334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000" spc="15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ZUSAMMEN · NETTO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092440" y="4608576"/>
            <a:ext cx="31089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× 0,005 €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09244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USt: 19 % davon. Nach oben offen — je mehr Zeilen, desto mehr Abweichung.</a:t>
            </a:r>
          </a:p>
        </p:txBody>
      </p:sp>
      <p:sp>
        <p:nvSpPr>
          <p:cNvPr id="27" name="Shape 27"/>
          <p:cNvSpPr/>
          <p:nvPr/>
        </p:nvSpPr>
        <p:spPr>
          <a:xfrm>
            <a:off x="8092440" y="5541264"/>
            <a:ext cx="3017520" cy="9144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8"/>
          <p:cNvSpPr txBox="1"/>
          <p:nvPr/>
        </p:nvSpPr>
        <p:spPr>
          <a:xfrm>
            <a:off x="8092440" y="55961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100 Zeilen à 10.000 Stück</a:t>
            </a:r>
          </a:p>
          <a:p>
            <a:pPr marL="0" indent="0" algn="l">
              <a:buNone/>
            </a:pPr>
            <a:r>
              <a:rPr lang="de-DE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 </a:t>
            </a:r>
            <a:r>
              <a:rPr lang="de-DE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0,50 €</a:t>
            </a:r>
            <a:r>
              <a:rPr lang="de-DE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USt </a:t>
            </a:r>
            <a:r>
              <a:rPr lang="de-DE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0,10 €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2960" y="61264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Annahme: alle Rundungen fallen in dieselbe Richtung, BT-149 Basismenge = 1, 19 % USt.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WORST CASE · EN 16931-1:2026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Wie groß wird die Abweichung?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E655C58-AB39-491B-9C9F-468B34428247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29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agline 8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Zwei Faktoren: erst die Menge Q × gerundeter </a:t>
            </a:r>
            <a:r>
              <a:rPr lang="de-DE" sz="130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de-DE" sz="1300" dirty="0">
                <a:solidFill>
                  <a:srgbClr val="D32F2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Artikelnettopreis</a:t>
            </a: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, dann die Zeilenanzahl n — nach oben offen.</a:t>
            </a:r>
          </a:p>
        </p:txBody>
      </p:sp>
      <p:sp>
        <p:nvSpPr>
          <p:cNvPr id="9" name="Card 9"/>
          <p:cNvSpPr/>
          <p:nvPr/>
        </p:nvSpPr>
        <p:spPr>
          <a:xfrm>
            <a:off x="822960" y="2331720"/>
            <a:ext cx="516636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IconCircle 10"/>
          <p:cNvSpPr/>
          <p:nvPr/>
        </p:nvSpPr>
        <p:spPr>
          <a:xfrm>
            <a:off x="1060704" y="2423160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1" name="Ico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" y="2533802"/>
            <a:ext cx="181051" cy="181051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1600200" y="24048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Faktor 1 · Preisrundung × Menge Q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97280" y="29260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de-DE" sz="105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de-DE" sz="1050" dirty="0">
                <a:solidFill>
                  <a:srgbClr val="D32F2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Artikelnettopreis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wird einmal auf Minor Unit + 2 „hineingedrückt“ (EUR: 4 NK): bis zu ± 0,00005 €. </a:t>
            </a:r>
            <a:r>
              <a:rPr lang="de-DE" sz="105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1050" dirty="0">
                <a:solidFill>
                  <a:srgbClr val="EF6C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Nettobetrag der Zeile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= Preis × </a:t>
            </a:r>
            <a:r>
              <a:rPr lang="de-DE" sz="105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BT-129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Menge multipliziert diesen einen Fehler. #148: 0,123449 € → 0,1234 €; bei 10.000 Stück fehlen 0,49 €.</a:t>
            </a:r>
          </a:p>
        </p:txBody>
      </p:sp>
      <p:sp>
        <p:nvSpPr>
          <p:cNvPr id="14" name="Pill 14"/>
          <p:cNvSpPr/>
          <p:nvPr/>
        </p:nvSpPr>
        <p:spPr>
          <a:xfrm>
            <a:off x="1097280" y="37124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Q × 0,00005 € je Zeile</a:t>
            </a:r>
          </a:p>
        </p:txBody>
      </p:sp>
      <p:sp>
        <p:nvSpPr>
          <p:cNvPr id="15" name="Card 15"/>
          <p:cNvSpPr/>
          <p:nvPr/>
        </p:nvSpPr>
        <p:spPr>
          <a:xfrm>
            <a:off x="6199632" y="2331720"/>
            <a:ext cx="516636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IconCircle 16"/>
          <p:cNvSpPr/>
          <p:nvPr/>
        </p:nvSpPr>
        <p:spPr>
          <a:xfrm>
            <a:off x="6437376" y="2423160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7" name="Icon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018" y="2533802"/>
            <a:ext cx="181051" cy="181051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6976872" y="24048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Faktor 2 · Zeilenanzahl n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473952" y="29260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Jede Zeile rundet </a:t>
            </a:r>
            <a:r>
              <a:rPr lang="de-DE" sz="105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1050" dirty="0">
                <a:solidFill>
                  <a:srgbClr val="EF6C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Nettobetrag der Zeile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zusätzlich auf die</a:t>
            </a:r>
            <a:b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Minor Unit: bis zu ± 0,005 €. </a:t>
            </a:r>
            <a:r>
              <a:rPr lang="de-DE" sz="10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  <a:r>
              <a:rPr lang="de-DE" sz="10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der Nettobeträge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und</a:t>
            </a:r>
            <a:b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10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10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summieren alle n Zeilen — und damit die</a:t>
            </a:r>
            <a:b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Fehler aller Zeilen.</a:t>
            </a:r>
          </a:p>
        </p:txBody>
      </p:sp>
      <p:sp>
        <p:nvSpPr>
          <p:cNvPr id="20" name="Pill 20"/>
          <p:cNvSpPr/>
          <p:nvPr/>
        </p:nvSpPr>
        <p:spPr>
          <a:xfrm>
            <a:off x="6473952" y="37124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 w="9525">
            <a:solidFill>
              <a:srgbClr val="F2C4BE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algn="ctr"/>
            <a:r>
              <a:rPr lang="de-DE" sz="11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</a:t>
            </a:r>
            <a:r>
              <a:rPr lang="de-DE" sz="1150" b="1" dirty="0" err="1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de-DE" sz="11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0,005 €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22960" y="420624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ABWEICHUNG NETTO  </a:t>
            </a:r>
            <a:r>
              <a:rPr lang="de-DE" sz="9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  <a:r>
              <a:rPr lang="de-DE" sz="9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der Nettobeträge</a:t>
            </a:r>
            <a:r>
              <a:rPr lang="de-DE" sz="9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/ </a:t>
            </a:r>
            <a:r>
              <a:rPr lang="de-DE" sz="9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9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</a:t>
            </a:r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822960" y="4480560"/>
          <a:ext cx="6766560" cy="1609344"/>
        </p:xfrm>
        <a:graphic>
          <a:graphicData uri="http://schemas.openxmlformats.org/drawingml/2006/table">
            <a:tbl>
              <a:tblPr firstRow="1" bandRow="1"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Stück je Zeile (Q) →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de-DE" sz="85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↓ Zeilen (n)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2435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10.000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1.000.000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 Zeile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0,005 €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0,005 €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0,01 €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0,50 €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0,005 €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0,505 €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50,00 €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0,005 €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50,005 €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Zeilen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1,00 €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50,50 €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5.000,50 €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10.000 Zeilen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100,00 €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5.050,00 €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500.050,00 €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Panel 23"/>
          <p:cNvSpPr/>
          <p:nvPr/>
        </p:nvSpPr>
        <p:spPr>
          <a:xfrm>
            <a:off x="7818120" y="4224528"/>
            <a:ext cx="3547872" cy="1883664"/>
          </a:xfrm>
          <a:prstGeom prst="roundRect">
            <a:avLst>
              <a:gd name="adj" fmla="val 4854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4"/>
          <p:cNvSpPr txBox="1"/>
          <p:nvPr/>
        </p:nvSpPr>
        <p:spPr>
          <a:xfrm>
            <a:off x="8092440" y="4334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000" spc="15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ZUSAMMEN · NETTO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092440" y="4608576"/>
            <a:ext cx="31089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× (Q × 0,00005 € + 0,005 €)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09244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USt: 19 % davon. Nach oben offen — mehr Zeilen oder größere Mengen, mehr Abweichung.</a:t>
            </a:r>
          </a:p>
        </p:txBody>
      </p:sp>
      <p:sp>
        <p:nvSpPr>
          <p:cNvPr id="27" name="Shape 27"/>
          <p:cNvSpPr/>
          <p:nvPr/>
        </p:nvSpPr>
        <p:spPr>
          <a:xfrm>
            <a:off x="8092440" y="5541264"/>
            <a:ext cx="3017520" cy="9144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8"/>
          <p:cNvSpPr txBox="1"/>
          <p:nvPr/>
        </p:nvSpPr>
        <p:spPr>
          <a:xfrm>
            <a:off x="8092440" y="55961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100 Zeilen à 10.000 Stück</a:t>
            </a:r>
          </a:p>
          <a:p>
            <a:pPr marL="0" indent="0" algn="l">
              <a:buNone/>
            </a:pPr>
            <a:r>
              <a:rPr lang="de-DE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 </a:t>
            </a:r>
            <a:r>
              <a:rPr lang="de-DE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50,50 €</a:t>
            </a:r>
            <a:r>
              <a:rPr lang="de-DE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USt </a:t>
            </a:r>
            <a:r>
              <a:rPr lang="de-DE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9,60 €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2960" y="61264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Annahme: alle Rundungen fallen in dieselbe Richtung, BT-149 Basismenge = 1, 19 % USt. Ebenso: BT-129 Menge nur 4 NK — bis zu ± 0,00005 × Preis je Zeile bei teuren Artikeln.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WORST CASE · VORSCHLAG AMENDMENT (#163)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Wie groß wird die Abweichung?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4244B92-B2BD-4779-B150-313396024C5D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30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agline 8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Kein Faktor: ohne Zwischenrundung bleibt es bei ± 0 — für jede Menge und jede Zeilenanzahl.</a:t>
            </a:r>
          </a:p>
        </p:txBody>
      </p:sp>
      <p:sp>
        <p:nvSpPr>
          <p:cNvPr id="9" name="Card 9"/>
          <p:cNvSpPr/>
          <p:nvPr/>
        </p:nvSpPr>
        <p:spPr>
          <a:xfrm>
            <a:off x="822960" y="2331720"/>
            <a:ext cx="516636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IconCircle 10"/>
          <p:cNvSpPr/>
          <p:nvPr/>
        </p:nvSpPr>
        <p:spPr>
          <a:xfrm>
            <a:off x="1060704" y="2423160"/>
            <a:ext cx="402336" cy="402336"/>
          </a:xfrm>
          <a:prstGeom prst="ellipse">
            <a:avLst/>
          </a:prstGeom>
          <a:solidFill>
            <a:srgbClr val="C2CAD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1" name="Ico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" y="2533802"/>
            <a:ext cx="181051" cy="181051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1600200" y="24048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Faktor 1 · Preisrundung × Menge Q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97280" y="29260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de-DE" sz="1050" b="1" dirty="0">
                <a:solidFill>
                  <a:srgbClr val="D32F2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BT-146</a:t>
            </a:r>
            <a:r>
              <a:rPr lang="de-DE" sz="1050" dirty="0">
                <a:solidFill>
                  <a:srgbClr val="D32F2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Artikelnettopreis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und </a:t>
            </a:r>
            <a:r>
              <a:rPr lang="de-DE" sz="105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1050" dirty="0">
                <a:solidFill>
                  <a:srgbClr val="EF6C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Nettobetrag der Zeile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bleiben exakt — die Menge vergrößert keinen Fehler.</a:t>
            </a:r>
          </a:p>
        </p:txBody>
      </p:sp>
      <p:sp>
        <p:nvSpPr>
          <p:cNvPr id="14" name="Pill 14"/>
          <p:cNvSpPr/>
          <p:nvPr/>
        </p:nvSpPr>
        <p:spPr>
          <a:xfrm>
            <a:off x="1097280" y="37124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entfällt</a:t>
            </a:r>
          </a:p>
        </p:txBody>
      </p:sp>
      <p:sp>
        <p:nvSpPr>
          <p:cNvPr id="15" name="Card 15"/>
          <p:cNvSpPr/>
          <p:nvPr/>
        </p:nvSpPr>
        <p:spPr>
          <a:xfrm>
            <a:off x="6199632" y="2331720"/>
            <a:ext cx="516636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IconCircle 16"/>
          <p:cNvSpPr/>
          <p:nvPr/>
        </p:nvSpPr>
        <p:spPr>
          <a:xfrm>
            <a:off x="6437376" y="2423160"/>
            <a:ext cx="402336" cy="402336"/>
          </a:xfrm>
          <a:prstGeom prst="ellipse">
            <a:avLst/>
          </a:prstGeom>
          <a:solidFill>
            <a:srgbClr val="C2CAD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7" name="Icon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018" y="2533802"/>
            <a:ext cx="181051" cy="181051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6976872" y="24048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Faktor 2 · Zeilenanzahl n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473952" y="29260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de-DE" sz="1050" b="1" dirty="0">
                <a:solidFill>
                  <a:srgbClr val="EF6C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BT-131</a:t>
            </a:r>
            <a:r>
              <a:rPr lang="de-DE" sz="1050" dirty="0">
                <a:solidFill>
                  <a:srgbClr val="EF6C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Nettobetrag der Zeile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bleibt exakt — wie viele Zeilen</a:t>
            </a:r>
            <a:b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10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  <a:r>
              <a:rPr lang="de-DE" sz="10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der Nettobeträge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und </a:t>
            </a:r>
            <a:r>
              <a:rPr lang="de-DE" sz="10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10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</a:t>
            </a:r>
            <a:b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</a:b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summieren, spielt keine Rolle.</a:t>
            </a:r>
          </a:p>
        </p:txBody>
      </p:sp>
      <p:sp>
        <p:nvSpPr>
          <p:cNvPr id="20" name="Pill 20"/>
          <p:cNvSpPr/>
          <p:nvPr/>
        </p:nvSpPr>
        <p:spPr>
          <a:xfrm>
            <a:off x="6473952" y="3712464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F6EE"/>
          </a:solidFill>
          <a:ln w="9525">
            <a:solidFill>
              <a:srgbClr val="B7E1C7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50" b="1" dirty="0">
                <a:solidFill>
                  <a:srgbClr val="1E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entfällt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22960" y="420624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ABWEICHUNG NETTO  </a:t>
            </a:r>
            <a:r>
              <a:rPr lang="de-DE" sz="9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  <a:r>
              <a:rPr lang="de-DE" sz="9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der Nettobeträge</a:t>
            </a:r>
            <a:r>
              <a:rPr lang="de-DE" sz="9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/ </a:t>
            </a:r>
            <a:r>
              <a:rPr lang="de-DE" sz="9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9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</a:t>
            </a:r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822960" y="4480560"/>
          <a:ext cx="6766560" cy="1609344"/>
        </p:xfrm>
        <a:graphic>
          <a:graphicData uri="http://schemas.openxmlformats.org/drawingml/2006/table">
            <a:tbl>
              <a:tblPr firstRow="1" bandRow="1"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Stück je Zeile (Q) →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de-DE" sz="85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↓ Zeilen (n)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2435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10.000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1.000.000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 Zeile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Zeilen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10.000 Zeilen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1E8A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E8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Panel 23"/>
          <p:cNvSpPr/>
          <p:nvPr/>
        </p:nvSpPr>
        <p:spPr>
          <a:xfrm>
            <a:off x="7818120" y="4224528"/>
            <a:ext cx="3547872" cy="1883664"/>
          </a:xfrm>
          <a:prstGeom prst="roundRect">
            <a:avLst>
              <a:gd name="adj" fmla="val 4854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4"/>
          <p:cNvSpPr txBox="1"/>
          <p:nvPr/>
        </p:nvSpPr>
        <p:spPr>
          <a:xfrm>
            <a:off x="8092440" y="4334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000" spc="15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ZUSAMMEN · NETTO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092440" y="4608576"/>
            <a:ext cx="310896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09244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Nur der Zahlbetrag BT-115 wird einmal gerundet; BT-114 zeigt die Rundung.</a:t>
            </a:r>
          </a:p>
        </p:txBody>
      </p:sp>
      <p:sp>
        <p:nvSpPr>
          <p:cNvPr id="27" name="Shape 27"/>
          <p:cNvSpPr/>
          <p:nvPr/>
        </p:nvSpPr>
        <p:spPr>
          <a:xfrm>
            <a:off x="8092440" y="5541264"/>
            <a:ext cx="3017520" cy="9144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8"/>
          <p:cNvSpPr txBox="1"/>
          <p:nvPr/>
        </p:nvSpPr>
        <p:spPr>
          <a:xfrm>
            <a:off x="8092440" y="55961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100 Zeilen à 10.000 Stück</a:t>
            </a:r>
          </a:p>
          <a:p>
            <a:pPr marL="0" indent="0" algn="l">
              <a:buNone/>
            </a:pPr>
            <a:r>
              <a:rPr lang="de-DE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 </a:t>
            </a:r>
            <a:r>
              <a:rPr lang="de-DE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  <a:r>
              <a:rPr lang="de-DE" sz="10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USt </a:t>
            </a:r>
            <a:r>
              <a:rPr lang="de-DE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 0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2960" y="61264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de-DE" sz="8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Annahme: alle Rundungen fallen in dieselbe Richtung, BT-149 Basismenge = 1, 19 % USt.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AMENDMENT · MEIN VORSCHLAG 2/2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Bruttopreise für die EN Core (#164)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Ist der Preis inklusive USt festgelegt, soll er die Rechnung führen.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34489CF-F034-4AFD-9989-E9C20810832A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31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22960" y="2331720"/>
          <a:ext cx="6537960" cy="2487168"/>
        </p:xfrm>
        <a:graphic>
          <a:graphicData uri="http://schemas.openxmlformats.org/drawingml/2006/table">
            <a:tbl>
              <a:tblPr firstRow="1" bandRow="1"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Schritt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Nettomodell (heute)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Bruttomodell (neu)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Preis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BT-146 Artikelnettopreis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BT-146V Nettopreis plus USt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Zeile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BT-131 = Preis × Menge …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BT-131V = Preis plus USt × Menge …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Je Kategorie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BT-116 = Σ BT-131 …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BT-116V = Σ BT-131V …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USt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BT-117 = BT-116 × Satz</a:t>
                      </a:r>
                      <a:r>
                        <a:rPr lang="de-DE" sz="1000" dirty="0">
                          <a:solidFill>
                            <a:srgbClr val="9AA4C2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  aufgeschlagen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BT-117 = BT-116V × Satz ÷ (100 + Satz)</a:t>
                      </a:r>
                      <a:r>
                        <a:rPr lang="de-DE" sz="1000" dirty="0">
                          <a:solidFill>
                            <a:srgbClr val="0E7E82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  herausgerechnet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Netto je Kategorie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(gegeben)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BT-116 = BT-116V − BT-117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9"/>
          <p:cNvSpPr txBox="1"/>
          <p:nvPr/>
        </p:nvSpPr>
        <p:spPr>
          <a:xfrm>
            <a:off x="822960" y="4937760"/>
            <a:ext cx="6537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de-DE" sz="11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Das Modell wählt sich über BT-146V auf jeder Zeile — kein Indikator nötig. BT-146 bleibt Pflicht (Art. 226 Nr. 8 MwStSystRL), im Bruttomodell nur zur Information. Nicht für die Kategorien N, D, F, I, J.</a:t>
            </a:r>
          </a:p>
        </p:txBody>
      </p:sp>
      <p:sp>
        <p:nvSpPr>
          <p:cNvPr id="10" name="Panel 10"/>
          <p:cNvSpPr/>
          <p:nvPr/>
        </p:nvSpPr>
        <p:spPr>
          <a:xfrm>
            <a:off x="7589520" y="2331720"/>
            <a:ext cx="3776472" cy="3520440"/>
          </a:xfrm>
          <a:prstGeom prst="roundRect">
            <a:avLst>
              <a:gd name="adj" fmla="val 2597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11"/>
          <p:cNvSpPr txBox="1"/>
          <p:nvPr/>
        </p:nvSpPr>
        <p:spPr>
          <a:xfrm>
            <a:off x="790956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050" spc="15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BEISPIEL: BUCHPREISBINDUNG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909560" y="2816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1.000 Bücher à 24,95 € inkl. 7 % USt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90956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/>
          </a:p>
        </p:txBody>
      </p:sp>
      <p:sp>
        <p:nvSpPr>
          <p:cNvPr id="14" name="Text 14"/>
          <p:cNvSpPr txBox="1"/>
          <p:nvPr/>
        </p:nvSpPr>
        <p:spPr>
          <a:xfrm>
            <a:off x="905256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9AA4C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Gesamt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019556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9AA4C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USt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909560" y="3611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Soll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9052560" y="3611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24.950,00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019556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1.632,24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909560" y="40873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 2026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9052560" y="40873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b="1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24.950,05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0195560" y="4087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b="1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1.632,25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909560" y="456285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Bruttomodell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9052560" y="456285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b="1" dirty="0">
                <a:solidFill>
                  <a:srgbClr val="58D6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24.950,00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0195560" y="45628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b="1" dirty="0">
                <a:solidFill>
                  <a:srgbClr val="58D6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1.632,24</a:t>
            </a:r>
          </a:p>
        </p:txBody>
      </p:sp>
      <p:sp>
        <p:nvSpPr>
          <p:cNvPr id="25" name="Shape 25"/>
          <p:cNvSpPr/>
          <p:nvPr/>
        </p:nvSpPr>
        <p:spPr>
          <a:xfrm>
            <a:off x="7909560" y="5120640"/>
            <a:ext cx="3154680" cy="9144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6"/>
          <p:cNvSpPr txBox="1"/>
          <p:nvPr/>
        </p:nvSpPr>
        <p:spPr>
          <a:xfrm>
            <a:off x="7909560" y="519379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0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Nettomodell: 5 Cent zu viel, USt 1 Cent zu hoch. Bruttomodell: USt 1.632,24299… € → 1.632,24 € nur wegen der Cent-Pflicht (UStAE) — #163: Warnung.</a:t>
            </a:r>
          </a:p>
        </p:txBody>
      </p:sp>
      <p:sp>
        <p:nvSpPr>
          <p:cNvPr id="27" name="Pill 27"/>
          <p:cNvSpPr/>
          <p:nvPr/>
        </p:nvSpPr>
        <p:spPr>
          <a:xfrm>
            <a:off x="822960" y="5943600"/>
            <a:ext cx="10543032" cy="411480"/>
          </a:xfrm>
          <a:prstGeom prst="roundRect">
            <a:avLst>
              <a:gd name="adj" fmla="val 50000"/>
            </a:avLst>
          </a:prstGeom>
          <a:solidFill>
            <a:srgbClr val="E7F8F8"/>
          </a:solidFill>
          <a:ln w="9525">
            <a:solidFill>
              <a:srgbClr val="B5E9EA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Anwendungsfälle:  </a:t>
            </a:r>
            <a:r>
              <a:rPr lang="de-DE" sz="120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Buchpreisbindung · Kassenbon → Rechnung · Handel und Marktplätze · gesetzlich festgesetzte Bruttopreise</a:t>
            </a:r>
          </a:p>
        </p:txBody>
      </p:sp>
      <p:sp>
        <p:nvSpPr>
          <p:cNvPr id="28" name="Speaker 28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29" name="Callout 29"/>
          <p:cNvSpPr/>
          <p:nvPr/>
        </p:nvSpPr>
        <p:spPr>
          <a:xfrm>
            <a:off x="822960" y="5422392"/>
            <a:ext cx="6537960" cy="457200"/>
          </a:xfrm>
          <a:prstGeom prst="roundRect">
            <a:avLst>
              <a:gd name="adj" fmla="val 18000"/>
            </a:avLst>
          </a:prstGeom>
          <a:solidFill>
            <a:srgbClr val="FFF3E6"/>
          </a:solidFill>
          <a:ln w="9525">
            <a:solidFill>
              <a:srgbClr val="F5CFA3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pPr marL="0" indent="0" algn="l">
              <a:buNone/>
            </a:pPr>
            <a:r>
              <a:rPr lang="de-DE" sz="1050" dirty="0">
                <a:solidFill>
                  <a:srgbClr val="B85C0A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Heute oft unmöglich: 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Bei 19 % USt sind 16 % aller Bruttobeträge mit Netto und USt in der Minor Unit nicht erreichbar — 9,99 € = 8,39 + 1,59 → 9,98. Mit 5 Zeilen verfehlen 52 %, mit 35 Zeilen 81 % den Kassenbon.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4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eader 4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9FB0D8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ZUGFeRD-Entwicklertage 2026</a:t>
            </a:r>
            <a:r>
              <a:rPr lang="de-DE" sz="950" spc="100" dirty="0">
                <a:solidFill>
                  <a:srgbClr val="44598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7E91C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 16931-1:2026 · Syntax-Binding</a:t>
            </a:r>
          </a:p>
        </p:txBody>
      </p:sp>
      <p:sp>
        <p:nvSpPr>
          <p:cNvPr id="5" name="SectionLabel 5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KONTAKT</a:t>
            </a:r>
          </a:p>
        </p:txBody>
      </p:sp>
      <p:sp>
        <p:nvSpPr>
          <p:cNvPr id="6" name="Title 6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Sprechen Sie mich an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87DA7C0F-D619-4F2F-88AE-3AFCE6D46308}" type="slidenum">
              <a:rPr lang="de-DE" sz="1000" spc="200" dirty="0">
                <a:solidFill>
                  <a:srgbClr val="8EA0C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37</a:t>
            </a:fld>
            <a:endParaRPr lang="de-DE" sz="1000" spc="200" dirty="0">
              <a:solidFill>
                <a:srgbClr val="8EA0CC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Shape 8"/>
          <p:cNvSpPr/>
          <p:nvPr/>
        </p:nvSpPr>
        <p:spPr>
          <a:xfrm>
            <a:off x="822960" y="2743200"/>
            <a:ext cx="5074920" cy="1920240"/>
          </a:xfrm>
          <a:prstGeom prst="roundRect">
            <a:avLst>
              <a:gd name="adj" fmla="val 476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9"/>
          <p:cNvSpPr/>
          <p:nvPr/>
        </p:nvSpPr>
        <p:spPr>
          <a:xfrm>
            <a:off x="1133856" y="3054096"/>
            <a:ext cx="640080" cy="64008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592" y="3227832"/>
            <a:ext cx="292608" cy="29260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1965960" y="3063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de-DE" sz="18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Svante Schubert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de-DE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Syntax-Bindings · Validierung · Tooling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de-DE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Editor der Syntax-Bindings, CEN/TC 434 WG3</a:t>
            </a:r>
          </a:p>
        </p:txBody>
      </p:sp>
      <p:sp>
        <p:nvSpPr>
          <p:cNvPr id="12" name="Shape 12"/>
          <p:cNvSpPr/>
          <p:nvPr/>
        </p:nvSpPr>
        <p:spPr>
          <a:xfrm>
            <a:off x="6263640" y="2743200"/>
            <a:ext cx="5074920" cy="1920240"/>
          </a:xfrm>
          <a:prstGeom prst="roundRect">
            <a:avLst>
              <a:gd name="adj" fmla="val 476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3"/>
          <p:cNvSpPr txBox="1"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Mitlesen &amp; mitreden</a:t>
            </a:r>
          </a:p>
        </p:txBody>
      </p:sp>
      <p:sp>
        <p:nvSpPr>
          <p:cNvPr id="14" name="Text 14">
            <a:hlinkClick r:id="rId5"/>
          </p:cNvPr>
          <p:cNvSpPr txBox="1"/>
          <p:nvPr/>
        </p:nvSpPr>
        <p:spPr>
          <a:xfrm>
            <a:off x="658368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›  </a:t>
            </a:r>
            <a:r>
              <a:rPr lang="de-DE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WG1-Issues #163 und #164</a:t>
            </a:r>
          </a:p>
        </p:txBody>
      </p:sp>
      <p:sp>
        <p:nvSpPr>
          <p:cNvPr id="15" name="Text 15">
            <a:hlinkClick r:id="rId6"/>
          </p:cNvPr>
          <p:cNvSpPr txBox="1"/>
          <p:nvPr/>
        </p:nvSpPr>
        <p:spPr>
          <a:xfrm>
            <a:off x="658368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›  </a:t>
            </a:r>
            <a:r>
              <a:rPr lang="de-DE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Issues zu den Syntax-Bindings (WG3)</a:t>
            </a:r>
          </a:p>
        </p:txBody>
      </p:sp>
      <p:sp>
        <p:nvSpPr>
          <p:cNvPr id="16" name="Text 16">
            <a:hlinkClick r:id="rId7"/>
          </p:cNvPr>
          <p:cNvSpPr txBox="1"/>
          <p:nvPr/>
        </p:nvSpPr>
        <p:spPr>
          <a:xfrm>
            <a:off x="658368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›  </a:t>
            </a:r>
            <a:r>
              <a:rPr lang="de-DE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Svanton: exakte Arithmetik für Saxon</a:t>
            </a:r>
          </a:p>
        </p:txBody>
      </p:sp>
      <p:sp>
        <p:nvSpPr>
          <p:cNvPr id="17" name="Text 17">
            <a:hlinkClick r:id="rId8"/>
          </p:cNvPr>
          <p:cNvSpPr txBox="1"/>
          <p:nvPr/>
        </p:nvSpPr>
        <p:spPr>
          <a:xfrm>
            <a:off x="6583680" y="4215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2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›  </a:t>
            </a:r>
            <a:r>
              <a:rPr lang="de-DE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XSLT-4.0-Vorschlag (qt4cg #2935)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22960" y="5074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de-DE" sz="15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Vielen Dank </a:t>
            </a:r>
            <a:r>
              <a:rPr lang="de-DE" sz="1500" dirty="0">
                <a:solidFill>
                  <a:srgbClr val="AFC0EA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für Ihre Aufmerksamkeit — ich freue mich auf den Austausch bei den ZUGFeRD-Entwicklertagen.</a:t>
            </a:r>
          </a:p>
        </p:txBody>
      </p:sp>
      <p:sp>
        <p:nvSpPr>
          <p:cNvPr id="19" name="Speaker 19">
            <a:hlinkClick r:id="rId9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8EA0CC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20" name="QR Card pptx"/>
          <p:cNvSpPr/>
          <p:nvPr/>
        </p:nvSpPr>
        <p:spPr>
          <a:xfrm>
            <a:off x="9902952" y="822960"/>
            <a:ext cx="14630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A123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1" name="QR Slides pptx" descr="QR-Code: Folien als PPTX (https://svanteschubert.github.io/testy/ZUGFeRD_Entwicklertage_2026_SvanteSchubert_Syntax-Binding_DE.pptx)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76104" y="896112"/>
            <a:ext cx="1316736" cy="1316736"/>
          </a:xfrm>
          <a:prstGeom prst="rect">
            <a:avLst/>
          </a:prstGeom>
        </p:spPr>
      </p:pic>
      <p:sp>
        <p:nvSpPr>
          <p:cNvPr id="22" name="QR Caption pptx">
            <a:hlinkClick r:id="rId10"/>
          </p:cNvPr>
          <p:cNvSpPr txBox="1"/>
          <p:nvPr/>
        </p:nvSpPr>
        <p:spPr>
          <a:xfrm>
            <a:off x="9537192" y="23408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000" spc="100" dirty="0">
                <a:solidFill>
                  <a:srgbClr val="C4D2F4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Folien als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1144</TotalTime>
  <Words>13885</Words>
  <Application>Microsoft Macintosh PowerPoint</Application>
  <PresentationFormat>Widescreen</PresentationFormat>
  <Paragraphs>1503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Consolas</vt:lpstr>
      <vt:lpstr>Inter Text</vt:lpstr>
      <vt:lpstr>Arial</vt:lpstr>
      <vt:lpstr>Inter SemiBold Text SemiBold</vt:lpstr>
      <vt:lpstr>Inter Medium Text Medium</vt:lpstr>
      <vt:lpstr>Inter Light Text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Schubert Consulting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Rundung und Bruttopreise in der EN 16931 (Auszug)</dc:title>
  <dc:subject>Update zu Syntax-Binding (DE)</dc:subject>
  <dc:creator>Svante Schubert</dc:creator>
  <cp:keywords/>
  <dc:description>ZUGFeRD Entwicklertage 2026</dc:description>
  <cp:lastModifiedBy>Svante Schubert</cp:lastModifiedBy>
  <cp:revision>58</cp:revision>
  <dcterms:created xsi:type="dcterms:W3CDTF">2026-06-19T07:48:12Z</dcterms:created>
  <dcterms:modified xsi:type="dcterms:W3CDTF">2026-10-15T08:47:41Z</dcterms:modified>
  <cp:category/>
</cp:coreProperties>
</file>