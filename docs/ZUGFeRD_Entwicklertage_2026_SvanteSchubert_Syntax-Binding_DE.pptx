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39"/>
  </p:notesMasterIdLst>
  <p:sldIdLst>
    <p:sldId id="301" r:id="rId2"/>
    <p:sldId id="302" r:id="rId3"/>
    <p:sldId id="305" r:id="rId4"/>
    <p:sldId id="306" r:id="rId5"/>
    <p:sldId id="307" r:id="rId6"/>
    <p:sldId id="308" r:id="rId7"/>
    <p:sldId id="309" r:id="rId8"/>
    <p:sldId id="310" r:id="rId9"/>
    <p:sldId id="312" r:id="rId10"/>
    <p:sldId id="311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325" r:id="rId23"/>
    <p:sldId id="326" r:id="rId24"/>
    <p:sldId id="331" r:id="rId25"/>
    <p:sldId id="328" r:id="rId26"/>
    <p:sldId id="329" r:id="rId27"/>
    <p:sldId id="330" r:id="rId28"/>
    <p:sldId id="337" r:id="rId29"/>
    <p:sldId id="336" r:id="rId30"/>
    <p:sldId id="335" r:id="rId31"/>
    <p:sldId id="332" r:id="rId32"/>
    <p:sldId id="303" r:id="rId33"/>
    <p:sldId id="304" r:id="rId34"/>
    <p:sldId id="313" r:id="rId35"/>
    <p:sldId id="327" r:id="rId36"/>
    <p:sldId id="333" r:id="rId37"/>
    <p:sldId id="334" r:id="rId38"/>
  </p:sldIdLst>
  <p:sldSz cx="12192000" cy="6858000"/>
  <p:notesSz cx="6858000" cy="12192000"/>
  <p:embeddedFontLst>
    <p:embeddedFont>
      <p:font typeface="Consolas" panose="020B0609020204030204" pitchFamily="49" charset="0"/>
      <p:regular r:id="rId40"/>
      <p:bold r:id="rId41"/>
      <p:italic r:id="rId42"/>
      <p:boldItalic r:id="rId43"/>
    </p:embeddedFont>
    <p:embeddedFont>
      <p:font typeface="Inter Light Text Light" panose="02000503000000020004" pitchFamily="2" charset="0"/>
      <p:regular r:id="rId44"/>
    </p:embeddedFont>
    <p:embeddedFont>
      <p:font typeface="Inter Medium Text Medium" panose="02000503000000020004" pitchFamily="2" charset="0"/>
      <p:regular r:id="rId45"/>
    </p:embeddedFont>
    <p:embeddedFont>
      <p:font typeface="Inter SemiBold Text SemiBold" panose="02000503000000020004" pitchFamily="2" charset="0"/>
      <p:regular r:id="rId46"/>
    </p:embeddedFont>
    <p:embeddedFont>
      <p:font typeface="Inter Text" panose="02000503000000020004" pitchFamily="2" charset="0"/>
      <p:regular r:id="rId47"/>
      <p:bold r:id="rId4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166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17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2900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Begrüßung. Thema: die neue EN 16931-1:2026 aus Sicht der Syntax-Bindings — UBL und CII als Träger der Semantik.</a:t>
            </a:r>
          </a:p>
          <a:p>
            <a:r>
              <a:rPr lang="de-DE" dirty="0"/>
              <a:t>Vorstellen: Editor der Syntax-Bindings (CEN/TC 434 WG3), von DIN entsandt.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Sieben Blöcke: Stand, Semantik (die Fracht), Syntax-Bindings (der Träger), Formate in Europa und Deutschland, Rundung und exakte Arithmetik, das Amendment mit meinen Vorschlägen #163 (inkl. Rechenkette 2017 · 2026 · #163) und #164, zum Schluss die nächsten Schritte bei CEN.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Kernbotschaft: Die Semantik (EN 16931-1) ist die Fracht, die Syntax (UBL, CII) nur der Träger.</a:t>
            </a:r>
          </a:p>
          <a:p>
            <a:r>
              <a:rPr lang="de-DE" dirty="0"/>
              <a:t>2026 wächst die Fracht (+52 Business Terms), und beide Träger werden auf aktuelle Versionen gehoben: UBL 2.5 und CII D25A.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Zusammenfassung der Folien von Paul Simons (Convenor WG1) — die Semantik ist die Fracht, um die es geht.</a:t>
            </a:r>
          </a:p>
          <a:p>
            <a:r>
              <a:rPr lang="de-DE" dirty="0"/>
              <a:t>Drei Säulen der Revision: Fehler korrigieren; zusätzliche Anforderungen durch die B2B-Pflichten in den Mitgliedstaaten; Anforderungen aus ViDA.</a:t>
            </a:r>
          </a:p>
          <a:p>
            <a:r>
              <a:rPr lang="de-DE" dirty="0"/>
              <a:t>Geschäftsanforderungen: Auftrag, Versandanzeige, Wareneingang, Lieferschein auf Kopf- und Zeilenebene; Lieferinformationen je Zeile; PAYMENT TERMS 0..n; EARLY PAYMENT DISCOUNT und LATE PAYMENT PENALTY 0..n; Gebühren im Namen Dritter; XML-Anlagen.</a:t>
            </a:r>
          </a:p>
          <a:p>
            <a:r>
              <a:rPr lang="de-DE" dirty="0"/>
              <a:t>ViDA und rechtliche Anforderungen: Steuerkategorie N für nationale Regelungen; Befreiungsgrund (Text und Code) für Zu- und Abschläge; USt-Zwischensummen je Befreiungsgrund; Kennzeichen Waren/Dienstleistung, auch in der USt-Aufschlüsselung für innergemeinschaftliche Umsätze; Befreiungsgrund auch bei anderen Kategorien als E; VATEX-Codeliste um nationale Codes erweitert; Kategorie O mit anderen Kategorien kombinierbar.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Business Groups 32 → 39, Business Terms 164 → 216, Hilfsattribute (z. B. Scheme Identifier) 19 → 22. Insgesamt 215 → 277, also +62 Elemente.</a:t>
            </a:r>
          </a:p>
          <a:p>
            <a:r>
              <a:rPr lang="de-DE" dirty="0"/>
              <a:t>Neue Gruppen u. a. Zahlungsbedingungen, Skonto, Verzugszinsen, Gebühren im Namen Dritter, Lieferinformationen und -adresse je Zeile, Referenz auf vorherige Rechnung je Zeile.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Codes +16 (z. B. Befreiungsgründe, Waren/Dienstleistung, Nicht-USt-Steuern), Dokumentreferenzen +12 (Bestellung, Versandanzeige, Wareneingang, Lieferschein je Zeile), Text +10.</a:t>
            </a:r>
          </a:p>
          <a:p>
            <a:r>
              <a:rPr lang="de-DE" dirty="0"/>
              <a:t>Neuer Datentyp 2026: Uhrzeit (BT-166 Rechnungszeit).</a:t>
            </a:r>
          </a:p>
          <a:p>
            <a:r>
              <a:rPr lang="de-DE" dirty="0"/>
              <a:t>Prozent = Änderung bezogen auf 2017: Code +76 %, Document reference +120 %, Text +16 %, Amount +19 %, Date +44 %, Identifier +11 %, Percentage +25 %; Time ist neu (0 → 1); Summe 164 → 216 = +32 %.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EDIFACT und CII kommen beide aus UN/ECE WP.4 bzw. UN/CEFACT; die meisten Codelisten der EN 16931 (UNTDID 1001, 4461, 5305, 7161) sind Codelisten aus dem EDIFACT-Verzeichnis.</a:t>
            </a:r>
          </a:p>
          <a:p>
            <a:r>
              <a:rPr lang="de-DE" dirty="0"/>
              <a:t>UBL kommt von OASIS; ebXML (1999 – 2001) war das gemeinsame Projekt von UN/CEFACT und OASIS, aus dem die Core-Components-Methodik beider XML-Syntaxen stammt.</a:t>
            </a:r>
          </a:p>
          <a:p>
            <a:r>
              <a:rPr lang="de-DE" dirty="0"/>
              <a:t>Quellen: ISO/TC 154 FAQ zu ISO 9735; OASIS UBL TC; CEN/TS 16931-3-2/-3-3/-3-4; Durchführungsbeschluss (EU) 2017/1870.</a:t>
            </a:r>
          </a:p>
          <a:p>
            <a:r>
              <a:rPr lang="de-DE" dirty="0"/>
              <a:t>Die Zeilen 2017 und 2026 nennen die Syntax-Bindings mit ihren Versionen: 2017 CEN/TS 16931-3-4 (INVOIC D.16B), -3-2 (UBL 2.1), -3-3 (CII D.16B); 2026 CEN/TS 16931-3-4 (INVOIC D.24A), -3-2 (UBL 2.5), -3-3 (CII D.25A).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EDIFACT hat ein CEN-Binding (CEN/TS 16931-3-4), steht aber nicht auf der Liste der Syntaxen im Durchführungsbeschluss (EU) 2017/1870 — kein öffentlicher Auftraggeber muss es annehmen.</a:t>
            </a:r>
          </a:p>
          <a:p>
            <a:r>
              <a:rPr lang="de-DE" dirty="0"/>
              <a:t>Deutschland: § 14 Abs. 1 Satz 6 UStG. Nr. 1 = EN 16931 + Liste der Syntaxen (UBL, CII), immer ohne Zustimmung zulässig. Nr. 2 = zwischen den Parteien vereinbartes Format, z. B. EDIFACT; es muss die richtige und vollständige Extraktion in ein EN-16931-konformes oder interoperables Format erlauben.</a:t>
            </a:r>
          </a:p>
          <a:p>
            <a:r>
              <a:rPr lang="de-DE" dirty="0"/>
              <a:t>BMF-Schreiben vom 15.10.2024 (III C 2 - S 7287-a/23/10001 :007, BStBl I S. 1320): Rn. 33 nennt EDI-Verfahren wie EDIFACT über die Übergangsfristen hinaus; Rn. 63: Zustimmung per Rahmenvereinbarung (z. B. AGB) oder konkludent; Rn. 65: EDI nach Art. 2 der Empfehlung 94/820/EG bis Ende 2027.</a:t>
            </a:r>
          </a:p>
          <a:p>
            <a:r>
              <a:rPr lang="de-DE" dirty="0"/>
              <a:t>BMF-Schreiben vom 15.10.2025, UStAE 14.1 Abs. 7: Zustimmung konkludent möglich (z. B. widerspruchslose Annahme). Achtung: 'konkludent' bezieht sich auf die Zustimmung zu anderen elektronischen Formaten; für die Vereinbarung nach Nr. 2 verlangt das BMF nur 'vereinbart', ohne Form.</a:t>
            </a:r>
          </a:p>
          <a:p>
            <a:r>
              <a:rPr lang="de-DE" dirty="0"/>
              <a:t>Zeichensätze: UNOW (UTF-8) setzt Syntaxversion 4 (ISO 9735:1998) voraus; die meisten deutschen EDIFACT-Rechnungen (EANCOM, VDA) laufen noch mit Syntaxversion 3 und UNOA/UNOB/UNOC.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Zahlen aus dem maschinellen Vergleich der Binding-Tabellen 2017 und 2026 (normalisiertes CSV); Einträge enthalten Unterzeilen wie Scheme Identifier und Datumsformate.</a:t>
            </a:r>
          </a:p>
          <a:p>
            <a:r>
              <a:rPr lang="de-DE" dirty="0"/>
              <a:t>Beispiele für geänderte Pfade: UBL BT-10 cbc:BuyerReference → cac:BuyerAssignedReference/cbc:BuyerReference; UBL BT-22 cbc:Note → cac:Annotation/cbc:AnnotationContent; CII BT-10 ram:BuyerReference → ram:BuyerReferenceID; CII BT-95/102/118/151 ram:TypeCode → ram:CategoryCode.</a:t>
            </a:r>
          </a:p>
          <a:p>
            <a:r>
              <a:rPr lang="de-DE" dirty="0"/>
              <a:t>Für Entwickler: Mapping-Tabellen als CSV vergleichen statt nur das PDF zu lesen.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Die Zahl der Einträge stammt aus einem maschinellen Vergleich der Syntax-Binding-Tabellen 2017 und 2026 (normalisiertes CSV); sie enthält Unterzeilen wie Scheme Identifier und Datumsformate.</a:t>
            </a:r>
          </a:p>
          <a:p>
            <a:r>
              <a:rPr lang="de-DE" dirty="0"/>
              <a:t>Neue Gruppen: BG-33 bis BG-39. Business Terms 164 → 216 (+52), siehe Semantik-Folie.</a:t>
            </a:r>
          </a:p>
          <a:p>
            <a:r>
              <a:rPr lang="de-DE" dirty="0"/>
              <a:t>Behobene Fehler von 2017: Tippfehler, fehlende XPath-Alternativen, Anforderungen, die nur in Kommentaren standen.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Zehn ausgewählte Beispiele, nicht jedes akzeptierte Format. Die Jahreszahl ist der rechtliche Meilenstein für den genannten Bereich — nicht das Erscheinungsjahr des Formats. B2G = an die öffentliche Hand, B2B = zwischen Unternehmen. Formatnamen und Jahreszahlen sind verlinkt.</a:t>
            </a:r>
          </a:p>
          <a:p>
            <a:r>
              <a:rPr lang="de-DE" dirty="0"/>
              <a:t>AT: ebInterface (nationales XML), Pflicht für Rechnungen an Bundesdienststellen seit 01.01.2014; UBL ebenfalls möglich.</a:t>
            </a:r>
          </a:p>
          <a:p>
            <a:r>
              <a:rPr lang="de-DE" dirty="0"/>
              <a:t>EE: EVS 923 (nationales XML), maschinenlesbare Rechnungen an den öffentlichen Sektor seit 01.07.2019; UBL und CII ebenfalls.</a:t>
            </a:r>
          </a:p>
          <a:p>
            <a:r>
              <a:rPr lang="de-DE" dirty="0"/>
              <a:t>ES: Facturae (nationales XML) seit 2007, B2G-Pflicht seit 15.01.2015. Für die B2B-Reform lässt Art. 7 Real Decreto 238/2026 CII, UBL, EDIFACT und Facturae zu, mit Ausrichtung an der EN-16931-Semantik.</a:t>
            </a:r>
          </a:p>
          <a:p>
            <a:r>
              <a:rPr lang="de-DE" dirty="0"/>
              <a:t>FI: Finvoice und TEAPPSXML (nationales XML); seit 01.04.2020 Recht, eine EN-16931-konforme E-Rechnung zu verlangen — keine pauschale Ausstellungspflicht.</a:t>
            </a:r>
          </a:p>
          <a:p>
            <a:r>
              <a:rPr lang="de-DE" dirty="0"/>
              <a:t>IT: FatturaPA (nationales XML) über SdI; allgemeiner B2B-Start 01.01.2019.</a:t>
            </a:r>
          </a:p>
          <a:p>
            <a:r>
              <a:rPr lang="de-DE" dirty="0"/>
              <a:t>PL: FA(3) (nationales XML) in KSeF; Pflicht ab 01.02.2026 für große Unternehmen, ab 01.04.2026 für weitere.</a:t>
            </a:r>
          </a:p>
          <a:p>
            <a:r>
              <a:rPr lang="de-DE" dirty="0"/>
              <a:t>SI: e-SLOG (nationales XML); E-Rechnungen an den öffentlichen Sektor seit 01.01.2015.</a:t>
            </a:r>
          </a:p>
          <a:p>
            <a:r>
              <a:rPr lang="de-DE" dirty="0"/>
              <a:t>BE: Peppol BIS Billing; B2B-Pflicht seit 01.01.2026. UBL ist Pflicht; Empfänger können sich zusätzlich für CII D16B registrieren.</a:t>
            </a:r>
          </a:p>
          <a:p>
            <a:r>
              <a:rPr lang="de-DE" dirty="0"/>
              <a:t>DE: XRechnung (CIUS in UBL und CII) oder ZUGFeRD/Factur-X (PDF + CII-XML); seit 01.01.2025 müssen Unternehmen E-Rechnungen empfangen können. Das BMF akzeptiert ZUGFeRD ab 2.0.1 außer MINIMUM und BASIC WL.</a:t>
            </a:r>
          </a:p>
          <a:p>
            <a:r>
              <a:rPr lang="de-DE" dirty="0"/>
              <a:t>FR: Factur-X (PDF/A-3 + CII-XML), gemeinsam mit ZUGFeRD; Frankreich unterstützt auch UBL und reines CII. Ab 01.09.2026 Empfang für alle, Ausstellung für große und mittlere Unternehmen; kleinere ab 09/2027.</a:t>
            </a:r>
          </a:p>
          <a:p>
            <a:r>
              <a:rPr lang="de-DE" dirty="0"/>
              <a:t>Liste der Syntaxen im Durchführungsbeschluss (EU) 2017/1870: UBL und CII. Nationale B2B-Gesetze können weitere Syntaxen zulassen. Flaggen: Flagpedia.net / FlagCDN.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Warum zwei: unterschiedliche Herkunft (Wirtschaft vs. Verwaltung), unterschiedlicher Zeitpunkt (ZUGFeRD 1.0 ist älter als die EN 16931) und unterschiedliche Steuerung (FeRD/AWV vs. KoSIT/IT-Planungsrat).</a:t>
            </a:r>
          </a:p>
          <a:p>
            <a:r>
              <a:rPr lang="de-DE" dirty="0"/>
              <a:t>Heute ergänzen sie sich: hybrides B2B-Format vs. strikte B2G-CIUS; das ZUGFeRD-Profil XRECHNUNG verbindet beide.</a:t>
            </a:r>
          </a:p>
          <a:p>
            <a:r>
              <a:rPr lang="de-DE" dirty="0"/>
              <a:t>Quellen: IT-Planungsrat, Beschluss 2017/22 (22.06.2017); XRechnung 1.0 vom 10.05.2017; E-Rechnungsgesetz vom 04.04.2017 (§ 4a EGovG); ERechV; BMF-Schreiben vom 15.10.2025, UStAE 14.1 Abs. 12 –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Datum mit der Jahreszahl vorn (ISO 8601), damit die Spalte einheitlich ist. Grün = laut BMF eine E-Rechnung (ZUGFeRD ab Version 2.0.1, außer den Profilen MINIMUM und BASIC WL; UStAE 14.1 Abs. 14, BMF-Schreiben vom 15.10.2025); rot = keine E-Rechnung.</a:t>
            </a:r>
          </a:p>
          <a:p>
            <a:r>
              <a:rPr lang="de-DE" dirty="0"/>
              <a:t>Factur-X ist eines der drei Basisformate der französischen B2B-Pflicht ab September 2026. Frankreich war früher dabei als 2020: Factur-X 1.0 erschien am 31.12.2017 (FNFE-MPE). ZUGFeRD 2.0 (11.03.2019) entspricht Factur-X 1.0.03, ZUGFeRD 2.0.1 Factur-X 1.0.04 (Factur-X-Fassung vom 30.06.2019), ZUGFeRD 2.1 Factur-X 1.0.05 (24.03.2020, volle Angleichung).</a:t>
            </a:r>
          </a:p>
          <a:p>
            <a:r>
              <a:rPr lang="de-DE" dirty="0"/>
              <a:t>Weitere Paare laut Versionshistorie der Factur-X-Spezifikation 1.09.2: 2.2 = 1.0.06 (01.03.2022), 2.3 = 1.0.07 (18.09.2024, CII D22B statt D16B), 2.4 = 1.08 (04.12.2025), 2.5 = 1.09 (10.06.2026), 2.5.2 = 1.09.2 (04.08.2026).</a:t>
            </a:r>
          </a:p>
          <a:p>
            <a:r>
              <a:rPr lang="de-DE" dirty="0"/>
              <a:t>Quellen: Versionshistorie der Factur-X-Spezifikation 1.09.2; Pressemitteilung BMWi vom 24.03.2020; Ankündigung ZUGFeRD 2.4 vom 05.12.2025.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BG = Business Group, BT = Business Term (semantisches Modell der EN 16931-1). BG-X / BT-X sind die Erweiterungen von Factur-X EXTENDED.</a:t>
            </a:r>
          </a:p>
          <a:p>
            <a:r>
              <a:rPr lang="de-DE" dirty="0"/>
              <a:t>Zählweise: verschiedene IDs je Profilspalte (X) in '3.FACTUR-X 1.09.2 - EN FR.xlsx', Blatt 'Factur-X CII D22B EXTENDED'. Hilfszeilen von CII (z. B. BT-23-00) und Attributzeilen (z. B. BT-29-1, BT-31-0) zählen zu ihrem BT; die Wurzel BG-0 zählt nicht.</a:t>
            </a:r>
          </a:p>
          <a:p>
            <a:r>
              <a:rPr lang="de-DE" dirty="0"/>
              <a:t>Profil EN 16931 = vollständiger Kern der EN 16931-1: 32 BG + 164 BT (BT-1 … BT-165 ohne BT-4).</a:t>
            </a:r>
          </a:p>
          <a:p>
            <a:r>
              <a:rPr lang="de-DE" dirty="0"/>
              <a:t>EXTENDED ergänzt 93 BG-X + 609 BT-X und 12 in 1.09 neue IDs: BG-34 Gebühren im Namen Dritter (BT-179, BT-180), BT-173 … BT-177 Befreiungsgründe und Nicht-USt-Steuer für Zu-/Abschläge, BT-186 Global ID der Lieferanschrift, BT-193 Nicht-USt-Steuer je Zeile, BT-215/BT-216 belastetes Konto.</a:t>
            </a:r>
          </a:p>
          <a:p>
            <a:r>
              <a:rPr lang="de-DE" dirty="0"/>
              <a:t>Frankreich (AFNOR XP Z12-012): MINIMUM nicht nutzbar; BASIC WL nur bis 01.09.2027; BASIC soll als EN 16931 deklariert werden. Französische EXTENDED-Teilmengen: EXTENDED-CTC-FR 401, EXTENDED-B2B-FR 469 BG + BT.</a:t>
            </a:r>
          </a:p>
          <a:p>
            <a:r>
              <a:rPr lang="de-DE" dirty="0"/>
              <a:t>Warum es BASIC gibt: Teilmenge (CIUS) der EN 16931 mit allen Pflichtfeldern und allen Geschäftsregeln — als Orientierung, welche Daten Lieferanten (vor allem KMU und ihre Softwarehäuser) zuerst beherrschen sollten. Jede BASIC-Rechnung ist auch EN-16931-konform.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Zeilen nach Summe BG + BT sortiert; gleicher Maßstab für alle drei Gruppen. 'Neue BG + BT' = Terms außerhalb des EN-16931-Modells (Factur-X BG-X/BT-X, XRechnung BG-DEX/BT-DEX, PINT IBG-33 … 38 / IBT-166 … 200).</a:t>
            </a:r>
          </a:p>
          <a:p>
            <a:r>
              <a:rPr lang="de-DE" dirty="0"/>
              <a:t>XRechnung 3.0.2: CIUS 196 = alle Terms der EN 16931 mit strengeren Regeln (z. B. BT-10 = Leitweg-ID Pflicht); Extension 208 ergänzt BG-DEX-01 … 09 und BT-DEX-001 … 003.</a:t>
            </a:r>
          </a:p>
          <a:p>
            <a:r>
              <a:rPr lang="de-DE" dirty="0"/>
              <a:t>Peppol BIS Billing 3.0 (Release Mai 2026, Strukturdateien auf GitHub OpenPEPPOL/peppol-bis-invoice-3): CIUS der EN 16931 mit 32 BG + 163 BT = 195; nur BT-21 (Betreff der Bemerkung) wird nicht genutzt.</a:t>
            </a:r>
          </a:p>
          <a:p>
            <a:r>
              <a:rPr lang="de-DE" dirty="0"/>
              <a:t>Peppol PINT BIS Billing 1.1.3 (docs.peppol.eu/poac/pint): internationales Modell mit 37 IBG + 195 IBT = 232; behält 31 EN-Gruppen und 163 EN-Terms (ohne BG-1, BT-21) und ergänzt 6 Gruppen und 32 Terms, z. B. Stücksteuer, Bruttopreise, Steueraufschlüsselung in Buchungswährung. Die nächste Peppol-CIUS (PINT BIS 4) wird der EN-16931-Revision folgen.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Peppol PINT (Peppol International Invoice) BIS Billing 1.1.3, Release 05.06.2026: das allgemeine Datenmodell, auf dem die Spezialisierungen der einzelnen Länder aufbauen (docs.peppol.eu/poac/pint).</a:t>
            </a:r>
          </a:p>
          <a:p>
            <a:r>
              <a:rPr lang="de-DE" dirty="0"/>
              <a:t>Drei Schichten laut PINT Specialization Guide: Shared = in allen Rechnungsdomänen gleich definiert, minimale Regeln, reicht für Einlesen ins ERP, Buchung und Bestellabgleich. Aligned = allgemein definiert, je Domäne präzisiert, ohne eigene Geschäftsregeln (z. B. Steuer, Zahlungsanweisungen). Distinct = domänenspezifische Gesetze und Praxis, für andere Domänen nicht unbedingt verständlich.</a:t>
            </a:r>
          </a:p>
          <a:p>
            <a:r>
              <a:rPr lang="de-DE" dirty="0"/>
              <a:t>Spezialisierungen auf docs.peppol.eu/poac: Australien &amp; Neuseeland (aunz), Japan (jp), Singapur (sg), Malaysia (my), Vereinigte Arabische Emirate (ae). Jede hat eine eigene CustomizationID (urn:peppol:pint:billing-1@…).</a:t>
            </a:r>
          </a:p>
          <a:p>
            <a:r>
              <a:rPr lang="de-DE" dirty="0"/>
              <a:t>Wildcard im SMP: Eine Registrierung mit '*' sagt, dass der Empfänger mehr annimmt, als er vollständig verarbeitet — z. B. jede Spezialisierung empfangen und den Shared-Teil automatisch verarbeiten.</a:t>
            </a:r>
          </a:p>
          <a:p>
            <a:r>
              <a:rPr lang="de-DE" dirty="0"/>
              <a:t>PINT-eigene Terms (32 IBT + 6 IBG): IBT-166 Unit TAX, IBT-167 Tax Scheme, IBT-168 Invoice issue time, IBG-33 Invoice terms (IBT-176 Terms amount, IBT-177 Installment due date, IBT-187 Terms payment instructions ID), IBT-178 Payment instructions ID, IBG-34 Financial institution address (IBT-169 … 175), IBG-35 Paid amounts (IBT-179 … 182), IBG-36 Line document reference (IBT-188, IBT-189), IBT-183/184 Bestell- und Versandanzeigenreferenz je Zeile, IBT-185/186 Befreiungsgrund je Zeile, IBT-196 … 199 Befreiungsgründe für Zu-/Abschläge, IBT-200 Tax inclusive pricing, IBG-37/38 Summen und Steueraufschlüsselung in der Buchungswährung (IBT-190, 192, 193).</a:t>
            </a:r>
          </a:p>
          <a:p>
            <a:r>
              <a:rPr lang="de-DE" dirty="0"/>
              <a:t>Bruttopreise in PINT: optional; Standard ist netto mit den Berechnungen der EN 16931. Spezialisierungen dürfen netto oder netto + brutto unterstützen, nur brutto ist nicht zulässig. Das ist genau das Muster, das #164 für die EN 16931 vorschlägt.</a:t>
            </a:r>
          </a:p>
          <a:p>
            <a:r>
              <a:rPr lang="de-DE" dirty="0"/>
              <a:t>Vieles davon ist mit der EN 16931-1:2026 in den europäischen Kern gewandert: Rechnungszeit (BT-166), mehrere Zahlungsbedingungen, Referenzen je Zeile, Befreiungsgründe für Zu- und Abschläge. Typisch PINT bleiben das steuerneutrale Modell (TAX, Steuerschema, Stücksteuer), Bruttopreise, Raten mit Zahlungsweg, geleistete Zahlungen, Steuer in Buchungswährung und die Bankadresse.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Gleicher Maßstab wie die Profil-Folie (Kreisfläche ∝ BG + BT); der gestrichelte Kreis ist Factur-X EXTENDED (910) zum Vergleich.</a:t>
            </a:r>
          </a:p>
          <a:p>
            <a:r>
              <a:rPr lang="de-DE" dirty="0"/>
              <a:t>CIUS XRechnung: Das Verzeichnis der Informationselemente (Kapitel 10) enthält alle 32 BG und 164 BT der EN 16931; die CIUS schränkt ein, sie streicht keine Terms. EN-16931-konform.</a:t>
            </a:r>
          </a:p>
          <a:p>
            <a:r>
              <a:rPr lang="de-DE" dirty="0"/>
              <a:t>Extension XRechnung (conformant, für Rechnungssteller optional): 9 neue Gruppen BG-DEX-01 … 09 und 3 neue Terms BT-DEX-001 … 003 (Kapitel 15 und 16). Die rekursive SUB INVOICE LINE nutzt die Zeilen-BTs BT-126 … BT-161, sie werden nicht doppelt gezählt.</a:t>
            </a:r>
          </a:p>
          <a:p>
            <a:r>
              <a:rPr lang="de-DE" dirty="0"/>
              <a:t>XRechnung 4.0 (Entwurf): Die Extension schrumpft auf Unterpositionen und Codes des Gesundheitswesens; Zahlung durch Dritte und XML-Anlagen wandern in den EN-Kern. In ZUGFeRD steht die CIUS als Profil XRECHNUNG (CII) zur Verfügung.</a:t>
            </a:r>
          </a:p>
          <a:p>
            <a:r>
              <a:rPr lang="de-DE" dirty="0"/>
              <a:t>Folie von Svante (in Berlin von Lars präsentiert).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Folien von Paul Simons, zusammengefasst. Rundung: Alle Beträge werden auf die Anzahl Nachkommastellen der Spalte 'minor unit' von ISO 4217 für die verwendete Währung gerundet.</a:t>
            </a:r>
          </a:p>
          <a:p>
            <a:r>
              <a:rPr lang="de-DE" dirty="0"/>
              <a:t>Beispiele (ISO 4217, minor unit): EUR Euro 2; ISK Isländische Krone 0 (die einzige aktuelle europäische Währung ohne Nachkommastellen); JPY Japanischer Yen 0; KWD Kuwait-Dinar 3. Keine europäische Währung hat 3 Nachkommastellen — die haben nur BHD, IQD, JOD, KWD, LYD, OMR und TND.</a:t>
            </a:r>
          </a:p>
          <a:p>
            <a:r>
              <a:rPr lang="de-DE" dirty="0"/>
              <a:t>Toleranz für BT-92 (Abschlag auf Dokumentebene), BT-99 (Zuschlag/Steuer auf Dokumentebene) und BT-131 (Nettobetrag der Zeile): 2 bei 0 Nachkommastellen, 0,2 bei 1, 0,02 bei 2, 0,002 bei 3, 0,0002 bei 4.</a:t>
            </a:r>
          </a:p>
          <a:p>
            <a:r>
              <a:rPr lang="de-DE" dirty="0"/>
              <a:t>Bei Berechnungen mit Multiplikation und/oder Division (außer BT-92, BT-99, BT-131) darf die Abweichung zwischen berechnetem und angegebenem Wert höchstens 0,1 % des berechneten Betrags sein, mindestens aber 0,01 und höchstens 1,00.</a:t>
            </a:r>
          </a:p>
          <a:p>
            <a:r>
              <a:rPr lang="de-DE" dirty="0"/>
              <a:t>Neu 2026: Die EN 16931-1:2017 schrieb in Tabelle 26 für alle Beträge fest 2 Nachkommastellen vor — unabhängig von der Währung, also falsch für Rechnungen in JPY oder ISK (0) und in KWD (3). Seit 2026 gilt die Minor Unit nach ISO 4217 (Tabelle 28); Preise BT-146 bis BT-148 dürfen Minor Unit + 2 haben, Mengen 4, Basismengen und Sätze 2.</a:t>
            </a:r>
          </a:p>
          <a:p>
            <a:r>
              <a:rPr lang="de-DE" dirty="0"/>
              <a:t>USt-Abrechnungswährung (BT-6, BT-111): Nach Art. 230 MwStSystRL darf die Rechnung jede Währung haben, die USt muss aber in der Landeswährung des Mitgliedstaats angegeben werden — EUR oder CZK, DKK, HUF, PLN, RON, SEK; Bulgarien zahlt seit 1. Januar 2026 in Euro. Alle diese Währungen haben die Minor Unit 2. Wir sprechen trotzdem von der Minor Unit, weil das die Regel der Norm ist; Island nutzt die EN 16931 über den EWR mit der ISK (0 Nachkommastellen).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Ohne Schema ist jeder XML-Wert untypisiert, und XPath rechnet ihn als xs:double (IEEE 754 binary64). 0,1 hat keine endliche Binärdarstellung — so wie 1/3 keine endliche Dezimaldarstellung hat.</a:t>
            </a:r>
          </a:p>
          <a:p>
            <a:r>
              <a:rPr lang="de-DE" dirty="0"/>
              <a:t>Die Beispiele sind Tests im Repository Saxon-HE-enhanced-accuracy (Svanton), ausgeführt gegen das unveränderte Saxon-HE 13.0. In XPath-Notation mit Punkt als Dezimaltrennzeichen.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Quelle: Mike Cowlishaw, General Decimal Arithmetic, speleotrove.com/decimal (FAQ).</a:t>
            </a:r>
          </a:p>
          <a:p>
            <a:r>
              <a:rPr lang="de-DE" dirty="0"/>
              <a:t>IEEE 754-1985 normierte binäre Gleitkommazahlen; IEEE 854-1987 erlaubte jede Basis, wurde aber kaum umgesetzt; IBM POWER6 (2007) brachte eine Dezimal-Gleitkommaeinheit in Hardware; IEEE 754-2008 (August 2008) ergänzte Dezimalformate und -arithmetik; ISO/IEC/IEEE 60559:2011 ist das internationale Pendant.</a:t>
            </a:r>
          </a:p>
          <a:p>
            <a:r>
              <a:rPr lang="de-DE" dirty="0"/>
              <a:t>IBM-Untersuchung von 1.091.916 Spalten in kommerziellen Datenbanken: 55 % dezimal, 43,7 % ganzzahlig, 1,4 % Gleitkomma.</a:t>
            </a:r>
          </a:p>
          <a:p>
            <a:r>
              <a:rPr lang="de-DE" dirty="0"/>
              <a:t>Telefonbeispiel: 0,70 × 1,05 ergibt binär 0,73499999…, gerundet 0,73 statt 0,74. Die Quelle (Cowlishaw, Telco-Benchmark) rechnet in Dollar; auf der Folie in Euro.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fn:round() rundet in XPath Halbe in Richtung +∞. Kaufmännisches Runden (Halbe weg von der Null) verlangen Abschnitt 14.5 UStAE, DIN 1333 und AFNOR XP Z12-012.</a:t>
            </a:r>
          </a:p>
          <a:p>
            <a:r>
              <a:rPr lang="de-DE" dirty="0"/>
              <a:t>Die Gutschrift-Zeile ist dezimal gerechnet — der einzige Unterschied ist die Rundungsregel. 1,005 scheitert aus beiden Gründen: Es ist binär als 1,00499999… gespeichert.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Svanton = Saxon-HE-enhanced-accuracy, ein Fork von Saxon-HE 13.0: durchgehend Dezimal-Gleitkomma (XML-Werte, number(), wissenschaftliche Notation, XSLT 1.0), round() halb weg von der Null, Dezimaldivision mit 34 statt 18 Stellen. Getestet mit 30 Beispielrechnungen und den offiziellen EN-16931-Artefakten.</a:t>
            </a:r>
          </a:p>
          <a:p>
            <a:r>
              <a:rPr lang="de-DE" dirty="0"/>
              <a:t>Maven-Snapshot: com.schubert-consulting:Saxon-HE-accuracy:13.0.1-SNAPSHOT (Java 25). Der Name stammt von Jochen Stärk: klingt wie eine schwedische Möbelserie — passt zu einem Saxon zum Selberbauen.</a:t>
            </a:r>
          </a:p>
          <a:p>
            <a:r>
              <a:rPr lang="de-DE" dirty="0"/>
              <a:t>Best Practices in XSLT: vor dem Rechnen casten, sum(amount/xs:decimal(.)), nie xs:decimal(sum(amount)); number() vermeiden — sein NaN lässt !=-Vergleiche stillschweigend durchgehen; castable as xs:decimal verwenden.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Vorschlag: github.com/qt4cg/qtspecs/issues/2935 'Opt-in commercial arithmetic for XPath, XQuery and XSLT 4.0' mit arithmetic-mode="decimal" und default-rounding-mode="half-away-from-zero". Status: offen, in der Community Group diskutiert; Michael Kay schlug zusätzlich einen allgemeinen Mechanismus für Standard-Funktionsoptionen vor.</a:t>
            </a:r>
          </a:p>
          <a:p>
            <a:r>
              <a:rPr lang="de-DE" dirty="0"/>
              <a:t>In den Regeln heute: custom:round-factor mit einem Faktor je Währung (Factur-X #394).</a:t>
            </a:r>
          </a:p>
          <a:p>
            <a:r>
              <a:rPr lang="de-DE" dirty="0"/>
              <a:t>Svanton: github.com/svanteschubert/Saxon-HE-enhanced-accuracy. Gefördert durch ein StandICT.eu-Fellowship (Projekt 02-300, 2021), finanziert von der EU unter Grant Agreement Nr. 951972.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github.com/ConnectingEurope/CEN-TC434-WG1/issues/163 — 'Round only once: no rounding of intermediate values, only of the amounts that are paid are being rounded' (Update 3 vom 14.10.2026).</a:t>
            </a:r>
          </a:p>
          <a:p>
            <a:r>
              <a:rPr lang="de-DE" dirty="0"/>
              <a:t>Die EN 16931-1:2026 sagt in 6.5.14 schon das Richtige: gerundet wird das Endergebnis, nicht Zwischenergebnisse. Das gilt aber nur je Regel; Tabelle 28 und der erste Spiegelstrich von 6.5.14 zwingen jedes Ergebnis wieder auf Cent, bevor es in die nächste Regel geht. Deshalb braucht es Toleranzen bis 1 EUR (BR-S-9, BR-IG-9, BR-IP-9).</a:t>
            </a:r>
          </a:p>
          <a:p>
            <a:r>
              <a:rPr lang="de-DE" dirty="0"/>
              <a:t>Update 3: Gerundet wird nur, was bezahlt wird — der Zahlbetrag BT-115 und die Beträge, die ihn ändern: BT-113 (gezahlter Betrag), BT-172 (Skontobetrag), BT-179 (Gebühren im Namen Dritter), BT-183 (Verzugsbetrag). Sie stehen in der Minor Unit der Währung (ISO 4217, Spalte 'minor unit'; EUR: Cent) — die Bank überweist keine kleineren Beträge. BT-114 (Rundungsbetrag) trägt die eine Rundung. Alles andere, auch die USt, steht so genau da, wie der Aussteller rechnet.</a:t>
            </a:r>
          </a:p>
          <a:p>
            <a:r>
              <a:rPr lang="de-DE" dirty="0"/>
              <a:t>Die USt wird nicht je Rechnung überwiesen, sondern mit der Steuererklärung (Art. 206 MwStSystRL). Wie die USt einer Rechnung gerundet wird, ist nationales Recht: Verlangt es Cent — in Deutschland UStAE 14.5 (20) 'nach Cent genau' —, schränkt eine nationale CIUS BT-110 und BT-117 auf die Minor Unit ein (EN 16931-1:2026, Tabelle 29: 'Restrict allowed fraction digits'). Die Kern-Validierung meldet das als Warnung.</a:t>
            </a:r>
          </a:p>
          <a:p>
            <a:r>
              <a:rPr lang="de-DE" dirty="0"/>
              <a:t>Validierung: exakt aus den angegebenen Werten, bei unendlichen Divisionen mit 34 Stellen (IEEE 754 decimal128). Gleich: gültig. Innerhalb der heutigen Toleranz: gültig mit Warnung — ob die Abweichung akzeptiert wird, entscheidet die Finanzverwaltung; eine Warnung schützt nicht vor Sanktionen. Außerhalb: Fehler. Für Summen gilt 0,005 × (1 + Anzahl der Summanden), wie in #164 vorgeschlagen. Die Toleranzen bleiben, eine Übergangszeit ist nicht nötig: Jede heute gültige Rechnung bleibt gültig, höchstens mit Warnung.</a:t>
            </a:r>
          </a:p>
          <a:p>
            <a:r>
              <a:rPr lang="de-DE" dirty="0"/>
              <a:t>Empfänger validieren mit dieser Genauigkeit, buchen den Zahlbetrag BT-115 und dürfen alle anderen Werte intern runden; die Originalrechnung bleibt gespeichert (Art. 233 und 244 MwStSystRL). Ab 1. Juli 2030 braucht eine EN-16931-konforme E-Rechnung keine Zustimmung des Empfängers mehr (neuer Art. 232, ViDA).</a:t>
            </a:r>
          </a:p>
          <a:p>
            <a:r>
              <a:rPr lang="de-DE" dirty="0"/>
              <a:t>Beispiel Kassenbon → Rechnung (#148): 1.000 × 9,99 € inkl. 19 % USt = 9.990,00 € mit 1.595,04 € USt. Heute (BT-146 mit 4 Stellen: 8,3950) ergibt die Rechnung 9.990,05 € — 5 Cent zu viel, USt 1 Cent zu hoch. Mit #163 und 10 Stellen (8,3949579832): Zahlbetrag 9.990,00 €, BT-114 = −0,000000008. Mit USt in Cent, wo das Gesetz es verlangt: 1.595,04 € (Warnung), Zahlbetrag 9.990,00 €.</a:t>
            </a:r>
          </a:p>
          <a:p>
            <a:r>
              <a:rPr lang="de-DE" dirty="0"/>
              <a:t>Diskussion: Die Trennung in Warnung und Fehler greift die dritte Option von Cyrille Sautereau (FR) auf. Offen sind DRR-Meldungen mit Cent-Zeilen (FR: PPF nimmt bis 6 Stellen an) und die Rückwärtskompatibilität (Paul Simons). Die WG1 hat 2020 schon beschlossen, die Begrenzung von BT-131 aufzuheben (Issue #7).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Drei Folienpaare mit identischem Aufbau — beim Durchblättern sieht man nur die Unterschiede.</a:t>
            </a:r>
          </a:p>
          <a:p>
            <a:r>
              <a:rPr lang="de-DE" dirty="0"/>
              <a:t>Regenbogen: Die sieben berechneten BTs laufen von oben nach unten durch den Regenbogen — BT-146 rot, BT-131 orange, BT-106 gelb, BT-116 grün, BT-117 blau, BT-110 violett, BT-115 magenta. Wo eine spätere Zeile einen von ihnen wieder verwendet, steht er dort fett in derselben Farbe (BT-146 in BT-131, BT-131 in BT-106 und BT-116, BT-116 in BT-117, BT-117 in BT-110, BT-110 in BT-115). Eingangswerte bleiben dunkelblau.</a:t>
            </a:r>
          </a:p>
          <a:p>
            <a:r>
              <a:rPr lang="de-DE" dirty="0"/>
              <a:t>Rahmen: blau = Eingabe- und Zwischenwerte, violett = Endergebnisse. Rechts daneben stehen alle BTs der Kette mit ihren erlaubten Nachkommastellen, die berechneten in ihrer Regenbogenfarbe; zwei BTs teilen sich eine Zeile, wenn sie dieselben Nachkommastellen haben. Alle Eingangswerte — auch Zu- und Abschläge auf Dokumentebene und der USt-Satz — stehen im oberen Kasten, unten die Endergebnisse BT-116, BT-117, BT-110 und der Zahlbetrag BT-115.</a:t>
            </a:r>
          </a:p>
          <a:p>
            <a:r>
              <a:rPr lang="de-DE" dirty="0"/>
              <a:t>Die ±-Werte links gelten für 100 Zeilen à 100 Stück, 19 % USt, alle Rundungen in dieselbe Richtung. Wie weit das wachsen kann, zeigen die Folien 'Wie groß wird die Abweichung?' (Worst Case mit Zeilenanzahl und Menge).</a:t>
            </a:r>
          </a:p>
          <a:p>
            <a:r>
              <a:rPr lang="de-DE" dirty="0"/>
              <a:t>Farben der Nachkommastellen: rot = von der Norm erzwungene Rundung eines Werts, der nicht bezahlt wird (2017/2026: BT-131, BT-106, BT-116, BT-117, BT-110; 2026 auch BT-146); grün = gezahlter Betrag, einmal gerundet: der Zahlbetrag BT-115 — 2017 fest auf 2 Nachkommastellen (Tabelle 26), seit 2026 auf die Minor Unit der Währung (ISO 4217; EUR: Cent, JPY: ganze Yen, KWD: 3 Nachkommastellen); orange = Eingangswert, der wegen einer Begrenzung gerundet werden muss; 'frei' = keine Begrenzung (#163). Der USt-Satz ist eine gesetzliche Konstante und wird nicht gerundet.</a:t>
            </a:r>
          </a:p>
          <a:p>
            <a:r>
              <a:rPr lang="de-DE" dirty="0"/>
              <a:t>Warum BT-116, BT-117 und BT-110 keine Endwerte mehr sind: Nach Update 3 von #163 (14.10.2026) wird nur gerundet, was bezahlt wird. Die USt wird mit der Steuererklärung bezahlt, nicht je Rechnung (Art. 206 MwStSystRL); die USt-Voranmeldung nimmt die Bemessungsgrundlage sogar nur in vollen Euro (BMF-Anleitung 2026). Verlangt nationales Recht die USt je Rechnung in Cent (UStAE 14.5 (20)), schränkt eine nationale CIUS BT-117 und BT-110 auf die Minor Unit ein (Tabelle 29) — die Kern-Validierung meldet das als Warnung.</a:t>
            </a:r>
          </a:p>
          <a:p>
            <a:r>
              <a:rPr lang="de-DE" dirty="0"/>
              <a:t>BT-115 Zahlbetrag = BT-112 Gesamtbetrag (BT-109 netto + BT-110 USt) − BT-113 Vorauszahlung + Σ BT-179 Gebühren im Namen Dritter + BT-114 Rundungsbetrag (BR-CO-16). 2017 und 2026 landen die Fehler aller Zwischenrundungen im Zahlbetrag (± 0,60 € bzw. ± 1,19 € bei 100 Zeilen à 100 Stück); mit #163 wird er einmal gerundet, und BT-114 zeigt diese Rundung.</a:t>
            </a:r>
          </a:p>
          <a:p>
            <a:r>
              <a:rPr lang="de-DE" dirty="0"/>
              <a:t>2017 (Tabelle 26): Nur Beträge sind begrenzt — fest auf 2 Nachkommastellen, unabhängig von der Währung; Preise, Mengen, Basismengen und Sätze sind unbegrenzt. Eine Zwischenrundung: BT-131 weicht je Zeile um bis zu 0,005 € ab, über 100 Zeilen bis zu 0,50 €; die USt darauf um bis zu 0,10 € (9,5 Cent, gerundet).</a:t>
            </a:r>
          </a:p>
          <a:p>
            <a:r>
              <a:rPr lang="de-DE" dirty="0"/>
              <a:t>Schon 2017 widerspricht die Tabelle dem Text der Norm: 'Rounding shall be done on the final calculation results not on any intermediate results'.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Regenbogen: Die sieben berechneten BTs laufen von oben nach unten durch den Regenbogen — BT-146 rot, BT-131 orange, BT-106 gelb, BT-116 grün, BT-117 blau, BT-110 violett, BT-115 magenta. Wo eine spätere Zeile einen von ihnen wieder verwendet, steht er dort fett in derselben Farbe (BT-146 in BT-131, BT-131 in BT-106 und BT-116, BT-116 in BT-117, BT-117 in BT-110, BT-110 in BT-115). Eingangswerte bleiben dunkelblau.</a:t>
            </a:r>
          </a:p>
          <a:p>
            <a:r>
              <a:rPr lang="de-DE" dirty="0"/>
              <a:t>Rahmen: blau = Eingabe- und Zwischenwerte, violett = Endergebnisse. Rechts daneben stehen alle BTs der Kette mit ihren erlaubten Nachkommastellen, die berechneten in ihrer Regenbogenfarbe; zwei BTs teilen sich eine Zeile, wenn sie dieselben Nachkommastellen haben. Alle Eingangswerte — auch Zu- und Abschläge auf Dokumentebene und der USt-Satz — stehen im oberen Kasten, unten die Endergebnisse BT-116, BT-117, BT-110 und der Zahlbetrag BT-115.</a:t>
            </a:r>
          </a:p>
          <a:p>
            <a:r>
              <a:rPr lang="de-DE" dirty="0"/>
              <a:t>Die ±-Werte links gelten für 100 Zeilen à 100 Stück, 19 % USt, alle Rundungen in dieselbe Richtung. Wie weit das wachsen kann, zeigen die Folien 'Wie groß wird die Abweichung?' (Worst Case mit Zeilenanzahl und Menge).</a:t>
            </a:r>
          </a:p>
          <a:p>
            <a:r>
              <a:rPr lang="de-DE" dirty="0"/>
              <a:t>Farben der Nachkommastellen: rot = von der Norm erzwungene Rundung eines Werts, der nicht bezahlt wird (2017/2026: BT-131, BT-106, BT-116, BT-117, BT-110; 2026 auch BT-146); grün = gezahlter Betrag, einmal gerundet: der Zahlbetrag BT-115, auf die Minor Unit der Währung (ISO 4217; EUR: Cent, JPY: ganze Yen, KWD: 3 Nachkommastellen); orange = Eingangswert, der wegen einer Begrenzung gerundet werden muss; 'frei' = keine Begrenzung (#163). Der USt-Satz ist eine gesetzliche Konstante und wird nicht gerundet.</a:t>
            </a:r>
          </a:p>
          <a:p>
            <a:r>
              <a:rPr lang="de-DE" dirty="0"/>
              <a:t>Warum BT-116, BT-117 und BT-110 keine Endwerte mehr sind: Nach Update 3 von #163 (14.10.2026) wird nur gerundet, was bezahlt wird. Die USt wird mit der Steuererklärung bezahlt, nicht je Rechnung (Art. 206 MwStSystRL); die USt-Voranmeldung nimmt die Bemessungsgrundlage sogar nur in vollen Euro (BMF-Anleitung 2026). Verlangt nationales Recht die USt je Rechnung in Cent (UStAE 14.5 (20)), schränkt eine nationale CIUS BT-117 und BT-110 auf die Minor Unit ein (Tabelle 29) — die Kern-Validierung meldet das als Warnung.</a:t>
            </a:r>
          </a:p>
          <a:p>
            <a:r>
              <a:rPr lang="de-DE" dirty="0"/>
              <a:t>BT-115 Zahlbetrag = BT-112 Gesamtbetrag (BT-109 netto + BT-110 USt) − BT-113 Vorauszahlung + Σ BT-179 Gebühren im Namen Dritter + BT-114 Rundungsbetrag (BR-CO-16). 2017 und 2026 landen die Fehler aller Zwischenrundungen im Zahlbetrag (± 0,60 € bzw. ± 1,19 € bei 100 Zeilen à 100 Stück); mit #163 wird er einmal gerundet, und BT-114 zeigt diese Rundung.</a:t>
            </a:r>
          </a:p>
          <a:p>
            <a:r>
              <a:rPr lang="de-DE" dirty="0"/>
              <a:t>2026 (Tabelle 28): BT-146 bis BT-148 auf 'minor unit + 2' (EUR: 4), BT-129 auf 4, BT-149 auf 2, Sätze auf 2, alle Beträge auf die minor unit (EUR: 2). Zwei Zwischenrundungen: BT-146 (bis 0,00005 € je Stück) und BT-131.</a:t>
            </a:r>
          </a:p>
          <a:p>
            <a:r>
              <a:rPr lang="de-DE" dirty="0"/>
              <a:t>Je Zeile: 100 × 0,00005 € aus dem Preis + 0,005 € aus der Zeilenrundung = 0,01 €. Über 100 Zeilen: 1,00 € Netto; USt 1,00 € × 19 % = 0,19 € (der Versatz um genau 19 Cent bleibt nach dem Runden erhalten); Gesamt 1,19 €.</a:t>
            </a:r>
          </a:p>
          <a:p>
            <a:r>
              <a:rPr lang="de-DE" dirty="0"/>
              <a:t>Die Toleranzen der 2026er Regeln fangen solche Differenzen auf (bis 1 EUR bei BR-S-9) — sie verstecken sie aber auch. Mit #163 trennen sie Warnung von Fehler: Die Abweichung wird sichtbar. Konkretes Beispiel mit Zahlen (Kassenbon 1.000 × 9,99 €): siehe Notizen zu #163.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Regenbogen: Die sieben berechneten BTs laufen von oben nach unten durch den Regenbogen — BT-146 rot, BT-131 orange, BT-106 gelb, BT-116 grün, BT-117 blau, BT-110 violett, BT-115 magenta. Wo eine spätere Zeile einen von ihnen wieder verwendet, steht er dort fett in derselben Farbe (BT-146 in BT-131, BT-131 in BT-106 und BT-116, BT-116 in BT-117, BT-117 in BT-110, BT-110 in BT-115). Eingangswerte bleiben dunkelblau.</a:t>
            </a:r>
          </a:p>
          <a:p>
            <a:r>
              <a:rPr lang="de-DE" dirty="0"/>
              <a:t>Rahmen: blau = Eingabe- und Zwischenwerte, violett = Endergebnisse. Rechts daneben stehen alle BTs der Kette mit ihren erlaubten Nachkommastellen, die berechneten in ihrer Regenbogenfarbe; zwei BTs teilen sich eine Zeile, wenn sie dieselben Nachkommastellen haben. Alle Eingangswerte — auch Zu- und Abschläge auf Dokumentebene und der USt-Satz — stehen im oberen Kasten, unten die Endergebnisse BT-116, BT-117, BT-110 und der Zahlbetrag BT-115.</a:t>
            </a:r>
          </a:p>
          <a:p>
            <a:r>
              <a:rPr lang="de-DE" dirty="0"/>
              <a:t>Die ±-Werte links gelten für 100 Zeilen à 100 Stück, 19 % USt, alle Rundungen in dieselbe Richtung. Wie weit das wachsen kann, zeigen die Folien 'Wie groß wird die Abweichung?' (Worst Case mit Zeilenanzahl und Menge).</a:t>
            </a:r>
          </a:p>
          <a:p>
            <a:r>
              <a:rPr lang="de-DE" dirty="0"/>
              <a:t>Farben der Nachkommastellen: rot = von der Norm erzwungene Rundung eines Werts, der nicht bezahlt wird (2017/2026: BT-131, BT-106, BT-116, BT-117, BT-110; 2026 auch BT-146); grün = gezahlter Betrag, einmal gerundet: der Zahlbetrag BT-115, auf die Minor Unit der Währung (ISO 4217; EUR: Cent, JPY: ganze Yen, KWD: 3 Nachkommastellen); orange = Eingangswert, der wegen einer Begrenzung gerundet werden muss; 'frei' = keine Begrenzung (#163). Der USt-Satz ist eine gesetzliche Konstante und wird nicht gerundet.</a:t>
            </a:r>
          </a:p>
          <a:p>
            <a:r>
              <a:rPr lang="de-DE" dirty="0"/>
              <a:t>Warum BT-116, BT-117 und BT-110 keine Endwerte mehr sind: Nach Update 3 von #163 (14.10.2026) wird nur gerundet, was bezahlt wird. Die USt wird mit der Steuererklärung bezahlt, nicht je Rechnung (Art. 206 MwStSystRL); die USt-Voranmeldung nimmt die Bemessungsgrundlage sogar nur in vollen Euro (BMF-Anleitung 2026). Verlangt nationales Recht die USt je Rechnung in Cent (UStAE 14.5 (20)), schränkt eine nationale CIUS BT-117 und BT-110 auf die Minor Unit ein (Tabelle 29) — die Kern-Validierung meldet das als Warnung.</a:t>
            </a:r>
          </a:p>
          <a:p>
            <a:r>
              <a:rPr lang="de-DE" dirty="0"/>
              <a:t>BT-115 Zahlbetrag = BT-112 Gesamtbetrag (BT-109 netto + BT-110 USt) − BT-113 Vorauszahlung + Σ BT-179 Gebühren im Namen Dritter + BT-114 Rundungsbetrag (BR-CO-16). 2017 und 2026 landen die Fehler aller Zwischenrundungen im Zahlbetrag (± 0,60 € bzw. ± 1,19 € bei 100 Zeilen à 100 Stück); mit #163 wird er einmal gerundet, und BT-114 zeigt diese Rundung.</a:t>
            </a:r>
          </a:p>
          <a:p>
            <a:r>
              <a:rPr lang="de-DE" dirty="0"/>
              <a:t>Vorschlag #163: Zwischenwerte werden nicht mehr zwangsweise gerundet, Eingangswerte (Mengen, Preise, Prozentsätze) nicht mehr begrenzt; der USt-Satz bleibt als gesetzliche Konstante bei 2 Nachkommastellen.</a:t>
            </a:r>
          </a:p>
          <a:p>
            <a:r>
              <a:rPr lang="de-DE" dirty="0"/>
              <a:t>Gerundet wird nur der Zahlbetrag BT-115 (dazu BT-113, BT-172, BT-179 und BT-183, die ihn ändern); BT-114 (Rundungsbetrag) macht die eine Rundung sichtbar. Die USt bleibt so genau wie gerechnet; Cent nur per nationaler CIUS, als Warnung. Damit gibt es keine Abweichung durch Zwischenrundung — in jeder Zeilenzahl.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So entsteht die Abweichung — Schritt für Schritt (EN 16931-1:2017):</a:t>
            </a:r>
          </a:p>
          <a:p>
            <a:r>
              <a:rPr lang="de-DE" dirty="0"/>
              <a:t>1. Preis BT-146: 2017 nicht begrenzt. Der Preis bleibt exakt, z. B. 0,123449 €. Faktor 1 (Preisrundung × Menge) entfällt.</a:t>
            </a:r>
          </a:p>
          <a:p>
            <a:r>
              <a:rPr lang="de-DE" dirty="0"/>
              <a:t>2. Zeilenbetrag BT-131 = Preis × Menge: muss auf 2 Nachkommastellen gerundet werden — 2017 fest, unabhängig von der Währung (Tabelle 26). Schlimmster Fall: Der exakte Betrag endet genau auf einen halben Cent, z. B. 12,345 € → 12,35 €. Das sind 0,005 € Abweichung — in jeder Zeile.</a:t>
            </a:r>
          </a:p>
          <a:p>
            <a:r>
              <a:rPr lang="de-DE" dirty="0"/>
              <a:t>3. Summen BT-106 und BT-116 addieren n gerundete Zeilen. Runden alle Zeilen in dieselbe Richtung, addieren sich die halben Cent: n × 0,005 €. 100 Zeilen: 0,50 €; 10.000 Zeilen: 50,00 €.</a:t>
            </a:r>
          </a:p>
          <a:p>
            <a:r>
              <a:rPr lang="de-DE" dirty="0"/>
              <a:t>4. USt BT-117 = 19 % von BT-116: 19 % × 0,50 € = 0,095 € → nach der Rundung auf 2 Nachkommastellen bis zu 0,10 €.</a:t>
            </a:r>
          </a:p>
          <a:p>
            <a:r>
              <a:rPr lang="de-DE" dirty="0"/>
              <a:t>Ergebnis: Die Abweichung wächst linear mit der Zeilenanzahl, ohne Obergrenze. Die Menge je Zeile spielt 2017 keine Rolle — deshalb sind alle Spalten der Tabelle gleich.</a:t>
            </a:r>
          </a:p>
          <a:p>
            <a:r>
              <a:rPr lang="de-DE" dirty="0"/>
              <a:t>Die Tabelle zeigt die Obergrenze. In der Praxis runden Zeilen mal auf, mal ab und gleichen sich teilweise aus.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So entsteht die Abweichung — Schritt für Schritt (EN 16931-1:2026):</a:t>
            </a:r>
          </a:p>
          <a:p>
            <a:r>
              <a:rPr lang="de-DE" dirty="0"/>
              <a:t>1. Preis BT-146 (Faktor 1): darf nur Minor Unit + 2 Nachkommastellen haben (Tabelle 28; EUR: 4). Der exakte Preis — z. B. 0,123449 € aus Bruttopreis minus Rabatt oder aus einem Brutto-Kassenbon — wird einmal in 4 Stellen 'hineingedrückt': 0,1234 €. Fehler 0,000049 €, höchstens 0,00005 € (eine halbe Einheit der 4. Stelle).</a:t>
            </a:r>
          </a:p>
          <a:p>
            <a:r>
              <a:rPr lang="de-DE" dirty="0"/>
              <a:t>2. Zeilenbetrag BT-131 = Preis × Menge: Gerundet wird nicht je Stück — aber der gerundete Preis steckt in jedem Stück. Die Menge multipliziert den einen Preisfehler: 10.000 Stück × 0,000049 € = 0,49 € (WG1-Issue #148: 1.234,00 € statt 1.234,49 €). Höchstens Q × 0,00005 €.</a:t>
            </a:r>
          </a:p>
          <a:p>
            <a:r>
              <a:rPr lang="de-DE" dirty="0"/>
              <a:t>3. Dazu rundet BT-131 auf die Minor Unit (EUR: Cent): noch einmal bis zu 0,005 €. Je Zeile also bis zu Q × 0,00005 € + 0,005 € — das zeigt die erste Tabellenzeile (100 Stück: 0,005 € + 0,005 € = 0,01 €; 10.000 Stück: 0,50 € + 0,005 € = 0,505 €; 1.000.000 Stück: 50,00 € + 0,005 € = 50,005 €).</a:t>
            </a:r>
          </a:p>
          <a:p>
            <a:r>
              <a:rPr lang="de-DE" dirty="0"/>
              <a:t>4. Summen BT-106 und BT-116 (Faktor 2) addieren n Zeilen. Im schlimmsten Fall in dieselbe Richtung: n × (Q × 0,00005 € + 0,005 €). Die erste Tabellenzeile zeigt den Fehler je Zeile als Summe der beiden Teile (Preis × Menge + Cent-Rundung); jede weitere Zeile ist Zeilenanzahl × dieser Wert.</a:t>
            </a:r>
          </a:p>
          <a:p>
            <a:r>
              <a:rPr lang="de-DE" dirty="0"/>
              <a:t>Zum Nachrechnen: 100 Zeilen à 10.000 Stück → je Zeile 10.000 × 0,00005 € + 0,005 € = 0,505 € → × 100 Zeilen = 50,50 € netto. USt: 19 % × 50,50 € = 9,595 € → bis zu 9,60 €.</a:t>
            </a:r>
          </a:p>
          <a:p>
            <a:r>
              <a:rPr lang="de-DE" dirty="0"/>
              <a:t>Die Ecke der Tabelle: 10.000 Zeilen à 1.000.000 Stück → je Zeile 1.000.000 × 0,00005 € + 0,005 € = 50,005 € → × 10.000 Zeilen = 500.050 €. Extrem, aber es zeigt: nach oben offen. Große Mengen gibt es z. B. bei Energie (kWh), Kleinteilen oder Datenvolumen.</a:t>
            </a:r>
          </a:p>
          <a:p>
            <a:r>
              <a:rPr lang="de-DE" dirty="0"/>
              <a:t>Warum der Preis schwerer wiegt als die Zeilen: Der Preisfehler gleicht sich innerhalb einer Zeile nie aus, er wird mit der Menge voll multipliziert. Über viele Zeilen gleichen sich Rundungen dagegen teilweise aus; die Tabelle zeigt die Obergrenze.</a:t>
            </a:r>
          </a:p>
          <a:p>
            <a:r>
              <a:rPr lang="de-DE" dirty="0"/>
              <a:t>Ebenso ist BT-129 (Menge) auf 4 Nachkommastellen begrenzt: Bei teuren Artikeln fehlen je Zeile bis zu 0,00005 × Preis (z. B. 0,00005 kg × 20.000 €/kg = 1,00 €).</a:t>
            </a:r>
          </a:p>
          <a:p>
            <a:r>
              <a:rPr lang="de-DE" dirty="0"/>
              <a:t>Die Toleranzen der 2026er Regeln (bis 1 EUR, z. B. BR-S-9) fangen nur kleine Abweichungen auf — und verstecken die Ursache. Mit #163 trennen dieselben Toleranzen Warnung von Fehler: Die Abweichung wird sichtbar statt versteckt.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So bleibt die Abweichung bei null — Schritt für Schritt (Vorschlag #163):</a:t>
            </a:r>
          </a:p>
          <a:p>
            <a:r>
              <a:rPr lang="de-DE" dirty="0"/>
              <a:t>1. Preis BT-146 und Menge bleiben exakt, ihre Nachkommastellen sind nicht begrenzt. Faktor 1 (Preisrundung × Menge) entfällt.</a:t>
            </a:r>
          </a:p>
          <a:p>
            <a:r>
              <a:rPr lang="de-DE" dirty="0"/>
              <a:t>2. Zeilenbetrag BT-131 und Summe BT-106 werden nicht gerundet, sondern exakt weitergerechnet. Faktor 2 (Zeilenanzahl) entfällt — egal wie viele Zeilen.</a:t>
            </a:r>
          </a:p>
          <a:p>
            <a:r>
              <a:rPr lang="de-DE" dirty="0"/>
              <a:t>3. Gerundet wird nur, was bezahlt wird: der Zahlbetrag BT-115, einmal aus dem exakten Gesamtbetrag auf die Minor Unit der Währung (EUR: Cent); BT-114 (Rundungsbetrag) zeigt diese eine Rundung. Die USt BT-117 und die Bemessungsgrundlage BT-116 bleiben so genau wie gerechnet. Verlangt nationales Recht die USt in Cent (UStAE 14.5 (20)), schränkt eine nationale CIUS sie ein — die Validierung meldet das als Warnung, nicht als Fehler.</a:t>
            </a:r>
          </a:p>
          <a:p>
            <a:r>
              <a:rPr lang="de-DE" dirty="0"/>
              <a:t>Ergebnis: ± 0 Abweichung durch Zwischenrundung, für jede Menge und jede Zeilenanzahl. Voraussetzung ist exakte Dezimalarithmetik — siehe die Folien zur exakten Rechnungsarithmetik.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github.com/ConnectingEurope/CEN-TC434-WG1/issues/164 — 'Gross price model: use Item net price plus VAT as the leading price and extract the VAT once per VAT category'.</a:t>
            </a:r>
          </a:p>
          <a:p>
            <a:r>
              <a:rPr lang="de-DE" dirty="0"/>
              <a:t>Die EN 16931 kennt nur das Nettomodell: Nettopreise summieren, USt aufschlagen. Viele Preise sind aber inklusive USt festgelegt: Buchpreisbindung (§ 5 BuchPrG), Kassenbons oberhalb der Kleinbetragsgrenze, Händler und Marktplätze, gesetzlich festgesetzte Preise.</a:t>
            </a:r>
          </a:p>
          <a:p>
            <a:r>
              <a:rPr lang="de-DE" dirty="0"/>
              <a:t>Vorschlag: zwei Rechenmodelle, jede Rechnung nutzt genau eins. Im Bruttomodell wird die USt je Kategorie einmal herausgerechnet: BT-117 = BT-116V × BT-119 ÷ (100 + BT-119), von der Norm nicht gerundet (Cent nur, wo nationales Recht es verlangt — unter #163 eine Warnung); BT-116 = BT-116V − BT-117. Neue Business Terms mit Suffix V ('plus VAT'), z. B. BT-146V, BT-131V, BT-116V — 'gross' ist in der EN 16931 schon für den Preis vor Rabatt (BT-148) vergeben.</a:t>
            </a:r>
          </a:p>
          <a:p>
            <a:r>
              <a:rPr lang="de-DE" dirty="0"/>
              <a:t>Beispiel: 1.000 Bücher à 24,95 € inkl. 7 % USt = 24.950,00 € mit 1.632,24 € USt. Das Nettomodell der EN 16931-1:2026 (BT-146 mit 4 Nachkommastellen: 23,3178) ergibt 24.950,05 € und 1.632,25 € USt. Es gibt keinen Wert in der Toleranz von BR-CO-32, der 24.950,00 € mit korrekt gerundeter USt ergibt.</a:t>
            </a:r>
          </a:p>
          <a:p>
            <a:r>
              <a:rPr lang="de-DE" dirty="0"/>
              <a:t>Ergänzt #163: In beiden Modellen werden nur die gezahlten Beträge gerundet, etwa der Zahlbetrag BT-115; die herausgerechnete USt BT-117 steht wie berechnet, in Cent nur nach nationalem Recht (Warnung). Im Beispiel ist das die einzige Rundung: 1.632,24299… € werden 1.632,24 €, weil UStAE 14.5 (20) Cent verlangt. BT-146 wird im Bruttomodell als abgeleiteter Informationspreis mit einer halben Einheit seiner letzten Stelle geprüft — ohne Warnung, weil er in keine Rechnung eingeht. In der Diskussion schlägt Paul Simons alternativ Kategorie N mit Befreiungsgrund vor; Cyrille Sautereau unterstützt Bruttopreise im Modell, mit Indikator.</a:t>
            </a:r>
          </a:p>
          <a:p>
            <a:r>
              <a:rPr lang="de-DE" dirty="0"/>
              <a:t>Heute oft unmöglich (#163, Abschnitt 'Gross prices'): Mit Netto und USt in der Minor Unit (EUR: Cent) erreicht eine Rechnung bei 19 % USt nur 100 von 119 Bruttobeträgen; 19 von 119 (16 %) fallen weg, z. B. 9,99 € (8,39 + 1,59 = 9,98; 8,40 + 1,60 = 10,00). Bei 7 % USt sind es 7/107 (7 %), bei 20 % 20/120 (17 %), bei 21 % 21/121 (17 %). Simulation mit Dezimalarithmetik, zufällige Bruttobeträge: 1 Zeile 16 %, 2 Zeilen 34 %, 5 Zeilen 52 %, 10 Zeilen 66 %, 35 Zeilen 81 % treffen die Kassenbon-Summe nicht ohne Umgehung.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Drei Baustellen. Validierung ehrlich ansprechen: Copyright-Fragen haben die Arbeit gestoppt; EU-Validator auf GitHub und e-Invoice Advisory Group sind ausgelaufen.</a:t>
            </a:r>
          </a:p>
          <a:p>
            <a:r>
              <a:rPr lang="de-DE" dirty="0"/>
              <a:t>UBL 2.5 ist seit 12.08.2026 OASIS Standard (Ankündigung 26.08.2026) — die EU-Kommission kann damit auf einen fertigen Standard verweisen. CII D25A: von UN/CEFACT im Juni 2026 veröffentlicht.</a:t>
            </a:r>
          </a:p>
          <a:p>
            <a:r>
              <a:rPr lang="de-DE" dirty="0"/>
              <a:t>Nach der Abstimmung gefundene Fehler (github.com/svanteschubert/CEN-TC434-WG3, Issues #57 bis #64) sind der Grund, ein Corrigendum für beide Syntax-Bindings vorzuschlagen.</a:t>
            </a:r>
          </a:p>
          <a:p>
            <a:r>
              <a:rPr lang="de-DE" dirty="0"/>
              <a:t>Folie von Svante (in Berlin von Lars präsentiert).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DAV = Date of Availability, DOA = Date of Announcement, DOP = Date of Publication, DOW = Date of Withdrawal.</a:t>
            </a:r>
          </a:p>
          <a:p>
            <a:r>
              <a:rPr lang="de-DE" dirty="0"/>
              <a:t>Die DIN-Fassung kam später, weil CCMC die 16-wöchige Übersetzungsphase gestrichen hat und über 40 Seiten Kommentartabelle einzuarbeiten waren.</a:t>
            </a:r>
          </a:p>
          <a:p>
            <a:r>
              <a:rPr lang="de-DE" dirty="0"/>
              <a:t>DIN EN 16931-1:2026-10, Deutsche Fassung EN 16931-1:2026, von DIN Media vorab bereitgestellt (203 Seiten); ersetzt DIN EN 16931-1:2020-12. dinmedia.de/de/norm/din-en-16931-1/400613286</a:t>
            </a:r>
          </a:p>
          <a:p>
            <a:r>
              <a:rPr lang="de-DE" dirty="0"/>
              <a:t>Folie von Svante (in Berlin von Lars präsentiert).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Issue-Tracker: github.com/svanteschubert/CEN-TC434-WG3/issues</a:t>
            </a:r>
          </a:p>
          <a:p>
            <a:r>
              <a:rPr lang="de-DE" dirty="0"/>
              <a:t>#57 BT-167 USt-Wechselkurs (CII InvoiceApplicableTradeCurrencyExchange → TaxApplicableTradeCurrencyExchange); #63 BT-186/BT-186-1 an die Kopf-Lieferpartei statt an die Zeile gebunden; #58 ChargeIndicator-Prädikate [.='false'] vs. xsd:boolean 0/1; #61 BT-105/BT-145 vs. BT-177/BT-193 brauchen listID 5153 im Pfad; #64 cbc:EndpointID seit UBL 2.5 veraltet; #62 XPaths in sich geschlossen machen.</a:t>
            </a:r>
          </a:p>
          <a:p>
            <a:r>
              <a:rPr lang="de-DE" dirty="0"/>
              <a:t>Vorschlag: diese Punkte in einem Corrigendum für TS 16931-3-2 (UBL) und TS 16931-3-3 (CII) bündeln.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Zusammenfassung der Folien von Paul Simons: Revision und Syntax-Binding veröffentlicht, Revision der Codelisten läuft, Diskussion zum Amendment gestartet, rund 50 Themen, Ziel Ende 2026, Syntax-Binding wo möglich parallel.</a:t>
            </a:r>
          </a:p>
          <a:p>
            <a:r>
              <a:rPr lang="de-DE" dirty="0"/>
              <a:t>Kommentare in Diskussion: BT-10 Buyer Reference und Rückwärtskompatibilität; Befreiungsgrund Pflicht oder nicht bei anderen Steuerkategorien als E; Waren/Dienstleistung, Zwischensummen und DRR; Gebühren im Namen Dritter, Zahlbetrag und DRR; Incoterms; BT-161 in Wert und Messwert teilen; Leerzeichen, CR/LF, Tab in Identifikatoren.</a:t>
            </a:r>
          </a:p>
          <a:p>
            <a:r>
              <a:rPr lang="de-DE" dirty="0"/>
              <a:t>Außerdem: mehrere Zahlungsbedingungen mit Datum und Betrag; USt-Gruppe als ein Steuerpflichtiger; Notation und Rechenoperator für Wechselkurse; eigenständige vs. korrigierende Gutschriften; negative Gutschriften; ersetzende Korrekturrechnung; Interoperabilität bei unterschiedlichen CIUS; Extensions im grenzüberschreitenden ViDA-Verkehr.</a:t>
            </a:r>
          </a:p>
          <a:p>
            <a:r>
              <a:rPr lang="de-DE" dirty="0"/>
              <a:t>DRR = Digital Reporting Requirements (ViDA).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Offene Punkte aufgreifen: Corrigendum für die Syntax-Bindings, Validierung und IP, #163 und #164.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Dank und Einladung, bei den Issues mitzulesen und mitzudiskutieren. Links: WG1 #163/#164, WG3-Issue-Tracker, Svanton, XSLT-4.0-Vorschlag.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svanteschubert.github.io/testy/ZUGFeRD_Entwicklertage_2026_SvanteSchubert_Syntax-Binding_DE.pdf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s://www.linkedin.com/in/svante-schubert-2913232/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7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s://www.linkedin.com/in/svante-schubert-2913232/" TargetMode="External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png"/><Relationship Id="rId18" Type="http://schemas.openxmlformats.org/officeDocument/2006/relationships/hyperlink" Target="https://www.informazioneeditoria.gov.it/it/comunicazione-istituzionale/le-campagne-di-comunicazione-del-governo/campagne-xviii-legislatura/la-fatturazione-elettronica/" TargetMode="External"/><Relationship Id="rId26" Type="http://schemas.openxmlformats.org/officeDocument/2006/relationships/hyperlink" Target="https://docs.peppol.eu/poacc/billing/3.0/bis/" TargetMode="External"/><Relationship Id="rId3" Type="http://schemas.openxmlformats.org/officeDocument/2006/relationships/image" Target="../media/image19.png"/><Relationship Id="rId21" Type="http://schemas.openxmlformats.org/officeDocument/2006/relationships/hyperlink" Target="https://ksef.podatki.gov.pl/informacje-ogolne-ksef-20/zakres-obowiazkowego-ksef/" TargetMode="External"/><Relationship Id="rId34" Type="http://schemas.openxmlformats.org/officeDocument/2006/relationships/hyperlink" Target="https://www.linkedin.com/in/svante-schubert-2913232/" TargetMode="External"/><Relationship Id="rId7" Type="http://schemas.openxmlformats.org/officeDocument/2006/relationships/hyperlink" Target="https://ec.europa.eu/digital-building-blocks/sites/pages/viewpage.action?pageId=768802837" TargetMode="External"/><Relationship Id="rId12" Type="http://schemas.openxmlformats.org/officeDocument/2006/relationships/hyperlink" Target="https://ec.europa.eu/digital-building-blocks/sites/pages/viewpage.action?navigatingVersions=true&amp;pageId=913506810" TargetMode="External"/><Relationship Id="rId17" Type="http://schemas.openxmlformats.org/officeDocument/2006/relationships/hyperlink" Target="https://www.fatturapa.gov.it/export/documenti/Specifiche_tecniche_del_formato_FatturaPA_V1.3.1.pdf" TargetMode="External"/><Relationship Id="rId25" Type="http://schemas.openxmlformats.org/officeDocument/2006/relationships/image" Target="../media/image26.png"/><Relationship Id="rId33" Type="http://schemas.openxmlformats.org/officeDocument/2006/relationships/hyperlink" Target="https://www.impots.gouv.fr/professionnel/questions/partir-de-quand-suis-je-concerne-par-la-reforme-de-la-facturation" TargetMode="External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3.png"/><Relationship Id="rId20" Type="http://schemas.openxmlformats.org/officeDocument/2006/relationships/hyperlink" Target="https://ksef.podatki.gov.pl/informacje-ogolne-ksef-20/faktura-ustrukturyzowana-i-struktura-logiczna-fa/" TargetMode="External"/><Relationship Id="rId29" Type="http://schemas.openxmlformats.org/officeDocument/2006/relationships/hyperlink" Target="https://xeinkauf.de/xrechnung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hyperlink" Target="https://www.boe.es/buscar/act.php?id=BOE-A-2026-7295" TargetMode="External"/><Relationship Id="rId24" Type="http://schemas.openxmlformats.org/officeDocument/2006/relationships/hyperlink" Target="https://www.stopbirokraciji.gov.si/novice/s-1-1-2015-obvezno-posiljanje-racunov-v-javni-sektor-v-elektronski-obliki" TargetMode="External"/><Relationship Id="rId32" Type="http://schemas.openxmlformats.org/officeDocument/2006/relationships/hyperlink" Target="https://www.impots.gouv.fr/actualite/chorus-pro-restera-la-plateforme-de-reference-pour-la-facturation-electronique-du-secteur" TargetMode="External"/><Relationship Id="rId5" Type="http://schemas.openxmlformats.org/officeDocument/2006/relationships/hyperlink" Target="https://www.erechnung.gv.at/at.gv.bmf.erb/files/Leitfaden%20Rechnungsstellung%20und%20-einbringung%20V%202_7%2020240913.pdf" TargetMode="External"/><Relationship Id="rId15" Type="http://schemas.openxmlformats.org/officeDocument/2006/relationships/hyperlink" Target="https://www.valtiokonttori.fi/sv/foreskrifter-och-instruktioner/god-praxis-inom-processen-fran-bestallning-till-indrivning/" TargetMode="External"/><Relationship Id="rId23" Type="http://schemas.openxmlformats.org/officeDocument/2006/relationships/hyperlink" Target="https://www.gov.si/en/topics/exchange-of-e-invoices-with-budget-users/" TargetMode="External"/><Relationship Id="rId28" Type="http://schemas.openxmlformats.org/officeDocument/2006/relationships/image" Target="../media/image27.png"/><Relationship Id="rId10" Type="http://schemas.openxmlformats.org/officeDocument/2006/relationships/hyperlink" Target="https://www.facturae.gob.es/formato/versiones-anteriores" TargetMode="External"/><Relationship Id="rId19" Type="http://schemas.openxmlformats.org/officeDocument/2006/relationships/image" Target="../media/image24.png"/><Relationship Id="rId31" Type="http://schemas.openxmlformats.org/officeDocument/2006/relationships/image" Target="../media/image28.png"/><Relationship Id="rId4" Type="http://schemas.openxmlformats.org/officeDocument/2006/relationships/hyperlink" Target="https://www.erechnung.gv.at/erb/tec_formats_ebinterface" TargetMode="External"/><Relationship Id="rId9" Type="http://schemas.openxmlformats.org/officeDocument/2006/relationships/image" Target="../media/image21.png"/><Relationship Id="rId14" Type="http://schemas.openxmlformats.org/officeDocument/2006/relationships/hyperlink" Target="https://www.finanssiala.fi/en/topics/finvoice-standard/" TargetMode="External"/><Relationship Id="rId22" Type="http://schemas.openxmlformats.org/officeDocument/2006/relationships/image" Target="../media/image25.png"/><Relationship Id="rId27" Type="http://schemas.openxmlformats.org/officeDocument/2006/relationships/hyperlink" Target="https://efacture.belgium.be/fr/article/pour-qui-la-facturation-electronique-deviendra-t-elle-obligatoire" TargetMode="External"/><Relationship Id="rId30" Type="http://schemas.openxmlformats.org/officeDocument/2006/relationships/hyperlink" Target="https://www.bundesfinanzministerium.de/Content/DE/FAQ/e-rechnung.html" TargetMode="External"/><Relationship Id="rId8" Type="http://schemas.openxmlformats.org/officeDocument/2006/relationships/hyperlink" Target="https://ec.europa.eu/digital-building-blocks/sites/spaces/einvoicingCFS/pages/75667298/Estonia%2B2019%2BeInvoicing%2BCountry%2BSheet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hyperlink" Target="https://www.linkedin.com/in/svante-schubert-2913232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inkedin.com/in/svante-schubert-2913232/" TargetMode="Externa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vanteschubert/Saxon-HE-enhanced-accuracy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linkedin.com/in/svante-schubert-2913232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inkedin.com/in/svante-schubert-2913232/" TargetMode="External"/><Relationship Id="rId4" Type="http://schemas.openxmlformats.org/officeDocument/2006/relationships/hyperlink" Target="https://github.com/qt4cg/qtspecs/issues/2935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inkedin.com/in/svante-schubert-2913232/" TargetMode="Externa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inkedin.com/in/svante-schubert-2913232/" TargetMode="External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linkedin.com/in/svante-schubert-2913232/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inkedin.com/in/svante-schubert-2913232/" TargetMode="External"/><Relationship Id="rId4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qt4cg/qtspecs/issues/2935" TargetMode="External"/><Relationship Id="rId3" Type="http://schemas.openxmlformats.org/officeDocument/2006/relationships/image" Target="../media/image37.jpg"/><Relationship Id="rId7" Type="http://schemas.openxmlformats.org/officeDocument/2006/relationships/hyperlink" Target="https://github.com/svanteschubert/Saxon-HE-enhanced-accuracy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svanteschubert/CEN-TC434-WG3/issues" TargetMode="External"/><Relationship Id="rId11" Type="http://schemas.openxmlformats.org/officeDocument/2006/relationships/image" Target="../media/image38.png"/><Relationship Id="rId5" Type="http://schemas.openxmlformats.org/officeDocument/2006/relationships/hyperlink" Target="https://github.com/ConnectingEurope/CEN-TC434-WG1/issues/163" TargetMode="External"/><Relationship Id="rId10" Type="http://schemas.openxmlformats.org/officeDocument/2006/relationships/hyperlink" Target="https://svanteschubert.github.io/testy/ZUGFeRD_Entwicklertage_2026_SvanteSchubert_Syntax-Binding_DE.pptx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www.linkedin.com/in/svante-schubert-2913232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Header 4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9FB0D8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44598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7E91C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2296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spc="4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ZUGFERD-ENTWICKLERTAGE 2026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95528" y="22402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de-DE" sz="6000" dirty="0">
                <a:solidFill>
                  <a:srgbClr val="DCE6FF"/>
                </a:solidFill>
                <a:latin typeface="Inter Light Text Light" pitchFamily="34" charset="0"/>
                <a:ea typeface="Inter Light Text Light" pitchFamily="34" charset="-122"/>
                <a:cs typeface="Inter Light Text Light" pitchFamily="34" charset="-120"/>
              </a:rPr>
              <a:t>Syntax-Binding der</a:t>
            </a:r>
          </a:p>
          <a:p>
            <a:pPr marL="0" indent="0" algn="l">
              <a:lnSpc>
                <a:spcPct val="98000"/>
              </a:lnSpc>
              <a:buNone/>
            </a:pPr>
            <a:r>
              <a:rPr lang="de-DE" sz="6600" b="1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22960" y="43434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de-DE" sz="1600" dirty="0">
                <a:solidFill>
                  <a:srgbClr val="C4D2F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Die Semantik ist die Fracht, die Syntax der Träger — was die neue Norm für UBL, CII und ZUGFeRD bedeutet.</a:t>
            </a:r>
          </a:p>
        </p:txBody>
      </p:sp>
      <p:sp>
        <p:nvSpPr>
          <p:cNvPr id="8" name="Shape 8"/>
          <p:cNvSpPr/>
          <p:nvPr/>
        </p:nvSpPr>
        <p:spPr>
          <a:xfrm>
            <a:off x="822960" y="5532120"/>
            <a:ext cx="457200" cy="457200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650992"/>
            <a:ext cx="219456" cy="219456"/>
          </a:xfrm>
          <a:prstGeom prst="rect">
            <a:avLst/>
          </a:prstGeom>
        </p:spPr>
      </p:pic>
      <p:sp>
        <p:nvSpPr>
          <p:cNvPr id="10" name="Text 10"/>
          <p:cNvSpPr txBox="1"/>
          <p:nvPr/>
        </p:nvSpPr>
        <p:spPr>
          <a:xfrm>
            <a:off x="1463040" y="54864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4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Svante Schubert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de-DE" sz="1200" dirty="0">
                <a:solidFill>
                  <a:srgbClr val="C4D2F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Editor der Syntax-Bindings · CEN/TC 434 WG3 · für DIN</a:t>
            </a:r>
          </a:p>
        </p:txBody>
      </p:sp>
      <p:sp>
        <p:nvSpPr>
          <p:cNvPr id="11" name="QR Card pdf"/>
          <p:cNvSpPr/>
          <p:nvPr/>
        </p:nvSpPr>
        <p:spPr>
          <a:xfrm>
            <a:off x="9537192" y="2359152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A123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2" name="QR Slides pdf" descr="QR-Code: Folien als PDF (https://svanteschubert.github.io/testy/ZUGFeRD_Entwicklertage_2026_SvanteSchubert_Syntax-Binding_DE.pdf)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0344" y="2432304"/>
            <a:ext cx="1682496" cy="1682496"/>
          </a:xfrm>
          <a:prstGeom prst="rect">
            <a:avLst/>
          </a:prstGeom>
        </p:spPr>
      </p:pic>
      <p:sp>
        <p:nvSpPr>
          <p:cNvPr id="13" name="QR Caption pdf">
            <a:hlinkClick r:id="rId5"/>
          </p:cNvPr>
          <p:cNvSpPr txBox="1"/>
          <p:nvPr/>
        </p:nvSpPr>
        <p:spPr>
          <a:xfrm>
            <a:off x="9171432" y="42428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000" spc="100" dirty="0">
                <a:solidFill>
                  <a:srgbClr val="C4D2F4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Folien als PDF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Foli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AGENDA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Überblick</a:t>
            </a:r>
          </a:p>
        </p:txBody>
      </p:sp>
      <p:sp>
        <p:nvSpPr>
          <p:cNvPr id="6" name="Speaker 6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09BE5234-8790-48A3-8D10-AE80C9E99563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Card 8"/>
          <p:cNvSpPr/>
          <p:nvPr/>
        </p:nvSpPr>
        <p:spPr>
          <a:xfrm>
            <a:off x="822960" y="2103120"/>
            <a:ext cx="1054303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IconCircle 9"/>
          <p:cNvSpPr/>
          <p:nvPr/>
        </p:nvSpPr>
        <p:spPr>
          <a:xfrm>
            <a:off x="1078992" y="2185416"/>
            <a:ext cx="365760" cy="365760"/>
          </a:xfrm>
          <a:prstGeom prst="ellipse">
            <a:avLst/>
          </a:prstGeom>
          <a:solidFill>
            <a:srgbClr val="1A2B5E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0" name="Icon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576" y="2286000"/>
            <a:ext cx="164592" cy="164592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10497312" y="2103120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2000" dirty="0">
                <a:solidFill>
                  <a:srgbClr val="DDE3F1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01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664208" y="215798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Stand &amp; Zeitplan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166360" y="2139696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verabschiedet, deutsche Fassung erschienen, neue Syntaxen UBL 2.5 und CII D25A.</a:t>
            </a:r>
          </a:p>
        </p:txBody>
      </p:sp>
      <p:sp>
        <p:nvSpPr>
          <p:cNvPr id="14" name="Card 14"/>
          <p:cNvSpPr/>
          <p:nvPr/>
        </p:nvSpPr>
        <p:spPr>
          <a:xfrm>
            <a:off x="822960" y="2692908"/>
            <a:ext cx="1054303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IconCircle 15"/>
          <p:cNvSpPr/>
          <p:nvPr/>
        </p:nvSpPr>
        <p:spPr>
          <a:xfrm>
            <a:off x="1078992" y="2775204"/>
            <a:ext cx="365760" cy="365760"/>
          </a:xfrm>
          <a:prstGeom prst="ellipse">
            <a:avLst/>
          </a:prstGeom>
          <a:solidFill>
            <a:srgbClr val="1A2B5E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6" name="Icon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2875788"/>
            <a:ext cx="164592" cy="164592"/>
          </a:xfrm>
          <a:prstGeom prst="rect">
            <a:avLst/>
          </a:prstGeom>
        </p:spPr>
      </p:pic>
      <p:sp>
        <p:nvSpPr>
          <p:cNvPr id="17" name="Text 17"/>
          <p:cNvSpPr txBox="1"/>
          <p:nvPr/>
        </p:nvSpPr>
        <p:spPr>
          <a:xfrm>
            <a:off x="10497312" y="269290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2000" dirty="0">
                <a:solidFill>
                  <a:srgbClr val="DDE3F1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02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664208" y="274777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Semantik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5166360" y="2729484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Was die Norm 2026 neu ausdrücken kann — die Fracht: neue Business Terms, Gruppen und Datentypen.</a:t>
            </a:r>
          </a:p>
        </p:txBody>
      </p:sp>
      <p:sp>
        <p:nvSpPr>
          <p:cNvPr id="20" name="Card 20"/>
          <p:cNvSpPr/>
          <p:nvPr/>
        </p:nvSpPr>
        <p:spPr>
          <a:xfrm>
            <a:off x="822960" y="3282696"/>
            <a:ext cx="1054303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IconCircle 21"/>
          <p:cNvSpPr/>
          <p:nvPr/>
        </p:nvSpPr>
        <p:spPr>
          <a:xfrm>
            <a:off x="1078992" y="3364992"/>
            <a:ext cx="365760" cy="365760"/>
          </a:xfrm>
          <a:prstGeom prst="ellipse">
            <a:avLst/>
          </a:prstGeom>
          <a:solidFill>
            <a:srgbClr val="1A2B5E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2" name="Icon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9576" y="3465576"/>
            <a:ext cx="164592" cy="164592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10497312" y="3282696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2000" dirty="0">
                <a:solidFill>
                  <a:srgbClr val="DDE3F1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03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664208" y="333756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Syntax-Bindings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5166360" y="3319272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Wie UBL und CII die Semantik tragen — der Träger, und was sich mit UBL 2.5 und CII D25A ändert.</a:t>
            </a:r>
          </a:p>
        </p:txBody>
      </p:sp>
      <p:sp>
        <p:nvSpPr>
          <p:cNvPr id="26" name="Card 26"/>
          <p:cNvSpPr/>
          <p:nvPr/>
        </p:nvSpPr>
        <p:spPr>
          <a:xfrm>
            <a:off x="822960" y="3872484"/>
            <a:ext cx="1054303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7" name="IconCircle 27"/>
          <p:cNvSpPr/>
          <p:nvPr/>
        </p:nvSpPr>
        <p:spPr>
          <a:xfrm>
            <a:off x="1078992" y="3954780"/>
            <a:ext cx="365760" cy="365760"/>
          </a:xfrm>
          <a:prstGeom prst="ellipse">
            <a:avLst/>
          </a:prstGeom>
          <a:solidFill>
            <a:srgbClr val="1A2B5E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8" name="Icon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9576" y="4055364"/>
            <a:ext cx="164592" cy="164592"/>
          </a:xfrm>
          <a:prstGeom prst="rect">
            <a:avLst/>
          </a:prstGeom>
        </p:spPr>
      </p:pic>
      <p:sp>
        <p:nvSpPr>
          <p:cNvPr id="29" name="Text 29"/>
          <p:cNvSpPr txBox="1"/>
          <p:nvPr/>
        </p:nvSpPr>
        <p:spPr>
          <a:xfrm>
            <a:off x="10497312" y="3872484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2000" dirty="0">
                <a:solidFill>
                  <a:srgbClr val="DDE3F1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04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1664208" y="392734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Formate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5166360" y="3909060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E-Rechnungsformate in der EU; ZUGFeRD/Factur-X, ihre Profile und der Vergleich mit XRechnung und Peppol.</a:t>
            </a:r>
          </a:p>
        </p:txBody>
      </p:sp>
      <p:sp>
        <p:nvSpPr>
          <p:cNvPr id="32" name="Card 32"/>
          <p:cNvSpPr/>
          <p:nvPr/>
        </p:nvSpPr>
        <p:spPr>
          <a:xfrm>
            <a:off x="822960" y="4462272"/>
            <a:ext cx="1054303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3" name="IconCircle 33"/>
          <p:cNvSpPr/>
          <p:nvPr/>
        </p:nvSpPr>
        <p:spPr>
          <a:xfrm>
            <a:off x="1078992" y="4544568"/>
            <a:ext cx="365760" cy="365760"/>
          </a:xfrm>
          <a:prstGeom prst="ellipse">
            <a:avLst/>
          </a:prstGeom>
          <a:solidFill>
            <a:srgbClr val="1A2B5E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34" name="Icon 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9576" y="4645152"/>
            <a:ext cx="164592" cy="164592"/>
          </a:xfrm>
          <a:prstGeom prst="rect">
            <a:avLst/>
          </a:prstGeom>
        </p:spPr>
      </p:pic>
      <p:sp>
        <p:nvSpPr>
          <p:cNvPr id="35" name="Text 35"/>
          <p:cNvSpPr txBox="1"/>
          <p:nvPr/>
        </p:nvSpPr>
        <p:spPr>
          <a:xfrm>
            <a:off x="10497312" y="4462272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2000" dirty="0">
                <a:solidFill>
                  <a:srgbClr val="DDE3F1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05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1664208" y="451713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Rundung &amp; Arithmetik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5166360" y="4498848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Rundung und Toleranz der Norm; warum binäres Rechnen scheitert und Dezimalarithmetik die Lösung ist.</a:t>
            </a:r>
          </a:p>
        </p:txBody>
      </p:sp>
      <p:sp>
        <p:nvSpPr>
          <p:cNvPr id="38" name="Card 38"/>
          <p:cNvSpPr/>
          <p:nvPr/>
        </p:nvSpPr>
        <p:spPr>
          <a:xfrm>
            <a:off x="822960" y="5052060"/>
            <a:ext cx="1054303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9" name="IconCircle 39"/>
          <p:cNvSpPr/>
          <p:nvPr/>
        </p:nvSpPr>
        <p:spPr>
          <a:xfrm>
            <a:off x="1078992" y="5134356"/>
            <a:ext cx="365760" cy="365760"/>
          </a:xfrm>
          <a:prstGeom prst="ellipse">
            <a:avLst/>
          </a:prstGeom>
          <a:solidFill>
            <a:srgbClr val="1A2B5E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40" name="Icon 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9576" y="5234940"/>
            <a:ext cx="164592" cy="164592"/>
          </a:xfrm>
          <a:prstGeom prst="rect">
            <a:avLst/>
          </a:prstGeom>
        </p:spPr>
      </p:pic>
      <p:sp>
        <p:nvSpPr>
          <p:cNvPr id="41" name="Text 41"/>
          <p:cNvSpPr txBox="1"/>
          <p:nvPr/>
        </p:nvSpPr>
        <p:spPr>
          <a:xfrm>
            <a:off x="10497312" y="5052060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2000" dirty="0">
                <a:solidFill>
                  <a:srgbClr val="DDE3F1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06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1664208" y="51069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Amendment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5166360" y="5088636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Wohin die Reise geht, und meine Vorschläge: nur einmal runden (#163) samt Rechenkette, Bruttopreise (#164).</a:t>
            </a:r>
          </a:p>
        </p:txBody>
      </p:sp>
      <p:sp>
        <p:nvSpPr>
          <p:cNvPr id="44" name="Card 44"/>
          <p:cNvSpPr/>
          <p:nvPr/>
        </p:nvSpPr>
        <p:spPr>
          <a:xfrm>
            <a:off x="822960" y="5641848"/>
            <a:ext cx="1054303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5" name="IconCircle 45"/>
          <p:cNvSpPr/>
          <p:nvPr/>
        </p:nvSpPr>
        <p:spPr>
          <a:xfrm>
            <a:off x="1078992" y="5724144"/>
            <a:ext cx="365760" cy="365760"/>
          </a:xfrm>
          <a:prstGeom prst="ellipse">
            <a:avLst/>
          </a:prstGeom>
          <a:solidFill>
            <a:srgbClr val="1A2B5E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46" name="Icon 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9576" y="5824728"/>
            <a:ext cx="164592" cy="164592"/>
          </a:xfrm>
          <a:prstGeom prst="rect">
            <a:avLst/>
          </a:prstGeom>
        </p:spPr>
      </p:pic>
      <p:sp>
        <p:nvSpPr>
          <p:cNvPr id="47" name="Text 47"/>
          <p:cNvSpPr txBox="1"/>
          <p:nvPr/>
        </p:nvSpPr>
        <p:spPr>
          <a:xfrm>
            <a:off x="10497312" y="564184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2000" dirty="0">
                <a:solidFill>
                  <a:srgbClr val="DDE3F1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07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1664208" y="569671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Nächste Schritte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5166360" y="5678424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Arbeit bei CEN: Issue-Tracker, aktuelle Funde und ein Corrigendum für die Syntax-Bindings.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5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Header 4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9FB0D8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44598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7E91C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5" name="SectionLabel 5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SEMANTIK &amp; SYNTAX</a:t>
            </a:r>
          </a:p>
        </p:txBody>
      </p:sp>
      <p:sp>
        <p:nvSpPr>
          <p:cNvPr id="6" name="PageNum 6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E9EB00FE-2239-4814-83A3-44B1C54F7C88}" type="slidenum">
              <a:rPr lang="de-DE" sz="1000" spc="200" dirty="0">
                <a:solidFill>
                  <a:srgbClr val="8EA0CC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3</a:t>
            </a:fld>
            <a:endParaRPr lang="de-DE" sz="1000" spc="200" dirty="0">
              <a:solidFill>
                <a:srgbClr val="8EA0CC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822960" y="1600200"/>
            <a:ext cx="10424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de-DE" sz="3800" dirty="0">
                <a:solidFill>
                  <a:srgbClr val="CBD8F7"/>
                </a:solidFill>
                <a:latin typeface="Inter Light Text Light" pitchFamily="34" charset="0"/>
                <a:ea typeface="Inter Light Text Light" pitchFamily="34" charset="-122"/>
                <a:cs typeface="Inter Light Text Light" pitchFamily="34" charset="-120"/>
              </a:rPr>
              <a:t>Die </a:t>
            </a:r>
            <a:r>
              <a:rPr lang="de-DE" sz="3800" b="1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Semantik</a:t>
            </a:r>
            <a:r>
              <a:rPr lang="de-DE" sz="3800" dirty="0">
                <a:solidFill>
                  <a:srgbClr val="CBD8F7"/>
                </a:solidFill>
                <a:latin typeface="Inter Light Text Light" pitchFamily="34" charset="0"/>
                <a:ea typeface="Inter Light Text Light" pitchFamily="34" charset="-122"/>
                <a:cs typeface="Inter Light Text Light" pitchFamily="34" charset="-120"/>
              </a:rPr>
              <a:t> ist die Fracht, die </a:t>
            </a:r>
            <a:r>
              <a:rPr lang="de-DE" sz="3800" b="1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Syntax</a:t>
            </a:r>
            <a:r>
              <a:rPr lang="de-DE" sz="3800" dirty="0">
                <a:solidFill>
                  <a:srgbClr val="CBD8F7"/>
                </a:solidFill>
                <a:latin typeface="Inter Light Text Light" pitchFamily="34" charset="0"/>
                <a:ea typeface="Inter Light Text Light" pitchFamily="34" charset="-122"/>
                <a:cs typeface="Inter Light Text Light" pitchFamily="34" charset="-120"/>
              </a:rPr>
              <a:t> der Träger. 2026 </a:t>
            </a:r>
            <a:r>
              <a:rPr lang="de-DE" sz="3800" b="1" dirty="0">
                <a:solidFill>
                  <a:srgbClr val="58D6B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wächst die Fracht</a:t>
            </a:r>
            <a:r>
              <a:rPr lang="de-DE" sz="3800" dirty="0">
                <a:solidFill>
                  <a:srgbClr val="CBD8F7"/>
                </a:solidFill>
                <a:latin typeface="Inter Light Text Light" pitchFamily="34" charset="0"/>
                <a:ea typeface="Inter Light Text Light" pitchFamily="34" charset="-122"/>
                <a:cs typeface="Inter Light Text Light" pitchFamily="34" charset="-120"/>
              </a:rPr>
              <a:t> — und </a:t>
            </a:r>
            <a:r>
              <a:rPr lang="de-DE" sz="3800" b="1" dirty="0">
                <a:solidFill>
                  <a:srgbClr val="58D6B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beide Träger</a:t>
            </a:r>
            <a:r>
              <a:rPr lang="de-DE" sz="3800" dirty="0">
                <a:solidFill>
                  <a:srgbClr val="CBD8F7"/>
                </a:solidFill>
                <a:latin typeface="Inter Light Text Light" pitchFamily="34" charset="0"/>
                <a:ea typeface="Inter Light Text Light" pitchFamily="34" charset="-122"/>
                <a:cs typeface="Inter Light Text Light" pitchFamily="34" charset="-120"/>
              </a:rPr>
              <a:t> werden modernisiert.</a:t>
            </a:r>
          </a:p>
        </p:txBody>
      </p:sp>
      <p:sp>
        <p:nvSpPr>
          <p:cNvPr id="8" name="Shape 8"/>
          <p:cNvSpPr/>
          <p:nvPr/>
        </p:nvSpPr>
        <p:spPr>
          <a:xfrm>
            <a:off x="822960" y="4846320"/>
            <a:ext cx="3246120" cy="960120"/>
          </a:xfrm>
          <a:prstGeom prst="roundRect">
            <a:avLst>
              <a:gd name="adj" fmla="val 952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9"/>
          <p:cNvSpPr/>
          <p:nvPr/>
        </p:nvSpPr>
        <p:spPr>
          <a:xfrm>
            <a:off x="1042416" y="5093208"/>
            <a:ext cx="457200" cy="457200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88" y="5212080"/>
            <a:ext cx="219456" cy="219456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1664208" y="4983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4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Semantik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de-DE" sz="1100" dirty="0">
                <a:solidFill>
                  <a:srgbClr val="ABBFEA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164 → 216 Business Terms</a:t>
            </a:r>
          </a:p>
        </p:txBody>
      </p:sp>
      <p:sp>
        <p:nvSpPr>
          <p:cNvPr id="12" name="Shape 12"/>
          <p:cNvSpPr/>
          <p:nvPr/>
        </p:nvSpPr>
        <p:spPr>
          <a:xfrm>
            <a:off x="4398264" y="4846320"/>
            <a:ext cx="3246120" cy="960120"/>
          </a:xfrm>
          <a:prstGeom prst="roundRect">
            <a:avLst>
              <a:gd name="adj" fmla="val 952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3"/>
          <p:cNvSpPr/>
          <p:nvPr/>
        </p:nvSpPr>
        <p:spPr>
          <a:xfrm>
            <a:off x="4617720" y="5093208"/>
            <a:ext cx="457200" cy="457200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4" name="Imag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5212080"/>
            <a:ext cx="219456" cy="219456"/>
          </a:xfrm>
          <a:prstGeom prst="rect">
            <a:avLst/>
          </a:prstGeom>
        </p:spPr>
      </p:pic>
      <p:sp>
        <p:nvSpPr>
          <p:cNvPr id="15" name="Text 15"/>
          <p:cNvSpPr txBox="1"/>
          <p:nvPr/>
        </p:nvSpPr>
        <p:spPr>
          <a:xfrm>
            <a:off x="5239512" y="4983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4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UBL 2.1 → 2.5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de-DE" sz="1100" dirty="0">
                <a:solidFill>
                  <a:srgbClr val="ABBFEA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OASIS Standard seit 08/2026</a:t>
            </a:r>
          </a:p>
        </p:txBody>
      </p:sp>
      <p:sp>
        <p:nvSpPr>
          <p:cNvPr id="16" name="Shape 16"/>
          <p:cNvSpPr/>
          <p:nvPr/>
        </p:nvSpPr>
        <p:spPr>
          <a:xfrm>
            <a:off x="7973568" y="4846320"/>
            <a:ext cx="3246120" cy="960120"/>
          </a:xfrm>
          <a:prstGeom prst="roundRect">
            <a:avLst>
              <a:gd name="adj" fmla="val 952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7"/>
          <p:cNvSpPr/>
          <p:nvPr/>
        </p:nvSpPr>
        <p:spPr>
          <a:xfrm>
            <a:off x="8193024" y="5093208"/>
            <a:ext cx="457200" cy="457200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8" name="Imag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1896" y="5212080"/>
            <a:ext cx="219456" cy="219456"/>
          </a:xfrm>
          <a:prstGeom prst="rect">
            <a:avLst/>
          </a:prstGeom>
        </p:spPr>
      </p:pic>
      <p:sp>
        <p:nvSpPr>
          <p:cNvPr id="19" name="Text 19"/>
          <p:cNvSpPr txBox="1"/>
          <p:nvPr/>
        </p:nvSpPr>
        <p:spPr>
          <a:xfrm>
            <a:off x="8814816" y="4983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4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CII D16B → D25A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de-DE" sz="1100" dirty="0">
                <a:solidFill>
                  <a:srgbClr val="ABBFEA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UN/CEFACT, 06/2026</a:t>
            </a:r>
          </a:p>
        </p:txBody>
      </p:sp>
      <p:sp>
        <p:nvSpPr>
          <p:cNvPr id="20" name="Speaker 20">
            <a:hlinkClick r:id="rId7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8EA0CC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NEUE SEMANTIK · ÜBERBLICK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Was die Norm jetzt sagen kann</a:t>
            </a:r>
          </a:p>
        </p:txBody>
      </p:sp>
      <p:sp>
        <p:nvSpPr>
          <p:cNvPr id="6" name="Speaker 6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245C3502-1688-4C3A-868E-188C8596DD59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4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822960" y="1847088"/>
            <a:ext cx="210312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Drei Säulen der Revision:</a:t>
            </a:r>
          </a:p>
        </p:txBody>
      </p:sp>
      <p:sp>
        <p:nvSpPr>
          <p:cNvPr id="9" name="Pill 9"/>
          <p:cNvSpPr/>
          <p:nvPr/>
        </p:nvSpPr>
        <p:spPr>
          <a:xfrm>
            <a:off x="2852928" y="185623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FF3E6"/>
          </a:solidFill>
          <a:ln w="9525">
            <a:solidFill>
              <a:srgbClr val="F5CFA3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B85C0A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Fehler korrigieren</a:t>
            </a:r>
          </a:p>
        </p:txBody>
      </p:sp>
      <p:sp>
        <p:nvSpPr>
          <p:cNvPr id="10" name="Pill 10"/>
          <p:cNvSpPr/>
          <p:nvPr/>
        </p:nvSpPr>
        <p:spPr>
          <a:xfrm>
            <a:off x="4718304" y="1856232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EEF4FC"/>
          </a:solidFill>
          <a:ln w="9525">
            <a:solidFill>
              <a:srgbClr val="BBD3F5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2F6FD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B2B-Pflichten der Mitgliedstaaten</a:t>
            </a:r>
          </a:p>
        </p:txBody>
      </p:sp>
      <p:sp>
        <p:nvSpPr>
          <p:cNvPr id="11" name="Pill 11"/>
          <p:cNvSpPr/>
          <p:nvPr/>
        </p:nvSpPr>
        <p:spPr>
          <a:xfrm>
            <a:off x="7772400" y="185623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E8F6EE"/>
          </a:solidFill>
          <a:ln w="9525">
            <a:solidFill>
              <a:srgbClr val="B7E1C7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1E8A4C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Anforderungen aus ViDA</a:t>
            </a:r>
          </a:p>
        </p:txBody>
      </p:sp>
      <p:sp>
        <p:nvSpPr>
          <p:cNvPr id="12" name="Card 12"/>
          <p:cNvSpPr/>
          <p:nvPr/>
        </p:nvSpPr>
        <p:spPr>
          <a:xfrm>
            <a:off x="822960" y="23774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IconCircle 13"/>
          <p:cNvSpPr/>
          <p:nvPr/>
        </p:nvSpPr>
        <p:spPr>
          <a:xfrm>
            <a:off x="1097280" y="2633472"/>
            <a:ext cx="457200" cy="457200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4" name="Icon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010" y="2759202"/>
            <a:ext cx="205740" cy="205740"/>
          </a:xfrm>
          <a:prstGeom prst="rect">
            <a:avLst/>
          </a:prstGeom>
        </p:spPr>
      </p:pic>
      <p:sp>
        <p:nvSpPr>
          <p:cNvPr id="15" name="Text 15"/>
          <p:cNvSpPr txBox="1"/>
          <p:nvPr/>
        </p:nvSpPr>
        <p:spPr>
          <a:xfrm>
            <a:off x="1097280" y="32004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Zahlungsbedingungen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097280" y="358444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Mehrere Zahlungsbedingungen; Skonto und Verzugszinsen je 0..n — strukturiert statt Freitext.</a:t>
            </a:r>
          </a:p>
        </p:txBody>
      </p:sp>
      <p:sp>
        <p:nvSpPr>
          <p:cNvPr id="17" name="Card 17"/>
          <p:cNvSpPr/>
          <p:nvPr/>
        </p:nvSpPr>
        <p:spPr>
          <a:xfrm>
            <a:off x="4379976" y="23774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IconCircle 18"/>
          <p:cNvSpPr/>
          <p:nvPr/>
        </p:nvSpPr>
        <p:spPr>
          <a:xfrm>
            <a:off x="4654296" y="2633472"/>
            <a:ext cx="457200" cy="457200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9" name="Icon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026" y="2759202"/>
            <a:ext cx="205740" cy="205740"/>
          </a:xfrm>
          <a:prstGeom prst="rect">
            <a:avLst/>
          </a:prstGeom>
        </p:spPr>
      </p:pic>
      <p:sp>
        <p:nvSpPr>
          <p:cNvPr id="20" name="Text 20"/>
          <p:cNvSpPr txBox="1"/>
          <p:nvPr/>
        </p:nvSpPr>
        <p:spPr>
          <a:xfrm>
            <a:off x="4654296" y="32004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Steuer &amp; ViDA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4654296" y="358444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Steuerkategorie N, Befreiungsgründe für Zu- und Abschläge, Zwischensummen je Befreiungsgrund, Waren/Dienstleistung.</a:t>
            </a:r>
          </a:p>
        </p:txBody>
      </p:sp>
      <p:sp>
        <p:nvSpPr>
          <p:cNvPr id="22" name="Card 22"/>
          <p:cNvSpPr/>
          <p:nvPr/>
        </p:nvSpPr>
        <p:spPr>
          <a:xfrm>
            <a:off x="7936992" y="23774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IconCircle 23"/>
          <p:cNvSpPr/>
          <p:nvPr/>
        </p:nvSpPr>
        <p:spPr>
          <a:xfrm>
            <a:off x="8211312" y="2633472"/>
            <a:ext cx="457200" cy="457200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4" name="Icon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7042" y="2759202"/>
            <a:ext cx="205740" cy="205740"/>
          </a:xfrm>
          <a:prstGeom prst="rect">
            <a:avLst/>
          </a:prstGeom>
        </p:spPr>
      </p:pic>
      <p:sp>
        <p:nvSpPr>
          <p:cNvPr id="25" name="Text 25"/>
          <p:cNvSpPr txBox="1"/>
          <p:nvPr/>
        </p:nvSpPr>
        <p:spPr>
          <a:xfrm>
            <a:off x="8211312" y="32004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Referenzen je Zeile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211312" y="358444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Bestellung, Versandanzeige, Wareneingang und Lieferschein auf Kopf- und Zeilenebene.</a:t>
            </a:r>
          </a:p>
        </p:txBody>
      </p:sp>
      <p:sp>
        <p:nvSpPr>
          <p:cNvPr id="27" name="Card 27"/>
          <p:cNvSpPr/>
          <p:nvPr/>
        </p:nvSpPr>
        <p:spPr>
          <a:xfrm>
            <a:off x="822960" y="434340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IconCircle 28"/>
          <p:cNvSpPr/>
          <p:nvPr/>
        </p:nvSpPr>
        <p:spPr>
          <a:xfrm>
            <a:off x="1097280" y="4599432"/>
            <a:ext cx="457200" cy="457200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9" name="Icon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010" y="4725162"/>
            <a:ext cx="205740" cy="205740"/>
          </a:xfrm>
          <a:prstGeom prst="rect">
            <a:avLst/>
          </a:prstGeom>
        </p:spPr>
      </p:pic>
      <p:sp>
        <p:nvSpPr>
          <p:cNvPr id="30" name="Text 30"/>
          <p:cNvSpPr txBox="1"/>
          <p:nvPr/>
        </p:nvSpPr>
        <p:spPr>
          <a:xfrm>
            <a:off x="1097280" y="5166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Lieferung je Zeile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1097280" y="555040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Lieferempfänger, Lieferort, Lieferdatum und Lieferadresse pro Rechnungszeile.</a:t>
            </a:r>
          </a:p>
        </p:txBody>
      </p:sp>
      <p:sp>
        <p:nvSpPr>
          <p:cNvPr id="32" name="Card 32"/>
          <p:cNvSpPr/>
          <p:nvPr/>
        </p:nvSpPr>
        <p:spPr>
          <a:xfrm>
            <a:off x="4379976" y="434340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3" name="IconCircle 33"/>
          <p:cNvSpPr/>
          <p:nvPr/>
        </p:nvSpPr>
        <p:spPr>
          <a:xfrm>
            <a:off x="4654296" y="4599432"/>
            <a:ext cx="457200" cy="457200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34" name="Icon 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0026" y="4725162"/>
            <a:ext cx="205740" cy="205740"/>
          </a:xfrm>
          <a:prstGeom prst="rect">
            <a:avLst/>
          </a:prstGeom>
        </p:spPr>
      </p:pic>
      <p:sp>
        <p:nvSpPr>
          <p:cNvPr id="35" name="Text 35"/>
          <p:cNvSpPr txBox="1"/>
          <p:nvPr/>
        </p:nvSpPr>
        <p:spPr>
          <a:xfrm>
            <a:off x="4654296" y="5166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Gebühren für Dritte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4654296" y="555040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Beträge im Namen Dritter, die nicht Teil der Rechnung sind, getrennt ausweisen.</a:t>
            </a:r>
          </a:p>
        </p:txBody>
      </p:sp>
      <p:sp>
        <p:nvSpPr>
          <p:cNvPr id="37" name="Card 37"/>
          <p:cNvSpPr/>
          <p:nvPr/>
        </p:nvSpPr>
        <p:spPr>
          <a:xfrm>
            <a:off x="7936992" y="434340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IconCircle 38"/>
          <p:cNvSpPr/>
          <p:nvPr/>
        </p:nvSpPr>
        <p:spPr>
          <a:xfrm>
            <a:off x="8211312" y="4599432"/>
            <a:ext cx="457200" cy="457200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39" name="Icon 3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7042" y="4725162"/>
            <a:ext cx="205740" cy="205740"/>
          </a:xfrm>
          <a:prstGeom prst="rect">
            <a:avLst/>
          </a:prstGeom>
        </p:spPr>
      </p:pic>
      <p:sp>
        <p:nvSpPr>
          <p:cNvPr id="40" name="Text 40"/>
          <p:cNvSpPr txBox="1"/>
          <p:nvPr/>
        </p:nvSpPr>
        <p:spPr>
          <a:xfrm>
            <a:off x="8211312" y="5166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XML-Anlagen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8211312" y="555040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Strukturierte Dokumente als Anlage zur Rechnung einbetten.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en-US" sz="950" kern="0" spc="100" dirty="0">
                <a:solidFill>
                  <a:srgbClr val="C2CADE"/>
                </a:solidFill>
              </a:rPr>
              <a:t>   ·   </a:t>
            </a:r>
            <a:r>
              <a:rPr lang="en-US" sz="950" kern="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  <a:endParaRPr lang="en-US" sz="950" dirty="0"/>
          </a:p>
        </p:txBody>
      </p:sp>
      <p:sp>
        <p:nvSpPr>
          <p:cNvPr id="3" name="SectionLabel"/>
          <p:cNvSpPr/>
          <p:nvPr/>
        </p:nvSpPr>
        <p:spPr>
          <a:xfrm>
            <a:off x="82296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SEMANTIK IM VERGLEICH</a:t>
            </a:r>
            <a:endParaRPr lang="en-US" sz="1100" dirty="0"/>
          </a:p>
        </p:txBody>
      </p:sp>
      <p:sp>
        <p:nvSpPr>
          <p:cNvPr id="4" name="Title"/>
          <p:cNvSpPr/>
          <p:nvPr/>
        </p:nvSpPr>
        <p:spPr>
          <a:xfrm>
            <a:off x="804672" y="111556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2017 → 2026</a:t>
            </a:r>
            <a:endParaRPr lang="en-US" sz="3800" dirty="0"/>
          </a:p>
        </p:txBody>
      </p:sp>
      <p:sp>
        <p:nvSpPr>
          <p:cNvPr id="5" name="PageNum"/>
          <p:cNvSpPr/>
          <p:nvPr/>
        </p:nvSpPr>
        <p:spPr>
          <a:xfrm>
            <a:off x="10911535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BE18664B-91E1-4C1D-A2CA-A688E58AEA03}" type="slidenum">
              <a:rPr lang="en-US" sz="1000" kern="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5</a:t>
            </a:fld>
            <a:endParaRPr lang="en-US" sz="1000" dirty="0"/>
          </a:p>
        </p:txBody>
      </p:sp>
      <p:sp>
        <p:nvSpPr>
          <p:cNvPr id="6" name="Tagline"/>
          <p:cNvSpPr/>
          <p:nvPr/>
        </p:nvSpPr>
        <p:spPr>
          <a:xfrm>
            <a:off x="822960" y="186537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Das Datenmodell wächst — vor allem bei den Business Terms.</a:t>
            </a:r>
            <a:endParaRPr lang="en-US" sz="1300" dirty="0"/>
          </a:p>
        </p:txBody>
      </p:sp>
      <p:sp>
        <p:nvSpPr>
          <p:cNvPr id="7" name="Card1"/>
          <p:cNvSpPr/>
          <p:nvPr/>
        </p:nvSpPr>
        <p:spPr>
          <a:xfrm>
            <a:off x="822960" y="2331720"/>
            <a:ext cx="5577840" cy="13167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Card1Label"/>
          <p:cNvSpPr/>
          <p:nvPr/>
        </p:nvSpPr>
        <p:spPr>
          <a:xfrm>
            <a:off x="1097280" y="250545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BG · Business Groups</a:t>
            </a:r>
          </a:p>
          <a:p>
            <a:pPr marL="0" indent="0" algn="l">
              <a:buNone/>
            </a:pPr>
            <a:r>
              <a:rPr lang="en-US" sz="10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Strukturelle Gruppen</a:t>
            </a:r>
          </a:p>
        </p:txBody>
      </p:sp>
      <p:sp>
        <p:nvSpPr>
          <p:cNvPr id="9" name="C1_2017_track"/>
          <p:cNvSpPr/>
          <p:nvPr/>
        </p:nvSpPr>
        <p:spPr>
          <a:xfrm>
            <a:off x="2148840" y="2953512"/>
            <a:ext cx="2057400" cy="146304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C1_2017_fill"/>
          <p:cNvSpPr/>
          <p:nvPr/>
        </p:nvSpPr>
        <p:spPr>
          <a:xfrm>
            <a:off x="2148840" y="2953512"/>
            <a:ext cx="1688123" cy="146304"/>
          </a:xfrm>
          <a:prstGeom prst="roundRect">
            <a:avLst>
              <a:gd name="adj" fmla="val 50000"/>
            </a:avLst>
          </a:prstGeom>
          <a:solidFill>
            <a:srgbClr val="C2CAD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C1_2017_yr"/>
          <p:cNvSpPr/>
          <p:nvPr/>
        </p:nvSpPr>
        <p:spPr>
          <a:xfrm>
            <a:off x="1554480" y="2889504"/>
            <a:ext cx="557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2017</a:t>
            </a:r>
          </a:p>
        </p:txBody>
      </p:sp>
      <p:sp>
        <p:nvSpPr>
          <p:cNvPr id="12" name="C1_2017_val"/>
          <p:cNvSpPr/>
          <p:nvPr/>
        </p:nvSpPr>
        <p:spPr>
          <a:xfrm>
            <a:off x="4288536" y="285292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32</a:t>
            </a:r>
          </a:p>
        </p:txBody>
      </p:sp>
      <p:sp>
        <p:nvSpPr>
          <p:cNvPr id="13" name="C1_2026_track"/>
          <p:cNvSpPr/>
          <p:nvPr/>
        </p:nvSpPr>
        <p:spPr>
          <a:xfrm>
            <a:off x="2148840" y="3236976"/>
            <a:ext cx="2057400" cy="146304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C1_2026_fill"/>
          <p:cNvSpPr/>
          <p:nvPr/>
        </p:nvSpPr>
        <p:spPr>
          <a:xfrm>
            <a:off x="2148840" y="3236976"/>
            <a:ext cx="2057400" cy="146304"/>
          </a:xfrm>
          <a:prstGeom prst="roundRect">
            <a:avLst>
              <a:gd name="adj" fmla="val 50000"/>
            </a:avLst>
          </a:prstGeom>
          <a:solidFill>
            <a:srgbClr val="19C3C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C1_2026_yr"/>
          <p:cNvSpPr/>
          <p:nvPr/>
        </p:nvSpPr>
        <p:spPr>
          <a:xfrm>
            <a:off x="1554480" y="3172968"/>
            <a:ext cx="557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2026</a:t>
            </a:r>
          </a:p>
        </p:txBody>
      </p:sp>
      <p:sp>
        <p:nvSpPr>
          <p:cNvPr id="16" name="C1_2026_val"/>
          <p:cNvSpPr/>
          <p:nvPr/>
        </p:nvSpPr>
        <p:spPr>
          <a:xfrm>
            <a:off x="4288536" y="313639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39</a:t>
            </a:r>
          </a:p>
        </p:txBody>
      </p:sp>
      <p:sp>
        <p:nvSpPr>
          <p:cNvPr id="17" name="C1_badge"/>
          <p:cNvSpPr/>
          <p:nvPr/>
        </p:nvSpPr>
        <p:spPr>
          <a:xfrm>
            <a:off x="5074920" y="2953512"/>
            <a:ext cx="1051560" cy="429768"/>
          </a:xfrm>
          <a:prstGeom prst="roundRect">
            <a:avLst>
              <a:gd name="adj" fmla="val 26000"/>
            </a:avLst>
          </a:prstGeom>
          <a:solidFill>
            <a:srgbClr val="E7F8F8"/>
          </a:solidFill>
          <a:ln w="12700">
            <a:solidFill>
              <a:srgbClr val="B5E9E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7E8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+7</a:t>
            </a:r>
            <a:r>
              <a:rPr lang="en-US" sz="1050" dirty="0">
                <a:solidFill>
                  <a:srgbClr val="3FA9AC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+22 %</a:t>
            </a:r>
          </a:p>
        </p:txBody>
      </p:sp>
      <p:sp>
        <p:nvSpPr>
          <p:cNvPr id="18" name="Card2"/>
          <p:cNvSpPr/>
          <p:nvPr/>
        </p:nvSpPr>
        <p:spPr>
          <a:xfrm>
            <a:off x="822960" y="3739896"/>
            <a:ext cx="5577840" cy="13167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19C3C8"/>
            </a:solidFill>
            <a:prstDash val="solid"/>
          </a:ln>
          <a:effectLst>
            <a:outerShdw blurRad="127000" dist="38100" dir="5400000" algn="bl" rotWithShape="0">
              <a:srgbClr val="0A123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Card2Label"/>
          <p:cNvSpPr/>
          <p:nvPr/>
        </p:nvSpPr>
        <p:spPr>
          <a:xfrm>
            <a:off x="1097280" y="39136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 · Business Terms</a:t>
            </a:r>
          </a:p>
          <a:p>
            <a:pPr marL="0" indent="0" algn="l">
              <a:buNone/>
            </a:pPr>
            <a:r>
              <a:rPr lang="en-US" sz="10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Nummerierte Haupt-Terms</a:t>
            </a:r>
          </a:p>
        </p:txBody>
      </p:sp>
      <p:sp>
        <p:nvSpPr>
          <p:cNvPr id="20" name="C2_2017_track"/>
          <p:cNvSpPr/>
          <p:nvPr/>
        </p:nvSpPr>
        <p:spPr>
          <a:xfrm>
            <a:off x="2148840" y="4361688"/>
            <a:ext cx="2057400" cy="146304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C2_2017_fill"/>
          <p:cNvSpPr/>
          <p:nvPr/>
        </p:nvSpPr>
        <p:spPr>
          <a:xfrm>
            <a:off x="2148840" y="4361688"/>
            <a:ext cx="1562100" cy="146304"/>
          </a:xfrm>
          <a:prstGeom prst="roundRect">
            <a:avLst>
              <a:gd name="adj" fmla="val 50000"/>
            </a:avLst>
          </a:prstGeom>
          <a:solidFill>
            <a:srgbClr val="C2CAD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C2_2017_yr"/>
          <p:cNvSpPr/>
          <p:nvPr/>
        </p:nvSpPr>
        <p:spPr>
          <a:xfrm>
            <a:off x="1554480" y="4297680"/>
            <a:ext cx="557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2017</a:t>
            </a:r>
          </a:p>
        </p:txBody>
      </p:sp>
      <p:sp>
        <p:nvSpPr>
          <p:cNvPr id="23" name="C2_2017_val"/>
          <p:cNvSpPr/>
          <p:nvPr/>
        </p:nvSpPr>
        <p:spPr>
          <a:xfrm>
            <a:off x="4288536" y="426110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164</a:t>
            </a:r>
          </a:p>
        </p:txBody>
      </p:sp>
      <p:sp>
        <p:nvSpPr>
          <p:cNvPr id="24" name="C2_2026_track"/>
          <p:cNvSpPr/>
          <p:nvPr/>
        </p:nvSpPr>
        <p:spPr>
          <a:xfrm>
            <a:off x="2148840" y="4645152"/>
            <a:ext cx="2057400" cy="146304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C2_2026_fill"/>
          <p:cNvSpPr/>
          <p:nvPr/>
        </p:nvSpPr>
        <p:spPr>
          <a:xfrm>
            <a:off x="2148840" y="4645152"/>
            <a:ext cx="2057400" cy="146304"/>
          </a:xfrm>
          <a:prstGeom prst="roundRect">
            <a:avLst>
              <a:gd name="adj" fmla="val 50000"/>
            </a:avLst>
          </a:prstGeom>
          <a:solidFill>
            <a:srgbClr val="19C3C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C2_2026_yr"/>
          <p:cNvSpPr/>
          <p:nvPr/>
        </p:nvSpPr>
        <p:spPr>
          <a:xfrm>
            <a:off x="1554480" y="4581144"/>
            <a:ext cx="557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2026</a:t>
            </a:r>
          </a:p>
        </p:txBody>
      </p:sp>
      <p:sp>
        <p:nvSpPr>
          <p:cNvPr id="27" name="C2_2026_val"/>
          <p:cNvSpPr/>
          <p:nvPr/>
        </p:nvSpPr>
        <p:spPr>
          <a:xfrm>
            <a:off x="4288536" y="454456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216</a:t>
            </a:r>
          </a:p>
        </p:txBody>
      </p:sp>
      <p:sp>
        <p:nvSpPr>
          <p:cNvPr id="28" name="C2_badge"/>
          <p:cNvSpPr/>
          <p:nvPr/>
        </p:nvSpPr>
        <p:spPr>
          <a:xfrm>
            <a:off x="5074920" y="4361688"/>
            <a:ext cx="1051560" cy="429768"/>
          </a:xfrm>
          <a:prstGeom prst="roundRect">
            <a:avLst>
              <a:gd name="adj" fmla="val 26000"/>
            </a:avLst>
          </a:prstGeom>
          <a:solidFill>
            <a:srgbClr val="19C3C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+52</a:t>
            </a:r>
            <a:r>
              <a:rPr lang="en-US" sz="1050" dirty="0">
                <a:solidFill>
                  <a:srgbClr val="D6F5F5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+32 %</a:t>
            </a:r>
          </a:p>
        </p:txBody>
      </p:sp>
      <p:sp>
        <p:nvSpPr>
          <p:cNvPr id="29" name="Card3"/>
          <p:cNvSpPr/>
          <p:nvPr/>
        </p:nvSpPr>
        <p:spPr>
          <a:xfrm>
            <a:off x="822960" y="5148072"/>
            <a:ext cx="5577840" cy="13167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" name="Card3Label"/>
          <p:cNvSpPr/>
          <p:nvPr/>
        </p:nvSpPr>
        <p:spPr>
          <a:xfrm>
            <a:off x="1097280" y="532180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Hilfsattribute</a:t>
            </a:r>
          </a:p>
          <a:p>
            <a:pPr marL="0" indent="0" algn="l">
              <a:buNone/>
            </a:pPr>
            <a:r>
              <a:rPr lang="en-US" sz="10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z. B. Scheme identifier</a:t>
            </a:r>
          </a:p>
        </p:txBody>
      </p:sp>
      <p:sp>
        <p:nvSpPr>
          <p:cNvPr id="31" name="C3_2017_track"/>
          <p:cNvSpPr/>
          <p:nvPr/>
        </p:nvSpPr>
        <p:spPr>
          <a:xfrm>
            <a:off x="2148840" y="5769864"/>
            <a:ext cx="2057400" cy="146304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C3_2017_fill"/>
          <p:cNvSpPr/>
          <p:nvPr/>
        </p:nvSpPr>
        <p:spPr>
          <a:xfrm>
            <a:off x="2148840" y="5769864"/>
            <a:ext cx="1776845" cy="146304"/>
          </a:xfrm>
          <a:prstGeom prst="roundRect">
            <a:avLst>
              <a:gd name="adj" fmla="val 50000"/>
            </a:avLst>
          </a:prstGeom>
          <a:solidFill>
            <a:srgbClr val="C2CAD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3" name="C3_2017_yr"/>
          <p:cNvSpPr/>
          <p:nvPr/>
        </p:nvSpPr>
        <p:spPr>
          <a:xfrm>
            <a:off x="1554480" y="5705856"/>
            <a:ext cx="557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2017</a:t>
            </a:r>
          </a:p>
        </p:txBody>
      </p:sp>
      <p:sp>
        <p:nvSpPr>
          <p:cNvPr id="34" name="C3_2017_val"/>
          <p:cNvSpPr/>
          <p:nvPr/>
        </p:nvSpPr>
        <p:spPr>
          <a:xfrm>
            <a:off x="4288536" y="56692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19</a:t>
            </a:r>
          </a:p>
        </p:txBody>
      </p:sp>
      <p:sp>
        <p:nvSpPr>
          <p:cNvPr id="35" name="C3_2026_track"/>
          <p:cNvSpPr/>
          <p:nvPr/>
        </p:nvSpPr>
        <p:spPr>
          <a:xfrm>
            <a:off x="2148840" y="6053328"/>
            <a:ext cx="2057400" cy="146304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6" name="C3_2026_fill"/>
          <p:cNvSpPr/>
          <p:nvPr/>
        </p:nvSpPr>
        <p:spPr>
          <a:xfrm>
            <a:off x="2148840" y="6053328"/>
            <a:ext cx="2057400" cy="146304"/>
          </a:xfrm>
          <a:prstGeom prst="roundRect">
            <a:avLst>
              <a:gd name="adj" fmla="val 50000"/>
            </a:avLst>
          </a:prstGeom>
          <a:solidFill>
            <a:srgbClr val="19C3C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7" name="C3_2026_yr"/>
          <p:cNvSpPr/>
          <p:nvPr/>
        </p:nvSpPr>
        <p:spPr>
          <a:xfrm>
            <a:off x="1554480" y="5989320"/>
            <a:ext cx="557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2026</a:t>
            </a:r>
          </a:p>
        </p:txBody>
      </p:sp>
      <p:sp>
        <p:nvSpPr>
          <p:cNvPr id="38" name="C3_2026_val"/>
          <p:cNvSpPr/>
          <p:nvPr/>
        </p:nvSpPr>
        <p:spPr>
          <a:xfrm>
            <a:off x="4288536" y="595274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22</a:t>
            </a:r>
          </a:p>
        </p:txBody>
      </p:sp>
      <p:sp>
        <p:nvSpPr>
          <p:cNvPr id="39" name="C3_badge"/>
          <p:cNvSpPr/>
          <p:nvPr/>
        </p:nvSpPr>
        <p:spPr>
          <a:xfrm>
            <a:off x="5074920" y="5769864"/>
            <a:ext cx="1051560" cy="429768"/>
          </a:xfrm>
          <a:prstGeom prst="roundRect">
            <a:avLst>
              <a:gd name="adj" fmla="val 26000"/>
            </a:avLst>
          </a:prstGeom>
          <a:solidFill>
            <a:srgbClr val="E7F8F8"/>
          </a:solidFill>
          <a:ln w="12700">
            <a:solidFill>
              <a:srgbClr val="B5E9E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7E8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+3</a:t>
            </a:r>
            <a:r>
              <a:rPr lang="en-US" sz="1050" dirty="0">
                <a:solidFill>
                  <a:srgbClr val="3FA9AC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+16 %</a:t>
            </a:r>
          </a:p>
        </p:txBody>
      </p:sp>
      <p:sp>
        <p:nvSpPr>
          <p:cNvPr id="40" name="SummaryPanel"/>
          <p:cNvSpPr/>
          <p:nvPr/>
        </p:nvSpPr>
        <p:spPr>
          <a:xfrm>
            <a:off x="6675120" y="2331720"/>
            <a:ext cx="4693920" cy="4133088"/>
          </a:xfrm>
          <a:prstGeom prst="roundRect">
            <a:avLst>
              <a:gd name="adj" fmla="val 2400"/>
            </a:avLst>
          </a:prstGeom>
          <a:solidFill>
            <a:srgbClr val="1A2B5E"/>
          </a:solidFill>
          <a:ln/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1" name="SumLabel"/>
          <p:cNvSpPr/>
          <p:nvPr/>
        </p:nvSpPr>
        <p:spPr>
          <a:xfrm>
            <a:off x="7040880" y="2697480"/>
            <a:ext cx="396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UNTER DEM STRICH</a:t>
            </a:r>
          </a:p>
        </p:txBody>
      </p:sp>
      <p:sp>
        <p:nvSpPr>
          <p:cNvPr id="42" name="SumBigNum"/>
          <p:cNvSpPr/>
          <p:nvPr/>
        </p:nvSpPr>
        <p:spPr>
          <a:xfrm>
            <a:off x="7040880" y="3072384"/>
            <a:ext cx="396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0" b="1" spc="-200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+52</a:t>
            </a:r>
          </a:p>
        </p:txBody>
      </p:sp>
      <p:sp>
        <p:nvSpPr>
          <p:cNvPr id="43" name="SumBigCaption"/>
          <p:cNvSpPr/>
          <p:nvPr/>
        </p:nvSpPr>
        <p:spPr>
          <a:xfrm>
            <a:off x="7040880" y="4187952"/>
            <a:ext cx="396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neue Business Terms — der größte Zuwachs</a:t>
            </a:r>
          </a:p>
        </p:txBody>
      </p:sp>
      <p:sp>
        <p:nvSpPr>
          <p:cNvPr id="44" name="SumDivider"/>
          <p:cNvSpPr/>
          <p:nvPr/>
        </p:nvSpPr>
        <p:spPr>
          <a:xfrm>
            <a:off x="7040880" y="4754880"/>
            <a:ext cx="3962400" cy="9144"/>
          </a:xfrm>
          <a:prstGeom prst="rect">
            <a:avLst/>
          </a:prstGeom>
          <a:solidFill>
            <a:srgbClr val="3A4A7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5" name="SumBullets"/>
          <p:cNvSpPr/>
          <p:nvPr/>
        </p:nvSpPr>
        <p:spPr>
          <a:xfrm>
            <a:off x="7040880" y="4983480"/>
            <a:ext cx="396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7 neue Business Groups strukturieren die neuen Felder</a:t>
            </a:r>
          </a:p>
          <a:p>
            <a:pPr marL="228600" indent="-228600" algn="l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Hilfsattribute wachsen nur moderat (+3)</a:t>
            </a:r>
          </a:p>
          <a:p>
            <a:pPr marL="228600" indent="-228600" algn="l">
              <a:lnSpc>
                <a:spcPct val="100000"/>
              </a:lnSpc>
              <a:spcAft>
                <a:spcPts val="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+62 Elemente insgesamt im Datenmodell</a:t>
            </a:r>
          </a:p>
        </p:txBody>
      </p:sp>
      <p:sp>
        <p:nvSpPr>
          <p:cNvPr id="46" name="Speaker 46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en-US" sz="950" kern="0" spc="100" dirty="0">
                <a:solidFill>
                  <a:srgbClr val="C2CADE"/>
                </a:solidFill>
              </a:rPr>
              <a:t>   ·   </a:t>
            </a:r>
            <a:r>
              <a:rPr lang="en-US" sz="950" kern="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3" name="SectionLabel"/>
          <p:cNvSpPr/>
          <p:nvPr/>
        </p:nvSpPr>
        <p:spPr>
          <a:xfrm>
            <a:off x="822960" y="868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SEMANTISCHE DATENTYPEN</a:t>
            </a:r>
          </a:p>
        </p:txBody>
      </p:sp>
      <p:sp>
        <p:nvSpPr>
          <p:cNvPr id="4" name="Title"/>
          <p:cNvSpPr/>
          <p:nvPr/>
        </p:nvSpPr>
        <p:spPr>
          <a:xfrm>
            <a:off x="804672" y="1115568"/>
            <a:ext cx="900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Verteilung nach Datentyp</a:t>
            </a:r>
          </a:p>
        </p:txBody>
      </p:sp>
      <p:sp>
        <p:nvSpPr>
          <p:cNvPr id="5" name="PageNum"/>
          <p:cNvSpPr/>
          <p:nvPr/>
        </p:nvSpPr>
        <p:spPr>
          <a:xfrm>
            <a:off x="10911535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8CF857AB-FD0F-4023-AD08-718A14AC7DB3}" type="slidenum">
              <a:rPr lang="en-US" sz="1000" kern="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6</a:t>
            </a:fld>
            <a:endParaRPr lang="en-US" sz="1000" kern="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6" name="TotalChip"/>
          <p:cNvSpPr/>
          <p:nvPr/>
        </p:nvSpPr>
        <p:spPr>
          <a:xfrm>
            <a:off x="7818120" y="1188720"/>
            <a:ext cx="3520440" cy="640080"/>
          </a:xfrm>
          <a:prstGeom prst="roundRect">
            <a:avLst>
              <a:gd name="adj" fmla="val 14000"/>
            </a:avLst>
          </a:prstGeom>
          <a:solidFill>
            <a:srgbClr val="1A2B5E"/>
          </a:solidFill>
          <a:ln/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 wrap="square" lIns="146304" tIns="0" rIns="146304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Summe  </a:t>
            </a:r>
            <a:r>
              <a:rPr lang="en-US" sz="1400" b="1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164 → 216</a:t>
            </a:r>
            <a:r>
              <a:rPr lang="en-US" sz="1400" b="1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  +52</a:t>
            </a:r>
            <a:r>
              <a:rPr lang="de-DE" sz="1400" b="1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  ·  +32 %</a:t>
            </a:r>
          </a:p>
        </p:txBody>
      </p:sp>
      <p:sp>
        <p:nvSpPr>
          <p:cNvPr id="101" name="t"/>
          <p:cNvSpPr/>
          <p:nvPr/>
        </p:nvSpPr>
        <p:spPr>
          <a:xfrm>
            <a:off x="822960" y="2057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4C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DATENTYP</a:t>
            </a:r>
          </a:p>
        </p:txBody>
      </p:sp>
      <p:sp>
        <p:nvSpPr>
          <p:cNvPr id="102" name="t"/>
          <p:cNvSpPr/>
          <p:nvPr/>
        </p:nvSpPr>
        <p:spPr>
          <a:xfrm>
            <a:off x="5669280" y="20574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C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2017</a:t>
            </a:r>
          </a:p>
        </p:txBody>
      </p:sp>
      <p:sp>
        <p:nvSpPr>
          <p:cNvPr id="103" name="t"/>
          <p:cNvSpPr/>
          <p:nvPr/>
        </p:nvSpPr>
        <p:spPr>
          <a:xfrm>
            <a:off x="6583680" y="20574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C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2026</a:t>
            </a:r>
          </a:p>
        </p:txBody>
      </p:sp>
      <p:sp>
        <p:nvSpPr>
          <p:cNvPr id="104" name="t"/>
          <p:cNvSpPr/>
          <p:nvPr/>
        </p:nvSpPr>
        <p:spPr>
          <a:xfrm>
            <a:off x="7315200" y="2057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4C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ÄNDERUNG</a:t>
            </a:r>
          </a:p>
        </p:txBody>
      </p:sp>
      <p:sp>
        <p:nvSpPr>
          <p:cNvPr id="105" name="t"/>
          <p:cNvSpPr/>
          <p:nvPr/>
        </p:nvSpPr>
        <p:spPr>
          <a:xfrm>
            <a:off x="822960" y="2486400"/>
            <a:ext cx="292608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Code</a:t>
            </a:r>
          </a:p>
        </p:txBody>
      </p:sp>
      <p:sp>
        <p:nvSpPr>
          <p:cNvPr id="106" name="r"/>
          <p:cNvSpPr/>
          <p:nvPr/>
        </p:nvSpPr>
        <p:spPr>
          <a:xfrm>
            <a:off x="3886200" y="2589270"/>
            <a:ext cx="1645920" cy="13716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7" name="r"/>
          <p:cNvSpPr/>
          <p:nvPr/>
        </p:nvSpPr>
        <p:spPr>
          <a:xfrm>
            <a:off x="3886200" y="2589270"/>
            <a:ext cx="480060" cy="137160"/>
          </a:xfrm>
          <a:prstGeom prst="roundRect">
            <a:avLst>
              <a:gd name="adj" fmla="val 50000"/>
            </a:avLst>
          </a:prstGeom>
          <a:solidFill>
            <a:srgbClr val="C2CAD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8" name="r"/>
          <p:cNvSpPr/>
          <p:nvPr/>
        </p:nvSpPr>
        <p:spPr>
          <a:xfrm>
            <a:off x="3886200" y="2589270"/>
            <a:ext cx="845820" cy="137160"/>
          </a:xfrm>
          <a:prstGeom prst="roundRect">
            <a:avLst>
              <a:gd name="adj" fmla="val 50000"/>
            </a:avLst>
          </a:prstGeom>
          <a:solidFill>
            <a:srgbClr val="19C3C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9" name="t"/>
          <p:cNvSpPr/>
          <p:nvPr/>
        </p:nvSpPr>
        <p:spPr>
          <a:xfrm>
            <a:off x="5669280" y="2486400"/>
            <a:ext cx="50292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21</a:t>
            </a:r>
          </a:p>
        </p:txBody>
      </p:sp>
      <p:sp>
        <p:nvSpPr>
          <p:cNvPr id="110" name="t"/>
          <p:cNvSpPr/>
          <p:nvPr/>
        </p:nvSpPr>
        <p:spPr>
          <a:xfrm>
            <a:off x="6217920" y="2486400"/>
            <a:ext cx="32004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→</a:t>
            </a:r>
          </a:p>
        </p:txBody>
      </p:sp>
      <p:sp>
        <p:nvSpPr>
          <p:cNvPr id="111" name="t"/>
          <p:cNvSpPr/>
          <p:nvPr/>
        </p:nvSpPr>
        <p:spPr>
          <a:xfrm>
            <a:off x="6583680" y="2486400"/>
            <a:ext cx="50292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37</a:t>
            </a:r>
          </a:p>
        </p:txBody>
      </p:sp>
      <p:sp>
        <p:nvSpPr>
          <p:cNvPr id="112" name="r"/>
          <p:cNvSpPr/>
          <p:nvPr/>
        </p:nvSpPr>
        <p:spPr>
          <a:xfrm>
            <a:off x="7315200" y="2516118"/>
            <a:ext cx="1005840" cy="283464"/>
          </a:xfrm>
          <a:prstGeom prst="roundRect">
            <a:avLst>
              <a:gd name="adj" fmla="val 30000"/>
            </a:avLst>
          </a:prstGeom>
          <a:solidFill>
            <a:srgbClr val="19C3C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3" name="t"/>
          <p:cNvSpPr/>
          <p:nvPr/>
        </p:nvSpPr>
        <p:spPr>
          <a:xfrm>
            <a:off x="7315200" y="2516118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+16</a:t>
            </a:r>
          </a:p>
        </p:txBody>
      </p:sp>
      <p:sp>
        <p:nvSpPr>
          <p:cNvPr id="114" name="r"/>
          <p:cNvSpPr/>
          <p:nvPr/>
        </p:nvSpPr>
        <p:spPr>
          <a:xfrm>
            <a:off x="822960" y="2865875"/>
            <a:ext cx="8503920" cy="6096"/>
          </a:xfrm>
          <a:prstGeom prst="rect">
            <a:avLst/>
          </a:prstGeom>
          <a:solidFill>
            <a:srgbClr val="ECEF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5" name="t"/>
          <p:cNvSpPr/>
          <p:nvPr/>
        </p:nvSpPr>
        <p:spPr>
          <a:xfrm>
            <a:off x="822960" y="2865876"/>
            <a:ext cx="292608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Document reference</a:t>
            </a:r>
          </a:p>
        </p:txBody>
      </p:sp>
      <p:sp>
        <p:nvSpPr>
          <p:cNvPr id="116" name="r"/>
          <p:cNvSpPr/>
          <p:nvPr/>
        </p:nvSpPr>
        <p:spPr>
          <a:xfrm>
            <a:off x="3886200" y="2968746"/>
            <a:ext cx="1645920" cy="13716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7" name="r"/>
          <p:cNvSpPr/>
          <p:nvPr/>
        </p:nvSpPr>
        <p:spPr>
          <a:xfrm>
            <a:off x="3886200" y="2968746"/>
            <a:ext cx="228600" cy="137160"/>
          </a:xfrm>
          <a:prstGeom prst="roundRect">
            <a:avLst>
              <a:gd name="adj" fmla="val 50000"/>
            </a:avLst>
          </a:prstGeom>
          <a:solidFill>
            <a:srgbClr val="C2CAD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8" name="r"/>
          <p:cNvSpPr/>
          <p:nvPr/>
        </p:nvSpPr>
        <p:spPr>
          <a:xfrm>
            <a:off x="3886200" y="2968746"/>
            <a:ext cx="502920" cy="137160"/>
          </a:xfrm>
          <a:prstGeom prst="roundRect">
            <a:avLst>
              <a:gd name="adj" fmla="val 50000"/>
            </a:avLst>
          </a:prstGeom>
          <a:solidFill>
            <a:srgbClr val="19C3C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9" name="t"/>
          <p:cNvSpPr/>
          <p:nvPr/>
        </p:nvSpPr>
        <p:spPr>
          <a:xfrm>
            <a:off x="5669280" y="2865876"/>
            <a:ext cx="50292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10</a:t>
            </a:r>
          </a:p>
        </p:txBody>
      </p:sp>
      <p:sp>
        <p:nvSpPr>
          <p:cNvPr id="120" name="t"/>
          <p:cNvSpPr/>
          <p:nvPr/>
        </p:nvSpPr>
        <p:spPr>
          <a:xfrm>
            <a:off x="6217920" y="2865876"/>
            <a:ext cx="32004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→</a:t>
            </a:r>
          </a:p>
        </p:txBody>
      </p:sp>
      <p:sp>
        <p:nvSpPr>
          <p:cNvPr id="121" name="t"/>
          <p:cNvSpPr/>
          <p:nvPr/>
        </p:nvSpPr>
        <p:spPr>
          <a:xfrm>
            <a:off x="6583680" y="2865876"/>
            <a:ext cx="50292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22</a:t>
            </a:r>
          </a:p>
        </p:txBody>
      </p:sp>
      <p:sp>
        <p:nvSpPr>
          <p:cNvPr id="122" name="r"/>
          <p:cNvSpPr/>
          <p:nvPr/>
        </p:nvSpPr>
        <p:spPr>
          <a:xfrm>
            <a:off x="7315200" y="2895594"/>
            <a:ext cx="1005840" cy="283464"/>
          </a:xfrm>
          <a:prstGeom prst="roundRect">
            <a:avLst>
              <a:gd name="adj" fmla="val 30000"/>
            </a:avLst>
          </a:prstGeom>
          <a:solidFill>
            <a:srgbClr val="19C3C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3" name="t"/>
          <p:cNvSpPr/>
          <p:nvPr/>
        </p:nvSpPr>
        <p:spPr>
          <a:xfrm>
            <a:off x="7315200" y="2895594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+12</a:t>
            </a:r>
          </a:p>
        </p:txBody>
      </p:sp>
      <p:sp>
        <p:nvSpPr>
          <p:cNvPr id="124" name="r"/>
          <p:cNvSpPr/>
          <p:nvPr/>
        </p:nvSpPr>
        <p:spPr>
          <a:xfrm>
            <a:off x="822960" y="3245351"/>
            <a:ext cx="8503920" cy="6096"/>
          </a:xfrm>
          <a:prstGeom prst="rect">
            <a:avLst/>
          </a:prstGeom>
          <a:solidFill>
            <a:srgbClr val="ECEF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5" name="t"/>
          <p:cNvSpPr/>
          <p:nvPr/>
        </p:nvSpPr>
        <p:spPr>
          <a:xfrm>
            <a:off x="822960" y="3245352"/>
            <a:ext cx="292608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Text</a:t>
            </a:r>
          </a:p>
        </p:txBody>
      </p:sp>
      <p:sp>
        <p:nvSpPr>
          <p:cNvPr id="126" name="r"/>
          <p:cNvSpPr/>
          <p:nvPr/>
        </p:nvSpPr>
        <p:spPr>
          <a:xfrm>
            <a:off x="3886200" y="3348222"/>
            <a:ext cx="1645920" cy="13716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7" name="r"/>
          <p:cNvSpPr/>
          <p:nvPr/>
        </p:nvSpPr>
        <p:spPr>
          <a:xfrm>
            <a:off x="3886200" y="3348222"/>
            <a:ext cx="1417320" cy="137160"/>
          </a:xfrm>
          <a:prstGeom prst="roundRect">
            <a:avLst>
              <a:gd name="adj" fmla="val 50000"/>
            </a:avLst>
          </a:prstGeom>
          <a:solidFill>
            <a:srgbClr val="C2CAD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8" name="r"/>
          <p:cNvSpPr/>
          <p:nvPr/>
        </p:nvSpPr>
        <p:spPr>
          <a:xfrm>
            <a:off x="3886200" y="3348222"/>
            <a:ext cx="1645920" cy="137160"/>
          </a:xfrm>
          <a:prstGeom prst="roundRect">
            <a:avLst>
              <a:gd name="adj" fmla="val 50000"/>
            </a:avLst>
          </a:prstGeom>
          <a:solidFill>
            <a:srgbClr val="19C3C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9" name="t"/>
          <p:cNvSpPr/>
          <p:nvPr/>
        </p:nvSpPr>
        <p:spPr>
          <a:xfrm>
            <a:off x="5669280" y="3245352"/>
            <a:ext cx="50292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62</a:t>
            </a:r>
          </a:p>
        </p:txBody>
      </p:sp>
      <p:sp>
        <p:nvSpPr>
          <p:cNvPr id="130" name="t"/>
          <p:cNvSpPr/>
          <p:nvPr/>
        </p:nvSpPr>
        <p:spPr>
          <a:xfrm>
            <a:off x="6217920" y="3245352"/>
            <a:ext cx="32004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→</a:t>
            </a:r>
          </a:p>
        </p:txBody>
      </p:sp>
      <p:sp>
        <p:nvSpPr>
          <p:cNvPr id="131" name="t"/>
          <p:cNvSpPr/>
          <p:nvPr/>
        </p:nvSpPr>
        <p:spPr>
          <a:xfrm>
            <a:off x="6583680" y="3245352"/>
            <a:ext cx="50292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72</a:t>
            </a:r>
          </a:p>
        </p:txBody>
      </p:sp>
      <p:sp>
        <p:nvSpPr>
          <p:cNvPr id="132" name="r"/>
          <p:cNvSpPr/>
          <p:nvPr/>
        </p:nvSpPr>
        <p:spPr>
          <a:xfrm>
            <a:off x="7315200" y="3275070"/>
            <a:ext cx="1005840" cy="283464"/>
          </a:xfrm>
          <a:prstGeom prst="roundRect">
            <a:avLst>
              <a:gd name="adj" fmla="val 30000"/>
            </a:avLst>
          </a:prstGeom>
          <a:solidFill>
            <a:srgbClr val="19C3C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3" name="t"/>
          <p:cNvSpPr/>
          <p:nvPr/>
        </p:nvSpPr>
        <p:spPr>
          <a:xfrm>
            <a:off x="7315200" y="3275070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+10</a:t>
            </a:r>
          </a:p>
        </p:txBody>
      </p:sp>
      <p:sp>
        <p:nvSpPr>
          <p:cNvPr id="134" name="r"/>
          <p:cNvSpPr/>
          <p:nvPr/>
        </p:nvSpPr>
        <p:spPr>
          <a:xfrm>
            <a:off x="822960" y="3624827"/>
            <a:ext cx="8503920" cy="6096"/>
          </a:xfrm>
          <a:prstGeom prst="rect">
            <a:avLst/>
          </a:prstGeom>
          <a:solidFill>
            <a:srgbClr val="ECEF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5" name="t"/>
          <p:cNvSpPr/>
          <p:nvPr/>
        </p:nvSpPr>
        <p:spPr>
          <a:xfrm>
            <a:off x="822960" y="3624828"/>
            <a:ext cx="292608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Amount</a:t>
            </a:r>
          </a:p>
        </p:txBody>
      </p:sp>
      <p:sp>
        <p:nvSpPr>
          <p:cNvPr id="136" name="r"/>
          <p:cNvSpPr/>
          <p:nvPr/>
        </p:nvSpPr>
        <p:spPr>
          <a:xfrm>
            <a:off x="3886200" y="3727698"/>
            <a:ext cx="1645920" cy="13716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7" name="r"/>
          <p:cNvSpPr/>
          <p:nvPr/>
        </p:nvSpPr>
        <p:spPr>
          <a:xfrm>
            <a:off x="3886200" y="3727698"/>
            <a:ext cx="480060" cy="137160"/>
          </a:xfrm>
          <a:prstGeom prst="roundRect">
            <a:avLst>
              <a:gd name="adj" fmla="val 50000"/>
            </a:avLst>
          </a:prstGeom>
          <a:solidFill>
            <a:srgbClr val="C2CAD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8" name="r"/>
          <p:cNvSpPr/>
          <p:nvPr/>
        </p:nvSpPr>
        <p:spPr>
          <a:xfrm>
            <a:off x="3886200" y="3727698"/>
            <a:ext cx="571500" cy="137160"/>
          </a:xfrm>
          <a:prstGeom prst="roundRect">
            <a:avLst>
              <a:gd name="adj" fmla="val 50000"/>
            </a:avLst>
          </a:prstGeom>
          <a:solidFill>
            <a:srgbClr val="6F9BC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9" name="t"/>
          <p:cNvSpPr/>
          <p:nvPr/>
        </p:nvSpPr>
        <p:spPr>
          <a:xfrm>
            <a:off x="5669280" y="3624828"/>
            <a:ext cx="50292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21</a:t>
            </a:r>
          </a:p>
        </p:txBody>
      </p:sp>
      <p:sp>
        <p:nvSpPr>
          <p:cNvPr id="140" name="t"/>
          <p:cNvSpPr/>
          <p:nvPr/>
        </p:nvSpPr>
        <p:spPr>
          <a:xfrm>
            <a:off x="6217920" y="3624828"/>
            <a:ext cx="32004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→</a:t>
            </a:r>
          </a:p>
        </p:txBody>
      </p:sp>
      <p:sp>
        <p:nvSpPr>
          <p:cNvPr id="141" name="t"/>
          <p:cNvSpPr/>
          <p:nvPr/>
        </p:nvSpPr>
        <p:spPr>
          <a:xfrm>
            <a:off x="6583680" y="3624828"/>
            <a:ext cx="50292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25</a:t>
            </a:r>
          </a:p>
        </p:txBody>
      </p:sp>
      <p:sp>
        <p:nvSpPr>
          <p:cNvPr id="142" name="r"/>
          <p:cNvSpPr/>
          <p:nvPr/>
        </p:nvSpPr>
        <p:spPr>
          <a:xfrm>
            <a:off x="7315200" y="3654546"/>
            <a:ext cx="1005840" cy="283464"/>
          </a:xfrm>
          <a:prstGeom prst="roundRect">
            <a:avLst>
              <a:gd name="adj" fmla="val 30000"/>
            </a:avLst>
          </a:prstGeom>
          <a:solidFill>
            <a:srgbClr val="E7F8F8"/>
          </a:solidFill>
          <a:ln w="12700">
            <a:solidFill>
              <a:srgbClr val="B5E9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3" name="t"/>
          <p:cNvSpPr/>
          <p:nvPr/>
        </p:nvSpPr>
        <p:spPr>
          <a:xfrm>
            <a:off x="7315200" y="3654546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E8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+4</a:t>
            </a:r>
          </a:p>
        </p:txBody>
      </p:sp>
      <p:sp>
        <p:nvSpPr>
          <p:cNvPr id="144" name="r"/>
          <p:cNvSpPr/>
          <p:nvPr/>
        </p:nvSpPr>
        <p:spPr>
          <a:xfrm>
            <a:off x="822960" y="4004303"/>
            <a:ext cx="8503920" cy="6096"/>
          </a:xfrm>
          <a:prstGeom prst="rect">
            <a:avLst/>
          </a:prstGeom>
          <a:solidFill>
            <a:srgbClr val="ECEF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5" name="t"/>
          <p:cNvSpPr/>
          <p:nvPr/>
        </p:nvSpPr>
        <p:spPr>
          <a:xfrm>
            <a:off x="822960" y="4004304"/>
            <a:ext cx="292608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Date</a:t>
            </a:r>
          </a:p>
        </p:txBody>
      </p:sp>
      <p:sp>
        <p:nvSpPr>
          <p:cNvPr id="146" name="r"/>
          <p:cNvSpPr/>
          <p:nvPr/>
        </p:nvSpPr>
        <p:spPr>
          <a:xfrm>
            <a:off x="3886200" y="4107174"/>
            <a:ext cx="1645920" cy="13716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7" name="r"/>
          <p:cNvSpPr/>
          <p:nvPr/>
        </p:nvSpPr>
        <p:spPr>
          <a:xfrm>
            <a:off x="3886200" y="4107174"/>
            <a:ext cx="205740" cy="137160"/>
          </a:xfrm>
          <a:prstGeom prst="roundRect">
            <a:avLst>
              <a:gd name="adj" fmla="val 50000"/>
            </a:avLst>
          </a:prstGeom>
          <a:solidFill>
            <a:srgbClr val="C2CAD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8" name="r"/>
          <p:cNvSpPr/>
          <p:nvPr/>
        </p:nvSpPr>
        <p:spPr>
          <a:xfrm>
            <a:off x="3886200" y="4107174"/>
            <a:ext cx="297180" cy="137160"/>
          </a:xfrm>
          <a:prstGeom prst="roundRect">
            <a:avLst>
              <a:gd name="adj" fmla="val 50000"/>
            </a:avLst>
          </a:prstGeom>
          <a:solidFill>
            <a:srgbClr val="6F9BC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9" name="t"/>
          <p:cNvSpPr/>
          <p:nvPr/>
        </p:nvSpPr>
        <p:spPr>
          <a:xfrm>
            <a:off x="5669280" y="4004304"/>
            <a:ext cx="50292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9</a:t>
            </a:r>
          </a:p>
        </p:txBody>
      </p:sp>
      <p:sp>
        <p:nvSpPr>
          <p:cNvPr id="150" name="t"/>
          <p:cNvSpPr/>
          <p:nvPr/>
        </p:nvSpPr>
        <p:spPr>
          <a:xfrm>
            <a:off x="6217920" y="4004304"/>
            <a:ext cx="32004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→</a:t>
            </a:r>
          </a:p>
        </p:txBody>
      </p:sp>
      <p:sp>
        <p:nvSpPr>
          <p:cNvPr id="151" name="t"/>
          <p:cNvSpPr/>
          <p:nvPr/>
        </p:nvSpPr>
        <p:spPr>
          <a:xfrm>
            <a:off x="6583680" y="4004304"/>
            <a:ext cx="50292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13</a:t>
            </a:r>
          </a:p>
        </p:txBody>
      </p:sp>
      <p:sp>
        <p:nvSpPr>
          <p:cNvPr id="152" name="r"/>
          <p:cNvSpPr/>
          <p:nvPr/>
        </p:nvSpPr>
        <p:spPr>
          <a:xfrm>
            <a:off x="7315200" y="4034022"/>
            <a:ext cx="1005840" cy="283464"/>
          </a:xfrm>
          <a:prstGeom prst="roundRect">
            <a:avLst>
              <a:gd name="adj" fmla="val 30000"/>
            </a:avLst>
          </a:prstGeom>
          <a:solidFill>
            <a:srgbClr val="E7F8F8"/>
          </a:solidFill>
          <a:ln w="12700">
            <a:solidFill>
              <a:srgbClr val="B5E9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3" name="t"/>
          <p:cNvSpPr/>
          <p:nvPr/>
        </p:nvSpPr>
        <p:spPr>
          <a:xfrm>
            <a:off x="7315200" y="4034022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E8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+4</a:t>
            </a:r>
          </a:p>
        </p:txBody>
      </p:sp>
      <p:sp>
        <p:nvSpPr>
          <p:cNvPr id="154" name="r"/>
          <p:cNvSpPr/>
          <p:nvPr/>
        </p:nvSpPr>
        <p:spPr>
          <a:xfrm>
            <a:off x="822960" y="4383779"/>
            <a:ext cx="8503920" cy="6096"/>
          </a:xfrm>
          <a:prstGeom prst="rect">
            <a:avLst/>
          </a:prstGeom>
          <a:solidFill>
            <a:srgbClr val="ECEF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5" name="t"/>
          <p:cNvSpPr/>
          <p:nvPr/>
        </p:nvSpPr>
        <p:spPr>
          <a:xfrm>
            <a:off x="822960" y="4383780"/>
            <a:ext cx="292608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Identifier</a:t>
            </a:r>
          </a:p>
        </p:txBody>
      </p:sp>
      <p:sp>
        <p:nvSpPr>
          <p:cNvPr id="156" name="r"/>
          <p:cNvSpPr/>
          <p:nvPr/>
        </p:nvSpPr>
        <p:spPr>
          <a:xfrm>
            <a:off x="3886200" y="4486650"/>
            <a:ext cx="1645920" cy="13716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7" name="r"/>
          <p:cNvSpPr/>
          <p:nvPr/>
        </p:nvSpPr>
        <p:spPr>
          <a:xfrm>
            <a:off x="3886200" y="4486650"/>
            <a:ext cx="617220" cy="137160"/>
          </a:xfrm>
          <a:prstGeom prst="roundRect">
            <a:avLst>
              <a:gd name="adj" fmla="val 50000"/>
            </a:avLst>
          </a:prstGeom>
          <a:solidFill>
            <a:srgbClr val="C2CAD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8" name="r"/>
          <p:cNvSpPr/>
          <p:nvPr/>
        </p:nvSpPr>
        <p:spPr>
          <a:xfrm>
            <a:off x="3886200" y="4486650"/>
            <a:ext cx="685800" cy="137160"/>
          </a:xfrm>
          <a:prstGeom prst="roundRect">
            <a:avLst>
              <a:gd name="adj" fmla="val 50000"/>
            </a:avLst>
          </a:prstGeom>
          <a:solidFill>
            <a:srgbClr val="6F9BC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9" name="t"/>
          <p:cNvSpPr/>
          <p:nvPr/>
        </p:nvSpPr>
        <p:spPr>
          <a:xfrm>
            <a:off x="5669280" y="4383780"/>
            <a:ext cx="50292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27</a:t>
            </a:r>
          </a:p>
        </p:txBody>
      </p:sp>
      <p:sp>
        <p:nvSpPr>
          <p:cNvPr id="160" name="t"/>
          <p:cNvSpPr/>
          <p:nvPr/>
        </p:nvSpPr>
        <p:spPr>
          <a:xfrm>
            <a:off x="6217920" y="4383780"/>
            <a:ext cx="32004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→</a:t>
            </a:r>
          </a:p>
        </p:txBody>
      </p:sp>
      <p:sp>
        <p:nvSpPr>
          <p:cNvPr id="161" name="t"/>
          <p:cNvSpPr/>
          <p:nvPr/>
        </p:nvSpPr>
        <p:spPr>
          <a:xfrm>
            <a:off x="6583680" y="4383780"/>
            <a:ext cx="50292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30</a:t>
            </a:r>
          </a:p>
        </p:txBody>
      </p:sp>
      <p:sp>
        <p:nvSpPr>
          <p:cNvPr id="162" name="r"/>
          <p:cNvSpPr/>
          <p:nvPr/>
        </p:nvSpPr>
        <p:spPr>
          <a:xfrm>
            <a:off x="7315200" y="4413498"/>
            <a:ext cx="1005840" cy="283464"/>
          </a:xfrm>
          <a:prstGeom prst="roundRect">
            <a:avLst>
              <a:gd name="adj" fmla="val 30000"/>
            </a:avLst>
          </a:prstGeom>
          <a:solidFill>
            <a:srgbClr val="E7F8F8"/>
          </a:solidFill>
          <a:ln w="12700">
            <a:solidFill>
              <a:srgbClr val="B5E9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3" name="t"/>
          <p:cNvSpPr/>
          <p:nvPr/>
        </p:nvSpPr>
        <p:spPr>
          <a:xfrm>
            <a:off x="7315200" y="4413498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E8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+3</a:t>
            </a:r>
          </a:p>
        </p:txBody>
      </p:sp>
      <p:sp>
        <p:nvSpPr>
          <p:cNvPr id="164" name="r"/>
          <p:cNvSpPr/>
          <p:nvPr/>
        </p:nvSpPr>
        <p:spPr>
          <a:xfrm>
            <a:off x="822960" y="4763255"/>
            <a:ext cx="8503920" cy="6096"/>
          </a:xfrm>
          <a:prstGeom prst="rect">
            <a:avLst/>
          </a:prstGeom>
          <a:solidFill>
            <a:srgbClr val="ECEF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5" name="t"/>
          <p:cNvSpPr/>
          <p:nvPr/>
        </p:nvSpPr>
        <p:spPr>
          <a:xfrm>
            <a:off x="822960" y="4763256"/>
            <a:ext cx="292608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Percentage / Percent</a:t>
            </a:r>
          </a:p>
        </p:txBody>
      </p:sp>
      <p:sp>
        <p:nvSpPr>
          <p:cNvPr id="166" name="r"/>
          <p:cNvSpPr/>
          <p:nvPr/>
        </p:nvSpPr>
        <p:spPr>
          <a:xfrm>
            <a:off x="3886200" y="4866126"/>
            <a:ext cx="1645920" cy="13716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7" name="r"/>
          <p:cNvSpPr/>
          <p:nvPr/>
        </p:nvSpPr>
        <p:spPr>
          <a:xfrm>
            <a:off x="3886200" y="4866126"/>
            <a:ext cx="182880" cy="137160"/>
          </a:xfrm>
          <a:prstGeom prst="roundRect">
            <a:avLst>
              <a:gd name="adj" fmla="val 50000"/>
            </a:avLst>
          </a:prstGeom>
          <a:solidFill>
            <a:srgbClr val="C2CAD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8" name="r"/>
          <p:cNvSpPr/>
          <p:nvPr/>
        </p:nvSpPr>
        <p:spPr>
          <a:xfrm>
            <a:off x="3886200" y="4866126"/>
            <a:ext cx="228600" cy="137160"/>
          </a:xfrm>
          <a:prstGeom prst="roundRect">
            <a:avLst>
              <a:gd name="adj" fmla="val 50000"/>
            </a:avLst>
          </a:prstGeom>
          <a:solidFill>
            <a:srgbClr val="6F9BC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9" name="t"/>
          <p:cNvSpPr/>
          <p:nvPr/>
        </p:nvSpPr>
        <p:spPr>
          <a:xfrm>
            <a:off x="5669280" y="4763256"/>
            <a:ext cx="50292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8</a:t>
            </a:r>
          </a:p>
        </p:txBody>
      </p:sp>
      <p:sp>
        <p:nvSpPr>
          <p:cNvPr id="170" name="t"/>
          <p:cNvSpPr/>
          <p:nvPr/>
        </p:nvSpPr>
        <p:spPr>
          <a:xfrm>
            <a:off x="6217920" y="4763256"/>
            <a:ext cx="32004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→</a:t>
            </a:r>
          </a:p>
        </p:txBody>
      </p:sp>
      <p:sp>
        <p:nvSpPr>
          <p:cNvPr id="171" name="t"/>
          <p:cNvSpPr/>
          <p:nvPr/>
        </p:nvSpPr>
        <p:spPr>
          <a:xfrm>
            <a:off x="6583680" y="4763256"/>
            <a:ext cx="50292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10</a:t>
            </a:r>
          </a:p>
        </p:txBody>
      </p:sp>
      <p:sp>
        <p:nvSpPr>
          <p:cNvPr id="172" name="r"/>
          <p:cNvSpPr/>
          <p:nvPr/>
        </p:nvSpPr>
        <p:spPr>
          <a:xfrm>
            <a:off x="7315200" y="4792974"/>
            <a:ext cx="1005840" cy="283464"/>
          </a:xfrm>
          <a:prstGeom prst="roundRect">
            <a:avLst>
              <a:gd name="adj" fmla="val 30000"/>
            </a:avLst>
          </a:prstGeom>
          <a:solidFill>
            <a:srgbClr val="E7F8F8"/>
          </a:solidFill>
          <a:ln w="12700">
            <a:solidFill>
              <a:srgbClr val="B5E9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3" name="t"/>
          <p:cNvSpPr/>
          <p:nvPr/>
        </p:nvSpPr>
        <p:spPr>
          <a:xfrm>
            <a:off x="7315200" y="4792974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E8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+2</a:t>
            </a:r>
          </a:p>
        </p:txBody>
      </p:sp>
      <p:sp>
        <p:nvSpPr>
          <p:cNvPr id="174" name="r"/>
          <p:cNvSpPr/>
          <p:nvPr/>
        </p:nvSpPr>
        <p:spPr>
          <a:xfrm>
            <a:off x="822960" y="5142731"/>
            <a:ext cx="8503920" cy="6096"/>
          </a:xfrm>
          <a:prstGeom prst="rect">
            <a:avLst/>
          </a:prstGeom>
          <a:solidFill>
            <a:srgbClr val="ECEF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5" name="t"/>
          <p:cNvSpPr/>
          <p:nvPr/>
        </p:nvSpPr>
        <p:spPr>
          <a:xfrm>
            <a:off x="822960" y="5142732"/>
            <a:ext cx="292608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Time</a:t>
            </a:r>
          </a:p>
        </p:txBody>
      </p:sp>
      <p:sp>
        <p:nvSpPr>
          <p:cNvPr id="176" name="r"/>
          <p:cNvSpPr/>
          <p:nvPr/>
        </p:nvSpPr>
        <p:spPr>
          <a:xfrm>
            <a:off x="3886200" y="5245602"/>
            <a:ext cx="1645920" cy="13716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7" name="r"/>
          <p:cNvSpPr/>
          <p:nvPr/>
        </p:nvSpPr>
        <p:spPr>
          <a:xfrm>
            <a:off x="3886200" y="5245602"/>
            <a:ext cx="22860" cy="137160"/>
          </a:xfrm>
          <a:prstGeom prst="roundRect">
            <a:avLst>
              <a:gd name="adj" fmla="val 50000"/>
            </a:avLst>
          </a:prstGeom>
          <a:solidFill>
            <a:srgbClr val="6F9BC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8" name="t"/>
          <p:cNvSpPr/>
          <p:nvPr/>
        </p:nvSpPr>
        <p:spPr>
          <a:xfrm>
            <a:off x="5669280" y="5142732"/>
            <a:ext cx="50292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0</a:t>
            </a:r>
          </a:p>
        </p:txBody>
      </p:sp>
      <p:sp>
        <p:nvSpPr>
          <p:cNvPr id="179" name="t"/>
          <p:cNvSpPr/>
          <p:nvPr/>
        </p:nvSpPr>
        <p:spPr>
          <a:xfrm>
            <a:off x="6217920" y="5142732"/>
            <a:ext cx="32004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→</a:t>
            </a:r>
          </a:p>
        </p:txBody>
      </p:sp>
      <p:sp>
        <p:nvSpPr>
          <p:cNvPr id="180" name="t"/>
          <p:cNvSpPr/>
          <p:nvPr/>
        </p:nvSpPr>
        <p:spPr>
          <a:xfrm>
            <a:off x="6583680" y="5142732"/>
            <a:ext cx="50292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1</a:t>
            </a:r>
          </a:p>
        </p:txBody>
      </p:sp>
      <p:sp>
        <p:nvSpPr>
          <p:cNvPr id="181" name="r"/>
          <p:cNvSpPr/>
          <p:nvPr/>
        </p:nvSpPr>
        <p:spPr>
          <a:xfrm>
            <a:off x="7315200" y="5172450"/>
            <a:ext cx="1005840" cy="283464"/>
          </a:xfrm>
          <a:prstGeom prst="roundRect">
            <a:avLst>
              <a:gd name="adj" fmla="val 30000"/>
            </a:avLst>
          </a:prstGeom>
          <a:solidFill>
            <a:srgbClr val="E7F8F8"/>
          </a:solidFill>
          <a:ln w="12700">
            <a:solidFill>
              <a:srgbClr val="B5E9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2" name="t"/>
          <p:cNvSpPr/>
          <p:nvPr/>
        </p:nvSpPr>
        <p:spPr>
          <a:xfrm>
            <a:off x="7315200" y="5172450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E8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+1</a:t>
            </a:r>
          </a:p>
        </p:txBody>
      </p:sp>
      <p:sp>
        <p:nvSpPr>
          <p:cNvPr id="183" name="r"/>
          <p:cNvSpPr/>
          <p:nvPr/>
        </p:nvSpPr>
        <p:spPr>
          <a:xfrm>
            <a:off x="822960" y="5522207"/>
            <a:ext cx="8503920" cy="6096"/>
          </a:xfrm>
          <a:prstGeom prst="rect">
            <a:avLst/>
          </a:prstGeom>
          <a:solidFill>
            <a:srgbClr val="ECEF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4" name="t"/>
          <p:cNvSpPr/>
          <p:nvPr/>
        </p:nvSpPr>
        <p:spPr>
          <a:xfrm>
            <a:off x="822960" y="5522208"/>
            <a:ext cx="292608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Quantity</a:t>
            </a:r>
          </a:p>
        </p:txBody>
      </p:sp>
      <p:sp>
        <p:nvSpPr>
          <p:cNvPr id="185" name="r"/>
          <p:cNvSpPr/>
          <p:nvPr/>
        </p:nvSpPr>
        <p:spPr>
          <a:xfrm>
            <a:off x="3886200" y="5625078"/>
            <a:ext cx="1645920" cy="13716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6" name="r"/>
          <p:cNvSpPr/>
          <p:nvPr/>
        </p:nvSpPr>
        <p:spPr>
          <a:xfrm>
            <a:off x="3886200" y="5625078"/>
            <a:ext cx="45720" cy="137160"/>
          </a:xfrm>
          <a:prstGeom prst="roundRect">
            <a:avLst>
              <a:gd name="adj" fmla="val 50000"/>
            </a:avLst>
          </a:prstGeom>
          <a:solidFill>
            <a:srgbClr val="C2CAD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7" name="r"/>
          <p:cNvSpPr/>
          <p:nvPr/>
        </p:nvSpPr>
        <p:spPr>
          <a:xfrm>
            <a:off x="3886200" y="5625078"/>
            <a:ext cx="45720" cy="137160"/>
          </a:xfrm>
          <a:prstGeom prst="roundRect">
            <a:avLst>
              <a:gd name="adj" fmla="val 50000"/>
            </a:avLst>
          </a:prstGeom>
          <a:solidFill>
            <a:srgbClr val="C2CAD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8" name="t"/>
          <p:cNvSpPr/>
          <p:nvPr/>
        </p:nvSpPr>
        <p:spPr>
          <a:xfrm>
            <a:off x="5669280" y="5522208"/>
            <a:ext cx="50292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2</a:t>
            </a:r>
          </a:p>
        </p:txBody>
      </p:sp>
      <p:sp>
        <p:nvSpPr>
          <p:cNvPr id="189" name="t"/>
          <p:cNvSpPr/>
          <p:nvPr/>
        </p:nvSpPr>
        <p:spPr>
          <a:xfrm>
            <a:off x="6217920" y="5522208"/>
            <a:ext cx="32004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→</a:t>
            </a:r>
          </a:p>
        </p:txBody>
      </p:sp>
      <p:sp>
        <p:nvSpPr>
          <p:cNvPr id="190" name="t"/>
          <p:cNvSpPr/>
          <p:nvPr/>
        </p:nvSpPr>
        <p:spPr>
          <a:xfrm>
            <a:off x="6583680" y="5522208"/>
            <a:ext cx="50292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2</a:t>
            </a:r>
          </a:p>
        </p:txBody>
      </p:sp>
      <p:sp>
        <p:nvSpPr>
          <p:cNvPr id="191" name="r"/>
          <p:cNvSpPr/>
          <p:nvPr/>
        </p:nvSpPr>
        <p:spPr>
          <a:xfrm>
            <a:off x="7315200" y="5551926"/>
            <a:ext cx="1005840" cy="283464"/>
          </a:xfrm>
          <a:prstGeom prst="roundRect">
            <a:avLst>
              <a:gd name="adj" fmla="val 3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2" name="t"/>
          <p:cNvSpPr/>
          <p:nvPr/>
        </p:nvSpPr>
        <p:spPr>
          <a:xfrm>
            <a:off x="7315200" y="5551926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±0</a:t>
            </a:r>
          </a:p>
        </p:txBody>
      </p:sp>
      <p:sp>
        <p:nvSpPr>
          <p:cNvPr id="193" name="r"/>
          <p:cNvSpPr/>
          <p:nvPr/>
        </p:nvSpPr>
        <p:spPr>
          <a:xfrm>
            <a:off x="822960" y="5901683"/>
            <a:ext cx="8503920" cy="6096"/>
          </a:xfrm>
          <a:prstGeom prst="rect">
            <a:avLst/>
          </a:prstGeom>
          <a:solidFill>
            <a:srgbClr val="ECEF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4" name="t"/>
          <p:cNvSpPr/>
          <p:nvPr/>
        </p:nvSpPr>
        <p:spPr>
          <a:xfrm>
            <a:off x="822960" y="5901684"/>
            <a:ext cx="292608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Unit price amount</a:t>
            </a:r>
          </a:p>
        </p:txBody>
      </p:sp>
      <p:sp>
        <p:nvSpPr>
          <p:cNvPr id="195" name="r"/>
          <p:cNvSpPr/>
          <p:nvPr/>
        </p:nvSpPr>
        <p:spPr>
          <a:xfrm>
            <a:off x="3886200" y="6004554"/>
            <a:ext cx="1645920" cy="13716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6" name="r"/>
          <p:cNvSpPr/>
          <p:nvPr/>
        </p:nvSpPr>
        <p:spPr>
          <a:xfrm>
            <a:off x="3886200" y="6004554"/>
            <a:ext cx="68580" cy="137160"/>
          </a:xfrm>
          <a:prstGeom prst="roundRect">
            <a:avLst>
              <a:gd name="adj" fmla="val 50000"/>
            </a:avLst>
          </a:prstGeom>
          <a:solidFill>
            <a:srgbClr val="C2CAD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7" name="r"/>
          <p:cNvSpPr/>
          <p:nvPr/>
        </p:nvSpPr>
        <p:spPr>
          <a:xfrm>
            <a:off x="3886200" y="6004554"/>
            <a:ext cx="68580" cy="137160"/>
          </a:xfrm>
          <a:prstGeom prst="roundRect">
            <a:avLst>
              <a:gd name="adj" fmla="val 50000"/>
            </a:avLst>
          </a:prstGeom>
          <a:solidFill>
            <a:srgbClr val="C2CAD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8" name="t"/>
          <p:cNvSpPr/>
          <p:nvPr/>
        </p:nvSpPr>
        <p:spPr>
          <a:xfrm>
            <a:off x="5669280" y="5901684"/>
            <a:ext cx="50292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3</a:t>
            </a:r>
          </a:p>
        </p:txBody>
      </p:sp>
      <p:sp>
        <p:nvSpPr>
          <p:cNvPr id="199" name="t"/>
          <p:cNvSpPr/>
          <p:nvPr/>
        </p:nvSpPr>
        <p:spPr>
          <a:xfrm>
            <a:off x="6217920" y="5901684"/>
            <a:ext cx="32004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→</a:t>
            </a:r>
          </a:p>
        </p:txBody>
      </p:sp>
      <p:sp>
        <p:nvSpPr>
          <p:cNvPr id="200" name="t"/>
          <p:cNvSpPr/>
          <p:nvPr/>
        </p:nvSpPr>
        <p:spPr>
          <a:xfrm>
            <a:off x="6583680" y="5901684"/>
            <a:ext cx="50292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3</a:t>
            </a:r>
          </a:p>
        </p:txBody>
      </p:sp>
      <p:sp>
        <p:nvSpPr>
          <p:cNvPr id="201" name="r"/>
          <p:cNvSpPr/>
          <p:nvPr/>
        </p:nvSpPr>
        <p:spPr>
          <a:xfrm>
            <a:off x="7315200" y="5931402"/>
            <a:ext cx="1005840" cy="283464"/>
          </a:xfrm>
          <a:prstGeom prst="roundRect">
            <a:avLst>
              <a:gd name="adj" fmla="val 3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2" name="t"/>
          <p:cNvSpPr/>
          <p:nvPr/>
        </p:nvSpPr>
        <p:spPr>
          <a:xfrm>
            <a:off x="7315200" y="5931402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±0</a:t>
            </a:r>
          </a:p>
        </p:txBody>
      </p:sp>
      <p:sp>
        <p:nvSpPr>
          <p:cNvPr id="203" name="r"/>
          <p:cNvSpPr/>
          <p:nvPr/>
        </p:nvSpPr>
        <p:spPr>
          <a:xfrm>
            <a:off x="822960" y="6281159"/>
            <a:ext cx="8503920" cy="6096"/>
          </a:xfrm>
          <a:prstGeom prst="rect">
            <a:avLst/>
          </a:prstGeom>
          <a:solidFill>
            <a:srgbClr val="ECEF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4" name="t"/>
          <p:cNvSpPr/>
          <p:nvPr/>
        </p:nvSpPr>
        <p:spPr>
          <a:xfrm>
            <a:off x="822960" y="6281160"/>
            <a:ext cx="292608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Binary object</a:t>
            </a:r>
          </a:p>
        </p:txBody>
      </p:sp>
      <p:sp>
        <p:nvSpPr>
          <p:cNvPr id="205" name="r"/>
          <p:cNvSpPr/>
          <p:nvPr/>
        </p:nvSpPr>
        <p:spPr>
          <a:xfrm>
            <a:off x="3886200" y="6384030"/>
            <a:ext cx="1645920" cy="13716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6" name="r"/>
          <p:cNvSpPr/>
          <p:nvPr/>
        </p:nvSpPr>
        <p:spPr>
          <a:xfrm>
            <a:off x="3886200" y="6384030"/>
            <a:ext cx="22860" cy="137160"/>
          </a:xfrm>
          <a:prstGeom prst="roundRect">
            <a:avLst>
              <a:gd name="adj" fmla="val 50000"/>
            </a:avLst>
          </a:prstGeom>
          <a:solidFill>
            <a:srgbClr val="C2CAD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7" name="r"/>
          <p:cNvSpPr/>
          <p:nvPr/>
        </p:nvSpPr>
        <p:spPr>
          <a:xfrm>
            <a:off x="3886200" y="6384030"/>
            <a:ext cx="22860" cy="137160"/>
          </a:xfrm>
          <a:prstGeom prst="roundRect">
            <a:avLst>
              <a:gd name="adj" fmla="val 50000"/>
            </a:avLst>
          </a:prstGeom>
          <a:solidFill>
            <a:srgbClr val="C2CAD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8" name="t"/>
          <p:cNvSpPr/>
          <p:nvPr/>
        </p:nvSpPr>
        <p:spPr>
          <a:xfrm>
            <a:off x="5669280" y="6281160"/>
            <a:ext cx="50292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1</a:t>
            </a:r>
          </a:p>
        </p:txBody>
      </p:sp>
      <p:sp>
        <p:nvSpPr>
          <p:cNvPr id="209" name="t"/>
          <p:cNvSpPr/>
          <p:nvPr/>
        </p:nvSpPr>
        <p:spPr>
          <a:xfrm>
            <a:off x="6217920" y="6281160"/>
            <a:ext cx="32004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→</a:t>
            </a:r>
          </a:p>
        </p:txBody>
      </p:sp>
      <p:sp>
        <p:nvSpPr>
          <p:cNvPr id="210" name="t"/>
          <p:cNvSpPr/>
          <p:nvPr/>
        </p:nvSpPr>
        <p:spPr>
          <a:xfrm>
            <a:off x="6583680" y="6281160"/>
            <a:ext cx="50292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1</a:t>
            </a:r>
          </a:p>
        </p:txBody>
      </p:sp>
      <p:sp>
        <p:nvSpPr>
          <p:cNvPr id="211" name="r"/>
          <p:cNvSpPr/>
          <p:nvPr/>
        </p:nvSpPr>
        <p:spPr>
          <a:xfrm>
            <a:off x="7315200" y="6310878"/>
            <a:ext cx="1005840" cy="283464"/>
          </a:xfrm>
          <a:prstGeom prst="roundRect">
            <a:avLst>
              <a:gd name="adj" fmla="val 30000"/>
            </a:avLst>
          </a:prstGeom>
          <a:solidFill>
            <a:srgbClr val="EEF1F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2" name="t"/>
          <p:cNvSpPr/>
          <p:nvPr/>
        </p:nvSpPr>
        <p:spPr>
          <a:xfrm>
            <a:off x="7315200" y="6310878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±0</a:t>
            </a:r>
          </a:p>
        </p:txBody>
      </p:sp>
      <p:sp>
        <p:nvSpPr>
          <p:cNvPr id="213" name="pct 213"/>
          <p:cNvSpPr txBox="1"/>
          <p:nvPr/>
        </p:nvSpPr>
        <p:spPr>
          <a:xfrm>
            <a:off x="8458200" y="20574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dirty="0">
                <a:solidFill>
                  <a:srgbClr val="9AA4C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IN %</a:t>
            </a:r>
          </a:p>
        </p:txBody>
      </p:sp>
      <p:sp>
        <p:nvSpPr>
          <p:cNvPr id="214" name="pct 214"/>
          <p:cNvSpPr txBox="1"/>
          <p:nvPr/>
        </p:nvSpPr>
        <p:spPr>
          <a:xfrm>
            <a:off x="8458200" y="2486400"/>
            <a:ext cx="86868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200" dirty="0">
                <a:solidFill>
                  <a:srgbClr val="0E7E8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+76 %</a:t>
            </a:r>
          </a:p>
        </p:txBody>
      </p:sp>
      <p:sp>
        <p:nvSpPr>
          <p:cNvPr id="215" name="pct 215"/>
          <p:cNvSpPr txBox="1"/>
          <p:nvPr/>
        </p:nvSpPr>
        <p:spPr>
          <a:xfrm>
            <a:off x="8458200" y="2865876"/>
            <a:ext cx="86868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200" dirty="0">
                <a:solidFill>
                  <a:srgbClr val="0E7E8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+120 %</a:t>
            </a:r>
          </a:p>
        </p:txBody>
      </p:sp>
      <p:sp>
        <p:nvSpPr>
          <p:cNvPr id="216" name="pct 216"/>
          <p:cNvSpPr txBox="1"/>
          <p:nvPr/>
        </p:nvSpPr>
        <p:spPr>
          <a:xfrm>
            <a:off x="8458200" y="3245352"/>
            <a:ext cx="86868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200" dirty="0">
                <a:solidFill>
                  <a:srgbClr val="0E7E8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+16 %</a:t>
            </a:r>
          </a:p>
        </p:txBody>
      </p:sp>
      <p:sp>
        <p:nvSpPr>
          <p:cNvPr id="217" name="pct 217"/>
          <p:cNvSpPr txBox="1"/>
          <p:nvPr/>
        </p:nvSpPr>
        <p:spPr>
          <a:xfrm>
            <a:off x="8458200" y="3624828"/>
            <a:ext cx="86868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200" dirty="0">
                <a:solidFill>
                  <a:srgbClr val="0E7E8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+19 %</a:t>
            </a:r>
          </a:p>
        </p:txBody>
      </p:sp>
      <p:sp>
        <p:nvSpPr>
          <p:cNvPr id="218" name="pct 218"/>
          <p:cNvSpPr txBox="1"/>
          <p:nvPr/>
        </p:nvSpPr>
        <p:spPr>
          <a:xfrm>
            <a:off x="8458200" y="4004304"/>
            <a:ext cx="86868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200" dirty="0">
                <a:solidFill>
                  <a:srgbClr val="0E7E8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+44 %</a:t>
            </a:r>
          </a:p>
        </p:txBody>
      </p:sp>
      <p:sp>
        <p:nvSpPr>
          <p:cNvPr id="219" name="pct 219"/>
          <p:cNvSpPr txBox="1"/>
          <p:nvPr/>
        </p:nvSpPr>
        <p:spPr>
          <a:xfrm>
            <a:off x="8458200" y="4383780"/>
            <a:ext cx="86868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200" dirty="0">
                <a:solidFill>
                  <a:srgbClr val="0E7E8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+11 %</a:t>
            </a:r>
          </a:p>
        </p:txBody>
      </p:sp>
      <p:sp>
        <p:nvSpPr>
          <p:cNvPr id="220" name="pct 220"/>
          <p:cNvSpPr txBox="1"/>
          <p:nvPr/>
        </p:nvSpPr>
        <p:spPr>
          <a:xfrm>
            <a:off x="8458200" y="4763256"/>
            <a:ext cx="86868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200" dirty="0">
                <a:solidFill>
                  <a:srgbClr val="0E7E8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+25 %</a:t>
            </a:r>
          </a:p>
        </p:txBody>
      </p:sp>
      <p:sp>
        <p:nvSpPr>
          <p:cNvPr id="221" name="pct 221"/>
          <p:cNvSpPr txBox="1"/>
          <p:nvPr/>
        </p:nvSpPr>
        <p:spPr>
          <a:xfrm>
            <a:off x="8458200" y="5142732"/>
            <a:ext cx="86868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neu</a:t>
            </a:r>
          </a:p>
        </p:txBody>
      </p:sp>
      <p:sp>
        <p:nvSpPr>
          <p:cNvPr id="222" name="pct 222"/>
          <p:cNvSpPr txBox="1"/>
          <p:nvPr/>
        </p:nvSpPr>
        <p:spPr>
          <a:xfrm>
            <a:off x="8458200" y="5522208"/>
            <a:ext cx="86868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±0 %</a:t>
            </a:r>
          </a:p>
        </p:txBody>
      </p:sp>
      <p:sp>
        <p:nvSpPr>
          <p:cNvPr id="223" name="pct 223"/>
          <p:cNvSpPr txBox="1"/>
          <p:nvPr/>
        </p:nvSpPr>
        <p:spPr>
          <a:xfrm>
            <a:off x="8458200" y="5901684"/>
            <a:ext cx="86868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±0 %</a:t>
            </a:r>
          </a:p>
        </p:txBody>
      </p:sp>
      <p:sp>
        <p:nvSpPr>
          <p:cNvPr id="224" name="pct 224"/>
          <p:cNvSpPr txBox="1"/>
          <p:nvPr/>
        </p:nvSpPr>
        <p:spPr>
          <a:xfrm>
            <a:off x="8458200" y="6281160"/>
            <a:ext cx="868680" cy="33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±0 %</a:t>
            </a:r>
          </a:p>
        </p:txBody>
      </p:sp>
      <p:sp>
        <p:nvSpPr>
          <p:cNvPr id="225" name="Speaker 225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SYNTAX · HINTERGRUND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Eine Semantik, drei Syntaxen</a:t>
            </a:r>
          </a:p>
        </p:txBody>
      </p:sp>
      <p:sp>
        <p:nvSpPr>
          <p:cNvPr id="6" name="Tagline 6"/>
          <p:cNvSpPr txBox="1"/>
          <p:nvPr/>
        </p:nvSpPr>
        <p:spPr>
          <a:xfrm>
            <a:off x="822960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EDIFACT und CII stammen aus der UN-Familie, UBL aus OASIS — die Core Components verbinden die beiden XML-Syntaxen.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564BBEF1-7309-4525-B04F-AEA29AE68CFE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7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53481"/>
              </p:ext>
            </p:extLst>
          </p:nvPr>
        </p:nvGraphicFramePr>
        <p:xfrm>
          <a:off x="822960" y="2377440"/>
          <a:ext cx="10543032" cy="3840480"/>
        </p:xfrm>
        <a:graphic>
          <a:graphicData uri="http://schemas.openxmlformats.org/drawingml/2006/table">
            <a:tbl>
              <a:tblPr firstRow="1" bandRow="1"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/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UN/EDIFACT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OASIS UBL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UN/CEFACT CII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1987 – 1988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Syntaxregeln von UN/ECE WP.4 beschlossen; ISO 9735 (1988)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1990er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INVOIC unter den ersten UN-Standardnachrichten; UN/CEFACT folgt auf WP.4 (1996/97)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1998 – 2002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Syntaxversion 4 (ISO 9735:1998): UTF-8 über UNOW möglich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UBL-TC bei OASIS gegründet (2001), auf Basis von ebXML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ebXML Core Components (UN/CEFACT + OASIS, 1999 – 2001)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2004 – 2009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UBL 1.0 (2004), UBL 2.0 (2006)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CII v1 auf Basis der UN/CEFACT Core Component Library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2013 – 2016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INVOIC D16B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UBL 2.1 (2013) → ISO/IEC 19845:2015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CII D16B (2016)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2017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CEN/TS 16931-3-4 (</a:t>
                      </a:r>
                      <a:r>
                        <a:rPr lang="de-DE" sz="1100" b="1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INVOIC D.16B</a:t>
                      </a: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CEN/TS 16931-3-2 (</a:t>
                      </a:r>
                      <a:r>
                        <a:rPr lang="de-DE" sz="1100" b="1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UBL 2.1</a:t>
                      </a: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CEN/TS 16931-3-3 (</a:t>
                      </a:r>
                      <a:r>
                        <a:rPr lang="de-DE" sz="1100" b="1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CII D.16B</a:t>
                      </a: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CEN/TS 16931-3-4 (</a:t>
                      </a:r>
                      <a:r>
                        <a:rPr lang="de-DE" sz="1100" b="1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INVOIC D.24A</a:t>
                      </a: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CEN/TS 16931-3-2 (</a:t>
                      </a:r>
                      <a:r>
                        <a:rPr lang="de-DE" sz="1100" b="1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UBL 2.5</a:t>
                      </a: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CEN/TS 16931-3-3 (</a:t>
                      </a:r>
                      <a:r>
                        <a:rPr lang="de-DE" sz="1100" b="1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CII D.25A</a:t>
                      </a: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759661"/>
                  </a:ext>
                </a:extLst>
              </a:tr>
              <a:tr h="411480">
                <a:tc grid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b="0" dirty="0">
                          <a:solidFill>
                            <a:srgbClr val="0E7E82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EN 16931-1:2017 + </a:t>
                      </a:r>
                      <a:r>
                        <a:rPr lang="de-DE" sz="1100" b="1" dirty="0">
                          <a:solidFill>
                            <a:srgbClr val="0E7E82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Durchführungsbeschluss (EU) 2017/1870</a:t>
                      </a:r>
                      <a:r>
                        <a:rPr lang="de-DE" sz="1100" b="0" dirty="0">
                          <a:solidFill>
                            <a:srgbClr val="0E7E82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: nur </a:t>
                      </a:r>
                      <a:r>
                        <a:rPr lang="de-DE" sz="1100" b="1" dirty="0">
                          <a:solidFill>
                            <a:srgbClr val="0E7E82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UBL 2.1 </a:t>
                      </a:r>
                      <a:r>
                        <a:rPr lang="de-DE" sz="1100" b="0" dirty="0">
                          <a:solidFill>
                            <a:srgbClr val="0E7E82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und </a:t>
                      </a:r>
                      <a:r>
                        <a:rPr lang="de-DE" sz="1100" b="1">
                          <a:solidFill>
                            <a:srgbClr val="0E7E82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CII D.16B </a:t>
                      </a:r>
                      <a:r>
                        <a:rPr lang="de-DE" sz="1100" b="0" dirty="0">
                          <a:solidFill>
                            <a:srgbClr val="0E7E82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stehen auf der Liste der </a:t>
                      </a:r>
                      <a:r>
                        <a:rPr lang="de-DE" sz="1100" b="0" dirty="0" err="1">
                          <a:solidFill>
                            <a:srgbClr val="0E7E82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Syntaxen</a:t>
                      </a:r>
                      <a:endParaRPr lang="de-DE" sz="1100" b="0" dirty="0">
                        <a:solidFill>
                          <a:srgbClr val="0E7E82"/>
                        </a:solidFill>
                        <a:latin typeface="Inter SemiBold Text SemiBold" pitchFamily="34" charset="0"/>
                        <a:ea typeface="Inter SemiBold Text SemiBold" pitchFamily="34" charset="-122"/>
                        <a:cs typeface="Inter SemiBold Text SemiBold" pitchFamily="34" charset="-120"/>
                      </a:endParaRP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7F8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peaker 9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Foli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SYNTAX · VERGLEICH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UBL &amp; CII vs. EDIFACT</a:t>
            </a:r>
          </a:p>
        </p:txBody>
      </p:sp>
      <p:sp>
        <p:nvSpPr>
          <p:cNvPr id="6" name="Tagline 6"/>
          <p:cNvSpPr txBox="1"/>
          <p:nvPr/>
        </p:nvSpPr>
        <p:spPr>
          <a:xfrm>
            <a:off x="822960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Warum EDIFACT eine bilaterale Vereinbarung braucht.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6E8EE8EC-098C-4E69-9B14-761A4432366A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8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822960" y="2377440"/>
          <a:ext cx="10543032" cy="3538728"/>
        </p:xfrm>
        <a:graphic>
          <a:graphicData uri="http://schemas.openxmlformats.org/drawingml/2006/table">
            <a:tbl>
              <a:tblPr firstRow="1" bandRow="1"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3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/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UBL &amp; CII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UN/EDIFACT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Normungsorganisation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OASIS (UBL, auch ISO/IEC 19845) · UN/CEFACT (CII)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UN/CEFACT (Syntax: ISO 9735)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Technik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XML: benannte Elemente, XSD + CEN-Schematron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Segmente mit Trennzeichen; Bedeutung über Qualifier (NAD+SU, DTM+137)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Zeichensatz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Unicode (UTF-8)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UNOA/UNOB (ISO 646), UNOC (Latin-1) …; UTF-8 (UNOW) nur mit Syntaxversion 4, selten genutzt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Feldlängen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Weitgehend unbegrenzt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Feste Maxima, z. B. an..35 für Namen → Risiko des Abschneidens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CEN-Binding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CEN/TS 16931-3-2 (UBL 2.1), -3-3 (CII D16B)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CEN/TS 16931-3-4 (INVOIC D16B)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Akzeptanz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Pflicht für öffentliche Auftraggeber (Richtlinie 2014/55/EU)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Nicht auf der Liste der Syntaxen → bilaterale Vereinbarung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Beispiel Deutschland (B2B)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§ 14 Abs. 1 S. 6 Nr. 1 UStG: keine Zustimmung nötig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Nr. 2: vereinbartes Format mit verlustfreier Extraktion nach EN 16931; formfrei: Rahmenvertrag, AGB oder gelebte Praxis (BMF 15.10.2024, Rn. 33, 63). Sonstiges EDI bis Ende 2027 (Rn. 65)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peaker 9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SYNTAX · VERSIONEN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UBL 2.5 und CII D25A</a:t>
            </a:r>
          </a:p>
        </p:txBody>
      </p:sp>
      <p:sp>
        <p:nvSpPr>
          <p:cNvPr id="6" name="Tagline 6"/>
          <p:cNvSpPr txBox="1"/>
          <p:nvPr/>
        </p:nvSpPr>
        <p:spPr>
          <a:xfrm>
            <a:off x="822960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Von UBL 2.1 (2013) und CII D16B (2016) zu den Fassungen von 2026.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0E5C9EFC-4290-4EE0-A8A6-0F01AC0D44C6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9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Card 8"/>
          <p:cNvSpPr/>
          <p:nvPr/>
        </p:nvSpPr>
        <p:spPr>
          <a:xfrm>
            <a:off x="822960" y="2331720"/>
            <a:ext cx="5175504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9"/>
          <p:cNvSpPr txBox="1"/>
          <p:nvPr/>
        </p:nvSpPr>
        <p:spPr>
          <a:xfrm>
            <a:off x="1097280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2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OASIS UBL</a:t>
            </a:r>
          </a:p>
        </p:txBody>
      </p:sp>
      <p:sp>
        <p:nvSpPr>
          <p:cNvPr id="10" name="Pill 10"/>
          <p:cNvSpPr/>
          <p:nvPr/>
        </p:nvSpPr>
        <p:spPr>
          <a:xfrm>
            <a:off x="1097280" y="283464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 w="9525">
            <a:solidFill>
              <a:srgbClr val="E2E7F2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UBL 2.1</a:t>
            </a:r>
          </a:p>
        </p:txBody>
      </p:sp>
      <p:cxnSp>
        <p:nvCxnSpPr>
          <p:cNvPr id="11" name="Connector 11"/>
          <p:cNvCxnSpPr/>
          <p:nvPr/>
        </p:nvCxnSpPr>
        <p:spPr>
          <a:xfrm>
            <a:off x="2514600" y="3008376"/>
            <a:ext cx="457200" cy="0"/>
          </a:xfrm>
          <a:prstGeom prst="line">
            <a:avLst/>
          </a:prstGeom>
          <a:ln w="19050">
            <a:solidFill>
              <a:srgbClr val="9AA4C2"/>
            </a:solidFill>
            <a:tailEnd type="triangle" w="med" len="med"/>
          </a:ln>
        </p:spPr>
      </p:cxnSp>
      <p:sp>
        <p:nvSpPr>
          <p:cNvPr id="12" name="Pill 12"/>
          <p:cNvSpPr/>
          <p:nvPr/>
        </p:nvSpPr>
        <p:spPr>
          <a:xfrm>
            <a:off x="3063240" y="283464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1A2B5E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UBL 2.5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480560" y="27614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9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232 → 304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3840480" y="3218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9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Einträge im Mapping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097280" y="356616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4592" indent="-164592" algn="l">
              <a:spcAft>
                <a:spcPts val="300"/>
              </a:spcAft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OASIS Standard seit 12. August 2026</a:t>
            </a:r>
          </a:p>
          <a:p>
            <a:pPr marL="164592" indent="-164592" algn="l">
              <a:spcAft>
                <a:spcPts val="300"/>
              </a:spcAft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Buyer Reference bekommt eine eigene Struktur und darf sich wiederholen</a:t>
            </a:r>
          </a:p>
          <a:p>
            <a:pPr marL="164592" indent="-164592" algn="l">
              <a:spcAft>
                <a:spcPts val="300"/>
              </a:spcAft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Rechnungsnotizen ziehen in eine eigene Annotation-Struktur</a:t>
            </a:r>
          </a:p>
          <a:p>
            <a:pPr marL="164592" indent="-164592" algn="l">
              <a:spcAft>
                <a:spcPts val="300"/>
              </a:spcAft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7 Pfade und 24 Kardinalitäten geändert</a:t>
            </a:r>
          </a:p>
        </p:txBody>
      </p:sp>
      <p:sp>
        <p:nvSpPr>
          <p:cNvPr id="16" name="Shape 16"/>
          <p:cNvSpPr/>
          <p:nvPr/>
        </p:nvSpPr>
        <p:spPr>
          <a:xfrm>
            <a:off x="1097280" y="5001768"/>
            <a:ext cx="4626864" cy="640080"/>
          </a:xfrm>
          <a:prstGeom prst="roundRect">
            <a:avLst>
              <a:gd name="adj" fmla="val 8571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 wrap="square" lIns="73152" tIns="73152" rIns="73152" bIns="73152" rtlCol="0" anchor="ctr"/>
          <a:lstStyle/>
          <a:p>
            <a:pPr marL="0" indent="0" algn="l">
              <a:buNone/>
            </a:pPr>
            <a:r>
              <a:rPr lang="de-DE" sz="950" dirty="0">
                <a:solidFill>
                  <a:srgbClr val="1A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BT-10:  cbc:BuyerReference →</a:t>
            </a:r>
          </a:p>
          <a:p>
            <a:pPr marL="0" indent="0" algn="l">
              <a:buNone/>
            </a:pPr>
            <a:r>
              <a:rPr lang="de-DE" sz="950" dirty="0">
                <a:solidFill>
                  <a:srgbClr val="1A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cac:BuyerAssignedReference/cbc:BuyerReference</a:t>
            </a:r>
          </a:p>
        </p:txBody>
      </p:sp>
      <p:sp>
        <p:nvSpPr>
          <p:cNvPr id="17" name="Card 17"/>
          <p:cNvSpPr/>
          <p:nvPr/>
        </p:nvSpPr>
        <p:spPr>
          <a:xfrm>
            <a:off x="6190488" y="2331720"/>
            <a:ext cx="5175504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Text 18"/>
          <p:cNvSpPr txBox="1"/>
          <p:nvPr/>
        </p:nvSpPr>
        <p:spPr>
          <a:xfrm>
            <a:off x="6464808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2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UN/CEFACT CII</a:t>
            </a:r>
          </a:p>
        </p:txBody>
      </p:sp>
      <p:sp>
        <p:nvSpPr>
          <p:cNvPr id="19" name="Pill 19"/>
          <p:cNvSpPr/>
          <p:nvPr/>
        </p:nvSpPr>
        <p:spPr>
          <a:xfrm>
            <a:off x="6464808" y="283464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 w="9525">
            <a:solidFill>
              <a:srgbClr val="E2E7F2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CII D16B</a:t>
            </a:r>
          </a:p>
        </p:txBody>
      </p:sp>
      <p:cxnSp>
        <p:nvCxnSpPr>
          <p:cNvPr id="20" name="Connector 20"/>
          <p:cNvCxnSpPr/>
          <p:nvPr/>
        </p:nvCxnSpPr>
        <p:spPr>
          <a:xfrm>
            <a:off x="7882128" y="3008376"/>
            <a:ext cx="457200" cy="0"/>
          </a:xfrm>
          <a:prstGeom prst="line">
            <a:avLst/>
          </a:prstGeom>
          <a:ln w="19050">
            <a:solidFill>
              <a:srgbClr val="9AA4C2"/>
            </a:solidFill>
            <a:tailEnd type="triangle" w="med" len="med"/>
          </a:ln>
        </p:spPr>
      </p:cxnSp>
      <p:sp>
        <p:nvSpPr>
          <p:cNvPr id="21" name="Pill 21"/>
          <p:cNvSpPr/>
          <p:nvPr/>
        </p:nvSpPr>
        <p:spPr>
          <a:xfrm>
            <a:off x="8430768" y="283464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1A2B5E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CII D25A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9848088" y="27614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9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241 → 312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9208008" y="3218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9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Einträge im Mapping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6464808" y="356616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4592" indent="-164592" algn="l">
              <a:spcAft>
                <a:spcPts val="300"/>
              </a:spcAft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Von UN/CEFACT im Juni 2026 veröffentlicht</a:t>
            </a:r>
          </a:p>
          <a:p>
            <a:pPr marL="164592" indent="-164592" algn="l">
              <a:spcAft>
                <a:spcPts val="300"/>
              </a:spcAft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Buyer Reference zieht in ein neues Element und darf sich wiederholen</a:t>
            </a:r>
          </a:p>
          <a:p>
            <a:pPr marL="164592" indent="-164592" algn="l">
              <a:spcAft>
                <a:spcPts val="300"/>
              </a:spcAft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USt-Kategorie zeigt auf den variierenden Code (Normalsatz, Reverse Charge, befreit …)</a:t>
            </a:r>
          </a:p>
          <a:p>
            <a:pPr marL="164592" indent="-164592" algn="l">
              <a:spcAft>
                <a:spcPts val="300"/>
              </a:spcAft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21 Pfade und 28 Kardinalitäten geändert</a:t>
            </a:r>
          </a:p>
        </p:txBody>
      </p:sp>
      <p:sp>
        <p:nvSpPr>
          <p:cNvPr id="25" name="Shape 25"/>
          <p:cNvSpPr/>
          <p:nvPr/>
        </p:nvSpPr>
        <p:spPr>
          <a:xfrm>
            <a:off x="6464808" y="5001768"/>
            <a:ext cx="4626864" cy="640080"/>
          </a:xfrm>
          <a:prstGeom prst="roundRect">
            <a:avLst>
              <a:gd name="adj" fmla="val 8571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 wrap="square" lIns="73152" tIns="73152" rIns="73152" bIns="73152" rtlCol="0" anchor="ctr"/>
          <a:lstStyle/>
          <a:p>
            <a:pPr marL="0" indent="0" algn="l">
              <a:buNone/>
            </a:pPr>
            <a:r>
              <a:rPr lang="de-DE" sz="950" dirty="0">
                <a:solidFill>
                  <a:srgbClr val="1A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BT-10:  ram:BuyerReference → ram:BuyerReferenceID</a:t>
            </a:r>
          </a:p>
          <a:p>
            <a:pPr marL="0" indent="0" algn="l">
              <a:buNone/>
            </a:pPr>
            <a:r>
              <a:rPr lang="de-DE" sz="950" dirty="0">
                <a:solidFill>
                  <a:srgbClr val="1A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BT-95/102/118/151:  ram:TypeCode → ram:CategoryCode</a:t>
            </a:r>
          </a:p>
        </p:txBody>
      </p:sp>
      <p:sp>
        <p:nvSpPr>
          <p:cNvPr id="26" name="Pill 26"/>
          <p:cNvSpPr/>
          <p:nvPr/>
        </p:nvSpPr>
        <p:spPr>
          <a:xfrm>
            <a:off x="822960" y="5943600"/>
            <a:ext cx="10543032" cy="411480"/>
          </a:xfrm>
          <a:prstGeom prst="roundRect">
            <a:avLst>
              <a:gd name="adj" fmla="val 50000"/>
            </a:avLst>
          </a:prstGeom>
          <a:solidFill>
            <a:srgbClr val="E7F8F8"/>
          </a:solidFill>
          <a:ln w="9525">
            <a:solidFill>
              <a:srgbClr val="B5E9EA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250" dirty="0">
                <a:solidFill>
                  <a:srgbClr val="0E7E8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In beiden Syntaxen: 26 bekannte Fehler der 2017er Mapping-Tabellen behoben</a:t>
            </a:r>
          </a:p>
        </p:txBody>
      </p:sp>
      <p:sp>
        <p:nvSpPr>
          <p:cNvPr id="27" name="Speaker 27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SYNTAX · ÜBERBLICK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Das Gesamtbild in einem Satz</a:t>
            </a:r>
          </a:p>
        </p:txBody>
      </p:sp>
      <p:sp>
        <p:nvSpPr>
          <p:cNvPr id="6" name="PageNum 6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0B272998-D76C-4AB1-AFA7-7700ACF94358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10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7" name="Panel 7"/>
          <p:cNvSpPr/>
          <p:nvPr/>
        </p:nvSpPr>
        <p:spPr>
          <a:xfrm>
            <a:off x="822960" y="2103120"/>
            <a:ext cx="10543032" cy="1097280"/>
          </a:xfrm>
          <a:prstGeom prst="roundRect">
            <a:avLst>
              <a:gd name="adj" fmla="val 8333"/>
            </a:avLst>
          </a:prstGeom>
          <a:solidFill>
            <a:srgbClr val="1A2B5E"/>
          </a:solidFill>
          <a:ln>
            <a:noFill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8"/>
          <p:cNvSpPr txBox="1"/>
          <p:nvPr/>
        </p:nvSpPr>
        <p:spPr>
          <a:xfrm>
            <a:off x="1188720" y="210312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2800" dirty="0">
                <a:solidFill>
                  <a:srgbClr val="CBD8F7"/>
                </a:solidFill>
                <a:latin typeface="Inter Light Text Light" pitchFamily="34" charset="0"/>
                <a:ea typeface="Inter Light Text Light" pitchFamily="34" charset="-122"/>
                <a:cs typeface="Inter Light Text Light" pitchFamily="34" charset="-120"/>
              </a:rPr>
              <a:t>Die Rechnung 2026 kann </a:t>
            </a:r>
            <a:r>
              <a:rPr lang="de-DE" sz="2800" b="1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mehr sagen</a:t>
            </a:r>
            <a:r>
              <a:rPr lang="de-DE" sz="2800" dirty="0">
                <a:solidFill>
                  <a:srgbClr val="CBD8F7"/>
                </a:solidFill>
                <a:latin typeface="Inter Light Text Light" pitchFamily="34" charset="0"/>
                <a:ea typeface="Inter Light Text Light" pitchFamily="34" charset="-122"/>
                <a:cs typeface="Inter Light Text Light" pitchFamily="34" charset="-120"/>
              </a:rPr>
              <a:t> — und sagt es </a:t>
            </a:r>
            <a:r>
              <a:rPr lang="de-DE" sz="2800" b="1" dirty="0">
                <a:solidFill>
                  <a:srgbClr val="58D6B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klarer</a:t>
            </a:r>
            <a:r>
              <a:rPr lang="de-DE" sz="2800" dirty="0">
                <a:solidFill>
                  <a:srgbClr val="CBD8F7"/>
                </a:solidFill>
                <a:latin typeface="Inter Light Text Light" pitchFamily="34" charset="0"/>
                <a:ea typeface="Inter Light Text Light" pitchFamily="34" charset="-122"/>
                <a:cs typeface="Inter Light Text Light" pitchFamily="34" charset="-120"/>
              </a:rPr>
              <a:t>.</a:t>
            </a:r>
          </a:p>
        </p:txBody>
      </p:sp>
      <p:sp>
        <p:nvSpPr>
          <p:cNvPr id="9" name="Card 9"/>
          <p:cNvSpPr/>
          <p:nvPr/>
        </p:nvSpPr>
        <p:spPr>
          <a:xfrm>
            <a:off x="822960" y="342900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10"/>
          <p:cNvSpPr txBox="1"/>
          <p:nvPr/>
        </p:nvSpPr>
        <p:spPr>
          <a:xfrm>
            <a:off x="1051560" y="36118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4400" b="1" dirty="0">
                <a:solidFill>
                  <a:srgbClr val="19C3C8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+30 %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051560" y="4526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mehr Inhalt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051560" y="4892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CII-Mapping 241 → 312 Einträge, UBL 232 → 304</a:t>
            </a:r>
          </a:p>
        </p:txBody>
      </p:sp>
      <p:sp>
        <p:nvSpPr>
          <p:cNvPr id="13" name="Card 13"/>
          <p:cNvSpPr/>
          <p:nvPr/>
        </p:nvSpPr>
        <p:spPr>
          <a:xfrm>
            <a:off x="3502152" y="342900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4"/>
          <p:cNvSpPr txBox="1"/>
          <p:nvPr/>
        </p:nvSpPr>
        <p:spPr>
          <a:xfrm>
            <a:off x="3730752" y="36118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44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7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3730752" y="4526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neue Informationsgruppen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3730752" y="4892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BG-33 … BG-39</a:t>
            </a:r>
          </a:p>
        </p:txBody>
      </p:sp>
      <p:sp>
        <p:nvSpPr>
          <p:cNvPr id="17" name="Card 17"/>
          <p:cNvSpPr/>
          <p:nvPr/>
        </p:nvSpPr>
        <p:spPr>
          <a:xfrm>
            <a:off x="6181344" y="342900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Text 18"/>
          <p:cNvSpPr txBox="1"/>
          <p:nvPr/>
        </p:nvSpPr>
        <p:spPr>
          <a:xfrm>
            <a:off x="6409944" y="36118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44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52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409944" y="4526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neue Business Terms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6409944" y="4892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Datenfelder 164 → 216</a:t>
            </a:r>
          </a:p>
        </p:txBody>
      </p:sp>
      <p:sp>
        <p:nvSpPr>
          <p:cNvPr id="21" name="Card 21"/>
          <p:cNvSpPr/>
          <p:nvPr/>
        </p:nvSpPr>
        <p:spPr>
          <a:xfrm>
            <a:off x="8860536" y="342900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22"/>
          <p:cNvSpPr txBox="1"/>
          <p:nvPr/>
        </p:nvSpPr>
        <p:spPr>
          <a:xfrm>
            <a:off x="9089136" y="36118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44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26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9089136" y="4526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Fehler behoben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9089136" y="4892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bekannte Fehler der 2017er Tabellen, je Format</a:t>
            </a:r>
          </a:p>
        </p:txBody>
      </p:sp>
      <p:sp>
        <p:nvSpPr>
          <p:cNvPr id="25" name="Pill 25"/>
          <p:cNvSpPr/>
          <p:nvPr/>
        </p:nvSpPr>
        <p:spPr>
          <a:xfrm>
            <a:off x="822960" y="5852160"/>
            <a:ext cx="10543032" cy="457200"/>
          </a:xfrm>
          <a:prstGeom prst="roundRect">
            <a:avLst>
              <a:gd name="adj" fmla="val 50000"/>
            </a:avLst>
          </a:prstGeom>
          <a:solidFill>
            <a:srgbClr val="E7F8F8"/>
          </a:solidFill>
          <a:ln w="9525">
            <a:solidFill>
              <a:srgbClr val="B5E9EA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250" dirty="0">
                <a:solidFill>
                  <a:srgbClr val="0E7E8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Beide XML-Formate auf aktuellen Versionen:  </a:t>
            </a:r>
            <a:r>
              <a:rPr lang="de-DE" sz="12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CII D16B → D25A  und  UBL 2.1 → 2.5</a:t>
            </a:r>
          </a:p>
        </p:txBody>
      </p:sp>
      <p:sp>
        <p:nvSpPr>
          <p:cNvPr id="26" name="Speaker 26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FORMATE · EUROPA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E-Rechnungsformate in der EU</a:t>
            </a:r>
          </a:p>
        </p:txBody>
      </p:sp>
      <p:sp>
        <p:nvSpPr>
          <p:cNvPr id="6" name="PageNum 6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232B8545-D97B-4B6A-BB6D-B84F7209C1BF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11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7" name="Card 7"/>
          <p:cNvSpPr/>
          <p:nvPr/>
        </p:nvSpPr>
        <p:spPr>
          <a:xfrm>
            <a:off x="822960" y="2103120"/>
            <a:ext cx="51755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8" name="Flag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249424"/>
            <a:ext cx="384048" cy="256032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1508760" y="216712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AT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965960" y="2167128"/>
            <a:ext cx="39319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  <a:hlinkClick r:id="rId4"/>
              </a:rPr>
              <a:t>ebInterface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965960" y="2487168"/>
            <a:ext cx="39319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B42318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Nationales XML</a:t>
            </a: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</a:t>
            </a:r>
            <a:r>
              <a:rPr lang="de-DE" sz="1150" u="sng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  <a:hlinkClick r:id="rId5"/>
              </a:rPr>
              <a:t>2014 Bund B2G</a:t>
            </a:r>
          </a:p>
        </p:txBody>
      </p:sp>
      <p:sp>
        <p:nvSpPr>
          <p:cNvPr id="12" name="Card 12"/>
          <p:cNvSpPr/>
          <p:nvPr/>
        </p:nvSpPr>
        <p:spPr>
          <a:xfrm>
            <a:off x="822960" y="2862072"/>
            <a:ext cx="51755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3" name="Flag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3008376"/>
            <a:ext cx="384048" cy="256032"/>
          </a:xfrm>
          <a:prstGeom prst="rect">
            <a:avLst/>
          </a:prstGeom>
        </p:spPr>
      </p:pic>
      <p:sp>
        <p:nvSpPr>
          <p:cNvPr id="14" name="Text 14"/>
          <p:cNvSpPr txBox="1"/>
          <p:nvPr/>
        </p:nvSpPr>
        <p:spPr>
          <a:xfrm>
            <a:off x="1508760" y="292608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EE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965960" y="2926080"/>
            <a:ext cx="39319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  <a:hlinkClick r:id="rId7"/>
              </a:rPr>
              <a:t>EVS 923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965960" y="3246120"/>
            <a:ext cx="39319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B42318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Nationales XML</a:t>
            </a: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</a:t>
            </a:r>
            <a:r>
              <a:rPr lang="de-DE" sz="1150" u="sng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  <a:hlinkClick r:id="rId8"/>
              </a:rPr>
              <a:t>2019 B2G</a:t>
            </a:r>
          </a:p>
        </p:txBody>
      </p:sp>
      <p:sp>
        <p:nvSpPr>
          <p:cNvPr id="17" name="Card 17"/>
          <p:cNvSpPr/>
          <p:nvPr/>
        </p:nvSpPr>
        <p:spPr>
          <a:xfrm>
            <a:off x="822960" y="3621024"/>
            <a:ext cx="51755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8" name="Flag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128" y="3767328"/>
            <a:ext cx="384048" cy="256032"/>
          </a:xfrm>
          <a:prstGeom prst="rect">
            <a:avLst/>
          </a:prstGeom>
        </p:spPr>
      </p:pic>
      <p:sp>
        <p:nvSpPr>
          <p:cNvPr id="19" name="Text 19"/>
          <p:cNvSpPr txBox="1"/>
          <p:nvPr/>
        </p:nvSpPr>
        <p:spPr>
          <a:xfrm>
            <a:off x="1508760" y="368503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ES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965960" y="3685032"/>
            <a:ext cx="39319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  <a:hlinkClick r:id="rId10"/>
              </a:rPr>
              <a:t>Facturae</a:t>
            </a:r>
            <a:r>
              <a:rPr lang="de-DE" sz="14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oder </a:t>
            </a: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  <a:hlinkClick r:id="rId11"/>
              </a:rPr>
              <a:t>UN/EDIFACT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965960" y="4005072"/>
            <a:ext cx="39319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B42318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Nationales XML oder EDIFACT</a:t>
            </a: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</a:t>
            </a:r>
            <a:r>
              <a:rPr lang="de-DE" sz="1150" u="sng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  <a:hlinkClick r:id="rId12"/>
              </a:rPr>
              <a:t>2015 B2G</a:t>
            </a:r>
          </a:p>
        </p:txBody>
      </p:sp>
      <p:sp>
        <p:nvSpPr>
          <p:cNvPr id="22" name="Card 22"/>
          <p:cNvSpPr/>
          <p:nvPr/>
        </p:nvSpPr>
        <p:spPr>
          <a:xfrm>
            <a:off x="822960" y="4379976"/>
            <a:ext cx="51755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3" name="Flag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4128" y="4526280"/>
            <a:ext cx="384048" cy="256032"/>
          </a:xfrm>
          <a:prstGeom prst="rect">
            <a:avLst/>
          </a:prstGeom>
        </p:spPr>
      </p:pic>
      <p:sp>
        <p:nvSpPr>
          <p:cNvPr id="24" name="Text 24"/>
          <p:cNvSpPr txBox="1"/>
          <p:nvPr/>
        </p:nvSpPr>
        <p:spPr>
          <a:xfrm>
            <a:off x="1508760" y="444398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FI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1965960" y="4443984"/>
            <a:ext cx="39319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  <a:hlinkClick r:id="rId14"/>
              </a:rPr>
              <a:t>Finvoice</a:t>
            </a:r>
            <a:r>
              <a:rPr lang="de-DE" sz="14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oder </a:t>
            </a: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  <a:hlinkClick r:id="rId14"/>
              </a:rPr>
              <a:t>TEAPPSXML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1965960" y="4764024"/>
            <a:ext cx="39319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B42318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Nationales XML</a:t>
            </a: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</a:t>
            </a:r>
            <a:r>
              <a:rPr lang="de-DE" sz="1150" u="sng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  <a:hlinkClick r:id="rId15"/>
              </a:rPr>
              <a:t>2020 Recht auf E-Rechnung</a:t>
            </a:r>
          </a:p>
        </p:txBody>
      </p:sp>
      <p:sp>
        <p:nvSpPr>
          <p:cNvPr id="27" name="Card 27"/>
          <p:cNvSpPr/>
          <p:nvPr/>
        </p:nvSpPr>
        <p:spPr>
          <a:xfrm>
            <a:off x="822960" y="5138928"/>
            <a:ext cx="51755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8" name="Flag 2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4128" y="5285232"/>
            <a:ext cx="384048" cy="256032"/>
          </a:xfrm>
          <a:prstGeom prst="rect">
            <a:avLst/>
          </a:prstGeom>
        </p:spPr>
      </p:pic>
      <p:sp>
        <p:nvSpPr>
          <p:cNvPr id="29" name="Text 29"/>
          <p:cNvSpPr txBox="1"/>
          <p:nvPr/>
        </p:nvSpPr>
        <p:spPr>
          <a:xfrm>
            <a:off x="1508760" y="520293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IT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1965960" y="5202936"/>
            <a:ext cx="39319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  <a:hlinkClick r:id="rId17"/>
              </a:rPr>
              <a:t>FatturaPA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1965960" y="5522976"/>
            <a:ext cx="39319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B42318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Nationales XML</a:t>
            </a: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</a:t>
            </a:r>
            <a:r>
              <a:rPr lang="de-DE" sz="1150" u="sng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  <a:hlinkClick r:id="rId18"/>
              </a:rPr>
              <a:t>2019 B2B</a:t>
            </a:r>
          </a:p>
        </p:txBody>
      </p:sp>
      <p:sp>
        <p:nvSpPr>
          <p:cNvPr id="32" name="Card 32"/>
          <p:cNvSpPr/>
          <p:nvPr/>
        </p:nvSpPr>
        <p:spPr>
          <a:xfrm>
            <a:off x="6190488" y="2103120"/>
            <a:ext cx="51755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33" name="Flag 3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91656" y="2258568"/>
            <a:ext cx="384048" cy="237744"/>
          </a:xfrm>
          <a:prstGeom prst="rect">
            <a:avLst/>
          </a:prstGeom>
        </p:spPr>
      </p:pic>
      <p:sp>
        <p:nvSpPr>
          <p:cNvPr id="34" name="Text 34"/>
          <p:cNvSpPr txBox="1"/>
          <p:nvPr/>
        </p:nvSpPr>
        <p:spPr>
          <a:xfrm>
            <a:off x="6876288" y="216712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PL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7333488" y="2167128"/>
            <a:ext cx="39319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  <a:hlinkClick r:id="rId20"/>
              </a:rPr>
              <a:t>FA(3)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7333488" y="2487168"/>
            <a:ext cx="39319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B42318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Nationales XML</a:t>
            </a: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</a:t>
            </a:r>
            <a:r>
              <a:rPr lang="de-DE" sz="1150" u="sng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  <a:hlinkClick r:id="rId21"/>
              </a:rPr>
              <a:t>2026 B2B stufenweise</a:t>
            </a:r>
          </a:p>
        </p:txBody>
      </p:sp>
      <p:sp>
        <p:nvSpPr>
          <p:cNvPr id="37" name="Card 37"/>
          <p:cNvSpPr/>
          <p:nvPr/>
        </p:nvSpPr>
        <p:spPr>
          <a:xfrm>
            <a:off x="6190488" y="2862072"/>
            <a:ext cx="51755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38" name="Flag 3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91656" y="3040380"/>
            <a:ext cx="384048" cy="192024"/>
          </a:xfrm>
          <a:prstGeom prst="rect">
            <a:avLst/>
          </a:prstGeom>
        </p:spPr>
      </p:pic>
      <p:sp>
        <p:nvSpPr>
          <p:cNvPr id="39" name="Text 39"/>
          <p:cNvSpPr txBox="1"/>
          <p:nvPr/>
        </p:nvSpPr>
        <p:spPr>
          <a:xfrm>
            <a:off x="6876288" y="292608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SI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7333488" y="2926080"/>
            <a:ext cx="39319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  <a:hlinkClick r:id="rId23"/>
              </a:rPr>
              <a:t>e-SLOG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7333488" y="3246120"/>
            <a:ext cx="39319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B42318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Nationales XML</a:t>
            </a: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</a:t>
            </a:r>
            <a:r>
              <a:rPr lang="de-DE" sz="1150" u="sng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  <a:hlinkClick r:id="rId24"/>
              </a:rPr>
              <a:t>2015 B2G</a:t>
            </a:r>
          </a:p>
        </p:txBody>
      </p:sp>
      <p:sp>
        <p:nvSpPr>
          <p:cNvPr id="42" name="Card 42"/>
          <p:cNvSpPr/>
          <p:nvPr/>
        </p:nvSpPr>
        <p:spPr>
          <a:xfrm>
            <a:off x="6190488" y="3621024"/>
            <a:ext cx="51755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43" name="Flag 43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46520" y="3776472"/>
            <a:ext cx="274320" cy="237744"/>
          </a:xfrm>
          <a:prstGeom prst="rect">
            <a:avLst/>
          </a:prstGeom>
        </p:spPr>
      </p:pic>
      <p:sp>
        <p:nvSpPr>
          <p:cNvPr id="44" name="Text 44"/>
          <p:cNvSpPr txBox="1"/>
          <p:nvPr/>
        </p:nvSpPr>
        <p:spPr>
          <a:xfrm>
            <a:off x="6876288" y="368503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BE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7333488" y="3685032"/>
            <a:ext cx="39319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  <a:hlinkClick r:id="rId26"/>
              </a:rPr>
              <a:t>Peppol BIS Billing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7333488" y="4005072"/>
            <a:ext cx="39319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37333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UBL-XML Pflicht, CII zusätzlich</a:t>
            </a: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</a:t>
            </a:r>
            <a:r>
              <a:rPr lang="de-DE" sz="1150" u="sng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  <a:hlinkClick r:id="rId27"/>
              </a:rPr>
              <a:t>2026 B2B</a:t>
            </a:r>
          </a:p>
        </p:txBody>
      </p:sp>
      <p:sp>
        <p:nvSpPr>
          <p:cNvPr id="47" name="Card 47"/>
          <p:cNvSpPr/>
          <p:nvPr/>
        </p:nvSpPr>
        <p:spPr>
          <a:xfrm>
            <a:off x="6190488" y="4379976"/>
            <a:ext cx="51755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48" name="Flag 4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391656" y="4526280"/>
            <a:ext cx="384048" cy="256032"/>
          </a:xfrm>
          <a:prstGeom prst="rect">
            <a:avLst/>
          </a:prstGeom>
        </p:spPr>
      </p:pic>
      <p:sp>
        <p:nvSpPr>
          <p:cNvPr id="49" name="Text 49"/>
          <p:cNvSpPr txBox="1"/>
          <p:nvPr/>
        </p:nvSpPr>
        <p:spPr>
          <a:xfrm>
            <a:off x="6876288" y="444398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DE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7333488" y="4443984"/>
            <a:ext cx="39319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  <a:hlinkClick r:id="rId29"/>
              </a:rPr>
              <a:t>XRechnung</a:t>
            </a:r>
            <a:r>
              <a:rPr lang="de-DE" sz="14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oder </a:t>
            </a: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  <a:hlinkClick r:id="rId30"/>
              </a:rPr>
              <a:t>ZUGFeRD / Factur-X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7333488" y="4764024"/>
            <a:ext cx="39319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37333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UBL/CII-XML oder PDF + CII-XML</a:t>
            </a: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</a:t>
            </a:r>
            <a:r>
              <a:rPr lang="de-DE" sz="1150" u="sng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  <a:hlinkClick r:id="rId30"/>
              </a:rPr>
              <a:t>2025 B2B-Empfang</a:t>
            </a:r>
          </a:p>
        </p:txBody>
      </p:sp>
      <p:sp>
        <p:nvSpPr>
          <p:cNvPr id="52" name="Card 52"/>
          <p:cNvSpPr/>
          <p:nvPr/>
        </p:nvSpPr>
        <p:spPr>
          <a:xfrm>
            <a:off x="6190488" y="5138928"/>
            <a:ext cx="51755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53" name="Flag 53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391656" y="5285232"/>
            <a:ext cx="384048" cy="256032"/>
          </a:xfrm>
          <a:prstGeom prst="rect">
            <a:avLst/>
          </a:prstGeom>
        </p:spPr>
      </p:pic>
      <p:sp>
        <p:nvSpPr>
          <p:cNvPr id="54" name="Text 54"/>
          <p:cNvSpPr txBox="1"/>
          <p:nvPr/>
        </p:nvSpPr>
        <p:spPr>
          <a:xfrm>
            <a:off x="6876288" y="520293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FR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7333488" y="5202936"/>
            <a:ext cx="39319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  <a:hlinkClick r:id="rId32"/>
              </a:rPr>
              <a:t>Factur-X</a:t>
            </a:r>
          </a:p>
        </p:txBody>
      </p:sp>
      <p:sp>
        <p:nvSpPr>
          <p:cNvPr id="56" name="Text 56"/>
          <p:cNvSpPr txBox="1"/>
          <p:nvPr/>
        </p:nvSpPr>
        <p:spPr>
          <a:xfrm>
            <a:off x="7333488" y="5522976"/>
            <a:ext cx="39319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37333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PDF + CII-XML</a:t>
            </a: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</a:t>
            </a:r>
            <a:r>
              <a:rPr lang="de-DE" sz="1150" u="sng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  <a:hlinkClick r:id="rId33"/>
              </a:rPr>
              <a:t>2026 B2B Phase 1</a:t>
            </a:r>
          </a:p>
        </p:txBody>
      </p:sp>
      <p:sp>
        <p:nvSpPr>
          <p:cNvPr id="57" name="Text 57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000" dirty="0">
                <a:solidFill>
                  <a:srgbClr val="B4231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Nationales XML</a:t>
            </a:r>
            <a:r>
              <a:rPr lang="de-DE" sz="10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eigene Syntax;  </a:t>
            </a:r>
            <a:r>
              <a:rPr lang="de-DE" sz="1000" dirty="0">
                <a:solidFill>
                  <a:srgbClr val="137333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grün</a:t>
            </a:r>
            <a:r>
              <a:rPr lang="de-DE" sz="10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auf UBL oder CII aufgebaut.  Jahreszahlen = rechtliche Meilensteine für den genannten Bereich. Quellen: Links und Notizen.</a:t>
            </a:r>
          </a:p>
        </p:txBody>
      </p:sp>
      <p:sp>
        <p:nvSpPr>
          <p:cNvPr id="58" name="Speaker 58">
            <a:hlinkClick r:id="rId34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Folie 1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FORMATE · DEUTSCHLAND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Warum zwei nationale Standards?</a:t>
            </a:r>
          </a:p>
        </p:txBody>
      </p:sp>
      <p:sp>
        <p:nvSpPr>
          <p:cNvPr id="6" name="PageNum 6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025416EE-E0DF-4140-835C-9D8948A2CF1D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12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822960" y="2194560"/>
          <a:ext cx="10543032" cy="3840480"/>
        </p:xfrm>
        <a:graphic>
          <a:graphicData uri="http://schemas.openxmlformats.org/drawingml/2006/table">
            <a:tbl>
              <a:tblPr firstRow="1" bandRow="1"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0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/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20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ZUGFeRD: aus der Wirtschaft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20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XRechnung: aus der Verwaltung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2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Träger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2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FeRD, das E-Rechnungsforum der AWV (gegründet März 2010)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2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KoSIT (Bremen), im Auftrag des IT-Planungsrats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2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Auslöser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2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2011: E-Rechnung der Papierrechnung rechtlich gleichgestellt; einfache B2B-E-Rechnung für KMU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2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Richtlinie 2014/55/EU zur E-Rechnung im öffentlichen Auftragswesen (B2G)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2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Erste Version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2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ZUGFeRD 1.0 am 25.06.2014 — vor der EN 16931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2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XRechnung 1.0, beschlossen am 22.06.2017 (IT-Planungsrat, Beschluss 2017/22)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2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Aufbau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2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Hybrid: PDF/A-3 + CII-XML; Profile MINIMUM … EXTENDED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2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Reines XML (UBL oder CII); CIUS der EN 16931, z. B. Leitweg-ID in BT-10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2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Rechtsrahmen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2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B2B-Pflicht ab 2025: E-Rechnung ab Version 2.0.1, außer MINIMUM und BASIC WL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2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E-Rechnungsgesetz 2017 (§ 4a EGovG) und ERechV: E-Rechnungen an den Bund seit 27.11.2020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200" dirty="0">
                          <a:solidFill>
                            <a:srgbClr val="0E7E82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Beide basieren auf der EN 16931 und werden vom BMF genannt (UStAE 14.1 Abs. 12 – 14); die B2B-Pflicht akzeptiert jedes EN-16931-konforme Format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7F8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peaker 8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1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FORMATE · DEUTSCHLAND &amp; FRANKREICH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ZUGFeRD &amp; Factur-X</a:t>
            </a:r>
          </a:p>
        </p:txBody>
      </p:sp>
      <p:sp>
        <p:nvSpPr>
          <p:cNvPr id="6" name="Tagline 6"/>
          <p:cNvSpPr txBox="1"/>
          <p:nvPr/>
        </p:nvSpPr>
        <p:spPr>
          <a:xfrm>
            <a:off x="822960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Ein deutsch-französischer Standard — Frankreich ist seit 2017 mit Factur-X dabei.</a:t>
            </a:r>
          </a:p>
        </p:txBody>
      </p:sp>
      <p:sp>
        <p:nvSpPr>
          <p:cNvPr id="7" name="Speaker 7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8" name="PageNum 8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36255500-6848-4403-B05A-32A8B073712C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13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822960" y="2240280"/>
          <a:ext cx="10543032" cy="3936492"/>
        </p:xfrm>
        <a:graphic>
          <a:graphicData uri="http://schemas.openxmlformats.org/drawingml/2006/table">
            <a:tbl>
              <a:tblPr firstRow="1" bandRow="1"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14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Datum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10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ZUGFeRD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10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Factur-X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Meilenstein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2014-06-25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150" dirty="0">
                          <a:solidFill>
                            <a:srgbClr val="C0392B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1.0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Hybride Rechnung aus PDF/A-3 + CII — entworfen vor der EN 16931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2017-12-31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150" dirty="0">
                          <a:solidFill>
                            <a:srgbClr val="C0392B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1.0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Frankreich startet Factur-X (FNFE-MPE) auf Basis der EN 16931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2019-03-11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150" dirty="0">
                          <a:solidFill>
                            <a:srgbClr val="C0392B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2.0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150" dirty="0">
                          <a:solidFill>
                            <a:srgbClr val="C0392B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1.0.03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ZUGFeRD 2.0 = Factur-X 1.0.03: neu aufgesetzt auf EN 16931 (CII D16B)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2019-10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15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2.0.1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15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1.0.04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Technische Angleichung — ab hier E-Rechnung im Sinne des BMF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2020-03-24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15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2.1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15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1.0.05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Volle Angleichung: ein gemeinsamer deutsch-französischer Standard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2020-07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15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2.1.1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15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1.0.05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Neues Profil XRECHNUNG — die Brücke zum Standard der Verwaltung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2022-03-01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15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2.2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15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1.0.06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Referenzprofil XRECHNUNG; EXTENDED für Order-X und die B2B-Reform in Frankreich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2024-09-18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15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2.3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15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1.0.07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CII D22B statt D16B; Angleichung an XRechnung 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2025-12-04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15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2.4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15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1.08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Unterpositionen mit Zwischensummen, maschinenlesbares Lieferdatum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2026-06-10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15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2.5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15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1.09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IDs der EN-16931-Revision; Wartung 2.5.2 / 1.09.2 am 2026-08-04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612">
                <a:tc grid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5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Grün</a:t>
                      </a:r>
                      <a:r>
                        <a:rPr lang="de-DE" sz="1050" dirty="0">
                          <a:solidFill>
                            <a:srgbClr val="0E7E82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 = E-Rechnung in Deutschland (BMF: ab ZUGFeRD 2.0.1, ohne MINIMUM und BASIC WL)   ·   </a:t>
                      </a:r>
                      <a:r>
                        <a:rPr lang="de-DE" sz="1050" dirty="0">
                          <a:solidFill>
                            <a:srgbClr val="C0392B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Rot</a:t>
                      </a:r>
                      <a:r>
                        <a:rPr lang="de-DE" sz="1050" dirty="0">
                          <a:solidFill>
                            <a:srgbClr val="0E7E82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 = keine E-Rechnung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7F8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1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FORMATE · ZUGFERD-PROFILE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2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ZUGFeRD 2.5.2 / Factur-X 1.09.2: Größe der Profile</a:t>
            </a:r>
          </a:p>
        </p:txBody>
      </p:sp>
      <p:sp>
        <p:nvSpPr>
          <p:cNvPr id="6" name="PageNum 6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ED28B3F3-E23F-4C4E-A6AE-E2B9C9BB1C50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14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7" name="Shape 7"/>
          <p:cNvSpPr/>
          <p:nvPr/>
        </p:nvSpPr>
        <p:spPr>
          <a:xfrm>
            <a:off x="731520" y="2788920"/>
            <a:ext cx="3566160" cy="3566160"/>
          </a:xfrm>
          <a:prstGeom prst="ellipse">
            <a:avLst/>
          </a:prstGeom>
          <a:solidFill>
            <a:srgbClr val="CDEBF8"/>
          </a:solidFill>
          <a:ln w="28575">
            <a:solidFill>
              <a:srgbClr val="2E9E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8"/>
          <p:cNvSpPr/>
          <p:nvPr/>
        </p:nvSpPr>
        <p:spPr>
          <a:xfrm>
            <a:off x="1687081" y="4700041"/>
            <a:ext cx="1655039" cy="1655039"/>
          </a:xfrm>
          <a:prstGeom prst="ellipse">
            <a:avLst/>
          </a:prstGeom>
          <a:solidFill>
            <a:srgbClr val="7CC8EC"/>
          </a:solidFill>
          <a:ln w="28575">
            <a:solidFill>
              <a:srgbClr val="2E9E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9"/>
          <p:cNvSpPr/>
          <p:nvPr/>
        </p:nvSpPr>
        <p:spPr>
          <a:xfrm>
            <a:off x="1785861" y="4897602"/>
            <a:ext cx="1457478" cy="1457478"/>
          </a:xfrm>
          <a:prstGeom prst="ellipse">
            <a:avLst/>
          </a:prstGeom>
          <a:solidFill>
            <a:srgbClr val="3AA8DD"/>
          </a:solidFill>
          <a:ln w="28575">
            <a:solidFill>
              <a:srgbClr val="2E9E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10"/>
          <p:cNvSpPr/>
          <p:nvPr/>
        </p:nvSpPr>
        <p:spPr>
          <a:xfrm>
            <a:off x="1856395" y="5038671"/>
            <a:ext cx="1316409" cy="1316409"/>
          </a:xfrm>
          <a:prstGeom prst="ellipse">
            <a:avLst/>
          </a:prstGeom>
          <a:solidFill>
            <a:srgbClr val="1478AE"/>
          </a:solidFill>
          <a:ln w="28575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11"/>
          <p:cNvSpPr/>
          <p:nvPr/>
        </p:nvSpPr>
        <p:spPr>
          <a:xfrm>
            <a:off x="2213204" y="5752289"/>
            <a:ext cx="602791" cy="602791"/>
          </a:xfrm>
          <a:prstGeom prst="ellipse">
            <a:avLst/>
          </a:prstGeom>
          <a:solidFill>
            <a:srgbClr val="0B4F6C"/>
          </a:solidFill>
          <a:ln w="28575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2"/>
          <p:cNvSpPr txBox="1"/>
          <p:nvPr/>
        </p:nvSpPr>
        <p:spPr>
          <a:xfrm>
            <a:off x="1691640" y="308152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EXTENDED</a:t>
            </a:r>
          </a:p>
          <a:p>
            <a:pPr marL="0" indent="0" algn="ctr">
              <a:buNone/>
            </a:pPr>
            <a:r>
              <a:rPr lang="de-DE" sz="20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910</a:t>
            </a:r>
          </a:p>
        </p:txBody>
      </p:sp>
      <p:sp>
        <p:nvSpPr>
          <p:cNvPr id="13" name="Shape 13"/>
          <p:cNvSpPr/>
          <p:nvPr/>
        </p:nvSpPr>
        <p:spPr>
          <a:xfrm>
            <a:off x="2482596" y="2756916"/>
            <a:ext cx="64008" cy="64008"/>
          </a:xfrm>
          <a:prstGeom prst="ellipse">
            <a:avLst/>
          </a:prstGeom>
          <a:solidFill>
            <a:srgbClr val="5B689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cxnSp>
        <p:nvCxnSpPr>
          <p:cNvPr id="14" name="Connector 14"/>
          <p:cNvCxnSpPr/>
          <p:nvPr/>
        </p:nvCxnSpPr>
        <p:spPr>
          <a:xfrm>
            <a:off x="2514600" y="2788920"/>
            <a:ext cx="2304288" cy="146304"/>
          </a:xfrm>
          <a:prstGeom prst="line">
            <a:avLst/>
          </a:prstGeom>
          <a:ln w="9525">
            <a:solidFill>
              <a:srgbClr val="9AA4C2"/>
            </a:solidFill>
          </a:ln>
        </p:spPr>
      </p:cxnSp>
      <p:sp>
        <p:nvSpPr>
          <p:cNvPr id="15" name="Shape 15"/>
          <p:cNvSpPr/>
          <p:nvPr/>
        </p:nvSpPr>
        <p:spPr>
          <a:xfrm>
            <a:off x="4846320" y="2852928"/>
            <a:ext cx="164592" cy="164592"/>
          </a:xfrm>
          <a:prstGeom prst="ellipse">
            <a:avLst/>
          </a:prstGeom>
          <a:solidFill>
            <a:srgbClr val="CDEBF8"/>
          </a:solidFill>
          <a:ln w="19050">
            <a:solidFill>
              <a:srgbClr val="2E9E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6"/>
          <p:cNvSpPr/>
          <p:nvPr/>
        </p:nvSpPr>
        <p:spPr>
          <a:xfrm>
            <a:off x="2482596" y="4668037"/>
            <a:ext cx="64008" cy="64008"/>
          </a:xfrm>
          <a:prstGeom prst="ellipse">
            <a:avLst/>
          </a:prstGeom>
          <a:solidFill>
            <a:srgbClr val="5B689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cxnSp>
        <p:nvCxnSpPr>
          <p:cNvPr id="17" name="Connector 17"/>
          <p:cNvCxnSpPr/>
          <p:nvPr/>
        </p:nvCxnSpPr>
        <p:spPr>
          <a:xfrm flipV="1">
            <a:off x="2514600" y="3319272"/>
            <a:ext cx="2304288" cy="1380769"/>
          </a:xfrm>
          <a:prstGeom prst="line">
            <a:avLst/>
          </a:prstGeom>
          <a:ln w="9525">
            <a:solidFill>
              <a:srgbClr val="9AA4C2"/>
            </a:solidFill>
          </a:ln>
        </p:spPr>
      </p:cxnSp>
      <p:sp>
        <p:nvSpPr>
          <p:cNvPr id="18" name="Shape 18"/>
          <p:cNvSpPr/>
          <p:nvPr/>
        </p:nvSpPr>
        <p:spPr>
          <a:xfrm>
            <a:off x="4846320" y="3236976"/>
            <a:ext cx="164592" cy="164592"/>
          </a:xfrm>
          <a:prstGeom prst="ellipse">
            <a:avLst/>
          </a:prstGeom>
          <a:solidFill>
            <a:srgbClr val="7CC8EC"/>
          </a:solidFill>
          <a:ln w="19050">
            <a:solidFill>
              <a:srgbClr val="2E9E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9"/>
          <p:cNvSpPr/>
          <p:nvPr/>
        </p:nvSpPr>
        <p:spPr>
          <a:xfrm>
            <a:off x="2482596" y="4865598"/>
            <a:ext cx="64008" cy="64008"/>
          </a:xfrm>
          <a:prstGeom prst="ellipse">
            <a:avLst/>
          </a:prstGeom>
          <a:solidFill>
            <a:srgbClr val="5B689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cxnSp>
        <p:nvCxnSpPr>
          <p:cNvPr id="20" name="Connector 20"/>
          <p:cNvCxnSpPr/>
          <p:nvPr/>
        </p:nvCxnSpPr>
        <p:spPr>
          <a:xfrm flipV="1">
            <a:off x="2514600" y="3703320"/>
            <a:ext cx="2304288" cy="1194282"/>
          </a:xfrm>
          <a:prstGeom prst="line">
            <a:avLst/>
          </a:prstGeom>
          <a:ln w="9525">
            <a:solidFill>
              <a:srgbClr val="9AA4C2"/>
            </a:solidFill>
          </a:ln>
        </p:spPr>
      </p:cxnSp>
      <p:sp>
        <p:nvSpPr>
          <p:cNvPr id="21" name="Shape 21"/>
          <p:cNvSpPr/>
          <p:nvPr/>
        </p:nvSpPr>
        <p:spPr>
          <a:xfrm>
            <a:off x="4846320" y="3621024"/>
            <a:ext cx="164592" cy="164592"/>
          </a:xfrm>
          <a:prstGeom prst="ellipse">
            <a:avLst/>
          </a:prstGeom>
          <a:solidFill>
            <a:srgbClr val="3AA8DD"/>
          </a:solidFill>
          <a:ln w="19050">
            <a:solidFill>
              <a:srgbClr val="2E9E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2"/>
          <p:cNvSpPr/>
          <p:nvPr/>
        </p:nvSpPr>
        <p:spPr>
          <a:xfrm>
            <a:off x="2482596" y="5006667"/>
            <a:ext cx="64008" cy="64008"/>
          </a:xfrm>
          <a:prstGeom prst="ellipse">
            <a:avLst/>
          </a:prstGeom>
          <a:solidFill>
            <a:srgbClr val="5B689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cxnSp>
        <p:nvCxnSpPr>
          <p:cNvPr id="23" name="Connector 23"/>
          <p:cNvCxnSpPr/>
          <p:nvPr/>
        </p:nvCxnSpPr>
        <p:spPr>
          <a:xfrm flipV="1">
            <a:off x="2514600" y="4087368"/>
            <a:ext cx="2304288" cy="951303"/>
          </a:xfrm>
          <a:prstGeom prst="line">
            <a:avLst/>
          </a:prstGeom>
          <a:ln w="9525">
            <a:solidFill>
              <a:srgbClr val="9AA4C2"/>
            </a:solidFill>
          </a:ln>
        </p:spPr>
      </p:cxnSp>
      <p:sp>
        <p:nvSpPr>
          <p:cNvPr id="24" name="Shape 24"/>
          <p:cNvSpPr/>
          <p:nvPr/>
        </p:nvSpPr>
        <p:spPr>
          <a:xfrm>
            <a:off x="4846320" y="4005072"/>
            <a:ext cx="164592" cy="164592"/>
          </a:xfrm>
          <a:prstGeom prst="ellipse">
            <a:avLst/>
          </a:prstGeom>
          <a:solidFill>
            <a:srgbClr val="1478AE"/>
          </a:solidFill>
          <a:ln w="1905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5"/>
          <p:cNvSpPr/>
          <p:nvPr/>
        </p:nvSpPr>
        <p:spPr>
          <a:xfrm>
            <a:off x="2482596" y="5720285"/>
            <a:ext cx="64008" cy="64008"/>
          </a:xfrm>
          <a:prstGeom prst="ellipse">
            <a:avLst/>
          </a:prstGeom>
          <a:solidFill>
            <a:srgbClr val="5B689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cxnSp>
        <p:nvCxnSpPr>
          <p:cNvPr id="26" name="Connector 26"/>
          <p:cNvCxnSpPr/>
          <p:nvPr/>
        </p:nvCxnSpPr>
        <p:spPr>
          <a:xfrm flipV="1">
            <a:off x="2514600" y="4471416"/>
            <a:ext cx="2304288" cy="1280873"/>
          </a:xfrm>
          <a:prstGeom prst="line">
            <a:avLst/>
          </a:prstGeom>
          <a:ln w="9525">
            <a:solidFill>
              <a:srgbClr val="9AA4C2"/>
            </a:solidFill>
          </a:ln>
        </p:spPr>
      </p:cxnSp>
      <p:sp>
        <p:nvSpPr>
          <p:cNvPr id="27" name="Shape 27"/>
          <p:cNvSpPr/>
          <p:nvPr/>
        </p:nvSpPr>
        <p:spPr>
          <a:xfrm>
            <a:off x="4846320" y="4389120"/>
            <a:ext cx="164592" cy="164592"/>
          </a:xfrm>
          <a:prstGeom prst="ellipse">
            <a:avLst/>
          </a:prstGeom>
          <a:solidFill>
            <a:srgbClr val="0B4F6C"/>
          </a:solidFill>
          <a:ln w="1905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graphicFrame>
        <p:nvGraphicFramePr>
          <p:cNvPr id="28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213822"/>
              </p:ext>
            </p:extLst>
          </p:nvPr>
        </p:nvGraphicFramePr>
        <p:xfrm>
          <a:off x="5120640" y="2240280"/>
          <a:ext cx="6236208" cy="2432304"/>
        </p:xfrm>
        <a:graphic>
          <a:graphicData uri="http://schemas.openxmlformats.org/drawingml/2006/table">
            <a:tbl>
              <a:tblPr firstRow="1" bandRow="1"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03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10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9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Profil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9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Business Groups (BG)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9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Business Terms (BT)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9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Erweiterung (BG-X + BT-X)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9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Σ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9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E-Rechnung DE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9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E-Rechnung FR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5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EXTENDED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33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175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93 + 609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910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ja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ja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5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EN 16931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32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164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196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ja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ja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5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BASIC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27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125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152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ja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C0392B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nein*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5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BASIC WL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21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103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124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C0392B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nein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B7791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bis 09/2027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5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MINIMUM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18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C0392B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nein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C0392B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nein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" name="Text 29"/>
          <p:cNvSpPr txBox="1"/>
          <p:nvPr/>
        </p:nvSpPr>
        <p:spPr>
          <a:xfrm>
            <a:off x="5029200" y="4800600"/>
            <a:ext cx="6355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BG = Business Group (Gruppe zusammengehöriger Felder, z. B. BG-4 Verkäufer); BT = Business Term (einzelnes Feld, z. B. BT-1 Rechnungsnummer).</a:t>
            </a:r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Kreisfläche ∝ Anzahl BG + BT; jedes Profil enthält alle kleineren. Grün: E-Rechnung in Deutschland; rot: MINIMUM und BASIC WL sind keine (BMF).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* FR: BASIC soll als EN 16931 deklariert werden (AFNOR XP Z12-012). EXTENDED nutzt bereits 12 neue IDs der Revision (BG-34, BT-173 … BT-216).</a:t>
            </a:r>
          </a:p>
        </p:txBody>
      </p:sp>
      <p:sp>
        <p:nvSpPr>
          <p:cNvPr id="30" name="Speaker 30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1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FORMATE · VERGLEICH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2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ZUGFeRD, XRechnung und Peppol im Vergleich</a:t>
            </a:r>
          </a:p>
        </p:txBody>
      </p:sp>
      <p:sp>
        <p:nvSpPr>
          <p:cNvPr id="6" name="PageNum 6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6F32DDFF-A426-4763-A4A0-A0764A318820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15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7" name="Shape 7"/>
          <p:cNvSpPr/>
          <p:nvPr/>
        </p:nvSpPr>
        <p:spPr>
          <a:xfrm>
            <a:off x="548640" y="3520440"/>
            <a:ext cx="2834640" cy="2834640"/>
          </a:xfrm>
          <a:prstGeom prst="ellipse">
            <a:avLst/>
          </a:prstGeom>
          <a:solidFill>
            <a:srgbClr val="CDEBF8"/>
          </a:solidFill>
          <a:ln w="28575">
            <a:solidFill>
              <a:srgbClr val="2E9E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8"/>
          <p:cNvSpPr/>
          <p:nvPr/>
        </p:nvSpPr>
        <p:spPr>
          <a:xfrm>
            <a:off x="8702686" y="4923811"/>
            <a:ext cx="1431269" cy="1431269"/>
          </a:xfrm>
          <a:prstGeom prst="ellipse">
            <a:avLst/>
          </a:prstGeom>
          <a:solidFill>
            <a:srgbClr val="D9CCF0"/>
          </a:solidFill>
          <a:ln w="28575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9"/>
          <p:cNvSpPr/>
          <p:nvPr/>
        </p:nvSpPr>
        <p:spPr>
          <a:xfrm>
            <a:off x="8740711" y="2851023"/>
            <a:ext cx="1355217" cy="1355217"/>
          </a:xfrm>
          <a:prstGeom prst="ellipse">
            <a:avLst/>
          </a:prstGeom>
          <a:solidFill>
            <a:srgbClr val="F6CF8F"/>
          </a:solidFill>
          <a:ln w="28575">
            <a:solidFill>
              <a:srgbClr val="2E9E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10"/>
          <p:cNvSpPr/>
          <p:nvPr/>
        </p:nvSpPr>
        <p:spPr>
          <a:xfrm>
            <a:off x="1308188" y="5039536"/>
            <a:ext cx="1315544" cy="1315544"/>
          </a:xfrm>
          <a:prstGeom prst="ellipse">
            <a:avLst/>
          </a:prstGeom>
          <a:solidFill>
            <a:srgbClr val="7CC8EC"/>
          </a:solidFill>
          <a:ln w="28575">
            <a:solidFill>
              <a:srgbClr val="2E9E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11"/>
          <p:cNvSpPr/>
          <p:nvPr/>
        </p:nvSpPr>
        <p:spPr>
          <a:xfrm>
            <a:off x="8760548" y="2890696"/>
            <a:ext cx="1315544" cy="1315544"/>
          </a:xfrm>
          <a:prstGeom prst="ellipse">
            <a:avLst/>
          </a:prstGeom>
          <a:solidFill>
            <a:srgbClr val="E0952B"/>
          </a:solidFill>
          <a:ln w="28575">
            <a:solidFill>
              <a:srgbClr val="2E9E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2"/>
          <p:cNvSpPr/>
          <p:nvPr/>
        </p:nvSpPr>
        <p:spPr>
          <a:xfrm>
            <a:off x="8762228" y="5042897"/>
            <a:ext cx="1312183" cy="1312183"/>
          </a:xfrm>
          <a:prstGeom prst="ellipse">
            <a:avLst/>
          </a:prstGeom>
          <a:solidFill>
            <a:srgbClr val="8E6CC9"/>
          </a:solidFill>
          <a:ln w="28575">
            <a:solidFill>
              <a:srgbClr val="2E9E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3"/>
          <p:cNvSpPr/>
          <p:nvPr/>
        </p:nvSpPr>
        <p:spPr>
          <a:xfrm>
            <a:off x="1386706" y="5196572"/>
            <a:ext cx="1158508" cy="1158508"/>
          </a:xfrm>
          <a:prstGeom prst="ellipse">
            <a:avLst/>
          </a:prstGeom>
          <a:solidFill>
            <a:srgbClr val="3AA8DD"/>
          </a:solidFill>
          <a:ln w="28575">
            <a:solidFill>
              <a:srgbClr val="2E9E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4"/>
          <p:cNvSpPr/>
          <p:nvPr/>
        </p:nvSpPr>
        <p:spPr>
          <a:xfrm>
            <a:off x="1442772" y="5308703"/>
            <a:ext cx="1046377" cy="1046377"/>
          </a:xfrm>
          <a:prstGeom prst="ellipse">
            <a:avLst/>
          </a:prstGeom>
          <a:solidFill>
            <a:srgbClr val="1478AE"/>
          </a:solidFill>
          <a:ln w="28575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5"/>
          <p:cNvSpPr/>
          <p:nvPr/>
        </p:nvSpPr>
        <p:spPr>
          <a:xfrm>
            <a:off x="1726389" y="5875938"/>
            <a:ext cx="479142" cy="479142"/>
          </a:xfrm>
          <a:prstGeom prst="ellipse">
            <a:avLst/>
          </a:prstGeom>
          <a:solidFill>
            <a:srgbClr val="0B4F6C"/>
          </a:solidFill>
          <a:ln w="28575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6"/>
          <p:cNvSpPr txBox="1"/>
          <p:nvPr/>
        </p:nvSpPr>
        <p:spPr>
          <a:xfrm>
            <a:off x="1143000" y="379476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EXTENDED</a:t>
            </a:r>
          </a:p>
          <a:p>
            <a:pPr marL="0" indent="0" algn="ctr">
              <a:buNone/>
            </a:pPr>
            <a:r>
              <a:rPr lang="de-DE" sz="20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910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777240" y="3108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de-DE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ZUGFeRD / Factur-X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0205657" y="3117151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200" dirty="0">
                <a:solidFill>
                  <a:srgbClr val="9A5B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XRechnung</a:t>
            </a:r>
          </a:p>
          <a:p>
            <a:pPr marL="0" indent="0" algn="l">
              <a:buNone/>
            </a:pPr>
            <a:r>
              <a:rPr lang="de-DE" sz="1200" dirty="0">
                <a:solidFill>
                  <a:srgbClr val="9A5B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3.0.2</a:t>
            </a:r>
          </a:p>
          <a:p>
            <a:pPr marL="0" indent="0" algn="l">
              <a:buNone/>
            </a:pPr>
            <a:r>
              <a:rPr lang="de-DE" sz="10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Ext. 208</a:t>
            </a:r>
          </a:p>
          <a:p>
            <a:pPr marL="0" indent="0" algn="l">
              <a:buNone/>
            </a:pPr>
            <a:r>
              <a:rPr lang="de-DE" sz="10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CIUS 196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10243682" y="5227966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200" dirty="0">
                <a:solidFill>
                  <a:srgbClr val="5B3E96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Peppol</a:t>
            </a:r>
          </a:p>
          <a:p>
            <a:pPr marL="0" indent="0" algn="l">
              <a:buNone/>
            </a:pPr>
            <a:r>
              <a:rPr lang="de-DE" sz="10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PINT 232</a:t>
            </a:r>
          </a:p>
          <a:p>
            <a:pPr marL="0" indent="0" algn="l">
              <a:buNone/>
            </a:pPr>
            <a:r>
              <a:rPr lang="de-DE" sz="10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BIS 3.0 195</a:t>
            </a:r>
          </a:p>
        </p:txBody>
      </p:sp>
      <p:sp>
        <p:nvSpPr>
          <p:cNvPr id="20" name="Shape 20"/>
          <p:cNvSpPr/>
          <p:nvPr/>
        </p:nvSpPr>
        <p:spPr>
          <a:xfrm>
            <a:off x="1933956" y="3488436"/>
            <a:ext cx="64008" cy="64008"/>
          </a:xfrm>
          <a:prstGeom prst="ellipse">
            <a:avLst/>
          </a:prstGeom>
          <a:solidFill>
            <a:srgbClr val="5B689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cxnSp>
        <p:nvCxnSpPr>
          <p:cNvPr id="21" name="Connector 21"/>
          <p:cNvCxnSpPr/>
          <p:nvPr/>
        </p:nvCxnSpPr>
        <p:spPr>
          <a:xfrm flipV="1">
            <a:off x="1965960" y="2834640"/>
            <a:ext cx="1691640" cy="685800"/>
          </a:xfrm>
          <a:prstGeom prst="line">
            <a:avLst/>
          </a:prstGeom>
          <a:ln w="9525">
            <a:solidFill>
              <a:srgbClr val="9AA4C2"/>
            </a:solidFill>
          </a:ln>
        </p:spPr>
      </p:cxnSp>
      <p:sp>
        <p:nvSpPr>
          <p:cNvPr id="22" name="Shape 22"/>
          <p:cNvSpPr/>
          <p:nvPr/>
        </p:nvSpPr>
        <p:spPr>
          <a:xfrm>
            <a:off x="3671316" y="2756916"/>
            <a:ext cx="155448" cy="155448"/>
          </a:xfrm>
          <a:prstGeom prst="ellipse">
            <a:avLst/>
          </a:prstGeom>
          <a:solidFill>
            <a:srgbClr val="CDEBF8"/>
          </a:solidFill>
          <a:ln w="19050">
            <a:solidFill>
              <a:srgbClr val="2E9E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3"/>
          <p:cNvSpPr/>
          <p:nvPr/>
        </p:nvSpPr>
        <p:spPr>
          <a:xfrm>
            <a:off x="9028499" y="4987684"/>
            <a:ext cx="64008" cy="64008"/>
          </a:xfrm>
          <a:prstGeom prst="ellipse">
            <a:avLst/>
          </a:prstGeom>
          <a:solidFill>
            <a:srgbClr val="5B689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cxnSp>
        <p:nvCxnSpPr>
          <p:cNvPr id="24" name="Connector 24"/>
          <p:cNvCxnSpPr/>
          <p:nvPr/>
        </p:nvCxnSpPr>
        <p:spPr>
          <a:xfrm flipH="1" flipV="1">
            <a:off x="8321040" y="3108960"/>
            <a:ext cx="739463" cy="1910728"/>
          </a:xfrm>
          <a:prstGeom prst="line">
            <a:avLst/>
          </a:prstGeom>
          <a:ln w="9525">
            <a:solidFill>
              <a:srgbClr val="9AA4C2"/>
            </a:solidFill>
          </a:ln>
        </p:spPr>
      </p:cxnSp>
      <p:sp>
        <p:nvSpPr>
          <p:cNvPr id="25" name="Shape 25"/>
          <p:cNvSpPr/>
          <p:nvPr/>
        </p:nvSpPr>
        <p:spPr>
          <a:xfrm>
            <a:off x="8151876" y="3031236"/>
            <a:ext cx="155448" cy="155448"/>
          </a:xfrm>
          <a:prstGeom prst="ellipse">
            <a:avLst/>
          </a:prstGeom>
          <a:solidFill>
            <a:srgbClr val="D9CCF0"/>
          </a:solidFill>
          <a:ln w="1905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6"/>
          <p:cNvSpPr/>
          <p:nvPr/>
        </p:nvSpPr>
        <p:spPr>
          <a:xfrm>
            <a:off x="8749572" y="3728383"/>
            <a:ext cx="64008" cy="64008"/>
          </a:xfrm>
          <a:prstGeom prst="ellipse">
            <a:avLst/>
          </a:prstGeom>
          <a:solidFill>
            <a:srgbClr val="5B689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cxnSp>
        <p:nvCxnSpPr>
          <p:cNvPr id="27" name="Connector 27"/>
          <p:cNvCxnSpPr/>
          <p:nvPr/>
        </p:nvCxnSpPr>
        <p:spPr>
          <a:xfrm flipH="1" flipV="1">
            <a:off x="8321040" y="3383280"/>
            <a:ext cx="460536" cy="377107"/>
          </a:xfrm>
          <a:prstGeom prst="line">
            <a:avLst/>
          </a:prstGeom>
          <a:ln w="9525">
            <a:solidFill>
              <a:srgbClr val="9AA4C2"/>
            </a:solidFill>
          </a:ln>
        </p:spPr>
      </p:cxnSp>
      <p:sp>
        <p:nvSpPr>
          <p:cNvPr id="28" name="Shape 28"/>
          <p:cNvSpPr/>
          <p:nvPr/>
        </p:nvSpPr>
        <p:spPr>
          <a:xfrm>
            <a:off x="8151876" y="3305556"/>
            <a:ext cx="155448" cy="155448"/>
          </a:xfrm>
          <a:prstGeom prst="ellipse">
            <a:avLst/>
          </a:prstGeom>
          <a:solidFill>
            <a:srgbClr val="F6CF8F"/>
          </a:solidFill>
          <a:ln w="19050">
            <a:solidFill>
              <a:srgbClr val="2E9E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9"/>
          <p:cNvSpPr/>
          <p:nvPr/>
        </p:nvSpPr>
        <p:spPr>
          <a:xfrm>
            <a:off x="1933956" y="5007532"/>
            <a:ext cx="64008" cy="64008"/>
          </a:xfrm>
          <a:prstGeom prst="ellipse">
            <a:avLst/>
          </a:prstGeom>
          <a:solidFill>
            <a:srgbClr val="5B689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cxnSp>
        <p:nvCxnSpPr>
          <p:cNvPr id="30" name="Connector 30"/>
          <p:cNvCxnSpPr/>
          <p:nvPr/>
        </p:nvCxnSpPr>
        <p:spPr>
          <a:xfrm flipV="1">
            <a:off x="1965960" y="3657600"/>
            <a:ext cx="1691640" cy="1381936"/>
          </a:xfrm>
          <a:prstGeom prst="line">
            <a:avLst/>
          </a:prstGeom>
          <a:ln w="9525">
            <a:solidFill>
              <a:srgbClr val="9AA4C2"/>
            </a:solidFill>
          </a:ln>
        </p:spPr>
      </p:cxnSp>
      <p:sp>
        <p:nvSpPr>
          <p:cNvPr id="31" name="Shape 31"/>
          <p:cNvSpPr/>
          <p:nvPr/>
        </p:nvSpPr>
        <p:spPr>
          <a:xfrm>
            <a:off x="3671316" y="3579876"/>
            <a:ext cx="155448" cy="155448"/>
          </a:xfrm>
          <a:prstGeom prst="ellipse">
            <a:avLst/>
          </a:prstGeom>
          <a:solidFill>
            <a:srgbClr val="7CC8EC"/>
          </a:solidFill>
          <a:ln w="19050">
            <a:solidFill>
              <a:srgbClr val="2E9E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Shape 32"/>
          <p:cNvSpPr/>
          <p:nvPr/>
        </p:nvSpPr>
        <p:spPr>
          <a:xfrm>
            <a:off x="9016407" y="3957304"/>
            <a:ext cx="64008" cy="64008"/>
          </a:xfrm>
          <a:prstGeom prst="ellipse">
            <a:avLst/>
          </a:prstGeom>
          <a:solidFill>
            <a:srgbClr val="5B689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cxnSp>
        <p:nvCxnSpPr>
          <p:cNvPr id="33" name="Connector 33"/>
          <p:cNvCxnSpPr/>
          <p:nvPr/>
        </p:nvCxnSpPr>
        <p:spPr>
          <a:xfrm flipH="1" flipV="1">
            <a:off x="8321040" y="3931920"/>
            <a:ext cx="727371" cy="57388"/>
          </a:xfrm>
          <a:prstGeom prst="line">
            <a:avLst/>
          </a:prstGeom>
          <a:ln w="9525">
            <a:solidFill>
              <a:srgbClr val="9AA4C2"/>
            </a:solidFill>
          </a:ln>
        </p:spPr>
      </p:cxnSp>
      <p:sp>
        <p:nvSpPr>
          <p:cNvPr id="34" name="Shape 34"/>
          <p:cNvSpPr/>
          <p:nvPr/>
        </p:nvSpPr>
        <p:spPr>
          <a:xfrm>
            <a:off x="8151876" y="3854196"/>
            <a:ext cx="155448" cy="155448"/>
          </a:xfrm>
          <a:prstGeom prst="ellipse">
            <a:avLst/>
          </a:prstGeom>
          <a:solidFill>
            <a:srgbClr val="E0952B"/>
          </a:solidFill>
          <a:ln w="19050">
            <a:solidFill>
              <a:srgbClr val="2E9E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Shape 35"/>
          <p:cNvSpPr/>
          <p:nvPr/>
        </p:nvSpPr>
        <p:spPr>
          <a:xfrm>
            <a:off x="8889394" y="5380086"/>
            <a:ext cx="64008" cy="64008"/>
          </a:xfrm>
          <a:prstGeom prst="ellipse">
            <a:avLst/>
          </a:prstGeom>
          <a:solidFill>
            <a:srgbClr val="5B689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cxnSp>
        <p:nvCxnSpPr>
          <p:cNvPr id="36" name="Connector 36"/>
          <p:cNvCxnSpPr/>
          <p:nvPr/>
        </p:nvCxnSpPr>
        <p:spPr>
          <a:xfrm flipH="1" flipV="1">
            <a:off x="8321040" y="4206240"/>
            <a:ext cx="600358" cy="1205850"/>
          </a:xfrm>
          <a:prstGeom prst="line">
            <a:avLst/>
          </a:prstGeom>
          <a:ln w="9525">
            <a:solidFill>
              <a:srgbClr val="9AA4C2"/>
            </a:solidFill>
          </a:ln>
        </p:spPr>
      </p:cxnSp>
      <p:sp>
        <p:nvSpPr>
          <p:cNvPr id="37" name="Shape 37"/>
          <p:cNvSpPr/>
          <p:nvPr/>
        </p:nvSpPr>
        <p:spPr>
          <a:xfrm>
            <a:off x="8151876" y="4128516"/>
            <a:ext cx="155448" cy="155448"/>
          </a:xfrm>
          <a:prstGeom prst="ellipse">
            <a:avLst/>
          </a:prstGeom>
          <a:solidFill>
            <a:srgbClr val="8E6CC9"/>
          </a:solidFill>
          <a:ln w="19050">
            <a:solidFill>
              <a:srgbClr val="2E9E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Shape 38"/>
          <p:cNvSpPr/>
          <p:nvPr/>
        </p:nvSpPr>
        <p:spPr>
          <a:xfrm>
            <a:off x="1933956" y="5164568"/>
            <a:ext cx="64008" cy="64008"/>
          </a:xfrm>
          <a:prstGeom prst="ellipse">
            <a:avLst/>
          </a:prstGeom>
          <a:solidFill>
            <a:srgbClr val="5B689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cxnSp>
        <p:nvCxnSpPr>
          <p:cNvPr id="39" name="Connector 39"/>
          <p:cNvCxnSpPr/>
          <p:nvPr/>
        </p:nvCxnSpPr>
        <p:spPr>
          <a:xfrm flipV="1">
            <a:off x="1965960" y="4480560"/>
            <a:ext cx="1691640" cy="716012"/>
          </a:xfrm>
          <a:prstGeom prst="line">
            <a:avLst/>
          </a:prstGeom>
          <a:ln w="9525">
            <a:solidFill>
              <a:srgbClr val="9AA4C2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3671316" y="4402836"/>
            <a:ext cx="155448" cy="155448"/>
          </a:xfrm>
          <a:prstGeom prst="ellipse">
            <a:avLst/>
          </a:prstGeom>
          <a:solidFill>
            <a:srgbClr val="3AA8DD"/>
          </a:solidFill>
          <a:ln w="19050">
            <a:solidFill>
              <a:srgbClr val="2E9E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Shape 41"/>
          <p:cNvSpPr/>
          <p:nvPr/>
        </p:nvSpPr>
        <p:spPr>
          <a:xfrm>
            <a:off x="1933956" y="5276699"/>
            <a:ext cx="64008" cy="64008"/>
          </a:xfrm>
          <a:prstGeom prst="ellipse">
            <a:avLst/>
          </a:prstGeom>
          <a:solidFill>
            <a:srgbClr val="5B689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cxnSp>
        <p:nvCxnSpPr>
          <p:cNvPr id="42" name="Connector 42"/>
          <p:cNvCxnSpPr/>
          <p:nvPr/>
        </p:nvCxnSpPr>
        <p:spPr>
          <a:xfrm flipV="1">
            <a:off x="1965960" y="4754880"/>
            <a:ext cx="1691640" cy="553823"/>
          </a:xfrm>
          <a:prstGeom prst="line">
            <a:avLst/>
          </a:prstGeom>
          <a:ln w="9525">
            <a:solidFill>
              <a:srgbClr val="9AA4C2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3671316" y="4677156"/>
            <a:ext cx="155448" cy="155448"/>
          </a:xfrm>
          <a:prstGeom prst="ellipse">
            <a:avLst/>
          </a:prstGeom>
          <a:solidFill>
            <a:srgbClr val="1478AE"/>
          </a:solidFill>
          <a:ln w="1905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Shape 44"/>
          <p:cNvSpPr/>
          <p:nvPr/>
        </p:nvSpPr>
        <p:spPr>
          <a:xfrm>
            <a:off x="1933956" y="5843934"/>
            <a:ext cx="64008" cy="64008"/>
          </a:xfrm>
          <a:prstGeom prst="ellipse">
            <a:avLst/>
          </a:prstGeom>
          <a:solidFill>
            <a:srgbClr val="5B689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cxnSp>
        <p:nvCxnSpPr>
          <p:cNvPr id="45" name="Connector 45"/>
          <p:cNvCxnSpPr/>
          <p:nvPr/>
        </p:nvCxnSpPr>
        <p:spPr>
          <a:xfrm flipV="1">
            <a:off x="1965960" y="5029200"/>
            <a:ext cx="1691640" cy="846738"/>
          </a:xfrm>
          <a:prstGeom prst="line">
            <a:avLst/>
          </a:prstGeom>
          <a:ln w="9525">
            <a:solidFill>
              <a:srgbClr val="9AA4C2"/>
            </a:solidFill>
          </a:ln>
        </p:spPr>
      </p:cxnSp>
      <p:sp>
        <p:nvSpPr>
          <p:cNvPr id="46" name="Shape 46"/>
          <p:cNvSpPr/>
          <p:nvPr/>
        </p:nvSpPr>
        <p:spPr>
          <a:xfrm>
            <a:off x="3671316" y="4951476"/>
            <a:ext cx="155448" cy="155448"/>
          </a:xfrm>
          <a:prstGeom prst="ellipse">
            <a:avLst/>
          </a:prstGeom>
          <a:solidFill>
            <a:srgbClr val="0B4F6C"/>
          </a:solidFill>
          <a:ln w="1905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graphicFrame>
        <p:nvGraphicFramePr>
          <p:cNvPr id="47" name="Table 47"/>
          <p:cNvGraphicFramePr>
            <a:graphicFrameLocks noGrp="1"/>
          </p:cNvGraphicFramePr>
          <p:nvPr/>
        </p:nvGraphicFramePr>
        <p:xfrm>
          <a:off x="3931920" y="2240280"/>
          <a:ext cx="4114800" cy="2926080"/>
        </p:xfrm>
        <a:graphic>
          <a:graphicData uri="http://schemas.openxmlformats.org/drawingml/2006/table">
            <a:tbl>
              <a:tblPr firstRow="1" bandRow="1"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9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Modell / Profil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9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Groups (BG)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9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Terms (BT)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9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Neue BG + BT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9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Σ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EXTENDED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33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175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93 + 609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910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Peppol PINT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31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163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6 + 32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6B6B6B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232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XRechnung Ext.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32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164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9 + 3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208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EN 16931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32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164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196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XRechnung CIUS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32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164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196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Peppol BIS 3.0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32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163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195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BASIC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27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125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152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BASIC WL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21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103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C0392B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124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MINIMUM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18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00" dirty="0">
                          <a:solidFill>
                            <a:srgbClr val="C0392B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8" name="Text 48"/>
          <p:cNvSpPr txBox="1"/>
          <p:nvPr/>
        </p:nvSpPr>
        <p:spPr>
          <a:xfrm>
            <a:off x="3840480" y="534924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9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Kreisfläche ∝ Business Groups (BG) + Business Terms (BT). Umriss grün = E-Rechnung in Deutschland, rot = keine (MINIMUM, BASIC WL), grau = PINT ist keine CIUS der EN 16931 (in Deutschland nur nach Vereinbarung).</a:t>
            </a:r>
          </a:p>
        </p:txBody>
      </p:sp>
      <p:sp>
        <p:nvSpPr>
          <p:cNvPr id="49" name="Speaker 49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Folie 1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FORMATE · PEPPOL INTERNATIONAL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4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Peppol PINT: weltweit einsetzbar</a:t>
            </a:r>
          </a:p>
        </p:txBody>
      </p:sp>
      <p:sp>
        <p:nvSpPr>
          <p:cNvPr id="6" name="Tagline 6"/>
          <p:cNvSpPr txBox="1"/>
          <p:nvPr/>
        </p:nvSpPr>
        <p:spPr>
          <a:xfrm>
            <a:off x="822960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Ein gemeinsamer Kern, je Land erweiterbar — für Steuersysteme jenseits der EU-Mehrwertsteuer.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FD4D8B36-AC45-46B1-8DDD-84DB38D800FF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16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Panel 8"/>
          <p:cNvSpPr/>
          <p:nvPr/>
        </p:nvSpPr>
        <p:spPr>
          <a:xfrm>
            <a:off x="822960" y="2331720"/>
            <a:ext cx="3931920" cy="3977640"/>
          </a:xfrm>
          <a:prstGeom prst="roundRect">
            <a:avLst>
              <a:gd name="adj" fmla="val 2325"/>
            </a:avLst>
          </a:prstGeom>
          <a:solidFill>
            <a:srgbClr val="1A2B5E"/>
          </a:solidFill>
          <a:ln>
            <a:noFill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9"/>
          <p:cNvSpPr txBox="1"/>
          <p:nvPr/>
        </p:nvSpPr>
        <p:spPr>
          <a:xfrm>
            <a:off x="1143000" y="2514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DREI SCHICHTEN</a:t>
            </a:r>
          </a:p>
        </p:txBody>
      </p:sp>
      <p:sp>
        <p:nvSpPr>
          <p:cNvPr id="10" name="Pill 10"/>
          <p:cNvSpPr/>
          <p:nvPr/>
        </p:nvSpPr>
        <p:spPr>
          <a:xfrm>
            <a:off x="1143000" y="290779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9C3C8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Shared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2240280" y="2834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05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überall gleich definiert: Kopf, Parteien, Positionen, Summen, Referenzen — reicht für Buchung und Bestellabgleich</a:t>
            </a:r>
          </a:p>
        </p:txBody>
      </p:sp>
      <p:sp>
        <p:nvSpPr>
          <p:cNvPr id="12" name="Pill 12"/>
          <p:cNvSpPr/>
          <p:nvPr/>
        </p:nvSpPr>
        <p:spPr>
          <a:xfrm>
            <a:off x="1143000" y="373075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9C3C8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Aligned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2240280" y="36576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05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allgemein definiert, je Land präzisiert: Steuer, Zahlungsanweisungen; Regeln kommen mit der Spezialisierung</a:t>
            </a:r>
          </a:p>
        </p:txBody>
      </p:sp>
      <p:sp>
        <p:nvSpPr>
          <p:cNvPr id="14" name="Pill 14"/>
          <p:cNvSpPr/>
          <p:nvPr/>
        </p:nvSpPr>
        <p:spPr>
          <a:xfrm>
            <a:off x="1143000" y="455371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9C3C8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Distinct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2240280" y="44805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05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nur im jeweiligen Land: nationale Gesetze und Branchenpraxis</a:t>
            </a:r>
          </a:p>
        </p:txBody>
      </p:sp>
      <p:sp>
        <p:nvSpPr>
          <p:cNvPr id="16" name="Shape 16"/>
          <p:cNvSpPr/>
          <p:nvPr/>
        </p:nvSpPr>
        <p:spPr>
          <a:xfrm>
            <a:off x="1143000" y="5349240"/>
            <a:ext cx="3291840" cy="9144"/>
          </a:xfrm>
          <a:prstGeom prst="rect">
            <a:avLst/>
          </a:prstGeom>
          <a:solidFill>
            <a:srgbClr val="3A4A7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7"/>
          <p:cNvSpPr txBox="1"/>
          <p:nvPr/>
        </p:nvSpPr>
        <p:spPr>
          <a:xfrm>
            <a:off x="1143000" y="541324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de-DE" sz="10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Spezialisierungen: </a:t>
            </a:r>
            <a:r>
              <a:rPr lang="de-DE" sz="105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Australien &amp; Neuseeland, Japan, Singapur, Malaysia, VAE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de-DE" sz="10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Empfang per Wildcard: </a:t>
            </a:r>
            <a:r>
              <a:rPr lang="de-DE" sz="105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alle Spezialisierungen annehmen, den Shared-Teil verarbeiten</a:t>
            </a:r>
          </a:p>
        </p:txBody>
      </p:sp>
      <p:sp>
        <p:nvSpPr>
          <p:cNvPr id="18" name="Card 18"/>
          <p:cNvSpPr/>
          <p:nvPr/>
        </p:nvSpPr>
        <p:spPr>
          <a:xfrm>
            <a:off x="4937760" y="2331720"/>
            <a:ext cx="3154680" cy="123444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IconCircle 19"/>
          <p:cNvSpPr/>
          <p:nvPr/>
        </p:nvSpPr>
        <p:spPr>
          <a:xfrm>
            <a:off x="5138928" y="2532888"/>
            <a:ext cx="384048" cy="384048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0" name="Icon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4541" y="2638501"/>
            <a:ext cx="172822" cy="172822"/>
          </a:xfrm>
          <a:prstGeom prst="rect">
            <a:avLst/>
          </a:prstGeom>
        </p:spPr>
      </p:pic>
      <p:sp>
        <p:nvSpPr>
          <p:cNvPr id="21" name="Text 21"/>
          <p:cNvSpPr txBox="1"/>
          <p:nvPr/>
        </p:nvSpPr>
        <p:spPr>
          <a:xfrm>
            <a:off x="5650992" y="2514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Steuer statt nur USt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5138928" y="29900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0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TAX statt VAT: Steuerschema je Steuer (IBT-167, z. B. VAT, GST), Stücksteuer je Einheit (IBT-166)</a:t>
            </a:r>
          </a:p>
        </p:txBody>
      </p:sp>
      <p:sp>
        <p:nvSpPr>
          <p:cNvPr id="23" name="Card 23"/>
          <p:cNvSpPr/>
          <p:nvPr/>
        </p:nvSpPr>
        <p:spPr>
          <a:xfrm>
            <a:off x="8211312" y="2331720"/>
            <a:ext cx="3154680" cy="123444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IconCircle 24"/>
          <p:cNvSpPr/>
          <p:nvPr/>
        </p:nvSpPr>
        <p:spPr>
          <a:xfrm>
            <a:off x="8412480" y="2532888"/>
            <a:ext cx="384048" cy="384048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5" name="Icon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8093" y="2638501"/>
            <a:ext cx="172822" cy="172822"/>
          </a:xfrm>
          <a:prstGeom prst="rect">
            <a:avLst/>
          </a:prstGeom>
        </p:spPr>
      </p:pic>
      <p:sp>
        <p:nvSpPr>
          <p:cNvPr id="26" name="Text 26"/>
          <p:cNvSpPr txBox="1"/>
          <p:nvPr/>
        </p:nvSpPr>
        <p:spPr>
          <a:xfrm>
            <a:off x="8924544" y="2514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Bruttopreise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8412480" y="29900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0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IBT-200: Preise, Zu-/Abschläge und Zeilenbeträge inklusive Steuer — netto bleibt Standard (vgl. #164)</a:t>
            </a:r>
          </a:p>
        </p:txBody>
      </p:sp>
      <p:sp>
        <p:nvSpPr>
          <p:cNvPr id="28" name="Card 28"/>
          <p:cNvSpPr/>
          <p:nvPr/>
        </p:nvSpPr>
        <p:spPr>
          <a:xfrm>
            <a:off x="4937760" y="3675888"/>
            <a:ext cx="3154680" cy="123444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IconCircle 29"/>
          <p:cNvSpPr/>
          <p:nvPr/>
        </p:nvSpPr>
        <p:spPr>
          <a:xfrm>
            <a:off x="5138928" y="3877056"/>
            <a:ext cx="384048" cy="384048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30" name="Icon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4541" y="3982669"/>
            <a:ext cx="172822" cy="172822"/>
          </a:xfrm>
          <a:prstGeom prst="rect">
            <a:avLst/>
          </a:prstGeom>
        </p:spPr>
      </p:pic>
      <p:sp>
        <p:nvSpPr>
          <p:cNvPr id="31" name="Text 31"/>
          <p:cNvSpPr txBox="1"/>
          <p:nvPr/>
        </p:nvSpPr>
        <p:spPr>
          <a:xfrm>
            <a:off x="5650992" y="38587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Raten &amp; Split Payment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5138928" y="433425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0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IBG-33: Betrag, Fälligkeit und Zahlungsweg je Rate; Quellensteuer als eigener Zahlungsweg</a:t>
            </a:r>
          </a:p>
        </p:txBody>
      </p:sp>
      <p:sp>
        <p:nvSpPr>
          <p:cNvPr id="33" name="Card 33"/>
          <p:cNvSpPr/>
          <p:nvPr/>
        </p:nvSpPr>
        <p:spPr>
          <a:xfrm>
            <a:off x="8211312" y="3675888"/>
            <a:ext cx="3154680" cy="123444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4" name="IconCircle 34"/>
          <p:cNvSpPr/>
          <p:nvPr/>
        </p:nvSpPr>
        <p:spPr>
          <a:xfrm>
            <a:off x="8412480" y="3877056"/>
            <a:ext cx="384048" cy="384048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35" name="Icon 3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8093" y="3982669"/>
            <a:ext cx="172822" cy="172822"/>
          </a:xfrm>
          <a:prstGeom prst="rect">
            <a:avLst/>
          </a:prstGeom>
        </p:spPr>
      </p:pic>
      <p:sp>
        <p:nvSpPr>
          <p:cNvPr id="36" name="Text 36"/>
          <p:cNvSpPr txBox="1"/>
          <p:nvPr/>
        </p:nvSpPr>
        <p:spPr>
          <a:xfrm>
            <a:off x="8924544" y="38587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Geleistete Zahlungen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8412480" y="433425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0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IBG-35: Anzahlungen aufgeschlüsselt nach Betrag, Datum, Zahlungsart und Referenz</a:t>
            </a:r>
          </a:p>
        </p:txBody>
      </p:sp>
      <p:sp>
        <p:nvSpPr>
          <p:cNvPr id="38" name="Card 38"/>
          <p:cNvSpPr/>
          <p:nvPr/>
        </p:nvSpPr>
        <p:spPr>
          <a:xfrm>
            <a:off x="4937760" y="5020056"/>
            <a:ext cx="3154680" cy="123444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9" name="IconCircle 39"/>
          <p:cNvSpPr/>
          <p:nvPr/>
        </p:nvSpPr>
        <p:spPr>
          <a:xfrm>
            <a:off x="5138928" y="5221224"/>
            <a:ext cx="384048" cy="384048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40" name="Icon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4541" y="5326837"/>
            <a:ext cx="172822" cy="172822"/>
          </a:xfrm>
          <a:prstGeom prst="rect">
            <a:avLst/>
          </a:prstGeom>
        </p:spPr>
      </p:pic>
      <p:sp>
        <p:nvSpPr>
          <p:cNvPr id="41" name="Text 41"/>
          <p:cNvSpPr txBox="1"/>
          <p:nvPr/>
        </p:nvSpPr>
        <p:spPr>
          <a:xfrm>
            <a:off x="5650992" y="520293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Steuer in Buchungswährung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5138928" y="567842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0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IBG-37/38: Summen und Steueraufschlüsselung in der Buchungswährung</a:t>
            </a:r>
          </a:p>
        </p:txBody>
      </p:sp>
      <p:sp>
        <p:nvSpPr>
          <p:cNvPr id="43" name="Card 43"/>
          <p:cNvSpPr/>
          <p:nvPr/>
        </p:nvSpPr>
        <p:spPr>
          <a:xfrm>
            <a:off x="8211312" y="5020056"/>
            <a:ext cx="3154680" cy="123444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4" name="IconCircle 44"/>
          <p:cNvSpPr/>
          <p:nvPr/>
        </p:nvSpPr>
        <p:spPr>
          <a:xfrm>
            <a:off x="8412480" y="5221224"/>
            <a:ext cx="384048" cy="384048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45" name="Icon 4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8093" y="5326837"/>
            <a:ext cx="172822" cy="172822"/>
          </a:xfrm>
          <a:prstGeom prst="rect">
            <a:avLst/>
          </a:prstGeom>
        </p:spPr>
      </p:pic>
      <p:sp>
        <p:nvSpPr>
          <p:cNvPr id="46" name="Text 46"/>
          <p:cNvSpPr txBox="1"/>
          <p:nvPr/>
        </p:nvSpPr>
        <p:spPr>
          <a:xfrm>
            <a:off x="8924544" y="520293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Bank im Ausland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8412480" y="567842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0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IBG-34: Adresse des kontoführenden Instituts für internationale Überweisungen</a:t>
            </a:r>
          </a:p>
        </p:txBody>
      </p:sp>
      <p:sp>
        <p:nvSpPr>
          <p:cNvPr id="48" name="Speaker 48">
            <a:hlinkClick r:id="rId9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Folie 2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FORMATE · XRECHNUNG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2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XRechnung 3.0.2: CIUS und Extension</a:t>
            </a:r>
          </a:p>
        </p:txBody>
      </p:sp>
      <p:sp>
        <p:nvSpPr>
          <p:cNvPr id="6" name="PageNum 6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143540A6-3919-4101-933E-242E6FDA5FF7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17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7" name="Shape 7"/>
          <p:cNvSpPr/>
          <p:nvPr/>
        </p:nvSpPr>
        <p:spPr>
          <a:xfrm>
            <a:off x="731520" y="2788920"/>
            <a:ext cx="3566160" cy="3566160"/>
          </a:xfrm>
          <a:prstGeom prst="ellipse">
            <a:avLst/>
          </a:prstGeom>
          <a:noFill/>
          <a:ln w="15875">
            <a:solidFill>
              <a:srgbClr val="8C8C8C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8"/>
          <p:cNvSpPr/>
          <p:nvPr/>
        </p:nvSpPr>
        <p:spPr>
          <a:xfrm>
            <a:off x="1662125" y="4650129"/>
            <a:ext cx="1704951" cy="1704951"/>
          </a:xfrm>
          <a:prstGeom prst="ellipse">
            <a:avLst/>
          </a:prstGeom>
          <a:solidFill>
            <a:srgbClr val="F6CF8F"/>
          </a:solidFill>
          <a:ln w="28575">
            <a:solidFill>
              <a:srgbClr val="2E9E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9"/>
          <p:cNvSpPr/>
          <p:nvPr/>
        </p:nvSpPr>
        <p:spPr>
          <a:xfrm>
            <a:off x="1687081" y="4700041"/>
            <a:ext cx="1655039" cy="1655039"/>
          </a:xfrm>
          <a:prstGeom prst="ellipse">
            <a:avLst/>
          </a:prstGeom>
          <a:solidFill>
            <a:srgbClr val="E0952B"/>
          </a:solidFill>
          <a:ln w="19050">
            <a:solidFill>
              <a:srgbClr val="2E9E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10"/>
          <p:cNvSpPr txBox="1"/>
          <p:nvPr/>
        </p:nvSpPr>
        <p:spPr>
          <a:xfrm>
            <a:off x="1508760" y="30815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sz="11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Factur-X EXTENDED</a:t>
            </a:r>
          </a:p>
          <a:p>
            <a:pPr marL="0" indent="0" algn="ctr">
              <a:buNone/>
            </a:pPr>
            <a:r>
              <a:rPr lang="de-DE" sz="1100" b="1" dirty="0">
                <a:solidFill>
                  <a:srgbClr val="00B0F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910</a:t>
            </a:r>
            <a:r>
              <a:rPr lang="de-DE" sz="11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— zum Vergleich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965960" y="5298961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2000" b="1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196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387805" y="460878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400" b="1" dirty="0">
                <a:solidFill>
                  <a:srgbClr val="9A5B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+12</a:t>
            </a:r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5120640" y="2240280"/>
          <a:ext cx="5806440" cy="1563624"/>
        </p:xfrm>
        <a:graphic>
          <a:graphicData uri="http://schemas.openxmlformats.org/drawingml/2006/table">
            <a:tbl>
              <a:tblPr firstRow="1" bandRow="1"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0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XRechnung 3.0.2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0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EN BG + BT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0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Neue BG + BT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0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Σ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0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Status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5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CIUS XRechnung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32 + 164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196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5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Standard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5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Extension XRechnung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32 + 164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9 + 3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208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5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optional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5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Factur-X EXTENDED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33 + 175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93 + 609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05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910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5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zum Vergleich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Card 14"/>
          <p:cNvSpPr/>
          <p:nvPr/>
        </p:nvSpPr>
        <p:spPr>
          <a:xfrm>
            <a:off x="5120640" y="4023360"/>
            <a:ext cx="58064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5"/>
          <p:cNvSpPr txBox="1"/>
          <p:nvPr/>
        </p:nvSpPr>
        <p:spPr>
          <a:xfrm>
            <a:off x="5394960" y="416052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600"/>
              </a:spcAft>
              <a:buNone/>
            </a:pPr>
            <a:r>
              <a:rPr lang="de-DE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Nicht nur eine Extension: </a:t>
            </a: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Die CIUS XRechnung ist der Standard. Sie behält alle 196 Terms der EN 16931 und verschärft die Regeln (z. B. BT-10 Buyer Reference = Leitweg-ID Pflicht).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de-DE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Die optionale Extension ergänzt:</a:t>
            </a:r>
          </a:p>
          <a:p>
            <a:pPr marL="164592" indent="-164592" algn="l">
              <a:spcAft>
                <a:spcPts val="100"/>
              </a:spcAft>
              <a:buSzPct val="100000"/>
              <a:buChar char="•"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Unterpositionen (BG-DEX-01 … 08, mit BT-126 … BT-161)</a:t>
            </a:r>
          </a:p>
          <a:p>
            <a:pPr marL="164592" indent="-164592" algn="l">
              <a:spcAft>
                <a:spcPts val="100"/>
              </a:spcAft>
              <a:buSzPct val="100000"/>
              <a:buChar char="•"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Zahlung durch Dritte (BG-DEX-09, BT-DEX-001 … 003)</a:t>
            </a:r>
          </a:p>
          <a:p>
            <a:pPr marL="164592" indent="-164592" algn="l">
              <a:buSzPct val="100000"/>
              <a:buChar char="•"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eingebettete XML-Anlagen (application/xml)</a:t>
            </a:r>
          </a:p>
        </p:txBody>
      </p:sp>
      <p:sp>
        <p:nvSpPr>
          <p:cNvPr id="16" name="Speaker 16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2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NEUE SEMANTIK · RECHENREGELN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Rundung &amp; Toleranz</a:t>
            </a:r>
          </a:p>
        </p:txBody>
      </p:sp>
      <p:sp>
        <p:nvSpPr>
          <p:cNvPr id="6" name="Tagline 6"/>
          <p:cNvSpPr txBox="1"/>
          <p:nvPr/>
        </p:nvSpPr>
        <p:spPr>
          <a:xfrm>
            <a:off x="822960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Erstmals regelt die Norm, wie genau gerechnet und verglichen wird.</a:t>
            </a:r>
          </a:p>
        </p:txBody>
      </p:sp>
      <p:sp>
        <p:nvSpPr>
          <p:cNvPr id="7" name="Speaker 7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8" name="PageNum 8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7A3FEE03-2F3C-4052-82B8-A097196B0022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18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9" name="Card 9"/>
          <p:cNvSpPr/>
          <p:nvPr/>
        </p:nvSpPr>
        <p:spPr>
          <a:xfrm>
            <a:off x="822960" y="2377440"/>
            <a:ext cx="3246120" cy="3429000"/>
          </a:xfrm>
          <a:prstGeom prst="roundRect">
            <a:avLst>
              <a:gd name="adj" fmla="val 225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IconCircle 10"/>
          <p:cNvSpPr/>
          <p:nvPr/>
        </p:nvSpPr>
        <p:spPr>
          <a:xfrm>
            <a:off x="1060704" y="2578608"/>
            <a:ext cx="402336" cy="402336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1" name="Icon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346" y="2689250"/>
            <a:ext cx="181051" cy="181051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1600200" y="25603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Rundung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097280" y="30175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Alle Beträge werden auf die Nachkommastellen der kleinsten Währungseinheit gerundet — die „minor unit“ nach ISO 4217.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1097280" y="3986784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00" spc="15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BEISPIELE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Nachkommastellen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097280" y="4242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EUR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664208" y="4242816"/>
            <a:ext cx="173736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Euro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3337560" y="4242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25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2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097280" y="45171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ISK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1664208" y="4517136"/>
            <a:ext cx="173736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Isländische Krone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3337560" y="45171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25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0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097280" y="48463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JPY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664208" y="4846320"/>
            <a:ext cx="173736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Japanischer Yen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333756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25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0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097280" y="51206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KWD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1664208" y="5120640"/>
            <a:ext cx="173736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Kuwait-Dinar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3337560" y="51206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25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3</a:t>
            </a:r>
          </a:p>
        </p:txBody>
      </p:sp>
      <p:sp>
        <p:nvSpPr>
          <p:cNvPr id="27" name="Shape 27"/>
          <p:cNvSpPr/>
          <p:nvPr/>
        </p:nvSpPr>
        <p:spPr>
          <a:xfrm>
            <a:off x="1097280" y="4805172"/>
            <a:ext cx="2697480" cy="9144"/>
          </a:xfrm>
          <a:prstGeom prst="rect">
            <a:avLst/>
          </a:prstGeom>
          <a:solidFill>
            <a:srgbClr val="E2E7F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8"/>
          <p:cNvSpPr txBox="1"/>
          <p:nvPr/>
        </p:nvSpPr>
        <p:spPr>
          <a:xfrm>
            <a:off x="1097280" y="537667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JPY und KWD liegen außerhalb Europas — keine europäische Währung hat 3 Nachkommastellen.</a:t>
            </a:r>
          </a:p>
        </p:txBody>
      </p:sp>
      <p:sp>
        <p:nvSpPr>
          <p:cNvPr id="29" name="Card 29"/>
          <p:cNvSpPr/>
          <p:nvPr/>
        </p:nvSpPr>
        <p:spPr>
          <a:xfrm>
            <a:off x="4251960" y="2377440"/>
            <a:ext cx="35661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" name="IconCircle 30"/>
          <p:cNvSpPr/>
          <p:nvPr/>
        </p:nvSpPr>
        <p:spPr>
          <a:xfrm>
            <a:off x="4489704" y="2578608"/>
            <a:ext cx="402336" cy="402336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31" name="Icon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0346" y="2689250"/>
            <a:ext cx="181051" cy="181051"/>
          </a:xfrm>
          <a:prstGeom prst="rect">
            <a:avLst/>
          </a:prstGeom>
        </p:spPr>
      </p:pic>
      <p:sp>
        <p:nvSpPr>
          <p:cNvPr id="32" name="Text 32"/>
          <p:cNvSpPr txBox="1"/>
          <p:nvPr/>
        </p:nvSpPr>
        <p:spPr>
          <a:xfrm>
            <a:off x="5029200" y="25603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Toleranz BT-92, BT-99, BT-131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4526280" y="3017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1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Abschlag und Zuschlag auf Dokumentebene, Nettobetrag der Zeile</a:t>
            </a:r>
          </a:p>
        </p:txBody>
      </p:sp>
      <p:graphicFrame>
        <p:nvGraphicFramePr>
          <p:cNvPr id="34" name="Table 34"/>
          <p:cNvGraphicFramePr>
            <a:graphicFrameLocks noGrp="1"/>
          </p:cNvGraphicFramePr>
          <p:nvPr/>
        </p:nvGraphicFramePr>
        <p:xfrm>
          <a:off x="4526280" y="3566160"/>
          <a:ext cx="3017520" cy="2008632"/>
        </p:xfrm>
        <a:graphic>
          <a:graphicData uri="http://schemas.openxmlformats.org/drawingml/2006/table">
            <a:tbl>
              <a:tblPr firstRow="1" bandRow="1"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9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Nachkommastellen der Währung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9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Toleranz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0  (z. B. ISK, JPY)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0,2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2  (z. B. EUR)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0,02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3  (z. B. KWD)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0,002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0,0002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" name="Panel 35"/>
          <p:cNvSpPr/>
          <p:nvPr/>
        </p:nvSpPr>
        <p:spPr>
          <a:xfrm>
            <a:off x="8001000" y="2377440"/>
            <a:ext cx="3364992" cy="3429000"/>
          </a:xfrm>
          <a:prstGeom prst="roundRect">
            <a:avLst>
              <a:gd name="adj" fmla="val 2717"/>
            </a:avLst>
          </a:prstGeom>
          <a:solidFill>
            <a:srgbClr val="1A2B5E"/>
          </a:solidFill>
          <a:ln>
            <a:noFill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6" name="Text 36"/>
          <p:cNvSpPr txBox="1"/>
          <p:nvPr/>
        </p:nvSpPr>
        <p:spPr>
          <a:xfrm>
            <a:off x="832104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2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MULTIPLIKATION &amp; DIVISION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8321040" y="2926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5400" b="1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0,1 %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8321040" y="38404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de-DE" sz="125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des berechneten Betrags als größte erlaubte Abweichung</a:t>
            </a:r>
          </a:p>
        </p:txBody>
      </p:sp>
      <p:sp>
        <p:nvSpPr>
          <p:cNvPr id="39" name="Shape 39"/>
          <p:cNvSpPr/>
          <p:nvPr/>
        </p:nvSpPr>
        <p:spPr>
          <a:xfrm>
            <a:off x="8321040" y="4526280"/>
            <a:ext cx="2724912" cy="9144"/>
          </a:xfrm>
          <a:prstGeom prst="rect">
            <a:avLst/>
          </a:prstGeom>
          <a:solidFill>
            <a:srgbClr val="3A4A7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40"/>
          <p:cNvSpPr txBox="1"/>
          <p:nvPr/>
        </p:nvSpPr>
        <p:spPr>
          <a:xfrm>
            <a:off x="8321040" y="46634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4592" indent="-164592" algn="l">
              <a:spcAft>
                <a:spcPts val="200"/>
              </a:spcAft>
              <a:buClr>
                <a:srgbClr val="19C3C8"/>
              </a:buClr>
              <a:buSzPct val="100000"/>
              <a:buChar char="•"/>
            </a:pPr>
            <a:r>
              <a:rPr lang="de-DE" sz="1250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mindestens 0,01</a:t>
            </a:r>
          </a:p>
          <a:p>
            <a:pPr marL="164592" indent="-164592" algn="l">
              <a:spcAft>
                <a:spcPts val="200"/>
              </a:spcAft>
              <a:buClr>
                <a:srgbClr val="19C3C8"/>
              </a:buClr>
              <a:buSzPct val="100000"/>
              <a:buChar char="•"/>
            </a:pPr>
            <a:r>
              <a:rPr lang="de-DE" sz="1250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höchstens 1,00</a:t>
            </a:r>
          </a:p>
          <a:p>
            <a:pPr marL="164592" indent="-164592" algn="l">
              <a:spcAft>
                <a:spcPts val="200"/>
              </a:spcAft>
              <a:buClr>
                <a:srgbClr val="19C3C8"/>
              </a:buClr>
              <a:buSzPct val="100000"/>
              <a:buChar char="•"/>
            </a:pPr>
            <a:r>
              <a:rPr lang="de-DE" sz="125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für alle übrigen Rechenregeln</a:t>
            </a:r>
          </a:p>
        </p:txBody>
      </p:sp>
      <p:sp>
        <p:nvSpPr>
          <p:cNvPr id="41" name="Pill 41"/>
          <p:cNvSpPr/>
          <p:nvPr/>
        </p:nvSpPr>
        <p:spPr>
          <a:xfrm>
            <a:off x="822960" y="5943600"/>
            <a:ext cx="10543032" cy="411480"/>
          </a:xfrm>
          <a:prstGeom prst="roundRect">
            <a:avLst>
              <a:gd name="adj" fmla="val 50000"/>
            </a:avLst>
          </a:prstGeom>
          <a:solidFill>
            <a:srgbClr val="E7F8F8"/>
          </a:solidFill>
          <a:ln w="9525">
            <a:solidFill>
              <a:srgbClr val="B5E9EA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Toleranzen fangen Rundungsdifferenzen auf — besser, sie entstehen gar nicht erst:  </a:t>
            </a:r>
            <a:r>
              <a:rPr lang="de-DE" sz="1200" dirty="0">
                <a:solidFill>
                  <a:srgbClr val="0E7E8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→ Amendment #163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2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EXAKTE RECHNUNGSARITHMETIK · 1/5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Computer rechnen meist binär</a:t>
            </a:r>
          </a:p>
        </p:txBody>
      </p:sp>
      <p:sp>
        <p:nvSpPr>
          <p:cNvPr id="6" name="Tagline 6"/>
          <p:cNvSpPr txBox="1"/>
          <p:nvPr/>
        </p:nvSpPr>
        <p:spPr>
          <a:xfrm>
            <a:off x="822960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XSLT, der Standard zur Prüfung von E-Rechnungen, rechnet binär — wenn man es nicht anders sagt.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FF91DACF-B74D-42B5-9B79-F0DD2DFD5FA4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19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Card 8"/>
          <p:cNvSpPr/>
          <p:nvPr/>
        </p:nvSpPr>
        <p:spPr>
          <a:xfrm>
            <a:off x="822960" y="2377440"/>
            <a:ext cx="4937760" cy="3520440"/>
          </a:xfrm>
          <a:prstGeom prst="roundRect">
            <a:avLst>
              <a:gd name="adj" fmla="val 2077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9"/>
          <p:cNvSpPr txBox="1"/>
          <p:nvPr/>
        </p:nvSpPr>
        <p:spPr>
          <a:xfrm>
            <a:off x="1143000" y="2560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2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EIN ALLTAGSVERGLEICH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143000" y="29260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30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1 ÷ 3 = 0,3333…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143000" y="3520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endet dezimal nie.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143000" y="39776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30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0,1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143000" y="4572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endet binär nie.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1143000" y="49834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Computer speichern Zahlen binär — 0,1 ist deshalb immer ein wenig daneben.</a:t>
            </a:r>
          </a:p>
        </p:txBody>
      </p:sp>
      <p:sp>
        <p:nvSpPr>
          <p:cNvPr id="15" name="Panel 15"/>
          <p:cNvSpPr/>
          <p:nvPr/>
        </p:nvSpPr>
        <p:spPr>
          <a:xfrm>
            <a:off x="5989320" y="2377440"/>
            <a:ext cx="5376672" cy="1691640"/>
          </a:xfrm>
          <a:prstGeom prst="roundRect">
            <a:avLst>
              <a:gd name="adj" fmla="val 5405"/>
            </a:avLst>
          </a:prstGeom>
          <a:solidFill>
            <a:srgbClr val="1A2B5E"/>
          </a:solidFill>
          <a:ln>
            <a:noFill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Text 16"/>
          <p:cNvSpPr txBox="1"/>
          <p:nvPr/>
        </p:nvSpPr>
        <p:spPr>
          <a:xfrm>
            <a:off x="6355080" y="25786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C2CA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XPath:  0.1 + 0.2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6355080" y="29260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0.30000000000000004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6355080" y="35661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statt 0.3</a:t>
            </a:r>
          </a:p>
        </p:txBody>
      </p:sp>
      <p:sp>
        <p:nvSpPr>
          <p:cNvPr id="19" name="Panel 19"/>
          <p:cNvSpPr/>
          <p:nvPr/>
        </p:nvSpPr>
        <p:spPr>
          <a:xfrm>
            <a:off x="5989320" y="4206240"/>
            <a:ext cx="5376672" cy="1691640"/>
          </a:xfrm>
          <a:prstGeom prst="roundRect">
            <a:avLst>
              <a:gd name="adj" fmla="val 5405"/>
            </a:avLst>
          </a:prstGeom>
          <a:solidFill>
            <a:srgbClr val="1A2B5E"/>
          </a:solidFill>
          <a:ln>
            <a:noFill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Text 20"/>
          <p:cNvSpPr txBox="1"/>
          <p:nvPr/>
        </p:nvSpPr>
        <p:spPr>
          <a:xfrm>
            <a:off x="6355080" y="44074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C2CA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XPath:  4.35 * 100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6355080" y="47548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434.99999999999994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6355080" y="5394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statt 435</a:t>
            </a:r>
          </a:p>
        </p:txBody>
      </p:sp>
      <p:sp>
        <p:nvSpPr>
          <p:cNvPr id="23" name="Speaker 23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2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EXAKTE RECHNUNGSARITHMETIK · 2/5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Dezimal ist seit 2008 Standard</a:t>
            </a:r>
          </a:p>
        </p:txBody>
      </p:sp>
      <p:sp>
        <p:nvSpPr>
          <p:cNvPr id="6" name="Tagline 6"/>
          <p:cNvSpPr txBox="1"/>
          <p:nvPr/>
        </p:nvSpPr>
        <p:spPr>
          <a:xfrm>
            <a:off x="822960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23 Jahre kannte der Gleitkomma-Standard nur binär — XSLT rechnet bis heute standardmäßig so.</a:t>
            </a:r>
          </a:p>
        </p:txBody>
      </p:sp>
      <p:sp>
        <p:nvSpPr>
          <p:cNvPr id="7" name="Speaker 7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8" name="PageNum 8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F7C5613F-305F-4AAF-9D08-5AE6C7D33BC0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20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9" name="Card 9"/>
          <p:cNvSpPr/>
          <p:nvPr/>
        </p:nvSpPr>
        <p:spPr>
          <a:xfrm>
            <a:off x="822960" y="2331720"/>
            <a:ext cx="1054303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cxnSp>
        <p:nvCxnSpPr>
          <p:cNvPr id="10" name="Connector 10"/>
          <p:cNvCxnSpPr/>
          <p:nvPr/>
        </p:nvCxnSpPr>
        <p:spPr>
          <a:xfrm>
            <a:off x="1280160" y="3127248"/>
            <a:ext cx="9646920" cy="0"/>
          </a:xfrm>
          <a:prstGeom prst="line">
            <a:avLst/>
          </a:prstGeom>
          <a:ln w="25400">
            <a:solidFill>
              <a:srgbClr val="E2E7F2"/>
            </a:solidFill>
          </a:ln>
        </p:spPr>
      </p:cxnSp>
      <p:sp>
        <p:nvSpPr>
          <p:cNvPr id="11" name="Text 11"/>
          <p:cNvSpPr txBox="1"/>
          <p:nvPr/>
        </p:nvSpPr>
        <p:spPr>
          <a:xfrm>
            <a:off x="1005840" y="2468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7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1985</a:t>
            </a:r>
          </a:p>
        </p:txBody>
      </p:sp>
      <p:sp>
        <p:nvSpPr>
          <p:cNvPr id="12" name="Shape 12"/>
          <p:cNvSpPr/>
          <p:nvPr/>
        </p:nvSpPr>
        <p:spPr>
          <a:xfrm>
            <a:off x="1874520" y="3035808"/>
            <a:ext cx="182880" cy="182880"/>
          </a:xfrm>
          <a:prstGeom prst="ellipse">
            <a:avLst/>
          </a:prstGeom>
          <a:solidFill>
            <a:srgbClr val="9AA4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3"/>
          <p:cNvSpPr txBox="1"/>
          <p:nvPr/>
        </p:nvSpPr>
        <p:spPr>
          <a:xfrm>
            <a:off x="1005840" y="33101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2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IEEE 754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1005840" y="36301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Gleitkomma-Standard: nur binär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3090672" y="2468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7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1987</a:t>
            </a:r>
          </a:p>
        </p:txBody>
      </p:sp>
      <p:sp>
        <p:nvSpPr>
          <p:cNvPr id="16" name="Shape 16"/>
          <p:cNvSpPr/>
          <p:nvPr/>
        </p:nvSpPr>
        <p:spPr>
          <a:xfrm>
            <a:off x="3959352" y="3035808"/>
            <a:ext cx="182880" cy="182880"/>
          </a:xfrm>
          <a:prstGeom prst="ellipse">
            <a:avLst/>
          </a:prstGeom>
          <a:solidFill>
            <a:srgbClr val="9AA4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7"/>
          <p:cNvSpPr txBox="1"/>
          <p:nvPr/>
        </p:nvSpPr>
        <p:spPr>
          <a:xfrm>
            <a:off x="3090672" y="33101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2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IEEE 854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3090672" y="36301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beliebige Basis, kaum umgesetzt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5175504" y="2468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7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2007</a:t>
            </a:r>
          </a:p>
        </p:txBody>
      </p:sp>
      <p:sp>
        <p:nvSpPr>
          <p:cNvPr id="20" name="Shape 20"/>
          <p:cNvSpPr/>
          <p:nvPr/>
        </p:nvSpPr>
        <p:spPr>
          <a:xfrm>
            <a:off x="6044184" y="3035808"/>
            <a:ext cx="182880" cy="182880"/>
          </a:xfrm>
          <a:prstGeom prst="ellipse">
            <a:avLst/>
          </a:prstGeom>
          <a:solidFill>
            <a:srgbClr val="9AA4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21"/>
          <p:cNvSpPr txBox="1"/>
          <p:nvPr/>
        </p:nvSpPr>
        <p:spPr>
          <a:xfrm>
            <a:off x="5175504" y="33101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2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IBM POWER6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5175504" y="36301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Dezimalarithmetik in Hardware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260336" y="2468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700" b="1" dirty="0">
                <a:solidFill>
                  <a:srgbClr val="0E7E8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2008</a:t>
            </a:r>
          </a:p>
        </p:txBody>
      </p:sp>
      <p:sp>
        <p:nvSpPr>
          <p:cNvPr id="24" name="Shape 24"/>
          <p:cNvSpPr/>
          <p:nvPr/>
        </p:nvSpPr>
        <p:spPr>
          <a:xfrm>
            <a:off x="8129016" y="3035808"/>
            <a:ext cx="182880" cy="182880"/>
          </a:xfrm>
          <a:prstGeom prst="ellipse">
            <a:avLst/>
          </a:prstGeom>
          <a:solidFill>
            <a:srgbClr val="19C3C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5"/>
          <p:cNvSpPr txBox="1"/>
          <p:nvPr/>
        </p:nvSpPr>
        <p:spPr>
          <a:xfrm>
            <a:off x="7260336" y="33101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2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IEEE 754-2008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7260336" y="36301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Dezimal wird Teil des Standards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9345168" y="2468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7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2011</a:t>
            </a:r>
          </a:p>
        </p:txBody>
      </p:sp>
      <p:sp>
        <p:nvSpPr>
          <p:cNvPr id="28" name="Shape 28"/>
          <p:cNvSpPr/>
          <p:nvPr/>
        </p:nvSpPr>
        <p:spPr>
          <a:xfrm>
            <a:off x="10213848" y="3035808"/>
            <a:ext cx="182880" cy="182880"/>
          </a:xfrm>
          <a:prstGeom prst="ellipse">
            <a:avLst/>
          </a:prstGeom>
          <a:solidFill>
            <a:srgbClr val="9AA4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9"/>
          <p:cNvSpPr txBox="1"/>
          <p:nvPr/>
        </p:nvSpPr>
        <p:spPr>
          <a:xfrm>
            <a:off x="9345168" y="33101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2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ISO/IEC/IEEE 60559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9345168" y="36301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dasselbe als internationale Norm</a:t>
            </a:r>
          </a:p>
        </p:txBody>
      </p:sp>
      <p:sp>
        <p:nvSpPr>
          <p:cNvPr id="31" name="Panel 31"/>
          <p:cNvSpPr/>
          <p:nvPr/>
        </p:nvSpPr>
        <p:spPr>
          <a:xfrm>
            <a:off x="822960" y="4389120"/>
            <a:ext cx="5175504" cy="1691640"/>
          </a:xfrm>
          <a:prstGeom prst="roundRect">
            <a:avLst>
              <a:gd name="adj" fmla="val 5405"/>
            </a:avLst>
          </a:prstGeom>
          <a:solidFill>
            <a:srgbClr val="1A2B5E"/>
          </a:solidFill>
          <a:ln>
            <a:noFill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2" name="Text 32"/>
          <p:cNvSpPr txBox="1"/>
          <p:nvPr/>
        </p:nvSpPr>
        <p:spPr>
          <a:xfrm>
            <a:off x="1143000" y="45262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3400" b="1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98,6 %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1143000" y="52120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de-DE" sz="125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der Zahlen in kommerziellen Datenbanken sind dezimal oder ganzzahlig</a:t>
            </a:r>
          </a:p>
        </p:txBody>
      </p:sp>
      <p:sp>
        <p:nvSpPr>
          <p:cNvPr id="34" name="Panel 34"/>
          <p:cNvSpPr/>
          <p:nvPr/>
        </p:nvSpPr>
        <p:spPr>
          <a:xfrm>
            <a:off x="6190488" y="4389120"/>
            <a:ext cx="5175504" cy="1691640"/>
          </a:xfrm>
          <a:prstGeom prst="roundRect">
            <a:avLst>
              <a:gd name="adj" fmla="val 5405"/>
            </a:avLst>
          </a:prstGeom>
          <a:solidFill>
            <a:srgbClr val="1A2B5E"/>
          </a:solidFill>
          <a:ln>
            <a:noFill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5" name="Text 35"/>
          <p:cNvSpPr txBox="1"/>
          <p:nvPr/>
        </p:nvSpPr>
        <p:spPr>
          <a:xfrm>
            <a:off x="6510528" y="45262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3400" b="1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0,73 € statt 0,74 €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6510528" y="52120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de-DE" sz="125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5 % Steuer auf ein Telefonat für 0,70 €, binär gerechnet. Bei einer Million Anrufen: über 20 € falsch.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2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EXAKTE RECHNUNGSARITHMETIK · 3/5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… und es rundet anders als der Handel</a:t>
            </a:r>
          </a:p>
        </p:txBody>
      </p:sp>
      <p:sp>
        <p:nvSpPr>
          <p:cNvPr id="6" name="Tagline 6"/>
          <p:cNvSpPr txBox="1"/>
          <p:nvPr/>
        </p:nvSpPr>
        <p:spPr>
          <a:xfrm>
            <a:off x="822960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Jede Gutschrift ist betroffen.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CF71794B-2BB3-4FED-B1A8-17B7954B8052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21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822960" y="2377440"/>
          <a:ext cx="10543032" cy="2084832"/>
        </p:xfrm>
        <a:graphic>
          <a:graphicData uri="http://schemas.openxmlformats.org/drawingml/2006/table">
            <a:tbl>
              <a:tblPr firstRow="1" bandRow="1"/>
              <a:tblGrid>
                <a:gridCol w="5422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/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20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Standard-XSLT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20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Kaufmännisch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3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−2,5 runden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400" dirty="0">
                          <a:solidFill>
                            <a:srgbClr val="C0392B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−2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40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−3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3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1,005 auf zwei Stellen runden (binär gespeichert als 1,00499999…)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400" dirty="0">
                          <a:solidFill>
                            <a:srgbClr val="C0392B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40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1,01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3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USt einer Gutschrift über −3,50 € bei 19 %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400" dirty="0">
                          <a:solidFill>
                            <a:srgbClr val="C0392B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−0,66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40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−0,67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Card 9"/>
          <p:cNvSpPr/>
          <p:nvPr/>
        </p:nvSpPr>
        <p:spPr>
          <a:xfrm>
            <a:off x="822960" y="4572000"/>
            <a:ext cx="517550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IconCircle 10"/>
          <p:cNvSpPr/>
          <p:nvPr/>
        </p:nvSpPr>
        <p:spPr>
          <a:xfrm>
            <a:off x="1060704" y="4773168"/>
            <a:ext cx="402336" cy="402336"/>
          </a:xfrm>
          <a:prstGeom prst="ellipse">
            <a:avLst/>
          </a:prstGeom>
          <a:solidFill>
            <a:srgbClr val="C0392B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1" name="Ico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346" y="4883810"/>
            <a:ext cx="181051" cy="181051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1600200" y="4754880"/>
            <a:ext cx="4215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XSLT: Halbe immer aufwärts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600200" y="52303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de-DE" sz="12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Richtung +∞ — auch bei negativen Beträgen.</a:t>
            </a:r>
          </a:p>
        </p:txBody>
      </p:sp>
      <p:sp>
        <p:nvSpPr>
          <p:cNvPr id="14" name="Card 14"/>
          <p:cNvSpPr/>
          <p:nvPr/>
        </p:nvSpPr>
        <p:spPr>
          <a:xfrm>
            <a:off x="6190488" y="4572000"/>
            <a:ext cx="517550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IconCircle 15"/>
          <p:cNvSpPr/>
          <p:nvPr/>
        </p:nvSpPr>
        <p:spPr>
          <a:xfrm>
            <a:off x="6428232" y="4773168"/>
            <a:ext cx="402336" cy="402336"/>
          </a:xfrm>
          <a:prstGeom prst="ellipse">
            <a:avLst/>
          </a:prstGeom>
          <a:solidFill>
            <a:srgbClr val="1E8A4C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6" name="Icon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874" y="4883810"/>
            <a:ext cx="181051" cy="181051"/>
          </a:xfrm>
          <a:prstGeom prst="rect">
            <a:avLst/>
          </a:prstGeom>
        </p:spPr>
      </p:pic>
      <p:sp>
        <p:nvSpPr>
          <p:cNvPr id="17" name="Text 17"/>
          <p:cNvSpPr txBox="1"/>
          <p:nvPr/>
        </p:nvSpPr>
        <p:spPr>
          <a:xfrm>
            <a:off x="6967728" y="4754880"/>
            <a:ext cx="4215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Handel &amp; Steuerrecht: Halbe weg von der Null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6967728" y="52303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de-DE" sz="12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Abschn. 14.5 UStAE, DIN 1333, AFNOR XP Z12-012</a:t>
            </a:r>
          </a:p>
        </p:txBody>
      </p:sp>
      <p:sp>
        <p:nvSpPr>
          <p:cNvPr id="19" name="Speaker 19">
            <a:hlinkClick r:id="rId5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2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EXAKTE RECHNUNGSARITHMETIK · 4/5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4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Die Lösung: heute Svanton, morgen der Standard</a:t>
            </a:r>
          </a:p>
        </p:txBody>
      </p:sp>
      <p:sp>
        <p:nvSpPr>
          <p:cNvPr id="6" name="PageNum 6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8744BD23-780D-430D-915A-599EA610065A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22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7" name="Card 7"/>
          <p:cNvSpPr/>
          <p:nvPr/>
        </p:nvSpPr>
        <p:spPr>
          <a:xfrm>
            <a:off x="822960" y="2240280"/>
            <a:ext cx="3246120" cy="27432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8"/>
          <p:cNvSpPr txBox="1"/>
          <p:nvPr/>
        </p:nvSpPr>
        <p:spPr>
          <a:xfrm>
            <a:off x="109728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2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HEUTE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097280" y="2743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22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  <a:hlinkClick r:id="rId3"/>
              </a:rPr>
              <a:t>Svanton</a:t>
            </a:r>
            <a:endParaRPr lang="de-DE" sz="2200" b="1" dirty="0">
              <a:solidFill>
                <a:srgbClr val="1A2B5E"/>
              </a:solidFill>
              <a:latin typeface="Inter Text" pitchFamily="34" charset="0"/>
              <a:ea typeface="Inter Text" pitchFamily="34" charset="-122"/>
              <a:cs typeface="Inter Text" pitchFamily="34" charset="-120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1097280" y="33832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4592" indent="-164592" algn="l">
              <a:spcAft>
                <a:spcPts val="400"/>
              </a:spcAft>
              <a:buClr>
                <a:srgbClr val="19C3C8"/>
              </a:buClr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Erweitertes Saxon, die meistgenutzte freie XSLT-Engine</a:t>
            </a:r>
          </a:p>
          <a:p>
            <a:pPr marL="164592" indent="-164592" algn="l">
              <a:spcAft>
                <a:spcPts val="400"/>
              </a:spcAft>
              <a:buClr>
                <a:srgbClr val="19C3C8"/>
              </a:buClr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Dezimalarithmetik, kaufmännisches Runden</a:t>
            </a:r>
          </a:p>
          <a:p>
            <a:pPr marL="164592" indent="-164592" algn="l">
              <a:spcAft>
                <a:spcPts val="400"/>
              </a:spcAft>
              <a:buClr>
                <a:srgbClr val="19C3C8"/>
              </a:buClr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Drop-in-Ersatz, getestet mit den EN-16931-Artefakten</a:t>
            </a:r>
          </a:p>
        </p:txBody>
      </p:sp>
      <p:cxnSp>
        <p:nvCxnSpPr>
          <p:cNvPr id="11" name="Connector 11"/>
          <p:cNvCxnSpPr/>
          <p:nvPr/>
        </p:nvCxnSpPr>
        <p:spPr>
          <a:xfrm>
            <a:off x="4114800" y="3611880"/>
            <a:ext cx="310896" cy="0"/>
          </a:xfrm>
          <a:prstGeom prst="line">
            <a:avLst/>
          </a:prstGeom>
          <a:ln w="28575">
            <a:solidFill>
              <a:srgbClr val="19C3C8"/>
            </a:solidFill>
            <a:tailEnd type="triangle" w="med" len="med"/>
          </a:ln>
        </p:spPr>
      </p:cxnSp>
      <p:sp>
        <p:nvSpPr>
          <p:cNvPr id="12" name="Card 12"/>
          <p:cNvSpPr/>
          <p:nvPr/>
        </p:nvSpPr>
        <p:spPr>
          <a:xfrm>
            <a:off x="4471416" y="2240280"/>
            <a:ext cx="3246120" cy="27432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3"/>
          <p:cNvSpPr txBox="1"/>
          <p:nvPr/>
        </p:nvSpPr>
        <p:spPr>
          <a:xfrm>
            <a:off x="4745736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2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VORGESCHLAGEN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4745736" y="2743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22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XSLT 4.0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4745736" y="33832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4592" indent="-164592" algn="l">
              <a:spcAft>
                <a:spcPts val="400"/>
              </a:spcAft>
              <a:buClr>
                <a:srgbClr val="19C3C8"/>
              </a:buClr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Vorschlag an die W3C-Gruppe hinter XPath, XQuery und XSLT</a:t>
            </a:r>
          </a:p>
          <a:p>
            <a:pPr marL="164592" indent="-164592" algn="l">
              <a:spcAft>
                <a:spcPts val="400"/>
              </a:spcAft>
              <a:buClr>
                <a:srgbClr val="19C3C8"/>
              </a:buClr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Ein Schalter je Regelwerk</a:t>
            </a:r>
          </a:p>
          <a:p>
            <a:pPr marL="164592" indent="-164592" algn="l">
              <a:spcAft>
                <a:spcPts val="400"/>
              </a:spcAft>
              <a:buClr>
                <a:srgbClr val="19C3C8"/>
              </a:buClr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Keine Regel muss sich ändern</a:t>
            </a:r>
          </a:p>
        </p:txBody>
      </p:sp>
      <p:cxnSp>
        <p:nvCxnSpPr>
          <p:cNvPr id="16" name="Connector 16"/>
          <p:cNvCxnSpPr/>
          <p:nvPr/>
        </p:nvCxnSpPr>
        <p:spPr>
          <a:xfrm>
            <a:off x="7763256" y="3611880"/>
            <a:ext cx="310896" cy="0"/>
          </a:xfrm>
          <a:prstGeom prst="line">
            <a:avLst/>
          </a:prstGeom>
          <a:ln w="28575">
            <a:solidFill>
              <a:srgbClr val="19C3C8"/>
            </a:solidFill>
            <a:tailEnd type="triangle" w="med" len="med"/>
          </a:ln>
        </p:spPr>
      </p:cxnSp>
      <p:sp>
        <p:nvSpPr>
          <p:cNvPr id="17" name="Panel 17"/>
          <p:cNvSpPr/>
          <p:nvPr/>
        </p:nvSpPr>
        <p:spPr>
          <a:xfrm>
            <a:off x="8119872" y="2240280"/>
            <a:ext cx="3246120" cy="2743200"/>
          </a:xfrm>
          <a:prstGeom prst="roundRect">
            <a:avLst>
              <a:gd name="adj" fmla="val 3333"/>
            </a:avLst>
          </a:prstGeom>
          <a:solidFill>
            <a:srgbClr val="1A2B5E"/>
          </a:solidFill>
          <a:ln>
            <a:noFill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Text 18"/>
          <p:cNvSpPr txBox="1"/>
          <p:nvPr/>
        </p:nvSpPr>
        <p:spPr>
          <a:xfrm>
            <a:off x="8394192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2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ZIEL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8394192" y="2743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2200" b="1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Jeder Prozessor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394192" y="33832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4592" indent="-164592" algn="l">
              <a:spcAft>
                <a:spcPts val="400"/>
              </a:spcAft>
              <a:buClr>
                <a:srgbClr val="19C3C8"/>
              </a:buClr>
              <a:buSzPct val="100000"/>
              <a:buChar char="•"/>
            </a:pPr>
            <a:r>
              <a:rPr lang="de-DE" sz="12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Exakte Rechnungsarithmetik per Standard</a:t>
            </a:r>
          </a:p>
          <a:p>
            <a:pPr marL="164592" indent="-164592" algn="l">
              <a:spcAft>
                <a:spcPts val="400"/>
              </a:spcAft>
              <a:buClr>
                <a:srgbClr val="19C3C8"/>
              </a:buClr>
              <a:buSzPct val="100000"/>
              <a:buChar char="•"/>
            </a:pPr>
            <a:r>
              <a:rPr lang="de-DE" sz="12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Gleiches Ergebnis überall</a:t>
            </a:r>
          </a:p>
          <a:p>
            <a:pPr marL="164592" indent="-164592" algn="l">
              <a:spcAft>
                <a:spcPts val="400"/>
              </a:spcAft>
              <a:buClr>
                <a:srgbClr val="19C3C8"/>
              </a:buClr>
              <a:buSzPct val="100000"/>
              <a:buChar char="•"/>
            </a:pPr>
            <a:r>
              <a:rPr lang="de-DE" sz="12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Svanton wird überflüssig</a:t>
            </a:r>
          </a:p>
        </p:txBody>
      </p:sp>
      <p:sp>
        <p:nvSpPr>
          <p:cNvPr id="21" name="Panel 21"/>
          <p:cNvSpPr/>
          <p:nvPr/>
        </p:nvSpPr>
        <p:spPr>
          <a:xfrm>
            <a:off x="822960" y="5212080"/>
            <a:ext cx="10543032" cy="1143000"/>
          </a:xfrm>
          <a:prstGeom prst="roundRect">
            <a:avLst>
              <a:gd name="adj" fmla="val 8000"/>
            </a:avLst>
          </a:prstGeom>
          <a:solidFill>
            <a:srgbClr val="1A2B5E"/>
          </a:solidFill>
          <a:ln>
            <a:noFill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22"/>
          <p:cNvSpPr txBox="1"/>
          <p:nvPr/>
        </p:nvSpPr>
        <p:spPr>
          <a:xfrm>
            <a:off x="1143000" y="532180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050" spc="15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BIS DAHIN — FÜR ALLE, DIE REGELN SCHREIBEN ODER RECHNUNGEN BERECHNEN</a:t>
            </a:r>
          </a:p>
        </p:txBody>
      </p:sp>
      <p:sp>
        <p:nvSpPr>
          <p:cNvPr id="23" name="Pill 23"/>
          <p:cNvSpPr/>
          <p:nvPr/>
        </p:nvSpPr>
        <p:spPr>
          <a:xfrm>
            <a:off x="1143000" y="5733288"/>
            <a:ext cx="1828800" cy="438912"/>
          </a:xfrm>
          <a:prstGeom prst="roundRect">
            <a:avLst>
              <a:gd name="adj" fmla="val 50000"/>
            </a:avLst>
          </a:prstGeom>
          <a:solidFill>
            <a:srgbClr val="2A3D74"/>
          </a:solidFill>
          <a:ln w="9525">
            <a:solidFill>
              <a:srgbClr val="3A4F8A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dezimal rechnen</a:t>
            </a:r>
          </a:p>
        </p:txBody>
      </p:sp>
      <p:sp>
        <p:nvSpPr>
          <p:cNvPr id="24" name="Pill 24"/>
          <p:cNvSpPr/>
          <p:nvPr/>
        </p:nvSpPr>
        <p:spPr>
          <a:xfrm>
            <a:off x="3108960" y="5733288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2A3D74"/>
          </a:solidFill>
          <a:ln w="9525">
            <a:solidFill>
              <a:srgbClr val="3A4F8A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kaufmännisch runden</a:t>
            </a:r>
          </a:p>
        </p:txBody>
      </p:sp>
      <p:sp>
        <p:nvSpPr>
          <p:cNvPr id="25" name="Pill 25"/>
          <p:cNvSpPr/>
          <p:nvPr/>
        </p:nvSpPr>
        <p:spPr>
          <a:xfrm>
            <a:off x="5349240" y="5733288"/>
            <a:ext cx="2377440" cy="438912"/>
          </a:xfrm>
          <a:prstGeom prst="roundRect">
            <a:avLst>
              <a:gd name="adj" fmla="val 50000"/>
            </a:avLst>
          </a:prstGeom>
          <a:solidFill>
            <a:srgbClr val="2A3D74"/>
          </a:solidFill>
          <a:ln w="9525">
            <a:solidFill>
              <a:srgbClr val="3A4F8A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einmal runden — am Ende</a:t>
            </a:r>
          </a:p>
        </p:txBody>
      </p:sp>
      <p:sp>
        <p:nvSpPr>
          <p:cNvPr id="26" name="Pill 26"/>
          <p:cNvSpPr/>
          <p:nvPr/>
        </p:nvSpPr>
        <p:spPr>
          <a:xfrm>
            <a:off x="7863840" y="5733288"/>
            <a:ext cx="3017520" cy="438912"/>
          </a:xfrm>
          <a:prstGeom prst="roundRect">
            <a:avLst>
              <a:gd name="adj" fmla="val 50000"/>
            </a:avLst>
          </a:prstGeom>
          <a:solidFill>
            <a:srgbClr val="2A3D74"/>
          </a:solidFill>
          <a:ln w="9525">
            <a:solidFill>
              <a:srgbClr val="3A4F8A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erst multiplizieren, zuletzt dividieren</a:t>
            </a:r>
          </a:p>
        </p:txBody>
      </p:sp>
      <p:sp>
        <p:nvSpPr>
          <p:cNvPr id="27" name="Speaker 27">
            <a:hlinkClick r:id="rId4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2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EXAKTE RECHNUNGSARITHMETIK · 5/5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Auf dem Weg zum Standard</a:t>
            </a:r>
          </a:p>
        </p:txBody>
      </p:sp>
      <p:sp>
        <p:nvSpPr>
          <p:cNvPr id="6" name="Tagline 6"/>
          <p:cNvSpPr txBox="1"/>
          <p:nvPr/>
        </p:nvSpPr>
        <p:spPr>
          <a:xfrm>
            <a:off x="822960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Dann braucht niemand mehr eine Spezial-Engine.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C9E18277-7858-4F6E-BD14-1ECF90BB1AB3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23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Panel 8"/>
          <p:cNvSpPr/>
          <p:nvPr/>
        </p:nvSpPr>
        <p:spPr>
          <a:xfrm>
            <a:off x="822960" y="2377440"/>
            <a:ext cx="4937760" cy="3520440"/>
          </a:xfrm>
          <a:prstGeom prst="roundRect">
            <a:avLst>
              <a:gd name="adj" fmla="val 2597"/>
            </a:avLst>
          </a:prstGeom>
          <a:solidFill>
            <a:srgbClr val="1A2B5E"/>
          </a:solidFill>
          <a:ln>
            <a:noFill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9"/>
          <p:cNvSpPr txBox="1"/>
          <p:nvPr/>
        </p:nvSpPr>
        <p:spPr>
          <a:xfrm>
            <a:off x="1143000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8000" b="1" dirty="0">
                <a:solidFill>
                  <a:srgbClr val="19C3C8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“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143000" y="324612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de-DE" sz="2400" dirty="0">
                <a:solidFill>
                  <a:srgbClr val="FFFFFF"/>
                </a:solidFill>
                <a:latin typeface="Inter Light Text Light" pitchFamily="34" charset="0"/>
                <a:ea typeface="Inter Light Text Light" pitchFamily="34" charset="-122"/>
                <a:cs typeface="Inter Light Text Light" pitchFamily="34" charset="-120"/>
              </a:rPr>
              <a:t>… I guess we have to give this a shot.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143000" y="46634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de-DE" sz="12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Michael Kay, Editor der XSLT-Spezifikation und Autor von Saxon, zum Vorschlag am 28.09.2026</a:t>
            </a:r>
          </a:p>
        </p:txBody>
      </p:sp>
      <p:sp>
        <p:nvSpPr>
          <p:cNvPr id="12" name="Card 12"/>
          <p:cNvSpPr/>
          <p:nvPr/>
        </p:nvSpPr>
        <p:spPr>
          <a:xfrm>
            <a:off x="5989320" y="2377440"/>
            <a:ext cx="5376672" cy="3520440"/>
          </a:xfrm>
          <a:prstGeom prst="roundRect">
            <a:avLst>
              <a:gd name="adj" fmla="val 2077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3"/>
          <p:cNvSpPr txBox="1"/>
          <p:nvPr/>
        </p:nvSpPr>
        <p:spPr>
          <a:xfrm>
            <a:off x="6309360" y="2560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Was der Vorschlag zu XSLT 4.0 ergänzt</a:t>
            </a:r>
          </a:p>
        </p:txBody>
      </p:sp>
      <p:sp>
        <p:nvSpPr>
          <p:cNvPr id="14" name="IconCircle 14"/>
          <p:cNvSpPr/>
          <p:nvPr/>
        </p:nvSpPr>
        <p:spPr>
          <a:xfrm>
            <a:off x="6309360" y="3154680"/>
            <a:ext cx="402336" cy="402336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5" name="Icon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002" y="3265322"/>
            <a:ext cx="181051" cy="181051"/>
          </a:xfrm>
          <a:prstGeom prst="rect">
            <a:avLst/>
          </a:prstGeom>
        </p:spPr>
      </p:pic>
      <p:sp>
        <p:nvSpPr>
          <p:cNvPr id="16" name="Text 16"/>
          <p:cNvSpPr txBox="1"/>
          <p:nvPr/>
        </p:nvSpPr>
        <p:spPr>
          <a:xfrm>
            <a:off x="6858000" y="308152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Dezimalarithmetik für ein ganzes Regelwerk — einmal eingeschaltet</a:t>
            </a:r>
          </a:p>
        </p:txBody>
      </p:sp>
      <p:sp>
        <p:nvSpPr>
          <p:cNvPr id="17" name="IconCircle 17"/>
          <p:cNvSpPr/>
          <p:nvPr/>
        </p:nvSpPr>
        <p:spPr>
          <a:xfrm>
            <a:off x="6309360" y="4023360"/>
            <a:ext cx="402336" cy="402336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8" name="Icon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002" y="4134002"/>
            <a:ext cx="181051" cy="181051"/>
          </a:xfrm>
          <a:prstGeom prst="rect">
            <a:avLst/>
          </a:prstGeom>
        </p:spPr>
      </p:pic>
      <p:sp>
        <p:nvSpPr>
          <p:cNvPr id="19" name="Text 19"/>
          <p:cNvSpPr txBox="1"/>
          <p:nvPr/>
        </p:nvSpPr>
        <p:spPr>
          <a:xfrm>
            <a:off x="6858000" y="395020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Kaufmännisches Runden (halb weg von der Null) als Vorgabe</a:t>
            </a:r>
          </a:p>
        </p:txBody>
      </p:sp>
      <p:sp>
        <p:nvSpPr>
          <p:cNvPr id="20" name="IconCircle 20"/>
          <p:cNvSpPr/>
          <p:nvPr/>
        </p:nvSpPr>
        <p:spPr>
          <a:xfrm>
            <a:off x="6309360" y="4892040"/>
            <a:ext cx="402336" cy="402336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1" name="Icon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002" y="5002682"/>
            <a:ext cx="181051" cy="181051"/>
          </a:xfrm>
          <a:prstGeom prst="rect">
            <a:avLst/>
          </a:prstGeom>
        </p:spPr>
      </p:pic>
      <p:sp>
        <p:nvSpPr>
          <p:cNvPr id="22" name="Text 22"/>
          <p:cNvSpPr txBox="1"/>
          <p:nvPr/>
        </p:nvSpPr>
        <p:spPr>
          <a:xfrm>
            <a:off x="6858000" y="481888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Keine Änderung an bestehenden Regeln — statt Umbau jeder einzelnen Regel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822960" y="60533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Gefördert von der Europäischen Union (StandICT.eu-Fellowship)  ·  Vorschlag: </a:t>
            </a:r>
            <a:r>
              <a:rPr lang="de-DE" sz="1050" u="sng" dirty="0">
                <a:solidFill>
                  <a:srgbClr val="0E7E8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  <a:hlinkClick r:id="rId4"/>
              </a:rPr>
              <a:t>github.com/qt4cg/qtspecs/issues/2935</a:t>
            </a:r>
          </a:p>
        </p:txBody>
      </p:sp>
      <p:sp>
        <p:nvSpPr>
          <p:cNvPr id="24" name="Speaker 24">
            <a:hlinkClick r:id="rId5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3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AMENDMENT · MEIN VORSCHLAG 1/2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Nur einmal runden (#163)</a:t>
            </a:r>
          </a:p>
        </p:txBody>
      </p:sp>
      <p:sp>
        <p:nvSpPr>
          <p:cNvPr id="6" name="Tagline 6"/>
          <p:cNvSpPr txBox="1"/>
          <p:nvPr/>
        </p:nvSpPr>
        <p:spPr>
          <a:xfrm>
            <a:off x="822960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Gerundet wird nur, was bezahlt wird — sonst nichts.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67D73E2F-A595-473C-9F0C-80BA506D5B08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24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Card 8"/>
          <p:cNvSpPr/>
          <p:nvPr/>
        </p:nvSpPr>
        <p:spPr>
          <a:xfrm>
            <a:off x="822960" y="233172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IconCircle 9"/>
          <p:cNvSpPr/>
          <p:nvPr/>
        </p:nvSpPr>
        <p:spPr>
          <a:xfrm>
            <a:off x="1060704" y="2532888"/>
            <a:ext cx="402336" cy="402336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0" name="Ico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346" y="2643530"/>
            <a:ext cx="181051" cy="181051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1600200" y="251460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Gezahlte Beträge — einmal gerundet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133856" y="2990088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4592" indent="-164592" algn="l">
              <a:spcAft>
                <a:spcPts val="200"/>
              </a:spcAft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BT-115 Zahlbetrag: in der Minor Unit der Währung (EUR: Cent)</a:t>
            </a:r>
          </a:p>
          <a:p>
            <a:pPr marL="164592" indent="-164592" algn="l">
              <a:spcAft>
                <a:spcPts val="200"/>
              </a:spcAft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BT-114 Rundungsbetrag trägt die eine Rundung</a:t>
            </a:r>
          </a:p>
          <a:p>
            <a:pPr marL="164592" indent="-164592" algn="l">
              <a:spcAft>
                <a:spcPts val="200"/>
              </a:spcAft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BT-113, BT-172, BT-179, BT-183 ebenso — sie ändern den Zahlbetrag</a:t>
            </a:r>
          </a:p>
        </p:txBody>
      </p:sp>
      <p:sp>
        <p:nvSpPr>
          <p:cNvPr id="13" name="Card 13"/>
          <p:cNvSpPr/>
          <p:nvPr/>
        </p:nvSpPr>
        <p:spPr>
          <a:xfrm>
            <a:off x="822960" y="4160520"/>
            <a:ext cx="5166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IconCircle 14"/>
          <p:cNvSpPr/>
          <p:nvPr/>
        </p:nvSpPr>
        <p:spPr>
          <a:xfrm>
            <a:off x="1060704" y="4361688"/>
            <a:ext cx="402336" cy="402336"/>
          </a:xfrm>
          <a:prstGeom prst="ellipse">
            <a:avLst/>
          </a:prstGeom>
          <a:solidFill>
            <a:srgbClr val="1A2B5E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5" name="Icon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346" y="4472330"/>
            <a:ext cx="181051" cy="181051"/>
          </a:xfrm>
          <a:prstGeom prst="rect">
            <a:avLst/>
          </a:prstGeom>
        </p:spPr>
      </p:pic>
      <p:sp>
        <p:nvSpPr>
          <p:cNvPr id="16" name="Text 16"/>
          <p:cNvSpPr txBox="1"/>
          <p:nvPr/>
        </p:nvSpPr>
        <p:spPr>
          <a:xfrm>
            <a:off x="1600200" y="434340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Alles andere — auch die USt — wie berechnet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133856" y="4818888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4592" indent="-164592" algn="l">
              <a:spcAft>
                <a:spcPts val="200"/>
              </a:spcAft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Preise, Zeilen, Summen, Bemessungsgrundlage und USt</a:t>
            </a:r>
          </a:p>
          <a:p>
            <a:pPr marL="164592" indent="-164592" algn="l">
              <a:spcAft>
                <a:spcPts val="200"/>
              </a:spcAft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Cent-USt nur per nationaler CIUS (z. B. UStAE 14.5 (20))</a:t>
            </a:r>
          </a:p>
          <a:p>
            <a:pPr marL="164592" indent="-164592" algn="l">
              <a:spcAft>
                <a:spcPts val="200"/>
              </a:spcAft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Wer heute auf die Minor Unit rundet, bleibt gültig (Warnung)</a:t>
            </a:r>
          </a:p>
        </p:txBody>
      </p:sp>
      <p:sp>
        <p:nvSpPr>
          <p:cNvPr id="18" name="Panel 18"/>
          <p:cNvSpPr/>
          <p:nvPr/>
        </p:nvSpPr>
        <p:spPr>
          <a:xfrm>
            <a:off x="6172200" y="2331720"/>
            <a:ext cx="5193792" cy="3474720"/>
          </a:xfrm>
          <a:prstGeom prst="roundRect">
            <a:avLst>
              <a:gd name="adj" fmla="val 2631"/>
            </a:avLst>
          </a:prstGeom>
          <a:solidFill>
            <a:srgbClr val="1A2B5E"/>
          </a:solidFill>
          <a:ln>
            <a:noFill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9"/>
          <p:cNvSpPr txBox="1"/>
          <p:nvPr/>
        </p:nvSpPr>
        <p:spPr>
          <a:xfrm>
            <a:off x="649224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WAS SICH ÄNDERT</a:t>
            </a:r>
          </a:p>
        </p:txBody>
      </p:sp>
      <p:sp>
        <p:nvSpPr>
          <p:cNvPr id="20" name="Shape 20"/>
          <p:cNvSpPr/>
          <p:nvPr/>
        </p:nvSpPr>
        <p:spPr>
          <a:xfrm>
            <a:off x="6492240" y="2944368"/>
            <a:ext cx="292608" cy="292608"/>
          </a:xfrm>
          <a:prstGeom prst="ellipse">
            <a:avLst/>
          </a:prstGeom>
          <a:solidFill>
            <a:srgbClr val="19C3C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21"/>
          <p:cNvSpPr txBox="1"/>
          <p:nvPr/>
        </p:nvSpPr>
        <p:spPr>
          <a:xfrm>
            <a:off x="649224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✓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6949440" y="2880360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250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6.5.14 gilt für die ganze Rechenkette, nicht nur je Regel</a:t>
            </a:r>
          </a:p>
        </p:txBody>
      </p:sp>
      <p:sp>
        <p:nvSpPr>
          <p:cNvPr id="23" name="Shape 23"/>
          <p:cNvSpPr/>
          <p:nvPr/>
        </p:nvSpPr>
        <p:spPr>
          <a:xfrm>
            <a:off x="6492240" y="3511296"/>
            <a:ext cx="292608" cy="292608"/>
          </a:xfrm>
          <a:prstGeom prst="ellipse">
            <a:avLst/>
          </a:prstGeom>
          <a:solidFill>
            <a:srgbClr val="19C3C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4"/>
          <p:cNvSpPr txBox="1"/>
          <p:nvPr/>
        </p:nvSpPr>
        <p:spPr>
          <a:xfrm>
            <a:off x="6492240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✓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6949440" y="3447288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250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Exakte Validierung (decimal128): gleich → gültig, in der Toleranz → Warnung, sonst Fehler</a:t>
            </a:r>
          </a:p>
        </p:txBody>
      </p:sp>
      <p:sp>
        <p:nvSpPr>
          <p:cNvPr id="26" name="Shape 26"/>
          <p:cNvSpPr/>
          <p:nvPr/>
        </p:nvSpPr>
        <p:spPr>
          <a:xfrm>
            <a:off x="6492240" y="4078224"/>
            <a:ext cx="292608" cy="292608"/>
          </a:xfrm>
          <a:prstGeom prst="ellipse">
            <a:avLst/>
          </a:prstGeom>
          <a:solidFill>
            <a:srgbClr val="19C3C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7"/>
          <p:cNvSpPr txBox="1"/>
          <p:nvPr/>
        </p:nvSpPr>
        <p:spPr>
          <a:xfrm>
            <a:off x="6492240" y="4078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✓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6949440" y="4014216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250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Heutige Toleranzen bleiben — sie trennen jetzt Warnung von Fehler</a:t>
            </a:r>
          </a:p>
        </p:txBody>
      </p:sp>
      <p:sp>
        <p:nvSpPr>
          <p:cNvPr id="29" name="Shape 29"/>
          <p:cNvSpPr/>
          <p:nvPr/>
        </p:nvSpPr>
        <p:spPr>
          <a:xfrm>
            <a:off x="6492240" y="4645152"/>
            <a:ext cx="292608" cy="292608"/>
          </a:xfrm>
          <a:prstGeom prst="ellipse">
            <a:avLst/>
          </a:prstGeom>
          <a:solidFill>
            <a:srgbClr val="19C3C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30"/>
          <p:cNvSpPr txBox="1"/>
          <p:nvPr/>
        </p:nvSpPr>
        <p:spPr>
          <a:xfrm>
            <a:off x="6492240" y="4645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✓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6949440" y="4581144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250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Keine Anforderung an Software: weder Maximum noch Minimum an Nachkommastellen</a:t>
            </a:r>
          </a:p>
        </p:txBody>
      </p:sp>
      <p:sp>
        <p:nvSpPr>
          <p:cNvPr id="32" name="Shape 32"/>
          <p:cNvSpPr/>
          <p:nvPr/>
        </p:nvSpPr>
        <p:spPr>
          <a:xfrm>
            <a:off x="6492240" y="5212080"/>
            <a:ext cx="292608" cy="292608"/>
          </a:xfrm>
          <a:prstGeom prst="ellipse">
            <a:avLst/>
          </a:prstGeom>
          <a:solidFill>
            <a:srgbClr val="19C3C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3"/>
          <p:cNvSpPr txBox="1"/>
          <p:nvPr/>
        </p:nvSpPr>
        <p:spPr>
          <a:xfrm>
            <a:off x="6492240" y="5212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✓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6949440" y="5148072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250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Syntax unverändert: Beträge in UBL und CII sind xsd:decimal</a:t>
            </a:r>
          </a:p>
        </p:txBody>
      </p:sp>
      <p:sp>
        <p:nvSpPr>
          <p:cNvPr id="35" name="Pill 35"/>
          <p:cNvSpPr/>
          <p:nvPr/>
        </p:nvSpPr>
        <p:spPr>
          <a:xfrm>
            <a:off x="822960" y="5943600"/>
            <a:ext cx="10543032" cy="41148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Stand 14.10.2026: Update 3 in WG1  ·  </a:t>
            </a:r>
            <a:r>
              <a:rPr lang="de-DE" sz="11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Warnung/Fehler nach der 3. Option von Cyrille Sautereau · offen: DRR mit Cent-Zeilen (FR), Rückwärtskompatibilität</a:t>
            </a:r>
          </a:p>
        </p:txBody>
      </p:sp>
      <p:sp>
        <p:nvSpPr>
          <p:cNvPr id="36" name="Speaker 36">
            <a:hlinkClick r:id="rId5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2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RECHENKETTE · EN 16931-1:2017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Vom Bruttopreis über Nettopreis zur USt</a:t>
            </a:r>
          </a:p>
        </p:txBody>
      </p:sp>
      <p:sp>
        <p:nvSpPr>
          <p:cNvPr id="6" name="Speaker 6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DCF4905E-37B2-437C-A529-BB0811F32B64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25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822960" y="1847088"/>
            <a:ext cx="219456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Eine Zwischenrundung:</a:t>
            </a:r>
          </a:p>
        </p:txBody>
      </p:sp>
      <p:sp>
        <p:nvSpPr>
          <p:cNvPr id="9" name="Pill 9"/>
          <p:cNvSpPr/>
          <p:nvPr/>
        </p:nvSpPr>
        <p:spPr>
          <a:xfrm>
            <a:off x="2833726" y="1856232"/>
            <a:ext cx="2927909" cy="310896"/>
          </a:xfrm>
          <a:prstGeom prst="roundRect">
            <a:avLst>
              <a:gd name="adj" fmla="val 50000"/>
            </a:avLst>
          </a:prstGeom>
          <a:solidFill>
            <a:srgbClr val="FFF3E6"/>
          </a:solidFill>
          <a:ln w="9525">
            <a:solidFill>
              <a:srgbClr val="F5CFA3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C257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 auf 2 Nachkommastellen</a:t>
            </a:r>
          </a:p>
        </p:txBody>
      </p:sp>
      <p:sp>
        <p:nvSpPr>
          <p:cNvPr id="10" name="Frame 10"/>
          <p:cNvSpPr/>
          <p:nvPr/>
        </p:nvSpPr>
        <p:spPr>
          <a:xfrm>
            <a:off x="694944" y="2240280"/>
            <a:ext cx="7022592" cy="1709928"/>
          </a:xfrm>
          <a:prstGeom prst="roundRect">
            <a:avLst>
              <a:gd name="adj" fmla="val 5529"/>
            </a:avLst>
          </a:prstGeom>
          <a:solidFill>
            <a:srgbClr val="EEF4FC"/>
          </a:solidFill>
          <a:ln w="19050">
            <a:solidFill>
              <a:srgbClr val="2F7F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11"/>
          <p:cNvSpPr txBox="1"/>
          <p:nvPr/>
        </p:nvSpPr>
        <p:spPr>
          <a:xfrm>
            <a:off x="868680" y="22677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850" spc="150" dirty="0">
                <a:solidFill>
                  <a:srgbClr val="2F7FD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EINGABE- &amp; ZWISCHENWERTE</a:t>
            </a:r>
          </a:p>
        </p:txBody>
      </p:sp>
      <p:sp>
        <p:nvSpPr>
          <p:cNvPr id="12" name="Frame 12"/>
          <p:cNvSpPr/>
          <p:nvPr/>
        </p:nvSpPr>
        <p:spPr>
          <a:xfrm>
            <a:off x="694944" y="4023360"/>
            <a:ext cx="7022592" cy="2203704"/>
          </a:xfrm>
          <a:prstGeom prst="roundRect">
            <a:avLst>
              <a:gd name="adj" fmla="val 5529"/>
            </a:avLst>
          </a:prstGeom>
          <a:solidFill>
            <a:srgbClr val="F4F0FC"/>
          </a:solidFill>
          <a:ln w="19050">
            <a:solidFill>
              <a:srgbClr val="7B57D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3"/>
          <p:cNvSpPr txBox="1"/>
          <p:nvPr/>
        </p:nvSpPr>
        <p:spPr>
          <a:xfrm>
            <a:off x="868680" y="405079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850" spc="150" dirty="0">
                <a:solidFill>
                  <a:srgbClr val="7B57D1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ENDERGEBNISSE</a:t>
            </a:r>
          </a:p>
        </p:txBody>
      </p:sp>
      <p:sp>
        <p:nvSpPr>
          <p:cNvPr id="14" name="Card 14"/>
          <p:cNvSpPr/>
          <p:nvPr/>
        </p:nvSpPr>
        <p:spPr>
          <a:xfrm>
            <a:off x="822960" y="2450592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Pill 15"/>
          <p:cNvSpPr/>
          <p:nvPr/>
        </p:nvSpPr>
        <p:spPr>
          <a:xfrm>
            <a:off x="960120" y="2549652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965960" y="2465832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Artikelnettopreis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965960" y="2656332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BT-148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Artikelbruttopreis −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BT-147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Artikelpreisrabatt</a:t>
            </a:r>
          </a:p>
        </p:txBody>
      </p:sp>
      <p:sp>
        <p:nvSpPr>
          <p:cNvPr id="18" name="Pill 18"/>
          <p:cNvSpPr/>
          <p:nvPr/>
        </p:nvSpPr>
        <p:spPr>
          <a:xfrm>
            <a:off x="4773168" y="2503932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unbegrenzt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ungerundet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5989320" y="2481072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1A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577840" y="2717292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exakt angegeben</a:t>
            </a:r>
          </a:p>
        </p:txBody>
      </p:sp>
      <p:cxnSp>
        <p:nvCxnSpPr>
          <p:cNvPr id="21" name="Connector 21"/>
          <p:cNvCxnSpPr/>
          <p:nvPr/>
        </p:nvCxnSpPr>
        <p:spPr>
          <a:xfrm>
            <a:off x="1303020" y="2907792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22" name="Card 22"/>
          <p:cNvSpPr/>
          <p:nvPr/>
        </p:nvSpPr>
        <p:spPr>
          <a:xfrm>
            <a:off x="822960" y="2944368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Pill 23"/>
          <p:cNvSpPr/>
          <p:nvPr/>
        </p:nvSpPr>
        <p:spPr>
          <a:xfrm>
            <a:off x="960120" y="3043428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EF6C0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965960" y="2959608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Nettobetrag der Zeile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1965960" y="3150108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de-DE" sz="800" b="1" dirty="0">
                <a:solidFill>
                  <a:srgbClr val="D32F2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Preis ×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BT-129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Menge ÷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BT-149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Basismenge + Σ 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BT-141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Zuschläge − Σ 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BT-136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Abschläge der Zeile</a:t>
            </a:r>
          </a:p>
        </p:txBody>
      </p:sp>
      <p:sp>
        <p:nvSpPr>
          <p:cNvPr id="26" name="Pill 26"/>
          <p:cNvSpPr/>
          <p:nvPr/>
        </p:nvSpPr>
        <p:spPr>
          <a:xfrm>
            <a:off x="4773168" y="2997708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C0392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Zwischenrundung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5989320" y="2974848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0,005 €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5577840" y="3211068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je Zeile</a:t>
            </a:r>
          </a:p>
        </p:txBody>
      </p:sp>
      <p:cxnSp>
        <p:nvCxnSpPr>
          <p:cNvPr id="29" name="Connector 29"/>
          <p:cNvCxnSpPr/>
          <p:nvPr/>
        </p:nvCxnSpPr>
        <p:spPr>
          <a:xfrm>
            <a:off x="1303020" y="3401568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30" name="Card 30"/>
          <p:cNvSpPr/>
          <p:nvPr/>
        </p:nvSpPr>
        <p:spPr>
          <a:xfrm>
            <a:off x="822960" y="3438144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" name="Pill 31"/>
          <p:cNvSpPr/>
          <p:nvPr/>
        </p:nvSpPr>
        <p:spPr>
          <a:xfrm>
            <a:off x="960120" y="3537204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C7910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1965960" y="3453384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Summe der Nettobeträge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1965960" y="3643884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Σ </a:t>
            </a:r>
            <a:r>
              <a:rPr lang="de-DE" sz="80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Nettobeträge aller Rechnungszeilen</a:t>
            </a:r>
          </a:p>
        </p:txBody>
      </p:sp>
      <p:sp>
        <p:nvSpPr>
          <p:cNvPr id="34" name="Pill 34"/>
          <p:cNvSpPr/>
          <p:nvPr/>
        </p:nvSpPr>
        <p:spPr>
          <a:xfrm>
            <a:off x="4773168" y="3491484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C0392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Σ gerundeter Werte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5989320" y="3468624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0,50 €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5577840" y="3704844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× 100 Zeilen</a:t>
            </a:r>
          </a:p>
        </p:txBody>
      </p:sp>
      <p:sp>
        <p:nvSpPr>
          <p:cNvPr id="37" name="Card 37"/>
          <p:cNvSpPr/>
          <p:nvPr/>
        </p:nvSpPr>
        <p:spPr>
          <a:xfrm>
            <a:off x="822960" y="4233672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Pill 38"/>
          <p:cNvSpPr/>
          <p:nvPr/>
        </p:nvSpPr>
        <p:spPr>
          <a:xfrm>
            <a:off x="960120" y="4332732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1965960" y="4248912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Bemessungsgrundlage je Kategorie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1965960" y="4439412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Σ </a:t>
            </a:r>
            <a:r>
              <a:rPr lang="de-DE" sz="80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Zeilen + Σ 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BT-99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Zuschläge</a:t>
            </a:r>
            <a:b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</a:b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− Σ 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BT-92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Abschläge auf Dokumentebene</a:t>
            </a:r>
          </a:p>
        </p:txBody>
      </p:sp>
      <p:sp>
        <p:nvSpPr>
          <p:cNvPr id="41" name="Pill 41"/>
          <p:cNvSpPr/>
          <p:nvPr/>
        </p:nvSpPr>
        <p:spPr>
          <a:xfrm>
            <a:off x="4773168" y="4287012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C0392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Zwischenrundung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5989320" y="4264152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0,50 €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5577840" y="4500372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Σ gerundeter Zeilen</a:t>
            </a:r>
          </a:p>
        </p:txBody>
      </p:sp>
      <p:cxnSp>
        <p:nvCxnSpPr>
          <p:cNvPr id="44" name="Connector 44"/>
          <p:cNvCxnSpPr/>
          <p:nvPr/>
        </p:nvCxnSpPr>
        <p:spPr>
          <a:xfrm>
            <a:off x="1303020" y="4690872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45" name="Card 45"/>
          <p:cNvSpPr/>
          <p:nvPr/>
        </p:nvSpPr>
        <p:spPr>
          <a:xfrm>
            <a:off x="822960" y="4727448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6" name="Pill 46"/>
          <p:cNvSpPr/>
          <p:nvPr/>
        </p:nvSpPr>
        <p:spPr>
          <a:xfrm>
            <a:off x="960120" y="4826508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BT-117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1965960" y="4742688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USt-Betrag je Kategorie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1965960" y="4933188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de-DE" sz="800" b="1" dirty="0">
                <a:solidFill>
                  <a:srgbClr val="2E7D3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Bemessungsgrundlage ×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BT-119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USt-Satz ÷ 100</a:t>
            </a:r>
          </a:p>
        </p:txBody>
      </p:sp>
      <p:sp>
        <p:nvSpPr>
          <p:cNvPr id="49" name="Pill 49"/>
          <p:cNvSpPr/>
          <p:nvPr/>
        </p:nvSpPr>
        <p:spPr>
          <a:xfrm>
            <a:off x="4773168" y="4780788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C0392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Zwischenrundung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5989320" y="4757928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0,10 €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5577840" y="4994148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0,50 € × 19 %</a:t>
            </a:r>
          </a:p>
        </p:txBody>
      </p:sp>
      <p:cxnSp>
        <p:nvCxnSpPr>
          <p:cNvPr id="52" name="Connector 52"/>
          <p:cNvCxnSpPr/>
          <p:nvPr/>
        </p:nvCxnSpPr>
        <p:spPr>
          <a:xfrm>
            <a:off x="1303020" y="5184648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53" name="Card 53"/>
          <p:cNvSpPr/>
          <p:nvPr/>
        </p:nvSpPr>
        <p:spPr>
          <a:xfrm>
            <a:off x="822960" y="5221224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4" name="Pill 54"/>
          <p:cNvSpPr/>
          <p:nvPr/>
        </p:nvSpPr>
        <p:spPr>
          <a:xfrm>
            <a:off x="960120" y="5320284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BT-110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1965960" y="5236464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USt-Gesamtbetrag</a:t>
            </a:r>
          </a:p>
        </p:txBody>
      </p:sp>
      <p:sp>
        <p:nvSpPr>
          <p:cNvPr id="56" name="Text 56"/>
          <p:cNvSpPr txBox="1"/>
          <p:nvPr/>
        </p:nvSpPr>
        <p:spPr>
          <a:xfrm>
            <a:off x="1965960" y="5426964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Σ </a:t>
            </a:r>
            <a:r>
              <a:rPr lang="de-DE" sz="800" b="1" dirty="0">
                <a:solidFill>
                  <a:srgbClr val="1565C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BT-117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USt-Beträge aller Kategorien</a:t>
            </a:r>
          </a:p>
        </p:txBody>
      </p:sp>
      <p:sp>
        <p:nvSpPr>
          <p:cNvPr id="57" name="Pill 57"/>
          <p:cNvSpPr/>
          <p:nvPr/>
        </p:nvSpPr>
        <p:spPr>
          <a:xfrm>
            <a:off x="4773168" y="5274564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C0392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Σ gerundeter Werte</a:t>
            </a:r>
          </a:p>
        </p:txBody>
      </p:sp>
      <p:sp>
        <p:nvSpPr>
          <p:cNvPr id="58" name="Text 58"/>
          <p:cNvSpPr txBox="1"/>
          <p:nvPr/>
        </p:nvSpPr>
        <p:spPr>
          <a:xfrm>
            <a:off x="5989320" y="5251704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0,10 €</a:t>
            </a:r>
          </a:p>
        </p:txBody>
      </p:sp>
      <p:sp>
        <p:nvSpPr>
          <p:cNvPr id="59" name="Panel 59"/>
          <p:cNvSpPr/>
          <p:nvPr/>
        </p:nvSpPr>
        <p:spPr>
          <a:xfrm>
            <a:off x="7845552" y="2240280"/>
            <a:ext cx="3520440" cy="1709928"/>
          </a:xfrm>
          <a:prstGeom prst="roundRect">
            <a:avLst>
              <a:gd name="adj" fmla="val 5529"/>
            </a:avLst>
          </a:prstGeom>
          <a:solidFill>
            <a:srgbClr val="1A2B5E"/>
          </a:solidFill>
          <a:ln w="19050">
            <a:solidFill>
              <a:srgbClr val="7DB3FF"/>
            </a:solidFill>
            <a:prstDash val="solid"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0" name="Text 60"/>
          <p:cNvSpPr txBox="1"/>
          <p:nvPr/>
        </p:nvSpPr>
        <p:spPr>
          <a:xfrm>
            <a:off x="8065008" y="229514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20" dirty="0">
                <a:solidFill>
                  <a:srgbClr val="7DB3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ERLAUBTE NACHKOMMASTELLEN</a:t>
            </a:r>
          </a:p>
        </p:txBody>
      </p:sp>
      <p:sp>
        <p:nvSpPr>
          <p:cNvPr id="61" name="Text 61"/>
          <p:cNvSpPr txBox="1"/>
          <p:nvPr/>
        </p:nvSpPr>
        <p:spPr>
          <a:xfrm>
            <a:off x="8065008" y="2542032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BT-148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Bruttopreis, </a:t>
            </a: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BT-147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Rabatt</a:t>
            </a:r>
          </a:p>
        </p:txBody>
      </p:sp>
      <p:sp>
        <p:nvSpPr>
          <p:cNvPr id="62" name="Text 62"/>
          <p:cNvSpPr txBox="1"/>
          <p:nvPr/>
        </p:nvSpPr>
        <p:spPr>
          <a:xfrm>
            <a:off x="10515600" y="2542032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unbegrenzt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8065008" y="2693822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b="1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Artikelnettopreis</a:t>
            </a:r>
          </a:p>
        </p:txBody>
      </p:sp>
      <p:sp>
        <p:nvSpPr>
          <p:cNvPr id="64" name="Text 64"/>
          <p:cNvSpPr txBox="1"/>
          <p:nvPr/>
        </p:nvSpPr>
        <p:spPr>
          <a:xfrm>
            <a:off x="10515600" y="2693822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unbegrenzt</a:t>
            </a:r>
          </a:p>
        </p:txBody>
      </p:sp>
      <p:sp>
        <p:nvSpPr>
          <p:cNvPr id="65" name="Text 65"/>
          <p:cNvSpPr txBox="1"/>
          <p:nvPr/>
        </p:nvSpPr>
        <p:spPr>
          <a:xfrm>
            <a:off x="8065008" y="2845613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BT-129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Menge</a:t>
            </a:r>
          </a:p>
        </p:txBody>
      </p:sp>
      <p:sp>
        <p:nvSpPr>
          <p:cNvPr id="66" name="Text 66"/>
          <p:cNvSpPr txBox="1"/>
          <p:nvPr/>
        </p:nvSpPr>
        <p:spPr>
          <a:xfrm>
            <a:off x="10515600" y="2845613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unbegrenzt</a:t>
            </a:r>
          </a:p>
        </p:txBody>
      </p:sp>
      <p:sp>
        <p:nvSpPr>
          <p:cNvPr id="67" name="Text 67"/>
          <p:cNvSpPr txBox="1"/>
          <p:nvPr/>
        </p:nvSpPr>
        <p:spPr>
          <a:xfrm>
            <a:off x="8065008" y="2997403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BT-149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Basismenge</a:t>
            </a:r>
          </a:p>
        </p:txBody>
      </p:sp>
      <p:sp>
        <p:nvSpPr>
          <p:cNvPr id="68" name="Text 68"/>
          <p:cNvSpPr txBox="1"/>
          <p:nvPr/>
        </p:nvSpPr>
        <p:spPr>
          <a:xfrm>
            <a:off x="10515600" y="2997403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unbegrenzt</a:t>
            </a:r>
          </a:p>
        </p:txBody>
      </p:sp>
      <p:sp>
        <p:nvSpPr>
          <p:cNvPr id="69" name="Text 69"/>
          <p:cNvSpPr txBox="1"/>
          <p:nvPr/>
        </p:nvSpPr>
        <p:spPr>
          <a:xfrm>
            <a:off x="8065008" y="3149194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BT-141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Zuschläge, </a:t>
            </a: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BT-136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Abschläge</a:t>
            </a:r>
            <a:r>
              <a:rPr lang="de-DE" sz="750" dirty="0">
                <a:solidFill>
                  <a:srgbClr val="7E8CB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· Zeile</a:t>
            </a:r>
          </a:p>
        </p:txBody>
      </p:sp>
      <p:sp>
        <p:nvSpPr>
          <p:cNvPr id="70" name="Text 70"/>
          <p:cNvSpPr txBox="1"/>
          <p:nvPr/>
        </p:nvSpPr>
        <p:spPr>
          <a:xfrm>
            <a:off x="10515600" y="3149194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B547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</p:txBody>
      </p:sp>
      <p:sp>
        <p:nvSpPr>
          <p:cNvPr id="71" name="Text 71"/>
          <p:cNvSpPr txBox="1"/>
          <p:nvPr/>
        </p:nvSpPr>
        <p:spPr>
          <a:xfrm>
            <a:off x="8065008" y="3300984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b="1" dirty="0">
                <a:solidFill>
                  <a:srgbClr val="FFB74D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Nettobetrag der Zeile</a:t>
            </a:r>
          </a:p>
        </p:txBody>
      </p:sp>
      <p:sp>
        <p:nvSpPr>
          <p:cNvPr id="72" name="Text 72"/>
          <p:cNvSpPr txBox="1"/>
          <p:nvPr/>
        </p:nvSpPr>
        <p:spPr>
          <a:xfrm>
            <a:off x="10515600" y="3300984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</p:txBody>
      </p:sp>
      <p:sp>
        <p:nvSpPr>
          <p:cNvPr id="73" name="Text 73"/>
          <p:cNvSpPr txBox="1"/>
          <p:nvPr/>
        </p:nvSpPr>
        <p:spPr>
          <a:xfrm>
            <a:off x="8065008" y="3452774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b="1" dirty="0">
                <a:solidFill>
                  <a:srgbClr val="FFE066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Summe der Nettobeträge</a:t>
            </a:r>
          </a:p>
        </p:txBody>
      </p:sp>
      <p:sp>
        <p:nvSpPr>
          <p:cNvPr id="74" name="Text 74"/>
          <p:cNvSpPr txBox="1"/>
          <p:nvPr/>
        </p:nvSpPr>
        <p:spPr>
          <a:xfrm>
            <a:off x="10515600" y="3452774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</p:txBody>
      </p:sp>
      <p:sp>
        <p:nvSpPr>
          <p:cNvPr id="75" name="Text 75"/>
          <p:cNvSpPr txBox="1"/>
          <p:nvPr/>
        </p:nvSpPr>
        <p:spPr>
          <a:xfrm>
            <a:off x="8065008" y="3604565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BT-99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Zuschläge, </a:t>
            </a: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BT-92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Abschläge</a:t>
            </a:r>
            <a:r>
              <a:rPr lang="de-DE" sz="750" dirty="0">
                <a:solidFill>
                  <a:srgbClr val="7E8CB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· Dokument</a:t>
            </a:r>
          </a:p>
        </p:txBody>
      </p:sp>
      <p:sp>
        <p:nvSpPr>
          <p:cNvPr id="76" name="Text 76"/>
          <p:cNvSpPr txBox="1"/>
          <p:nvPr/>
        </p:nvSpPr>
        <p:spPr>
          <a:xfrm>
            <a:off x="10515600" y="3604565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B547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</p:txBody>
      </p:sp>
      <p:sp>
        <p:nvSpPr>
          <p:cNvPr id="77" name="Text 77"/>
          <p:cNvSpPr txBox="1"/>
          <p:nvPr/>
        </p:nvSpPr>
        <p:spPr>
          <a:xfrm>
            <a:off x="8065008" y="3756355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BT-119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USt-Satz (Gesetz)</a:t>
            </a:r>
          </a:p>
        </p:txBody>
      </p:sp>
      <p:sp>
        <p:nvSpPr>
          <p:cNvPr id="78" name="Text 78"/>
          <p:cNvSpPr txBox="1"/>
          <p:nvPr/>
        </p:nvSpPr>
        <p:spPr>
          <a:xfrm>
            <a:off x="10515600" y="3756355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unbegrenzt</a:t>
            </a:r>
          </a:p>
        </p:txBody>
      </p:sp>
      <p:sp>
        <p:nvSpPr>
          <p:cNvPr id="79" name="Panel 79"/>
          <p:cNvSpPr/>
          <p:nvPr/>
        </p:nvSpPr>
        <p:spPr>
          <a:xfrm>
            <a:off x="7845552" y="4023360"/>
            <a:ext cx="3520440" cy="2203704"/>
          </a:xfrm>
          <a:prstGeom prst="roundRect">
            <a:avLst>
              <a:gd name="adj" fmla="val 5529"/>
            </a:avLst>
          </a:prstGeom>
          <a:solidFill>
            <a:srgbClr val="1A2B5E"/>
          </a:solidFill>
          <a:ln w="19050">
            <a:solidFill>
              <a:srgbClr val="B9A2FF"/>
            </a:solidFill>
            <a:prstDash val="solid"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0" name="Text 80"/>
          <p:cNvSpPr txBox="1"/>
          <p:nvPr/>
        </p:nvSpPr>
        <p:spPr>
          <a:xfrm>
            <a:off x="8065008" y="407822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20" dirty="0">
                <a:solidFill>
                  <a:srgbClr val="B9A2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NACHKOMMASTELLEN · ENDWERTE</a:t>
            </a:r>
          </a:p>
        </p:txBody>
      </p:sp>
      <p:sp>
        <p:nvSpPr>
          <p:cNvPr id="81" name="Text 81"/>
          <p:cNvSpPr txBox="1"/>
          <p:nvPr/>
        </p:nvSpPr>
        <p:spPr>
          <a:xfrm>
            <a:off x="8065008" y="435254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000" b="1" dirty="0">
                <a:solidFill>
                  <a:srgbClr val="81C784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 </a:t>
            </a:r>
            <a:r>
              <a:rPr lang="de-DE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Bemessungsgrundlage</a:t>
            </a:r>
          </a:p>
        </p:txBody>
      </p:sp>
      <p:sp>
        <p:nvSpPr>
          <p:cNvPr id="82" name="Text 82"/>
          <p:cNvSpPr txBox="1"/>
          <p:nvPr/>
        </p:nvSpPr>
        <p:spPr>
          <a:xfrm>
            <a:off x="10515600" y="435254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</p:txBody>
      </p:sp>
      <p:sp>
        <p:nvSpPr>
          <p:cNvPr id="83" name="Text 83"/>
          <p:cNvSpPr txBox="1"/>
          <p:nvPr/>
        </p:nvSpPr>
        <p:spPr>
          <a:xfrm>
            <a:off x="8065008" y="462686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000" b="1" dirty="0">
                <a:solidFill>
                  <a:srgbClr val="82B1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BT-117 </a:t>
            </a:r>
            <a:r>
              <a:rPr lang="de-DE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USt-Betrag</a:t>
            </a:r>
          </a:p>
        </p:txBody>
      </p:sp>
      <p:sp>
        <p:nvSpPr>
          <p:cNvPr id="84" name="Text 84"/>
          <p:cNvSpPr txBox="1"/>
          <p:nvPr/>
        </p:nvSpPr>
        <p:spPr>
          <a:xfrm>
            <a:off x="10515600" y="462686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</p:txBody>
      </p:sp>
      <p:sp>
        <p:nvSpPr>
          <p:cNvPr id="85" name="Text 85"/>
          <p:cNvSpPr txBox="1"/>
          <p:nvPr/>
        </p:nvSpPr>
        <p:spPr>
          <a:xfrm>
            <a:off x="8065008" y="490118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000" b="1" dirty="0">
                <a:solidFill>
                  <a:srgbClr val="CE93D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BT-110 </a:t>
            </a:r>
            <a:r>
              <a:rPr lang="de-DE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USt-Gesamtbetrag</a:t>
            </a:r>
          </a:p>
        </p:txBody>
      </p:sp>
      <p:sp>
        <p:nvSpPr>
          <p:cNvPr id="86" name="Text 86"/>
          <p:cNvSpPr txBox="1"/>
          <p:nvPr/>
        </p:nvSpPr>
        <p:spPr>
          <a:xfrm>
            <a:off x="10515600" y="490118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</p:txBody>
      </p:sp>
      <p:sp>
        <p:nvSpPr>
          <p:cNvPr id="87" name="Text 87"/>
          <p:cNvSpPr txBox="1"/>
          <p:nvPr/>
        </p:nvSpPr>
        <p:spPr>
          <a:xfrm>
            <a:off x="8065008" y="5669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dirty="0">
                <a:solidFill>
                  <a:srgbClr val="B9A2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Worst Case </a:t>
            </a:r>
            <a:r>
              <a:rPr lang="de-DE" sz="9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mit Zeilenanzahl und Menge:</a:t>
            </a:r>
          </a:p>
          <a:p>
            <a:pPr marL="0" indent="0" algn="l">
              <a:buNone/>
            </a:pPr>
            <a:r>
              <a:rPr lang="de-DE" sz="9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→ „Wie groß wird die Abweichung?“</a:t>
            </a:r>
          </a:p>
        </p:txBody>
      </p:sp>
      <p:sp>
        <p:nvSpPr>
          <p:cNvPr id="88" name="Text 88"/>
          <p:cNvSpPr txBox="1"/>
          <p:nvPr/>
        </p:nvSpPr>
        <p:spPr>
          <a:xfrm>
            <a:off x="822960" y="63093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Rot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gerundeter Zwischenwert   </a:t>
            </a:r>
            <a:r>
              <a:rPr lang="de-DE" sz="850" dirty="0">
                <a:solidFill>
                  <a:srgbClr val="1E8A4C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Grün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gezahlter Betrag, einmal gerundet (Bank)   </a:t>
            </a:r>
            <a:r>
              <a:rPr lang="de-DE" sz="850" dirty="0">
                <a:solidFill>
                  <a:srgbClr val="D98A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Orange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gerundeter Eingangswert</a:t>
            </a:r>
          </a:p>
          <a:p>
            <a:pPr marL="0" indent="0" algn="l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NK = Nachkommastellen · 2017 (Tab. 26): alle Beträge fest 2 NK, unabhängig von der Währung · ± bei 100 Zeilen à 100 Stück, 19 % USt</a:t>
            </a:r>
          </a:p>
          <a:p>
            <a:pPr marL="0" indent="0" algn="l">
              <a:buNone/>
            </a:pPr>
            <a:r>
              <a:rPr lang="de-DE" sz="850" dirty="0">
                <a:solidFill>
                  <a:srgbClr val="D32F2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Regen</a:t>
            </a:r>
            <a:r>
              <a:rPr lang="de-DE" sz="850" dirty="0">
                <a:solidFill>
                  <a:srgbClr val="C791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bo</a:t>
            </a:r>
            <a:r>
              <a:rPr lang="de-DE" sz="850" dirty="0">
                <a:solidFill>
                  <a:srgbClr val="1565C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gen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Reihenfolge der Rechenschritte; ein BT behält seine Farbe, wo er weiter unten wieder verwendet wird</a:t>
            </a:r>
          </a:p>
        </p:txBody>
      </p:sp>
      <p:sp>
        <p:nvSpPr>
          <p:cNvPr id="89" name="Card 89"/>
          <p:cNvSpPr/>
          <p:nvPr/>
        </p:nvSpPr>
        <p:spPr>
          <a:xfrm>
            <a:off x="822960" y="5715000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0" name="Pill 90"/>
          <p:cNvSpPr/>
          <p:nvPr/>
        </p:nvSpPr>
        <p:spPr>
          <a:xfrm>
            <a:off x="960120" y="5814060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AD1457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BT-115</a:t>
            </a:r>
          </a:p>
        </p:txBody>
      </p:sp>
      <p:sp>
        <p:nvSpPr>
          <p:cNvPr id="91" name="Text 91"/>
          <p:cNvSpPr txBox="1"/>
          <p:nvPr/>
        </p:nvSpPr>
        <p:spPr>
          <a:xfrm>
            <a:off x="1965960" y="5730240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Zahlbetrag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1965960" y="5920740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de-DE" sz="800" b="1" dirty="0">
                <a:solidFill>
                  <a:srgbClr val="6A1B9A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BT-110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USt-Gesamtbetrag +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BT-109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Summe netto</a:t>
            </a:r>
            <a:b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</a:b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−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BT-113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Vorauszahlung +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BT-114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Rundungsbetrag</a:t>
            </a:r>
          </a:p>
        </p:txBody>
      </p:sp>
      <p:sp>
        <p:nvSpPr>
          <p:cNvPr id="93" name="Pill 93"/>
          <p:cNvSpPr/>
          <p:nvPr/>
        </p:nvSpPr>
        <p:spPr>
          <a:xfrm>
            <a:off x="4773168" y="5768340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E8F6EE"/>
          </a:solidFill>
          <a:ln w="9525">
            <a:solidFill>
              <a:srgbClr val="B7E1C7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1E8A4C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1E8A4C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Endwert · Bank</a:t>
            </a:r>
          </a:p>
        </p:txBody>
      </p:sp>
      <p:sp>
        <p:nvSpPr>
          <p:cNvPr id="94" name="Text 94"/>
          <p:cNvSpPr txBox="1"/>
          <p:nvPr/>
        </p:nvSpPr>
        <p:spPr>
          <a:xfrm>
            <a:off x="5989320" y="5745480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0,60 €</a:t>
            </a:r>
          </a:p>
        </p:txBody>
      </p:sp>
      <p:sp>
        <p:nvSpPr>
          <p:cNvPr id="95" name="Text 95"/>
          <p:cNvSpPr txBox="1"/>
          <p:nvPr/>
        </p:nvSpPr>
        <p:spPr>
          <a:xfrm>
            <a:off x="5577840" y="5981700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0,50 € + 0,10 €</a:t>
            </a:r>
          </a:p>
        </p:txBody>
      </p:sp>
      <p:cxnSp>
        <p:nvCxnSpPr>
          <p:cNvPr id="96" name="Connector 96"/>
          <p:cNvCxnSpPr/>
          <p:nvPr/>
        </p:nvCxnSpPr>
        <p:spPr>
          <a:xfrm>
            <a:off x="1303020" y="5678424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97" name="Text 97"/>
          <p:cNvSpPr txBox="1"/>
          <p:nvPr/>
        </p:nvSpPr>
        <p:spPr>
          <a:xfrm>
            <a:off x="8065008" y="517550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000" b="1" dirty="0">
                <a:solidFill>
                  <a:srgbClr val="F48FB1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BT-115 </a:t>
            </a:r>
            <a:r>
              <a:rPr lang="de-DE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Zahlbetrag</a:t>
            </a:r>
          </a:p>
        </p:txBody>
      </p:sp>
      <p:sp>
        <p:nvSpPr>
          <p:cNvPr id="98" name="Text 98"/>
          <p:cNvSpPr txBox="1"/>
          <p:nvPr/>
        </p:nvSpPr>
        <p:spPr>
          <a:xfrm>
            <a:off x="9994392" y="5175504"/>
            <a:ext cx="11887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de-DE" sz="1000" dirty="0">
                <a:solidFill>
                  <a:srgbClr val="81C784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</p:txBody>
      </p:sp>
      <p:sp>
        <p:nvSpPr>
          <p:cNvPr id="99" name="Reuse 99"/>
          <p:cNvSpPr/>
          <p:nvPr/>
        </p:nvSpPr>
        <p:spPr>
          <a:xfrm>
            <a:off x="1645920" y="2679192"/>
            <a:ext cx="309067" cy="530351"/>
          </a:xfrm>
          <a:custGeom>
            <a:avLst/>
            <a:gdLst/>
            <a:ahLst/>
            <a:cxnLst/>
            <a:rect l="l" t="t" r="r" b="b"/>
            <a:pathLst>
              <a:path w="309067" h="530351" fill="none">
                <a:moveTo>
                  <a:pt x="0" y="0"/>
                </a:moveTo>
                <a:lnTo>
                  <a:pt x="256032" y="0"/>
                </a:lnTo>
                <a:lnTo>
                  <a:pt x="256032" y="530351"/>
                </a:lnTo>
                <a:lnTo>
                  <a:pt x="309067" y="530351"/>
                </a:lnTo>
              </a:path>
            </a:pathLst>
          </a:custGeom>
          <a:noFill/>
          <a:ln w="15875">
            <a:solidFill>
              <a:srgbClr val="D32F2F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0" name="Reuse 100"/>
          <p:cNvSpPr/>
          <p:nvPr/>
        </p:nvSpPr>
        <p:spPr>
          <a:xfrm>
            <a:off x="1645920" y="3172968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210311" y="0"/>
                </a:lnTo>
                <a:lnTo>
                  <a:pt x="21031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EF6C00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1" name="Reuse 101"/>
          <p:cNvSpPr/>
          <p:nvPr/>
        </p:nvSpPr>
        <p:spPr>
          <a:xfrm>
            <a:off x="1645920" y="3172968"/>
            <a:ext cx="309067" cy="1325880"/>
          </a:xfrm>
          <a:custGeom>
            <a:avLst/>
            <a:gdLst/>
            <a:ahLst/>
            <a:cxnLst/>
            <a:rect l="l" t="t" r="r" b="b"/>
            <a:pathLst>
              <a:path w="309067" h="1325880" fill="none">
                <a:moveTo>
                  <a:pt x="0" y="0"/>
                </a:moveTo>
                <a:lnTo>
                  <a:pt x="210311" y="0"/>
                </a:lnTo>
                <a:lnTo>
                  <a:pt x="210311" y="1325880"/>
                </a:lnTo>
                <a:lnTo>
                  <a:pt x="309067" y="1325880"/>
                </a:lnTo>
              </a:path>
            </a:pathLst>
          </a:custGeom>
          <a:noFill/>
          <a:ln w="15875">
            <a:solidFill>
              <a:srgbClr val="EF6C00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2" name="Reuse 102"/>
          <p:cNvSpPr/>
          <p:nvPr/>
        </p:nvSpPr>
        <p:spPr>
          <a:xfrm>
            <a:off x="1645920" y="4462272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164591" y="0"/>
                </a:lnTo>
                <a:lnTo>
                  <a:pt x="16459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2E7D32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3" name="Reuse 103"/>
          <p:cNvSpPr/>
          <p:nvPr/>
        </p:nvSpPr>
        <p:spPr>
          <a:xfrm>
            <a:off x="1645920" y="4956048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118871" y="0"/>
                </a:lnTo>
                <a:lnTo>
                  <a:pt x="11887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1565C0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4" name="Reuse 104"/>
          <p:cNvSpPr/>
          <p:nvPr/>
        </p:nvSpPr>
        <p:spPr>
          <a:xfrm>
            <a:off x="1645920" y="5449824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73151" y="0"/>
                </a:lnTo>
                <a:lnTo>
                  <a:pt x="7315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6A1B9A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3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RECHENKETTE · EN 16931-1:2026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Vom Bruttopreis über Nettopreis zur USt</a:t>
            </a:r>
          </a:p>
        </p:txBody>
      </p:sp>
      <p:sp>
        <p:nvSpPr>
          <p:cNvPr id="6" name="Speaker 6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D3E2CDAE-2F23-4283-8153-FFAA4570C66A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26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822960" y="1847088"/>
            <a:ext cx="219456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Zwei Zwischenrundungen:</a:t>
            </a:r>
          </a:p>
        </p:txBody>
      </p:sp>
      <p:sp>
        <p:nvSpPr>
          <p:cNvPr id="9" name="Pill 9"/>
          <p:cNvSpPr/>
          <p:nvPr/>
        </p:nvSpPr>
        <p:spPr>
          <a:xfrm>
            <a:off x="3014777" y="1856232"/>
            <a:ext cx="2569464" cy="310896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 w="9525">
            <a:solidFill>
              <a:srgbClr val="F5C2BF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C6282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 auf Minor Unit + 2</a:t>
            </a:r>
          </a:p>
        </p:txBody>
      </p:sp>
      <p:sp>
        <p:nvSpPr>
          <p:cNvPr id="10" name="Pill 10"/>
          <p:cNvSpPr/>
          <p:nvPr/>
        </p:nvSpPr>
        <p:spPr>
          <a:xfrm>
            <a:off x="5712257" y="1856232"/>
            <a:ext cx="2569464" cy="310896"/>
          </a:xfrm>
          <a:prstGeom prst="roundRect">
            <a:avLst>
              <a:gd name="adj" fmla="val 50000"/>
            </a:avLst>
          </a:prstGeom>
          <a:solidFill>
            <a:srgbClr val="FFF3E6"/>
          </a:solidFill>
          <a:ln w="9525">
            <a:solidFill>
              <a:srgbClr val="F5CFA3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C257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 auf die Minor Unit</a:t>
            </a:r>
          </a:p>
        </p:txBody>
      </p:sp>
      <p:sp>
        <p:nvSpPr>
          <p:cNvPr id="11" name="Frame 11"/>
          <p:cNvSpPr/>
          <p:nvPr/>
        </p:nvSpPr>
        <p:spPr>
          <a:xfrm>
            <a:off x="694944" y="2240280"/>
            <a:ext cx="7022592" cy="1709928"/>
          </a:xfrm>
          <a:prstGeom prst="roundRect">
            <a:avLst>
              <a:gd name="adj" fmla="val 5529"/>
            </a:avLst>
          </a:prstGeom>
          <a:solidFill>
            <a:srgbClr val="EEF4FC"/>
          </a:solidFill>
          <a:ln w="19050">
            <a:solidFill>
              <a:srgbClr val="2F7F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2"/>
          <p:cNvSpPr txBox="1"/>
          <p:nvPr/>
        </p:nvSpPr>
        <p:spPr>
          <a:xfrm>
            <a:off x="868680" y="22677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850" spc="150" dirty="0">
                <a:solidFill>
                  <a:srgbClr val="2F7FD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EINGABE- &amp; ZWISCHENWERTE</a:t>
            </a:r>
          </a:p>
        </p:txBody>
      </p:sp>
      <p:sp>
        <p:nvSpPr>
          <p:cNvPr id="13" name="Frame 13"/>
          <p:cNvSpPr/>
          <p:nvPr/>
        </p:nvSpPr>
        <p:spPr>
          <a:xfrm>
            <a:off x="694944" y="4023360"/>
            <a:ext cx="7022592" cy="2203704"/>
          </a:xfrm>
          <a:prstGeom prst="roundRect">
            <a:avLst>
              <a:gd name="adj" fmla="val 5529"/>
            </a:avLst>
          </a:prstGeom>
          <a:solidFill>
            <a:srgbClr val="F4F0FC"/>
          </a:solidFill>
          <a:ln w="19050">
            <a:solidFill>
              <a:srgbClr val="7B57D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4"/>
          <p:cNvSpPr txBox="1"/>
          <p:nvPr/>
        </p:nvSpPr>
        <p:spPr>
          <a:xfrm>
            <a:off x="868680" y="405079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850" spc="150" dirty="0">
                <a:solidFill>
                  <a:srgbClr val="7B57D1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ENDERGEBNISSE</a:t>
            </a:r>
          </a:p>
        </p:txBody>
      </p:sp>
      <p:sp>
        <p:nvSpPr>
          <p:cNvPr id="15" name="Card 15"/>
          <p:cNvSpPr/>
          <p:nvPr/>
        </p:nvSpPr>
        <p:spPr>
          <a:xfrm>
            <a:off x="822960" y="2450592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Pill 16"/>
          <p:cNvSpPr/>
          <p:nvPr/>
        </p:nvSpPr>
        <p:spPr>
          <a:xfrm>
            <a:off x="960120" y="2549652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965960" y="2465832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Artikelnettopreis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965960" y="2656332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BT-148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Artikelbruttopreis −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BT-147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Artikelpreisrabatt</a:t>
            </a:r>
          </a:p>
        </p:txBody>
      </p:sp>
      <p:sp>
        <p:nvSpPr>
          <p:cNvPr id="19" name="Pill 19"/>
          <p:cNvSpPr/>
          <p:nvPr/>
        </p:nvSpPr>
        <p:spPr>
          <a:xfrm>
            <a:off x="4773168" y="2503932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00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 + 2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C0392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Zwischenrundung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989320" y="2481072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0,00005 €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5577840" y="2717292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Preis einmal gerundet</a:t>
            </a:r>
          </a:p>
        </p:txBody>
      </p:sp>
      <p:cxnSp>
        <p:nvCxnSpPr>
          <p:cNvPr id="22" name="Connector 22"/>
          <p:cNvCxnSpPr/>
          <p:nvPr/>
        </p:nvCxnSpPr>
        <p:spPr>
          <a:xfrm>
            <a:off x="1303020" y="2907792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23" name="Card 23"/>
          <p:cNvSpPr/>
          <p:nvPr/>
        </p:nvSpPr>
        <p:spPr>
          <a:xfrm>
            <a:off x="822960" y="2944368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Pill 24"/>
          <p:cNvSpPr/>
          <p:nvPr/>
        </p:nvSpPr>
        <p:spPr>
          <a:xfrm>
            <a:off x="960120" y="3043428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EF6C0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1965960" y="2959608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Nettobetrag der Zeile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1965960" y="3150108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de-DE" sz="800" b="1" dirty="0">
                <a:solidFill>
                  <a:srgbClr val="D32F2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Preis ×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BT-129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Menge ÷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BT-149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Basismenge + Σ 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BT-141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Zuschläge − Σ 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BT-136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Abschläge der Zeile</a:t>
            </a:r>
          </a:p>
        </p:txBody>
      </p:sp>
      <p:sp>
        <p:nvSpPr>
          <p:cNvPr id="27" name="Pill 27"/>
          <p:cNvSpPr/>
          <p:nvPr/>
        </p:nvSpPr>
        <p:spPr>
          <a:xfrm>
            <a:off x="4773168" y="2997708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C0392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Zwischenrundung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5989320" y="2974848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0,01 €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5577840" y="3211068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0,005 € + 100 × 0,00005 €</a:t>
            </a:r>
          </a:p>
        </p:txBody>
      </p:sp>
      <p:cxnSp>
        <p:nvCxnSpPr>
          <p:cNvPr id="30" name="Connector 30"/>
          <p:cNvCxnSpPr/>
          <p:nvPr/>
        </p:nvCxnSpPr>
        <p:spPr>
          <a:xfrm>
            <a:off x="1303020" y="3401568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31" name="Card 31"/>
          <p:cNvSpPr/>
          <p:nvPr/>
        </p:nvSpPr>
        <p:spPr>
          <a:xfrm>
            <a:off x="822960" y="3438144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2" name="Pill 32"/>
          <p:cNvSpPr/>
          <p:nvPr/>
        </p:nvSpPr>
        <p:spPr>
          <a:xfrm>
            <a:off x="960120" y="3537204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C7910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1965960" y="3453384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Summe der Nettobeträge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1965960" y="3643884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Σ </a:t>
            </a:r>
            <a:r>
              <a:rPr lang="de-DE" sz="80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Nettobeträge aller Rechnungszeilen</a:t>
            </a:r>
          </a:p>
        </p:txBody>
      </p:sp>
      <p:sp>
        <p:nvSpPr>
          <p:cNvPr id="35" name="Pill 35"/>
          <p:cNvSpPr/>
          <p:nvPr/>
        </p:nvSpPr>
        <p:spPr>
          <a:xfrm>
            <a:off x="4773168" y="3491484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C0392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Σ gerundeter Werte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5989320" y="3468624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1,00 €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5577840" y="3704844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× 100 Zeilen</a:t>
            </a:r>
          </a:p>
        </p:txBody>
      </p:sp>
      <p:sp>
        <p:nvSpPr>
          <p:cNvPr id="38" name="Card 38"/>
          <p:cNvSpPr/>
          <p:nvPr/>
        </p:nvSpPr>
        <p:spPr>
          <a:xfrm>
            <a:off x="822960" y="4233672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9" name="Pill 39"/>
          <p:cNvSpPr/>
          <p:nvPr/>
        </p:nvSpPr>
        <p:spPr>
          <a:xfrm>
            <a:off x="960120" y="4332732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1965960" y="4248912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Bemessungsgrundlage je Kategorie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1965960" y="4439412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Σ </a:t>
            </a:r>
            <a:r>
              <a:rPr lang="de-DE" sz="80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Zeilen + Σ 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BT-99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Zuschläge</a:t>
            </a:r>
            <a:b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</a:b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− Σ 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BT-92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Abschläge auf Dokumentebene</a:t>
            </a:r>
          </a:p>
        </p:txBody>
      </p:sp>
      <p:sp>
        <p:nvSpPr>
          <p:cNvPr id="42" name="Pill 42"/>
          <p:cNvSpPr/>
          <p:nvPr/>
        </p:nvSpPr>
        <p:spPr>
          <a:xfrm>
            <a:off x="4773168" y="4287012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C0392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Zwischenrundung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5989320" y="4264152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1,00 €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5577840" y="4500372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Σ gerundeter Zeilen</a:t>
            </a:r>
          </a:p>
        </p:txBody>
      </p:sp>
      <p:cxnSp>
        <p:nvCxnSpPr>
          <p:cNvPr id="45" name="Connector 45"/>
          <p:cNvCxnSpPr/>
          <p:nvPr/>
        </p:nvCxnSpPr>
        <p:spPr>
          <a:xfrm>
            <a:off x="1303020" y="4690872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46" name="Card 46"/>
          <p:cNvSpPr/>
          <p:nvPr/>
        </p:nvSpPr>
        <p:spPr>
          <a:xfrm>
            <a:off x="822960" y="4727448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7" name="Pill 47"/>
          <p:cNvSpPr/>
          <p:nvPr/>
        </p:nvSpPr>
        <p:spPr>
          <a:xfrm>
            <a:off x="960120" y="4826508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BT-117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1965960" y="4742688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USt-Betrag je Kategorie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1965960" y="4933188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de-DE" sz="800" b="1" dirty="0">
                <a:solidFill>
                  <a:srgbClr val="2E7D3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Bemessungsgrundlage ×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BT-119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USt-Satz ÷ 100</a:t>
            </a:r>
          </a:p>
        </p:txBody>
      </p:sp>
      <p:sp>
        <p:nvSpPr>
          <p:cNvPr id="50" name="Pill 50"/>
          <p:cNvSpPr/>
          <p:nvPr/>
        </p:nvSpPr>
        <p:spPr>
          <a:xfrm>
            <a:off x="4773168" y="4780788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C0392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Zwischenrundung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5989320" y="4757928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0,19 €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5577840" y="4994148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1,00 € × 19 %</a:t>
            </a:r>
          </a:p>
        </p:txBody>
      </p:sp>
      <p:cxnSp>
        <p:nvCxnSpPr>
          <p:cNvPr id="53" name="Connector 53"/>
          <p:cNvCxnSpPr/>
          <p:nvPr/>
        </p:nvCxnSpPr>
        <p:spPr>
          <a:xfrm>
            <a:off x="1303020" y="5184648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54" name="Card 54"/>
          <p:cNvSpPr/>
          <p:nvPr/>
        </p:nvSpPr>
        <p:spPr>
          <a:xfrm>
            <a:off x="822960" y="5221224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5" name="Pill 55"/>
          <p:cNvSpPr/>
          <p:nvPr/>
        </p:nvSpPr>
        <p:spPr>
          <a:xfrm>
            <a:off x="960120" y="5320284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BT-110</a:t>
            </a:r>
          </a:p>
        </p:txBody>
      </p:sp>
      <p:sp>
        <p:nvSpPr>
          <p:cNvPr id="56" name="Text 56"/>
          <p:cNvSpPr txBox="1"/>
          <p:nvPr/>
        </p:nvSpPr>
        <p:spPr>
          <a:xfrm>
            <a:off x="1965960" y="5236464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USt-Gesamtbetrag</a:t>
            </a:r>
          </a:p>
        </p:txBody>
      </p:sp>
      <p:sp>
        <p:nvSpPr>
          <p:cNvPr id="57" name="Text 57"/>
          <p:cNvSpPr txBox="1"/>
          <p:nvPr/>
        </p:nvSpPr>
        <p:spPr>
          <a:xfrm>
            <a:off x="1965960" y="5426964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Σ </a:t>
            </a:r>
            <a:r>
              <a:rPr lang="de-DE" sz="800" b="1" dirty="0">
                <a:solidFill>
                  <a:srgbClr val="1565C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BT-117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USt-Beträge aller Kategorien</a:t>
            </a:r>
          </a:p>
        </p:txBody>
      </p:sp>
      <p:sp>
        <p:nvSpPr>
          <p:cNvPr id="58" name="Pill 58"/>
          <p:cNvSpPr/>
          <p:nvPr/>
        </p:nvSpPr>
        <p:spPr>
          <a:xfrm>
            <a:off x="4773168" y="5274564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C0392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Σ gerundeter Werte</a:t>
            </a:r>
          </a:p>
        </p:txBody>
      </p:sp>
      <p:sp>
        <p:nvSpPr>
          <p:cNvPr id="59" name="Text 59"/>
          <p:cNvSpPr txBox="1"/>
          <p:nvPr/>
        </p:nvSpPr>
        <p:spPr>
          <a:xfrm>
            <a:off x="5989320" y="5251704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0,19 €</a:t>
            </a:r>
          </a:p>
        </p:txBody>
      </p:sp>
      <p:sp>
        <p:nvSpPr>
          <p:cNvPr id="60" name="Panel 60"/>
          <p:cNvSpPr/>
          <p:nvPr/>
        </p:nvSpPr>
        <p:spPr>
          <a:xfrm>
            <a:off x="7845552" y="2240280"/>
            <a:ext cx="3520440" cy="1709928"/>
          </a:xfrm>
          <a:prstGeom prst="roundRect">
            <a:avLst>
              <a:gd name="adj" fmla="val 5529"/>
            </a:avLst>
          </a:prstGeom>
          <a:solidFill>
            <a:srgbClr val="1A2B5E"/>
          </a:solidFill>
          <a:ln w="19050">
            <a:solidFill>
              <a:srgbClr val="7DB3FF"/>
            </a:solidFill>
            <a:prstDash val="solid"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1" name="Text 61"/>
          <p:cNvSpPr txBox="1"/>
          <p:nvPr/>
        </p:nvSpPr>
        <p:spPr>
          <a:xfrm>
            <a:off x="8065008" y="229514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20" dirty="0">
                <a:solidFill>
                  <a:srgbClr val="7DB3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ERLAUBTE NACHKOMMASTELLEN</a:t>
            </a:r>
          </a:p>
        </p:txBody>
      </p:sp>
      <p:sp>
        <p:nvSpPr>
          <p:cNvPr id="62" name="Text 62"/>
          <p:cNvSpPr txBox="1"/>
          <p:nvPr/>
        </p:nvSpPr>
        <p:spPr>
          <a:xfrm>
            <a:off x="8065008" y="2542032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BT-148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Bruttopreis, </a:t>
            </a: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BT-147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Rabatt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9994392" y="2542032"/>
            <a:ext cx="118872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B547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 + 2</a:t>
            </a:r>
          </a:p>
        </p:txBody>
      </p:sp>
      <p:sp>
        <p:nvSpPr>
          <p:cNvPr id="64" name="Text 64"/>
          <p:cNvSpPr txBox="1"/>
          <p:nvPr/>
        </p:nvSpPr>
        <p:spPr>
          <a:xfrm>
            <a:off x="8065008" y="2693822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b="1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Artikelnettopreis</a:t>
            </a:r>
          </a:p>
        </p:txBody>
      </p:sp>
      <p:sp>
        <p:nvSpPr>
          <p:cNvPr id="65" name="Text 65"/>
          <p:cNvSpPr txBox="1"/>
          <p:nvPr/>
        </p:nvSpPr>
        <p:spPr>
          <a:xfrm>
            <a:off x="9994392" y="2693822"/>
            <a:ext cx="118872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 + 2</a:t>
            </a:r>
          </a:p>
        </p:txBody>
      </p:sp>
      <p:sp>
        <p:nvSpPr>
          <p:cNvPr id="66" name="Text 66"/>
          <p:cNvSpPr txBox="1"/>
          <p:nvPr/>
        </p:nvSpPr>
        <p:spPr>
          <a:xfrm>
            <a:off x="8065008" y="2845613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BT-129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Menge</a:t>
            </a:r>
          </a:p>
        </p:txBody>
      </p:sp>
      <p:sp>
        <p:nvSpPr>
          <p:cNvPr id="67" name="Text 67"/>
          <p:cNvSpPr txBox="1"/>
          <p:nvPr/>
        </p:nvSpPr>
        <p:spPr>
          <a:xfrm>
            <a:off x="10515600" y="2845613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B547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4 NK</a:t>
            </a:r>
          </a:p>
        </p:txBody>
      </p:sp>
      <p:sp>
        <p:nvSpPr>
          <p:cNvPr id="68" name="Text 68"/>
          <p:cNvSpPr txBox="1"/>
          <p:nvPr/>
        </p:nvSpPr>
        <p:spPr>
          <a:xfrm>
            <a:off x="8065008" y="2997403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BT-149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Basismenge</a:t>
            </a:r>
          </a:p>
        </p:txBody>
      </p:sp>
      <p:sp>
        <p:nvSpPr>
          <p:cNvPr id="69" name="Text 69"/>
          <p:cNvSpPr txBox="1"/>
          <p:nvPr/>
        </p:nvSpPr>
        <p:spPr>
          <a:xfrm>
            <a:off x="10515600" y="2997403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B547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</p:txBody>
      </p:sp>
      <p:sp>
        <p:nvSpPr>
          <p:cNvPr id="70" name="Text 70"/>
          <p:cNvSpPr txBox="1"/>
          <p:nvPr/>
        </p:nvSpPr>
        <p:spPr>
          <a:xfrm>
            <a:off x="8065008" y="3149194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BT-141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Zuschläge, </a:t>
            </a: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BT-136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Abschläge</a:t>
            </a:r>
            <a:r>
              <a:rPr lang="de-DE" sz="750" dirty="0">
                <a:solidFill>
                  <a:srgbClr val="7E8CB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· Zeile</a:t>
            </a:r>
          </a:p>
        </p:txBody>
      </p:sp>
      <p:sp>
        <p:nvSpPr>
          <p:cNvPr id="71" name="Text 71"/>
          <p:cNvSpPr txBox="1"/>
          <p:nvPr/>
        </p:nvSpPr>
        <p:spPr>
          <a:xfrm>
            <a:off x="9994392" y="3149194"/>
            <a:ext cx="118872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B547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</p:txBody>
      </p:sp>
      <p:sp>
        <p:nvSpPr>
          <p:cNvPr id="72" name="Text 72"/>
          <p:cNvSpPr txBox="1"/>
          <p:nvPr/>
        </p:nvSpPr>
        <p:spPr>
          <a:xfrm>
            <a:off x="8065008" y="3300984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b="1" dirty="0">
                <a:solidFill>
                  <a:srgbClr val="FFB74D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Nettobetrag der Zeile</a:t>
            </a:r>
          </a:p>
        </p:txBody>
      </p:sp>
      <p:sp>
        <p:nvSpPr>
          <p:cNvPr id="73" name="Text 73"/>
          <p:cNvSpPr txBox="1"/>
          <p:nvPr/>
        </p:nvSpPr>
        <p:spPr>
          <a:xfrm>
            <a:off x="9994392" y="3300984"/>
            <a:ext cx="118872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</p:txBody>
      </p:sp>
      <p:sp>
        <p:nvSpPr>
          <p:cNvPr id="74" name="Text 74"/>
          <p:cNvSpPr txBox="1"/>
          <p:nvPr/>
        </p:nvSpPr>
        <p:spPr>
          <a:xfrm>
            <a:off x="8065008" y="3452774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b="1" dirty="0">
                <a:solidFill>
                  <a:srgbClr val="FFE066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Summe der Nettobeträge</a:t>
            </a:r>
          </a:p>
        </p:txBody>
      </p:sp>
      <p:sp>
        <p:nvSpPr>
          <p:cNvPr id="75" name="Text 75"/>
          <p:cNvSpPr txBox="1"/>
          <p:nvPr/>
        </p:nvSpPr>
        <p:spPr>
          <a:xfrm>
            <a:off x="9994392" y="3452774"/>
            <a:ext cx="118872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</p:txBody>
      </p:sp>
      <p:sp>
        <p:nvSpPr>
          <p:cNvPr id="76" name="Text 76"/>
          <p:cNvSpPr txBox="1"/>
          <p:nvPr/>
        </p:nvSpPr>
        <p:spPr>
          <a:xfrm>
            <a:off x="8065008" y="3604565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BT-99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Zuschläge, </a:t>
            </a: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BT-92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Abschläge</a:t>
            </a:r>
            <a:r>
              <a:rPr lang="de-DE" sz="750" dirty="0">
                <a:solidFill>
                  <a:srgbClr val="7E8CB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· Dokument</a:t>
            </a:r>
          </a:p>
        </p:txBody>
      </p:sp>
      <p:sp>
        <p:nvSpPr>
          <p:cNvPr id="77" name="Text 77"/>
          <p:cNvSpPr txBox="1"/>
          <p:nvPr/>
        </p:nvSpPr>
        <p:spPr>
          <a:xfrm>
            <a:off x="9994392" y="3604565"/>
            <a:ext cx="118872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B547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</p:txBody>
      </p:sp>
      <p:sp>
        <p:nvSpPr>
          <p:cNvPr id="78" name="Text 78"/>
          <p:cNvSpPr txBox="1"/>
          <p:nvPr/>
        </p:nvSpPr>
        <p:spPr>
          <a:xfrm>
            <a:off x="8065008" y="3756355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BT-119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USt-Satz (Gesetz)</a:t>
            </a:r>
          </a:p>
        </p:txBody>
      </p:sp>
      <p:sp>
        <p:nvSpPr>
          <p:cNvPr id="79" name="Text 79"/>
          <p:cNvSpPr txBox="1"/>
          <p:nvPr/>
        </p:nvSpPr>
        <p:spPr>
          <a:xfrm>
            <a:off x="10515600" y="3756355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</p:txBody>
      </p:sp>
      <p:sp>
        <p:nvSpPr>
          <p:cNvPr id="80" name="Panel 80"/>
          <p:cNvSpPr/>
          <p:nvPr/>
        </p:nvSpPr>
        <p:spPr>
          <a:xfrm>
            <a:off x="7845552" y="4023360"/>
            <a:ext cx="3520440" cy="2203704"/>
          </a:xfrm>
          <a:prstGeom prst="roundRect">
            <a:avLst>
              <a:gd name="adj" fmla="val 5529"/>
            </a:avLst>
          </a:prstGeom>
          <a:solidFill>
            <a:srgbClr val="1A2B5E"/>
          </a:solidFill>
          <a:ln w="19050">
            <a:solidFill>
              <a:srgbClr val="B9A2FF"/>
            </a:solidFill>
            <a:prstDash val="solid"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1" name="Text 81"/>
          <p:cNvSpPr txBox="1"/>
          <p:nvPr/>
        </p:nvSpPr>
        <p:spPr>
          <a:xfrm>
            <a:off x="8065008" y="407822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20" dirty="0">
                <a:solidFill>
                  <a:srgbClr val="B9A2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NACHKOMMASTELLEN · ENDWERTE</a:t>
            </a:r>
          </a:p>
        </p:txBody>
      </p:sp>
      <p:sp>
        <p:nvSpPr>
          <p:cNvPr id="82" name="Text 82"/>
          <p:cNvSpPr txBox="1"/>
          <p:nvPr/>
        </p:nvSpPr>
        <p:spPr>
          <a:xfrm>
            <a:off x="8065008" y="435254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000" b="1" dirty="0">
                <a:solidFill>
                  <a:srgbClr val="81C784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 </a:t>
            </a:r>
            <a:r>
              <a:rPr lang="de-DE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Bemessungsgrundlage</a:t>
            </a:r>
          </a:p>
        </p:txBody>
      </p:sp>
      <p:sp>
        <p:nvSpPr>
          <p:cNvPr id="83" name="Text 83"/>
          <p:cNvSpPr txBox="1"/>
          <p:nvPr/>
        </p:nvSpPr>
        <p:spPr>
          <a:xfrm>
            <a:off x="9994392" y="4352544"/>
            <a:ext cx="11887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de-DE" sz="1000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</p:txBody>
      </p:sp>
      <p:sp>
        <p:nvSpPr>
          <p:cNvPr id="84" name="Text 84"/>
          <p:cNvSpPr txBox="1"/>
          <p:nvPr/>
        </p:nvSpPr>
        <p:spPr>
          <a:xfrm>
            <a:off x="8065008" y="462686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000" b="1" dirty="0">
                <a:solidFill>
                  <a:srgbClr val="82B1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BT-117 </a:t>
            </a:r>
            <a:r>
              <a:rPr lang="de-DE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USt-Betrag</a:t>
            </a:r>
          </a:p>
        </p:txBody>
      </p:sp>
      <p:sp>
        <p:nvSpPr>
          <p:cNvPr id="85" name="Text 85"/>
          <p:cNvSpPr txBox="1"/>
          <p:nvPr/>
        </p:nvSpPr>
        <p:spPr>
          <a:xfrm>
            <a:off x="9994392" y="4626864"/>
            <a:ext cx="11887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de-DE" sz="1000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</p:txBody>
      </p:sp>
      <p:sp>
        <p:nvSpPr>
          <p:cNvPr id="86" name="Text 86"/>
          <p:cNvSpPr txBox="1"/>
          <p:nvPr/>
        </p:nvSpPr>
        <p:spPr>
          <a:xfrm>
            <a:off x="8065008" y="490118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000" b="1" dirty="0">
                <a:solidFill>
                  <a:srgbClr val="CE93D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BT-110 </a:t>
            </a:r>
            <a:r>
              <a:rPr lang="de-DE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USt-Gesamtbetrag</a:t>
            </a:r>
          </a:p>
        </p:txBody>
      </p:sp>
      <p:sp>
        <p:nvSpPr>
          <p:cNvPr id="87" name="Text 87"/>
          <p:cNvSpPr txBox="1"/>
          <p:nvPr/>
        </p:nvSpPr>
        <p:spPr>
          <a:xfrm>
            <a:off x="9994392" y="4901184"/>
            <a:ext cx="11887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de-DE" sz="1000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</p:txBody>
      </p:sp>
      <p:sp>
        <p:nvSpPr>
          <p:cNvPr id="88" name="Text 88"/>
          <p:cNvSpPr txBox="1"/>
          <p:nvPr/>
        </p:nvSpPr>
        <p:spPr>
          <a:xfrm>
            <a:off x="8065008" y="5669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dirty="0">
                <a:solidFill>
                  <a:srgbClr val="B9A2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Worst Case </a:t>
            </a:r>
            <a:r>
              <a:rPr lang="de-DE" sz="9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mit Zeilenanzahl und Menge:</a:t>
            </a:r>
          </a:p>
          <a:p>
            <a:pPr marL="0" indent="0" algn="l">
              <a:buNone/>
            </a:pPr>
            <a:r>
              <a:rPr lang="de-DE" sz="9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→ „Wie groß wird die Abweichung?“</a:t>
            </a:r>
          </a:p>
        </p:txBody>
      </p:sp>
      <p:sp>
        <p:nvSpPr>
          <p:cNvPr id="89" name="Text 89"/>
          <p:cNvSpPr txBox="1"/>
          <p:nvPr/>
        </p:nvSpPr>
        <p:spPr>
          <a:xfrm>
            <a:off x="822960" y="63093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Rot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gerundeter Zwischenwert   </a:t>
            </a:r>
            <a:r>
              <a:rPr lang="de-DE" sz="850" dirty="0">
                <a:solidFill>
                  <a:srgbClr val="1E8A4C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Grün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gezahlter Betrag, einmal gerundet (Bank)   </a:t>
            </a:r>
            <a:r>
              <a:rPr lang="de-DE" sz="850" dirty="0">
                <a:solidFill>
                  <a:srgbClr val="D98A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Orange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gerundeter Eingangswert</a:t>
            </a:r>
          </a:p>
          <a:p>
            <a:pPr marL="0" indent="0" algn="l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NK = Nachkommastellen · Minor Unit = kleinste Währungseinheit, ISO 4217 (EUR: 2 NK) · ± bei 100 Zeilen à 100 Stück, 19 % USt</a:t>
            </a:r>
          </a:p>
          <a:p>
            <a:pPr marL="0" indent="0" algn="l">
              <a:buNone/>
            </a:pPr>
            <a:r>
              <a:rPr lang="de-DE" sz="850" dirty="0">
                <a:solidFill>
                  <a:srgbClr val="D32F2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Regen</a:t>
            </a:r>
            <a:r>
              <a:rPr lang="de-DE" sz="850" dirty="0">
                <a:solidFill>
                  <a:srgbClr val="C791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bo</a:t>
            </a:r>
            <a:r>
              <a:rPr lang="de-DE" sz="850" dirty="0">
                <a:solidFill>
                  <a:srgbClr val="1565C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gen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Reihenfolge der Rechenschritte; ein BT behält seine Farbe, wo er weiter unten wieder verwendet wird</a:t>
            </a:r>
          </a:p>
        </p:txBody>
      </p:sp>
      <p:sp>
        <p:nvSpPr>
          <p:cNvPr id="90" name="Card 90"/>
          <p:cNvSpPr/>
          <p:nvPr/>
        </p:nvSpPr>
        <p:spPr>
          <a:xfrm>
            <a:off x="822960" y="5715000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1" name="Pill 91"/>
          <p:cNvSpPr/>
          <p:nvPr/>
        </p:nvSpPr>
        <p:spPr>
          <a:xfrm>
            <a:off x="960120" y="5814060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AD1457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BT-115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1965960" y="5730240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Zahlbetrag</a:t>
            </a:r>
          </a:p>
        </p:txBody>
      </p:sp>
      <p:sp>
        <p:nvSpPr>
          <p:cNvPr id="93" name="Text 93"/>
          <p:cNvSpPr txBox="1"/>
          <p:nvPr/>
        </p:nvSpPr>
        <p:spPr>
          <a:xfrm>
            <a:off x="1965960" y="5920740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de-DE" sz="800" b="1" dirty="0">
                <a:solidFill>
                  <a:srgbClr val="6A1B9A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BT-110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USt-Gesamtbetrag +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BT-109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Summe netto</a:t>
            </a:r>
            <a:b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</a:b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−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BT-113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Vorauszahlung +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BT-114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Rundungsbetrag</a:t>
            </a:r>
          </a:p>
        </p:txBody>
      </p:sp>
      <p:sp>
        <p:nvSpPr>
          <p:cNvPr id="94" name="Pill 94"/>
          <p:cNvSpPr/>
          <p:nvPr/>
        </p:nvSpPr>
        <p:spPr>
          <a:xfrm>
            <a:off x="4773168" y="5768340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E8F6EE"/>
          </a:solidFill>
          <a:ln w="9525">
            <a:solidFill>
              <a:srgbClr val="B7E1C7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1E8A4C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1E8A4C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Endwert · Bank</a:t>
            </a:r>
          </a:p>
        </p:txBody>
      </p:sp>
      <p:sp>
        <p:nvSpPr>
          <p:cNvPr id="95" name="Text 95"/>
          <p:cNvSpPr txBox="1"/>
          <p:nvPr/>
        </p:nvSpPr>
        <p:spPr>
          <a:xfrm>
            <a:off x="5989320" y="5745480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1,19 €</a:t>
            </a:r>
          </a:p>
        </p:txBody>
      </p:sp>
      <p:sp>
        <p:nvSpPr>
          <p:cNvPr id="96" name="Text 96"/>
          <p:cNvSpPr txBox="1"/>
          <p:nvPr/>
        </p:nvSpPr>
        <p:spPr>
          <a:xfrm>
            <a:off x="5577840" y="5981700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1,00 € + 0,19 €</a:t>
            </a:r>
          </a:p>
        </p:txBody>
      </p:sp>
      <p:cxnSp>
        <p:nvCxnSpPr>
          <p:cNvPr id="97" name="Connector 97"/>
          <p:cNvCxnSpPr/>
          <p:nvPr/>
        </p:nvCxnSpPr>
        <p:spPr>
          <a:xfrm>
            <a:off x="1303020" y="5678424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98" name="Text 98"/>
          <p:cNvSpPr txBox="1"/>
          <p:nvPr/>
        </p:nvSpPr>
        <p:spPr>
          <a:xfrm>
            <a:off x="8065008" y="517550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000" b="1" dirty="0">
                <a:solidFill>
                  <a:srgbClr val="F48FB1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BT-115 </a:t>
            </a:r>
            <a:r>
              <a:rPr lang="de-DE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Zahlbetrag</a:t>
            </a:r>
          </a:p>
        </p:txBody>
      </p:sp>
      <p:sp>
        <p:nvSpPr>
          <p:cNvPr id="99" name="Text 99"/>
          <p:cNvSpPr txBox="1"/>
          <p:nvPr/>
        </p:nvSpPr>
        <p:spPr>
          <a:xfrm>
            <a:off x="9994392" y="5175504"/>
            <a:ext cx="11887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de-DE" sz="1000" dirty="0">
                <a:solidFill>
                  <a:srgbClr val="81C784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</p:txBody>
      </p:sp>
      <p:sp>
        <p:nvSpPr>
          <p:cNvPr id="100" name="Reuse 100"/>
          <p:cNvSpPr/>
          <p:nvPr/>
        </p:nvSpPr>
        <p:spPr>
          <a:xfrm>
            <a:off x="1645920" y="2679192"/>
            <a:ext cx="309067" cy="530351"/>
          </a:xfrm>
          <a:custGeom>
            <a:avLst/>
            <a:gdLst/>
            <a:ahLst/>
            <a:cxnLst/>
            <a:rect l="l" t="t" r="r" b="b"/>
            <a:pathLst>
              <a:path w="309067" h="530351" fill="none">
                <a:moveTo>
                  <a:pt x="0" y="0"/>
                </a:moveTo>
                <a:lnTo>
                  <a:pt x="256032" y="0"/>
                </a:lnTo>
                <a:lnTo>
                  <a:pt x="256032" y="530351"/>
                </a:lnTo>
                <a:lnTo>
                  <a:pt x="309067" y="530351"/>
                </a:lnTo>
              </a:path>
            </a:pathLst>
          </a:custGeom>
          <a:noFill/>
          <a:ln w="15875">
            <a:solidFill>
              <a:srgbClr val="D32F2F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1" name="Reuse 101"/>
          <p:cNvSpPr/>
          <p:nvPr/>
        </p:nvSpPr>
        <p:spPr>
          <a:xfrm>
            <a:off x="1645920" y="3172968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210311" y="0"/>
                </a:lnTo>
                <a:lnTo>
                  <a:pt x="21031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EF6C00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2" name="Reuse 102"/>
          <p:cNvSpPr/>
          <p:nvPr/>
        </p:nvSpPr>
        <p:spPr>
          <a:xfrm>
            <a:off x="1645920" y="3172968"/>
            <a:ext cx="309067" cy="1325880"/>
          </a:xfrm>
          <a:custGeom>
            <a:avLst/>
            <a:gdLst/>
            <a:ahLst/>
            <a:cxnLst/>
            <a:rect l="l" t="t" r="r" b="b"/>
            <a:pathLst>
              <a:path w="309067" h="1325880" fill="none">
                <a:moveTo>
                  <a:pt x="0" y="0"/>
                </a:moveTo>
                <a:lnTo>
                  <a:pt x="210311" y="0"/>
                </a:lnTo>
                <a:lnTo>
                  <a:pt x="210311" y="1325880"/>
                </a:lnTo>
                <a:lnTo>
                  <a:pt x="309067" y="1325880"/>
                </a:lnTo>
              </a:path>
            </a:pathLst>
          </a:custGeom>
          <a:noFill/>
          <a:ln w="15875">
            <a:solidFill>
              <a:srgbClr val="EF6C00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3" name="Reuse 103"/>
          <p:cNvSpPr/>
          <p:nvPr/>
        </p:nvSpPr>
        <p:spPr>
          <a:xfrm>
            <a:off x="1645920" y="4462272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164591" y="0"/>
                </a:lnTo>
                <a:lnTo>
                  <a:pt x="16459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2E7D32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4" name="Reuse 104"/>
          <p:cNvSpPr/>
          <p:nvPr/>
        </p:nvSpPr>
        <p:spPr>
          <a:xfrm>
            <a:off x="1645920" y="4956048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118871" y="0"/>
                </a:lnTo>
                <a:lnTo>
                  <a:pt x="11887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1565C0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5" name="Reuse 105"/>
          <p:cNvSpPr/>
          <p:nvPr/>
        </p:nvSpPr>
        <p:spPr>
          <a:xfrm>
            <a:off x="1645920" y="5449824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73151" y="0"/>
                </a:lnTo>
                <a:lnTo>
                  <a:pt x="7315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6A1B9A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3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RECHENKETTE · VORSCHLAG EN 16931-1:2026 AMENDMENT (#163)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Vom Bruttopreis über Nettopreis zur USt</a:t>
            </a:r>
          </a:p>
        </p:txBody>
      </p:sp>
      <p:sp>
        <p:nvSpPr>
          <p:cNvPr id="6" name="Speaker 6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F4055174-2971-41F0-AAA2-FCF21F98D99D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27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Pill 8"/>
          <p:cNvSpPr/>
          <p:nvPr/>
        </p:nvSpPr>
        <p:spPr>
          <a:xfrm>
            <a:off x="822960" y="1856232"/>
            <a:ext cx="2211019" cy="310896"/>
          </a:xfrm>
          <a:prstGeom prst="roundRect">
            <a:avLst>
              <a:gd name="adj" fmla="val 50000"/>
            </a:avLst>
          </a:prstGeom>
          <a:solidFill>
            <a:srgbClr val="E8F6EE"/>
          </a:solidFill>
          <a:ln w="9525">
            <a:solidFill>
              <a:srgbClr val="B7E1C7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1E8A4C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Keine Zwischenrundung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3161995" y="1847088"/>
            <a:ext cx="735360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— gerundet wird nur der Zahlbetrag BT-115; BT-114 zeigt die Rundung.</a:t>
            </a:r>
          </a:p>
        </p:txBody>
      </p:sp>
      <p:sp>
        <p:nvSpPr>
          <p:cNvPr id="10" name="Frame 10"/>
          <p:cNvSpPr/>
          <p:nvPr/>
        </p:nvSpPr>
        <p:spPr>
          <a:xfrm>
            <a:off x="694944" y="2240280"/>
            <a:ext cx="7022592" cy="1709928"/>
          </a:xfrm>
          <a:prstGeom prst="roundRect">
            <a:avLst>
              <a:gd name="adj" fmla="val 5529"/>
            </a:avLst>
          </a:prstGeom>
          <a:solidFill>
            <a:srgbClr val="EEF4FC"/>
          </a:solidFill>
          <a:ln w="19050">
            <a:solidFill>
              <a:srgbClr val="2F7F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11"/>
          <p:cNvSpPr txBox="1"/>
          <p:nvPr/>
        </p:nvSpPr>
        <p:spPr>
          <a:xfrm>
            <a:off x="868680" y="22677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850" spc="150" dirty="0">
                <a:solidFill>
                  <a:srgbClr val="2F7FD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EINGABE- &amp; ZWISCHENWERTE</a:t>
            </a:r>
          </a:p>
        </p:txBody>
      </p:sp>
      <p:sp>
        <p:nvSpPr>
          <p:cNvPr id="12" name="Frame 12"/>
          <p:cNvSpPr/>
          <p:nvPr/>
        </p:nvSpPr>
        <p:spPr>
          <a:xfrm>
            <a:off x="694944" y="4023360"/>
            <a:ext cx="7022592" cy="2203704"/>
          </a:xfrm>
          <a:prstGeom prst="roundRect">
            <a:avLst>
              <a:gd name="adj" fmla="val 5529"/>
            </a:avLst>
          </a:prstGeom>
          <a:solidFill>
            <a:srgbClr val="F4F0FC"/>
          </a:solidFill>
          <a:ln w="19050">
            <a:solidFill>
              <a:srgbClr val="7B57D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3"/>
          <p:cNvSpPr txBox="1"/>
          <p:nvPr/>
        </p:nvSpPr>
        <p:spPr>
          <a:xfrm>
            <a:off x="868680" y="405079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850" spc="150" dirty="0">
                <a:solidFill>
                  <a:srgbClr val="7B57D1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ENDERGEBNISSE</a:t>
            </a:r>
          </a:p>
        </p:txBody>
      </p:sp>
      <p:sp>
        <p:nvSpPr>
          <p:cNvPr id="14" name="Card 14"/>
          <p:cNvSpPr/>
          <p:nvPr/>
        </p:nvSpPr>
        <p:spPr>
          <a:xfrm>
            <a:off x="822960" y="2450592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Pill 15"/>
          <p:cNvSpPr/>
          <p:nvPr/>
        </p:nvSpPr>
        <p:spPr>
          <a:xfrm>
            <a:off x="960120" y="2549652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965960" y="2465832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Artikelnettopreis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965960" y="2656332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BT-148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Artikelbruttopreis −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BT-147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Artikelpreisrabatt</a:t>
            </a:r>
          </a:p>
        </p:txBody>
      </p:sp>
      <p:sp>
        <p:nvSpPr>
          <p:cNvPr id="18" name="Pill 18"/>
          <p:cNvSpPr/>
          <p:nvPr/>
        </p:nvSpPr>
        <p:spPr>
          <a:xfrm>
            <a:off x="4773168" y="2503932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ungerundet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5989320" y="2481072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1E8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577840" y="2717292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wie vereinbart</a:t>
            </a:r>
          </a:p>
        </p:txBody>
      </p:sp>
      <p:cxnSp>
        <p:nvCxnSpPr>
          <p:cNvPr id="21" name="Connector 21"/>
          <p:cNvCxnSpPr/>
          <p:nvPr/>
        </p:nvCxnSpPr>
        <p:spPr>
          <a:xfrm>
            <a:off x="1303020" y="2907792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22" name="Card 22"/>
          <p:cNvSpPr/>
          <p:nvPr/>
        </p:nvSpPr>
        <p:spPr>
          <a:xfrm>
            <a:off x="822960" y="2944368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Pill 23"/>
          <p:cNvSpPr/>
          <p:nvPr/>
        </p:nvSpPr>
        <p:spPr>
          <a:xfrm>
            <a:off x="960120" y="3043428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EF6C0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965960" y="2959608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Nettobetrag der Zeile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1965960" y="3150108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de-DE" sz="800" b="1" dirty="0">
                <a:solidFill>
                  <a:srgbClr val="D32F2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Preis ×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BT-129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Menge ÷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BT-149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Basismenge + Σ 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BT-141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Zuschläge − Σ 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BT-136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Abschläge der Zeile</a:t>
            </a:r>
          </a:p>
        </p:txBody>
      </p:sp>
      <p:sp>
        <p:nvSpPr>
          <p:cNvPr id="26" name="Pill 26"/>
          <p:cNvSpPr/>
          <p:nvPr/>
        </p:nvSpPr>
        <p:spPr>
          <a:xfrm>
            <a:off x="4773168" y="2997708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ungerundet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5989320" y="2974848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1E8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5577840" y="3211068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exakt</a:t>
            </a:r>
          </a:p>
        </p:txBody>
      </p:sp>
      <p:cxnSp>
        <p:nvCxnSpPr>
          <p:cNvPr id="29" name="Connector 29"/>
          <p:cNvCxnSpPr/>
          <p:nvPr/>
        </p:nvCxnSpPr>
        <p:spPr>
          <a:xfrm>
            <a:off x="1303020" y="3401568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30" name="Card 30"/>
          <p:cNvSpPr/>
          <p:nvPr/>
        </p:nvSpPr>
        <p:spPr>
          <a:xfrm>
            <a:off x="822960" y="3438144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" name="Pill 31"/>
          <p:cNvSpPr/>
          <p:nvPr/>
        </p:nvSpPr>
        <p:spPr>
          <a:xfrm>
            <a:off x="960120" y="3537204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C7910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1965960" y="3453384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Summe der Nettobeträge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1965960" y="3643884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Σ </a:t>
            </a:r>
            <a:r>
              <a:rPr lang="de-DE" sz="80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Nettobeträge aller Rechnungszeilen</a:t>
            </a:r>
          </a:p>
        </p:txBody>
      </p:sp>
      <p:sp>
        <p:nvSpPr>
          <p:cNvPr id="34" name="Pill 34"/>
          <p:cNvSpPr/>
          <p:nvPr/>
        </p:nvSpPr>
        <p:spPr>
          <a:xfrm>
            <a:off x="4773168" y="3491484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ungerundet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5989320" y="3468624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1E8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5577840" y="3704844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exakte Summe</a:t>
            </a:r>
          </a:p>
        </p:txBody>
      </p:sp>
      <p:sp>
        <p:nvSpPr>
          <p:cNvPr id="37" name="Card 37"/>
          <p:cNvSpPr/>
          <p:nvPr/>
        </p:nvSpPr>
        <p:spPr>
          <a:xfrm>
            <a:off x="822960" y="4233672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Pill 38"/>
          <p:cNvSpPr/>
          <p:nvPr/>
        </p:nvSpPr>
        <p:spPr>
          <a:xfrm>
            <a:off x="960120" y="4332732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1965960" y="4248912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Bemessungsgrundlage je Kategorie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1965960" y="4439412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Σ </a:t>
            </a:r>
            <a:r>
              <a:rPr lang="de-DE" sz="80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Zeilen + Σ 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BT-99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Zuschläge</a:t>
            </a:r>
            <a:b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</a:b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− Σ 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BT-92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Abschläge auf Dokumentebene</a:t>
            </a:r>
          </a:p>
        </p:txBody>
      </p:sp>
      <p:sp>
        <p:nvSpPr>
          <p:cNvPr id="41" name="Pill 41"/>
          <p:cNvSpPr/>
          <p:nvPr/>
        </p:nvSpPr>
        <p:spPr>
          <a:xfrm>
            <a:off x="4773168" y="4287012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ungerundet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5989320" y="4264152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1E8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5577840" y="4500372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exakt</a:t>
            </a:r>
          </a:p>
        </p:txBody>
      </p:sp>
      <p:cxnSp>
        <p:nvCxnSpPr>
          <p:cNvPr id="44" name="Connector 44"/>
          <p:cNvCxnSpPr/>
          <p:nvPr/>
        </p:nvCxnSpPr>
        <p:spPr>
          <a:xfrm>
            <a:off x="1303020" y="4690872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45" name="Card 45"/>
          <p:cNvSpPr/>
          <p:nvPr/>
        </p:nvSpPr>
        <p:spPr>
          <a:xfrm>
            <a:off x="822960" y="4727448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6" name="Pill 46"/>
          <p:cNvSpPr/>
          <p:nvPr/>
        </p:nvSpPr>
        <p:spPr>
          <a:xfrm>
            <a:off x="960120" y="4826508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BT-117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1965960" y="4742688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USt-Betrag je Kategorie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1965960" y="4933188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de-DE" sz="800" b="1" dirty="0">
                <a:solidFill>
                  <a:srgbClr val="2E7D3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Bemessungsgrundlage ×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BT-119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USt-Satz ÷ 100</a:t>
            </a:r>
          </a:p>
        </p:txBody>
      </p:sp>
      <p:sp>
        <p:nvSpPr>
          <p:cNvPr id="49" name="Pill 49"/>
          <p:cNvSpPr/>
          <p:nvPr/>
        </p:nvSpPr>
        <p:spPr>
          <a:xfrm>
            <a:off x="4773168" y="4780788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ungerundet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5989320" y="4757928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1E8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5577840" y="4994148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Minor Unit nur per CIUS → Warnung</a:t>
            </a:r>
          </a:p>
        </p:txBody>
      </p:sp>
      <p:cxnSp>
        <p:nvCxnSpPr>
          <p:cNvPr id="52" name="Connector 52"/>
          <p:cNvCxnSpPr/>
          <p:nvPr/>
        </p:nvCxnSpPr>
        <p:spPr>
          <a:xfrm>
            <a:off x="1303020" y="5184648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53" name="Card 53"/>
          <p:cNvSpPr/>
          <p:nvPr/>
        </p:nvSpPr>
        <p:spPr>
          <a:xfrm>
            <a:off x="822960" y="5221224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4" name="Pill 54"/>
          <p:cNvSpPr/>
          <p:nvPr/>
        </p:nvSpPr>
        <p:spPr>
          <a:xfrm>
            <a:off x="960120" y="5320284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BT-110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1965960" y="5236464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USt-Gesamtbetrag</a:t>
            </a:r>
          </a:p>
        </p:txBody>
      </p:sp>
      <p:sp>
        <p:nvSpPr>
          <p:cNvPr id="56" name="Text 56"/>
          <p:cNvSpPr txBox="1"/>
          <p:nvPr/>
        </p:nvSpPr>
        <p:spPr>
          <a:xfrm>
            <a:off x="1965960" y="5426964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Σ </a:t>
            </a:r>
            <a:r>
              <a:rPr lang="de-DE" sz="800" b="1" dirty="0">
                <a:solidFill>
                  <a:srgbClr val="1565C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BT-117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USt-Beträge aller Kategorien</a:t>
            </a:r>
          </a:p>
        </p:txBody>
      </p:sp>
      <p:sp>
        <p:nvSpPr>
          <p:cNvPr id="57" name="Pill 57"/>
          <p:cNvSpPr/>
          <p:nvPr/>
        </p:nvSpPr>
        <p:spPr>
          <a:xfrm>
            <a:off x="4773168" y="5274564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ungerundet</a:t>
            </a:r>
          </a:p>
        </p:txBody>
      </p:sp>
      <p:sp>
        <p:nvSpPr>
          <p:cNvPr id="58" name="Text 58"/>
          <p:cNvSpPr txBox="1"/>
          <p:nvPr/>
        </p:nvSpPr>
        <p:spPr>
          <a:xfrm>
            <a:off x="5989320" y="5251704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1E8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</a:t>
            </a:r>
          </a:p>
        </p:txBody>
      </p:sp>
      <p:sp>
        <p:nvSpPr>
          <p:cNvPr id="59" name="Panel 59"/>
          <p:cNvSpPr/>
          <p:nvPr/>
        </p:nvSpPr>
        <p:spPr>
          <a:xfrm>
            <a:off x="7845552" y="2240280"/>
            <a:ext cx="3520440" cy="1709928"/>
          </a:xfrm>
          <a:prstGeom prst="roundRect">
            <a:avLst>
              <a:gd name="adj" fmla="val 5529"/>
            </a:avLst>
          </a:prstGeom>
          <a:solidFill>
            <a:srgbClr val="1A2B5E"/>
          </a:solidFill>
          <a:ln w="19050">
            <a:solidFill>
              <a:srgbClr val="7DB3FF"/>
            </a:solidFill>
            <a:prstDash val="solid"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0" name="Text 60"/>
          <p:cNvSpPr txBox="1"/>
          <p:nvPr/>
        </p:nvSpPr>
        <p:spPr>
          <a:xfrm>
            <a:off x="8065008" y="229514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20" dirty="0">
                <a:solidFill>
                  <a:srgbClr val="7DB3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ERLAUBTE NACHKOMMASTELLEN</a:t>
            </a:r>
          </a:p>
        </p:txBody>
      </p:sp>
      <p:sp>
        <p:nvSpPr>
          <p:cNvPr id="61" name="Text 61"/>
          <p:cNvSpPr txBox="1"/>
          <p:nvPr/>
        </p:nvSpPr>
        <p:spPr>
          <a:xfrm>
            <a:off x="8065008" y="2542032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BT-148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Bruttopreis, </a:t>
            </a: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BT-147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Rabatt</a:t>
            </a:r>
          </a:p>
        </p:txBody>
      </p:sp>
      <p:sp>
        <p:nvSpPr>
          <p:cNvPr id="62" name="Text 62"/>
          <p:cNvSpPr txBox="1"/>
          <p:nvPr/>
        </p:nvSpPr>
        <p:spPr>
          <a:xfrm>
            <a:off x="10515600" y="2542032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8065008" y="2693822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b="1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Artikelnettopreis</a:t>
            </a:r>
          </a:p>
        </p:txBody>
      </p:sp>
      <p:sp>
        <p:nvSpPr>
          <p:cNvPr id="64" name="Text 64"/>
          <p:cNvSpPr txBox="1"/>
          <p:nvPr/>
        </p:nvSpPr>
        <p:spPr>
          <a:xfrm>
            <a:off x="10515600" y="2693822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</p:txBody>
      </p:sp>
      <p:sp>
        <p:nvSpPr>
          <p:cNvPr id="65" name="Text 65"/>
          <p:cNvSpPr txBox="1"/>
          <p:nvPr/>
        </p:nvSpPr>
        <p:spPr>
          <a:xfrm>
            <a:off x="8065008" y="2845613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BT-129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Menge</a:t>
            </a:r>
          </a:p>
        </p:txBody>
      </p:sp>
      <p:sp>
        <p:nvSpPr>
          <p:cNvPr id="66" name="Text 66"/>
          <p:cNvSpPr txBox="1"/>
          <p:nvPr/>
        </p:nvSpPr>
        <p:spPr>
          <a:xfrm>
            <a:off x="10515600" y="2845613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</p:txBody>
      </p:sp>
      <p:sp>
        <p:nvSpPr>
          <p:cNvPr id="67" name="Text 67"/>
          <p:cNvSpPr txBox="1"/>
          <p:nvPr/>
        </p:nvSpPr>
        <p:spPr>
          <a:xfrm>
            <a:off x="8065008" y="2997403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BT-149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Basismenge</a:t>
            </a:r>
          </a:p>
        </p:txBody>
      </p:sp>
      <p:sp>
        <p:nvSpPr>
          <p:cNvPr id="68" name="Text 68"/>
          <p:cNvSpPr txBox="1"/>
          <p:nvPr/>
        </p:nvSpPr>
        <p:spPr>
          <a:xfrm>
            <a:off x="10515600" y="2997403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</p:txBody>
      </p:sp>
      <p:sp>
        <p:nvSpPr>
          <p:cNvPr id="69" name="Text 69"/>
          <p:cNvSpPr txBox="1"/>
          <p:nvPr/>
        </p:nvSpPr>
        <p:spPr>
          <a:xfrm>
            <a:off x="8065008" y="3149194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BT-141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Zuschläge, </a:t>
            </a: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BT-136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Abschläge</a:t>
            </a:r>
            <a:r>
              <a:rPr lang="de-DE" sz="750" dirty="0">
                <a:solidFill>
                  <a:srgbClr val="7E8CB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· Zeile</a:t>
            </a:r>
          </a:p>
        </p:txBody>
      </p:sp>
      <p:sp>
        <p:nvSpPr>
          <p:cNvPr id="70" name="Text 70"/>
          <p:cNvSpPr txBox="1"/>
          <p:nvPr/>
        </p:nvSpPr>
        <p:spPr>
          <a:xfrm>
            <a:off x="10515600" y="3149194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</p:txBody>
      </p:sp>
      <p:sp>
        <p:nvSpPr>
          <p:cNvPr id="71" name="Text 71"/>
          <p:cNvSpPr txBox="1"/>
          <p:nvPr/>
        </p:nvSpPr>
        <p:spPr>
          <a:xfrm>
            <a:off x="8065008" y="3300984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b="1" dirty="0">
                <a:solidFill>
                  <a:srgbClr val="FFB74D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Nettobetrag der Zeile</a:t>
            </a:r>
          </a:p>
        </p:txBody>
      </p:sp>
      <p:sp>
        <p:nvSpPr>
          <p:cNvPr id="72" name="Text 72"/>
          <p:cNvSpPr txBox="1"/>
          <p:nvPr/>
        </p:nvSpPr>
        <p:spPr>
          <a:xfrm>
            <a:off x="10515600" y="3300984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</p:txBody>
      </p:sp>
      <p:sp>
        <p:nvSpPr>
          <p:cNvPr id="73" name="Text 73"/>
          <p:cNvSpPr txBox="1"/>
          <p:nvPr/>
        </p:nvSpPr>
        <p:spPr>
          <a:xfrm>
            <a:off x="8065008" y="3452774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b="1" dirty="0">
                <a:solidFill>
                  <a:srgbClr val="FFE066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Summe der Nettobeträge</a:t>
            </a:r>
          </a:p>
        </p:txBody>
      </p:sp>
      <p:sp>
        <p:nvSpPr>
          <p:cNvPr id="74" name="Text 74"/>
          <p:cNvSpPr txBox="1"/>
          <p:nvPr/>
        </p:nvSpPr>
        <p:spPr>
          <a:xfrm>
            <a:off x="10515600" y="3452774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</p:txBody>
      </p:sp>
      <p:sp>
        <p:nvSpPr>
          <p:cNvPr id="75" name="Text 75"/>
          <p:cNvSpPr txBox="1"/>
          <p:nvPr/>
        </p:nvSpPr>
        <p:spPr>
          <a:xfrm>
            <a:off x="8065008" y="3604565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BT-99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Zuschläge, </a:t>
            </a: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BT-92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Abschläge</a:t>
            </a:r>
            <a:r>
              <a:rPr lang="de-DE" sz="750" dirty="0">
                <a:solidFill>
                  <a:srgbClr val="7E8CB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· Dokument</a:t>
            </a:r>
          </a:p>
        </p:txBody>
      </p:sp>
      <p:sp>
        <p:nvSpPr>
          <p:cNvPr id="76" name="Text 76"/>
          <p:cNvSpPr txBox="1"/>
          <p:nvPr/>
        </p:nvSpPr>
        <p:spPr>
          <a:xfrm>
            <a:off x="10515600" y="3604565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</p:txBody>
      </p:sp>
      <p:sp>
        <p:nvSpPr>
          <p:cNvPr id="77" name="Text 77"/>
          <p:cNvSpPr txBox="1"/>
          <p:nvPr/>
        </p:nvSpPr>
        <p:spPr>
          <a:xfrm>
            <a:off x="8065008" y="3756355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BT-119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USt-Satz (Gesetz)</a:t>
            </a:r>
          </a:p>
        </p:txBody>
      </p:sp>
      <p:sp>
        <p:nvSpPr>
          <p:cNvPr id="78" name="Text 78"/>
          <p:cNvSpPr txBox="1"/>
          <p:nvPr/>
        </p:nvSpPr>
        <p:spPr>
          <a:xfrm>
            <a:off x="10515600" y="3756355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</p:txBody>
      </p:sp>
      <p:sp>
        <p:nvSpPr>
          <p:cNvPr id="79" name="Panel 79"/>
          <p:cNvSpPr/>
          <p:nvPr/>
        </p:nvSpPr>
        <p:spPr>
          <a:xfrm>
            <a:off x="7845552" y="4023360"/>
            <a:ext cx="3520440" cy="2203704"/>
          </a:xfrm>
          <a:prstGeom prst="roundRect">
            <a:avLst>
              <a:gd name="adj" fmla="val 5529"/>
            </a:avLst>
          </a:prstGeom>
          <a:solidFill>
            <a:srgbClr val="1A2B5E"/>
          </a:solidFill>
          <a:ln w="19050">
            <a:solidFill>
              <a:srgbClr val="B9A2FF"/>
            </a:solidFill>
            <a:prstDash val="solid"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0" name="Text 80"/>
          <p:cNvSpPr txBox="1"/>
          <p:nvPr/>
        </p:nvSpPr>
        <p:spPr>
          <a:xfrm>
            <a:off x="8065008" y="407822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20" dirty="0">
                <a:solidFill>
                  <a:srgbClr val="B9A2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NACHKOMMASTELLEN · ENDWERTE</a:t>
            </a:r>
          </a:p>
        </p:txBody>
      </p:sp>
      <p:sp>
        <p:nvSpPr>
          <p:cNvPr id="81" name="Text 81"/>
          <p:cNvSpPr txBox="1"/>
          <p:nvPr/>
        </p:nvSpPr>
        <p:spPr>
          <a:xfrm>
            <a:off x="8065008" y="435254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000" b="1" dirty="0">
                <a:solidFill>
                  <a:srgbClr val="81C784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 </a:t>
            </a:r>
            <a:r>
              <a:rPr lang="de-DE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Bemessungsgrundlage</a:t>
            </a:r>
          </a:p>
        </p:txBody>
      </p:sp>
      <p:sp>
        <p:nvSpPr>
          <p:cNvPr id="82" name="Text 82"/>
          <p:cNvSpPr txBox="1"/>
          <p:nvPr/>
        </p:nvSpPr>
        <p:spPr>
          <a:xfrm>
            <a:off x="10515600" y="435254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</p:txBody>
      </p:sp>
      <p:sp>
        <p:nvSpPr>
          <p:cNvPr id="83" name="Text 83"/>
          <p:cNvSpPr txBox="1"/>
          <p:nvPr/>
        </p:nvSpPr>
        <p:spPr>
          <a:xfrm>
            <a:off x="8065008" y="462686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000" b="1" dirty="0">
                <a:solidFill>
                  <a:srgbClr val="82B1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BT-117 </a:t>
            </a:r>
            <a:r>
              <a:rPr lang="de-DE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USt-Betrag</a:t>
            </a:r>
          </a:p>
        </p:txBody>
      </p:sp>
      <p:sp>
        <p:nvSpPr>
          <p:cNvPr id="84" name="Text 84"/>
          <p:cNvSpPr txBox="1"/>
          <p:nvPr/>
        </p:nvSpPr>
        <p:spPr>
          <a:xfrm>
            <a:off x="10515600" y="462686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</p:txBody>
      </p:sp>
      <p:sp>
        <p:nvSpPr>
          <p:cNvPr id="85" name="Text 85"/>
          <p:cNvSpPr txBox="1"/>
          <p:nvPr/>
        </p:nvSpPr>
        <p:spPr>
          <a:xfrm>
            <a:off x="8065008" y="490118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000" b="1" dirty="0">
                <a:solidFill>
                  <a:srgbClr val="CE93D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BT-110 </a:t>
            </a:r>
            <a:r>
              <a:rPr lang="de-DE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USt-Gesamtbetrag</a:t>
            </a:r>
          </a:p>
        </p:txBody>
      </p:sp>
      <p:sp>
        <p:nvSpPr>
          <p:cNvPr id="86" name="Text 86"/>
          <p:cNvSpPr txBox="1"/>
          <p:nvPr/>
        </p:nvSpPr>
        <p:spPr>
          <a:xfrm>
            <a:off x="10515600" y="490118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</p:txBody>
      </p:sp>
      <p:sp>
        <p:nvSpPr>
          <p:cNvPr id="87" name="Text 87"/>
          <p:cNvSpPr txBox="1"/>
          <p:nvPr/>
        </p:nvSpPr>
        <p:spPr>
          <a:xfrm>
            <a:off x="8065008" y="5669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dirty="0">
                <a:solidFill>
                  <a:srgbClr val="B9A2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Worst Case </a:t>
            </a:r>
            <a:r>
              <a:rPr lang="de-DE" sz="9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mit Zeilenanzahl und Menge:</a:t>
            </a:r>
          </a:p>
          <a:p>
            <a:pPr marL="0" indent="0" algn="l">
              <a:buNone/>
            </a:pPr>
            <a:r>
              <a:rPr lang="de-DE" sz="9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→ „Wie groß wird die Abweichung?“</a:t>
            </a:r>
          </a:p>
        </p:txBody>
      </p:sp>
      <p:sp>
        <p:nvSpPr>
          <p:cNvPr id="88" name="Text 88"/>
          <p:cNvSpPr txBox="1"/>
          <p:nvPr/>
        </p:nvSpPr>
        <p:spPr>
          <a:xfrm>
            <a:off x="822960" y="63093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Rot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gerundeter Zwischenwert   </a:t>
            </a:r>
            <a:r>
              <a:rPr lang="de-DE" sz="850" dirty="0">
                <a:solidFill>
                  <a:srgbClr val="1E8A4C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Grün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gezahlter Betrag, einmal gerundet (Bank)   </a:t>
            </a:r>
            <a:r>
              <a:rPr lang="de-DE" sz="850" dirty="0">
                <a:solidFill>
                  <a:srgbClr val="D98A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Orange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gerundeter Eingangswert</a:t>
            </a:r>
          </a:p>
          <a:p>
            <a:pPr marL="0" indent="0" algn="l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NK = Nachkommastellen · Minor Unit = kleinste Währungseinheit, ISO 4217 (EUR: 2 NK) · ± bei 100 Zeilen à 100 Stück, 19 % USt</a:t>
            </a:r>
          </a:p>
          <a:p>
            <a:pPr marL="0" indent="0" algn="l">
              <a:buNone/>
            </a:pPr>
            <a:r>
              <a:rPr lang="de-DE" sz="850" dirty="0">
                <a:solidFill>
                  <a:srgbClr val="D32F2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Regen</a:t>
            </a:r>
            <a:r>
              <a:rPr lang="de-DE" sz="850" dirty="0">
                <a:solidFill>
                  <a:srgbClr val="C791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bo</a:t>
            </a:r>
            <a:r>
              <a:rPr lang="de-DE" sz="850" dirty="0">
                <a:solidFill>
                  <a:srgbClr val="1565C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gen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Reihenfolge der Rechenschritte; ein BT behält seine Farbe, wo er weiter unten wieder verwendet wird</a:t>
            </a:r>
          </a:p>
        </p:txBody>
      </p:sp>
      <p:sp>
        <p:nvSpPr>
          <p:cNvPr id="89" name="Card 89"/>
          <p:cNvSpPr/>
          <p:nvPr/>
        </p:nvSpPr>
        <p:spPr>
          <a:xfrm>
            <a:off x="822960" y="5715000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0" name="Pill 90"/>
          <p:cNvSpPr/>
          <p:nvPr/>
        </p:nvSpPr>
        <p:spPr>
          <a:xfrm>
            <a:off x="960120" y="5814060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AD1457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BT-115</a:t>
            </a:r>
          </a:p>
        </p:txBody>
      </p:sp>
      <p:sp>
        <p:nvSpPr>
          <p:cNvPr id="91" name="Text 91"/>
          <p:cNvSpPr txBox="1"/>
          <p:nvPr/>
        </p:nvSpPr>
        <p:spPr>
          <a:xfrm>
            <a:off x="1965960" y="5730240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Zahlbetrag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1965960" y="5920740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de-DE" sz="800" b="1" dirty="0">
                <a:solidFill>
                  <a:srgbClr val="6A1B9A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BT-110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USt-Gesamtbetrag +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BT-109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Summe netto</a:t>
            </a:r>
            <a:b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</a:b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−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BT-113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Vorauszahlung +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BT-114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Rundungsbetrag</a:t>
            </a:r>
          </a:p>
        </p:txBody>
      </p:sp>
      <p:sp>
        <p:nvSpPr>
          <p:cNvPr id="93" name="Pill 93"/>
          <p:cNvSpPr/>
          <p:nvPr/>
        </p:nvSpPr>
        <p:spPr>
          <a:xfrm>
            <a:off x="4773168" y="5768340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E8F6EE"/>
          </a:solidFill>
          <a:ln w="9525">
            <a:solidFill>
              <a:srgbClr val="B7E1C7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1E8A4C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1E8A4C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einmal gerundet</a:t>
            </a:r>
          </a:p>
        </p:txBody>
      </p:sp>
      <p:sp>
        <p:nvSpPr>
          <p:cNvPr id="94" name="Text 94"/>
          <p:cNvSpPr txBox="1"/>
          <p:nvPr/>
        </p:nvSpPr>
        <p:spPr>
          <a:xfrm>
            <a:off x="5989320" y="5745480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1E8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</a:t>
            </a:r>
          </a:p>
        </p:txBody>
      </p:sp>
      <p:sp>
        <p:nvSpPr>
          <p:cNvPr id="95" name="Text 95"/>
          <p:cNvSpPr txBox="1"/>
          <p:nvPr/>
        </p:nvSpPr>
        <p:spPr>
          <a:xfrm>
            <a:off x="5577840" y="5981700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BT-114 zeigt die Rundung</a:t>
            </a:r>
          </a:p>
        </p:txBody>
      </p:sp>
      <p:cxnSp>
        <p:nvCxnSpPr>
          <p:cNvPr id="96" name="Connector 96"/>
          <p:cNvCxnSpPr/>
          <p:nvPr/>
        </p:nvCxnSpPr>
        <p:spPr>
          <a:xfrm>
            <a:off x="1303020" y="5678424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97" name="Text 97"/>
          <p:cNvSpPr txBox="1"/>
          <p:nvPr/>
        </p:nvSpPr>
        <p:spPr>
          <a:xfrm>
            <a:off x="8065008" y="517550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000" b="1" dirty="0">
                <a:solidFill>
                  <a:srgbClr val="F48FB1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BT-115 </a:t>
            </a:r>
            <a:r>
              <a:rPr lang="de-DE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Zahlbetrag</a:t>
            </a:r>
          </a:p>
        </p:txBody>
      </p:sp>
      <p:sp>
        <p:nvSpPr>
          <p:cNvPr id="98" name="Text 98"/>
          <p:cNvSpPr txBox="1"/>
          <p:nvPr/>
        </p:nvSpPr>
        <p:spPr>
          <a:xfrm>
            <a:off x="9994392" y="5175504"/>
            <a:ext cx="11887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de-DE" sz="1000" dirty="0">
                <a:solidFill>
                  <a:srgbClr val="81C784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</p:txBody>
      </p:sp>
      <p:sp>
        <p:nvSpPr>
          <p:cNvPr id="99" name="Reuse 99"/>
          <p:cNvSpPr/>
          <p:nvPr/>
        </p:nvSpPr>
        <p:spPr>
          <a:xfrm>
            <a:off x="1645920" y="2679192"/>
            <a:ext cx="309067" cy="530351"/>
          </a:xfrm>
          <a:custGeom>
            <a:avLst/>
            <a:gdLst/>
            <a:ahLst/>
            <a:cxnLst/>
            <a:rect l="l" t="t" r="r" b="b"/>
            <a:pathLst>
              <a:path w="309067" h="530351" fill="none">
                <a:moveTo>
                  <a:pt x="0" y="0"/>
                </a:moveTo>
                <a:lnTo>
                  <a:pt x="256032" y="0"/>
                </a:lnTo>
                <a:lnTo>
                  <a:pt x="256032" y="530351"/>
                </a:lnTo>
                <a:lnTo>
                  <a:pt x="309067" y="530351"/>
                </a:lnTo>
              </a:path>
            </a:pathLst>
          </a:custGeom>
          <a:noFill/>
          <a:ln w="15875">
            <a:solidFill>
              <a:srgbClr val="D32F2F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0" name="Reuse 100"/>
          <p:cNvSpPr/>
          <p:nvPr/>
        </p:nvSpPr>
        <p:spPr>
          <a:xfrm>
            <a:off x="1645920" y="3172968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210311" y="0"/>
                </a:lnTo>
                <a:lnTo>
                  <a:pt x="21031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EF6C00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1" name="Reuse 101"/>
          <p:cNvSpPr/>
          <p:nvPr/>
        </p:nvSpPr>
        <p:spPr>
          <a:xfrm>
            <a:off x="1645920" y="3172968"/>
            <a:ext cx="309067" cy="1325880"/>
          </a:xfrm>
          <a:custGeom>
            <a:avLst/>
            <a:gdLst/>
            <a:ahLst/>
            <a:cxnLst/>
            <a:rect l="l" t="t" r="r" b="b"/>
            <a:pathLst>
              <a:path w="309067" h="1325880" fill="none">
                <a:moveTo>
                  <a:pt x="0" y="0"/>
                </a:moveTo>
                <a:lnTo>
                  <a:pt x="210311" y="0"/>
                </a:lnTo>
                <a:lnTo>
                  <a:pt x="210311" y="1325880"/>
                </a:lnTo>
                <a:lnTo>
                  <a:pt x="309067" y="1325880"/>
                </a:lnTo>
              </a:path>
            </a:pathLst>
          </a:custGeom>
          <a:noFill/>
          <a:ln w="15875">
            <a:solidFill>
              <a:srgbClr val="EF6C00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2" name="Reuse 102"/>
          <p:cNvSpPr/>
          <p:nvPr/>
        </p:nvSpPr>
        <p:spPr>
          <a:xfrm>
            <a:off x="1645920" y="4462272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164591" y="0"/>
                </a:lnTo>
                <a:lnTo>
                  <a:pt x="16459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2E7D32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3" name="Reuse 103"/>
          <p:cNvSpPr/>
          <p:nvPr/>
        </p:nvSpPr>
        <p:spPr>
          <a:xfrm>
            <a:off x="1645920" y="4956048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118871" y="0"/>
                </a:lnTo>
                <a:lnTo>
                  <a:pt x="11887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1565C0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4" name="Reuse 104"/>
          <p:cNvSpPr/>
          <p:nvPr/>
        </p:nvSpPr>
        <p:spPr>
          <a:xfrm>
            <a:off x="1645920" y="5449824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73151" y="0"/>
                </a:lnTo>
                <a:lnTo>
                  <a:pt x="7315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6A1B9A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2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WORST CASE · EN 16931-1:2017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Wie groß wird die Abweichung?</a:t>
            </a:r>
          </a:p>
        </p:txBody>
      </p:sp>
      <p:sp>
        <p:nvSpPr>
          <p:cNvPr id="6" name="Speaker 6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CFF8C59E-DB43-45C8-AAB1-F463E6DDD355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28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Tagline 8"/>
          <p:cNvSpPr txBox="1"/>
          <p:nvPr/>
        </p:nvSpPr>
        <p:spPr>
          <a:xfrm>
            <a:off x="822960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Ein Faktor: die Zeilenanzahl n — jede Zeile rundet </a:t>
            </a:r>
            <a:r>
              <a:rPr lang="de-DE" sz="130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de-DE" sz="1300" dirty="0">
                <a:solidFill>
                  <a:srgbClr val="EF6C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Nettobetrag der Zeile</a:t>
            </a: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und verliert bis zu ± 0,005 €.</a:t>
            </a:r>
          </a:p>
        </p:txBody>
      </p:sp>
      <p:sp>
        <p:nvSpPr>
          <p:cNvPr id="9" name="Card 9"/>
          <p:cNvSpPr/>
          <p:nvPr/>
        </p:nvSpPr>
        <p:spPr>
          <a:xfrm>
            <a:off x="822960" y="2331720"/>
            <a:ext cx="5166360" cy="178308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IconCircle 10"/>
          <p:cNvSpPr/>
          <p:nvPr/>
        </p:nvSpPr>
        <p:spPr>
          <a:xfrm>
            <a:off x="1060704" y="2423160"/>
            <a:ext cx="402336" cy="402336"/>
          </a:xfrm>
          <a:prstGeom prst="ellipse">
            <a:avLst/>
          </a:prstGeom>
          <a:solidFill>
            <a:srgbClr val="C2CADE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1" name="Icon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346" y="2533802"/>
            <a:ext cx="181051" cy="181051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1600200" y="240487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Faktor 1 · Preisrundung × Menge Q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097280" y="2926080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de-DE" sz="1050" b="1" dirty="0">
                <a:solidFill>
                  <a:srgbClr val="D32F2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</a:t>
            </a:r>
            <a:r>
              <a:rPr lang="de-DE" sz="1050" dirty="0">
                <a:solidFill>
                  <a:srgbClr val="D32F2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Artikelnettopreis</a:t>
            </a: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ist 2017 nicht begrenzt — der Preis wird nicht gerundet, die Menge vergrößert keinen Fehler.</a:t>
            </a:r>
          </a:p>
        </p:txBody>
      </p:sp>
      <p:sp>
        <p:nvSpPr>
          <p:cNvPr id="14" name="Pill 14"/>
          <p:cNvSpPr/>
          <p:nvPr/>
        </p:nvSpPr>
        <p:spPr>
          <a:xfrm>
            <a:off x="1097280" y="3712464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F6EE"/>
          </a:solidFill>
          <a:ln w="9525">
            <a:solidFill>
              <a:srgbClr val="B7E1C7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b="1" dirty="0">
                <a:solidFill>
                  <a:srgbClr val="1E8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entfällt</a:t>
            </a:r>
          </a:p>
        </p:txBody>
      </p:sp>
      <p:sp>
        <p:nvSpPr>
          <p:cNvPr id="15" name="Card 15"/>
          <p:cNvSpPr/>
          <p:nvPr/>
        </p:nvSpPr>
        <p:spPr>
          <a:xfrm>
            <a:off x="6199632" y="2331720"/>
            <a:ext cx="5166360" cy="178308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IconCircle 16"/>
          <p:cNvSpPr/>
          <p:nvPr/>
        </p:nvSpPr>
        <p:spPr>
          <a:xfrm>
            <a:off x="6437376" y="2423160"/>
            <a:ext cx="402336" cy="402336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7" name="Icon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8018" y="2533802"/>
            <a:ext cx="181051" cy="181051"/>
          </a:xfrm>
          <a:prstGeom prst="rect">
            <a:avLst/>
          </a:prstGeom>
        </p:spPr>
      </p:pic>
      <p:sp>
        <p:nvSpPr>
          <p:cNvPr id="18" name="Text 18"/>
          <p:cNvSpPr txBox="1"/>
          <p:nvPr/>
        </p:nvSpPr>
        <p:spPr>
          <a:xfrm>
            <a:off x="6976872" y="240487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Faktor 2 · Zeilenanzahl n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473952" y="2926080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Jede Zeile rundet </a:t>
            </a:r>
            <a:r>
              <a:rPr lang="de-DE" sz="105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de-DE" sz="1050" dirty="0">
                <a:solidFill>
                  <a:srgbClr val="EF6C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Nettobetrag der Zeile</a:t>
            </a: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auf</a:t>
            </a:r>
            <a:b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</a:b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2 Nachkommastellen: bis zu ± 0,005 €. </a:t>
            </a:r>
            <a:r>
              <a:rPr lang="de-DE" sz="1050" b="1" dirty="0">
                <a:solidFill>
                  <a:srgbClr val="C791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</a:t>
            </a:r>
            <a:r>
              <a:rPr lang="de-DE" sz="1050" dirty="0">
                <a:solidFill>
                  <a:srgbClr val="C791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Summe der</a:t>
            </a:r>
            <a:br>
              <a:rPr lang="de-DE" sz="1050" dirty="0">
                <a:solidFill>
                  <a:srgbClr val="C791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</a:br>
            <a:r>
              <a:rPr lang="de-DE" sz="1050" dirty="0">
                <a:solidFill>
                  <a:srgbClr val="C791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Nettobeträge</a:t>
            </a: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und </a:t>
            </a:r>
            <a:r>
              <a:rPr lang="de-DE" sz="1050" b="1" dirty="0">
                <a:solidFill>
                  <a:srgbClr val="2E7D3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  <a:r>
              <a:rPr lang="de-DE" sz="1050" dirty="0">
                <a:solidFill>
                  <a:srgbClr val="2E7D3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Bemessungsgrundlage</a:t>
            </a: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summieren alle n</a:t>
            </a:r>
            <a:b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</a:b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Zeilen — und damit die Fehler aller Zeilen.</a:t>
            </a:r>
          </a:p>
        </p:txBody>
      </p:sp>
      <p:sp>
        <p:nvSpPr>
          <p:cNvPr id="20" name="Pill 20"/>
          <p:cNvSpPr/>
          <p:nvPr/>
        </p:nvSpPr>
        <p:spPr>
          <a:xfrm>
            <a:off x="6473952" y="3712464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n × 0,005 €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22960" y="420624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20" dirty="0">
                <a:solidFill>
                  <a:srgbClr val="0E7E8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ABWEICHUNG NETTO  </a:t>
            </a:r>
            <a:r>
              <a:rPr lang="de-DE" sz="950" b="1" dirty="0">
                <a:solidFill>
                  <a:srgbClr val="C791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</a:t>
            </a:r>
            <a:r>
              <a:rPr lang="de-DE" sz="950" dirty="0">
                <a:solidFill>
                  <a:srgbClr val="C791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Summe der Nettobeträge</a:t>
            </a:r>
            <a:r>
              <a:rPr lang="de-DE" sz="9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/ </a:t>
            </a:r>
            <a:r>
              <a:rPr lang="de-DE" sz="950" b="1" dirty="0">
                <a:solidFill>
                  <a:srgbClr val="2E7D3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  <a:r>
              <a:rPr lang="de-DE" sz="950" dirty="0">
                <a:solidFill>
                  <a:srgbClr val="2E7D3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Bemessungsgrundlage</a:t>
            </a:r>
          </a:p>
        </p:txBody>
      </p:sp>
      <p:graphicFrame>
        <p:nvGraphicFramePr>
          <p:cNvPr id="22" name="Table 22"/>
          <p:cNvGraphicFramePr>
            <a:graphicFrameLocks noGrp="1"/>
          </p:cNvGraphicFramePr>
          <p:nvPr/>
        </p:nvGraphicFramePr>
        <p:xfrm>
          <a:off x="822960" y="4480560"/>
          <a:ext cx="6766560" cy="1609344"/>
        </p:xfrm>
        <a:graphic>
          <a:graphicData uri="http://schemas.openxmlformats.org/drawingml/2006/table">
            <a:tbl>
              <a:tblPr firstRow="1" bandRow="1"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9FB0D8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Stück je Zeile (Q) →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de-DE" sz="850" dirty="0">
                          <a:solidFill>
                            <a:srgbClr val="9FB0D8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↓ Zeilen (n)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2435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100 Stück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10.000 Stück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1.000.000 Stück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 Zeile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D32F2F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Preis × Menge  </a:t>
                      </a:r>
                      <a:r>
                        <a:rPr lang="de-DE" sz="850" b="1" dirty="0">
                          <a:solidFill>
                            <a:srgbClr val="D32F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EF6C0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+ Rundung BT-131  </a:t>
                      </a:r>
                      <a:r>
                        <a:rPr lang="de-DE" sz="850" b="1" dirty="0">
                          <a:solidFill>
                            <a:srgbClr val="EF6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0,005 €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B26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± 0,005 €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D32F2F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Preis × Menge  </a:t>
                      </a:r>
                      <a:r>
                        <a:rPr lang="de-DE" sz="850" b="1" dirty="0">
                          <a:solidFill>
                            <a:srgbClr val="D32F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EF6C0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+ Rundung BT-131  </a:t>
                      </a:r>
                      <a:r>
                        <a:rPr lang="de-DE" sz="850" b="1" dirty="0">
                          <a:solidFill>
                            <a:srgbClr val="EF6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0,005 €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B26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± 0,005 €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D32F2F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Preis × Menge  </a:t>
                      </a:r>
                      <a:r>
                        <a:rPr lang="de-DE" sz="850" b="1" dirty="0">
                          <a:solidFill>
                            <a:srgbClr val="D32F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EF6C0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+ Rundung BT-131  </a:t>
                      </a:r>
                      <a:r>
                        <a:rPr lang="de-DE" sz="850" b="1" dirty="0">
                          <a:solidFill>
                            <a:srgbClr val="EF6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0,005 €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B26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± 0,005 €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100 Zeilen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B26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0,50 €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B26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0,50 €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B26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0,50 €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10.000 Zeilen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50,00 €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50,00 €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50,00 €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Panel 23"/>
          <p:cNvSpPr/>
          <p:nvPr/>
        </p:nvSpPr>
        <p:spPr>
          <a:xfrm>
            <a:off x="7818120" y="4224528"/>
            <a:ext cx="3547872" cy="1883664"/>
          </a:xfrm>
          <a:prstGeom prst="roundRect">
            <a:avLst>
              <a:gd name="adj" fmla="val 4854"/>
            </a:avLst>
          </a:prstGeom>
          <a:solidFill>
            <a:srgbClr val="1A2B5E"/>
          </a:solidFill>
          <a:ln>
            <a:noFill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Text 24"/>
          <p:cNvSpPr txBox="1"/>
          <p:nvPr/>
        </p:nvSpPr>
        <p:spPr>
          <a:xfrm>
            <a:off x="8092440" y="43342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000" spc="15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ZUSAMMEN · NETTO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092440" y="4608576"/>
            <a:ext cx="310896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× 0,005 €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092440" y="5029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0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USt: 19 % davon. Nach oben offen — je mehr Zeilen, desto mehr Abweichung.</a:t>
            </a:r>
          </a:p>
        </p:txBody>
      </p:sp>
      <p:sp>
        <p:nvSpPr>
          <p:cNvPr id="27" name="Shape 27"/>
          <p:cNvSpPr/>
          <p:nvPr/>
        </p:nvSpPr>
        <p:spPr>
          <a:xfrm>
            <a:off x="8092440" y="5541264"/>
            <a:ext cx="3017520" cy="9144"/>
          </a:xfrm>
          <a:prstGeom prst="rect">
            <a:avLst/>
          </a:prstGeom>
          <a:solidFill>
            <a:srgbClr val="3A4A7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8"/>
          <p:cNvSpPr txBox="1"/>
          <p:nvPr/>
        </p:nvSpPr>
        <p:spPr>
          <a:xfrm>
            <a:off x="8092440" y="559612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100 Zeilen à 10.000 Stück</a:t>
            </a:r>
          </a:p>
          <a:p>
            <a:pPr marL="0" indent="0" algn="l">
              <a:buNone/>
            </a:pPr>
            <a:r>
              <a:rPr lang="de-DE" sz="10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Netto </a:t>
            </a:r>
            <a:r>
              <a:rPr lang="de-DE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0,50 €</a:t>
            </a:r>
            <a:r>
              <a:rPr lang="de-DE" sz="10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USt </a:t>
            </a:r>
            <a:r>
              <a:rPr lang="de-DE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0,10 €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822960" y="61264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Annahme: alle Rundungen fallen in dieselbe Richtung, BT-149 Basismenge = 1, 19 % USt.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3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WORST CASE · EN 16931-1:2026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Wie groß wird die Abweichung?</a:t>
            </a:r>
          </a:p>
        </p:txBody>
      </p:sp>
      <p:sp>
        <p:nvSpPr>
          <p:cNvPr id="6" name="Speaker 6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6E655C58-AB39-491B-9C9F-468B34428247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29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Tagline 8"/>
          <p:cNvSpPr txBox="1"/>
          <p:nvPr/>
        </p:nvSpPr>
        <p:spPr>
          <a:xfrm>
            <a:off x="822960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Zwei Faktoren: erst die Menge Q × gerundeter </a:t>
            </a:r>
            <a:r>
              <a:rPr lang="de-DE" sz="1300" b="1" dirty="0">
                <a:solidFill>
                  <a:srgbClr val="D32F2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</a:t>
            </a:r>
            <a:r>
              <a:rPr lang="de-DE" sz="1300" dirty="0">
                <a:solidFill>
                  <a:srgbClr val="D32F2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Artikelnettopreis</a:t>
            </a: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, dann die Zeilenanzahl n — nach oben offen.</a:t>
            </a:r>
          </a:p>
        </p:txBody>
      </p:sp>
      <p:sp>
        <p:nvSpPr>
          <p:cNvPr id="9" name="Card 9"/>
          <p:cNvSpPr/>
          <p:nvPr/>
        </p:nvSpPr>
        <p:spPr>
          <a:xfrm>
            <a:off x="822960" y="2331720"/>
            <a:ext cx="5166360" cy="178308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IconCircle 10"/>
          <p:cNvSpPr/>
          <p:nvPr/>
        </p:nvSpPr>
        <p:spPr>
          <a:xfrm>
            <a:off x="1060704" y="2423160"/>
            <a:ext cx="402336" cy="402336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1" name="Icon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346" y="2533802"/>
            <a:ext cx="181051" cy="181051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1600200" y="240487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Faktor 1 · Preisrundung × Menge Q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097280" y="2926080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de-DE" sz="1050" b="1" dirty="0">
                <a:solidFill>
                  <a:srgbClr val="D32F2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</a:t>
            </a:r>
            <a:r>
              <a:rPr lang="de-DE" sz="1050" dirty="0">
                <a:solidFill>
                  <a:srgbClr val="D32F2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Artikelnettopreis</a:t>
            </a: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wird einmal auf Minor Unit + 2 „hineingedrückt“ (EUR: 4 NK): bis zu ± 0,00005 €. </a:t>
            </a:r>
            <a:r>
              <a:rPr lang="de-DE" sz="105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de-DE" sz="1050" dirty="0">
                <a:solidFill>
                  <a:srgbClr val="EF6C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Nettobetrag der Zeile</a:t>
            </a: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Preis × </a:t>
            </a:r>
            <a:r>
              <a:rPr lang="de-DE" sz="10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BT-129</a:t>
            </a: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Menge multipliziert diesen einen Fehler. #148: 0,123449 € → 0,1234 €; bei 10.000 Stück fehlen 0,49 €.</a:t>
            </a:r>
          </a:p>
        </p:txBody>
      </p:sp>
      <p:sp>
        <p:nvSpPr>
          <p:cNvPr id="14" name="Pill 14"/>
          <p:cNvSpPr/>
          <p:nvPr/>
        </p:nvSpPr>
        <p:spPr>
          <a:xfrm>
            <a:off x="1097280" y="3712464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Q × 0,00005 € je Zeile</a:t>
            </a:r>
          </a:p>
        </p:txBody>
      </p:sp>
      <p:sp>
        <p:nvSpPr>
          <p:cNvPr id="15" name="Card 15"/>
          <p:cNvSpPr/>
          <p:nvPr/>
        </p:nvSpPr>
        <p:spPr>
          <a:xfrm>
            <a:off x="6199632" y="2331720"/>
            <a:ext cx="5166360" cy="178308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IconCircle 16"/>
          <p:cNvSpPr/>
          <p:nvPr/>
        </p:nvSpPr>
        <p:spPr>
          <a:xfrm>
            <a:off x="6437376" y="2423160"/>
            <a:ext cx="402336" cy="402336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7" name="Icon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8018" y="2533802"/>
            <a:ext cx="181051" cy="181051"/>
          </a:xfrm>
          <a:prstGeom prst="rect">
            <a:avLst/>
          </a:prstGeom>
        </p:spPr>
      </p:pic>
      <p:sp>
        <p:nvSpPr>
          <p:cNvPr id="18" name="Text 18"/>
          <p:cNvSpPr txBox="1"/>
          <p:nvPr/>
        </p:nvSpPr>
        <p:spPr>
          <a:xfrm>
            <a:off x="6976872" y="240487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Faktor 2 · Zeilenanzahl n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473952" y="2926080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Jede Zeile rundet </a:t>
            </a:r>
            <a:r>
              <a:rPr lang="de-DE" sz="105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de-DE" sz="1050" dirty="0">
                <a:solidFill>
                  <a:srgbClr val="EF6C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Nettobetrag der Zeile</a:t>
            </a: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zusätzlich auf die</a:t>
            </a:r>
            <a:b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</a:b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Minor Unit: bis zu ± 0,005 €. </a:t>
            </a:r>
            <a:r>
              <a:rPr lang="de-DE" sz="1050" b="1" dirty="0">
                <a:solidFill>
                  <a:srgbClr val="C791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</a:t>
            </a:r>
            <a:r>
              <a:rPr lang="de-DE" sz="1050" dirty="0">
                <a:solidFill>
                  <a:srgbClr val="C791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Summe der Nettobeträge</a:t>
            </a: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und</a:t>
            </a:r>
            <a:b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</a:br>
            <a:r>
              <a:rPr lang="de-DE" sz="1050" b="1" dirty="0">
                <a:solidFill>
                  <a:srgbClr val="2E7D3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  <a:r>
              <a:rPr lang="de-DE" sz="1050" dirty="0">
                <a:solidFill>
                  <a:srgbClr val="2E7D3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Bemessungsgrundlage</a:t>
            </a: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summieren alle n Zeilen — und damit die</a:t>
            </a:r>
            <a:b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</a:b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Fehler aller Zeilen.</a:t>
            </a:r>
          </a:p>
        </p:txBody>
      </p:sp>
      <p:sp>
        <p:nvSpPr>
          <p:cNvPr id="20" name="Pill 20"/>
          <p:cNvSpPr/>
          <p:nvPr/>
        </p:nvSpPr>
        <p:spPr>
          <a:xfrm>
            <a:off x="6473952" y="3712464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algn="ctr"/>
            <a:r>
              <a:rPr lang="de-DE" sz="11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</a:t>
            </a:r>
            <a:r>
              <a:rPr lang="de-DE" sz="1150" b="1" dirty="0" err="1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de-DE" sz="11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0,005 €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22960" y="420624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20" dirty="0">
                <a:solidFill>
                  <a:srgbClr val="0E7E8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ABWEICHUNG NETTO  </a:t>
            </a:r>
            <a:r>
              <a:rPr lang="de-DE" sz="950" b="1" dirty="0">
                <a:solidFill>
                  <a:srgbClr val="C791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</a:t>
            </a:r>
            <a:r>
              <a:rPr lang="de-DE" sz="950" dirty="0">
                <a:solidFill>
                  <a:srgbClr val="C791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Summe der Nettobeträge</a:t>
            </a:r>
            <a:r>
              <a:rPr lang="de-DE" sz="9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/ </a:t>
            </a:r>
            <a:r>
              <a:rPr lang="de-DE" sz="950" b="1" dirty="0">
                <a:solidFill>
                  <a:srgbClr val="2E7D3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  <a:r>
              <a:rPr lang="de-DE" sz="950" dirty="0">
                <a:solidFill>
                  <a:srgbClr val="2E7D3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Bemessungsgrundlage</a:t>
            </a:r>
          </a:p>
        </p:txBody>
      </p:sp>
      <p:graphicFrame>
        <p:nvGraphicFramePr>
          <p:cNvPr id="22" name="Table 22"/>
          <p:cNvGraphicFramePr>
            <a:graphicFrameLocks noGrp="1"/>
          </p:cNvGraphicFramePr>
          <p:nvPr/>
        </p:nvGraphicFramePr>
        <p:xfrm>
          <a:off x="822960" y="4480560"/>
          <a:ext cx="6766560" cy="1609344"/>
        </p:xfrm>
        <a:graphic>
          <a:graphicData uri="http://schemas.openxmlformats.org/drawingml/2006/table">
            <a:tbl>
              <a:tblPr firstRow="1" bandRow="1"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9FB0D8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Stück je Zeile (Q) →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de-DE" sz="850" dirty="0">
                          <a:solidFill>
                            <a:srgbClr val="9FB0D8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↓ Zeilen (n)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2435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100 Stück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10.000 Stück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1.000.000 Stück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 Zeile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D32F2F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Preis × Menge  </a:t>
                      </a:r>
                      <a:r>
                        <a:rPr lang="de-DE" sz="850" b="1" dirty="0">
                          <a:solidFill>
                            <a:srgbClr val="D32F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0,005 €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EF6C0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+ Rundung BT-131  </a:t>
                      </a:r>
                      <a:r>
                        <a:rPr lang="de-DE" sz="850" b="1" dirty="0">
                          <a:solidFill>
                            <a:srgbClr val="EF6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0,005 €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B26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± 0,01 €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D32F2F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Preis × Menge  </a:t>
                      </a:r>
                      <a:r>
                        <a:rPr lang="de-DE" sz="850" b="1" dirty="0">
                          <a:solidFill>
                            <a:srgbClr val="D32F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0,50 €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EF6C0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+ Rundung BT-131  </a:t>
                      </a:r>
                      <a:r>
                        <a:rPr lang="de-DE" sz="850" b="1" dirty="0">
                          <a:solidFill>
                            <a:srgbClr val="EF6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0,005 €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B26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± 0,505 €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D32F2F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Preis × Menge  </a:t>
                      </a:r>
                      <a:r>
                        <a:rPr lang="de-DE" sz="850" b="1" dirty="0">
                          <a:solidFill>
                            <a:srgbClr val="D32F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50,00 €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EF6C0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+ Rundung BT-131  </a:t>
                      </a:r>
                      <a:r>
                        <a:rPr lang="de-DE" sz="850" b="1" dirty="0">
                          <a:solidFill>
                            <a:srgbClr val="EF6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0,005 €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± 50,005 €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100 Zeilen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1,00 €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50,50 €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5.000,50 €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10.000 Zeilen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100,00 €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5.050,00 €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500.050,00 €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Panel 23"/>
          <p:cNvSpPr/>
          <p:nvPr/>
        </p:nvSpPr>
        <p:spPr>
          <a:xfrm>
            <a:off x="7818120" y="4224528"/>
            <a:ext cx="3547872" cy="1883664"/>
          </a:xfrm>
          <a:prstGeom prst="roundRect">
            <a:avLst>
              <a:gd name="adj" fmla="val 4854"/>
            </a:avLst>
          </a:prstGeom>
          <a:solidFill>
            <a:srgbClr val="1A2B5E"/>
          </a:solidFill>
          <a:ln>
            <a:noFill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Text 24"/>
          <p:cNvSpPr txBox="1"/>
          <p:nvPr/>
        </p:nvSpPr>
        <p:spPr>
          <a:xfrm>
            <a:off x="8092440" y="43342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000" spc="15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ZUSAMMEN · NETTO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092440" y="4608576"/>
            <a:ext cx="310896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× (Q × 0,00005 € + 0,005 €)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092440" y="5029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0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USt: 19 % davon. Nach oben offen — mehr Zeilen oder größere Mengen, mehr Abweichung.</a:t>
            </a:r>
          </a:p>
        </p:txBody>
      </p:sp>
      <p:sp>
        <p:nvSpPr>
          <p:cNvPr id="27" name="Shape 27"/>
          <p:cNvSpPr/>
          <p:nvPr/>
        </p:nvSpPr>
        <p:spPr>
          <a:xfrm>
            <a:off x="8092440" y="5541264"/>
            <a:ext cx="3017520" cy="9144"/>
          </a:xfrm>
          <a:prstGeom prst="rect">
            <a:avLst/>
          </a:prstGeom>
          <a:solidFill>
            <a:srgbClr val="3A4A7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8"/>
          <p:cNvSpPr txBox="1"/>
          <p:nvPr/>
        </p:nvSpPr>
        <p:spPr>
          <a:xfrm>
            <a:off x="8092440" y="559612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100 Zeilen à 10.000 Stück</a:t>
            </a:r>
          </a:p>
          <a:p>
            <a:pPr marL="0" indent="0" algn="l">
              <a:buNone/>
            </a:pPr>
            <a:r>
              <a:rPr lang="de-DE" sz="10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Netto </a:t>
            </a:r>
            <a:r>
              <a:rPr lang="de-DE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50,50 €</a:t>
            </a:r>
            <a:r>
              <a:rPr lang="de-DE" sz="10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USt </a:t>
            </a:r>
            <a:r>
              <a:rPr lang="de-DE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9,60 €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822960" y="61264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Annahme: alle Rundungen fallen in dieselbe Richtung, BT-149 Basismenge = 1, 19 % USt. Ebenso: BT-129 Menge nur 4 NK — bis zu ± 0,00005 × Preis je Zeile bei teuren Artikeln.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3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WORST CASE · VORSCHLAG AMENDMENT (#163)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Wie groß wird die Abweichung?</a:t>
            </a:r>
          </a:p>
        </p:txBody>
      </p:sp>
      <p:sp>
        <p:nvSpPr>
          <p:cNvPr id="6" name="Speaker 6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B4244B92-B2BD-4779-B150-313396024C5D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30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Tagline 8"/>
          <p:cNvSpPr txBox="1"/>
          <p:nvPr/>
        </p:nvSpPr>
        <p:spPr>
          <a:xfrm>
            <a:off x="822960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Kein Faktor: ohne Zwischenrundung bleibt es bei ± 0 — für jede Menge und jede Zeilenanzahl.</a:t>
            </a:r>
          </a:p>
        </p:txBody>
      </p:sp>
      <p:sp>
        <p:nvSpPr>
          <p:cNvPr id="9" name="Card 9"/>
          <p:cNvSpPr/>
          <p:nvPr/>
        </p:nvSpPr>
        <p:spPr>
          <a:xfrm>
            <a:off x="822960" y="2331720"/>
            <a:ext cx="5166360" cy="178308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IconCircle 10"/>
          <p:cNvSpPr/>
          <p:nvPr/>
        </p:nvSpPr>
        <p:spPr>
          <a:xfrm>
            <a:off x="1060704" y="2423160"/>
            <a:ext cx="402336" cy="402336"/>
          </a:xfrm>
          <a:prstGeom prst="ellipse">
            <a:avLst/>
          </a:prstGeom>
          <a:solidFill>
            <a:srgbClr val="C2CADE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1" name="Icon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346" y="2533802"/>
            <a:ext cx="181051" cy="181051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1600200" y="240487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Faktor 1 · Preisrundung × Menge Q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097280" y="2926080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de-DE" sz="1050" b="1" dirty="0">
                <a:solidFill>
                  <a:srgbClr val="D32F2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</a:t>
            </a:r>
            <a:r>
              <a:rPr lang="de-DE" sz="1050" dirty="0">
                <a:solidFill>
                  <a:srgbClr val="D32F2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Artikelnettopreis</a:t>
            </a: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und </a:t>
            </a:r>
            <a:r>
              <a:rPr lang="de-DE" sz="105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de-DE" sz="1050" dirty="0">
                <a:solidFill>
                  <a:srgbClr val="EF6C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Nettobetrag der Zeile</a:t>
            </a: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bleiben exakt — die Menge vergrößert keinen Fehler.</a:t>
            </a:r>
          </a:p>
        </p:txBody>
      </p:sp>
      <p:sp>
        <p:nvSpPr>
          <p:cNvPr id="14" name="Pill 14"/>
          <p:cNvSpPr/>
          <p:nvPr/>
        </p:nvSpPr>
        <p:spPr>
          <a:xfrm>
            <a:off x="1097280" y="3712464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F6EE"/>
          </a:solidFill>
          <a:ln w="9525">
            <a:solidFill>
              <a:srgbClr val="B7E1C7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b="1" dirty="0">
                <a:solidFill>
                  <a:srgbClr val="1E8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entfällt</a:t>
            </a:r>
          </a:p>
        </p:txBody>
      </p:sp>
      <p:sp>
        <p:nvSpPr>
          <p:cNvPr id="15" name="Card 15"/>
          <p:cNvSpPr/>
          <p:nvPr/>
        </p:nvSpPr>
        <p:spPr>
          <a:xfrm>
            <a:off x="6199632" y="2331720"/>
            <a:ext cx="5166360" cy="178308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IconCircle 16"/>
          <p:cNvSpPr/>
          <p:nvPr/>
        </p:nvSpPr>
        <p:spPr>
          <a:xfrm>
            <a:off x="6437376" y="2423160"/>
            <a:ext cx="402336" cy="402336"/>
          </a:xfrm>
          <a:prstGeom prst="ellipse">
            <a:avLst/>
          </a:prstGeom>
          <a:solidFill>
            <a:srgbClr val="C2CADE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7" name="Icon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8018" y="2533802"/>
            <a:ext cx="181051" cy="181051"/>
          </a:xfrm>
          <a:prstGeom prst="rect">
            <a:avLst/>
          </a:prstGeom>
        </p:spPr>
      </p:pic>
      <p:sp>
        <p:nvSpPr>
          <p:cNvPr id="18" name="Text 18"/>
          <p:cNvSpPr txBox="1"/>
          <p:nvPr/>
        </p:nvSpPr>
        <p:spPr>
          <a:xfrm>
            <a:off x="6976872" y="240487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Faktor 2 · Zeilenanzahl n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473952" y="2926080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de-DE" sz="105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de-DE" sz="1050" dirty="0">
                <a:solidFill>
                  <a:srgbClr val="EF6C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Nettobetrag der Zeile</a:t>
            </a: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bleibt exakt — wie viele Zeilen</a:t>
            </a:r>
            <a:b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</a:br>
            <a:r>
              <a:rPr lang="de-DE" sz="1050" b="1" dirty="0">
                <a:solidFill>
                  <a:srgbClr val="C791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</a:t>
            </a:r>
            <a:r>
              <a:rPr lang="de-DE" sz="1050" dirty="0">
                <a:solidFill>
                  <a:srgbClr val="C791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Summe der Nettobeträge</a:t>
            </a: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und </a:t>
            </a:r>
            <a:r>
              <a:rPr lang="de-DE" sz="1050" b="1" dirty="0">
                <a:solidFill>
                  <a:srgbClr val="2E7D3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  <a:r>
              <a:rPr lang="de-DE" sz="1050" dirty="0">
                <a:solidFill>
                  <a:srgbClr val="2E7D3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Bemessungsgrundlage</a:t>
            </a:r>
            <a:b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</a:b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summieren, spielt keine Rolle.</a:t>
            </a:r>
          </a:p>
        </p:txBody>
      </p:sp>
      <p:sp>
        <p:nvSpPr>
          <p:cNvPr id="20" name="Pill 20"/>
          <p:cNvSpPr/>
          <p:nvPr/>
        </p:nvSpPr>
        <p:spPr>
          <a:xfrm>
            <a:off x="6473952" y="3712464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F6EE"/>
          </a:solidFill>
          <a:ln w="9525">
            <a:solidFill>
              <a:srgbClr val="B7E1C7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b="1" dirty="0">
                <a:solidFill>
                  <a:srgbClr val="1E8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entfällt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22960" y="420624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20" dirty="0">
                <a:solidFill>
                  <a:srgbClr val="0E7E8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ABWEICHUNG NETTO  </a:t>
            </a:r>
            <a:r>
              <a:rPr lang="de-DE" sz="950" b="1" dirty="0">
                <a:solidFill>
                  <a:srgbClr val="C791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</a:t>
            </a:r>
            <a:r>
              <a:rPr lang="de-DE" sz="950" dirty="0">
                <a:solidFill>
                  <a:srgbClr val="C791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Summe der Nettobeträge</a:t>
            </a:r>
            <a:r>
              <a:rPr lang="de-DE" sz="9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/ </a:t>
            </a:r>
            <a:r>
              <a:rPr lang="de-DE" sz="950" b="1" dirty="0">
                <a:solidFill>
                  <a:srgbClr val="2E7D3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  <a:r>
              <a:rPr lang="de-DE" sz="950" dirty="0">
                <a:solidFill>
                  <a:srgbClr val="2E7D3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Bemessungsgrundlage</a:t>
            </a:r>
          </a:p>
        </p:txBody>
      </p:sp>
      <p:graphicFrame>
        <p:nvGraphicFramePr>
          <p:cNvPr id="22" name="Table 22"/>
          <p:cNvGraphicFramePr>
            <a:graphicFrameLocks noGrp="1"/>
          </p:cNvGraphicFramePr>
          <p:nvPr/>
        </p:nvGraphicFramePr>
        <p:xfrm>
          <a:off x="822960" y="4480560"/>
          <a:ext cx="6766560" cy="1609344"/>
        </p:xfrm>
        <a:graphic>
          <a:graphicData uri="http://schemas.openxmlformats.org/drawingml/2006/table">
            <a:tbl>
              <a:tblPr firstRow="1" bandRow="1"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9FB0D8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Stück je Zeile (Q) →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de-DE" sz="850" dirty="0">
                          <a:solidFill>
                            <a:srgbClr val="9FB0D8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↓ Zeilen (n)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2435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100 Stück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10.000 Stück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1.000.000 Stück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 Zeile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D32F2F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Preis × Menge  </a:t>
                      </a:r>
                      <a:r>
                        <a:rPr lang="de-DE" sz="850" b="1" dirty="0">
                          <a:solidFill>
                            <a:srgbClr val="D32F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EF6C0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+ Rundung BT-131  </a:t>
                      </a:r>
                      <a:r>
                        <a:rPr lang="de-DE" sz="850" b="1" dirty="0">
                          <a:solidFill>
                            <a:srgbClr val="EF6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1E8A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± 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D32F2F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Preis × Menge  </a:t>
                      </a:r>
                      <a:r>
                        <a:rPr lang="de-DE" sz="850" b="1" dirty="0">
                          <a:solidFill>
                            <a:srgbClr val="D32F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EF6C0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+ Rundung BT-131  </a:t>
                      </a:r>
                      <a:r>
                        <a:rPr lang="de-DE" sz="850" b="1" dirty="0">
                          <a:solidFill>
                            <a:srgbClr val="EF6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1E8A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± 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D32F2F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Preis × Menge  </a:t>
                      </a:r>
                      <a:r>
                        <a:rPr lang="de-DE" sz="850" b="1" dirty="0">
                          <a:solidFill>
                            <a:srgbClr val="D32F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EF6C0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+ Rundung BT-131  </a:t>
                      </a:r>
                      <a:r>
                        <a:rPr lang="de-DE" sz="850" b="1" dirty="0">
                          <a:solidFill>
                            <a:srgbClr val="EF6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1E8A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± 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100 Zeilen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1E8A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1E8A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1E8A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10.000 Zeilen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1E8A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1E8A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1E8A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Panel 23"/>
          <p:cNvSpPr/>
          <p:nvPr/>
        </p:nvSpPr>
        <p:spPr>
          <a:xfrm>
            <a:off x="7818120" y="4224528"/>
            <a:ext cx="3547872" cy="1883664"/>
          </a:xfrm>
          <a:prstGeom prst="roundRect">
            <a:avLst>
              <a:gd name="adj" fmla="val 4854"/>
            </a:avLst>
          </a:prstGeom>
          <a:solidFill>
            <a:srgbClr val="1A2B5E"/>
          </a:solidFill>
          <a:ln>
            <a:noFill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Text 24"/>
          <p:cNvSpPr txBox="1"/>
          <p:nvPr/>
        </p:nvSpPr>
        <p:spPr>
          <a:xfrm>
            <a:off x="8092440" y="43342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000" spc="15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ZUSAMMEN · NETTO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092440" y="4608576"/>
            <a:ext cx="310896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092440" y="5029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0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Nur der Zahlbetrag BT-115 wird einmal gerundet; BT-114 zeigt die Rundung.</a:t>
            </a:r>
          </a:p>
        </p:txBody>
      </p:sp>
      <p:sp>
        <p:nvSpPr>
          <p:cNvPr id="27" name="Shape 27"/>
          <p:cNvSpPr/>
          <p:nvPr/>
        </p:nvSpPr>
        <p:spPr>
          <a:xfrm>
            <a:off x="8092440" y="5541264"/>
            <a:ext cx="3017520" cy="9144"/>
          </a:xfrm>
          <a:prstGeom prst="rect">
            <a:avLst/>
          </a:prstGeom>
          <a:solidFill>
            <a:srgbClr val="3A4A7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8"/>
          <p:cNvSpPr txBox="1"/>
          <p:nvPr/>
        </p:nvSpPr>
        <p:spPr>
          <a:xfrm>
            <a:off x="8092440" y="559612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100 Zeilen à 10.000 Stück</a:t>
            </a:r>
          </a:p>
          <a:p>
            <a:pPr marL="0" indent="0" algn="l">
              <a:buNone/>
            </a:pPr>
            <a:r>
              <a:rPr lang="de-DE" sz="10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Netto </a:t>
            </a:r>
            <a:r>
              <a:rPr lang="de-DE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</a:t>
            </a:r>
            <a:r>
              <a:rPr lang="de-DE" sz="10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USt </a:t>
            </a:r>
            <a:r>
              <a:rPr lang="de-DE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822960" y="61264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Annahme: alle Rundungen fallen in dieselbe Richtung, BT-149 Basismenge = 1, 19 % USt.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3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AMENDMENT · MEIN VORSCHLAG 2/2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Bruttopreise für die EN Core (#164)</a:t>
            </a:r>
          </a:p>
        </p:txBody>
      </p:sp>
      <p:sp>
        <p:nvSpPr>
          <p:cNvPr id="6" name="Tagline 6"/>
          <p:cNvSpPr txBox="1"/>
          <p:nvPr/>
        </p:nvSpPr>
        <p:spPr>
          <a:xfrm>
            <a:off x="822960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Ist der Preis inklusive USt festgelegt, soll er die Rechnung führen.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F34489CF-F034-4AFD-9989-E9C20810832A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31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822960" y="2331720"/>
          <a:ext cx="6537960" cy="2487168"/>
        </p:xfrm>
        <a:graphic>
          <a:graphicData uri="http://schemas.openxmlformats.org/drawingml/2006/table">
            <a:tbl>
              <a:tblPr firstRow="1" bandRow="1"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Schritt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Nettomodell (heute)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Bruttomodell (neu)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Preis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BT-146 Artikelnettopreis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BT-146V Nettopreis plus USt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Zeile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BT-131 = Preis × Menge …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BT-131V = Preis plus USt × Menge …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Je Kategorie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BT-116 = Σ BT-131 …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BT-116V = Σ BT-131V …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USt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BT-117 = BT-116 × Satz</a:t>
                      </a:r>
                      <a:r>
                        <a:rPr lang="de-DE" sz="1000" dirty="0">
                          <a:solidFill>
                            <a:srgbClr val="9AA4C2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  aufgeschlagen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BT-117 = BT-116V × Satz ÷ (100 + Satz)</a:t>
                      </a:r>
                      <a:r>
                        <a:rPr lang="de-DE" sz="1000" dirty="0">
                          <a:solidFill>
                            <a:srgbClr val="0E7E82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  herausgerechnet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Netto je Kategorie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(gegeben)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BT-116 = BT-116V − BT-117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9"/>
          <p:cNvSpPr txBox="1"/>
          <p:nvPr/>
        </p:nvSpPr>
        <p:spPr>
          <a:xfrm>
            <a:off x="822960" y="4937760"/>
            <a:ext cx="6537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de-DE" sz="11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Das Modell wählt sich über BT-146V auf jeder Zeile — kein Indikator nötig. BT-146 bleibt Pflicht (Art. 226 Nr. 8 MwStSystRL), im Bruttomodell nur zur Information. Nicht für die Kategorien N, D, F, I, J.</a:t>
            </a:r>
          </a:p>
        </p:txBody>
      </p:sp>
      <p:sp>
        <p:nvSpPr>
          <p:cNvPr id="10" name="Panel 10"/>
          <p:cNvSpPr/>
          <p:nvPr/>
        </p:nvSpPr>
        <p:spPr>
          <a:xfrm>
            <a:off x="7589520" y="2331720"/>
            <a:ext cx="3776472" cy="3520440"/>
          </a:xfrm>
          <a:prstGeom prst="roundRect">
            <a:avLst>
              <a:gd name="adj" fmla="val 2597"/>
            </a:avLst>
          </a:prstGeom>
          <a:solidFill>
            <a:srgbClr val="1A2B5E"/>
          </a:solidFill>
          <a:ln>
            <a:noFill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11"/>
          <p:cNvSpPr txBox="1"/>
          <p:nvPr/>
        </p:nvSpPr>
        <p:spPr>
          <a:xfrm>
            <a:off x="790956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050" spc="15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BEISPIEL: BUCHPREISBINDUNG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7909560" y="28163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1.000 Bücher à 24,95 € inkl. 7 % USt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7909560" y="3291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/>
          </a:p>
        </p:txBody>
      </p:sp>
      <p:sp>
        <p:nvSpPr>
          <p:cNvPr id="14" name="Text 14"/>
          <p:cNvSpPr txBox="1"/>
          <p:nvPr/>
        </p:nvSpPr>
        <p:spPr>
          <a:xfrm>
            <a:off x="9052560" y="3291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dirty="0">
                <a:solidFill>
                  <a:srgbClr val="9AA4C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Gesamt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0195560" y="3291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dirty="0">
                <a:solidFill>
                  <a:srgbClr val="9AA4C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USt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7909560" y="36118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Soll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9052560" y="36118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24.950,00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0195560" y="3611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1.632,24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7909560" y="408736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Netto 2026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9052560" y="408736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200" b="1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24.950,05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0195560" y="4087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200" b="1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1.632,25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7909560" y="456285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Bruttomodell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9052560" y="456285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200" b="1" dirty="0">
                <a:solidFill>
                  <a:srgbClr val="58D6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24.950,00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0195560" y="456285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200" b="1" dirty="0">
                <a:solidFill>
                  <a:srgbClr val="58D6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1.632,24</a:t>
            </a:r>
          </a:p>
        </p:txBody>
      </p:sp>
      <p:sp>
        <p:nvSpPr>
          <p:cNvPr id="25" name="Shape 25"/>
          <p:cNvSpPr/>
          <p:nvPr/>
        </p:nvSpPr>
        <p:spPr>
          <a:xfrm>
            <a:off x="7909560" y="5120640"/>
            <a:ext cx="3154680" cy="9144"/>
          </a:xfrm>
          <a:prstGeom prst="rect">
            <a:avLst/>
          </a:prstGeom>
          <a:solidFill>
            <a:srgbClr val="3A4A7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6"/>
          <p:cNvSpPr txBox="1"/>
          <p:nvPr/>
        </p:nvSpPr>
        <p:spPr>
          <a:xfrm>
            <a:off x="7909560" y="519379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05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Nettomodell: 5 Cent zu viel, USt 1 Cent zu hoch. Bruttomodell: USt 1.632,24299… € → 1.632,24 € nur wegen der Cent-Pflicht (UStAE) — #163: Warnung.</a:t>
            </a:r>
          </a:p>
        </p:txBody>
      </p:sp>
      <p:sp>
        <p:nvSpPr>
          <p:cNvPr id="27" name="Pill 27"/>
          <p:cNvSpPr/>
          <p:nvPr/>
        </p:nvSpPr>
        <p:spPr>
          <a:xfrm>
            <a:off x="822960" y="5943600"/>
            <a:ext cx="10543032" cy="411480"/>
          </a:xfrm>
          <a:prstGeom prst="roundRect">
            <a:avLst>
              <a:gd name="adj" fmla="val 50000"/>
            </a:avLst>
          </a:prstGeom>
          <a:solidFill>
            <a:srgbClr val="E7F8F8"/>
          </a:solidFill>
          <a:ln w="9525">
            <a:solidFill>
              <a:srgbClr val="B5E9EA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Anwendungsfälle:  </a:t>
            </a:r>
            <a:r>
              <a:rPr lang="de-DE" sz="1200" dirty="0">
                <a:solidFill>
                  <a:srgbClr val="0E7E8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Buchpreisbindung · Kassenbon → Rechnung · Handel und Marktplätze · gesetzlich festgesetzte Bruttopreise</a:t>
            </a:r>
          </a:p>
        </p:txBody>
      </p:sp>
      <p:sp>
        <p:nvSpPr>
          <p:cNvPr id="28" name="Speaker 28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29" name="Callout 29"/>
          <p:cNvSpPr/>
          <p:nvPr/>
        </p:nvSpPr>
        <p:spPr>
          <a:xfrm>
            <a:off x="822960" y="5422392"/>
            <a:ext cx="6537960" cy="457200"/>
          </a:xfrm>
          <a:prstGeom prst="roundRect">
            <a:avLst>
              <a:gd name="adj" fmla="val 18000"/>
            </a:avLst>
          </a:prstGeom>
          <a:solidFill>
            <a:srgbClr val="FFF3E6"/>
          </a:solidFill>
          <a:ln w="9525">
            <a:solidFill>
              <a:srgbClr val="F5CFA3"/>
            </a:solidFill>
            <a:prstDash val="solid"/>
          </a:ln>
        </p:spPr>
        <p:txBody>
          <a:bodyPr wrap="square" lIns="91440" tIns="27432" rIns="91440" bIns="27432" rtlCol="0" anchor="ctr"/>
          <a:lstStyle/>
          <a:p>
            <a:pPr marL="0" indent="0" algn="l">
              <a:buNone/>
            </a:pPr>
            <a:r>
              <a:rPr lang="de-DE" sz="1050" dirty="0">
                <a:solidFill>
                  <a:srgbClr val="B85C0A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Heute oft unmöglich: </a:t>
            </a: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Bei 19 % USt sind 16 % aller Bruttobeträge mit Netto und USt in der Minor Unit nicht erreichbar — 9,99 € = 8,39 + 1,59 → 9,98. Mit 5 Zeilen verfehlen 52 %, mit 35 Zeilen 81 % den Kassenbon.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STATUS QUO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Aktueller Stand</a:t>
            </a:r>
          </a:p>
        </p:txBody>
      </p:sp>
      <p:sp>
        <p:nvSpPr>
          <p:cNvPr id="6" name="PageNum 6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54E6935E-FF57-47E4-9A22-EE9758A115C0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32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7" name="Card 7"/>
          <p:cNvSpPr/>
          <p:nvPr/>
        </p:nvSpPr>
        <p:spPr>
          <a:xfrm>
            <a:off x="822960" y="2011680"/>
            <a:ext cx="7498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IconCircle 8"/>
          <p:cNvSpPr/>
          <p:nvPr/>
        </p:nvSpPr>
        <p:spPr>
          <a:xfrm>
            <a:off x="1060704" y="2212848"/>
            <a:ext cx="402336" cy="402336"/>
          </a:xfrm>
          <a:prstGeom prst="ellipse">
            <a:avLst/>
          </a:prstGeom>
          <a:solidFill>
            <a:srgbClr val="1A2B5E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9" name="Ico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346" y="2323490"/>
            <a:ext cx="181051" cy="181051"/>
          </a:xfrm>
          <a:prstGeom prst="rect">
            <a:avLst/>
          </a:prstGeom>
        </p:spPr>
      </p:pic>
      <p:sp>
        <p:nvSpPr>
          <p:cNvPr id="10" name="Text 10"/>
          <p:cNvSpPr txBox="1"/>
          <p:nvPr/>
        </p:nvSpPr>
        <p:spPr>
          <a:xfrm>
            <a:off x="1600200" y="2194560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Überarbeitung der Norm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133856" y="267004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4592" indent="-164592" algn="l">
              <a:spcAft>
                <a:spcPts val="300"/>
              </a:spcAft>
              <a:buSzPct val="100000"/>
              <a:buChar char="•"/>
            </a:pPr>
            <a:r>
              <a:rPr lang="de-DE" sz="12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März 2026: Final Vote für die EN 16931-1 abgeschlossen</a:t>
            </a:r>
          </a:p>
          <a:p>
            <a:pPr marL="164592" indent="-164592" algn="l">
              <a:spcAft>
                <a:spcPts val="300"/>
              </a:spcAft>
              <a:buSzPct val="100000"/>
              <a:buChar char="•"/>
            </a:pPr>
            <a:r>
              <a:rPr lang="de-DE" sz="12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Mai 2026: Final Vote für die Syntax-Bindings (TS 16931-3) abgeschlossen</a:t>
            </a:r>
          </a:p>
          <a:p>
            <a:pPr marL="164592" indent="-164592" algn="l">
              <a:spcAft>
                <a:spcPts val="300"/>
              </a:spcAft>
              <a:buSzPct val="100000"/>
              <a:buChar char="•"/>
            </a:pPr>
            <a:r>
              <a:rPr lang="de-DE" sz="12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Deutsche Fassung DIN EN 16931-1:2026-10 jetzt verfügbar</a:t>
            </a:r>
          </a:p>
        </p:txBody>
      </p:sp>
      <p:sp>
        <p:nvSpPr>
          <p:cNvPr id="12" name="Card 12"/>
          <p:cNvSpPr/>
          <p:nvPr/>
        </p:nvSpPr>
        <p:spPr>
          <a:xfrm>
            <a:off x="822960" y="3584448"/>
            <a:ext cx="7498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IconCircle 13"/>
          <p:cNvSpPr/>
          <p:nvPr/>
        </p:nvSpPr>
        <p:spPr>
          <a:xfrm>
            <a:off x="1060704" y="3785616"/>
            <a:ext cx="402336" cy="402336"/>
          </a:xfrm>
          <a:prstGeom prst="ellipse">
            <a:avLst/>
          </a:prstGeom>
          <a:solidFill>
            <a:srgbClr val="1A2B5E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4" name="Icon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346" y="3896258"/>
            <a:ext cx="181051" cy="181051"/>
          </a:xfrm>
          <a:prstGeom prst="rect">
            <a:avLst/>
          </a:prstGeom>
        </p:spPr>
      </p:pic>
      <p:sp>
        <p:nvSpPr>
          <p:cNvPr id="15" name="Text 15"/>
          <p:cNvSpPr txBox="1"/>
          <p:nvPr/>
        </p:nvSpPr>
        <p:spPr>
          <a:xfrm>
            <a:off x="1600200" y="3767328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Neue Syntax: UBL 2.5 &amp; CII D25A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133856" y="4242816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4592" indent="-164592" algn="l">
              <a:spcAft>
                <a:spcPts val="300"/>
              </a:spcAft>
              <a:buSzPct val="100000"/>
              <a:buChar char="•"/>
            </a:pPr>
            <a:r>
              <a:rPr lang="de-DE" sz="12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UBL 2.5: OASIS Standard seit 12. August 2026</a:t>
            </a:r>
          </a:p>
          <a:p>
            <a:pPr marL="164592" indent="-164592" algn="l">
              <a:spcAft>
                <a:spcPts val="300"/>
              </a:spcAft>
              <a:buSzPct val="100000"/>
              <a:buChar char="•"/>
            </a:pPr>
            <a:r>
              <a:rPr lang="de-DE" sz="12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CII D25A: von UN/CEFACT im Juni 2026 veröffentlicht</a:t>
            </a:r>
          </a:p>
          <a:p>
            <a:pPr marL="164592" indent="-164592" algn="l">
              <a:spcAft>
                <a:spcPts val="300"/>
              </a:spcAft>
              <a:buSzPct val="100000"/>
              <a:buChar char="•"/>
            </a:pPr>
            <a:r>
              <a:rPr lang="de-DE" sz="12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Nächster Schritt: Die EU-Kommission nimmt beide in die Liste der Syntaxen auf</a:t>
            </a:r>
          </a:p>
        </p:txBody>
      </p:sp>
      <p:sp>
        <p:nvSpPr>
          <p:cNvPr id="17" name="Card 17"/>
          <p:cNvSpPr/>
          <p:nvPr/>
        </p:nvSpPr>
        <p:spPr>
          <a:xfrm>
            <a:off x="822960" y="5157216"/>
            <a:ext cx="7498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IconCircle 18"/>
          <p:cNvSpPr/>
          <p:nvPr/>
        </p:nvSpPr>
        <p:spPr>
          <a:xfrm>
            <a:off x="1060704" y="5358384"/>
            <a:ext cx="402336" cy="402336"/>
          </a:xfrm>
          <a:prstGeom prst="ellipse">
            <a:avLst/>
          </a:prstGeom>
          <a:solidFill>
            <a:srgbClr val="1A2B5E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9" name="Icon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1346" y="5469026"/>
            <a:ext cx="181051" cy="181051"/>
          </a:xfrm>
          <a:prstGeom prst="rect">
            <a:avLst/>
          </a:prstGeom>
        </p:spPr>
      </p:pic>
      <p:sp>
        <p:nvSpPr>
          <p:cNvPr id="20" name="Text 20"/>
          <p:cNvSpPr txBox="1"/>
          <p:nvPr/>
        </p:nvSpPr>
        <p:spPr>
          <a:xfrm>
            <a:off x="1600200" y="534009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Validierung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133856" y="5815584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4592" indent="-164592" algn="l">
              <a:spcAft>
                <a:spcPts val="300"/>
              </a:spcAft>
              <a:buSzPct val="100000"/>
              <a:buChar char="•"/>
            </a:pPr>
            <a:r>
              <a:rPr lang="de-DE" sz="12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Arbeit wegen offener Copyright-Fragen unterbrochen (IP-Problem)</a:t>
            </a:r>
          </a:p>
          <a:p>
            <a:pPr marL="164592" indent="-164592" algn="l">
              <a:spcAft>
                <a:spcPts val="300"/>
              </a:spcAft>
              <a:buSzPct val="100000"/>
              <a:buChar char="•"/>
            </a:pPr>
            <a:r>
              <a:rPr lang="de-DE" sz="12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Derivative Use hoffentlich bald möglich</a:t>
            </a:r>
          </a:p>
          <a:p>
            <a:pPr marL="164592" indent="-164592" algn="l">
              <a:spcAft>
                <a:spcPts val="300"/>
              </a:spcAft>
              <a:buSzPct val="100000"/>
              <a:buChar char="•"/>
            </a:pPr>
            <a:r>
              <a:rPr lang="de-DE" sz="12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EU-Validator auf GitHub und e-Invoice Advisory Group ausgelaufen — Fortgang unklar</a:t>
            </a:r>
          </a:p>
        </p:txBody>
      </p:sp>
      <p:pic>
        <p:nvPicPr>
          <p:cNvPr id="22" name="Imag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0" y="960120"/>
            <a:ext cx="2633472" cy="5074920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8933688" y="452628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10000"/>
              </a:lnSpc>
              <a:buNone/>
            </a:pPr>
            <a:r>
              <a:rPr lang="de-DE" sz="13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Nach der Abstimmung weitere Binding-Fehler gefunden — Vorschlag: ein Corrigendum für UBL und CII.</a:t>
            </a:r>
          </a:p>
        </p:txBody>
      </p:sp>
      <p:sp>
        <p:nvSpPr>
          <p:cNvPr id="24" name="Speaker 24">
            <a:hlinkClick r:id="rId7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STATUS · NORM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</a:t>
            </a:r>
          </a:p>
        </p:txBody>
      </p:sp>
      <p:sp>
        <p:nvSpPr>
          <p:cNvPr id="6" name="Tagline 6"/>
          <p:cNvSpPr txBox="1"/>
          <p:nvPr/>
        </p:nvSpPr>
        <p:spPr>
          <a:xfrm>
            <a:off x="822960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Europäisch verabschiedet — die deutsche Fassung ist erschienen.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F5C7DE92-1A02-4BD8-8899-7DE13FDB76C8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33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Card 8"/>
          <p:cNvSpPr/>
          <p:nvPr/>
        </p:nvSpPr>
        <p:spPr>
          <a:xfrm>
            <a:off x="822960" y="233172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IconCircle 9"/>
          <p:cNvSpPr/>
          <p:nvPr/>
        </p:nvSpPr>
        <p:spPr>
          <a:xfrm>
            <a:off x="1060704" y="2532888"/>
            <a:ext cx="402336" cy="402336"/>
          </a:xfrm>
          <a:prstGeom prst="ellipse">
            <a:avLst/>
          </a:prstGeom>
          <a:solidFill>
            <a:srgbClr val="1A2B5E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0" name="Ico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346" y="2643530"/>
            <a:ext cx="181051" cy="181051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1600200" y="251460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Verabschiedet &amp; verfügbar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133856" y="30175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4592" indent="-164592" algn="l">
              <a:spcAft>
                <a:spcPts val="300"/>
              </a:spcAft>
              <a:buSzPct val="100000"/>
              <a:buChar char="•"/>
            </a:pPr>
            <a:r>
              <a:rPr lang="de-DE" sz="12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Ratifiziert von CEN am 13.03.2026</a:t>
            </a:r>
          </a:p>
          <a:p>
            <a:pPr marL="164592" indent="-164592" algn="l">
              <a:spcAft>
                <a:spcPts val="300"/>
              </a:spcAft>
              <a:buSzPct val="100000"/>
              <a:buChar char="•"/>
            </a:pPr>
            <a:r>
              <a:rPr lang="de-DE" sz="12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Englische Fassung seit 18.03.2026 (DAV)</a:t>
            </a:r>
          </a:p>
          <a:p>
            <a:pPr marL="164592" indent="-164592" algn="l">
              <a:spcAft>
                <a:spcPts val="300"/>
              </a:spcAft>
              <a:buSzPct val="100000"/>
              <a:buChar char="•"/>
            </a:pPr>
            <a:r>
              <a:rPr lang="de-DE" sz="12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DIN EN 16931-1:2026-10 bei DIN Media erhältlich</a:t>
            </a:r>
          </a:p>
        </p:txBody>
      </p:sp>
      <p:sp>
        <p:nvSpPr>
          <p:cNvPr id="13" name="Card 13"/>
          <p:cNvSpPr/>
          <p:nvPr/>
        </p:nvSpPr>
        <p:spPr>
          <a:xfrm>
            <a:off x="822960" y="4315968"/>
            <a:ext cx="52120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IconCircle 14"/>
          <p:cNvSpPr/>
          <p:nvPr/>
        </p:nvSpPr>
        <p:spPr>
          <a:xfrm>
            <a:off x="1060704" y="4517136"/>
            <a:ext cx="402336" cy="402336"/>
          </a:xfrm>
          <a:prstGeom prst="ellipse">
            <a:avLst/>
          </a:prstGeom>
          <a:solidFill>
            <a:srgbClr val="1A2B5E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5" name="Icon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346" y="4627778"/>
            <a:ext cx="181051" cy="181051"/>
          </a:xfrm>
          <a:prstGeom prst="rect">
            <a:avLst/>
          </a:prstGeom>
        </p:spPr>
      </p:pic>
      <p:sp>
        <p:nvSpPr>
          <p:cNvPr id="16" name="Text 16"/>
          <p:cNvSpPr txBox="1"/>
          <p:nvPr/>
        </p:nvSpPr>
        <p:spPr>
          <a:xfrm>
            <a:off x="1600200" y="449884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Warum die DIN-Fassung später kam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133856" y="498348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4592" indent="-164592" algn="l">
              <a:spcAft>
                <a:spcPts val="400"/>
              </a:spcAft>
              <a:buSzPct val="100000"/>
              <a:buChar char="•"/>
            </a:pPr>
            <a:r>
              <a:rPr lang="de-DE" sz="12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CCMC (CEN-CENELEC Management Centre) hat die 16-wöchige Übersetzungsphase gestrichen — auf Druck der EU-Kommission zugunsten der englischen Fassung</a:t>
            </a:r>
          </a:p>
          <a:p>
            <a:pPr marL="164592" indent="-164592" algn="l">
              <a:spcAft>
                <a:spcPts val="400"/>
              </a:spcAft>
              <a:buSzPct val="100000"/>
              <a:buChar char="•"/>
            </a:pPr>
            <a:r>
              <a:rPr lang="de-DE" sz="12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Zusätzlich über 40 Seiten Kommentartabelle zu beraten und einzuarbeiten</a:t>
            </a:r>
          </a:p>
        </p:txBody>
      </p:sp>
      <p:sp>
        <p:nvSpPr>
          <p:cNvPr id="18" name="Panel 18"/>
          <p:cNvSpPr/>
          <p:nvPr/>
        </p:nvSpPr>
        <p:spPr>
          <a:xfrm>
            <a:off x="6309360" y="2331720"/>
            <a:ext cx="5056632" cy="4178808"/>
          </a:xfrm>
          <a:prstGeom prst="roundRect">
            <a:avLst>
              <a:gd name="adj" fmla="val 2188"/>
            </a:avLst>
          </a:prstGeom>
          <a:solidFill>
            <a:srgbClr val="1A2B5E"/>
          </a:solidFill>
          <a:ln>
            <a:noFill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9"/>
          <p:cNvSpPr txBox="1"/>
          <p:nvPr/>
        </p:nvSpPr>
        <p:spPr>
          <a:xfrm>
            <a:off x="6675120" y="2606040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CEN-MEILENSTEINE</a:t>
            </a:r>
          </a:p>
        </p:txBody>
      </p:sp>
      <p:sp>
        <p:nvSpPr>
          <p:cNvPr id="20" name="Shape 20"/>
          <p:cNvSpPr/>
          <p:nvPr/>
        </p:nvSpPr>
        <p:spPr>
          <a:xfrm>
            <a:off x="6803136" y="3200400"/>
            <a:ext cx="27432" cy="2971800"/>
          </a:xfrm>
          <a:prstGeom prst="rect">
            <a:avLst/>
          </a:prstGeom>
          <a:solidFill>
            <a:srgbClr val="3A4A7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21"/>
          <p:cNvSpPr/>
          <p:nvPr/>
        </p:nvSpPr>
        <p:spPr>
          <a:xfrm>
            <a:off x="6739128" y="3191256"/>
            <a:ext cx="173736" cy="173736"/>
          </a:xfrm>
          <a:prstGeom prst="ellipse">
            <a:avLst/>
          </a:prstGeom>
          <a:solidFill>
            <a:srgbClr val="9AA4C2"/>
          </a:solidFill>
          <a:ln w="1905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2"/>
          <p:cNvSpPr txBox="1"/>
          <p:nvPr/>
        </p:nvSpPr>
        <p:spPr>
          <a:xfrm>
            <a:off x="7040880" y="31363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13.03.2026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8275320" y="3136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2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Ratifizierung</a:t>
            </a:r>
          </a:p>
        </p:txBody>
      </p:sp>
      <p:sp>
        <p:nvSpPr>
          <p:cNvPr id="24" name="Shape 24"/>
          <p:cNvSpPr/>
          <p:nvPr/>
        </p:nvSpPr>
        <p:spPr>
          <a:xfrm>
            <a:off x="6739128" y="3904488"/>
            <a:ext cx="173736" cy="173736"/>
          </a:xfrm>
          <a:prstGeom prst="ellipse">
            <a:avLst/>
          </a:prstGeom>
          <a:solidFill>
            <a:srgbClr val="9AA4C2"/>
          </a:solidFill>
          <a:ln w="1905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5"/>
          <p:cNvSpPr txBox="1"/>
          <p:nvPr/>
        </p:nvSpPr>
        <p:spPr>
          <a:xfrm>
            <a:off x="7040880" y="3849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18.03.2026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275320" y="38496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2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Verfügbar · engl. Fassung (DAV)</a:t>
            </a:r>
          </a:p>
        </p:txBody>
      </p:sp>
      <p:sp>
        <p:nvSpPr>
          <p:cNvPr id="27" name="Shape 27"/>
          <p:cNvSpPr/>
          <p:nvPr/>
        </p:nvSpPr>
        <p:spPr>
          <a:xfrm>
            <a:off x="6739128" y="4617720"/>
            <a:ext cx="173736" cy="173736"/>
          </a:xfrm>
          <a:prstGeom prst="ellipse">
            <a:avLst/>
          </a:prstGeom>
          <a:solidFill>
            <a:srgbClr val="9AA4C2"/>
          </a:solidFill>
          <a:ln w="1905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8"/>
          <p:cNvSpPr txBox="1"/>
          <p:nvPr/>
        </p:nvSpPr>
        <p:spPr>
          <a:xfrm>
            <a:off x="7040880" y="45628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30.06.2026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8275320" y="45628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2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Ankündigung national (DOA)</a:t>
            </a:r>
          </a:p>
        </p:txBody>
      </p:sp>
      <p:sp>
        <p:nvSpPr>
          <p:cNvPr id="30" name="Pill 30"/>
          <p:cNvSpPr/>
          <p:nvPr/>
        </p:nvSpPr>
        <p:spPr>
          <a:xfrm>
            <a:off x="6629400" y="5138928"/>
            <a:ext cx="4553712" cy="566928"/>
          </a:xfrm>
          <a:prstGeom prst="roundRect">
            <a:avLst>
              <a:gd name="adj" fmla="val 50000"/>
            </a:avLst>
          </a:prstGeom>
          <a:solidFill>
            <a:srgbClr val="19C3C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31"/>
          <p:cNvSpPr/>
          <p:nvPr/>
        </p:nvSpPr>
        <p:spPr>
          <a:xfrm>
            <a:off x="6720840" y="5321808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7E8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2"/>
          <p:cNvSpPr txBox="1"/>
          <p:nvPr/>
        </p:nvSpPr>
        <p:spPr>
          <a:xfrm>
            <a:off x="7040880" y="52486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0A2E2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30.09.2026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8503920" y="52486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200" dirty="0">
                <a:solidFill>
                  <a:srgbClr val="0A2E2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Deutsche Fassung erschienen (DOP)</a:t>
            </a:r>
          </a:p>
        </p:txBody>
      </p:sp>
      <p:sp>
        <p:nvSpPr>
          <p:cNvPr id="34" name="Shape 34"/>
          <p:cNvSpPr/>
          <p:nvPr/>
        </p:nvSpPr>
        <p:spPr>
          <a:xfrm>
            <a:off x="6739128" y="6044184"/>
            <a:ext cx="173736" cy="173736"/>
          </a:xfrm>
          <a:prstGeom prst="ellipse">
            <a:avLst/>
          </a:prstGeom>
          <a:solidFill>
            <a:srgbClr val="9AA4C2"/>
          </a:solidFill>
          <a:ln w="1905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5"/>
          <p:cNvSpPr txBox="1"/>
          <p:nvPr/>
        </p:nvSpPr>
        <p:spPr>
          <a:xfrm>
            <a:off x="7040880" y="5989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31.03.2029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8275320" y="5989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2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Rückzug EN 16931-1:2017 (DOW)</a:t>
            </a:r>
          </a:p>
        </p:txBody>
      </p:sp>
      <p:sp>
        <p:nvSpPr>
          <p:cNvPr id="37" name="Speaker 37">
            <a:hlinkClick r:id="rId5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SYNTAX BINDING · NÄCHSTE SCHRITTE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848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Arbeit bei CEN an Amendment / Corrigendum</a:t>
            </a:r>
          </a:p>
        </p:txBody>
      </p:sp>
      <p:sp>
        <p:nvSpPr>
          <p:cNvPr id="6" name="PageNum 6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5DDF6A79-4043-4594-B888-0EB66DDEA9F6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34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7" name="Panel 7"/>
          <p:cNvSpPr/>
          <p:nvPr/>
        </p:nvSpPr>
        <p:spPr>
          <a:xfrm>
            <a:off x="822960" y="2103120"/>
            <a:ext cx="3291840" cy="3611880"/>
          </a:xfrm>
          <a:prstGeom prst="roundRect">
            <a:avLst>
              <a:gd name="adj" fmla="val 2777"/>
            </a:avLst>
          </a:prstGeom>
          <a:solidFill>
            <a:srgbClr val="1A2B5E"/>
          </a:solidFill>
          <a:ln>
            <a:noFill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8"/>
          <p:cNvSpPr txBox="1"/>
          <p:nvPr/>
        </p:nvSpPr>
        <p:spPr>
          <a:xfrm>
            <a:off x="114300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ISSUE-TRACKER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143000" y="26517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7200" b="1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64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143000" y="3749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de-DE" sz="13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Issues für die CEN-Mitglieder auf GitHub seit 2020</a:t>
            </a:r>
          </a:p>
        </p:txBody>
      </p:sp>
      <p:sp>
        <p:nvSpPr>
          <p:cNvPr id="11" name="Shape 11"/>
          <p:cNvSpPr/>
          <p:nvPr/>
        </p:nvSpPr>
        <p:spPr>
          <a:xfrm>
            <a:off x="1143000" y="4480560"/>
            <a:ext cx="2651760" cy="9144"/>
          </a:xfrm>
          <a:prstGeom prst="rect">
            <a:avLst/>
          </a:prstGeom>
          <a:solidFill>
            <a:srgbClr val="3A4A7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2"/>
          <p:cNvSpPr txBox="1"/>
          <p:nvPr/>
        </p:nvSpPr>
        <p:spPr>
          <a:xfrm>
            <a:off x="1143000" y="4572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de-DE" sz="12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Beiträge aus DE, FR, NL und der OASIS-UBL-Community</a:t>
            </a:r>
          </a:p>
        </p:txBody>
      </p:sp>
      <p:sp>
        <p:nvSpPr>
          <p:cNvPr id="13" name="Card 13"/>
          <p:cNvSpPr/>
          <p:nvPr/>
        </p:nvSpPr>
        <p:spPr>
          <a:xfrm>
            <a:off x="4343400" y="2103120"/>
            <a:ext cx="7022592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IconCircle 14"/>
          <p:cNvSpPr/>
          <p:nvPr/>
        </p:nvSpPr>
        <p:spPr>
          <a:xfrm>
            <a:off x="4581144" y="2304288"/>
            <a:ext cx="402336" cy="402336"/>
          </a:xfrm>
          <a:prstGeom prst="ellipse">
            <a:avLst/>
          </a:prstGeom>
          <a:solidFill>
            <a:srgbClr val="1A2B5E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5" name="Icon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1786" y="2414930"/>
            <a:ext cx="181051" cy="181051"/>
          </a:xfrm>
          <a:prstGeom prst="rect">
            <a:avLst/>
          </a:prstGeom>
        </p:spPr>
      </p:pic>
      <p:sp>
        <p:nvSpPr>
          <p:cNvPr id="16" name="Text 16"/>
          <p:cNvSpPr txBox="1"/>
          <p:nvPr/>
        </p:nvSpPr>
        <p:spPr>
          <a:xfrm>
            <a:off x="5120640" y="2286000"/>
            <a:ext cx="6062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Aktuelle Funde Syntax-Bindings (September 2026)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4663440" y="2788920"/>
            <a:ext cx="6492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4592" indent="-164592" algn="l">
              <a:spcAft>
                <a:spcPts val="600"/>
              </a:spcAft>
              <a:buSzPct val="100000"/>
              <a:buChar char="•"/>
            </a:pPr>
            <a:r>
              <a:rPr lang="de-DE" sz="12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CII: Der USt-Wechselkurs ist an das falsche Element gebunden</a:t>
            </a:r>
          </a:p>
          <a:p>
            <a:pPr marL="164592" indent="-164592" algn="l">
              <a:spcAft>
                <a:spcPts val="600"/>
              </a:spcAft>
              <a:buSzPct val="100000"/>
              <a:buChar char="•"/>
            </a:pPr>
            <a:r>
              <a:rPr lang="de-DE" sz="12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CII: Ein Lieferort auf Zeilenebene ist an den Rechnungskopf gebunden</a:t>
            </a:r>
          </a:p>
          <a:p>
            <a:pPr marL="164592" indent="-164592" algn="l">
              <a:spcAft>
                <a:spcPts val="600"/>
              </a:spcAft>
              <a:buSzPct val="100000"/>
              <a:buChar char="•"/>
            </a:pPr>
            <a:r>
              <a:rPr lang="de-DE" sz="12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Prüfungen auf „true/false“ übersehen die ebenso gültigen Werte „1/0“</a:t>
            </a:r>
          </a:p>
          <a:p>
            <a:pPr marL="164592" indent="-164592" algn="l">
              <a:spcAft>
                <a:spcPts val="600"/>
              </a:spcAft>
              <a:buSzPct val="100000"/>
              <a:buChar char="•"/>
            </a:pPr>
            <a:r>
              <a:rPr lang="de-DE" sz="12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…</a:t>
            </a:r>
          </a:p>
        </p:txBody>
      </p:sp>
      <p:sp>
        <p:nvSpPr>
          <p:cNvPr id="18" name="Pill 18"/>
          <p:cNvSpPr/>
          <p:nvPr/>
        </p:nvSpPr>
        <p:spPr>
          <a:xfrm>
            <a:off x="822960" y="5897880"/>
            <a:ext cx="10543032" cy="457200"/>
          </a:xfrm>
          <a:prstGeom prst="roundRect">
            <a:avLst>
              <a:gd name="adj" fmla="val 50000"/>
            </a:avLst>
          </a:prstGeom>
          <a:solidFill>
            <a:srgbClr val="E7F8F8"/>
          </a:solidFill>
          <a:ln w="9525">
            <a:solidFill>
              <a:srgbClr val="B5E9EA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250" dirty="0">
                <a:solidFill>
                  <a:srgbClr val="0E7E8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Vorschlag: </a:t>
            </a:r>
            <a:r>
              <a:rPr lang="de-DE" sz="1250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ein Corrigendum für die Syntax-Bindings von UBL und CII — damit jeder Pfad eindeutig und maschinenlesbar ist</a:t>
            </a:r>
          </a:p>
        </p:txBody>
      </p:sp>
      <p:sp>
        <p:nvSpPr>
          <p:cNvPr id="19" name="Speaker 19">
            <a:hlinkClick r:id="rId4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2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AUSBLICK · SEMANTIC AMENDMENT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Wohin geht die Reise?</a:t>
            </a:r>
          </a:p>
        </p:txBody>
      </p:sp>
      <p:sp>
        <p:nvSpPr>
          <p:cNvPr id="6" name="Tagline 6"/>
          <p:cNvSpPr txBox="1"/>
          <p:nvPr/>
        </p:nvSpPr>
        <p:spPr>
          <a:xfrm>
            <a:off x="822960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Revision und Syntax-Binding sind veröffentlicht — die Arbeit am </a:t>
            </a:r>
            <a:r>
              <a:rPr lang="de-DE" sz="130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Amendment der Semantik hat </a:t>
            </a: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begonnen.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C8BB9389-9802-4564-91A4-F5A78D914DFE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35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Panel 8"/>
          <p:cNvSpPr/>
          <p:nvPr/>
        </p:nvSpPr>
        <p:spPr>
          <a:xfrm>
            <a:off x="822960" y="2377440"/>
            <a:ext cx="3108960" cy="3429000"/>
          </a:xfrm>
          <a:prstGeom prst="roundRect">
            <a:avLst>
              <a:gd name="adj" fmla="val 2941"/>
            </a:avLst>
          </a:prstGeom>
          <a:solidFill>
            <a:srgbClr val="1A2B5E"/>
          </a:solidFill>
          <a:ln>
            <a:noFill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9"/>
          <p:cNvSpPr txBox="1"/>
          <p:nvPr/>
        </p:nvSpPr>
        <p:spPr>
          <a:xfrm>
            <a:off x="114300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AMENDMENT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143000" y="28803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6400" b="1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~50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143000" y="3840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Themen in Diskussion</a:t>
            </a:r>
          </a:p>
        </p:txBody>
      </p:sp>
      <p:sp>
        <p:nvSpPr>
          <p:cNvPr id="12" name="Shape 12"/>
          <p:cNvSpPr/>
          <p:nvPr/>
        </p:nvSpPr>
        <p:spPr>
          <a:xfrm>
            <a:off x="1143000" y="4297680"/>
            <a:ext cx="2468880" cy="9144"/>
          </a:xfrm>
          <a:prstGeom prst="rect">
            <a:avLst/>
          </a:prstGeom>
          <a:solidFill>
            <a:srgbClr val="3A4A7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3"/>
          <p:cNvSpPr txBox="1"/>
          <p:nvPr/>
        </p:nvSpPr>
        <p:spPr>
          <a:xfrm>
            <a:off x="1143000" y="4434840"/>
            <a:ext cx="2606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4592" indent="-164592" algn="l">
              <a:spcAft>
                <a:spcPts val="300"/>
              </a:spcAft>
              <a:buClr>
                <a:srgbClr val="19C3C8"/>
              </a:buClr>
              <a:buSzPct val="100000"/>
              <a:buChar char="•"/>
            </a:pPr>
            <a:r>
              <a:rPr lang="de-DE" sz="115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Revision der Codelisten läuft</a:t>
            </a:r>
          </a:p>
          <a:p>
            <a:pPr marL="164592" indent="-164592" algn="l">
              <a:spcAft>
                <a:spcPts val="300"/>
              </a:spcAft>
              <a:buClr>
                <a:srgbClr val="19C3C8"/>
              </a:buClr>
              <a:buSzPct val="100000"/>
              <a:buChar char="•"/>
            </a:pPr>
            <a:r>
              <a:rPr lang="de-DE" sz="1150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Ziel: Abschluss Ende 2026</a:t>
            </a:r>
          </a:p>
          <a:p>
            <a:pPr marL="164592" indent="-164592" algn="l">
              <a:spcAft>
                <a:spcPts val="300"/>
              </a:spcAft>
              <a:buClr>
                <a:srgbClr val="19C3C8"/>
              </a:buClr>
              <a:buSzPct val="100000"/>
              <a:buChar char="•"/>
            </a:pPr>
            <a:r>
              <a:rPr lang="de-DE" sz="115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Syntax-Binding parallel, wo möglich</a:t>
            </a:r>
          </a:p>
        </p:txBody>
      </p:sp>
      <p:sp>
        <p:nvSpPr>
          <p:cNvPr id="14" name="Card 14"/>
          <p:cNvSpPr/>
          <p:nvPr/>
        </p:nvSpPr>
        <p:spPr>
          <a:xfrm>
            <a:off x="4114800" y="2377440"/>
            <a:ext cx="2331720" cy="342900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5"/>
          <p:cNvSpPr txBox="1"/>
          <p:nvPr/>
        </p:nvSpPr>
        <p:spPr>
          <a:xfrm>
            <a:off x="4315968" y="2514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Steuer &amp; DRR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4315968" y="2971800"/>
            <a:ext cx="199339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8016" indent="-128016" algn="l">
              <a:spcAft>
                <a:spcPts val="400"/>
              </a:spcAft>
              <a:buSzPct val="100000"/>
              <a:buChar char="•"/>
            </a:pP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Befreiungsgrund auch bei anderen Kategorien als E?</a:t>
            </a:r>
          </a:p>
          <a:p>
            <a:pPr marL="128016" indent="-128016" algn="l">
              <a:spcAft>
                <a:spcPts val="400"/>
              </a:spcAft>
              <a:buSzPct val="100000"/>
              <a:buChar char="•"/>
            </a:pP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Waren/Dienstleistung, Zwischensummen und DRR</a:t>
            </a:r>
          </a:p>
          <a:p>
            <a:pPr marL="128016" indent="-128016" algn="l">
              <a:spcAft>
                <a:spcPts val="400"/>
              </a:spcAft>
              <a:buSzPct val="100000"/>
              <a:buChar char="•"/>
            </a:pP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Gebühren für Dritte, Zahlbetrag und DRR</a:t>
            </a:r>
          </a:p>
          <a:p>
            <a:pPr marL="128016" indent="-128016" algn="l">
              <a:spcAft>
                <a:spcPts val="400"/>
              </a:spcAft>
              <a:buSzPct val="100000"/>
              <a:buChar char="•"/>
            </a:pP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USt-Gruppe als ein Steuerpflichtiger</a:t>
            </a:r>
          </a:p>
        </p:txBody>
      </p:sp>
      <p:sp>
        <p:nvSpPr>
          <p:cNvPr id="17" name="Card 17"/>
          <p:cNvSpPr/>
          <p:nvPr/>
        </p:nvSpPr>
        <p:spPr>
          <a:xfrm>
            <a:off x="6565392" y="2377440"/>
            <a:ext cx="2331720" cy="342900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Text 18"/>
          <p:cNvSpPr txBox="1"/>
          <p:nvPr/>
        </p:nvSpPr>
        <p:spPr>
          <a:xfrm>
            <a:off x="6766560" y="2514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Geschäftsprozesse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766560" y="2971800"/>
            <a:ext cx="199339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8016" indent="-128016" algn="l">
              <a:spcAft>
                <a:spcPts val="400"/>
              </a:spcAft>
              <a:buSzPct val="100000"/>
              <a:buChar char="•"/>
            </a:pP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Mehrere Zahlungsbedingungen mit Datum und Betrag</a:t>
            </a:r>
          </a:p>
          <a:p>
            <a:pPr marL="128016" indent="-128016" algn="l">
              <a:spcAft>
                <a:spcPts val="400"/>
              </a:spcAft>
              <a:buSzPct val="100000"/>
              <a:buChar char="•"/>
            </a:pP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Incoterms</a:t>
            </a:r>
          </a:p>
          <a:p>
            <a:pPr marL="128016" indent="-128016" algn="l">
              <a:spcAft>
                <a:spcPts val="400"/>
              </a:spcAft>
              <a:buSzPct val="100000"/>
              <a:buChar char="•"/>
            </a:pP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Gutschrift: eigenständig oder korrigierend, negative Gutschriften</a:t>
            </a:r>
          </a:p>
          <a:p>
            <a:pPr marL="128016" indent="-128016" algn="l">
              <a:spcAft>
                <a:spcPts val="400"/>
              </a:spcAft>
              <a:buSzPct val="100000"/>
              <a:buChar char="•"/>
            </a:pP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Ersetzende Korrekturrechnung</a:t>
            </a:r>
          </a:p>
        </p:txBody>
      </p:sp>
      <p:sp>
        <p:nvSpPr>
          <p:cNvPr id="20" name="Card 20"/>
          <p:cNvSpPr/>
          <p:nvPr/>
        </p:nvSpPr>
        <p:spPr>
          <a:xfrm>
            <a:off x="9015984" y="2377440"/>
            <a:ext cx="2331720" cy="342900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Text 21"/>
          <p:cNvSpPr txBox="1"/>
          <p:nvPr/>
        </p:nvSpPr>
        <p:spPr>
          <a:xfrm>
            <a:off x="9217152" y="2514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Technik &amp; Interoperabilität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9217152" y="2971800"/>
            <a:ext cx="199339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8016" indent="-128016" algn="l">
              <a:spcAft>
                <a:spcPts val="400"/>
              </a:spcAft>
              <a:buSzPct val="100000"/>
              <a:buChar char="•"/>
            </a:pP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BT-10 Buyer Reference und Rückwärtskompatibilität</a:t>
            </a:r>
          </a:p>
          <a:p>
            <a:pPr marL="128016" indent="-128016" algn="l">
              <a:spcAft>
                <a:spcPts val="400"/>
              </a:spcAft>
              <a:buSzPct val="100000"/>
              <a:buChar char="•"/>
            </a:pP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BT-161 in Wert und Messwert teilen</a:t>
            </a:r>
          </a:p>
          <a:p>
            <a:pPr marL="128016" indent="-128016" algn="l">
              <a:spcAft>
                <a:spcPts val="400"/>
              </a:spcAft>
              <a:buSzPct val="100000"/>
              <a:buChar char="•"/>
            </a:pP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Wechselkurs: Notation und Rechenoperator</a:t>
            </a:r>
          </a:p>
          <a:p>
            <a:pPr marL="128016" indent="-128016" algn="l">
              <a:spcAft>
                <a:spcPts val="400"/>
              </a:spcAft>
              <a:buSzPct val="100000"/>
              <a:buChar char="•"/>
            </a:pP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Leerzeichen, CR/LF, Tab in Identifikatoren</a:t>
            </a:r>
          </a:p>
          <a:p>
            <a:pPr marL="128016" indent="-128016" algn="l">
              <a:spcAft>
                <a:spcPts val="400"/>
              </a:spcAft>
              <a:buSzPct val="100000"/>
              <a:buChar char="•"/>
            </a:pP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Unterschiedliche CIUS bei Käufer und Verkäufer</a:t>
            </a:r>
          </a:p>
          <a:p>
            <a:pPr marL="128016" indent="-128016" algn="l">
              <a:spcAft>
                <a:spcPts val="400"/>
              </a:spcAft>
              <a:buSzPct val="100000"/>
              <a:buChar char="•"/>
            </a:pP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Extensions im grenzüberschreitenden ViDA-Verkehr</a:t>
            </a:r>
          </a:p>
        </p:txBody>
      </p:sp>
      <p:sp>
        <p:nvSpPr>
          <p:cNvPr id="23" name="Pill 23"/>
          <p:cNvSpPr/>
          <p:nvPr/>
        </p:nvSpPr>
        <p:spPr>
          <a:xfrm>
            <a:off x="822960" y="5943600"/>
            <a:ext cx="10543032" cy="411480"/>
          </a:xfrm>
          <a:prstGeom prst="roundRect">
            <a:avLst>
              <a:gd name="adj" fmla="val 50000"/>
            </a:avLst>
          </a:prstGeom>
          <a:solidFill>
            <a:srgbClr val="E7F8F8"/>
          </a:solidFill>
          <a:ln w="9525">
            <a:solidFill>
              <a:srgbClr val="B5E9EA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2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Meine Beiträge zum Amendment:  </a:t>
            </a:r>
            <a:r>
              <a:rPr lang="de-DE" sz="1250" dirty="0">
                <a:solidFill>
                  <a:srgbClr val="0E7E8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#163 Nur einmal runden  ·  #164 Bruttopreis-Modell</a:t>
            </a:r>
          </a:p>
        </p:txBody>
      </p:sp>
      <p:sp>
        <p:nvSpPr>
          <p:cNvPr id="24" name="Speaker 24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33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Header 4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9FB0D8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44598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7E91C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5" name="PageNum 5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F5EABF99-63BD-4822-A20F-6C6A9E27D083}" type="slidenum">
              <a:rPr lang="de-DE" sz="1000" spc="200" dirty="0">
                <a:solidFill>
                  <a:srgbClr val="8EA0CC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36</a:t>
            </a:fld>
            <a:endParaRPr lang="de-DE" sz="1000" spc="200" dirty="0">
              <a:solidFill>
                <a:srgbClr val="8EA0CC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6" name="Shape 6"/>
          <p:cNvSpPr/>
          <p:nvPr/>
        </p:nvSpPr>
        <p:spPr>
          <a:xfrm>
            <a:off x="5586984" y="2148840"/>
            <a:ext cx="1005840" cy="1005840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7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304" y="2423160"/>
            <a:ext cx="457200" cy="457200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914400" y="33375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5200" dirty="0">
                <a:solidFill>
                  <a:srgbClr val="FFFFFF"/>
                </a:solidFill>
                <a:latin typeface="Inter Light Text Light" pitchFamily="34" charset="0"/>
                <a:ea typeface="Inter Light Text Light" pitchFamily="34" charset="-122"/>
                <a:cs typeface="Inter Light Text Light" pitchFamily="34" charset="-120"/>
              </a:rPr>
              <a:t>Zeit für Ihre Fragen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14400" y="42976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600" spc="100" dirty="0">
                <a:solidFill>
                  <a:srgbClr val="AFC0EA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Diskussion · Austausch · nächste Schritte gemeinsam denken</a:t>
            </a:r>
          </a:p>
        </p:txBody>
      </p:sp>
      <p:sp>
        <p:nvSpPr>
          <p:cNvPr id="10" name="Speaker 10">
            <a:hlinkClick r:id="rId5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8EA0CC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34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Header 4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9FB0D8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44598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7E91C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5" name="SectionLabel 5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KONTAKT</a:t>
            </a:r>
          </a:p>
        </p:txBody>
      </p:sp>
      <p:sp>
        <p:nvSpPr>
          <p:cNvPr id="6" name="Title 6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Sprechen Sie mich an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87DA7C0F-D619-4F2F-88AE-3AFCE6D46308}" type="slidenum">
              <a:rPr lang="de-DE" sz="1000" spc="200" dirty="0">
                <a:solidFill>
                  <a:srgbClr val="8EA0CC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37</a:t>
            </a:fld>
            <a:endParaRPr lang="de-DE" sz="1000" spc="200" dirty="0">
              <a:solidFill>
                <a:srgbClr val="8EA0CC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Shape 8"/>
          <p:cNvSpPr/>
          <p:nvPr/>
        </p:nvSpPr>
        <p:spPr>
          <a:xfrm>
            <a:off x="822960" y="2743200"/>
            <a:ext cx="5074920" cy="1920240"/>
          </a:xfrm>
          <a:prstGeom prst="roundRect">
            <a:avLst>
              <a:gd name="adj" fmla="val 476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9"/>
          <p:cNvSpPr/>
          <p:nvPr/>
        </p:nvSpPr>
        <p:spPr>
          <a:xfrm>
            <a:off x="1133856" y="3054096"/>
            <a:ext cx="640080" cy="640080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7592" y="3227832"/>
            <a:ext cx="292608" cy="292608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1965960" y="30632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de-DE" sz="18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Svante Schubert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de-DE" sz="1200" dirty="0">
                <a:solidFill>
                  <a:srgbClr val="BFD0F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Syntax-Bindings · Validierung · Tooling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de-DE" sz="1200" dirty="0">
                <a:solidFill>
                  <a:srgbClr val="BFD0F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Editor der Syntax-Bindings, CEN/TC 434 WG3</a:t>
            </a:r>
          </a:p>
        </p:txBody>
      </p:sp>
      <p:sp>
        <p:nvSpPr>
          <p:cNvPr id="12" name="Shape 12"/>
          <p:cNvSpPr/>
          <p:nvPr/>
        </p:nvSpPr>
        <p:spPr>
          <a:xfrm>
            <a:off x="6263640" y="2743200"/>
            <a:ext cx="5074920" cy="1920240"/>
          </a:xfrm>
          <a:prstGeom prst="roundRect">
            <a:avLst>
              <a:gd name="adj" fmla="val 476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3"/>
          <p:cNvSpPr txBox="1"/>
          <p:nvPr/>
        </p:nvSpPr>
        <p:spPr>
          <a:xfrm>
            <a:off x="658368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Mitlesen &amp; mitreden</a:t>
            </a:r>
          </a:p>
        </p:txBody>
      </p:sp>
      <p:sp>
        <p:nvSpPr>
          <p:cNvPr id="14" name="Text 14">
            <a:hlinkClick r:id="rId5"/>
          </p:cNvPr>
          <p:cNvSpPr txBox="1"/>
          <p:nvPr/>
        </p:nvSpPr>
        <p:spPr>
          <a:xfrm>
            <a:off x="6583680" y="3310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2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›  </a:t>
            </a:r>
            <a:r>
              <a:rPr lang="de-DE" sz="1200" dirty="0">
                <a:solidFill>
                  <a:srgbClr val="BFD0F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WG1-Issues #163 und #164</a:t>
            </a:r>
          </a:p>
        </p:txBody>
      </p:sp>
      <p:sp>
        <p:nvSpPr>
          <p:cNvPr id="15" name="Text 15">
            <a:hlinkClick r:id="rId6"/>
          </p:cNvPr>
          <p:cNvSpPr txBox="1"/>
          <p:nvPr/>
        </p:nvSpPr>
        <p:spPr>
          <a:xfrm>
            <a:off x="658368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2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›  </a:t>
            </a:r>
            <a:r>
              <a:rPr lang="de-DE" sz="1200" dirty="0">
                <a:solidFill>
                  <a:srgbClr val="BFD0F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Issues zu den Syntax-Bindings (WG3)</a:t>
            </a:r>
          </a:p>
        </p:txBody>
      </p:sp>
      <p:sp>
        <p:nvSpPr>
          <p:cNvPr id="16" name="Text 16">
            <a:hlinkClick r:id="rId7"/>
          </p:cNvPr>
          <p:cNvSpPr txBox="1"/>
          <p:nvPr/>
        </p:nvSpPr>
        <p:spPr>
          <a:xfrm>
            <a:off x="6583680" y="3913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2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›  </a:t>
            </a:r>
            <a:r>
              <a:rPr lang="de-DE" sz="1200" dirty="0">
                <a:solidFill>
                  <a:srgbClr val="BFD0F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Svanton: exakte Arithmetik für Saxon</a:t>
            </a:r>
          </a:p>
        </p:txBody>
      </p:sp>
      <p:sp>
        <p:nvSpPr>
          <p:cNvPr id="17" name="Text 17">
            <a:hlinkClick r:id="rId8"/>
          </p:cNvPr>
          <p:cNvSpPr txBox="1"/>
          <p:nvPr/>
        </p:nvSpPr>
        <p:spPr>
          <a:xfrm>
            <a:off x="6583680" y="4215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2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›  </a:t>
            </a:r>
            <a:r>
              <a:rPr lang="de-DE" sz="1200" dirty="0">
                <a:solidFill>
                  <a:srgbClr val="BFD0F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XSLT-4.0-Vorschlag (qt4cg #2935)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22960" y="5074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de-DE" sz="15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Vielen Dank </a:t>
            </a:r>
            <a:r>
              <a:rPr lang="de-DE" sz="1500" dirty="0">
                <a:solidFill>
                  <a:srgbClr val="AFC0EA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für Ihre Aufmerksamkeit — ich freue mich auf den Austausch bei den ZUGFeRD-Entwicklertagen.</a:t>
            </a:r>
          </a:p>
        </p:txBody>
      </p:sp>
      <p:sp>
        <p:nvSpPr>
          <p:cNvPr id="19" name="Speaker 19">
            <a:hlinkClick r:id="rId9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8EA0CC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20" name="QR Card pptx"/>
          <p:cNvSpPr/>
          <p:nvPr/>
        </p:nvSpPr>
        <p:spPr>
          <a:xfrm>
            <a:off x="9902952" y="822960"/>
            <a:ext cx="146304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A123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1" name="QR Slides pptx" descr="QR-Code: Folien als PPTX (https://svanteschubert.github.io/testy/ZUGFeRD_Entwicklertage_2026_SvanteSchubert_Syntax-Binding_DE.pptx)">
            <a:hlinkClick r:id="rId10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76104" y="896112"/>
            <a:ext cx="1316736" cy="1316736"/>
          </a:xfrm>
          <a:prstGeom prst="rect">
            <a:avLst/>
          </a:prstGeom>
        </p:spPr>
      </p:pic>
      <p:sp>
        <p:nvSpPr>
          <p:cNvPr id="22" name="QR Caption pptx">
            <a:hlinkClick r:id="rId10"/>
          </p:cNvPr>
          <p:cNvSpPr txBox="1"/>
          <p:nvPr/>
        </p:nvSpPr>
        <p:spPr>
          <a:xfrm>
            <a:off x="9537192" y="23408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000" spc="100" dirty="0">
                <a:solidFill>
                  <a:srgbClr val="C4D2F4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Folien als 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1144</TotalTime>
  <Words>13885</Words>
  <Application>Microsoft Macintosh PowerPoint</Application>
  <PresentationFormat>Widescreen</PresentationFormat>
  <Paragraphs>1503</Paragraphs>
  <Slides>37</Slides>
  <Notes>37</Notes>
  <HiddenSlides>5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Consolas</vt:lpstr>
      <vt:lpstr>Inter Text</vt:lpstr>
      <vt:lpstr>Arial</vt:lpstr>
      <vt:lpstr>Inter SemiBold Text SemiBold</vt:lpstr>
      <vt:lpstr>Inter Medium Text Medium</vt:lpstr>
      <vt:lpstr>Inter Light Text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Schubert Consulting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Syntax-Binding der EN 16931-1:2026</dc:title>
  <dc:subject>Update zu Syntax-Binding (DE)</dc:subject>
  <dc:creator>Svante Schubert</dc:creator>
  <cp:keywords/>
  <dc:description>ZUGFeRD Entwicklertage 2026</dc:description>
  <cp:lastModifiedBy>Svante Schubert</cp:lastModifiedBy>
  <cp:revision>58</cp:revision>
  <dcterms:created xsi:type="dcterms:W3CDTF">2026-06-19T07:48:12Z</dcterms:created>
  <dcterms:modified xsi:type="dcterms:W3CDTF">2026-10-15T08:47:41Z</dcterms:modified>
  <cp:category/>
</cp:coreProperties>
</file>