
<file path=[Content_Types].xml><?xml version="1.0" encoding="utf-8"?>
<Types xmlns="http://schemas.openxmlformats.org/package/2006/content-types">
  <Default Extension="fntdata" ContentType="application/x-fontdata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1"/>
  </p:sldMasterIdLst>
  <p:notesMasterIdLst>
    <p:notesMasterId r:id="rId15"/>
  </p:notesMasterIdLst>
  <p:sldIdLst>
    <p:sldId id="300" r:id="rId2"/>
    <p:sldId id="301" r:id="rId3"/>
    <p:sldId id="302" r:id="rId4"/>
    <p:sldId id="303" r:id="rId5"/>
    <p:sldId id="304" r:id="rId6"/>
    <p:sldId id="305" r:id="rId7"/>
    <p:sldId id="306" r:id="rId8"/>
    <p:sldId id="307" r:id="rId9"/>
    <p:sldId id="308" r:id="rId10"/>
    <p:sldId id="309" r:id="rId11"/>
    <p:sldId id="310" r:id="rId12"/>
    <p:sldId id="311" r:id="rId13"/>
    <p:sldId id="312" r:id="rId14"/>
  </p:sldIdLst>
  <p:sldSz cx="12192000" cy="6858000"/>
  <p:notesSz cx="6858000" cy="12192000"/>
  <p:embeddedFontLst>
    <p:embeddedFont>
      <p:font typeface="Consolas" panose="020B0609020204030204" pitchFamily="49" charset="0"/>
      <p:regular r:id="rId16"/>
      <p:bold r:id="rId17"/>
      <p:italic r:id="rId18"/>
      <p:boldItalic r:id="rId19"/>
    </p:embeddedFont>
    <p:embeddedFont>
      <p:font typeface="Inter Light Text Light" panose="02000503000000020004" pitchFamily="2" charset="0"/>
      <p:regular r:id="rId20"/>
    </p:embeddedFont>
    <p:embeddedFont>
      <p:font typeface="Inter Medium Text Medium" panose="02000503000000020004" pitchFamily="2" charset="0"/>
      <p:regular r:id="rId21"/>
    </p:embeddedFont>
    <p:embeddedFont>
      <p:font typeface="Inter SemiBold Text SemiBold" panose="02000503000000020004" pitchFamily="2" charset="0"/>
      <p:regular r:id="rId22"/>
    </p:embeddedFont>
    <p:embeddedFont>
      <p:font typeface="Inter Text" panose="02000503000000020004" pitchFamily="2" charset="0"/>
      <p:regular r:id="rId23"/>
      <p:bold r:id="rId2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3135"/>
    <p:restoredTop sz="94610"/>
  </p:normalViewPr>
  <p:slideViewPr>
    <p:cSldViewPr snapToGrid="0" snapToObjects="1">
      <p:cViewPr varScale="1">
        <p:scale>
          <a:sx n="123" d="100"/>
          <a:sy n="123" d="100"/>
        </p:scale>
        <p:origin x="216" y="5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829000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de-DE" sz="1200" dirty="0">
                <a:solidFill>
                  <a:srgbClr val="00000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Begrüßung. Mein Beitrag zu Workshop D: vier Fragen zur Datenqualität, beantwortet aus Sicht der Norm EN 16931 und des BMF-Schreibens vom 15. Oktober 2026.</a:t>
            </a:r>
            <a:endParaRPr lang="de-DE" sz="1200" dirty="0"/>
          </a:p>
          <a:p>
            <a:pPr marL="0" indent="0" algn="l">
              <a:buNone/>
            </a:pPr>
            <a:r>
              <a:rPr lang="de-DE" sz="1200" dirty="0">
                <a:solidFill>
                  <a:srgbClr val="00000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Vorstellen: Technical Editor Work Packages CEN/TC 434.</a:t>
            </a:r>
            <a:endParaRPr lang="de-DE" sz="1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de-DE" sz="1200" dirty="0">
                <a:solidFill>
                  <a:srgbClr val="00000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Vier Fragen, je etwa vier Minuten: Rundung, Bruttopreise, Freitext und Codes, Validierung. Am Ende je Frage eine Empfehlung.</a:t>
            </a:r>
            <a:endParaRPr lang="de-DE" sz="1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fn:round() rundet in XPath Halbe in Richtung +∞. Kaufmännisches Runden (Halbe weg von der Null) verlangen Abschnitt 14.5 UStAE, DIN 1333 und AFNOR XP Z12-012.</a:t>
            </a:r>
          </a:p>
          <a:p>
            <a:r>
              <a:rPr lang="de-DE" dirty="0"/>
              <a:t>Die Gutschrift-Zeile ist dezimal gerechnet — der einzige Unterschied ist die Rundungsregel. 1,005 scheitert aus beiden Gründen: Es ist binär als 1,00499999… gespeichert.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So entsteht die Abweichung — Schritt für Schritt (EN 16931-1:2026):</a:t>
            </a:r>
          </a:p>
          <a:p>
            <a:r>
              <a:rPr lang="de-DE" dirty="0"/>
              <a:t>1. Preis BT-146 (Faktor 1): darf nur Minor Unit + 2 Nachkommastellen haben (Tabelle 28; EUR: 4). Der exakte Preis — z. B. 0,123449 € aus Bruttopreis minus Rabatt oder aus einem Brutto-Kassenbon — wird einmal in 4 Stellen 'hineingedrückt': 0,1234 €. Fehler 0,000049 €, höchstens 0,00005 € (eine halbe Einheit der 4. Stelle).</a:t>
            </a:r>
          </a:p>
          <a:p>
            <a:r>
              <a:rPr lang="de-DE" dirty="0"/>
              <a:t>2. Zeilenbetrag BT-131 = Preis × Menge: Gerundet wird nicht je Stück — aber der gerundete Preis steckt in jedem Stück. Die Menge multipliziert den einen Preisfehler: 10.000 Stück × 0,000049 € = 0,49 € (WG1-Issue #148: 1.234,00 € statt 1.234,49 €). Höchstens Q × 0,00005 €.</a:t>
            </a:r>
          </a:p>
          <a:p>
            <a:r>
              <a:rPr lang="de-DE" dirty="0"/>
              <a:t>3. Dazu rundet BT-131 auf die Minor Unit (EUR: Cent): noch einmal bis zu 0,005 €. Je Zeile also bis zu Q × 0,00005 € + 0,005 € — das zeigt die erste Tabellenzeile (100 Stück: 0,005 € + 0,005 € = 0,01 €; 10.000 Stück: 0,50 € + 0,005 € = 0,505 €; 1.000.000 Stück: 50,00 € + 0,005 € = 50,005 €).</a:t>
            </a:r>
          </a:p>
          <a:p>
            <a:r>
              <a:rPr lang="de-DE" dirty="0"/>
              <a:t>4. Summen BT-106 und BT-116 (Faktor 2) addieren n Zeilen. Im schlimmsten Fall in dieselbe Richtung: n × (Q × 0,00005 € + 0,005 €). Die erste Tabellenzeile zeigt den Fehler je Zeile als Summe der beiden Teile (Preis × Menge + Cent-Rundung); jede weitere Zeile ist Zeilenanzahl × dieser Wert.</a:t>
            </a:r>
          </a:p>
          <a:p>
            <a:r>
              <a:rPr lang="de-DE" dirty="0"/>
              <a:t>Zum Nachrechnen: 100 Zeilen à 10.000 Stück → je Zeile 10.000 × 0,00005 € + 0,005 € = 0,505 € → × 100 Zeilen = 50,50 € netto. USt: 19 % × 50,50 € = 9,595 € → bis zu 9,60 €.</a:t>
            </a:r>
          </a:p>
          <a:p>
            <a:r>
              <a:rPr lang="de-DE" dirty="0"/>
              <a:t>Die Ecke der Tabelle: 10.000 Zeilen à 1.000.000 Stück → je Zeile 1.000.000 × 0,00005 € + 0,005 € = 50,005 € → × 10.000 Zeilen = 500.050 €. Extrem, aber es zeigt: nach oben offen. Große Mengen gibt es z. B. bei Energie (kWh), Kleinteilen oder Datenvolumen.</a:t>
            </a:r>
          </a:p>
          <a:p>
            <a:r>
              <a:rPr lang="de-DE" dirty="0"/>
              <a:t>Warum der Preis schwerer wiegt als die Zeilen: Der Preisfehler gleicht sich innerhalb einer Zeile nie aus, er wird mit der Menge voll multipliziert. Über viele Zeilen gleichen sich Rundungen dagegen teilweise aus; die Tabelle zeigt die Obergrenze.</a:t>
            </a:r>
          </a:p>
          <a:p>
            <a:r>
              <a:rPr lang="de-DE" dirty="0"/>
              <a:t>Ebenso ist BT-129 (Menge) auf 4 Nachkommastellen begrenzt: Bei teuren Artikeln fehlen je Zeile bis zu 0,00005 × Preis (z. B. 0,00005 kg × 20.000 €/kg = 1,00 €).</a:t>
            </a:r>
          </a:p>
          <a:p>
            <a:r>
              <a:rPr lang="de-DE" dirty="0"/>
              <a:t>Die Toleranzen der 2026er Regeln (bis 1 EUR, z. B. BR-S-9) fangen nur kleine Abweichungen auf — und verstecken die Ursache. Mit #163 trennen dieselben Toleranzen Warnung von Fehler: Die Abweichung wird sichtbar statt versteckt.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github.com/ConnectingEurope/CEN-TC434-WG1/issues/163 — 'Round only once: no rounding of intermediate values, only of the amounts that are paid are being rounded' (Update 3 vom 14.10.2026).</a:t>
            </a:r>
          </a:p>
          <a:p>
            <a:r>
              <a:rPr lang="de-DE" dirty="0"/>
              <a:t>Die EN 16931-1:2026 sagt in 6.5.14 schon das Richtige: gerundet wird das Endergebnis, nicht Zwischenergebnisse. Das gilt aber nur je Regel; Tabelle 28 und der erste Spiegelstrich von 6.5.14 zwingen jedes Ergebnis wieder auf Cent, bevor es in die nächste Regel geht. Deshalb braucht es Toleranzen bis 1 EUR (BR-S-9, BR-IG-9, BR-IP-9).</a:t>
            </a:r>
          </a:p>
          <a:p>
            <a:r>
              <a:rPr lang="de-DE" dirty="0"/>
              <a:t>Update 3: Gerundet wird nur, was bezahlt wird — der Zahlbetrag BT-115 und die Beträge, die ihn ändern: BT-113 (gezahlter Betrag), BT-172 (Skontobetrag), BT-179 (Gebühren im Namen Dritter), BT-183 (Verzugsbetrag). Sie stehen in der Minor Unit der Währung (ISO 4217, Spalte 'minor unit'; EUR: Cent) — die Bank überweist keine kleineren Beträge. BT-114 (Rundungsbetrag) trägt die eine Rundung. Alles andere, auch die USt, steht so genau da, wie der Aussteller rechnet.</a:t>
            </a:r>
          </a:p>
          <a:p>
            <a:r>
              <a:rPr lang="de-DE" dirty="0"/>
              <a:t>Die USt wird nicht je Rechnung überwiesen, sondern mit der Steuererklärung (Art. 206 MwStSystRL). Wie die USt einer Rechnung gerundet wird, ist nationales Recht: Verlangt es Cent — in Deutschland UStAE 14.5 (20) 'nach Cent genau' —, schränkt eine nationale CIUS BT-110 und BT-117 auf die Minor Unit ein (EN 16931-1:2026, Tabelle 29: 'Restrict allowed fraction digits'). Die Kern-Validierung meldet das als Warnung.</a:t>
            </a:r>
          </a:p>
          <a:p>
            <a:r>
              <a:rPr lang="de-DE" dirty="0"/>
              <a:t>Validierung: exakt aus den angegebenen Werten, bei unendlichen Divisionen mit 34 Stellen (IEEE 754 decimal128). Gleich: gültig. Innerhalb der heutigen Toleranz: gültig mit Warnung — ob die Abweichung akzeptiert wird, entscheidet die Finanzverwaltung; eine Warnung schützt nicht vor Sanktionen. Außerhalb: Fehler. Für Summen gilt 0,005 × (1 + Anzahl der Summanden), wie in #164 vorgeschlagen. Die Toleranzen bleiben, eine Übergangszeit ist nicht nötig: Jede heute gültige Rechnung bleibt gültig, höchstens mit Warnung.</a:t>
            </a:r>
          </a:p>
          <a:p>
            <a:r>
              <a:rPr lang="de-DE" dirty="0"/>
              <a:t>Empfänger validieren mit dieser Genauigkeit, buchen den Zahlbetrag BT-115 und dürfen alle anderen Werte intern runden; die Originalrechnung bleibt gespeichert (Art. 233 und 244 MwStSystRL). Ab 1. Juli 2030 braucht eine EN-16931-konforme E-Rechnung keine Zustimmung des Empfängers mehr (neuer Art. 232, ViDA).</a:t>
            </a:r>
          </a:p>
          <a:p>
            <a:r>
              <a:rPr lang="de-DE" dirty="0"/>
              <a:t>Beispiel Kassenbon → Rechnung (#148): 1.000 × 9,99 € inkl. 19 % USt = 9.990,00 € mit 1.595,04 € USt. Heute (BT-146 mit 4 Stellen: 8,3950) ergibt die Rechnung 9.990,05 € — 5 Cent zu viel, USt 1 Cent zu hoch. Mit #163 und 10 Stellen (8,3949579832): Zahlbetrag 9.990,00 €, BT-114 = −0,000000008. Mit USt in Cent, wo das Gesetz es verlangt: 1.595,04 € (Warnung), Zahlbetrag 9.990,00 €.</a:t>
            </a:r>
          </a:p>
          <a:p>
            <a:r>
              <a:rPr lang="de-DE" dirty="0"/>
              <a:t>Diskussion: Die Trennung in Warnung und Fehler greift die dritte Option von Cyrille Sautereau (FR) auf. Offen sind DRR-Meldungen mit Cent-Zeilen (FR: PPF nimmt bis 6 Stellen an) und die Rückwärtskompatibilität (Paul Simons). Die WG1 hat 2020 schon beschlossen, die Begrenzung von BT-131 aufzuheben (Issue #7).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de-DE" sz="1200" dirty="0">
                <a:solidFill>
                  <a:srgbClr val="00000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BMF-Schreiben vom 15. Oktober 2026 (III C 5 - S 7287-a/00019/021/017), Abschnitt 2.5 Bruttopreisrechnung, Rn. 17 bis 19.</a:t>
            </a:r>
            <a:endParaRPr lang="de-DE" sz="1200" dirty="0"/>
          </a:p>
          <a:p>
            <a:pPr marL="0" indent="0" algn="l">
              <a:buNone/>
            </a:pPr>
            <a:r>
              <a:rPr lang="de-DE" sz="1200" dirty="0">
                <a:solidFill>
                  <a:srgbClr val="00000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Rn. 17: Entgelt = Gegenleistung abzüglich USt (§ 10 Abs. 1 UStG); der Steuerbetrag ist nach Cent genau zu berechnen und kaufmännisch zu runden (UStAE 14.5 Abs. 20).</a:t>
            </a:r>
            <a:endParaRPr lang="de-DE" sz="1200" dirty="0"/>
          </a:p>
          <a:p>
            <a:pPr marL="0" indent="0" algn="l">
              <a:buNone/>
            </a:pPr>
            <a:r>
              <a:rPr lang="de-DE" sz="1200" dirty="0">
                <a:solidFill>
                  <a:srgbClr val="00000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Rn. 18: Das Kern-Datenmodell der EN 16931 rechnet vom Entgelt; bei Bruttobeträgen (z. B. Buchpreisbindung) kann es zu Rundungsdifferenzen kommen, sodass Norm oder steuerliche Rundungsregel nicht eingehalten werden können. Ein Bruttorechnungs-Format ist eine zivilrechtliche Frage zwischen den Vertragsparteien.</a:t>
            </a:r>
            <a:endParaRPr lang="de-DE" sz="1200" dirty="0"/>
          </a:p>
          <a:p>
            <a:pPr marL="0" indent="0" algn="l">
              <a:buNone/>
            </a:pPr>
            <a:r>
              <a:rPr lang="de-DE" sz="1200" dirty="0">
                <a:solidFill>
                  <a:srgbClr val="00000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Rn. 19: Für XRechnung und ZUGFeRD gibt es derzeit kein Bruttorechnungs-Format. Bis 31.12.2027 wird nicht beanstandet, wenn der strukturierte Teil nur die Gesamtsummen je Steuersatz und Steuerbefreiung, den Steuersatz und den Steuerbetrag enthält; die Einzelpositionen stehen in einer menschenlesbaren, eingebetteten Anlage, auf die eindeutig hinzuweisen ist.</a:t>
            </a:r>
            <a:endParaRPr lang="de-DE" sz="1200" dirty="0"/>
          </a:p>
          <a:p>
            <a:pPr marL="0" indent="0" algn="l">
              <a:buNone/>
            </a:pPr>
            <a:r>
              <a:rPr lang="de-DE" sz="1200" dirty="0">
                <a:solidFill>
                  <a:srgbClr val="00000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Überleitung: Mein Vorschlag #164 bringt Bruttopreise in die Norm (nächste Folie).</a:t>
            </a:r>
            <a:endParaRPr lang="de-DE" sz="1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github.com/ConnectingEurope/CEN-TC434-WG1/issues/164 — 'Gross price model: use Item net price plus VAT as the leading price and extract the VAT once per VAT category'.</a:t>
            </a:r>
          </a:p>
          <a:p>
            <a:r>
              <a:rPr lang="de-DE" dirty="0"/>
              <a:t>Die EN 16931 kennt nur das Nettomodell: Nettopreise summieren, USt aufschlagen. Viele Preise sind aber inklusive USt festgelegt: Buchpreisbindung (§ 5 BuchPrG), Kassenbons oberhalb der Kleinbetragsgrenze, Händler und Marktplätze, gesetzlich festgesetzte Preise.</a:t>
            </a:r>
          </a:p>
          <a:p>
            <a:r>
              <a:rPr lang="de-DE" dirty="0"/>
              <a:t>Vorschlag: zwei Rechenmodelle, jede Rechnung nutzt genau eins. Im Bruttomodell wird die USt je Kategorie einmal herausgerechnet: BT-117 = BT-116V × BT-119 ÷ (100 + BT-119), von der Norm nicht gerundet (Cent nur, wo nationales Recht es verlangt — unter #163 eine Warnung); BT-116 = BT-116V − BT-117. Neue Business Terms mit Suffix V ('plus VAT'), z. B. BT-146V, BT-131V, BT-116V — 'gross' ist in der EN 16931 schon für den Preis vor Rabatt (BT-148) vergeben.</a:t>
            </a:r>
          </a:p>
          <a:p>
            <a:r>
              <a:rPr lang="de-DE" dirty="0"/>
              <a:t>Beispiel: 1.000 Bücher à 24,95 € inkl. 7 % USt = 24.950,00 € mit 1.632,24 € USt. Das Nettomodell der EN 16931-1:2026 (BT-146 mit 4 Nachkommastellen: 23,3178) ergibt 24.950,05 € und 1.632,25 € USt. Es gibt keinen Wert in der Toleranz von BR-CO-32, der 24.950,00 € mit korrekt gerundeter USt ergibt.</a:t>
            </a:r>
          </a:p>
          <a:p>
            <a:r>
              <a:rPr lang="de-DE" dirty="0"/>
              <a:t>Ergänzt #163: In beiden Modellen werden nur die gezahlten Beträge gerundet, etwa der Zahlbetrag BT-115; die herausgerechnete USt BT-117 steht wie berechnet, in Cent nur nach nationalem Recht (Warnung). Im Beispiel ist das die einzige Rundung: 1.632,24299… € werden 1.632,24 €, weil UStAE 14.5 (20) Cent verlangt. BT-146 wird im Bruttomodell als abgeleiteter Informationspreis mit einer halben Einheit seiner letzten Stelle geprüft — ohne Warnung, weil er in keine Rechnung eingeht. In der Diskussion schlägt Paul Simons alternativ Kategorie N mit Befreiungsgrund vor; Cyrille Sautereau unterstützt Bruttopreise im Modell, mit Indikator.</a:t>
            </a:r>
          </a:p>
          <a:p>
            <a:r>
              <a:rPr lang="de-DE" dirty="0"/>
              <a:t>Heute oft unmöglich (#163, Abschnitt 'Gross prices'): Mit Netto und USt in der Minor Unit (EUR: Cent) erreicht eine Rechnung bei 19 % USt nur 100 von 119 Bruttobeträgen; 19 von 119 (16 %) fallen weg, z. B. 9,99 € (8,39 + 1,59 = 9,98; 8,40 + 1,60 = 10,00). Bei 7 % USt sind es 7/107 (7 %), bei 20 % 20/120 (17 %), bei 21 % 21/121 (17 %). Simulation mit Dezimalarithmetik, zufällige Bruttobeträge: 1 Zeile 16 %, 2 Zeilen 34 %, 5 Zeilen 52 %, 10 Zeilen 66 %, 35 Zeilen 81 % treffen die Kassenbon-Summe nicht ohne Umgehung.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de-DE" sz="1200" dirty="0">
                <a:solidFill>
                  <a:srgbClr val="00000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Freitext ist für Menschen gedacht; Software kann ihn nicht sicher auswerten. Eindeutig ist nur ein Code aus einer Codeliste, die beide Seiten kennen.</a:t>
            </a:r>
            <a:endParaRPr lang="de-DE" sz="1200" dirty="0"/>
          </a:p>
          <a:p>
            <a:pPr marL="0" indent="0" algn="l">
              <a:buNone/>
            </a:pPr>
            <a:r>
              <a:rPr lang="de-DE" sz="1200" dirty="0">
                <a:solidFill>
                  <a:srgbClr val="00000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Beispiele aus EN 16931-1:2026, Tabelle 2: BT-120 VAT exemption reason text gegen BT-121 VAT exemption reason and specification code (VATEX); BT-97 Document level allowance reason gegen BT-98 Document level allowance reason code (UNTDID 5189, 95 = Discount); BT-130 Invoiced quantity unit of measure code ist Pflicht (UN/ECE Rec. 20, H87 = piece); Skonto bisher als Freitext in BT-20 Payment term text, seit 2026 strukturiert in BG-35 EARLY PAYMENT DISCOUNT.</a:t>
            </a:r>
            <a:endParaRPr lang="de-DE" sz="1200" dirty="0"/>
          </a:p>
          <a:p>
            <a:pPr marL="0" indent="0" algn="l">
              <a:buNone/>
            </a:pPr>
            <a:r>
              <a:rPr lang="de-DE" sz="1200" dirty="0">
                <a:solidFill>
                  <a:srgbClr val="00000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BMF-Schreiben vom 15. Oktober 2026: Rn. 3 – bis 30.06.2030 genügt bei Endrechnungen die Summe der Teilentgelte in BT-113 Paid amount mit Details als Freitext in BT-22 Invoice note. Rn. 12 – Leistungsart, -umfang, -gehalt und ggf. -ort müssen im strukturierten Teil stehen; weitere Details dürfen in einen eingebetteten Anhang.</a:t>
            </a:r>
            <a:endParaRPr lang="de-DE" sz="1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de-DE" sz="1200" dirty="0">
                <a:solidFill>
                  <a:srgbClr val="00000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Grün im EU-Validator heißt nur: Die Datei erfüllt die Pflichtfelder, Codes und Geschäftsregeln der EN 16931 (innerster Kreis). Die weiteren Kreise bringen zusätzliche Pflichtangaben, die das Artefakt nicht kennt.</a:t>
            </a:r>
            <a:endParaRPr lang="de-DE" sz="1200" dirty="0"/>
          </a:p>
          <a:p>
            <a:pPr marL="0" indent="0" algn="l">
              <a:buNone/>
            </a:pPr>
            <a:r>
              <a:rPr lang="de-DE" sz="1200" dirty="0">
                <a:solidFill>
                  <a:srgbClr val="00000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EU-Recht: Art. 226 MwStSystRL verlangt z. B. das Datum der Lieferung, wenn es vom Rechnungsdatum abweicht; in der EN 16931 ist BT-72 Actual delivery date optional (0..1).</a:t>
            </a:r>
            <a:endParaRPr lang="de-DE" sz="1200" dirty="0"/>
          </a:p>
          <a:p>
            <a:pPr marL="0" indent="0" algn="l">
              <a:buNone/>
            </a:pPr>
            <a:r>
              <a:rPr lang="de-DE" sz="1200" dirty="0">
                <a:solidFill>
                  <a:srgbClr val="00000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Nationales Recht: §§ 14, 14a UStG; welche Pflichtangabe in welches BT gehört, zeigt die Zuordnungstabelle von KoSIT und FeRD (BMF-Schreiben vom 15.10.2026, Rn. 8 und 9). B2G zusätzlich: Leitweg-ID (XRechnung, ERechV).</a:t>
            </a:r>
            <a:endParaRPr lang="de-DE" sz="1200" dirty="0"/>
          </a:p>
          <a:p>
            <a:pPr marL="0" indent="0" algn="l">
              <a:buNone/>
            </a:pPr>
            <a:r>
              <a:rPr lang="de-DE" sz="1200" dirty="0">
                <a:solidFill>
                  <a:srgbClr val="00000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Branche: z. B. Bauleistungen mit Leistungsverzeichnis, das derzeit nicht in den strukturierten Teil passt (BMF 15.10.2026, Rn. 13 und 14).</a:t>
            </a:r>
            <a:endParaRPr lang="de-DE" sz="1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de-DE" sz="1200" dirty="0">
                <a:solidFill>
                  <a:srgbClr val="00000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BMF-Schreiben vom 15. Oktober 2026, Abschnitt 3.2: Rn. 22 – ein Geschäftsregelfehler ist kein Formatfehler; nur wenn er eine umsatzsteuerliche Pflichtangabe betrifft, folgt ein Inhaltsfehler. Rn. 23 – technisch macht schon eine verletzte Geschäftsregel die Datei zur Nicht-E-Rechnung; umsatzsteuerlich bleibt sie eine E-Rechnung nach § 14 UStG, entscheidend sind richtige und vollständige Pflichtangaben nach §§ 14, 14a UStG.</a:t>
            </a:r>
            <a:endParaRPr lang="de-DE" sz="1200" dirty="0"/>
          </a:p>
          <a:p>
            <a:pPr marL="0" indent="0" algn="l">
              <a:buNone/>
            </a:pPr>
            <a:r>
              <a:rPr lang="de-DE" sz="1200" dirty="0">
                <a:solidFill>
                  <a:srgbClr val="00000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Was Grün nicht zeigt: XSLT rechnet ohne Typangabe binär (xs:double), siehe Folien zur exakten Rechnungsarithmetik; die Rechenregeln der Norm lassen Toleranzen bis 1 EUR zu (z. B. BR-S-9); die Arbeit an den Validierungsartefakten ist wegen offener Copyright-Fragen unterbrochen.</a:t>
            </a:r>
            <a:endParaRPr lang="de-DE" sz="1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de-DE" sz="1200" dirty="0">
                <a:solidFill>
                  <a:srgbClr val="00000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Je Frage eine Empfehlung mit Begründung: Rundung (UStAE 14.5 Abs. 20), Bruttopreise (BMF Rn. 19), Codes und Zuordnungstabelle (BMF Rn. 8), Prüfung über Grün hinaus (BMF Rn. 23).</a:t>
            </a:r>
            <a:endParaRPr lang="de-DE" sz="1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de-DE" sz="1200" dirty="0">
                <a:solidFill>
                  <a:srgbClr val="00000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Überleitung zur Diskussion: Welche Rechnungsdaten müssen Unternehmen künftig wirklich liefern, damit die E-Rechnung im Alltag funktioniert?</a:t>
            </a:r>
            <a:endParaRPr lang="de-DE" sz="1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de-DE" sz="1200" dirty="0">
                <a:solidFill>
                  <a:srgbClr val="00000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Dank. Kontakt für Fragen nach dem Workshop; die Folien gibt es über den QR-Code als PPTX und auf der Titelfolie als PDF.</a:t>
            </a:r>
            <a:endParaRPr lang="de-DE" sz="1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hyperlink" Target="https://svanteschubert.github.io/testy/E-Rechnungs-Gipfel_2026_SvanteSchubert_Datenqualitaet_DE.pdf" TargetMode="Externa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svante-schubert-2913232/" TargetMode="External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www.linkedin.com/in/svante-schubert-2913232/" TargetMode="Externa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svante-schubert-2913232/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www.linkedin.com/in/svante-schubert-2913232/" TargetMode="Externa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hyperlink" Target="https://www.linkedin.com/in/svante-schubert-2913232/" TargetMode="External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12.png"/><Relationship Id="rId4" Type="http://schemas.openxmlformats.org/officeDocument/2006/relationships/image" Target="../media/image9.png"/><Relationship Id="rId9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svante-schubert-2913232/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www.linkedin.com/in/svante-schubert-2913232/" TargetMode="Externa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svante-schubert-2913232/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www.linkedin.com/in/svante-schubert-2913232/" TargetMode="Externa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svante-schubert-2913232/" TargetMode="External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3.png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www.linkedin.com/in/svante-schubert-2913232/" TargetMode="External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svanteschubert.github.io/testy/E-Rechnungs-Gipfel_2026_SvanteSchubert_Datenqualitaet_DE.pptx" TargetMode="External"/><Relationship Id="rId5" Type="http://schemas.openxmlformats.org/officeDocument/2006/relationships/hyperlink" Target="https://www.linkedin.com/in/svante-schubert-2913232/" TargetMode="Externa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Folie 1">
    <p:bg>
      <p:bgPr>
        <a:solidFill>
          <a:srgbClr val="0F1B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ackground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Header 4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950" spc="100" dirty="0">
                <a:solidFill>
                  <a:srgbClr val="9FB0D8"/>
                </a:solidFill>
                <a:latin typeface="Inter Medium Text Medium" pitchFamily="34" charset="0"/>
                <a:ea typeface="Inter Medium Text Medium" pitchFamily="34" charset="-122"/>
                <a:cs typeface="Inter Medium Text Medium" pitchFamily="34" charset="-120"/>
              </a:rPr>
              <a:t>E-Rechnungs-Gipfel Umsetzungstage 2026</a:t>
            </a:r>
            <a:r>
              <a:rPr lang="de-DE" sz="950" spc="100" dirty="0">
                <a:solidFill>
                  <a:srgbClr val="44598F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   ·   </a:t>
            </a:r>
            <a:r>
              <a:rPr lang="de-DE" sz="950" spc="100" dirty="0">
                <a:solidFill>
                  <a:srgbClr val="7E91C4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Workshop D · Datenqualität in der E-Rechnung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822960" y="1783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1400" spc="400" dirty="0">
                <a:solidFill>
                  <a:srgbClr val="19C3C8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E-RECHNUNGS-GIPFEL · UMSETZUNGSTAGE 2026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795528" y="2240280"/>
            <a:ext cx="10515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de-DE" sz="6000" dirty="0">
                <a:solidFill>
                  <a:srgbClr val="DCE6FF"/>
                </a:solidFill>
                <a:latin typeface="Inter Light Text Light" pitchFamily="34" charset="0"/>
                <a:ea typeface="Inter Light Text Light" pitchFamily="34" charset="-122"/>
                <a:cs typeface="Inter Light Text Light" pitchFamily="34" charset="-120"/>
              </a:rPr>
              <a:t>Formal gültig,</a:t>
            </a:r>
          </a:p>
          <a:p>
            <a:pPr marL="0" indent="0" algn="l">
              <a:lnSpc>
                <a:spcPct val="98000"/>
              </a:lnSpc>
              <a:buNone/>
            </a:pPr>
            <a:r>
              <a:rPr lang="de-DE" sz="5800" b="1" dirty="0">
                <a:solidFill>
                  <a:srgbClr val="FFFFFF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fachlich unbrauchbar?</a:t>
            </a:r>
          </a:p>
        </p:txBody>
      </p:sp>
      <p:sp>
        <p:nvSpPr>
          <p:cNvPr id="7" name="Text 7"/>
          <p:cNvSpPr txBox="1"/>
          <p:nvPr/>
        </p:nvSpPr>
        <p:spPr>
          <a:xfrm>
            <a:off x="822960" y="434340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de-DE" sz="1600" dirty="0">
                <a:solidFill>
                  <a:srgbClr val="C4D2F4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Workshop D: Datenqualität in der E-Rechnung als Realitätscheck · Frankfurt am Main, 26. bis 28. Oktober 2026</a:t>
            </a:r>
          </a:p>
        </p:txBody>
      </p:sp>
      <p:sp>
        <p:nvSpPr>
          <p:cNvPr id="8" name="Shape 8"/>
          <p:cNvSpPr/>
          <p:nvPr/>
        </p:nvSpPr>
        <p:spPr>
          <a:xfrm>
            <a:off x="822960" y="5532120"/>
            <a:ext cx="457200" cy="457200"/>
          </a:xfrm>
          <a:prstGeom prst="ellipse">
            <a:avLst/>
          </a:prstGeom>
          <a:solidFill>
            <a:srgbClr val="19C3C8"/>
          </a:solidFill>
          <a:ln>
            <a:noFill/>
          </a:ln>
          <a:effectLst>
            <a:outerShdw blurRad="88900" dist="38100" dir="5400000" algn="bl" rotWithShape="0">
              <a:srgbClr val="0A123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pic>
        <p:nvPicPr>
          <p:cNvPr id="9" name="Imag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832" y="5650992"/>
            <a:ext cx="219456" cy="219456"/>
          </a:xfrm>
          <a:prstGeom prst="rect">
            <a:avLst/>
          </a:prstGeom>
        </p:spPr>
      </p:pic>
      <p:sp>
        <p:nvSpPr>
          <p:cNvPr id="10" name="Text 10"/>
          <p:cNvSpPr txBox="1"/>
          <p:nvPr/>
        </p:nvSpPr>
        <p:spPr>
          <a:xfrm>
            <a:off x="1463040" y="548640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de-DE" sz="1400" dirty="0">
                <a:solidFill>
                  <a:srgbClr val="FFFFFF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Svante Schubert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de-DE" sz="1200" dirty="0">
                <a:solidFill>
                  <a:srgbClr val="C4D2F4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Technical Editor Work Packages CEN/TC 434</a:t>
            </a:r>
          </a:p>
        </p:txBody>
      </p:sp>
      <p:sp>
        <p:nvSpPr>
          <p:cNvPr id="11" name="QR Card pdf"/>
          <p:cNvSpPr/>
          <p:nvPr/>
        </p:nvSpPr>
        <p:spPr>
          <a:xfrm>
            <a:off x="9537192" y="2359152"/>
            <a:ext cx="18288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bl" rotWithShape="0">
              <a:srgbClr val="0A1230">
                <a:alpha val="3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pic>
        <p:nvPicPr>
          <p:cNvPr id="12" name="QR Slides pdf" descr="QR-Code: Folien als PDF (https://svanteschubert.github.io/testy/E-Rechnungs-Gipfel_2026_SvanteSchubert_Datenqualitaet_DE.pdf)">
            <a:hlinkClick r:id="rId5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10344" y="2432304"/>
            <a:ext cx="1682496" cy="1682496"/>
          </a:xfrm>
          <a:prstGeom prst="rect">
            <a:avLst/>
          </a:prstGeom>
        </p:spPr>
      </p:pic>
      <p:sp>
        <p:nvSpPr>
          <p:cNvPr id="13" name="QR Caption pdf">
            <a:hlinkClick r:id="rId5"/>
          </p:cNvPr>
          <p:cNvSpPr txBox="1"/>
          <p:nvPr/>
        </p:nvSpPr>
        <p:spPr>
          <a:xfrm>
            <a:off x="9171432" y="424281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de-DE" sz="1000" spc="100" dirty="0">
                <a:solidFill>
                  <a:srgbClr val="C4D2F4"/>
                </a:solidFill>
                <a:latin typeface="Inter Medium Text Medium" pitchFamily="34" charset="0"/>
                <a:ea typeface="Inter Medium Text Medium" pitchFamily="34" charset="-122"/>
                <a:cs typeface="Inter Medium Text Medium" pitchFamily="34" charset="-120"/>
              </a:rPr>
              <a:t>Folien als PDF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Folie 2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Header 3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950" spc="100" dirty="0">
                <a:solidFill>
                  <a:srgbClr val="5B6890"/>
                </a:solidFill>
                <a:latin typeface="Inter Medium Text Medium" pitchFamily="34" charset="0"/>
                <a:ea typeface="Inter Medium Text Medium" pitchFamily="34" charset="-122"/>
                <a:cs typeface="Inter Medium Text Medium" pitchFamily="34" charset="-120"/>
              </a:rPr>
              <a:t>E-Rechnungs-Gipfel Umsetzungstage 2026</a:t>
            </a:r>
            <a:r>
              <a:rPr lang="de-DE" sz="950" spc="100" dirty="0">
                <a:solidFill>
                  <a:srgbClr val="C2CADE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   ·   </a:t>
            </a:r>
            <a:r>
              <a:rPr lang="de-DE" sz="950" spc="10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Workshop D · Datenqualität in der E-Rechnung</a:t>
            </a:r>
          </a:p>
        </p:txBody>
      </p:sp>
      <p:sp>
        <p:nvSpPr>
          <p:cNvPr id="4" name="SectionLabel 4"/>
          <p:cNvSpPr txBox="1"/>
          <p:nvPr/>
        </p:nvSpPr>
        <p:spPr>
          <a:xfrm>
            <a:off x="82296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1100" spc="300" dirty="0">
                <a:solidFill>
                  <a:srgbClr val="19C3C8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WORKSHOP D · MEIN BEITRAG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804672" y="1115568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de-DE" sz="3800" b="1" dirty="0">
                <a:solidFill>
                  <a:srgbClr val="1A2B5E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Vier Fragen an die E-Rechnung</a:t>
            </a:r>
          </a:p>
        </p:txBody>
      </p:sp>
      <p:sp>
        <p:nvSpPr>
          <p:cNvPr id="6" name="Speaker 6">
            <a:hlinkClick r:id="rId3"/>
          </p:cNvPr>
          <p:cNvSpPr txBox="1"/>
          <p:nvPr/>
        </p:nvSpPr>
        <p:spPr>
          <a:xfrm>
            <a:off x="7680960" y="6514592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de-DE" sz="1000" spc="100" dirty="0">
                <a:solidFill>
                  <a:srgbClr val="9AA4C2"/>
                </a:solidFill>
                <a:latin typeface="Inter Medium Text Medium" pitchFamily="34" charset="0"/>
                <a:ea typeface="Inter Medium Text Medium" pitchFamily="34" charset="-122"/>
                <a:cs typeface="Inter Medium Text Medium" pitchFamily="34" charset="-120"/>
              </a:rPr>
              <a:t>© Svante Schubert</a:t>
            </a:r>
          </a:p>
        </p:txBody>
      </p:sp>
      <p:sp>
        <p:nvSpPr>
          <p:cNvPr id="7" name="PageNum 7"/>
          <p:cNvSpPr txBox="1"/>
          <p:nvPr/>
        </p:nvSpPr>
        <p:spPr>
          <a:xfrm>
            <a:off x="10908792" y="651459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fld id="{09BE5234-8790-48A3-8D10-AE80C9E99563}" type="slidenum">
              <a:rPr lang="de-DE" sz="1000" spc="200" dirty="0">
                <a:solidFill>
                  <a:srgbClr val="5B6890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2</a:t>
            </a:fld>
            <a:endParaRPr lang="de-DE" sz="1000" spc="200" dirty="0">
              <a:solidFill>
                <a:srgbClr val="5B6890"/>
              </a:solidFill>
              <a:latin typeface="Inter SemiBold Text SemiBold" pitchFamily="34" charset="0"/>
              <a:ea typeface="Inter SemiBold Text SemiBold" pitchFamily="34" charset="-122"/>
              <a:cs typeface="Inter SemiBold Text SemiBold" pitchFamily="34" charset="-120"/>
            </a:endParaRPr>
          </a:p>
        </p:txBody>
      </p:sp>
      <p:sp>
        <p:nvSpPr>
          <p:cNvPr id="8" name="Card 8"/>
          <p:cNvSpPr/>
          <p:nvPr/>
        </p:nvSpPr>
        <p:spPr>
          <a:xfrm>
            <a:off x="822960" y="5303520"/>
            <a:ext cx="10543032" cy="86868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  <a:effectLst>
            <a:outerShdw blurRad="101600" dist="38100" dir="5400000" algn="bl" rotWithShape="0">
              <a:srgbClr val="0A1230">
                <a:alpha val="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9" name="IconCircle 9"/>
          <p:cNvSpPr/>
          <p:nvPr/>
        </p:nvSpPr>
        <p:spPr>
          <a:xfrm>
            <a:off x="1078992" y="5554980"/>
            <a:ext cx="365760" cy="365760"/>
          </a:xfrm>
          <a:prstGeom prst="ellipse">
            <a:avLst/>
          </a:prstGeom>
          <a:solidFill>
            <a:srgbClr val="1A2B5E"/>
          </a:solidFill>
          <a:ln>
            <a:noFill/>
          </a:ln>
          <a:effectLst>
            <a:outerShdw blurRad="88900" dist="38100" dir="5400000" algn="bl" rotWithShape="0">
              <a:srgbClr val="0A123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pic>
        <p:nvPicPr>
          <p:cNvPr id="10" name="Icon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9576" y="5655564"/>
            <a:ext cx="164592" cy="164592"/>
          </a:xfrm>
          <a:prstGeom prst="rect">
            <a:avLst/>
          </a:prstGeom>
        </p:spPr>
      </p:pic>
      <p:sp>
        <p:nvSpPr>
          <p:cNvPr id="11" name="Text 11"/>
          <p:cNvSpPr txBox="1"/>
          <p:nvPr/>
        </p:nvSpPr>
        <p:spPr>
          <a:xfrm>
            <a:off x="10497312" y="5303520"/>
            <a:ext cx="640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de-DE" sz="2000" dirty="0">
                <a:solidFill>
                  <a:srgbClr val="DDE3F1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04</a:t>
            </a:r>
          </a:p>
        </p:txBody>
      </p:sp>
      <p:sp>
        <p:nvSpPr>
          <p:cNvPr id="12" name="Text 12"/>
          <p:cNvSpPr txBox="1"/>
          <p:nvPr/>
        </p:nvSpPr>
        <p:spPr>
          <a:xfrm>
            <a:off x="1664208" y="5527548"/>
            <a:ext cx="3291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140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EU-Validierungsartefakte</a:t>
            </a:r>
          </a:p>
        </p:txBody>
      </p:sp>
      <p:sp>
        <p:nvSpPr>
          <p:cNvPr id="13" name="Text 13"/>
          <p:cNvSpPr txBox="1"/>
          <p:nvPr/>
        </p:nvSpPr>
        <p:spPr>
          <a:xfrm>
            <a:off x="5166360" y="5509260"/>
            <a:ext cx="5285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de-DE" sz="115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Was sagt uns ein grünes Prüfergebnis tatsächlich?</a:t>
            </a:r>
          </a:p>
        </p:txBody>
      </p:sp>
      <p:sp>
        <p:nvSpPr>
          <p:cNvPr id="20" name="Card 20"/>
          <p:cNvSpPr/>
          <p:nvPr/>
        </p:nvSpPr>
        <p:spPr>
          <a:xfrm>
            <a:off x="822960" y="4251960"/>
            <a:ext cx="10543032" cy="86868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  <a:effectLst>
            <a:outerShdw blurRad="101600" dist="38100" dir="5400000" algn="bl" rotWithShape="0">
              <a:srgbClr val="0A1230">
                <a:alpha val="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1" name="IconCircle 21"/>
          <p:cNvSpPr/>
          <p:nvPr/>
        </p:nvSpPr>
        <p:spPr>
          <a:xfrm>
            <a:off x="1078992" y="4503420"/>
            <a:ext cx="365760" cy="365760"/>
          </a:xfrm>
          <a:prstGeom prst="ellipse">
            <a:avLst/>
          </a:prstGeom>
          <a:solidFill>
            <a:srgbClr val="1A2B5E"/>
          </a:solidFill>
          <a:ln>
            <a:noFill/>
          </a:ln>
          <a:effectLst>
            <a:outerShdw blurRad="88900" dist="38100" dir="5400000" algn="bl" rotWithShape="0">
              <a:srgbClr val="0A123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pic>
        <p:nvPicPr>
          <p:cNvPr id="22" name="Icon 2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79576" y="4604004"/>
            <a:ext cx="164592" cy="164592"/>
          </a:xfrm>
          <a:prstGeom prst="rect">
            <a:avLst/>
          </a:prstGeom>
        </p:spPr>
      </p:pic>
      <p:sp>
        <p:nvSpPr>
          <p:cNvPr id="23" name="Text 23"/>
          <p:cNvSpPr txBox="1"/>
          <p:nvPr/>
        </p:nvSpPr>
        <p:spPr>
          <a:xfrm>
            <a:off x="10497312" y="4251960"/>
            <a:ext cx="640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de-DE" sz="2000" dirty="0">
                <a:solidFill>
                  <a:srgbClr val="DDE3F1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03</a:t>
            </a:r>
          </a:p>
        </p:txBody>
      </p:sp>
      <p:sp>
        <p:nvSpPr>
          <p:cNvPr id="24" name="Text 24"/>
          <p:cNvSpPr txBox="1"/>
          <p:nvPr/>
        </p:nvSpPr>
        <p:spPr>
          <a:xfrm>
            <a:off x="1664208" y="4475988"/>
            <a:ext cx="3291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140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Freitext &amp; Codes</a:t>
            </a:r>
          </a:p>
        </p:txBody>
      </p:sp>
      <p:sp>
        <p:nvSpPr>
          <p:cNvPr id="25" name="Text 25"/>
          <p:cNvSpPr txBox="1"/>
          <p:nvPr/>
        </p:nvSpPr>
        <p:spPr>
          <a:xfrm>
            <a:off x="5166360" y="4457700"/>
            <a:ext cx="5285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de-DE" sz="115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Für Menschen verständlich – für die automatische Verarbeitung eindeutig genug?</a:t>
            </a:r>
          </a:p>
        </p:txBody>
      </p:sp>
      <p:sp>
        <p:nvSpPr>
          <p:cNvPr id="26" name="Card 26"/>
          <p:cNvSpPr/>
          <p:nvPr/>
        </p:nvSpPr>
        <p:spPr>
          <a:xfrm>
            <a:off x="822960" y="3200400"/>
            <a:ext cx="10543032" cy="86868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  <a:effectLst>
            <a:outerShdw blurRad="101600" dist="38100" dir="5400000" algn="bl" rotWithShape="0">
              <a:srgbClr val="0A1230">
                <a:alpha val="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7" name="IconCircle 27"/>
          <p:cNvSpPr/>
          <p:nvPr/>
        </p:nvSpPr>
        <p:spPr>
          <a:xfrm>
            <a:off x="1078992" y="3451860"/>
            <a:ext cx="365760" cy="365760"/>
          </a:xfrm>
          <a:prstGeom prst="ellipse">
            <a:avLst/>
          </a:prstGeom>
          <a:solidFill>
            <a:srgbClr val="1A2B5E"/>
          </a:solidFill>
          <a:ln>
            <a:noFill/>
          </a:ln>
          <a:effectLst>
            <a:outerShdw blurRad="88900" dist="38100" dir="5400000" algn="bl" rotWithShape="0">
              <a:srgbClr val="0A123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pic>
        <p:nvPicPr>
          <p:cNvPr id="28" name="Icon 2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79576" y="3552444"/>
            <a:ext cx="164592" cy="164592"/>
          </a:xfrm>
          <a:prstGeom prst="rect">
            <a:avLst/>
          </a:prstGeom>
        </p:spPr>
      </p:pic>
      <p:sp>
        <p:nvSpPr>
          <p:cNvPr id="29" name="Text 29"/>
          <p:cNvSpPr txBox="1"/>
          <p:nvPr/>
        </p:nvSpPr>
        <p:spPr>
          <a:xfrm>
            <a:off x="10497312" y="3200400"/>
            <a:ext cx="640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de-DE" sz="2000" dirty="0">
                <a:solidFill>
                  <a:srgbClr val="DDE3F1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02</a:t>
            </a:r>
          </a:p>
        </p:txBody>
      </p:sp>
      <p:sp>
        <p:nvSpPr>
          <p:cNvPr id="30" name="Text 30"/>
          <p:cNvSpPr txBox="1"/>
          <p:nvPr/>
        </p:nvSpPr>
        <p:spPr>
          <a:xfrm>
            <a:off x="1664208" y="3424428"/>
            <a:ext cx="3291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140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Bruttorechnung</a:t>
            </a:r>
          </a:p>
        </p:txBody>
      </p:sp>
      <p:sp>
        <p:nvSpPr>
          <p:cNvPr id="31" name="Text 31"/>
          <p:cNvSpPr txBox="1"/>
          <p:nvPr/>
        </p:nvSpPr>
        <p:spPr>
          <a:xfrm>
            <a:off x="5166360" y="3406140"/>
            <a:ext cx="5285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de-DE" sz="115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Bildet die Rechnung den vereinbarten Preis zuverlässig ab?</a:t>
            </a:r>
          </a:p>
        </p:txBody>
      </p:sp>
      <p:sp>
        <p:nvSpPr>
          <p:cNvPr id="32" name="Card 32"/>
          <p:cNvSpPr/>
          <p:nvPr/>
        </p:nvSpPr>
        <p:spPr>
          <a:xfrm>
            <a:off x="822960" y="2148840"/>
            <a:ext cx="10543032" cy="86868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  <a:effectLst>
            <a:outerShdw blurRad="101600" dist="38100" dir="5400000" algn="bl" rotWithShape="0">
              <a:srgbClr val="0A1230">
                <a:alpha val="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33" name="IconCircle 33"/>
          <p:cNvSpPr/>
          <p:nvPr/>
        </p:nvSpPr>
        <p:spPr>
          <a:xfrm>
            <a:off x="1078992" y="2400300"/>
            <a:ext cx="365760" cy="365760"/>
          </a:xfrm>
          <a:prstGeom prst="ellipse">
            <a:avLst/>
          </a:prstGeom>
          <a:solidFill>
            <a:srgbClr val="1A2B5E"/>
          </a:solidFill>
          <a:ln>
            <a:noFill/>
          </a:ln>
          <a:effectLst>
            <a:outerShdw blurRad="88900" dist="38100" dir="5400000" algn="bl" rotWithShape="0">
              <a:srgbClr val="0A123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pic>
        <p:nvPicPr>
          <p:cNvPr id="34" name="Icon 3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79576" y="2500884"/>
            <a:ext cx="164592" cy="164592"/>
          </a:xfrm>
          <a:prstGeom prst="rect">
            <a:avLst/>
          </a:prstGeom>
        </p:spPr>
      </p:pic>
      <p:sp>
        <p:nvSpPr>
          <p:cNvPr id="35" name="Text 35"/>
          <p:cNvSpPr txBox="1"/>
          <p:nvPr/>
        </p:nvSpPr>
        <p:spPr>
          <a:xfrm>
            <a:off x="10497312" y="2148840"/>
            <a:ext cx="640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de-DE" sz="2000" dirty="0">
                <a:solidFill>
                  <a:srgbClr val="DDE3F1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01</a:t>
            </a:r>
          </a:p>
        </p:txBody>
      </p:sp>
      <p:sp>
        <p:nvSpPr>
          <p:cNvPr id="36" name="Text 36"/>
          <p:cNvSpPr txBox="1"/>
          <p:nvPr/>
        </p:nvSpPr>
        <p:spPr>
          <a:xfrm>
            <a:off x="1664208" y="2372868"/>
            <a:ext cx="3291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140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Rundung &amp; Genauigkeit</a:t>
            </a:r>
          </a:p>
        </p:txBody>
      </p:sp>
      <p:sp>
        <p:nvSpPr>
          <p:cNvPr id="37" name="Text 37"/>
          <p:cNvSpPr txBox="1"/>
          <p:nvPr/>
        </p:nvSpPr>
        <p:spPr>
          <a:xfrm>
            <a:off x="5166360" y="2354580"/>
            <a:ext cx="5285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de-DE" sz="115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Warum stimmen Rechnung und Buchhaltung plötzlich nicht überein?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Folie 24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Header 3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950" spc="100" dirty="0">
                <a:solidFill>
                  <a:srgbClr val="5B6890"/>
                </a:solidFill>
                <a:latin typeface="Inter Medium Text Medium" pitchFamily="34" charset="0"/>
                <a:ea typeface="Inter Medium Text Medium" pitchFamily="34" charset="-122"/>
                <a:cs typeface="Inter Medium Text Medium" pitchFamily="34" charset="-120"/>
              </a:rPr>
              <a:t>E-Rechnungs-Gipfel Umsetzungstage 2026</a:t>
            </a:r>
            <a:r>
              <a:rPr lang="de-DE" sz="950" spc="100" dirty="0">
                <a:solidFill>
                  <a:srgbClr val="C2CADE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   ·   </a:t>
            </a:r>
            <a:r>
              <a:rPr lang="de-DE" sz="950" spc="10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Workshop D · Datenqualität in der E-Rechnung</a:t>
            </a:r>
          </a:p>
        </p:txBody>
      </p:sp>
      <p:sp>
        <p:nvSpPr>
          <p:cNvPr id="4" name="SectionLabel 4"/>
          <p:cNvSpPr txBox="1"/>
          <p:nvPr/>
        </p:nvSpPr>
        <p:spPr>
          <a:xfrm>
            <a:off x="82296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1100" spc="300" dirty="0">
                <a:solidFill>
                  <a:srgbClr val="19C3C8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FRAGE 1 · RUNDUNG &amp; GENAUIGKEIT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804672" y="1115568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de-DE" sz="3800" b="1" dirty="0">
                <a:solidFill>
                  <a:srgbClr val="1A2B5E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… und es rundet anders als der Handel</a:t>
            </a:r>
          </a:p>
        </p:txBody>
      </p:sp>
      <p:sp>
        <p:nvSpPr>
          <p:cNvPr id="6" name="Tagline 6"/>
          <p:cNvSpPr txBox="1"/>
          <p:nvPr/>
        </p:nvSpPr>
        <p:spPr>
          <a:xfrm>
            <a:off x="822960" y="1865376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13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Jede Gutschrift ist betroffen.</a:t>
            </a:r>
          </a:p>
        </p:txBody>
      </p:sp>
      <p:sp>
        <p:nvSpPr>
          <p:cNvPr id="7" name="PageNum 7"/>
          <p:cNvSpPr txBox="1"/>
          <p:nvPr/>
        </p:nvSpPr>
        <p:spPr>
          <a:xfrm>
            <a:off x="10908792" y="651459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fld id="{CF71794B-2BB3-4FED-B1A8-17B7954B8052}" type="slidenum">
              <a:rPr lang="de-DE" sz="1000" spc="200" dirty="0">
                <a:solidFill>
                  <a:srgbClr val="5B6890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3</a:t>
            </a:fld>
            <a:endParaRPr lang="de-DE" sz="1000" spc="200" dirty="0">
              <a:solidFill>
                <a:srgbClr val="5B6890"/>
              </a:solidFill>
              <a:latin typeface="Inter SemiBold Text SemiBold" pitchFamily="34" charset="0"/>
              <a:ea typeface="Inter SemiBold Text SemiBold" pitchFamily="34" charset="-122"/>
              <a:cs typeface="Inter SemiBold Text SemiBold" pitchFamily="34" charset="-120"/>
            </a:endParaRPr>
          </a:p>
        </p:txBody>
      </p:sp>
      <p:graphicFrame>
        <p:nvGraphicFramePr>
          <p:cNvPr id="8" name="Table 8"/>
          <p:cNvGraphicFramePr>
            <a:graphicFrameLocks noGrp="1"/>
          </p:cNvGraphicFramePr>
          <p:nvPr/>
        </p:nvGraphicFramePr>
        <p:xfrm>
          <a:off x="822960" y="2377440"/>
          <a:ext cx="10543032" cy="2084832"/>
        </p:xfrm>
        <a:graphic>
          <a:graphicData uri="http://schemas.openxmlformats.org/drawingml/2006/table">
            <a:tbl>
              <a:tblPr firstRow="1" bandRow="1"/>
              <a:tblGrid>
                <a:gridCol w="54223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/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1A2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de-DE" sz="1200" dirty="0">
                          <a:solidFill>
                            <a:srgbClr val="FFFFFF"/>
                          </a:solidFill>
                          <a:latin typeface="Inter SemiBold Text SemiBold" pitchFamily="34" charset="0"/>
                          <a:ea typeface="Inter SemiBold Text SemiBold" pitchFamily="34" charset="-122"/>
                          <a:cs typeface="Inter SemiBold Text SemiBold" pitchFamily="34" charset="-120"/>
                        </a:rPr>
                        <a:t>Standard-XSLT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1A2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de-DE" sz="1200" dirty="0">
                          <a:solidFill>
                            <a:srgbClr val="FFFFFF"/>
                          </a:solidFill>
                          <a:latin typeface="Inter SemiBold Text SemiBold" pitchFamily="34" charset="0"/>
                          <a:ea typeface="Inter SemiBold Text SemiBold" pitchFamily="34" charset="-122"/>
                          <a:cs typeface="Inter SemiBold Text SemiBold" pitchFamily="34" charset="-120"/>
                        </a:rPr>
                        <a:t>Kaufmännisch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1A2B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de-DE" sz="1300" dirty="0">
                          <a:solidFill>
                            <a:srgbClr val="1A2B5E"/>
                          </a:solidFill>
                          <a:latin typeface="Inter SemiBold Text SemiBold" pitchFamily="34" charset="0"/>
                          <a:ea typeface="Inter SemiBold Text SemiBold" pitchFamily="34" charset="-122"/>
                          <a:cs typeface="Inter SemiBold Text SemiBold" pitchFamily="34" charset="-120"/>
                        </a:rPr>
                        <a:t>−2,5 runden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de-DE" sz="1400" dirty="0">
                          <a:solidFill>
                            <a:srgbClr val="C0392B"/>
                          </a:solidFill>
                          <a:latin typeface="Inter SemiBold Text SemiBold" pitchFamily="34" charset="0"/>
                          <a:ea typeface="Inter SemiBold Text SemiBold" pitchFamily="34" charset="-122"/>
                          <a:cs typeface="Inter SemiBold Text SemiBold" pitchFamily="34" charset="-120"/>
                        </a:rPr>
                        <a:t>−2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de-DE" sz="1400" dirty="0">
                          <a:solidFill>
                            <a:srgbClr val="1E8A4C"/>
                          </a:solidFill>
                          <a:latin typeface="Inter SemiBold Text SemiBold" pitchFamily="34" charset="0"/>
                          <a:ea typeface="Inter SemiBold Text SemiBold" pitchFamily="34" charset="-122"/>
                          <a:cs typeface="Inter SemiBold Text SemiBold" pitchFamily="34" charset="-120"/>
                        </a:rPr>
                        <a:t>−3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de-DE" sz="1300" dirty="0">
                          <a:solidFill>
                            <a:srgbClr val="1A2B5E"/>
                          </a:solidFill>
                          <a:latin typeface="Inter SemiBold Text SemiBold" pitchFamily="34" charset="0"/>
                          <a:ea typeface="Inter SemiBold Text SemiBold" pitchFamily="34" charset="-122"/>
                          <a:cs typeface="Inter SemiBold Text SemiBold" pitchFamily="34" charset="-120"/>
                        </a:rPr>
                        <a:t>1,005 auf zwei Stellen runden (binär gespeichert als 1,00499999…)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de-DE" sz="1400" dirty="0">
                          <a:solidFill>
                            <a:srgbClr val="C0392B"/>
                          </a:solidFill>
                          <a:latin typeface="Inter SemiBold Text SemiBold" pitchFamily="34" charset="0"/>
                          <a:ea typeface="Inter SemiBold Text SemiBold" pitchFamily="34" charset="-122"/>
                          <a:cs typeface="Inter SemiBold Text SemiBold" pitchFamily="34" charset="-120"/>
                        </a:rPr>
                        <a:t>1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de-DE" sz="1400" dirty="0">
                          <a:solidFill>
                            <a:srgbClr val="1E8A4C"/>
                          </a:solidFill>
                          <a:latin typeface="Inter SemiBold Text SemiBold" pitchFamily="34" charset="0"/>
                          <a:ea typeface="Inter SemiBold Text SemiBold" pitchFamily="34" charset="-122"/>
                          <a:cs typeface="Inter SemiBold Text SemiBold" pitchFamily="34" charset="-120"/>
                        </a:rPr>
                        <a:t>1,01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7F9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de-DE" sz="1300" dirty="0">
                          <a:solidFill>
                            <a:srgbClr val="1A2B5E"/>
                          </a:solidFill>
                          <a:latin typeface="Inter SemiBold Text SemiBold" pitchFamily="34" charset="0"/>
                          <a:ea typeface="Inter SemiBold Text SemiBold" pitchFamily="34" charset="-122"/>
                          <a:cs typeface="Inter SemiBold Text SemiBold" pitchFamily="34" charset="-120"/>
                        </a:rPr>
                        <a:t>USt einer Gutschrift über −3,50 € bei 19 %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de-DE" sz="1400" dirty="0">
                          <a:solidFill>
                            <a:srgbClr val="C0392B"/>
                          </a:solidFill>
                          <a:latin typeface="Inter SemiBold Text SemiBold" pitchFamily="34" charset="0"/>
                          <a:ea typeface="Inter SemiBold Text SemiBold" pitchFamily="34" charset="-122"/>
                          <a:cs typeface="Inter SemiBold Text SemiBold" pitchFamily="34" charset="-120"/>
                        </a:rPr>
                        <a:t>−0,66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de-DE" sz="1400" dirty="0">
                          <a:solidFill>
                            <a:srgbClr val="1E8A4C"/>
                          </a:solidFill>
                          <a:latin typeface="Inter SemiBold Text SemiBold" pitchFamily="34" charset="0"/>
                          <a:ea typeface="Inter SemiBold Text SemiBold" pitchFamily="34" charset="-122"/>
                          <a:cs typeface="Inter SemiBold Text SemiBold" pitchFamily="34" charset="-120"/>
                        </a:rPr>
                        <a:t>−0,67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Card 9"/>
          <p:cNvSpPr/>
          <p:nvPr/>
        </p:nvSpPr>
        <p:spPr>
          <a:xfrm>
            <a:off x="822960" y="4572000"/>
            <a:ext cx="5175504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  <a:effectLst>
            <a:outerShdw blurRad="101600" dist="38100" dir="5400000" algn="bl" rotWithShape="0">
              <a:srgbClr val="0A1230">
                <a:alpha val="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0" name="IconCircle 10"/>
          <p:cNvSpPr/>
          <p:nvPr/>
        </p:nvSpPr>
        <p:spPr>
          <a:xfrm>
            <a:off x="1060704" y="4773168"/>
            <a:ext cx="402336" cy="402336"/>
          </a:xfrm>
          <a:prstGeom prst="ellipse">
            <a:avLst/>
          </a:prstGeom>
          <a:solidFill>
            <a:srgbClr val="C0392B"/>
          </a:solidFill>
          <a:ln>
            <a:noFill/>
          </a:ln>
          <a:effectLst>
            <a:outerShdw blurRad="88900" dist="38100" dir="5400000" algn="bl" rotWithShape="0">
              <a:srgbClr val="0A123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pic>
        <p:nvPicPr>
          <p:cNvPr id="11" name="Icon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1346" y="4883810"/>
            <a:ext cx="181051" cy="181051"/>
          </a:xfrm>
          <a:prstGeom prst="rect">
            <a:avLst/>
          </a:prstGeom>
        </p:spPr>
      </p:pic>
      <p:sp>
        <p:nvSpPr>
          <p:cNvPr id="12" name="Text 12"/>
          <p:cNvSpPr txBox="1"/>
          <p:nvPr/>
        </p:nvSpPr>
        <p:spPr>
          <a:xfrm>
            <a:off x="1600200" y="4754880"/>
            <a:ext cx="42153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140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XSLT: Halbe immer aufwärts</a:t>
            </a:r>
          </a:p>
        </p:txBody>
      </p:sp>
      <p:sp>
        <p:nvSpPr>
          <p:cNvPr id="13" name="Text 13"/>
          <p:cNvSpPr txBox="1"/>
          <p:nvPr/>
        </p:nvSpPr>
        <p:spPr>
          <a:xfrm>
            <a:off x="1600200" y="5230368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de-DE" sz="125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Richtung +∞ — auch bei negativen Beträgen.</a:t>
            </a:r>
          </a:p>
        </p:txBody>
      </p:sp>
      <p:sp>
        <p:nvSpPr>
          <p:cNvPr id="14" name="Card 14"/>
          <p:cNvSpPr/>
          <p:nvPr/>
        </p:nvSpPr>
        <p:spPr>
          <a:xfrm>
            <a:off x="6190488" y="4572000"/>
            <a:ext cx="5175504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  <a:effectLst>
            <a:outerShdw blurRad="101600" dist="38100" dir="5400000" algn="bl" rotWithShape="0">
              <a:srgbClr val="0A1230">
                <a:alpha val="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5" name="IconCircle 15"/>
          <p:cNvSpPr/>
          <p:nvPr/>
        </p:nvSpPr>
        <p:spPr>
          <a:xfrm>
            <a:off x="6428232" y="4773168"/>
            <a:ext cx="402336" cy="402336"/>
          </a:xfrm>
          <a:prstGeom prst="ellipse">
            <a:avLst/>
          </a:prstGeom>
          <a:solidFill>
            <a:srgbClr val="1E8A4C"/>
          </a:solidFill>
          <a:ln>
            <a:noFill/>
          </a:ln>
          <a:effectLst>
            <a:outerShdw blurRad="88900" dist="38100" dir="5400000" algn="bl" rotWithShape="0">
              <a:srgbClr val="0A123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pic>
        <p:nvPicPr>
          <p:cNvPr id="16" name="Icon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8874" y="4883810"/>
            <a:ext cx="181051" cy="181051"/>
          </a:xfrm>
          <a:prstGeom prst="rect">
            <a:avLst/>
          </a:prstGeom>
        </p:spPr>
      </p:pic>
      <p:sp>
        <p:nvSpPr>
          <p:cNvPr id="17" name="Text 17"/>
          <p:cNvSpPr txBox="1"/>
          <p:nvPr/>
        </p:nvSpPr>
        <p:spPr>
          <a:xfrm>
            <a:off x="6967728" y="4754880"/>
            <a:ext cx="42153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140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Handel &amp; Steuerrecht: Halbe weg von der Null</a:t>
            </a:r>
          </a:p>
        </p:txBody>
      </p:sp>
      <p:sp>
        <p:nvSpPr>
          <p:cNvPr id="18" name="Text 18"/>
          <p:cNvSpPr txBox="1"/>
          <p:nvPr/>
        </p:nvSpPr>
        <p:spPr>
          <a:xfrm>
            <a:off x="6967728" y="5230368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de-DE" sz="125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Abschn. 14.5 UStAE, DIN 1333, AFNOR XP Z12-012</a:t>
            </a:r>
          </a:p>
        </p:txBody>
      </p:sp>
      <p:sp>
        <p:nvSpPr>
          <p:cNvPr id="19" name="Speaker 19">
            <a:hlinkClick r:id="rId5"/>
          </p:cNvPr>
          <p:cNvSpPr txBox="1"/>
          <p:nvPr/>
        </p:nvSpPr>
        <p:spPr>
          <a:xfrm>
            <a:off x="7680960" y="6514592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de-DE" sz="1000" spc="100" dirty="0">
                <a:solidFill>
                  <a:srgbClr val="9AA4C2"/>
                </a:solidFill>
                <a:latin typeface="Inter Medium Text Medium" pitchFamily="34" charset="0"/>
                <a:ea typeface="Inter Medium Text Medium" pitchFamily="34" charset="-122"/>
                <a:cs typeface="Inter Medium Text Medium" pitchFamily="34" charset="-120"/>
              </a:rPr>
              <a:t>© Svante Schubert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Folie 31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Header 3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950" spc="100" dirty="0">
                <a:solidFill>
                  <a:srgbClr val="5B6890"/>
                </a:solidFill>
                <a:latin typeface="Inter Medium Text Medium" pitchFamily="34" charset="0"/>
                <a:ea typeface="Inter Medium Text Medium" pitchFamily="34" charset="-122"/>
                <a:cs typeface="Inter Medium Text Medium" pitchFamily="34" charset="-120"/>
              </a:rPr>
              <a:t>E-Rechnungs-Gipfel Umsetzungstage 2026</a:t>
            </a:r>
            <a:r>
              <a:rPr lang="de-DE" sz="950" spc="100" dirty="0">
                <a:solidFill>
                  <a:srgbClr val="C2CADE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   ·   </a:t>
            </a:r>
            <a:r>
              <a:rPr lang="de-DE" sz="950" spc="10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Workshop D · Datenqualität in der E-Rechnung</a:t>
            </a:r>
          </a:p>
        </p:txBody>
      </p:sp>
      <p:sp>
        <p:nvSpPr>
          <p:cNvPr id="4" name="SectionLabel 4"/>
          <p:cNvSpPr txBox="1"/>
          <p:nvPr/>
        </p:nvSpPr>
        <p:spPr>
          <a:xfrm>
            <a:off x="82296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1100" spc="300" dirty="0">
                <a:solidFill>
                  <a:srgbClr val="19C3C8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FRAGE 1 · RUNDUNG &amp; GENAUIGKEIT · WORST CASE 2026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804672" y="1115568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de-DE" sz="3800" b="1" dirty="0">
                <a:solidFill>
                  <a:srgbClr val="1A2B5E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Wie groß wird die Abweichung?</a:t>
            </a:r>
          </a:p>
        </p:txBody>
      </p:sp>
      <p:sp>
        <p:nvSpPr>
          <p:cNvPr id="6" name="Speaker 6">
            <a:hlinkClick r:id="rId3"/>
          </p:cNvPr>
          <p:cNvSpPr txBox="1"/>
          <p:nvPr/>
        </p:nvSpPr>
        <p:spPr>
          <a:xfrm>
            <a:off x="7680960" y="6514592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de-DE" sz="1000" spc="100" dirty="0">
                <a:solidFill>
                  <a:srgbClr val="9AA4C2"/>
                </a:solidFill>
                <a:latin typeface="Inter Medium Text Medium" pitchFamily="34" charset="0"/>
                <a:ea typeface="Inter Medium Text Medium" pitchFamily="34" charset="-122"/>
                <a:cs typeface="Inter Medium Text Medium" pitchFamily="34" charset="-120"/>
              </a:rPr>
              <a:t>© Svante Schubert</a:t>
            </a:r>
          </a:p>
        </p:txBody>
      </p:sp>
      <p:sp>
        <p:nvSpPr>
          <p:cNvPr id="7" name="PageNum 7"/>
          <p:cNvSpPr txBox="1"/>
          <p:nvPr/>
        </p:nvSpPr>
        <p:spPr>
          <a:xfrm>
            <a:off x="10908792" y="651459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fld id="{6E655C58-AB39-491B-9C9F-468B34428247}" type="slidenum">
              <a:rPr lang="de-DE" sz="1000" spc="200" dirty="0">
                <a:solidFill>
                  <a:srgbClr val="5B6890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4</a:t>
            </a:fld>
            <a:endParaRPr lang="de-DE" sz="1000" spc="200" dirty="0">
              <a:solidFill>
                <a:srgbClr val="5B6890"/>
              </a:solidFill>
              <a:latin typeface="Inter SemiBold Text SemiBold" pitchFamily="34" charset="0"/>
              <a:ea typeface="Inter SemiBold Text SemiBold" pitchFamily="34" charset="-122"/>
              <a:cs typeface="Inter SemiBold Text SemiBold" pitchFamily="34" charset="-120"/>
            </a:endParaRPr>
          </a:p>
        </p:txBody>
      </p:sp>
      <p:sp>
        <p:nvSpPr>
          <p:cNvPr id="8" name="Tagline 8"/>
          <p:cNvSpPr txBox="1"/>
          <p:nvPr/>
        </p:nvSpPr>
        <p:spPr>
          <a:xfrm>
            <a:off x="822960" y="1865376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13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Preis auf 4 Nachkommastellen (EUR), jede Zeile auf Cent gerundet: Der Fehler wächst mit Menge und Zeilen.</a:t>
            </a:r>
          </a:p>
        </p:txBody>
      </p:sp>
      <p:sp>
        <p:nvSpPr>
          <p:cNvPr id="21" name="Text 21"/>
          <p:cNvSpPr txBox="1"/>
          <p:nvPr/>
        </p:nvSpPr>
        <p:spPr>
          <a:xfrm>
            <a:off x="822960" y="2395728"/>
            <a:ext cx="6766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950" spc="120" dirty="0">
                <a:solidFill>
                  <a:srgbClr val="0E7E82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ABWEICHUNG NETTO  </a:t>
            </a:r>
            <a:r>
              <a:rPr lang="de-DE" sz="950" b="1" dirty="0">
                <a:solidFill>
                  <a:srgbClr val="C79100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BT-106</a:t>
            </a:r>
            <a:r>
              <a:rPr lang="de-DE" sz="950" dirty="0">
                <a:solidFill>
                  <a:srgbClr val="C7910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 Summe der Nettobeträge</a:t>
            </a:r>
            <a:r>
              <a:rPr lang="de-DE" sz="95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 / </a:t>
            </a:r>
            <a:r>
              <a:rPr lang="de-DE" sz="950" b="1" dirty="0">
                <a:solidFill>
                  <a:srgbClr val="2E7D32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BT-116</a:t>
            </a:r>
            <a:r>
              <a:rPr lang="de-DE" sz="950" dirty="0">
                <a:solidFill>
                  <a:srgbClr val="2E7D3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 Bemessungsgrundlage</a:t>
            </a:r>
          </a:p>
        </p:txBody>
      </p:sp>
      <p:graphicFrame>
        <p:nvGraphicFramePr>
          <p:cNvPr id="22" name="Table 22"/>
          <p:cNvGraphicFramePr>
            <a:graphicFrameLocks noGrp="1"/>
          </p:cNvGraphicFramePr>
          <p:nvPr/>
        </p:nvGraphicFramePr>
        <p:xfrm>
          <a:off x="822960" y="2670048"/>
          <a:ext cx="6766560" cy="2971800"/>
        </p:xfrm>
        <a:graphic>
          <a:graphicData uri="http://schemas.openxmlformats.org/drawingml/2006/table">
            <a:tbl>
              <a:tblPr firstRow="1" bandRow="1"/>
              <a:tblGrid>
                <a:gridCol w="1417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de-DE" sz="1000" dirty="0">
                          <a:solidFill>
                            <a:srgbClr val="9FB0D8"/>
                          </a:solidFill>
                          <a:latin typeface="Inter Text" pitchFamily="34" charset="0"/>
                          <a:ea typeface="Inter Text" pitchFamily="34" charset="-122"/>
                          <a:cs typeface="Inter Text" pitchFamily="34" charset="-120"/>
                        </a:rPr>
                        <a:t>Stück je Zeile (Q) →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de-DE" sz="1000" dirty="0">
                          <a:solidFill>
                            <a:srgbClr val="9FB0D8"/>
                          </a:solidFill>
                          <a:latin typeface="Inter Text" pitchFamily="34" charset="0"/>
                          <a:ea typeface="Inter Text" pitchFamily="34" charset="-122"/>
                          <a:cs typeface="Inter Text" pitchFamily="34" charset="-120"/>
                        </a:rPr>
                        <a:t>↓ Zeilen (n)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2435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de-DE" sz="1250" dirty="0">
                          <a:solidFill>
                            <a:srgbClr val="FFFFFF"/>
                          </a:solidFill>
                          <a:latin typeface="Inter SemiBold Text SemiBold" pitchFamily="34" charset="0"/>
                          <a:ea typeface="Inter SemiBold Text SemiBold" pitchFamily="34" charset="-122"/>
                          <a:cs typeface="Inter SemiBold Text SemiBold" pitchFamily="34" charset="-120"/>
                        </a:rPr>
                        <a:t>100 Stück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1A2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de-DE" sz="1250" dirty="0">
                          <a:solidFill>
                            <a:srgbClr val="FFFFFF"/>
                          </a:solidFill>
                          <a:latin typeface="Inter SemiBold Text SemiBold" pitchFamily="34" charset="0"/>
                          <a:ea typeface="Inter SemiBold Text SemiBold" pitchFamily="34" charset="-122"/>
                          <a:cs typeface="Inter SemiBold Text SemiBold" pitchFamily="34" charset="-120"/>
                        </a:rPr>
                        <a:t>10.000 Stück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1A2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de-DE" sz="1250" dirty="0">
                          <a:solidFill>
                            <a:srgbClr val="FFFFFF"/>
                          </a:solidFill>
                          <a:latin typeface="Inter SemiBold Text SemiBold" pitchFamily="34" charset="0"/>
                          <a:ea typeface="Inter SemiBold Text SemiBold" pitchFamily="34" charset="-122"/>
                          <a:cs typeface="Inter SemiBold Text SemiBold" pitchFamily="34" charset="-120"/>
                        </a:rPr>
                        <a:t>1.000.000 Stück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1A2B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058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de-DE" sz="1100" dirty="0">
                          <a:solidFill>
                            <a:srgbClr val="1A2B5E"/>
                          </a:solidFill>
                          <a:latin typeface="Inter SemiBold Text SemiBold" pitchFamily="34" charset="0"/>
                          <a:ea typeface="Inter SemiBold Text SemiBold" pitchFamily="34" charset="-122"/>
                          <a:cs typeface="Inter SemiBold Text SemiBold" pitchFamily="34" charset="-120"/>
                        </a:rPr>
                        <a:t>1 Zeile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de-DE" sz="850" dirty="0">
                          <a:solidFill>
                            <a:srgbClr val="D32F2F"/>
                          </a:solidFill>
                          <a:latin typeface="Inter Text" pitchFamily="34" charset="0"/>
                          <a:ea typeface="Inter Text" pitchFamily="34" charset="-122"/>
                          <a:cs typeface="Inter Text" pitchFamily="34" charset="-120"/>
                        </a:rPr>
                        <a:t>Preis × Menge  </a:t>
                      </a:r>
                      <a:r>
                        <a:rPr lang="de-DE" sz="850" b="1" dirty="0">
                          <a:solidFill>
                            <a:srgbClr val="D32F2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± 0,005 €</a:t>
                      </a:r>
                    </a:p>
                    <a:p>
                      <a:pPr marL="0" indent="0" algn="r">
                        <a:buNone/>
                      </a:pPr>
                      <a:r>
                        <a:rPr lang="de-DE" sz="850" dirty="0">
                          <a:solidFill>
                            <a:srgbClr val="EF6C00"/>
                          </a:solidFill>
                          <a:latin typeface="Inter Text" pitchFamily="34" charset="0"/>
                          <a:ea typeface="Inter Text" pitchFamily="34" charset="-122"/>
                          <a:cs typeface="Inter Text" pitchFamily="34" charset="-120"/>
                        </a:rPr>
                        <a:t>+ Rundung BT-131  </a:t>
                      </a:r>
                      <a:r>
                        <a:rPr lang="de-DE" sz="850" b="1" dirty="0">
                          <a:solidFill>
                            <a:srgbClr val="EF6C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± 0,005 €</a:t>
                      </a:r>
                    </a:p>
                    <a:p>
                      <a:pPr marL="0" indent="0" algn="r">
                        <a:buNone/>
                      </a:pPr>
                      <a:r>
                        <a:rPr lang="de-DE" sz="1150" b="1" dirty="0">
                          <a:solidFill>
                            <a:srgbClr val="B26A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= ± 0,01 €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FF4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de-DE" sz="850" dirty="0">
                          <a:solidFill>
                            <a:srgbClr val="D32F2F"/>
                          </a:solidFill>
                          <a:latin typeface="Inter Text" pitchFamily="34" charset="0"/>
                          <a:ea typeface="Inter Text" pitchFamily="34" charset="-122"/>
                          <a:cs typeface="Inter Text" pitchFamily="34" charset="-120"/>
                        </a:rPr>
                        <a:t>Preis × Menge  </a:t>
                      </a:r>
                      <a:r>
                        <a:rPr lang="de-DE" sz="850" b="1" dirty="0">
                          <a:solidFill>
                            <a:srgbClr val="D32F2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± 0,50 €</a:t>
                      </a:r>
                    </a:p>
                    <a:p>
                      <a:pPr marL="0" indent="0" algn="r">
                        <a:buNone/>
                      </a:pPr>
                      <a:r>
                        <a:rPr lang="de-DE" sz="850" dirty="0">
                          <a:solidFill>
                            <a:srgbClr val="EF6C00"/>
                          </a:solidFill>
                          <a:latin typeface="Inter Text" pitchFamily="34" charset="0"/>
                          <a:ea typeface="Inter Text" pitchFamily="34" charset="-122"/>
                          <a:cs typeface="Inter Text" pitchFamily="34" charset="-120"/>
                        </a:rPr>
                        <a:t>+ Rundung BT-131  </a:t>
                      </a:r>
                      <a:r>
                        <a:rPr lang="de-DE" sz="850" b="1" dirty="0">
                          <a:solidFill>
                            <a:srgbClr val="EF6C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± 0,005 €</a:t>
                      </a:r>
                    </a:p>
                    <a:p>
                      <a:pPr marL="0" indent="0" algn="r">
                        <a:buNone/>
                      </a:pPr>
                      <a:r>
                        <a:rPr lang="de-DE" sz="1150" b="1" dirty="0">
                          <a:solidFill>
                            <a:srgbClr val="B26A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= ± 0,505 €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FF4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de-DE" sz="850" dirty="0">
                          <a:solidFill>
                            <a:srgbClr val="D32F2F"/>
                          </a:solidFill>
                          <a:latin typeface="Inter Text" pitchFamily="34" charset="0"/>
                          <a:ea typeface="Inter Text" pitchFamily="34" charset="-122"/>
                          <a:cs typeface="Inter Text" pitchFamily="34" charset="-120"/>
                        </a:rPr>
                        <a:t>Preis × Menge  </a:t>
                      </a:r>
                      <a:r>
                        <a:rPr lang="de-DE" sz="850" b="1" dirty="0">
                          <a:solidFill>
                            <a:srgbClr val="D32F2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± 50,00 €</a:t>
                      </a:r>
                    </a:p>
                    <a:p>
                      <a:pPr marL="0" indent="0" algn="r">
                        <a:buNone/>
                      </a:pPr>
                      <a:r>
                        <a:rPr lang="de-DE" sz="850" dirty="0">
                          <a:solidFill>
                            <a:srgbClr val="EF6C00"/>
                          </a:solidFill>
                          <a:latin typeface="Inter Text" pitchFamily="34" charset="0"/>
                          <a:ea typeface="Inter Text" pitchFamily="34" charset="-122"/>
                          <a:cs typeface="Inter Text" pitchFamily="34" charset="-120"/>
                        </a:rPr>
                        <a:t>+ Rundung BT-131  </a:t>
                      </a:r>
                      <a:r>
                        <a:rPr lang="de-DE" sz="850" b="1" dirty="0">
                          <a:solidFill>
                            <a:srgbClr val="EF6C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± 0,005 €</a:t>
                      </a:r>
                    </a:p>
                    <a:p>
                      <a:pPr marL="0" indent="0" algn="r">
                        <a:buNone/>
                      </a:pPr>
                      <a:r>
                        <a:rPr lang="de-DE" sz="1150" b="1" dirty="0">
                          <a:solidFill>
                            <a:srgbClr val="C039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= ± 50,005 €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CED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de-DE" sz="1300" dirty="0">
                          <a:solidFill>
                            <a:srgbClr val="1A2B5E"/>
                          </a:solidFill>
                          <a:latin typeface="Inter SemiBold Text SemiBold" pitchFamily="34" charset="0"/>
                          <a:ea typeface="Inter SemiBold Text SemiBold" pitchFamily="34" charset="-122"/>
                          <a:cs typeface="Inter SemiBold Text SemiBold" pitchFamily="34" charset="-120"/>
                        </a:rPr>
                        <a:t>100 Zeilen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de-DE" sz="1400" b="1" dirty="0">
                          <a:solidFill>
                            <a:srgbClr val="C039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± 1,00 €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CED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de-DE" sz="1400" b="1" dirty="0">
                          <a:solidFill>
                            <a:srgbClr val="C039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± 50,50 €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CED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de-DE" sz="1400" b="1" dirty="0">
                          <a:solidFill>
                            <a:srgbClr val="C039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± 5.000,50 €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CED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de-DE" sz="1300" dirty="0">
                          <a:solidFill>
                            <a:srgbClr val="1A2B5E"/>
                          </a:solidFill>
                          <a:latin typeface="Inter SemiBold Text SemiBold" pitchFamily="34" charset="0"/>
                          <a:ea typeface="Inter SemiBold Text SemiBold" pitchFamily="34" charset="-122"/>
                          <a:cs typeface="Inter SemiBold Text SemiBold" pitchFamily="34" charset="-120"/>
                        </a:rPr>
                        <a:t>10.000 Zeilen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de-DE" sz="1400" b="1" dirty="0">
                          <a:solidFill>
                            <a:srgbClr val="C039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± 100,00 €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CED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de-DE" sz="1400" b="1" dirty="0">
                          <a:solidFill>
                            <a:srgbClr val="C039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± 5.050,00 €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CED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de-DE" sz="1400" b="1" dirty="0">
                          <a:solidFill>
                            <a:srgbClr val="C039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± 500.050,00 €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CED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3" name="Panel 23"/>
          <p:cNvSpPr/>
          <p:nvPr/>
        </p:nvSpPr>
        <p:spPr>
          <a:xfrm>
            <a:off x="7818120" y="2395728"/>
            <a:ext cx="3547872" cy="3246120"/>
          </a:xfrm>
          <a:prstGeom prst="roundRect">
            <a:avLst>
              <a:gd name="adj" fmla="val 4854"/>
            </a:avLst>
          </a:prstGeom>
          <a:solidFill>
            <a:srgbClr val="1A2B5E"/>
          </a:solidFill>
          <a:ln>
            <a:noFill/>
          </a:ln>
          <a:effectLst>
            <a:outerShdw blurRad="101600" dist="38100" dir="5400000" algn="bl" rotWithShape="0">
              <a:srgbClr val="0A123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4" name="Text 24"/>
          <p:cNvSpPr txBox="1"/>
          <p:nvPr/>
        </p:nvSpPr>
        <p:spPr>
          <a:xfrm>
            <a:off x="8092440" y="265176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1000" spc="150" dirty="0">
                <a:solidFill>
                  <a:srgbClr val="19C3C8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ZUSAMMEN · NETTO</a:t>
            </a:r>
          </a:p>
        </p:txBody>
      </p:sp>
      <p:sp>
        <p:nvSpPr>
          <p:cNvPr id="25" name="Text 25"/>
          <p:cNvSpPr txBox="1"/>
          <p:nvPr/>
        </p:nvSpPr>
        <p:spPr>
          <a:xfrm>
            <a:off x="8092440" y="3017520"/>
            <a:ext cx="3108960" cy="5669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de-DE" sz="2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bis ± 500.050 €</a:t>
            </a:r>
          </a:p>
        </p:txBody>
      </p:sp>
      <p:sp>
        <p:nvSpPr>
          <p:cNvPr id="26" name="Text 26"/>
          <p:cNvSpPr txBox="1"/>
          <p:nvPr/>
        </p:nvSpPr>
        <p:spPr>
          <a:xfrm>
            <a:off x="8092440" y="370332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de-DE" sz="1100" dirty="0">
                <a:solidFill>
                  <a:srgbClr val="C2CADE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bei 10.000 Zeilen à 1.000.000 Stück; USt: 19 % davon. Nach oben offen — mehr Zeilen oder größere Mengen, mehr Abweichung.</a:t>
            </a:r>
          </a:p>
        </p:txBody>
      </p:sp>
      <p:sp>
        <p:nvSpPr>
          <p:cNvPr id="27" name="Shape 27"/>
          <p:cNvSpPr/>
          <p:nvPr/>
        </p:nvSpPr>
        <p:spPr>
          <a:xfrm>
            <a:off x="8092440" y="4681728"/>
            <a:ext cx="3017520" cy="9144"/>
          </a:xfrm>
          <a:prstGeom prst="rect">
            <a:avLst/>
          </a:prstGeom>
          <a:solidFill>
            <a:srgbClr val="3A4A7A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28" name="Text 28"/>
          <p:cNvSpPr txBox="1"/>
          <p:nvPr/>
        </p:nvSpPr>
        <p:spPr>
          <a:xfrm>
            <a:off x="8092440" y="480060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de-DE" sz="1100" dirty="0">
                <a:solidFill>
                  <a:srgbClr val="FFFFFF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Ursache: </a:t>
            </a:r>
            <a:r>
              <a:rPr lang="de-DE" sz="1100" dirty="0">
                <a:solidFill>
                  <a:srgbClr val="C2CADE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Preis und Zeile werden zwischengerundet. </a:t>
            </a:r>
            <a:r>
              <a:rPr lang="de-DE" sz="1100" dirty="0">
                <a:solidFill>
                  <a:srgbClr val="FFFFFF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Lösung: </a:t>
            </a:r>
            <a:r>
              <a:rPr lang="de-DE" sz="1100" dirty="0">
                <a:solidFill>
                  <a:srgbClr val="C2CADE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nur einmal runden (#163, nächste Folie).</a:t>
            </a:r>
            <a:endParaRPr lang="de-DE" sz="1100" dirty="0"/>
          </a:p>
        </p:txBody>
      </p:sp>
      <p:sp>
        <p:nvSpPr>
          <p:cNvPr id="29" name="Text 29"/>
          <p:cNvSpPr txBox="1"/>
          <p:nvPr/>
        </p:nvSpPr>
        <p:spPr>
          <a:xfrm>
            <a:off x="822960" y="5742432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de-DE" sz="95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Annahme: alle Rundungen fallen in dieselbe Richtung, BT-149 Basismenge = 1, 19 % USt. Ebenso: BT-129 Menge nur 4 NK — bis zu ± 0,00005 × Preis je Zeile bei teuren Artikeln.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Folie 31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Header 3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950" spc="100" dirty="0">
                <a:solidFill>
                  <a:srgbClr val="5B6890"/>
                </a:solidFill>
                <a:latin typeface="Inter Medium Text Medium" pitchFamily="34" charset="0"/>
                <a:ea typeface="Inter Medium Text Medium" pitchFamily="34" charset="-122"/>
                <a:cs typeface="Inter Medium Text Medium" pitchFamily="34" charset="-120"/>
              </a:rPr>
              <a:t>E-Rechnungs-Gipfel Umsetzungstage 2026</a:t>
            </a:r>
            <a:r>
              <a:rPr lang="de-DE" sz="950" spc="100" dirty="0">
                <a:solidFill>
                  <a:srgbClr val="C2CADE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   ·   </a:t>
            </a:r>
            <a:r>
              <a:rPr lang="de-DE" sz="950" spc="10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Workshop D · Datenqualität in der E-Rechnung</a:t>
            </a:r>
          </a:p>
        </p:txBody>
      </p:sp>
      <p:sp>
        <p:nvSpPr>
          <p:cNvPr id="4" name="SectionLabel 4"/>
          <p:cNvSpPr txBox="1"/>
          <p:nvPr/>
        </p:nvSpPr>
        <p:spPr>
          <a:xfrm>
            <a:off x="82296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1100" spc="300" dirty="0">
                <a:solidFill>
                  <a:srgbClr val="19C3C8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FRAGE 1 · LÖSUNG · MEIN VORSCHLAG #163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804672" y="1115568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de-DE" sz="3800" b="1" dirty="0">
                <a:solidFill>
                  <a:srgbClr val="1A2B5E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Nur einmal runden (#163)</a:t>
            </a:r>
          </a:p>
        </p:txBody>
      </p:sp>
      <p:sp>
        <p:nvSpPr>
          <p:cNvPr id="6" name="Tagline 6"/>
          <p:cNvSpPr txBox="1"/>
          <p:nvPr/>
        </p:nvSpPr>
        <p:spPr>
          <a:xfrm>
            <a:off x="822960" y="1865376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13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Gerundet wird nur, was bezahlt wird — sonst nichts.</a:t>
            </a:r>
          </a:p>
        </p:txBody>
      </p:sp>
      <p:sp>
        <p:nvSpPr>
          <p:cNvPr id="7" name="PageNum 7"/>
          <p:cNvSpPr txBox="1"/>
          <p:nvPr/>
        </p:nvSpPr>
        <p:spPr>
          <a:xfrm>
            <a:off x="10908792" y="651459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fld id="{67D73E2F-A595-473C-9F0C-80BA506D5B08}" type="slidenum">
              <a:rPr lang="de-DE" sz="1000" spc="200" dirty="0">
                <a:solidFill>
                  <a:srgbClr val="5B6890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5</a:t>
            </a:fld>
            <a:endParaRPr lang="de-DE" sz="1000" spc="200" dirty="0">
              <a:solidFill>
                <a:srgbClr val="5B6890"/>
              </a:solidFill>
              <a:latin typeface="Inter SemiBold Text SemiBold" pitchFamily="34" charset="0"/>
              <a:ea typeface="Inter SemiBold Text SemiBold" pitchFamily="34" charset="-122"/>
              <a:cs typeface="Inter SemiBold Text SemiBold" pitchFamily="34" charset="-120"/>
            </a:endParaRPr>
          </a:p>
        </p:txBody>
      </p:sp>
      <p:sp>
        <p:nvSpPr>
          <p:cNvPr id="8" name="Card 8"/>
          <p:cNvSpPr/>
          <p:nvPr/>
        </p:nvSpPr>
        <p:spPr>
          <a:xfrm>
            <a:off x="822960" y="2331720"/>
            <a:ext cx="516636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  <a:effectLst>
            <a:outerShdw blurRad="101600" dist="38100" dir="5400000" algn="bl" rotWithShape="0">
              <a:srgbClr val="0A1230">
                <a:alpha val="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9" name="IconCircle 9"/>
          <p:cNvSpPr/>
          <p:nvPr/>
        </p:nvSpPr>
        <p:spPr>
          <a:xfrm>
            <a:off x="1060704" y="2532888"/>
            <a:ext cx="402336" cy="402336"/>
          </a:xfrm>
          <a:prstGeom prst="ellipse">
            <a:avLst/>
          </a:prstGeom>
          <a:solidFill>
            <a:srgbClr val="19C3C8"/>
          </a:solidFill>
          <a:ln>
            <a:noFill/>
          </a:ln>
          <a:effectLst>
            <a:outerShdw blurRad="88900" dist="38100" dir="5400000" algn="bl" rotWithShape="0">
              <a:srgbClr val="0A123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pic>
        <p:nvPicPr>
          <p:cNvPr id="10" name="Icon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1346" y="2643530"/>
            <a:ext cx="181051" cy="181051"/>
          </a:xfrm>
          <a:prstGeom prst="rect">
            <a:avLst/>
          </a:prstGeom>
        </p:spPr>
      </p:pic>
      <p:sp>
        <p:nvSpPr>
          <p:cNvPr id="11" name="Text 11"/>
          <p:cNvSpPr txBox="1"/>
          <p:nvPr/>
        </p:nvSpPr>
        <p:spPr>
          <a:xfrm>
            <a:off x="1600200" y="2514600"/>
            <a:ext cx="4206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150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Gezahlte Beträge — einmal gerundet</a:t>
            </a:r>
          </a:p>
        </p:txBody>
      </p:sp>
      <p:sp>
        <p:nvSpPr>
          <p:cNvPr id="12" name="Text 12"/>
          <p:cNvSpPr txBox="1"/>
          <p:nvPr/>
        </p:nvSpPr>
        <p:spPr>
          <a:xfrm>
            <a:off x="1133856" y="2990088"/>
            <a:ext cx="4663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4592" indent="-164592" algn="l">
              <a:spcAft>
                <a:spcPts val="200"/>
              </a:spcAft>
              <a:buSzPct val="100000"/>
              <a:buChar char="•"/>
            </a:pPr>
            <a:r>
              <a:rPr lang="de-DE" sz="12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BT-115 Zahlbetrag: in der Minor Unit der Währung (EUR: Cent)</a:t>
            </a:r>
          </a:p>
          <a:p>
            <a:pPr marL="164592" indent="-164592" algn="l">
              <a:spcAft>
                <a:spcPts val="200"/>
              </a:spcAft>
              <a:buSzPct val="100000"/>
              <a:buChar char="•"/>
            </a:pPr>
            <a:r>
              <a:rPr lang="de-DE" sz="12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BT-114 Rundungsbetrag trägt die eine Rundung</a:t>
            </a:r>
          </a:p>
          <a:p>
            <a:pPr marL="164592" indent="-164592" algn="l">
              <a:spcAft>
                <a:spcPts val="200"/>
              </a:spcAft>
              <a:buSzPct val="100000"/>
              <a:buChar char="•"/>
            </a:pPr>
            <a:r>
              <a:rPr lang="de-DE" sz="12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BT-113, BT-172, BT-179, BT-183 ebenso — sie ändern den Zahlbetrag</a:t>
            </a:r>
          </a:p>
        </p:txBody>
      </p:sp>
      <p:sp>
        <p:nvSpPr>
          <p:cNvPr id="13" name="Card 13"/>
          <p:cNvSpPr/>
          <p:nvPr/>
        </p:nvSpPr>
        <p:spPr>
          <a:xfrm>
            <a:off x="822960" y="4160520"/>
            <a:ext cx="516636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  <a:effectLst>
            <a:outerShdw blurRad="101600" dist="38100" dir="5400000" algn="bl" rotWithShape="0">
              <a:srgbClr val="0A1230">
                <a:alpha val="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4" name="IconCircle 14"/>
          <p:cNvSpPr/>
          <p:nvPr/>
        </p:nvSpPr>
        <p:spPr>
          <a:xfrm>
            <a:off x="1060704" y="4361688"/>
            <a:ext cx="402336" cy="402336"/>
          </a:xfrm>
          <a:prstGeom prst="ellipse">
            <a:avLst/>
          </a:prstGeom>
          <a:solidFill>
            <a:srgbClr val="1A2B5E"/>
          </a:solidFill>
          <a:ln>
            <a:noFill/>
          </a:ln>
          <a:effectLst>
            <a:outerShdw blurRad="88900" dist="38100" dir="5400000" algn="bl" rotWithShape="0">
              <a:srgbClr val="0A123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pic>
        <p:nvPicPr>
          <p:cNvPr id="15" name="Icon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1346" y="4472330"/>
            <a:ext cx="181051" cy="181051"/>
          </a:xfrm>
          <a:prstGeom prst="rect">
            <a:avLst/>
          </a:prstGeom>
        </p:spPr>
      </p:pic>
      <p:sp>
        <p:nvSpPr>
          <p:cNvPr id="16" name="Text 16"/>
          <p:cNvSpPr txBox="1"/>
          <p:nvPr/>
        </p:nvSpPr>
        <p:spPr>
          <a:xfrm>
            <a:off x="1600200" y="4343400"/>
            <a:ext cx="4206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150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Alles andere — auch die USt — wie berechnet</a:t>
            </a:r>
          </a:p>
        </p:txBody>
      </p:sp>
      <p:sp>
        <p:nvSpPr>
          <p:cNvPr id="17" name="Text 17"/>
          <p:cNvSpPr txBox="1"/>
          <p:nvPr/>
        </p:nvSpPr>
        <p:spPr>
          <a:xfrm>
            <a:off x="1133856" y="4818888"/>
            <a:ext cx="4663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4592" indent="-164592" algn="l">
              <a:spcAft>
                <a:spcPts val="200"/>
              </a:spcAft>
              <a:buSzPct val="100000"/>
              <a:buChar char="•"/>
            </a:pPr>
            <a:r>
              <a:rPr lang="de-DE" sz="12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Preise, Zeilen, Summen, Bemessungsgrundlage und USt</a:t>
            </a:r>
          </a:p>
          <a:p>
            <a:pPr marL="164592" indent="-164592" algn="l">
              <a:spcAft>
                <a:spcPts val="200"/>
              </a:spcAft>
              <a:buSzPct val="100000"/>
              <a:buChar char="•"/>
            </a:pPr>
            <a:r>
              <a:rPr lang="de-DE" sz="12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Cent-USt nur per nationaler CIUS (z. B. UStAE 14.5 (20))</a:t>
            </a:r>
          </a:p>
          <a:p>
            <a:pPr marL="164592" indent="-164592" algn="l">
              <a:spcAft>
                <a:spcPts val="200"/>
              </a:spcAft>
              <a:buSzPct val="100000"/>
              <a:buChar char="•"/>
            </a:pPr>
            <a:r>
              <a:rPr lang="de-DE" sz="12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Wer heute auf die Minor Unit rundet, bleibt gültig (Warnung)</a:t>
            </a:r>
          </a:p>
        </p:txBody>
      </p:sp>
      <p:sp>
        <p:nvSpPr>
          <p:cNvPr id="18" name="Panel 18"/>
          <p:cNvSpPr/>
          <p:nvPr/>
        </p:nvSpPr>
        <p:spPr>
          <a:xfrm>
            <a:off x="6172200" y="2331720"/>
            <a:ext cx="5193792" cy="3474720"/>
          </a:xfrm>
          <a:prstGeom prst="roundRect">
            <a:avLst>
              <a:gd name="adj" fmla="val 2631"/>
            </a:avLst>
          </a:prstGeom>
          <a:solidFill>
            <a:srgbClr val="1A2B5E"/>
          </a:solidFill>
          <a:ln>
            <a:noFill/>
          </a:ln>
          <a:effectLst>
            <a:outerShdw blurRad="101600" dist="38100" dir="5400000" algn="bl" rotWithShape="0">
              <a:srgbClr val="0A123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9" name="Text 19"/>
          <p:cNvSpPr txBox="1"/>
          <p:nvPr/>
        </p:nvSpPr>
        <p:spPr>
          <a:xfrm>
            <a:off x="6492240" y="2514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1100" spc="300" dirty="0">
                <a:solidFill>
                  <a:srgbClr val="19C3C8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WAS SICH ÄNDERT</a:t>
            </a:r>
          </a:p>
        </p:txBody>
      </p:sp>
      <p:sp>
        <p:nvSpPr>
          <p:cNvPr id="20" name="Shape 20"/>
          <p:cNvSpPr/>
          <p:nvPr/>
        </p:nvSpPr>
        <p:spPr>
          <a:xfrm>
            <a:off x="6492240" y="2944368"/>
            <a:ext cx="292608" cy="292608"/>
          </a:xfrm>
          <a:prstGeom prst="ellipse">
            <a:avLst/>
          </a:prstGeom>
          <a:solidFill>
            <a:srgbClr val="19C3C8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21" name="Text 21"/>
          <p:cNvSpPr txBox="1"/>
          <p:nvPr/>
        </p:nvSpPr>
        <p:spPr>
          <a:xfrm>
            <a:off x="6492240" y="29443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de-DE" sz="120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✓</a:t>
            </a:r>
          </a:p>
        </p:txBody>
      </p:sp>
      <p:sp>
        <p:nvSpPr>
          <p:cNvPr id="22" name="Text 22"/>
          <p:cNvSpPr txBox="1"/>
          <p:nvPr/>
        </p:nvSpPr>
        <p:spPr>
          <a:xfrm>
            <a:off x="6949440" y="2880360"/>
            <a:ext cx="4251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de-DE" sz="1250" dirty="0">
                <a:solidFill>
                  <a:srgbClr val="FFFFFF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6.5.14 gilt für die ganze Rechenkette, nicht nur je Regel</a:t>
            </a:r>
          </a:p>
        </p:txBody>
      </p:sp>
      <p:sp>
        <p:nvSpPr>
          <p:cNvPr id="23" name="Shape 23"/>
          <p:cNvSpPr/>
          <p:nvPr/>
        </p:nvSpPr>
        <p:spPr>
          <a:xfrm>
            <a:off x="6492240" y="3511296"/>
            <a:ext cx="292608" cy="292608"/>
          </a:xfrm>
          <a:prstGeom prst="ellipse">
            <a:avLst/>
          </a:prstGeom>
          <a:solidFill>
            <a:srgbClr val="19C3C8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24" name="Text 24"/>
          <p:cNvSpPr txBox="1"/>
          <p:nvPr/>
        </p:nvSpPr>
        <p:spPr>
          <a:xfrm>
            <a:off x="6492240" y="35112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de-DE" sz="120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✓</a:t>
            </a:r>
          </a:p>
        </p:txBody>
      </p:sp>
      <p:sp>
        <p:nvSpPr>
          <p:cNvPr id="25" name="Text 25"/>
          <p:cNvSpPr txBox="1"/>
          <p:nvPr/>
        </p:nvSpPr>
        <p:spPr>
          <a:xfrm>
            <a:off x="6949440" y="3447288"/>
            <a:ext cx="4251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de-DE" sz="1250" dirty="0">
                <a:solidFill>
                  <a:srgbClr val="FFFFFF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Exakte Validierung (decimal128): gleich → gültig, in der Toleranz → Warnung, sonst Fehler</a:t>
            </a:r>
          </a:p>
        </p:txBody>
      </p:sp>
      <p:sp>
        <p:nvSpPr>
          <p:cNvPr id="26" name="Shape 26"/>
          <p:cNvSpPr/>
          <p:nvPr/>
        </p:nvSpPr>
        <p:spPr>
          <a:xfrm>
            <a:off x="6492240" y="4078224"/>
            <a:ext cx="292608" cy="292608"/>
          </a:xfrm>
          <a:prstGeom prst="ellipse">
            <a:avLst/>
          </a:prstGeom>
          <a:solidFill>
            <a:srgbClr val="19C3C8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27" name="Text 27"/>
          <p:cNvSpPr txBox="1"/>
          <p:nvPr/>
        </p:nvSpPr>
        <p:spPr>
          <a:xfrm>
            <a:off x="6492240" y="40782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de-DE" sz="120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✓</a:t>
            </a:r>
          </a:p>
        </p:txBody>
      </p:sp>
      <p:sp>
        <p:nvSpPr>
          <p:cNvPr id="28" name="Text 28"/>
          <p:cNvSpPr txBox="1"/>
          <p:nvPr/>
        </p:nvSpPr>
        <p:spPr>
          <a:xfrm>
            <a:off x="6949440" y="4014216"/>
            <a:ext cx="4251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de-DE" sz="1250" dirty="0">
                <a:solidFill>
                  <a:srgbClr val="FFFFFF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Heutige Toleranzen bleiben — sie trennen jetzt Warnung von Fehler</a:t>
            </a:r>
          </a:p>
        </p:txBody>
      </p:sp>
      <p:sp>
        <p:nvSpPr>
          <p:cNvPr id="29" name="Shape 29"/>
          <p:cNvSpPr/>
          <p:nvPr/>
        </p:nvSpPr>
        <p:spPr>
          <a:xfrm>
            <a:off x="6492240" y="4645152"/>
            <a:ext cx="292608" cy="292608"/>
          </a:xfrm>
          <a:prstGeom prst="ellipse">
            <a:avLst/>
          </a:prstGeom>
          <a:solidFill>
            <a:srgbClr val="19C3C8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30" name="Text 30"/>
          <p:cNvSpPr txBox="1"/>
          <p:nvPr/>
        </p:nvSpPr>
        <p:spPr>
          <a:xfrm>
            <a:off x="6492240" y="46451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de-DE" sz="120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✓</a:t>
            </a:r>
          </a:p>
        </p:txBody>
      </p:sp>
      <p:sp>
        <p:nvSpPr>
          <p:cNvPr id="31" name="Text 31"/>
          <p:cNvSpPr txBox="1"/>
          <p:nvPr/>
        </p:nvSpPr>
        <p:spPr>
          <a:xfrm>
            <a:off x="6949440" y="4581144"/>
            <a:ext cx="4251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de-DE" sz="1250" dirty="0">
                <a:solidFill>
                  <a:srgbClr val="FFFFFF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Keine Anforderung an Software: weder Maximum noch Minimum an Nachkommastellen</a:t>
            </a:r>
          </a:p>
        </p:txBody>
      </p:sp>
      <p:sp>
        <p:nvSpPr>
          <p:cNvPr id="32" name="Shape 32"/>
          <p:cNvSpPr/>
          <p:nvPr/>
        </p:nvSpPr>
        <p:spPr>
          <a:xfrm>
            <a:off x="6492240" y="5212080"/>
            <a:ext cx="292608" cy="292608"/>
          </a:xfrm>
          <a:prstGeom prst="ellipse">
            <a:avLst/>
          </a:prstGeom>
          <a:solidFill>
            <a:srgbClr val="19C3C8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33" name="Text 33"/>
          <p:cNvSpPr txBox="1"/>
          <p:nvPr/>
        </p:nvSpPr>
        <p:spPr>
          <a:xfrm>
            <a:off x="6492240" y="52120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de-DE" sz="120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✓</a:t>
            </a:r>
          </a:p>
        </p:txBody>
      </p:sp>
      <p:sp>
        <p:nvSpPr>
          <p:cNvPr id="34" name="Text 34"/>
          <p:cNvSpPr txBox="1"/>
          <p:nvPr/>
        </p:nvSpPr>
        <p:spPr>
          <a:xfrm>
            <a:off x="6949440" y="5148072"/>
            <a:ext cx="4251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de-DE" sz="1250" dirty="0">
                <a:solidFill>
                  <a:srgbClr val="FFFFFF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Syntax unverändert: Beträge in UBL und CII sind xsd:decimal</a:t>
            </a:r>
          </a:p>
        </p:txBody>
      </p:sp>
      <p:sp>
        <p:nvSpPr>
          <p:cNvPr id="35" name="Pill 35"/>
          <p:cNvSpPr/>
          <p:nvPr/>
        </p:nvSpPr>
        <p:spPr>
          <a:xfrm>
            <a:off x="822960" y="5943600"/>
            <a:ext cx="10543032" cy="411480"/>
          </a:xfrm>
          <a:prstGeom prst="roundRect">
            <a:avLst>
              <a:gd name="adj" fmla="val 50000"/>
            </a:avLst>
          </a:prstGeom>
          <a:solidFill>
            <a:srgbClr val="F4F6FB"/>
          </a:solidFill>
          <a:ln w="9525">
            <a:solidFill>
              <a:srgbClr val="E2E7F2"/>
            </a:solidFill>
            <a:prstDash val="solid"/>
          </a:ln>
        </p:spPr>
        <p:txBody>
          <a:bodyPr wrap="square" lIns="36576" tIns="36576" rIns="36576" bIns="36576" rtlCol="0" anchor="ctr"/>
          <a:lstStyle/>
          <a:p>
            <a:pPr marL="0" indent="0" algn="ctr">
              <a:buNone/>
            </a:pPr>
            <a:r>
              <a:rPr lang="de-DE" sz="1100" dirty="0">
                <a:solidFill>
                  <a:srgbClr val="5B6890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Stand 14.10.2026: Update 3 in WG1  ·  </a:t>
            </a:r>
            <a:r>
              <a:rPr lang="de-DE" sz="11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Warnung/Fehler nach der 3. Option von Cyrille Sautereau · offen: DRR mit Cent-Zeilen (FR), Rückwärtskompatibilität</a:t>
            </a:r>
          </a:p>
        </p:txBody>
      </p:sp>
      <p:sp>
        <p:nvSpPr>
          <p:cNvPr id="36" name="Speaker 36">
            <a:hlinkClick r:id="rId5"/>
          </p:cNvPr>
          <p:cNvSpPr txBox="1"/>
          <p:nvPr/>
        </p:nvSpPr>
        <p:spPr>
          <a:xfrm>
            <a:off x="7680960" y="6514592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de-DE" sz="1000" spc="100" dirty="0">
                <a:solidFill>
                  <a:srgbClr val="9AA4C2"/>
                </a:solidFill>
                <a:latin typeface="Inter Medium Text Medium" pitchFamily="34" charset="0"/>
                <a:ea typeface="Inter Medium Text Medium" pitchFamily="34" charset="-122"/>
                <a:cs typeface="Inter Medium Text Medium" pitchFamily="34" charset="-120"/>
              </a:rPr>
              <a:t>© Svante Schubert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Folie 6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Header 3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950" spc="100" dirty="0">
                <a:solidFill>
                  <a:srgbClr val="5B6890"/>
                </a:solidFill>
                <a:latin typeface="Inter Medium Text Medium" pitchFamily="34" charset="0"/>
                <a:ea typeface="Inter Medium Text Medium" pitchFamily="34" charset="-122"/>
                <a:cs typeface="Inter Medium Text Medium" pitchFamily="34" charset="-120"/>
              </a:rPr>
              <a:t>E-Rechnungs-Gipfel Umsetzungstage 2026</a:t>
            </a:r>
            <a:r>
              <a:rPr lang="de-DE" sz="950" spc="100" dirty="0">
                <a:solidFill>
                  <a:srgbClr val="C2CADE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   ·   </a:t>
            </a:r>
            <a:r>
              <a:rPr lang="de-DE" sz="950" spc="10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Workshop D · Datenqualität in der E-Rechnung</a:t>
            </a:r>
          </a:p>
        </p:txBody>
      </p:sp>
      <p:sp>
        <p:nvSpPr>
          <p:cNvPr id="4" name="SectionLabel 4"/>
          <p:cNvSpPr txBox="1"/>
          <p:nvPr/>
        </p:nvSpPr>
        <p:spPr>
          <a:xfrm>
            <a:off x="82296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1100" spc="300" dirty="0">
                <a:solidFill>
                  <a:srgbClr val="19C3C8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FRAGE 2 · BRUTTORECHNUNG · BMF 15.10.2026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804672" y="1115568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de-DE" sz="3800" b="1" dirty="0">
                <a:solidFill>
                  <a:srgbClr val="1A2B5E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Das BMF sieht das Problem</a:t>
            </a:r>
          </a:p>
        </p:txBody>
      </p:sp>
      <p:sp>
        <p:nvSpPr>
          <p:cNvPr id="6" name="Speaker 6">
            <a:hlinkClick r:id="rId3"/>
          </p:cNvPr>
          <p:cNvSpPr txBox="1"/>
          <p:nvPr/>
        </p:nvSpPr>
        <p:spPr>
          <a:xfrm>
            <a:off x="7680960" y="6514592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de-DE" sz="1000" spc="100" dirty="0">
                <a:solidFill>
                  <a:srgbClr val="9AA4C2"/>
                </a:solidFill>
                <a:latin typeface="Inter Medium Text Medium" pitchFamily="34" charset="0"/>
                <a:ea typeface="Inter Medium Text Medium" pitchFamily="34" charset="-122"/>
                <a:cs typeface="Inter Medium Text Medium" pitchFamily="34" charset="-120"/>
              </a:rPr>
              <a:t>© Svante Schubert</a:t>
            </a:r>
          </a:p>
        </p:txBody>
      </p:sp>
      <p:sp>
        <p:nvSpPr>
          <p:cNvPr id="7" name="PageNum 7"/>
          <p:cNvSpPr txBox="1"/>
          <p:nvPr/>
        </p:nvSpPr>
        <p:spPr>
          <a:xfrm>
            <a:off x="10908792" y="651459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fld id="{245C3502-1688-4C3A-868E-188C8596DD59}" type="slidenum">
              <a:rPr lang="de-DE" sz="1000" spc="200" dirty="0">
                <a:solidFill>
                  <a:srgbClr val="5B6890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6</a:t>
            </a:fld>
            <a:endParaRPr lang="de-DE" sz="1000" spc="200" dirty="0">
              <a:solidFill>
                <a:srgbClr val="5B6890"/>
              </a:solidFill>
              <a:latin typeface="Inter SemiBold Text SemiBold" pitchFamily="34" charset="0"/>
              <a:ea typeface="Inter SemiBold Text SemiBold" pitchFamily="34" charset="-122"/>
              <a:cs typeface="Inter SemiBold Text SemiBold" pitchFamily="34" charset="-120"/>
            </a:endParaRPr>
          </a:p>
        </p:txBody>
      </p:sp>
      <p:sp>
        <p:nvSpPr>
          <p:cNvPr id="8" name="Text 8"/>
          <p:cNvSpPr txBox="1"/>
          <p:nvPr/>
        </p:nvSpPr>
        <p:spPr>
          <a:xfrm>
            <a:off x="822960" y="1847088"/>
            <a:ext cx="10515600" cy="3474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de-DE" sz="13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BMF-Schreiben vom 15. Oktober 2026, Abschnitt 2.5 Bruttopreisrechnung</a:t>
            </a:r>
          </a:p>
        </p:txBody>
      </p:sp>
      <p:sp>
        <p:nvSpPr>
          <p:cNvPr id="12" name="Card 12"/>
          <p:cNvSpPr/>
          <p:nvPr/>
        </p:nvSpPr>
        <p:spPr>
          <a:xfrm>
            <a:off x="822960" y="2377440"/>
            <a:ext cx="34290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  <a:effectLst>
            <a:outerShdw blurRad="101600" dist="38100" dir="5400000" algn="bl" rotWithShape="0">
              <a:srgbClr val="0A1230">
                <a:alpha val="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3" name="IconCircle 13"/>
          <p:cNvSpPr/>
          <p:nvPr/>
        </p:nvSpPr>
        <p:spPr>
          <a:xfrm>
            <a:off x="1097280" y="2633472"/>
            <a:ext cx="457200" cy="457200"/>
          </a:xfrm>
          <a:prstGeom prst="ellipse">
            <a:avLst/>
          </a:prstGeom>
          <a:solidFill>
            <a:srgbClr val="19C3C8"/>
          </a:solidFill>
          <a:ln>
            <a:noFill/>
          </a:ln>
          <a:effectLst>
            <a:outerShdw blurRad="88900" dist="38100" dir="5400000" algn="bl" rotWithShape="0">
              <a:srgbClr val="0A123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pic>
        <p:nvPicPr>
          <p:cNvPr id="14" name="Icon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3010" y="2759202"/>
            <a:ext cx="205740" cy="205740"/>
          </a:xfrm>
          <a:prstGeom prst="rect">
            <a:avLst/>
          </a:prstGeom>
        </p:spPr>
      </p:pic>
      <p:sp>
        <p:nvSpPr>
          <p:cNvPr id="15" name="Text 15"/>
          <p:cNvSpPr txBox="1"/>
          <p:nvPr/>
        </p:nvSpPr>
        <p:spPr>
          <a:xfrm>
            <a:off x="1097280" y="320040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150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USt auf den Cent genau</a:t>
            </a:r>
          </a:p>
        </p:txBody>
      </p:sp>
      <p:sp>
        <p:nvSpPr>
          <p:cNvPr id="16" name="Text 16"/>
          <p:cNvSpPr txBox="1"/>
          <p:nvPr/>
        </p:nvSpPr>
        <p:spPr>
          <a:xfrm>
            <a:off x="1097280" y="3584448"/>
            <a:ext cx="2926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de-DE" sz="115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Entgelt ist die Gegenleistung minus USt; die Steuer wird centgenau und kaufmännisch gerundet (Rn. 17).</a:t>
            </a:r>
          </a:p>
        </p:txBody>
      </p:sp>
      <p:sp>
        <p:nvSpPr>
          <p:cNvPr id="17" name="Card 17"/>
          <p:cNvSpPr/>
          <p:nvPr/>
        </p:nvSpPr>
        <p:spPr>
          <a:xfrm>
            <a:off x="4379976" y="2377440"/>
            <a:ext cx="34290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  <a:effectLst>
            <a:outerShdw blurRad="101600" dist="38100" dir="5400000" algn="bl" rotWithShape="0">
              <a:srgbClr val="0A1230">
                <a:alpha val="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8" name="IconCircle 18"/>
          <p:cNvSpPr/>
          <p:nvPr/>
        </p:nvSpPr>
        <p:spPr>
          <a:xfrm>
            <a:off x="4654296" y="2633472"/>
            <a:ext cx="457200" cy="457200"/>
          </a:xfrm>
          <a:prstGeom prst="ellipse">
            <a:avLst/>
          </a:prstGeom>
          <a:solidFill>
            <a:srgbClr val="19C3C8"/>
          </a:solidFill>
          <a:ln>
            <a:noFill/>
          </a:ln>
          <a:effectLst>
            <a:outerShdw blurRad="88900" dist="38100" dir="5400000" algn="bl" rotWithShape="0">
              <a:srgbClr val="0A123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pic>
        <p:nvPicPr>
          <p:cNvPr id="19" name="Icon 1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80026" y="2759202"/>
            <a:ext cx="205740" cy="205740"/>
          </a:xfrm>
          <a:prstGeom prst="rect">
            <a:avLst/>
          </a:prstGeom>
        </p:spPr>
      </p:pic>
      <p:sp>
        <p:nvSpPr>
          <p:cNvPr id="20" name="Text 20"/>
          <p:cNvSpPr txBox="1"/>
          <p:nvPr/>
        </p:nvSpPr>
        <p:spPr>
          <a:xfrm>
            <a:off x="4654296" y="320040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150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Norm rechnet vom Entgelt</a:t>
            </a:r>
          </a:p>
        </p:txBody>
      </p:sp>
      <p:sp>
        <p:nvSpPr>
          <p:cNvPr id="21" name="Text 21"/>
          <p:cNvSpPr txBox="1"/>
          <p:nvPr/>
        </p:nvSpPr>
        <p:spPr>
          <a:xfrm>
            <a:off x="4654296" y="3584448"/>
            <a:ext cx="2926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de-DE" sz="115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Bei Bruttopreisen, z. B. mit Buchpreisbindung, führt das zu Rundungsdifferenzen (Rn. 18).</a:t>
            </a:r>
          </a:p>
        </p:txBody>
      </p:sp>
      <p:sp>
        <p:nvSpPr>
          <p:cNvPr id="22" name="Card 22"/>
          <p:cNvSpPr/>
          <p:nvPr/>
        </p:nvSpPr>
        <p:spPr>
          <a:xfrm>
            <a:off x="7936992" y="2377440"/>
            <a:ext cx="34290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  <a:effectLst>
            <a:outerShdw blurRad="101600" dist="38100" dir="5400000" algn="bl" rotWithShape="0">
              <a:srgbClr val="0A1230">
                <a:alpha val="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3" name="IconCircle 23"/>
          <p:cNvSpPr/>
          <p:nvPr/>
        </p:nvSpPr>
        <p:spPr>
          <a:xfrm>
            <a:off x="8211312" y="2633472"/>
            <a:ext cx="457200" cy="457200"/>
          </a:xfrm>
          <a:prstGeom prst="ellipse">
            <a:avLst/>
          </a:prstGeom>
          <a:solidFill>
            <a:srgbClr val="19C3C8"/>
          </a:solidFill>
          <a:ln>
            <a:noFill/>
          </a:ln>
          <a:effectLst>
            <a:outerShdw blurRad="88900" dist="38100" dir="5400000" algn="bl" rotWithShape="0">
              <a:srgbClr val="0A123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pic>
        <p:nvPicPr>
          <p:cNvPr id="24" name="Icon 2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37042" y="2759202"/>
            <a:ext cx="205740" cy="205740"/>
          </a:xfrm>
          <a:prstGeom prst="rect">
            <a:avLst/>
          </a:prstGeom>
        </p:spPr>
      </p:pic>
      <p:sp>
        <p:nvSpPr>
          <p:cNvPr id="25" name="Text 25"/>
          <p:cNvSpPr txBox="1"/>
          <p:nvPr/>
        </p:nvSpPr>
        <p:spPr>
          <a:xfrm>
            <a:off x="8211312" y="320040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150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Nicht immer regelkonform</a:t>
            </a:r>
          </a:p>
        </p:txBody>
      </p:sp>
      <p:sp>
        <p:nvSpPr>
          <p:cNvPr id="26" name="Text 26"/>
          <p:cNvSpPr txBox="1"/>
          <p:nvPr/>
        </p:nvSpPr>
        <p:spPr>
          <a:xfrm>
            <a:off x="8211312" y="3584448"/>
            <a:ext cx="2926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de-DE" sz="115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Norm und steuerliche Rundungsregel lassen sich dann nicht immer zugleich einhalten (Rn. 18).</a:t>
            </a:r>
          </a:p>
        </p:txBody>
      </p:sp>
      <p:sp>
        <p:nvSpPr>
          <p:cNvPr id="27" name="Card 27"/>
          <p:cNvSpPr/>
          <p:nvPr/>
        </p:nvSpPr>
        <p:spPr>
          <a:xfrm>
            <a:off x="822960" y="4343400"/>
            <a:ext cx="34290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  <a:effectLst>
            <a:outerShdw blurRad="101600" dist="38100" dir="5400000" algn="bl" rotWithShape="0">
              <a:srgbClr val="0A1230">
                <a:alpha val="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8" name="IconCircle 28"/>
          <p:cNvSpPr/>
          <p:nvPr/>
        </p:nvSpPr>
        <p:spPr>
          <a:xfrm>
            <a:off x="1097280" y="4599432"/>
            <a:ext cx="457200" cy="457200"/>
          </a:xfrm>
          <a:prstGeom prst="ellipse">
            <a:avLst/>
          </a:prstGeom>
          <a:solidFill>
            <a:srgbClr val="19C3C8"/>
          </a:solidFill>
          <a:ln>
            <a:noFill/>
          </a:ln>
          <a:effectLst>
            <a:outerShdw blurRad="88900" dist="38100" dir="5400000" algn="bl" rotWithShape="0">
              <a:srgbClr val="0A123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pic>
        <p:nvPicPr>
          <p:cNvPr id="29" name="Icon 2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23010" y="4725162"/>
            <a:ext cx="205740" cy="205740"/>
          </a:xfrm>
          <a:prstGeom prst="rect">
            <a:avLst/>
          </a:prstGeom>
        </p:spPr>
      </p:pic>
      <p:sp>
        <p:nvSpPr>
          <p:cNvPr id="30" name="Text 30"/>
          <p:cNvSpPr txBox="1"/>
          <p:nvPr/>
        </p:nvSpPr>
        <p:spPr>
          <a:xfrm>
            <a:off x="1097280" y="516636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150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Noch kein Bruttoformat</a:t>
            </a:r>
          </a:p>
        </p:txBody>
      </p:sp>
      <p:sp>
        <p:nvSpPr>
          <p:cNvPr id="31" name="Text 31"/>
          <p:cNvSpPr txBox="1"/>
          <p:nvPr/>
        </p:nvSpPr>
        <p:spPr>
          <a:xfrm>
            <a:off x="1097280" y="5550408"/>
            <a:ext cx="2926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de-DE" sz="115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XRechnung und ZUGFeRD haben keines; welches Format gilt, entscheiden die Vertragspartner (Rn. 18 f.).</a:t>
            </a:r>
          </a:p>
        </p:txBody>
      </p:sp>
      <p:sp>
        <p:nvSpPr>
          <p:cNvPr id="32" name="Card 32"/>
          <p:cNvSpPr/>
          <p:nvPr/>
        </p:nvSpPr>
        <p:spPr>
          <a:xfrm>
            <a:off x="4379976" y="4343400"/>
            <a:ext cx="34290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  <a:effectLst>
            <a:outerShdw blurRad="101600" dist="38100" dir="5400000" algn="bl" rotWithShape="0">
              <a:srgbClr val="0A1230">
                <a:alpha val="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33" name="IconCircle 33"/>
          <p:cNvSpPr/>
          <p:nvPr/>
        </p:nvSpPr>
        <p:spPr>
          <a:xfrm>
            <a:off x="4654296" y="4599432"/>
            <a:ext cx="457200" cy="457200"/>
          </a:xfrm>
          <a:prstGeom prst="ellipse">
            <a:avLst/>
          </a:prstGeom>
          <a:solidFill>
            <a:srgbClr val="19C3C8"/>
          </a:solidFill>
          <a:ln>
            <a:noFill/>
          </a:ln>
          <a:effectLst>
            <a:outerShdw blurRad="88900" dist="38100" dir="5400000" algn="bl" rotWithShape="0">
              <a:srgbClr val="0A123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pic>
        <p:nvPicPr>
          <p:cNvPr id="34" name="Icon 3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80026" y="4725162"/>
            <a:ext cx="205740" cy="205740"/>
          </a:xfrm>
          <a:prstGeom prst="rect">
            <a:avLst/>
          </a:prstGeom>
        </p:spPr>
      </p:pic>
      <p:sp>
        <p:nvSpPr>
          <p:cNvPr id="35" name="Text 35"/>
          <p:cNvSpPr txBox="1"/>
          <p:nvPr/>
        </p:nvSpPr>
        <p:spPr>
          <a:xfrm>
            <a:off x="4654296" y="516636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150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Übergang bis 31.12.2027</a:t>
            </a:r>
          </a:p>
        </p:txBody>
      </p:sp>
      <p:sp>
        <p:nvSpPr>
          <p:cNvPr id="36" name="Text 36"/>
          <p:cNvSpPr txBox="1"/>
          <p:nvPr/>
        </p:nvSpPr>
        <p:spPr>
          <a:xfrm>
            <a:off x="4654296" y="5550408"/>
            <a:ext cx="2926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de-DE" sz="115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Im strukturierten Teil genügen die Summen je Steuersatz mit dem Steuerbetrag (Rn. 19).</a:t>
            </a:r>
          </a:p>
        </p:txBody>
      </p:sp>
      <p:sp>
        <p:nvSpPr>
          <p:cNvPr id="37" name="Card 37"/>
          <p:cNvSpPr/>
          <p:nvPr/>
        </p:nvSpPr>
        <p:spPr>
          <a:xfrm>
            <a:off x="7936992" y="4343400"/>
            <a:ext cx="34290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  <a:effectLst>
            <a:outerShdw blurRad="101600" dist="38100" dir="5400000" algn="bl" rotWithShape="0">
              <a:srgbClr val="0A1230">
                <a:alpha val="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38" name="IconCircle 38"/>
          <p:cNvSpPr/>
          <p:nvPr/>
        </p:nvSpPr>
        <p:spPr>
          <a:xfrm>
            <a:off x="8211312" y="4599432"/>
            <a:ext cx="457200" cy="457200"/>
          </a:xfrm>
          <a:prstGeom prst="ellipse">
            <a:avLst/>
          </a:prstGeom>
          <a:solidFill>
            <a:srgbClr val="19C3C8"/>
          </a:solidFill>
          <a:ln>
            <a:noFill/>
          </a:ln>
          <a:effectLst>
            <a:outerShdw blurRad="88900" dist="38100" dir="5400000" algn="bl" rotWithShape="0">
              <a:srgbClr val="0A123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pic>
        <p:nvPicPr>
          <p:cNvPr id="39" name="Icon 3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37042" y="4725162"/>
            <a:ext cx="205740" cy="205740"/>
          </a:xfrm>
          <a:prstGeom prst="rect">
            <a:avLst/>
          </a:prstGeom>
        </p:spPr>
      </p:pic>
      <p:sp>
        <p:nvSpPr>
          <p:cNvPr id="40" name="Text 40"/>
          <p:cNvSpPr txBox="1"/>
          <p:nvPr/>
        </p:nvSpPr>
        <p:spPr>
          <a:xfrm>
            <a:off x="8211312" y="516636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150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Einzelpositionen in der Anlage</a:t>
            </a:r>
          </a:p>
        </p:txBody>
      </p:sp>
      <p:sp>
        <p:nvSpPr>
          <p:cNvPr id="41" name="Text 41"/>
          <p:cNvSpPr txBox="1"/>
          <p:nvPr/>
        </p:nvSpPr>
        <p:spPr>
          <a:xfrm>
            <a:off x="8211312" y="5550408"/>
            <a:ext cx="2926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de-DE" sz="115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Eine lesbare Anlage zeigt die Positionen; der strukturierte Teil verweist eindeutig darauf (Rn. 19).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Folie 32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Header 3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950" spc="100" dirty="0">
                <a:solidFill>
                  <a:srgbClr val="5B6890"/>
                </a:solidFill>
                <a:latin typeface="Inter Medium Text Medium" pitchFamily="34" charset="0"/>
                <a:ea typeface="Inter Medium Text Medium" pitchFamily="34" charset="-122"/>
                <a:cs typeface="Inter Medium Text Medium" pitchFamily="34" charset="-120"/>
              </a:rPr>
              <a:t>E-Rechnungs-Gipfel Umsetzungstage 2026</a:t>
            </a:r>
            <a:r>
              <a:rPr lang="de-DE" sz="950" spc="100" dirty="0">
                <a:solidFill>
                  <a:srgbClr val="C2CADE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   ·   </a:t>
            </a:r>
            <a:r>
              <a:rPr lang="de-DE" sz="950" spc="10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Workshop D · Datenqualität in der E-Rechnung</a:t>
            </a:r>
          </a:p>
        </p:txBody>
      </p:sp>
      <p:sp>
        <p:nvSpPr>
          <p:cNvPr id="4" name="SectionLabel 4"/>
          <p:cNvSpPr txBox="1"/>
          <p:nvPr/>
        </p:nvSpPr>
        <p:spPr>
          <a:xfrm>
            <a:off x="82296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1100" spc="300" dirty="0">
                <a:solidFill>
                  <a:srgbClr val="19C3C8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FRAGE 2 · LÖSUNG · MEIN VORSCHLAG #164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804672" y="1115568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de-DE" sz="3800" b="1" dirty="0">
                <a:solidFill>
                  <a:srgbClr val="1A2B5E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Bruttopreise für die EN Core (#164)</a:t>
            </a:r>
          </a:p>
        </p:txBody>
      </p:sp>
      <p:sp>
        <p:nvSpPr>
          <p:cNvPr id="6" name="Tagline 6"/>
          <p:cNvSpPr txBox="1"/>
          <p:nvPr/>
        </p:nvSpPr>
        <p:spPr>
          <a:xfrm>
            <a:off x="822960" y="1865376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13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Ist der Preis inklusive USt festgelegt, soll er die Rechnung führen.</a:t>
            </a:r>
          </a:p>
        </p:txBody>
      </p:sp>
      <p:sp>
        <p:nvSpPr>
          <p:cNvPr id="7" name="PageNum 7"/>
          <p:cNvSpPr txBox="1"/>
          <p:nvPr/>
        </p:nvSpPr>
        <p:spPr>
          <a:xfrm>
            <a:off x="10908792" y="651459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fld id="{F34489CF-F034-4AFD-9989-E9C20810832A}" type="slidenum">
              <a:rPr lang="de-DE" sz="1000" spc="200" dirty="0">
                <a:solidFill>
                  <a:srgbClr val="5B6890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7</a:t>
            </a:fld>
            <a:endParaRPr lang="de-DE" sz="1000" spc="200" dirty="0">
              <a:solidFill>
                <a:srgbClr val="5B6890"/>
              </a:solidFill>
              <a:latin typeface="Inter SemiBold Text SemiBold" pitchFamily="34" charset="0"/>
              <a:ea typeface="Inter SemiBold Text SemiBold" pitchFamily="34" charset="-122"/>
              <a:cs typeface="Inter SemiBold Text SemiBold" pitchFamily="34" charset="-120"/>
            </a:endParaRPr>
          </a:p>
        </p:txBody>
      </p:sp>
      <p:graphicFrame>
        <p:nvGraphicFramePr>
          <p:cNvPr id="8" name="Table 8"/>
          <p:cNvGraphicFramePr>
            <a:graphicFrameLocks noGrp="1"/>
          </p:cNvGraphicFramePr>
          <p:nvPr/>
        </p:nvGraphicFramePr>
        <p:xfrm>
          <a:off x="822960" y="2331720"/>
          <a:ext cx="6537960" cy="2487168"/>
        </p:xfrm>
        <a:graphic>
          <a:graphicData uri="http://schemas.openxmlformats.org/drawingml/2006/table">
            <a:tbl>
              <a:tblPr firstRow="1" bandRow="1"/>
              <a:tblGrid>
                <a:gridCol w="1417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de-DE" sz="1050" dirty="0">
                          <a:solidFill>
                            <a:srgbClr val="FFFFFF"/>
                          </a:solidFill>
                          <a:latin typeface="Inter SemiBold Text SemiBold" pitchFamily="34" charset="0"/>
                          <a:ea typeface="Inter SemiBold Text SemiBold" pitchFamily="34" charset="-122"/>
                          <a:cs typeface="Inter SemiBold Text SemiBold" pitchFamily="34" charset="-120"/>
                        </a:rPr>
                        <a:t>Schritt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1A2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de-DE" sz="1050" dirty="0">
                          <a:solidFill>
                            <a:srgbClr val="FFFFFF"/>
                          </a:solidFill>
                          <a:latin typeface="Inter SemiBold Text SemiBold" pitchFamily="34" charset="0"/>
                          <a:ea typeface="Inter SemiBold Text SemiBold" pitchFamily="34" charset="-122"/>
                          <a:cs typeface="Inter SemiBold Text SemiBold" pitchFamily="34" charset="-120"/>
                        </a:rPr>
                        <a:t>Nettomodell (heute)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1A2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de-DE" sz="1050" dirty="0">
                          <a:solidFill>
                            <a:srgbClr val="FFFFFF"/>
                          </a:solidFill>
                          <a:latin typeface="Inter SemiBold Text SemiBold" pitchFamily="34" charset="0"/>
                          <a:ea typeface="Inter SemiBold Text SemiBold" pitchFamily="34" charset="-122"/>
                          <a:cs typeface="Inter SemiBold Text SemiBold" pitchFamily="34" charset="-120"/>
                        </a:rPr>
                        <a:t>Bruttomodell (neu)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1A2B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de-DE" sz="1100" dirty="0">
                          <a:solidFill>
                            <a:srgbClr val="1A2B5E"/>
                          </a:solidFill>
                          <a:latin typeface="Inter SemiBold Text SemiBold" pitchFamily="34" charset="0"/>
                          <a:ea typeface="Inter SemiBold Text SemiBold" pitchFamily="34" charset="-122"/>
                          <a:cs typeface="Inter SemiBold Text SemiBold" pitchFamily="34" charset="-120"/>
                        </a:rPr>
                        <a:t>Preis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de-DE" sz="1100" dirty="0">
                          <a:solidFill>
                            <a:srgbClr val="5B6890"/>
                          </a:solidFill>
                          <a:latin typeface="Inter Text" pitchFamily="34" charset="0"/>
                          <a:ea typeface="Inter Text" pitchFamily="34" charset="-122"/>
                          <a:cs typeface="Inter Text" pitchFamily="34" charset="-120"/>
                        </a:rPr>
                        <a:t>BT-146 Artikelnettopreis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de-DE" sz="1100" dirty="0">
                          <a:solidFill>
                            <a:srgbClr val="5B6890"/>
                          </a:solidFill>
                          <a:latin typeface="Inter Text" pitchFamily="34" charset="0"/>
                          <a:ea typeface="Inter Text" pitchFamily="34" charset="-122"/>
                          <a:cs typeface="Inter Text" pitchFamily="34" charset="-120"/>
                        </a:rPr>
                        <a:t>BT-146V Nettopreis plus USt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de-DE" sz="1100" dirty="0">
                          <a:solidFill>
                            <a:srgbClr val="1A2B5E"/>
                          </a:solidFill>
                          <a:latin typeface="Inter SemiBold Text SemiBold" pitchFamily="34" charset="0"/>
                          <a:ea typeface="Inter SemiBold Text SemiBold" pitchFamily="34" charset="-122"/>
                          <a:cs typeface="Inter SemiBold Text SemiBold" pitchFamily="34" charset="-120"/>
                        </a:rPr>
                        <a:t>Zeile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de-DE" sz="1100" dirty="0">
                          <a:solidFill>
                            <a:srgbClr val="5B6890"/>
                          </a:solidFill>
                          <a:latin typeface="Inter Text" pitchFamily="34" charset="0"/>
                          <a:ea typeface="Inter Text" pitchFamily="34" charset="-122"/>
                          <a:cs typeface="Inter Text" pitchFamily="34" charset="-120"/>
                        </a:rPr>
                        <a:t>BT-131 = Preis × Menge …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de-DE" sz="1100" dirty="0">
                          <a:solidFill>
                            <a:srgbClr val="5B6890"/>
                          </a:solidFill>
                          <a:latin typeface="Inter Text" pitchFamily="34" charset="0"/>
                          <a:ea typeface="Inter Text" pitchFamily="34" charset="-122"/>
                          <a:cs typeface="Inter Text" pitchFamily="34" charset="-120"/>
                        </a:rPr>
                        <a:t>BT-131V = Preis plus USt × Menge …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7F9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de-DE" sz="1100" dirty="0">
                          <a:solidFill>
                            <a:srgbClr val="1A2B5E"/>
                          </a:solidFill>
                          <a:latin typeface="Inter SemiBold Text SemiBold" pitchFamily="34" charset="0"/>
                          <a:ea typeface="Inter SemiBold Text SemiBold" pitchFamily="34" charset="-122"/>
                          <a:cs typeface="Inter SemiBold Text SemiBold" pitchFamily="34" charset="-120"/>
                        </a:rPr>
                        <a:t>Je Kategorie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de-DE" sz="1100" dirty="0">
                          <a:solidFill>
                            <a:srgbClr val="5B6890"/>
                          </a:solidFill>
                          <a:latin typeface="Inter Text" pitchFamily="34" charset="0"/>
                          <a:ea typeface="Inter Text" pitchFamily="34" charset="-122"/>
                          <a:cs typeface="Inter Text" pitchFamily="34" charset="-120"/>
                        </a:rPr>
                        <a:t>BT-116 = Σ BT-131 …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de-DE" sz="1100" dirty="0">
                          <a:solidFill>
                            <a:srgbClr val="5B6890"/>
                          </a:solidFill>
                          <a:latin typeface="Inter Text" pitchFamily="34" charset="0"/>
                          <a:ea typeface="Inter Text" pitchFamily="34" charset="-122"/>
                          <a:cs typeface="Inter Text" pitchFamily="34" charset="-120"/>
                        </a:rPr>
                        <a:t>BT-116V = Σ BT-131V …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de-DE" sz="1100" dirty="0">
                          <a:solidFill>
                            <a:srgbClr val="1A2B5E"/>
                          </a:solidFill>
                          <a:latin typeface="Inter SemiBold Text SemiBold" pitchFamily="34" charset="0"/>
                          <a:ea typeface="Inter SemiBold Text SemiBold" pitchFamily="34" charset="-122"/>
                          <a:cs typeface="Inter SemiBold Text SemiBold" pitchFamily="34" charset="-120"/>
                        </a:rPr>
                        <a:t>USt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de-DE" sz="1100" dirty="0">
                          <a:solidFill>
                            <a:srgbClr val="5B6890"/>
                          </a:solidFill>
                          <a:latin typeface="Inter Text" pitchFamily="34" charset="0"/>
                          <a:ea typeface="Inter Text" pitchFamily="34" charset="-122"/>
                          <a:cs typeface="Inter Text" pitchFamily="34" charset="-120"/>
                        </a:rPr>
                        <a:t>BT-117 = BT-116 × Satz</a:t>
                      </a:r>
                      <a:r>
                        <a:rPr lang="de-DE" sz="1000" dirty="0">
                          <a:solidFill>
                            <a:srgbClr val="9AA4C2"/>
                          </a:solidFill>
                          <a:latin typeface="Inter Text" pitchFamily="34" charset="0"/>
                          <a:ea typeface="Inter Text" pitchFamily="34" charset="-122"/>
                          <a:cs typeface="Inter Text" pitchFamily="34" charset="-120"/>
                        </a:rPr>
                        <a:t>  aufgeschlagen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de-DE" sz="1100" dirty="0">
                          <a:solidFill>
                            <a:srgbClr val="5B6890"/>
                          </a:solidFill>
                          <a:latin typeface="Inter Text" pitchFamily="34" charset="0"/>
                          <a:ea typeface="Inter Text" pitchFamily="34" charset="-122"/>
                          <a:cs typeface="Inter Text" pitchFamily="34" charset="-120"/>
                        </a:rPr>
                        <a:t>BT-117 = BT-116V × Satz ÷ (100 + Satz)</a:t>
                      </a:r>
                      <a:r>
                        <a:rPr lang="de-DE" sz="1000" dirty="0">
                          <a:solidFill>
                            <a:srgbClr val="0E7E82"/>
                          </a:solidFill>
                          <a:latin typeface="Inter SemiBold Text SemiBold" pitchFamily="34" charset="0"/>
                          <a:ea typeface="Inter SemiBold Text SemiBold" pitchFamily="34" charset="-122"/>
                          <a:cs typeface="Inter SemiBold Text SemiBold" pitchFamily="34" charset="-120"/>
                        </a:rPr>
                        <a:t>  herausgerechnet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7F9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de-DE" sz="1100" dirty="0">
                          <a:solidFill>
                            <a:srgbClr val="1A2B5E"/>
                          </a:solidFill>
                          <a:latin typeface="Inter SemiBold Text SemiBold" pitchFamily="34" charset="0"/>
                          <a:ea typeface="Inter SemiBold Text SemiBold" pitchFamily="34" charset="-122"/>
                          <a:cs typeface="Inter SemiBold Text SemiBold" pitchFamily="34" charset="-120"/>
                        </a:rPr>
                        <a:t>Netto je Kategorie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de-DE" sz="1100" dirty="0">
                          <a:solidFill>
                            <a:srgbClr val="5B6890"/>
                          </a:solidFill>
                          <a:latin typeface="Inter Text" pitchFamily="34" charset="0"/>
                          <a:ea typeface="Inter Text" pitchFamily="34" charset="-122"/>
                          <a:cs typeface="Inter Text" pitchFamily="34" charset="-120"/>
                        </a:rPr>
                        <a:t>(gegeben)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de-DE" sz="1100" dirty="0">
                          <a:solidFill>
                            <a:srgbClr val="5B6890"/>
                          </a:solidFill>
                          <a:latin typeface="Inter Text" pitchFamily="34" charset="0"/>
                          <a:ea typeface="Inter Text" pitchFamily="34" charset="-122"/>
                          <a:cs typeface="Inter Text" pitchFamily="34" charset="-120"/>
                        </a:rPr>
                        <a:t>BT-116 = BT-116V − BT-117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Text 9"/>
          <p:cNvSpPr txBox="1"/>
          <p:nvPr/>
        </p:nvSpPr>
        <p:spPr>
          <a:xfrm>
            <a:off x="822960" y="4937760"/>
            <a:ext cx="6537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de-DE" sz="11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Das Modell wählt sich über BT-146V auf jeder Zeile — kein Indikator nötig. BT-146 bleibt Pflicht (Art. 226 Nr. 8 MwStSystRL), im Bruttomodell nur zur Information. Nicht für die Kategorien N, D, F, I, J.</a:t>
            </a:r>
          </a:p>
        </p:txBody>
      </p:sp>
      <p:sp>
        <p:nvSpPr>
          <p:cNvPr id="10" name="Panel 10"/>
          <p:cNvSpPr/>
          <p:nvPr/>
        </p:nvSpPr>
        <p:spPr>
          <a:xfrm>
            <a:off x="7589520" y="2331720"/>
            <a:ext cx="3776472" cy="3520440"/>
          </a:xfrm>
          <a:prstGeom prst="roundRect">
            <a:avLst>
              <a:gd name="adj" fmla="val 2597"/>
            </a:avLst>
          </a:prstGeom>
          <a:solidFill>
            <a:srgbClr val="1A2B5E"/>
          </a:solidFill>
          <a:ln>
            <a:noFill/>
          </a:ln>
          <a:effectLst>
            <a:outerShdw blurRad="101600" dist="38100" dir="5400000" algn="bl" rotWithShape="0">
              <a:srgbClr val="0A123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1" name="Text 11"/>
          <p:cNvSpPr txBox="1"/>
          <p:nvPr/>
        </p:nvSpPr>
        <p:spPr>
          <a:xfrm>
            <a:off x="7909560" y="25146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1050" spc="150" dirty="0">
                <a:solidFill>
                  <a:srgbClr val="19C3C8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BEISPIEL: BUCHPREISBINDUNG</a:t>
            </a:r>
          </a:p>
        </p:txBody>
      </p:sp>
      <p:sp>
        <p:nvSpPr>
          <p:cNvPr id="12" name="Text 12"/>
          <p:cNvSpPr txBox="1"/>
          <p:nvPr/>
        </p:nvSpPr>
        <p:spPr>
          <a:xfrm>
            <a:off x="7909560" y="281635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1300" dirty="0">
                <a:solidFill>
                  <a:srgbClr val="FFFFFF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1.000 Bücher à 24,95 € inkl. 7 % USt</a:t>
            </a:r>
          </a:p>
        </p:txBody>
      </p:sp>
      <p:sp>
        <p:nvSpPr>
          <p:cNvPr id="13" name="Text 13"/>
          <p:cNvSpPr txBox="1"/>
          <p:nvPr/>
        </p:nvSpPr>
        <p:spPr>
          <a:xfrm>
            <a:off x="7909560" y="329184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/>
          </a:p>
        </p:txBody>
      </p:sp>
      <p:sp>
        <p:nvSpPr>
          <p:cNvPr id="14" name="Text 14"/>
          <p:cNvSpPr txBox="1"/>
          <p:nvPr/>
        </p:nvSpPr>
        <p:spPr>
          <a:xfrm>
            <a:off x="9052560" y="329184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de-DE" sz="1000" dirty="0">
                <a:solidFill>
                  <a:srgbClr val="9AA4C2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Gesamt</a:t>
            </a:r>
          </a:p>
        </p:txBody>
      </p:sp>
      <p:sp>
        <p:nvSpPr>
          <p:cNvPr id="15" name="Text 15"/>
          <p:cNvSpPr txBox="1"/>
          <p:nvPr/>
        </p:nvSpPr>
        <p:spPr>
          <a:xfrm>
            <a:off x="10195560" y="32918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de-DE" sz="1000" dirty="0">
                <a:solidFill>
                  <a:srgbClr val="9AA4C2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USt</a:t>
            </a:r>
          </a:p>
        </p:txBody>
      </p:sp>
      <p:sp>
        <p:nvSpPr>
          <p:cNvPr id="16" name="Text 16"/>
          <p:cNvSpPr txBox="1"/>
          <p:nvPr/>
        </p:nvSpPr>
        <p:spPr>
          <a:xfrm>
            <a:off x="7909560" y="361188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1150" dirty="0">
                <a:solidFill>
                  <a:srgbClr val="C2CADE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Soll</a:t>
            </a:r>
          </a:p>
        </p:txBody>
      </p:sp>
      <p:sp>
        <p:nvSpPr>
          <p:cNvPr id="17" name="Text 17"/>
          <p:cNvSpPr txBox="1"/>
          <p:nvPr/>
        </p:nvSpPr>
        <p:spPr>
          <a:xfrm>
            <a:off x="9052560" y="361188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de-DE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24.950,00</a:t>
            </a:r>
          </a:p>
        </p:txBody>
      </p:sp>
      <p:sp>
        <p:nvSpPr>
          <p:cNvPr id="18" name="Text 18"/>
          <p:cNvSpPr txBox="1"/>
          <p:nvPr/>
        </p:nvSpPr>
        <p:spPr>
          <a:xfrm>
            <a:off x="10195560" y="36118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de-DE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1.632,24</a:t>
            </a:r>
          </a:p>
        </p:txBody>
      </p:sp>
      <p:sp>
        <p:nvSpPr>
          <p:cNvPr id="19" name="Text 19"/>
          <p:cNvSpPr txBox="1"/>
          <p:nvPr/>
        </p:nvSpPr>
        <p:spPr>
          <a:xfrm>
            <a:off x="7909560" y="4087368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1150" dirty="0">
                <a:solidFill>
                  <a:srgbClr val="C2CADE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Netto 2026</a:t>
            </a:r>
          </a:p>
        </p:txBody>
      </p:sp>
      <p:sp>
        <p:nvSpPr>
          <p:cNvPr id="20" name="Text 20"/>
          <p:cNvSpPr txBox="1"/>
          <p:nvPr/>
        </p:nvSpPr>
        <p:spPr>
          <a:xfrm>
            <a:off x="9052560" y="4087368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de-DE" sz="1200" b="1" dirty="0">
                <a:solidFill>
                  <a:srgbClr val="FF8A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24.950,05</a:t>
            </a:r>
          </a:p>
        </p:txBody>
      </p:sp>
      <p:sp>
        <p:nvSpPr>
          <p:cNvPr id="21" name="Text 21"/>
          <p:cNvSpPr txBox="1"/>
          <p:nvPr/>
        </p:nvSpPr>
        <p:spPr>
          <a:xfrm>
            <a:off x="10195560" y="408736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de-DE" sz="1200" b="1" dirty="0">
                <a:solidFill>
                  <a:srgbClr val="FF8A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1.632,25</a:t>
            </a:r>
          </a:p>
        </p:txBody>
      </p:sp>
      <p:sp>
        <p:nvSpPr>
          <p:cNvPr id="22" name="Text 22"/>
          <p:cNvSpPr txBox="1"/>
          <p:nvPr/>
        </p:nvSpPr>
        <p:spPr>
          <a:xfrm>
            <a:off x="7909560" y="4562856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1150" dirty="0">
                <a:solidFill>
                  <a:srgbClr val="C2CADE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Bruttomodell</a:t>
            </a:r>
          </a:p>
        </p:txBody>
      </p:sp>
      <p:sp>
        <p:nvSpPr>
          <p:cNvPr id="23" name="Text 23"/>
          <p:cNvSpPr txBox="1"/>
          <p:nvPr/>
        </p:nvSpPr>
        <p:spPr>
          <a:xfrm>
            <a:off x="9052560" y="4562856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de-DE" sz="1200" b="1" dirty="0">
                <a:solidFill>
                  <a:srgbClr val="58D6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24.950,00</a:t>
            </a:r>
          </a:p>
        </p:txBody>
      </p:sp>
      <p:sp>
        <p:nvSpPr>
          <p:cNvPr id="24" name="Text 24"/>
          <p:cNvSpPr txBox="1"/>
          <p:nvPr/>
        </p:nvSpPr>
        <p:spPr>
          <a:xfrm>
            <a:off x="10195560" y="4562856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de-DE" sz="1200" b="1" dirty="0">
                <a:solidFill>
                  <a:srgbClr val="58D6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1.632,24</a:t>
            </a:r>
          </a:p>
        </p:txBody>
      </p:sp>
      <p:sp>
        <p:nvSpPr>
          <p:cNvPr id="25" name="Shape 25"/>
          <p:cNvSpPr/>
          <p:nvPr/>
        </p:nvSpPr>
        <p:spPr>
          <a:xfrm>
            <a:off x="7909560" y="5120640"/>
            <a:ext cx="3154680" cy="9144"/>
          </a:xfrm>
          <a:prstGeom prst="rect">
            <a:avLst/>
          </a:prstGeom>
          <a:solidFill>
            <a:srgbClr val="3A4A7A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26" name="Text 26"/>
          <p:cNvSpPr txBox="1"/>
          <p:nvPr/>
        </p:nvSpPr>
        <p:spPr>
          <a:xfrm>
            <a:off x="7909560" y="5193792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de-DE" sz="1050" dirty="0">
                <a:solidFill>
                  <a:srgbClr val="C2CADE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Nettomodell: 5 Cent zu viel, USt 1 Cent zu hoch. Bruttomodell: USt 1.632,24299… € → 1.632,24 € nur wegen der Cent-Pflicht (UStAE) — #163: Warnung.</a:t>
            </a:r>
          </a:p>
        </p:txBody>
      </p:sp>
      <p:sp>
        <p:nvSpPr>
          <p:cNvPr id="27" name="Pill 27"/>
          <p:cNvSpPr/>
          <p:nvPr/>
        </p:nvSpPr>
        <p:spPr>
          <a:xfrm>
            <a:off x="822960" y="5943600"/>
            <a:ext cx="10543032" cy="411480"/>
          </a:xfrm>
          <a:prstGeom prst="roundRect">
            <a:avLst>
              <a:gd name="adj" fmla="val 50000"/>
            </a:avLst>
          </a:prstGeom>
          <a:solidFill>
            <a:srgbClr val="E7F8F8"/>
          </a:solidFill>
          <a:ln w="9525">
            <a:solidFill>
              <a:srgbClr val="B5E9EA"/>
            </a:solidFill>
            <a:prstDash val="solid"/>
          </a:ln>
        </p:spPr>
        <p:txBody>
          <a:bodyPr wrap="square" lIns="36576" tIns="36576" rIns="36576" bIns="36576" rtlCol="0" anchor="ctr"/>
          <a:lstStyle/>
          <a:p>
            <a:pPr marL="0" indent="0" algn="ctr">
              <a:buNone/>
            </a:pPr>
            <a:r>
              <a:rPr lang="de-DE" sz="12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Anwendungsfälle:  </a:t>
            </a:r>
            <a:r>
              <a:rPr lang="de-DE" sz="1200" dirty="0">
                <a:solidFill>
                  <a:srgbClr val="0E7E82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Buchpreisbindung · Kassenbon → Rechnung · Handel und Marktplätze · gesetzlich festgesetzte Bruttopreise</a:t>
            </a:r>
          </a:p>
        </p:txBody>
      </p:sp>
      <p:sp>
        <p:nvSpPr>
          <p:cNvPr id="28" name="Speaker 28">
            <a:hlinkClick r:id="rId3"/>
          </p:cNvPr>
          <p:cNvSpPr txBox="1"/>
          <p:nvPr/>
        </p:nvSpPr>
        <p:spPr>
          <a:xfrm>
            <a:off x="7680960" y="6514592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de-DE" sz="1000" spc="100" dirty="0">
                <a:solidFill>
                  <a:srgbClr val="9AA4C2"/>
                </a:solidFill>
                <a:latin typeface="Inter Medium Text Medium" pitchFamily="34" charset="0"/>
                <a:ea typeface="Inter Medium Text Medium" pitchFamily="34" charset="-122"/>
                <a:cs typeface="Inter Medium Text Medium" pitchFamily="34" charset="-120"/>
              </a:rPr>
              <a:t>© Svante Schubert</a:t>
            </a:r>
          </a:p>
        </p:txBody>
      </p:sp>
      <p:sp>
        <p:nvSpPr>
          <p:cNvPr id="29" name="Callout 29"/>
          <p:cNvSpPr/>
          <p:nvPr/>
        </p:nvSpPr>
        <p:spPr>
          <a:xfrm>
            <a:off x="822960" y="5422392"/>
            <a:ext cx="6537960" cy="457200"/>
          </a:xfrm>
          <a:prstGeom prst="roundRect">
            <a:avLst>
              <a:gd name="adj" fmla="val 18000"/>
            </a:avLst>
          </a:prstGeom>
          <a:solidFill>
            <a:srgbClr val="FFF3E6"/>
          </a:solidFill>
          <a:ln w="9525">
            <a:solidFill>
              <a:srgbClr val="F5CFA3"/>
            </a:solidFill>
            <a:prstDash val="solid"/>
          </a:ln>
        </p:spPr>
        <p:txBody>
          <a:bodyPr wrap="square" lIns="91440" tIns="27432" rIns="91440" bIns="27432" rtlCol="0" anchor="ctr"/>
          <a:lstStyle/>
          <a:p>
            <a:pPr marL="0" indent="0" algn="l">
              <a:buNone/>
            </a:pPr>
            <a:r>
              <a:rPr lang="de-DE" sz="1050" dirty="0">
                <a:solidFill>
                  <a:srgbClr val="B85C0A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Heute oft unmöglich: </a:t>
            </a:r>
            <a:r>
              <a:rPr lang="de-DE" sz="105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Bei 19 % USt sind 16 % aller Bruttobeträge mit Netto und USt in der Minor Unit nicht erreichbar — 9,99 € = 8,39 + 1,59 → 9,98. Mit 5 Zeilen verfehlen 52 %, mit 35 Zeilen 81 % den Kassenbon.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Folie 24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Header 3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950" spc="100" dirty="0">
                <a:solidFill>
                  <a:srgbClr val="5B6890"/>
                </a:solidFill>
                <a:latin typeface="Inter Medium Text Medium" pitchFamily="34" charset="0"/>
                <a:ea typeface="Inter Medium Text Medium" pitchFamily="34" charset="-122"/>
                <a:cs typeface="Inter Medium Text Medium" pitchFamily="34" charset="-120"/>
              </a:rPr>
              <a:t>E-Rechnungs-Gipfel Umsetzungstage 2026</a:t>
            </a:r>
            <a:r>
              <a:rPr lang="de-DE" sz="950" spc="100" dirty="0">
                <a:solidFill>
                  <a:srgbClr val="C2CADE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   ·   </a:t>
            </a:r>
            <a:r>
              <a:rPr lang="de-DE" sz="950" spc="10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Workshop D · Datenqualität in der E-Rechnung</a:t>
            </a:r>
          </a:p>
        </p:txBody>
      </p:sp>
      <p:sp>
        <p:nvSpPr>
          <p:cNvPr id="4" name="SectionLabel 4"/>
          <p:cNvSpPr txBox="1"/>
          <p:nvPr/>
        </p:nvSpPr>
        <p:spPr>
          <a:xfrm>
            <a:off x="82296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1100" spc="300" dirty="0">
                <a:solidFill>
                  <a:srgbClr val="19C3C8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FRAGE 3 · FREITEXT &amp; CODES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804672" y="1115568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de-DE" sz="3800" b="1" dirty="0">
                <a:solidFill>
                  <a:srgbClr val="1A2B5E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Freitext oder Code?</a:t>
            </a:r>
          </a:p>
        </p:txBody>
      </p:sp>
      <p:sp>
        <p:nvSpPr>
          <p:cNvPr id="6" name="Tagline 6"/>
          <p:cNvSpPr txBox="1"/>
          <p:nvPr/>
        </p:nvSpPr>
        <p:spPr>
          <a:xfrm>
            <a:off x="822960" y="1865376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13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Automatisch verarbeitet wird nur, was eindeutig codiert ist — Freitext braucht einen Menschen.</a:t>
            </a:r>
          </a:p>
        </p:txBody>
      </p:sp>
      <p:sp>
        <p:nvSpPr>
          <p:cNvPr id="7" name="PageNum 7"/>
          <p:cNvSpPr txBox="1"/>
          <p:nvPr/>
        </p:nvSpPr>
        <p:spPr>
          <a:xfrm>
            <a:off x="10908792" y="651459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fld id="{CF71794B-2BB3-4FED-B1A8-17B7954B8052}" type="slidenum">
              <a:rPr lang="de-DE" sz="1000" spc="200" dirty="0">
                <a:solidFill>
                  <a:srgbClr val="5B6890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8</a:t>
            </a:fld>
            <a:endParaRPr lang="de-DE" sz="1000" spc="200" dirty="0">
              <a:solidFill>
                <a:srgbClr val="5B6890"/>
              </a:solidFill>
              <a:latin typeface="Inter SemiBold Text SemiBold" pitchFamily="34" charset="0"/>
              <a:ea typeface="Inter SemiBold Text SemiBold" pitchFamily="34" charset="-122"/>
              <a:cs typeface="Inter SemiBold Text SemiBold" pitchFamily="34" charset="-120"/>
            </a:endParaRPr>
          </a:p>
        </p:txBody>
      </p:sp>
      <p:graphicFrame>
        <p:nvGraphicFramePr>
          <p:cNvPr id="8" name="Table 8"/>
          <p:cNvGraphicFramePr>
            <a:graphicFrameLocks noGrp="1"/>
          </p:cNvGraphicFramePr>
          <p:nvPr/>
        </p:nvGraphicFramePr>
        <p:xfrm>
          <a:off x="822960" y="2331720"/>
          <a:ext cx="10543032" cy="2313432"/>
        </p:xfrm>
        <a:graphic>
          <a:graphicData uri="http://schemas.openxmlformats.org/drawingml/2006/table">
            <a:tbl>
              <a:tblPr firstRow="1" bandRow="1"/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34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593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/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1A2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de-DE" sz="1200" dirty="0">
                          <a:solidFill>
                            <a:srgbClr val="FFFFFF"/>
                          </a:solidFill>
                          <a:latin typeface="Inter SemiBold Text SemiBold" pitchFamily="34" charset="0"/>
                          <a:ea typeface="Inter SemiBold Text SemiBold" pitchFamily="34" charset="-122"/>
                          <a:cs typeface="Inter SemiBold Text SemiBold" pitchFamily="34" charset="-120"/>
                        </a:rPr>
                        <a:t>Freitext — liest der Mensch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1A2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de-DE" sz="1200" dirty="0">
                          <a:solidFill>
                            <a:srgbClr val="FFFFFF"/>
                          </a:solidFill>
                          <a:latin typeface="Inter SemiBold Text SemiBold" pitchFamily="34" charset="0"/>
                          <a:ea typeface="Inter SemiBold Text SemiBold" pitchFamily="34" charset="-122"/>
                          <a:cs typeface="Inter SemiBold Text SemiBold" pitchFamily="34" charset="-120"/>
                        </a:rPr>
                        <a:t>Code — versteht die Software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1A2B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de-DE" sz="1200" dirty="0">
                          <a:solidFill>
                            <a:srgbClr val="1A2B5E"/>
                          </a:solidFill>
                          <a:latin typeface="Inter SemiBold Text SemiBold" pitchFamily="34" charset="0"/>
                          <a:ea typeface="Inter SemiBold Text SemiBold" pitchFamily="34" charset="-122"/>
                          <a:cs typeface="Inter SemiBold Text SemiBold" pitchFamily="34" charset="-120"/>
                        </a:rPr>
                        <a:t>Steuerbefreiung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de-DE" sz="1100" dirty="0">
                          <a:solidFill>
                            <a:srgbClr val="1A2B5E"/>
                          </a:solidFill>
                          <a:latin typeface="Inter SemiBold Text SemiBold" pitchFamily="34" charset="0"/>
                          <a:ea typeface="Inter SemiBold Text SemiBold" pitchFamily="34" charset="-122"/>
                          <a:cs typeface="Inter SemiBold Text SemiBold" pitchFamily="34" charset="-120"/>
                        </a:rPr>
                        <a:t>BT-120 </a:t>
                      </a:r>
                      <a:r>
                        <a:rPr lang="de-DE" sz="1100" dirty="0">
                          <a:solidFill>
                            <a:srgbClr val="5B6890"/>
                          </a:solidFill>
                          <a:latin typeface="Inter Text" pitchFamily="34" charset="0"/>
                          <a:ea typeface="Inter Text" pitchFamily="34" charset="-122"/>
                          <a:cs typeface="Inter Text" pitchFamily="34" charset="-120"/>
                        </a:rPr>
                        <a:t>„steuerfreie innergemeinschaftliche Lieferung“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de-DE" sz="1100" dirty="0">
                          <a:solidFill>
                            <a:srgbClr val="1A2B5E"/>
                          </a:solidFill>
                          <a:latin typeface="Inter SemiBold Text SemiBold" pitchFamily="34" charset="0"/>
                          <a:ea typeface="Inter SemiBold Text SemiBold" pitchFamily="34" charset="-122"/>
                          <a:cs typeface="Inter SemiBold Text SemiBold" pitchFamily="34" charset="-120"/>
                        </a:rPr>
                        <a:t>BT-121 </a:t>
                      </a:r>
                      <a:r>
                        <a:rPr lang="de-DE" sz="1100" dirty="0">
                          <a:solidFill>
                            <a:srgbClr val="1E8A4C"/>
                          </a:solidFill>
                          <a:latin typeface="Inter SemiBold Text SemiBold" pitchFamily="34" charset="0"/>
                          <a:ea typeface="Inter SemiBold Text SemiBold" pitchFamily="34" charset="-122"/>
                          <a:cs typeface="Inter SemiBold Text SemiBold" pitchFamily="34" charset="-120"/>
                        </a:rPr>
                        <a:t>VATEX-EU-IC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de-DE" sz="1200" dirty="0">
                          <a:solidFill>
                            <a:srgbClr val="1A2B5E"/>
                          </a:solidFill>
                          <a:latin typeface="Inter SemiBold Text SemiBold" pitchFamily="34" charset="0"/>
                          <a:ea typeface="Inter SemiBold Text SemiBold" pitchFamily="34" charset="-122"/>
                          <a:cs typeface="Inter SemiBold Text SemiBold" pitchFamily="34" charset="-120"/>
                        </a:rPr>
                        <a:t>Abschlagsgrund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de-DE" sz="1100" dirty="0">
                          <a:solidFill>
                            <a:srgbClr val="1A2B5E"/>
                          </a:solidFill>
                          <a:latin typeface="Inter SemiBold Text SemiBold" pitchFamily="34" charset="0"/>
                          <a:ea typeface="Inter SemiBold Text SemiBold" pitchFamily="34" charset="-122"/>
                          <a:cs typeface="Inter SemiBold Text SemiBold" pitchFamily="34" charset="-120"/>
                        </a:rPr>
                        <a:t>BT-97 </a:t>
                      </a:r>
                      <a:r>
                        <a:rPr lang="de-DE" sz="1100" dirty="0">
                          <a:solidFill>
                            <a:srgbClr val="5B6890"/>
                          </a:solidFill>
                          <a:latin typeface="Inter Text" pitchFamily="34" charset="0"/>
                          <a:ea typeface="Inter Text" pitchFamily="34" charset="-122"/>
                          <a:cs typeface="Inter Text" pitchFamily="34" charset="-120"/>
                        </a:rPr>
                        <a:t>„Treuerabatt“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de-DE" sz="1100" dirty="0">
                          <a:solidFill>
                            <a:srgbClr val="1A2B5E"/>
                          </a:solidFill>
                          <a:latin typeface="Inter SemiBold Text SemiBold" pitchFamily="34" charset="0"/>
                          <a:ea typeface="Inter SemiBold Text SemiBold" pitchFamily="34" charset="-122"/>
                          <a:cs typeface="Inter SemiBold Text SemiBold" pitchFamily="34" charset="-120"/>
                        </a:rPr>
                        <a:t>BT-98 </a:t>
                      </a:r>
                      <a:r>
                        <a:rPr lang="de-DE" sz="1100" dirty="0">
                          <a:solidFill>
                            <a:srgbClr val="1E8A4C"/>
                          </a:solidFill>
                          <a:latin typeface="Inter SemiBold Text SemiBold" pitchFamily="34" charset="0"/>
                          <a:ea typeface="Inter SemiBold Text SemiBold" pitchFamily="34" charset="-122"/>
                          <a:cs typeface="Inter SemiBold Text SemiBold" pitchFamily="34" charset="-120"/>
                        </a:rPr>
                        <a:t>95</a:t>
                      </a:r>
                      <a:r>
                        <a:rPr lang="de-DE" sz="1100" dirty="0">
                          <a:solidFill>
                            <a:srgbClr val="5B6890"/>
                          </a:solidFill>
                          <a:latin typeface="Inter Text" pitchFamily="34" charset="0"/>
                          <a:ea typeface="Inter Text" pitchFamily="34" charset="-122"/>
                          <a:cs typeface="Inter Text" pitchFamily="34" charset="-120"/>
                        </a:rPr>
                        <a:t> (Rabatt, UNTDID 5189)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de-DE" sz="1200" dirty="0">
                          <a:solidFill>
                            <a:srgbClr val="1A2B5E"/>
                          </a:solidFill>
                          <a:latin typeface="Inter SemiBold Text SemiBold" pitchFamily="34" charset="0"/>
                          <a:ea typeface="Inter SemiBold Text SemiBold" pitchFamily="34" charset="-122"/>
                          <a:cs typeface="Inter SemiBold Text SemiBold" pitchFamily="34" charset="-120"/>
                        </a:rPr>
                        <a:t>Mengeneinheit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de-DE" sz="1100" dirty="0">
                          <a:solidFill>
                            <a:srgbClr val="5B6890"/>
                          </a:solidFill>
                          <a:latin typeface="Inter Text" pitchFamily="34" charset="0"/>
                          <a:ea typeface="Inter Text" pitchFamily="34" charset="-122"/>
                          <a:cs typeface="Inter Text" pitchFamily="34" charset="-120"/>
                        </a:rPr>
                        <a:t>„Stk.“, „Stück“, „pcs“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de-DE" sz="1100" dirty="0">
                          <a:solidFill>
                            <a:srgbClr val="1A2B5E"/>
                          </a:solidFill>
                          <a:latin typeface="Inter SemiBold Text SemiBold" pitchFamily="34" charset="0"/>
                          <a:ea typeface="Inter SemiBold Text SemiBold" pitchFamily="34" charset="-122"/>
                          <a:cs typeface="Inter SemiBold Text SemiBold" pitchFamily="34" charset="-120"/>
                        </a:rPr>
                        <a:t>BT-130 </a:t>
                      </a:r>
                      <a:r>
                        <a:rPr lang="de-DE" sz="1100" dirty="0">
                          <a:solidFill>
                            <a:srgbClr val="1E8A4C"/>
                          </a:solidFill>
                          <a:latin typeface="Inter SemiBold Text SemiBold" pitchFamily="34" charset="0"/>
                          <a:ea typeface="Inter SemiBold Text SemiBold" pitchFamily="34" charset="-122"/>
                          <a:cs typeface="Inter SemiBold Text SemiBold" pitchFamily="34" charset="-120"/>
                        </a:rPr>
                        <a:t>H87</a:t>
                      </a:r>
                      <a:r>
                        <a:rPr lang="de-DE" sz="1100" dirty="0">
                          <a:solidFill>
                            <a:srgbClr val="5B6890"/>
                          </a:solidFill>
                          <a:latin typeface="Inter Text" pitchFamily="34" charset="0"/>
                          <a:ea typeface="Inter Text" pitchFamily="34" charset="-122"/>
                          <a:cs typeface="Inter Text" pitchFamily="34" charset="-120"/>
                        </a:rPr>
                        <a:t> (Stück), Pflichtfeld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de-DE" sz="1200" dirty="0">
                          <a:solidFill>
                            <a:srgbClr val="1A2B5E"/>
                          </a:solidFill>
                          <a:latin typeface="Inter SemiBold Text SemiBold" pitchFamily="34" charset="0"/>
                          <a:ea typeface="Inter SemiBold Text SemiBold" pitchFamily="34" charset="-122"/>
                          <a:cs typeface="Inter SemiBold Text SemiBold" pitchFamily="34" charset="-120"/>
                        </a:rPr>
                        <a:t>Skonto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de-DE" sz="1100" dirty="0">
                          <a:solidFill>
                            <a:srgbClr val="1A2B5E"/>
                          </a:solidFill>
                          <a:latin typeface="Inter SemiBold Text SemiBold" pitchFamily="34" charset="0"/>
                          <a:ea typeface="Inter SemiBold Text SemiBold" pitchFamily="34" charset="-122"/>
                          <a:cs typeface="Inter SemiBold Text SemiBold" pitchFamily="34" charset="-120"/>
                        </a:rPr>
                        <a:t>BT-20 </a:t>
                      </a:r>
                      <a:r>
                        <a:rPr lang="de-DE" sz="1100" dirty="0">
                          <a:solidFill>
                            <a:srgbClr val="5B6890"/>
                          </a:solidFill>
                          <a:latin typeface="Inter Text" pitchFamily="34" charset="0"/>
                          <a:ea typeface="Inter Text" pitchFamily="34" charset="-122"/>
                          <a:cs typeface="Inter Text" pitchFamily="34" charset="-120"/>
                        </a:rPr>
                        <a:t>„2 % Skonto bei Zahlung binnen 10 Tagen“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de-DE" sz="1100" dirty="0">
                          <a:solidFill>
                            <a:srgbClr val="1A2B5E"/>
                          </a:solidFill>
                          <a:latin typeface="Inter SemiBold Text SemiBold" pitchFamily="34" charset="0"/>
                          <a:ea typeface="Inter SemiBold Text SemiBold" pitchFamily="34" charset="-122"/>
                          <a:cs typeface="Inter SemiBold Text SemiBold" pitchFamily="34" charset="-120"/>
                        </a:rPr>
                        <a:t>BG-35 </a:t>
                      </a:r>
                      <a:r>
                        <a:rPr lang="de-DE" sz="1100" dirty="0">
                          <a:solidFill>
                            <a:srgbClr val="1E8A4C"/>
                          </a:solidFill>
                          <a:latin typeface="Inter SemiBold Text SemiBold" pitchFamily="34" charset="0"/>
                          <a:ea typeface="Inter SemiBold Text SemiBold" pitchFamily="34" charset="-122"/>
                          <a:cs typeface="Inter SemiBold Text SemiBold" pitchFamily="34" charset="-120"/>
                        </a:rPr>
                        <a:t>EARLY PAYMENT DISCOUNT</a:t>
                      </a:r>
                      <a:r>
                        <a:rPr lang="de-DE" sz="1100" dirty="0">
                          <a:solidFill>
                            <a:srgbClr val="5B6890"/>
                          </a:solidFill>
                          <a:latin typeface="Inter Text" pitchFamily="34" charset="0"/>
                          <a:ea typeface="Inter Text" pitchFamily="34" charset="-122"/>
                          <a:cs typeface="Inter Text" pitchFamily="34" charset="-120"/>
                        </a:rPr>
                        <a:t> (neu 2026)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E2E7F2"/>
                      </a:solidFill>
                    </a:lnL>
                    <a:lnR w="9525">
                      <a:solidFill>
                        <a:srgbClr val="E2E7F2"/>
                      </a:solidFill>
                    </a:lnR>
                    <a:lnT w="9525">
                      <a:solidFill>
                        <a:srgbClr val="E2E7F2"/>
                      </a:solidFill>
                    </a:lnT>
                    <a:lnB w="9525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Card 9"/>
          <p:cNvSpPr/>
          <p:nvPr/>
        </p:nvSpPr>
        <p:spPr>
          <a:xfrm>
            <a:off x="822960" y="4773168"/>
            <a:ext cx="5175504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  <a:effectLst>
            <a:outerShdw blurRad="101600" dist="38100" dir="5400000" algn="bl" rotWithShape="0">
              <a:srgbClr val="0A1230">
                <a:alpha val="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0" name="IconCircle 10"/>
          <p:cNvSpPr/>
          <p:nvPr/>
        </p:nvSpPr>
        <p:spPr>
          <a:xfrm>
            <a:off x="1060704" y="4974336"/>
            <a:ext cx="402336" cy="402336"/>
          </a:xfrm>
          <a:prstGeom prst="ellipse">
            <a:avLst/>
          </a:prstGeom>
          <a:solidFill>
            <a:srgbClr val="C0392B"/>
          </a:solidFill>
          <a:ln>
            <a:noFill/>
          </a:ln>
          <a:effectLst>
            <a:outerShdw blurRad="88900" dist="38100" dir="5400000" algn="bl" rotWithShape="0">
              <a:srgbClr val="0A123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pic>
        <p:nvPicPr>
          <p:cNvPr id="11" name="Icon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1346" y="5084978"/>
            <a:ext cx="181051" cy="181051"/>
          </a:xfrm>
          <a:prstGeom prst="rect">
            <a:avLst/>
          </a:prstGeom>
        </p:spPr>
      </p:pic>
      <p:sp>
        <p:nvSpPr>
          <p:cNvPr id="12" name="Text 12"/>
          <p:cNvSpPr txBox="1"/>
          <p:nvPr/>
        </p:nvSpPr>
        <p:spPr>
          <a:xfrm>
            <a:off x="1600200" y="4956048"/>
            <a:ext cx="42153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140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Freitext braucht Sachbearbeitung</a:t>
            </a:r>
          </a:p>
        </p:txBody>
      </p:sp>
      <p:sp>
        <p:nvSpPr>
          <p:cNvPr id="13" name="Text 13"/>
          <p:cNvSpPr txBox="1"/>
          <p:nvPr/>
        </p:nvSpPr>
        <p:spPr>
          <a:xfrm>
            <a:off x="1600200" y="5431536"/>
            <a:ext cx="4206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de-DE" sz="125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Software wertet ihn nicht sicher aus. Das BMF duldet Teilentgelte als Freitext in BT-22 nur bis 30.06.2030 (Rn. 3).</a:t>
            </a:r>
          </a:p>
        </p:txBody>
      </p:sp>
      <p:sp>
        <p:nvSpPr>
          <p:cNvPr id="14" name="Card 14"/>
          <p:cNvSpPr/>
          <p:nvPr/>
        </p:nvSpPr>
        <p:spPr>
          <a:xfrm>
            <a:off x="6190488" y="4773168"/>
            <a:ext cx="5175504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  <a:effectLst>
            <a:outerShdw blurRad="101600" dist="38100" dir="5400000" algn="bl" rotWithShape="0">
              <a:srgbClr val="0A1230">
                <a:alpha val="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5" name="IconCircle 15"/>
          <p:cNvSpPr/>
          <p:nvPr/>
        </p:nvSpPr>
        <p:spPr>
          <a:xfrm>
            <a:off x="6428232" y="4974336"/>
            <a:ext cx="402336" cy="402336"/>
          </a:xfrm>
          <a:prstGeom prst="ellipse">
            <a:avLst/>
          </a:prstGeom>
          <a:solidFill>
            <a:srgbClr val="1E8A4C"/>
          </a:solidFill>
          <a:ln>
            <a:noFill/>
          </a:ln>
          <a:effectLst>
            <a:outerShdw blurRad="88900" dist="38100" dir="5400000" algn="bl" rotWithShape="0">
              <a:srgbClr val="0A123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pic>
        <p:nvPicPr>
          <p:cNvPr id="16" name="Icon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8874" y="5084978"/>
            <a:ext cx="181051" cy="181051"/>
          </a:xfrm>
          <a:prstGeom prst="rect">
            <a:avLst/>
          </a:prstGeom>
        </p:spPr>
      </p:pic>
      <p:sp>
        <p:nvSpPr>
          <p:cNvPr id="17" name="Text 17"/>
          <p:cNvSpPr txBox="1"/>
          <p:nvPr/>
        </p:nvSpPr>
        <p:spPr>
          <a:xfrm>
            <a:off x="6967728" y="4956048"/>
            <a:ext cx="42153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140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Codes brauchen eine gemeinsame Liste</a:t>
            </a:r>
          </a:p>
        </p:txBody>
      </p:sp>
      <p:sp>
        <p:nvSpPr>
          <p:cNvPr id="18" name="Text 18"/>
          <p:cNvSpPr txBox="1"/>
          <p:nvPr/>
        </p:nvSpPr>
        <p:spPr>
          <a:xfrm>
            <a:off x="6967728" y="5431536"/>
            <a:ext cx="4206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de-DE" sz="125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Eindeutig ist ein Code nur, wenn beide Seiten dieselbe Codeliste nutzen. Kontrollrelevantes gehört in den strukturierten Teil (BMF Rn. 12).</a:t>
            </a:r>
          </a:p>
        </p:txBody>
      </p:sp>
      <p:sp>
        <p:nvSpPr>
          <p:cNvPr id="19" name="Speaker 19">
            <a:hlinkClick r:id="rId5"/>
          </p:cNvPr>
          <p:cNvSpPr txBox="1"/>
          <p:nvPr/>
        </p:nvSpPr>
        <p:spPr>
          <a:xfrm>
            <a:off x="7680960" y="6514592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de-DE" sz="1000" spc="100" dirty="0">
                <a:solidFill>
                  <a:srgbClr val="9AA4C2"/>
                </a:solidFill>
                <a:latin typeface="Inter Medium Text Medium" pitchFamily="34" charset="0"/>
                <a:ea typeface="Inter Medium Text Medium" pitchFamily="34" charset="-122"/>
                <a:cs typeface="Inter Medium Text Medium" pitchFamily="34" charset="-120"/>
              </a:rPr>
              <a:t>© Svante Schubert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Folie 6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Header 3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950" spc="100" dirty="0">
                <a:solidFill>
                  <a:srgbClr val="5B6890"/>
                </a:solidFill>
                <a:latin typeface="Inter Medium Text Medium" pitchFamily="34" charset="0"/>
                <a:ea typeface="Inter Medium Text Medium" pitchFamily="34" charset="-122"/>
                <a:cs typeface="Inter Medium Text Medium" pitchFamily="34" charset="-120"/>
              </a:rPr>
              <a:t>E-Rechnungs-Gipfel Umsetzungstage 2026</a:t>
            </a:r>
            <a:r>
              <a:rPr lang="de-DE" sz="950" spc="100" dirty="0">
                <a:solidFill>
                  <a:srgbClr val="C2CADE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   ·   </a:t>
            </a:r>
            <a:r>
              <a:rPr lang="de-DE" sz="950" spc="10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Workshop D · Datenqualität in der E-Rechnung</a:t>
            </a:r>
          </a:p>
        </p:txBody>
      </p:sp>
      <p:sp>
        <p:nvSpPr>
          <p:cNvPr id="4" name="SectionLabel 4"/>
          <p:cNvSpPr txBox="1"/>
          <p:nvPr/>
        </p:nvSpPr>
        <p:spPr>
          <a:xfrm>
            <a:off x="82296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1100" spc="300" dirty="0">
                <a:solidFill>
                  <a:srgbClr val="19C3C8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FRAGE 4 · EU-VALIDIERUNGSARTEFAKTE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804672" y="1115568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de-DE" sz="3800" b="1" dirty="0">
                <a:solidFill>
                  <a:srgbClr val="1A2B5E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Was ein grünes Prüfergebnis abdeckt</a:t>
            </a:r>
          </a:p>
        </p:txBody>
      </p:sp>
      <p:sp>
        <p:nvSpPr>
          <p:cNvPr id="6" name="Speaker 6">
            <a:hlinkClick r:id="rId3"/>
          </p:cNvPr>
          <p:cNvSpPr txBox="1"/>
          <p:nvPr/>
        </p:nvSpPr>
        <p:spPr>
          <a:xfrm>
            <a:off x="7680960" y="6514592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de-DE" sz="1000" spc="100" dirty="0">
                <a:solidFill>
                  <a:srgbClr val="9AA4C2"/>
                </a:solidFill>
                <a:latin typeface="Inter Medium Text Medium" pitchFamily="34" charset="0"/>
                <a:ea typeface="Inter Medium Text Medium" pitchFamily="34" charset="-122"/>
                <a:cs typeface="Inter Medium Text Medium" pitchFamily="34" charset="-120"/>
              </a:rPr>
              <a:t>© Svante Schubert</a:t>
            </a:r>
          </a:p>
        </p:txBody>
      </p:sp>
      <p:sp>
        <p:nvSpPr>
          <p:cNvPr id="7" name="PageNum 7"/>
          <p:cNvSpPr txBox="1"/>
          <p:nvPr/>
        </p:nvSpPr>
        <p:spPr>
          <a:xfrm>
            <a:off x="10908792" y="651459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fld id="{245C3502-1688-4C3A-868E-188C8596DD59}" type="slidenum">
              <a:rPr lang="de-DE" sz="1000" spc="200" dirty="0">
                <a:solidFill>
                  <a:srgbClr val="5B6890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9</a:t>
            </a:fld>
            <a:endParaRPr lang="de-DE" sz="1000" spc="200" dirty="0">
              <a:solidFill>
                <a:srgbClr val="5B6890"/>
              </a:solidFill>
              <a:latin typeface="Inter SemiBold Text SemiBold" pitchFamily="34" charset="0"/>
              <a:ea typeface="Inter SemiBold Text SemiBold" pitchFamily="34" charset="-122"/>
              <a:cs typeface="Inter SemiBold Text SemiBold" pitchFamily="34" charset="-120"/>
            </a:endParaRPr>
          </a:p>
        </p:txBody>
      </p:sp>
      <p:sp>
        <p:nvSpPr>
          <p:cNvPr id="8" name="Text 8"/>
          <p:cNvSpPr txBox="1"/>
          <p:nvPr/>
        </p:nvSpPr>
        <p:spPr>
          <a:xfrm>
            <a:off x="822960" y="1847088"/>
            <a:ext cx="10515600" cy="3474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de-DE" sz="13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Grün heißt: Pflichtfelder und Geschäftsregeln der EN 16931 sind erfüllt. Alles darüber hinaus prüft der EU-Validator nicht.</a:t>
            </a:r>
          </a:p>
        </p:txBody>
      </p:sp>
      <p:sp>
        <p:nvSpPr>
          <p:cNvPr id="9" name="Ring 9"/>
          <p:cNvSpPr/>
          <p:nvPr/>
        </p:nvSpPr>
        <p:spPr>
          <a:xfrm>
            <a:off x="822960" y="2331720"/>
            <a:ext cx="3977640" cy="3977640"/>
          </a:xfrm>
          <a:prstGeom prst="ellipse">
            <a:avLst/>
          </a:prstGeom>
          <a:solidFill>
            <a:srgbClr val="E4E9F5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endParaRPr lang="de-DE" dirty="0"/>
          </a:p>
        </p:txBody>
      </p:sp>
      <p:sp>
        <p:nvSpPr>
          <p:cNvPr id="10" name="Ring 10"/>
          <p:cNvSpPr/>
          <p:nvPr/>
        </p:nvSpPr>
        <p:spPr>
          <a:xfrm>
            <a:off x="1188720" y="3063240"/>
            <a:ext cx="3246120" cy="3246120"/>
          </a:xfrm>
          <a:prstGeom prst="ellipse">
            <a:avLst/>
          </a:prstGeom>
          <a:solidFill>
            <a:srgbClr val="C9D3EC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endParaRPr lang="de-DE" dirty="0"/>
          </a:p>
        </p:txBody>
      </p:sp>
      <p:sp>
        <p:nvSpPr>
          <p:cNvPr id="11" name="Ring 11"/>
          <p:cNvSpPr/>
          <p:nvPr/>
        </p:nvSpPr>
        <p:spPr>
          <a:xfrm>
            <a:off x="1531620" y="3749040"/>
            <a:ext cx="2560320" cy="2560320"/>
          </a:xfrm>
          <a:prstGeom prst="ellipse">
            <a:avLst/>
          </a:prstGeom>
          <a:solidFill>
            <a:srgbClr val="A3B3DE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endParaRPr lang="de-DE" dirty="0"/>
          </a:p>
        </p:txBody>
      </p:sp>
      <p:sp>
        <p:nvSpPr>
          <p:cNvPr id="12" name="Ring 12"/>
          <p:cNvSpPr/>
          <p:nvPr/>
        </p:nvSpPr>
        <p:spPr>
          <a:xfrm>
            <a:off x="1851660" y="4389120"/>
            <a:ext cx="1920240" cy="1920240"/>
          </a:xfrm>
          <a:prstGeom prst="ellipse">
            <a:avLst/>
          </a:prstGeom>
          <a:solidFill>
            <a:srgbClr val="6F86C4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endParaRPr lang="de-DE" dirty="0"/>
          </a:p>
        </p:txBody>
      </p:sp>
      <p:sp>
        <p:nvSpPr>
          <p:cNvPr id="13" name="Ring 13"/>
          <p:cNvSpPr/>
          <p:nvPr/>
        </p:nvSpPr>
        <p:spPr>
          <a:xfrm>
            <a:off x="2148840" y="4983480"/>
            <a:ext cx="1325880" cy="1325880"/>
          </a:xfrm>
          <a:prstGeom prst="ellipse">
            <a:avLst/>
          </a:prstGeom>
          <a:solidFill>
            <a:srgbClr val="2E7D32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endParaRPr lang="de-DE" dirty="0"/>
          </a:p>
        </p:txBody>
      </p:sp>
      <p:sp>
        <p:nvSpPr>
          <p:cNvPr id="14" name="RingLabel 14"/>
          <p:cNvSpPr/>
          <p:nvPr/>
        </p:nvSpPr>
        <p:spPr>
          <a:xfrm>
            <a:off x="1714500" y="2331720"/>
            <a:ext cx="219456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de-DE" sz="130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Kunde &amp; Software</a:t>
            </a:r>
            <a:endParaRPr lang="de-DE" sz="1300" dirty="0"/>
          </a:p>
        </p:txBody>
      </p:sp>
      <p:sp>
        <p:nvSpPr>
          <p:cNvPr id="15" name="Dot 15"/>
          <p:cNvSpPr/>
          <p:nvPr/>
        </p:nvSpPr>
        <p:spPr>
          <a:xfrm>
            <a:off x="5349240" y="2450592"/>
            <a:ext cx="182880" cy="182880"/>
          </a:xfrm>
          <a:prstGeom prst="ellipse">
            <a:avLst/>
          </a:prstGeom>
          <a:solidFill>
            <a:srgbClr val="E4E9F5"/>
          </a:solidFill>
          <a:ln w="9525">
            <a:solidFill>
              <a:srgbClr val="A3B3DE"/>
            </a:solidFill>
          </a:ln>
        </p:spPr>
        <p:txBody>
          <a:bodyPr wrap="square" lIns="0" tIns="0" rIns="0" bIns="0" rtlCol="0" anchor="ctr"/>
          <a:lstStyle/>
          <a:p>
            <a:endParaRPr lang="de-DE" dirty="0"/>
          </a:p>
        </p:txBody>
      </p:sp>
      <p:sp>
        <p:nvSpPr>
          <p:cNvPr id="16" name="Legend 16"/>
          <p:cNvSpPr/>
          <p:nvPr/>
        </p:nvSpPr>
        <p:spPr>
          <a:xfrm>
            <a:off x="5669280" y="2395728"/>
            <a:ext cx="5669280" cy="7132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spcAft>
                <a:spcPts val="150"/>
              </a:spcAft>
              <a:buNone/>
            </a:pPr>
            <a:r>
              <a:rPr lang="de-DE" sz="130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Kunde &amp; Software</a:t>
            </a:r>
            <a:endParaRPr lang="de-DE" sz="1300" dirty="0"/>
          </a:p>
          <a:p>
            <a:pPr marL="0" indent="0" algn="l">
              <a:spcAft>
                <a:spcPts val="100"/>
              </a:spcAft>
              <a:buNone/>
            </a:pPr>
            <a:r>
              <a:rPr lang="de-DE" sz="105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Bestellnummer, Lieferantennummer, Feldlängen im ERP</a:t>
            </a:r>
            <a:endParaRPr lang="de-DE" sz="1050" dirty="0"/>
          </a:p>
          <a:p>
            <a:pPr marL="0" indent="0" algn="l">
              <a:buNone/>
            </a:pPr>
            <a:r>
              <a:rPr lang="de-DE" sz="1050" dirty="0">
                <a:solidFill>
                  <a:srgbClr val="0E9E9A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Geprüft: </a:t>
            </a:r>
            <a:r>
              <a:rPr lang="de-DE" sz="1050" dirty="0">
                <a:solidFill>
                  <a:srgbClr val="0E9E9A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Eingangsprüfung beim Kunden</a:t>
            </a:r>
            <a:endParaRPr lang="de-DE" sz="1050" dirty="0"/>
          </a:p>
        </p:txBody>
      </p:sp>
      <p:sp>
        <p:nvSpPr>
          <p:cNvPr id="17" name="RingLabel 17"/>
          <p:cNvSpPr/>
          <p:nvPr/>
        </p:nvSpPr>
        <p:spPr>
          <a:xfrm>
            <a:off x="1714500" y="3063240"/>
            <a:ext cx="219456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de-DE" sz="130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Branche</a:t>
            </a:r>
            <a:endParaRPr lang="de-DE" sz="1300" dirty="0"/>
          </a:p>
        </p:txBody>
      </p:sp>
      <p:sp>
        <p:nvSpPr>
          <p:cNvPr id="18" name="Dot 18"/>
          <p:cNvSpPr/>
          <p:nvPr/>
        </p:nvSpPr>
        <p:spPr>
          <a:xfrm>
            <a:off x="5349240" y="3227832"/>
            <a:ext cx="182880" cy="182880"/>
          </a:xfrm>
          <a:prstGeom prst="ellipse">
            <a:avLst/>
          </a:prstGeom>
          <a:solidFill>
            <a:srgbClr val="C9D3EC"/>
          </a:solidFill>
          <a:ln>
            <a:noFill/>
          </a:ln>
        </p:spPr>
        <p:txBody>
          <a:bodyPr wrap="square" lIns="0" tIns="0" rIns="0" bIns="0" rtlCol="0" anchor="ctr"/>
          <a:lstStyle/>
          <a:p>
            <a:endParaRPr lang="de-DE" dirty="0"/>
          </a:p>
        </p:txBody>
      </p:sp>
      <p:sp>
        <p:nvSpPr>
          <p:cNvPr id="19" name="Legend 19"/>
          <p:cNvSpPr/>
          <p:nvPr/>
        </p:nvSpPr>
        <p:spPr>
          <a:xfrm>
            <a:off x="5669280" y="3172968"/>
            <a:ext cx="5669280" cy="7132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spcAft>
                <a:spcPts val="150"/>
              </a:spcAft>
              <a:buNone/>
            </a:pPr>
            <a:r>
              <a:rPr lang="de-DE" sz="130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Branche</a:t>
            </a:r>
            <a:endParaRPr lang="de-DE" sz="1300" dirty="0"/>
          </a:p>
          <a:p>
            <a:pPr marL="0" indent="0" algn="l">
              <a:spcAft>
                <a:spcPts val="100"/>
              </a:spcAft>
              <a:buNone/>
            </a:pPr>
            <a:r>
              <a:rPr lang="de-DE" sz="105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z. B. Zählpunkt (Energie), Leistungsverzeichnis (Bau)</a:t>
            </a:r>
            <a:endParaRPr lang="de-DE" sz="1050" dirty="0"/>
          </a:p>
          <a:p>
            <a:pPr marL="0" indent="0" algn="l">
              <a:buNone/>
            </a:pPr>
            <a:r>
              <a:rPr lang="de-DE" sz="1050" dirty="0">
                <a:solidFill>
                  <a:srgbClr val="0E9E9A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Geprüft: </a:t>
            </a:r>
            <a:r>
              <a:rPr lang="de-DE" sz="1050" dirty="0">
                <a:solidFill>
                  <a:srgbClr val="0E9E9A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Branchenvorgaben, Vereinbarung</a:t>
            </a:r>
            <a:endParaRPr lang="de-DE" sz="1050" dirty="0"/>
          </a:p>
        </p:txBody>
      </p:sp>
      <p:sp>
        <p:nvSpPr>
          <p:cNvPr id="20" name="RingLabel 20"/>
          <p:cNvSpPr/>
          <p:nvPr/>
        </p:nvSpPr>
        <p:spPr>
          <a:xfrm>
            <a:off x="1714500" y="3749040"/>
            <a:ext cx="219456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de-DE" sz="130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Nationales Recht</a:t>
            </a:r>
            <a:endParaRPr lang="de-DE" sz="1300" dirty="0"/>
          </a:p>
        </p:txBody>
      </p:sp>
      <p:sp>
        <p:nvSpPr>
          <p:cNvPr id="21" name="Dot 21"/>
          <p:cNvSpPr/>
          <p:nvPr/>
        </p:nvSpPr>
        <p:spPr>
          <a:xfrm>
            <a:off x="5349240" y="4005072"/>
            <a:ext cx="182880" cy="182880"/>
          </a:xfrm>
          <a:prstGeom prst="ellipse">
            <a:avLst/>
          </a:prstGeom>
          <a:solidFill>
            <a:srgbClr val="A3B3DE"/>
          </a:solidFill>
          <a:ln>
            <a:noFill/>
          </a:ln>
        </p:spPr>
        <p:txBody>
          <a:bodyPr wrap="square" lIns="0" tIns="0" rIns="0" bIns="0" rtlCol="0" anchor="ctr"/>
          <a:lstStyle/>
          <a:p>
            <a:endParaRPr lang="de-DE" dirty="0"/>
          </a:p>
        </p:txBody>
      </p:sp>
      <p:sp>
        <p:nvSpPr>
          <p:cNvPr id="22" name="Legend 22"/>
          <p:cNvSpPr/>
          <p:nvPr/>
        </p:nvSpPr>
        <p:spPr>
          <a:xfrm>
            <a:off x="5669280" y="3950208"/>
            <a:ext cx="5669280" cy="7132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spcAft>
                <a:spcPts val="150"/>
              </a:spcAft>
              <a:buNone/>
            </a:pPr>
            <a:r>
              <a:rPr lang="de-DE" sz="130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Nationales Recht</a:t>
            </a:r>
            <a:endParaRPr lang="de-DE" sz="1300" dirty="0"/>
          </a:p>
          <a:p>
            <a:pPr marL="0" indent="0" algn="l">
              <a:spcAft>
                <a:spcPts val="100"/>
              </a:spcAft>
              <a:buNone/>
            </a:pPr>
            <a:r>
              <a:rPr lang="de-DE" sz="105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§§ 14, 14a UStG; Leitweg-ID für Behörden</a:t>
            </a:r>
            <a:endParaRPr lang="de-DE" sz="1050" dirty="0"/>
          </a:p>
          <a:p>
            <a:pPr marL="0" indent="0" algn="l">
              <a:buNone/>
            </a:pPr>
            <a:r>
              <a:rPr lang="de-DE" sz="1050" dirty="0">
                <a:solidFill>
                  <a:srgbClr val="0E9E9A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Geprüft: </a:t>
            </a:r>
            <a:r>
              <a:rPr lang="de-DE" sz="1050" dirty="0">
                <a:solidFill>
                  <a:srgbClr val="0E9E9A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z. B. XRechnung-Prüfung der KoSIT</a:t>
            </a:r>
            <a:endParaRPr lang="de-DE" sz="1050" dirty="0"/>
          </a:p>
        </p:txBody>
      </p:sp>
      <p:sp>
        <p:nvSpPr>
          <p:cNvPr id="23" name="RingLabel 23"/>
          <p:cNvSpPr/>
          <p:nvPr/>
        </p:nvSpPr>
        <p:spPr>
          <a:xfrm>
            <a:off x="1714500" y="4389120"/>
            <a:ext cx="219456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de-DE" sz="1300" dirty="0">
                <a:solidFill>
                  <a:srgbClr val="FFFFFF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EU-Recht</a:t>
            </a:r>
            <a:endParaRPr lang="de-DE" sz="1300" dirty="0"/>
          </a:p>
        </p:txBody>
      </p:sp>
      <p:sp>
        <p:nvSpPr>
          <p:cNvPr id="24" name="Dot 24"/>
          <p:cNvSpPr/>
          <p:nvPr/>
        </p:nvSpPr>
        <p:spPr>
          <a:xfrm>
            <a:off x="5349240" y="4782312"/>
            <a:ext cx="182880" cy="182880"/>
          </a:xfrm>
          <a:prstGeom prst="ellipse">
            <a:avLst/>
          </a:prstGeom>
          <a:solidFill>
            <a:srgbClr val="6F86C4"/>
          </a:solidFill>
          <a:ln>
            <a:noFill/>
          </a:ln>
        </p:spPr>
        <p:txBody>
          <a:bodyPr wrap="square" lIns="0" tIns="0" rIns="0" bIns="0" rtlCol="0" anchor="ctr"/>
          <a:lstStyle/>
          <a:p>
            <a:endParaRPr lang="de-DE" dirty="0"/>
          </a:p>
        </p:txBody>
      </p:sp>
      <p:sp>
        <p:nvSpPr>
          <p:cNvPr id="25" name="Legend 25"/>
          <p:cNvSpPr/>
          <p:nvPr/>
        </p:nvSpPr>
        <p:spPr>
          <a:xfrm>
            <a:off x="5669280" y="4727448"/>
            <a:ext cx="5669280" cy="7132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spcAft>
                <a:spcPts val="150"/>
              </a:spcAft>
              <a:buNone/>
            </a:pPr>
            <a:r>
              <a:rPr lang="de-DE" sz="130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EU-Recht</a:t>
            </a:r>
            <a:endParaRPr lang="de-DE" sz="1300" dirty="0"/>
          </a:p>
          <a:p>
            <a:pPr marL="0" indent="0" algn="l">
              <a:spcAft>
                <a:spcPts val="100"/>
              </a:spcAft>
              <a:buNone/>
            </a:pPr>
            <a:r>
              <a:rPr lang="de-DE" sz="105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Art. 226 MwStSystRL, z. B. Leistungsdatum (BT-72 in der Norm optional)</a:t>
            </a:r>
            <a:endParaRPr lang="de-DE" sz="1050" dirty="0"/>
          </a:p>
          <a:p>
            <a:pPr marL="0" indent="0" algn="l">
              <a:buNone/>
            </a:pPr>
            <a:r>
              <a:rPr lang="de-DE" sz="1050" dirty="0">
                <a:solidFill>
                  <a:srgbClr val="0E9E9A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Geprüft: </a:t>
            </a:r>
            <a:r>
              <a:rPr lang="de-DE" sz="1050" dirty="0">
                <a:solidFill>
                  <a:srgbClr val="0E9E9A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kein Prüfartefakt, erst die Steuerprüfung</a:t>
            </a:r>
            <a:endParaRPr lang="de-DE" sz="1050" dirty="0"/>
          </a:p>
        </p:txBody>
      </p:sp>
      <p:sp>
        <p:nvSpPr>
          <p:cNvPr id="26" name="RingLabel 26"/>
          <p:cNvSpPr/>
          <p:nvPr/>
        </p:nvSpPr>
        <p:spPr>
          <a:xfrm>
            <a:off x="2171700" y="5212080"/>
            <a:ext cx="1280160" cy="868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de-DE" sz="1300" dirty="0">
                <a:solidFill>
                  <a:srgbClr val="FFFFFF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EN 16931</a:t>
            </a:r>
            <a:endParaRPr lang="de-DE" sz="1300" dirty="0"/>
          </a:p>
          <a:p>
            <a:pPr marL="0" indent="0" algn="ctr">
              <a:buNone/>
            </a:pPr>
            <a:r>
              <a:rPr lang="de-DE" sz="1100" dirty="0">
                <a:solidFill>
                  <a:srgbClr val="FFFFFF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✓ grün</a:t>
            </a:r>
            <a:endParaRPr lang="de-DE" sz="1100" dirty="0"/>
          </a:p>
        </p:txBody>
      </p:sp>
      <p:sp>
        <p:nvSpPr>
          <p:cNvPr id="27" name="Dot 27"/>
          <p:cNvSpPr/>
          <p:nvPr/>
        </p:nvSpPr>
        <p:spPr>
          <a:xfrm>
            <a:off x="5349240" y="5559552"/>
            <a:ext cx="182880" cy="18288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txBody>
          <a:bodyPr wrap="square" lIns="0" tIns="0" rIns="0" bIns="0" rtlCol="0" anchor="ctr"/>
          <a:lstStyle/>
          <a:p>
            <a:endParaRPr lang="de-DE" dirty="0"/>
          </a:p>
        </p:txBody>
      </p:sp>
      <p:sp>
        <p:nvSpPr>
          <p:cNvPr id="28" name="Legend 28"/>
          <p:cNvSpPr/>
          <p:nvPr/>
        </p:nvSpPr>
        <p:spPr>
          <a:xfrm>
            <a:off x="5669280" y="5504688"/>
            <a:ext cx="5669280" cy="7132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spcAft>
                <a:spcPts val="150"/>
              </a:spcAft>
              <a:buNone/>
            </a:pPr>
            <a:r>
              <a:rPr lang="de-DE" sz="130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EN 16931</a:t>
            </a:r>
            <a:endParaRPr lang="de-DE" sz="1300" dirty="0"/>
          </a:p>
          <a:p>
            <a:pPr marL="0" indent="0" algn="l">
              <a:spcAft>
                <a:spcPts val="100"/>
              </a:spcAft>
              <a:buNone/>
            </a:pPr>
            <a:r>
              <a:rPr lang="de-DE" sz="105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Pflichtfelder, Codes und Geschäftsregeln der Norm</a:t>
            </a:r>
            <a:endParaRPr lang="de-DE" sz="1050" dirty="0"/>
          </a:p>
          <a:p>
            <a:pPr marL="0" indent="0" algn="l">
              <a:buNone/>
            </a:pPr>
            <a:r>
              <a:rPr lang="de-DE" sz="1050" dirty="0">
                <a:solidFill>
                  <a:srgbClr val="2E7D32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Geprüft: </a:t>
            </a:r>
            <a:r>
              <a:rPr lang="de-DE" sz="1050" dirty="0">
                <a:solidFill>
                  <a:srgbClr val="2E7D3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EU-Validierungsartefakte der CEN: grün</a:t>
            </a:r>
            <a:endParaRPr lang="de-DE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Folie 31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Header 3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950" spc="100" dirty="0">
                <a:solidFill>
                  <a:srgbClr val="5B6890"/>
                </a:solidFill>
                <a:latin typeface="Inter Medium Text Medium" pitchFamily="34" charset="0"/>
                <a:ea typeface="Inter Medium Text Medium" pitchFamily="34" charset="-122"/>
                <a:cs typeface="Inter Medium Text Medium" pitchFamily="34" charset="-120"/>
              </a:rPr>
              <a:t>E-Rechnungs-Gipfel Umsetzungstage 2026</a:t>
            </a:r>
            <a:r>
              <a:rPr lang="de-DE" sz="950" spc="100" dirty="0">
                <a:solidFill>
                  <a:srgbClr val="C2CADE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   ·   </a:t>
            </a:r>
            <a:r>
              <a:rPr lang="de-DE" sz="950" spc="10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Workshop D · Datenqualität in der E-Rechnung</a:t>
            </a:r>
          </a:p>
        </p:txBody>
      </p:sp>
      <p:sp>
        <p:nvSpPr>
          <p:cNvPr id="4" name="SectionLabel 4"/>
          <p:cNvSpPr txBox="1"/>
          <p:nvPr/>
        </p:nvSpPr>
        <p:spPr>
          <a:xfrm>
            <a:off x="82296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1100" spc="300" dirty="0">
                <a:solidFill>
                  <a:srgbClr val="19C3C8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FRAGE 4 · EU-VALIDIERUNGSARTEFAKTE · BMF 15.10.2026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804672" y="1115568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de-DE" sz="3800" b="1" dirty="0">
                <a:solidFill>
                  <a:srgbClr val="1A2B5E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Grün ist nicht gleich ordnungsgemäß</a:t>
            </a:r>
          </a:p>
        </p:txBody>
      </p:sp>
      <p:sp>
        <p:nvSpPr>
          <p:cNvPr id="6" name="Tagline 6"/>
          <p:cNvSpPr txBox="1"/>
          <p:nvPr/>
        </p:nvSpPr>
        <p:spPr>
          <a:xfrm>
            <a:off x="822960" y="1865376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13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Technisch und steuerlich zählt Verschiedenes (BMF-Schreiben vom 15. Oktober 2026, Rn. 22 und 23).</a:t>
            </a:r>
          </a:p>
        </p:txBody>
      </p:sp>
      <p:sp>
        <p:nvSpPr>
          <p:cNvPr id="7" name="PageNum 7"/>
          <p:cNvSpPr txBox="1"/>
          <p:nvPr/>
        </p:nvSpPr>
        <p:spPr>
          <a:xfrm>
            <a:off x="10908792" y="651459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fld id="{67D73E2F-A595-473C-9F0C-80BA506D5B08}" type="slidenum">
              <a:rPr lang="de-DE" sz="1000" spc="200" dirty="0">
                <a:solidFill>
                  <a:srgbClr val="5B6890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10</a:t>
            </a:fld>
            <a:endParaRPr lang="de-DE" sz="1000" spc="200" dirty="0">
              <a:solidFill>
                <a:srgbClr val="5B6890"/>
              </a:solidFill>
              <a:latin typeface="Inter SemiBold Text SemiBold" pitchFamily="34" charset="0"/>
              <a:ea typeface="Inter SemiBold Text SemiBold" pitchFamily="34" charset="-122"/>
              <a:cs typeface="Inter SemiBold Text SemiBold" pitchFamily="34" charset="-120"/>
            </a:endParaRPr>
          </a:p>
        </p:txBody>
      </p:sp>
      <p:sp>
        <p:nvSpPr>
          <p:cNvPr id="8" name="Card 8"/>
          <p:cNvSpPr/>
          <p:nvPr/>
        </p:nvSpPr>
        <p:spPr>
          <a:xfrm>
            <a:off x="822960" y="2331720"/>
            <a:ext cx="516636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  <a:effectLst>
            <a:outerShdw blurRad="101600" dist="38100" dir="5400000" algn="bl" rotWithShape="0">
              <a:srgbClr val="0A1230">
                <a:alpha val="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9" name="IconCircle 9"/>
          <p:cNvSpPr/>
          <p:nvPr/>
        </p:nvSpPr>
        <p:spPr>
          <a:xfrm>
            <a:off x="1060704" y="2532888"/>
            <a:ext cx="402336" cy="402336"/>
          </a:xfrm>
          <a:prstGeom prst="ellipse">
            <a:avLst/>
          </a:prstGeom>
          <a:solidFill>
            <a:srgbClr val="19C3C8"/>
          </a:solidFill>
          <a:ln>
            <a:noFill/>
          </a:ln>
          <a:effectLst>
            <a:outerShdw blurRad="88900" dist="38100" dir="5400000" algn="bl" rotWithShape="0">
              <a:srgbClr val="0A123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pic>
        <p:nvPicPr>
          <p:cNvPr id="10" name="Icon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1346" y="2643530"/>
            <a:ext cx="181051" cy="181051"/>
          </a:xfrm>
          <a:prstGeom prst="rect">
            <a:avLst/>
          </a:prstGeom>
        </p:spPr>
      </p:pic>
      <p:sp>
        <p:nvSpPr>
          <p:cNvPr id="11" name="Text 11"/>
          <p:cNvSpPr txBox="1"/>
          <p:nvPr/>
        </p:nvSpPr>
        <p:spPr>
          <a:xfrm>
            <a:off x="1600200" y="2514600"/>
            <a:ext cx="4206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150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Technische Sicht</a:t>
            </a:r>
          </a:p>
        </p:txBody>
      </p:sp>
      <p:sp>
        <p:nvSpPr>
          <p:cNvPr id="12" name="Text 12"/>
          <p:cNvSpPr txBox="1"/>
          <p:nvPr/>
        </p:nvSpPr>
        <p:spPr>
          <a:xfrm>
            <a:off x="1133856" y="2990088"/>
            <a:ext cx="4663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4592" indent="-164592" algn="l">
              <a:spcAft>
                <a:spcPts val="200"/>
              </a:spcAft>
              <a:buSzPct val="100000"/>
              <a:buChar char="•"/>
            </a:pPr>
            <a:r>
              <a:rPr lang="de-DE" sz="12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Verletzte Geschäftsregel: keine EN-16931-Datei, also keine E-Rechnung (Rn. 23)</a:t>
            </a:r>
          </a:p>
          <a:p>
            <a:pPr marL="164592" indent="-164592" algn="l">
              <a:spcAft>
                <a:spcPts val="200"/>
              </a:spcAft>
              <a:buSzPct val="100000"/>
              <a:buChar char="•"/>
            </a:pPr>
            <a:r>
              <a:rPr lang="de-DE" sz="12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Der EU-Validator meldet rot</a:t>
            </a:r>
          </a:p>
          <a:p>
            <a:pPr marL="164592" indent="-164592" algn="l">
              <a:spcAft>
                <a:spcPts val="200"/>
              </a:spcAft>
              <a:buSzPct val="100000"/>
              <a:buChar char="•"/>
            </a:pPr>
            <a:r>
              <a:rPr lang="de-DE" sz="12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Grün heißt nur: Pflichtfelder, Codes und Regeln der Norm passen</a:t>
            </a:r>
          </a:p>
        </p:txBody>
      </p:sp>
      <p:sp>
        <p:nvSpPr>
          <p:cNvPr id="13" name="Card 13"/>
          <p:cNvSpPr/>
          <p:nvPr/>
        </p:nvSpPr>
        <p:spPr>
          <a:xfrm>
            <a:off x="822960" y="4160520"/>
            <a:ext cx="516636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  <a:effectLst>
            <a:outerShdw blurRad="101600" dist="38100" dir="5400000" algn="bl" rotWithShape="0">
              <a:srgbClr val="0A1230">
                <a:alpha val="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4" name="IconCircle 14"/>
          <p:cNvSpPr/>
          <p:nvPr/>
        </p:nvSpPr>
        <p:spPr>
          <a:xfrm>
            <a:off x="1060704" y="4361688"/>
            <a:ext cx="402336" cy="402336"/>
          </a:xfrm>
          <a:prstGeom prst="ellipse">
            <a:avLst/>
          </a:prstGeom>
          <a:solidFill>
            <a:srgbClr val="1A2B5E"/>
          </a:solidFill>
          <a:ln>
            <a:noFill/>
          </a:ln>
          <a:effectLst>
            <a:outerShdw blurRad="88900" dist="38100" dir="5400000" algn="bl" rotWithShape="0">
              <a:srgbClr val="0A123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pic>
        <p:nvPicPr>
          <p:cNvPr id="15" name="Icon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1346" y="4472330"/>
            <a:ext cx="181051" cy="181051"/>
          </a:xfrm>
          <a:prstGeom prst="rect">
            <a:avLst/>
          </a:prstGeom>
        </p:spPr>
      </p:pic>
      <p:sp>
        <p:nvSpPr>
          <p:cNvPr id="16" name="Text 16"/>
          <p:cNvSpPr txBox="1"/>
          <p:nvPr/>
        </p:nvSpPr>
        <p:spPr>
          <a:xfrm>
            <a:off x="1600200" y="4343400"/>
            <a:ext cx="4206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150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Umsatzsteuerliche Sicht</a:t>
            </a:r>
          </a:p>
        </p:txBody>
      </p:sp>
      <p:sp>
        <p:nvSpPr>
          <p:cNvPr id="17" name="Text 17"/>
          <p:cNvSpPr txBox="1"/>
          <p:nvPr/>
        </p:nvSpPr>
        <p:spPr>
          <a:xfrm>
            <a:off x="1133856" y="4818888"/>
            <a:ext cx="4663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4592" indent="-164592" algn="l">
              <a:spcAft>
                <a:spcPts val="200"/>
              </a:spcAft>
              <a:buSzPct val="100000"/>
              <a:buChar char="•"/>
            </a:pPr>
            <a:r>
              <a:rPr lang="de-DE" sz="12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Ein Geschäftsregelfehler ist kein Formatfehler (Rn. 22)</a:t>
            </a:r>
          </a:p>
          <a:p>
            <a:pPr marL="164592" indent="-164592" algn="l">
              <a:spcAft>
                <a:spcPts val="200"/>
              </a:spcAft>
              <a:buSzPct val="100000"/>
              <a:buChar char="•"/>
            </a:pPr>
            <a:r>
              <a:rPr lang="de-DE" sz="12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Die Datei bleibt E-Rechnung nach § 14 UStG (Rn. 23)</a:t>
            </a:r>
          </a:p>
          <a:p>
            <a:pPr marL="164592" indent="-164592" algn="l">
              <a:spcAft>
                <a:spcPts val="200"/>
              </a:spcAft>
              <a:buSzPct val="100000"/>
              <a:buChar char="•"/>
            </a:pPr>
            <a:r>
              <a:rPr lang="de-DE" sz="12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Entscheidend: Pflichtangaben nach §§ 14, 14a UStG vollständig und richtig (Rn. 23)</a:t>
            </a:r>
          </a:p>
        </p:txBody>
      </p:sp>
      <p:sp>
        <p:nvSpPr>
          <p:cNvPr id="18" name="Panel 18"/>
          <p:cNvSpPr/>
          <p:nvPr/>
        </p:nvSpPr>
        <p:spPr>
          <a:xfrm>
            <a:off x="6172200" y="2331720"/>
            <a:ext cx="5193792" cy="3474720"/>
          </a:xfrm>
          <a:prstGeom prst="roundRect">
            <a:avLst>
              <a:gd name="adj" fmla="val 2631"/>
            </a:avLst>
          </a:prstGeom>
          <a:solidFill>
            <a:srgbClr val="1A2B5E"/>
          </a:solidFill>
          <a:ln>
            <a:noFill/>
          </a:ln>
          <a:effectLst>
            <a:outerShdw blurRad="101600" dist="38100" dir="5400000" algn="bl" rotWithShape="0">
              <a:srgbClr val="0A123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9" name="Text 19"/>
          <p:cNvSpPr txBox="1"/>
          <p:nvPr/>
        </p:nvSpPr>
        <p:spPr>
          <a:xfrm>
            <a:off x="6492240" y="2514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1100" spc="300" dirty="0">
                <a:solidFill>
                  <a:srgbClr val="19C3C8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WAS GRÜN NICHT ZEIGT</a:t>
            </a:r>
          </a:p>
        </p:txBody>
      </p:sp>
      <p:sp>
        <p:nvSpPr>
          <p:cNvPr id="20" name="Shape 20"/>
          <p:cNvSpPr/>
          <p:nvPr/>
        </p:nvSpPr>
        <p:spPr>
          <a:xfrm>
            <a:off x="6492240" y="2944368"/>
            <a:ext cx="292608" cy="292608"/>
          </a:xfrm>
          <a:prstGeom prst="ellipse">
            <a:avLst/>
          </a:prstGeom>
          <a:solidFill>
            <a:srgbClr val="19C3C8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21" name="Text 21"/>
          <p:cNvSpPr txBox="1"/>
          <p:nvPr/>
        </p:nvSpPr>
        <p:spPr>
          <a:xfrm>
            <a:off x="6492240" y="29443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de-DE" sz="120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✗</a:t>
            </a:r>
          </a:p>
        </p:txBody>
      </p:sp>
      <p:sp>
        <p:nvSpPr>
          <p:cNvPr id="22" name="Text 22"/>
          <p:cNvSpPr txBox="1"/>
          <p:nvPr/>
        </p:nvSpPr>
        <p:spPr>
          <a:xfrm>
            <a:off x="6949440" y="2880360"/>
            <a:ext cx="4251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de-DE" sz="1250" dirty="0">
                <a:solidFill>
                  <a:srgbClr val="FFFFFF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Ob alle Pflichtangaben nach UStG vollständig sind</a:t>
            </a:r>
          </a:p>
        </p:txBody>
      </p:sp>
      <p:sp>
        <p:nvSpPr>
          <p:cNvPr id="23" name="Shape 23"/>
          <p:cNvSpPr/>
          <p:nvPr/>
        </p:nvSpPr>
        <p:spPr>
          <a:xfrm>
            <a:off x="6492240" y="3511296"/>
            <a:ext cx="292608" cy="292608"/>
          </a:xfrm>
          <a:prstGeom prst="ellipse">
            <a:avLst/>
          </a:prstGeom>
          <a:solidFill>
            <a:srgbClr val="19C3C8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24" name="Text 24"/>
          <p:cNvSpPr txBox="1"/>
          <p:nvPr/>
        </p:nvSpPr>
        <p:spPr>
          <a:xfrm>
            <a:off x="6492240" y="35112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de-DE" sz="120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✗</a:t>
            </a:r>
          </a:p>
        </p:txBody>
      </p:sp>
      <p:sp>
        <p:nvSpPr>
          <p:cNvPr id="25" name="Text 25"/>
          <p:cNvSpPr txBox="1"/>
          <p:nvPr/>
        </p:nvSpPr>
        <p:spPr>
          <a:xfrm>
            <a:off x="6949440" y="3447288"/>
            <a:ext cx="4251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de-DE" sz="1250" dirty="0">
                <a:solidFill>
                  <a:srgbClr val="FFFFFF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Ob exakt gerechnet wurde: XSLT rechnet binär, wenn man es nicht anders sagt</a:t>
            </a:r>
          </a:p>
        </p:txBody>
      </p:sp>
      <p:sp>
        <p:nvSpPr>
          <p:cNvPr id="26" name="Shape 26"/>
          <p:cNvSpPr/>
          <p:nvPr/>
        </p:nvSpPr>
        <p:spPr>
          <a:xfrm>
            <a:off x="6492240" y="4078224"/>
            <a:ext cx="292608" cy="292608"/>
          </a:xfrm>
          <a:prstGeom prst="ellipse">
            <a:avLst/>
          </a:prstGeom>
          <a:solidFill>
            <a:srgbClr val="19C3C8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27" name="Text 27"/>
          <p:cNvSpPr txBox="1"/>
          <p:nvPr/>
        </p:nvSpPr>
        <p:spPr>
          <a:xfrm>
            <a:off x="6492240" y="40782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de-DE" sz="120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✗</a:t>
            </a:r>
          </a:p>
        </p:txBody>
      </p:sp>
      <p:sp>
        <p:nvSpPr>
          <p:cNvPr id="28" name="Text 28"/>
          <p:cNvSpPr txBox="1"/>
          <p:nvPr/>
        </p:nvSpPr>
        <p:spPr>
          <a:xfrm>
            <a:off x="6949440" y="4014216"/>
            <a:ext cx="4251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de-DE" sz="1250" dirty="0">
                <a:solidFill>
                  <a:srgbClr val="FFFFFF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Abweichungen innerhalb der Toleranz: bis zu 1 EUR je Rechenregel</a:t>
            </a:r>
          </a:p>
        </p:txBody>
      </p:sp>
      <p:sp>
        <p:nvSpPr>
          <p:cNvPr id="29" name="Shape 29"/>
          <p:cNvSpPr/>
          <p:nvPr/>
        </p:nvSpPr>
        <p:spPr>
          <a:xfrm>
            <a:off x="6492240" y="4645152"/>
            <a:ext cx="292608" cy="292608"/>
          </a:xfrm>
          <a:prstGeom prst="ellipse">
            <a:avLst/>
          </a:prstGeom>
          <a:solidFill>
            <a:srgbClr val="19C3C8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30" name="Text 30"/>
          <p:cNvSpPr txBox="1"/>
          <p:nvPr/>
        </p:nvSpPr>
        <p:spPr>
          <a:xfrm>
            <a:off x="6492240" y="46451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de-DE" sz="120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✗</a:t>
            </a:r>
          </a:p>
        </p:txBody>
      </p:sp>
      <p:sp>
        <p:nvSpPr>
          <p:cNvPr id="31" name="Text 31"/>
          <p:cNvSpPr txBox="1"/>
          <p:nvPr/>
        </p:nvSpPr>
        <p:spPr>
          <a:xfrm>
            <a:off x="6949440" y="4581144"/>
            <a:ext cx="4251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de-DE" sz="1250" dirty="0">
                <a:solidFill>
                  <a:srgbClr val="FFFFFF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Ob Bestell-, Liefer- und Stammdaten zum Kunden passen</a:t>
            </a:r>
          </a:p>
        </p:txBody>
      </p:sp>
      <p:sp>
        <p:nvSpPr>
          <p:cNvPr id="32" name="Shape 32"/>
          <p:cNvSpPr/>
          <p:nvPr/>
        </p:nvSpPr>
        <p:spPr>
          <a:xfrm>
            <a:off x="6492240" y="5212080"/>
            <a:ext cx="292608" cy="292608"/>
          </a:xfrm>
          <a:prstGeom prst="ellipse">
            <a:avLst/>
          </a:prstGeom>
          <a:solidFill>
            <a:srgbClr val="19C3C8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33" name="Text 33"/>
          <p:cNvSpPr txBox="1"/>
          <p:nvPr/>
        </p:nvSpPr>
        <p:spPr>
          <a:xfrm>
            <a:off x="6492240" y="52120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de-DE" sz="120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✗</a:t>
            </a:r>
          </a:p>
        </p:txBody>
      </p:sp>
      <p:sp>
        <p:nvSpPr>
          <p:cNvPr id="34" name="Text 34"/>
          <p:cNvSpPr txBox="1"/>
          <p:nvPr/>
        </p:nvSpPr>
        <p:spPr>
          <a:xfrm>
            <a:off x="6949440" y="5148072"/>
            <a:ext cx="4251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de-DE" sz="1250" dirty="0">
                <a:solidFill>
                  <a:srgbClr val="FFFFFF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Wie aktuell die Artefakte sind: die Arbeit an der Validierung ruht (IP-Fragen)</a:t>
            </a:r>
          </a:p>
        </p:txBody>
      </p:sp>
      <p:sp>
        <p:nvSpPr>
          <p:cNvPr id="35" name="Pill 35"/>
          <p:cNvSpPr/>
          <p:nvPr/>
        </p:nvSpPr>
        <p:spPr>
          <a:xfrm>
            <a:off x="822960" y="5943600"/>
            <a:ext cx="10543032" cy="411480"/>
          </a:xfrm>
          <a:prstGeom prst="roundRect">
            <a:avLst>
              <a:gd name="adj" fmla="val 50000"/>
            </a:avLst>
          </a:prstGeom>
          <a:solidFill>
            <a:srgbClr val="F4F6FB"/>
          </a:solidFill>
          <a:ln w="9525">
            <a:solidFill>
              <a:srgbClr val="E2E7F2"/>
            </a:solidFill>
            <a:prstDash val="solid"/>
          </a:ln>
        </p:spPr>
        <p:txBody>
          <a:bodyPr wrap="square" lIns="36576" tIns="36576" rIns="36576" bIns="36576" rtlCol="0" anchor="ctr"/>
          <a:lstStyle/>
          <a:p>
            <a:pPr marL="0" indent="0" algn="ctr">
              <a:buNone/>
            </a:pPr>
            <a:r>
              <a:rPr lang="de-DE" sz="1100" dirty="0">
                <a:solidFill>
                  <a:srgbClr val="5B6890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Fazit:  </a:t>
            </a:r>
            <a:r>
              <a:rPr lang="de-DE" sz="11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Grün ist notwendig, aber nicht hinreichend — steuerlich zählen die Pflichtangaben (BMF Rn. 23)</a:t>
            </a:r>
          </a:p>
        </p:txBody>
      </p:sp>
      <p:sp>
        <p:nvSpPr>
          <p:cNvPr id="36" name="Speaker 36">
            <a:hlinkClick r:id="rId5"/>
          </p:cNvPr>
          <p:cNvSpPr txBox="1"/>
          <p:nvPr/>
        </p:nvSpPr>
        <p:spPr>
          <a:xfrm>
            <a:off x="7680960" y="6514592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de-DE" sz="1000" spc="100" dirty="0">
                <a:solidFill>
                  <a:srgbClr val="9AA4C2"/>
                </a:solidFill>
                <a:latin typeface="Inter Medium Text Medium" pitchFamily="34" charset="0"/>
                <a:ea typeface="Inter Medium Text Medium" pitchFamily="34" charset="-122"/>
                <a:cs typeface="Inter Medium Text Medium" pitchFamily="34" charset="-120"/>
              </a:rPr>
              <a:t>© Svante Schubert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Folie 6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Header 3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950" spc="100" dirty="0">
                <a:solidFill>
                  <a:srgbClr val="5B6890"/>
                </a:solidFill>
                <a:latin typeface="Inter Medium Text Medium" pitchFamily="34" charset="0"/>
                <a:ea typeface="Inter Medium Text Medium" pitchFamily="34" charset="-122"/>
                <a:cs typeface="Inter Medium Text Medium" pitchFamily="34" charset="-120"/>
              </a:rPr>
              <a:t>E-Rechnungs-Gipfel Umsetzungstage 2026</a:t>
            </a:r>
            <a:r>
              <a:rPr lang="de-DE" sz="950" spc="100" dirty="0">
                <a:solidFill>
                  <a:srgbClr val="C2CADE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   ·   </a:t>
            </a:r>
            <a:r>
              <a:rPr lang="de-DE" sz="950" spc="100" dirty="0">
                <a:solidFill>
                  <a:srgbClr val="9AA4C2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Workshop D · Datenqualität in der E-Rechnung</a:t>
            </a:r>
          </a:p>
        </p:txBody>
      </p:sp>
      <p:sp>
        <p:nvSpPr>
          <p:cNvPr id="4" name="SectionLabel 4"/>
          <p:cNvSpPr txBox="1"/>
          <p:nvPr/>
        </p:nvSpPr>
        <p:spPr>
          <a:xfrm>
            <a:off x="82296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1100" spc="300" dirty="0">
                <a:solidFill>
                  <a:srgbClr val="19C3C8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FAZIT · VIER EMPFEHLUNGEN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804672" y="1115568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de-DE" sz="3800" b="1" dirty="0">
                <a:solidFill>
                  <a:srgbClr val="1A2B5E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Was Sie jetzt tun können</a:t>
            </a:r>
          </a:p>
        </p:txBody>
      </p:sp>
      <p:sp>
        <p:nvSpPr>
          <p:cNvPr id="6" name="Speaker 6">
            <a:hlinkClick r:id="rId3"/>
          </p:cNvPr>
          <p:cNvSpPr txBox="1"/>
          <p:nvPr/>
        </p:nvSpPr>
        <p:spPr>
          <a:xfrm>
            <a:off x="7680960" y="6514592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de-DE" sz="1000" spc="100" dirty="0">
                <a:solidFill>
                  <a:srgbClr val="9AA4C2"/>
                </a:solidFill>
                <a:latin typeface="Inter Medium Text Medium" pitchFamily="34" charset="0"/>
                <a:ea typeface="Inter Medium Text Medium" pitchFamily="34" charset="-122"/>
                <a:cs typeface="Inter Medium Text Medium" pitchFamily="34" charset="-120"/>
              </a:rPr>
              <a:t>© Svante Schubert</a:t>
            </a:r>
          </a:p>
        </p:txBody>
      </p:sp>
      <p:sp>
        <p:nvSpPr>
          <p:cNvPr id="7" name="PageNum 7"/>
          <p:cNvSpPr txBox="1"/>
          <p:nvPr/>
        </p:nvSpPr>
        <p:spPr>
          <a:xfrm>
            <a:off x="10908792" y="651459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fld id="{245C3502-1688-4C3A-868E-188C8596DD59}" type="slidenum">
              <a:rPr lang="de-DE" sz="1000" spc="200" dirty="0">
                <a:solidFill>
                  <a:srgbClr val="5B6890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11</a:t>
            </a:fld>
            <a:endParaRPr lang="de-DE" sz="1000" spc="200" dirty="0">
              <a:solidFill>
                <a:srgbClr val="5B6890"/>
              </a:solidFill>
              <a:latin typeface="Inter SemiBold Text SemiBold" pitchFamily="34" charset="0"/>
              <a:ea typeface="Inter SemiBold Text SemiBold" pitchFamily="34" charset="-122"/>
              <a:cs typeface="Inter SemiBold Text SemiBold" pitchFamily="34" charset="-120"/>
            </a:endParaRPr>
          </a:p>
        </p:txBody>
      </p:sp>
      <p:sp>
        <p:nvSpPr>
          <p:cNvPr id="8" name="Text 8"/>
          <p:cNvSpPr txBox="1"/>
          <p:nvPr/>
        </p:nvSpPr>
        <p:spPr>
          <a:xfrm>
            <a:off x="822960" y="1847088"/>
            <a:ext cx="10515600" cy="3474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de-DE" sz="130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Vier Fragen, vier Empfehlungen für Ihre Vorgaben an Rechnungsdaten.</a:t>
            </a:r>
          </a:p>
        </p:txBody>
      </p:sp>
      <p:sp>
        <p:nvSpPr>
          <p:cNvPr id="12" name="Card 12"/>
          <p:cNvSpPr/>
          <p:nvPr/>
        </p:nvSpPr>
        <p:spPr>
          <a:xfrm>
            <a:off x="822960" y="2377440"/>
            <a:ext cx="5202936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  <a:effectLst>
            <a:outerShdw blurRad="101600" dist="38100" dir="5400000" algn="bl" rotWithShape="0">
              <a:srgbClr val="0A1230">
                <a:alpha val="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3" name="IconCircle 13"/>
          <p:cNvSpPr/>
          <p:nvPr/>
        </p:nvSpPr>
        <p:spPr>
          <a:xfrm>
            <a:off x="1097280" y="2633472"/>
            <a:ext cx="457200" cy="457200"/>
          </a:xfrm>
          <a:prstGeom prst="ellipse">
            <a:avLst/>
          </a:prstGeom>
          <a:solidFill>
            <a:srgbClr val="19C3C8"/>
          </a:solidFill>
          <a:ln>
            <a:noFill/>
          </a:ln>
          <a:effectLst>
            <a:outerShdw blurRad="88900" dist="38100" dir="5400000" algn="bl" rotWithShape="0">
              <a:srgbClr val="0A123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pic>
        <p:nvPicPr>
          <p:cNvPr id="14" name="Icon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3010" y="2759202"/>
            <a:ext cx="205740" cy="205740"/>
          </a:xfrm>
          <a:prstGeom prst="rect">
            <a:avLst/>
          </a:prstGeom>
        </p:spPr>
      </p:pic>
      <p:sp>
        <p:nvSpPr>
          <p:cNvPr id="15" name="Text 15"/>
          <p:cNvSpPr txBox="1"/>
          <p:nvPr/>
        </p:nvSpPr>
        <p:spPr>
          <a:xfrm>
            <a:off x="1097280" y="32004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150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Rundung festlegen, dezimal rechnen</a:t>
            </a:r>
          </a:p>
        </p:txBody>
      </p:sp>
      <p:sp>
        <p:nvSpPr>
          <p:cNvPr id="16" name="Text 16"/>
          <p:cNvSpPr txBox="1"/>
          <p:nvPr/>
        </p:nvSpPr>
        <p:spPr>
          <a:xfrm>
            <a:off x="1097280" y="3584448"/>
            <a:ext cx="4663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de-DE" sz="115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Weil die USt centgenau und kaufmännisch zu runden ist (UStAE 14.5 Abs. 20) und Software sonst unterschiedlich rundet.</a:t>
            </a:r>
          </a:p>
        </p:txBody>
      </p:sp>
      <p:sp>
        <p:nvSpPr>
          <p:cNvPr id="17" name="Card 17"/>
          <p:cNvSpPr/>
          <p:nvPr/>
        </p:nvSpPr>
        <p:spPr>
          <a:xfrm>
            <a:off x="6163056" y="2377440"/>
            <a:ext cx="5202936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  <a:effectLst>
            <a:outerShdw blurRad="101600" dist="38100" dir="5400000" algn="bl" rotWithShape="0">
              <a:srgbClr val="0A1230">
                <a:alpha val="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8" name="IconCircle 18"/>
          <p:cNvSpPr/>
          <p:nvPr/>
        </p:nvSpPr>
        <p:spPr>
          <a:xfrm>
            <a:off x="6437376" y="2633472"/>
            <a:ext cx="457200" cy="457200"/>
          </a:xfrm>
          <a:prstGeom prst="ellipse">
            <a:avLst/>
          </a:prstGeom>
          <a:solidFill>
            <a:srgbClr val="19C3C8"/>
          </a:solidFill>
          <a:ln>
            <a:noFill/>
          </a:ln>
          <a:effectLst>
            <a:outerShdw blurRad="88900" dist="38100" dir="5400000" algn="bl" rotWithShape="0">
              <a:srgbClr val="0A123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pic>
        <p:nvPicPr>
          <p:cNvPr id="19" name="Icon 1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3106" y="2759202"/>
            <a:ext cx="205740" cy="205740"/>
          </a:xfrm>
          <a:prstGeom prst="rect">
            <a:avLst/>
          </a:prstGeom>
        </p:spPr>
      </p:pic>
      <p:sp>
        <p:nvSpPr>
          <p:cNvPr id="20" name="Text 20"/>
          <p:cNvSpPr txBox="1"/>
          <p:nvPr/>
        </p:nvSpPr>
        <p:spPr>
          <a:xfrm>
            <a:off x="6437376" y="32004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150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Bruttopreis-Fälle finden</a:t>
            </a:r>
          </a:p>
        </p:txBody>
      </p:sp>
      <p:sp>
        <p:nvSpPr>
          <p:cNvPr id="21" name="Text 21"/>
          <p:cNvSpPr txBox="1"/>
          <p:nvPr/>
        </p:nvSpPr>
        <p:spPr>
          <a:xfrm>
            <a:off x="6437376" y="3584448"/>
            <a:ext cx="4663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de-DE" sz="115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Weil es für XRechnung und ZUGFeRD noch kein Bruttoformat gibt; bis 31.12.2027 gilt die Übergangsregel (BMF Rn. 19).</a:t>
            </a:r>
          </a:p>
        </p:txBody>
      </p:sp>
      <p:sp>
        <p:nvSpPr>
          <p:cNvPr id="22" name="Card 22"/>
          <p:cNvSpPr/>
          <p:nvPr/>
        </p:nvSpPr>
        <p:spPr>
          <a:xfrm>
            <a:off x="822960" y="4343400"/>
            <a:ext cx="5202936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  <a:effectLst>
            <a:outerShdw blurRad="101600" dist="38100" dir="5400000" algn="bl" rotWithShape="0">
              <a:srgbClr val="0A1230">
                <a:alpha val="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3" name="IconCircle 23"/>
          <p:cNvSpPr/>
          <p:nvPr/>
        </p:nvSpPr>
        <p:spPr>
          <a:xfrm>
            <a:off x="1097280" y="4599432"/>
            <a:ext cx="457200" cy="457200"/>
          </a:xfrm>
          <a:prstGeom prst="ellipse">
            <a:avLst/>
          </a:prstGeom>
          <a:solidFill>
            <a:srgbClr val="19C3C8"/>
          </a:solidFill>
          <a:ln>
            <a:noFill/>
          </a:ln>
          <a:effectLst>
            <a:outerShdw blurRad="88900" dist="38100" dir="5400000" algn="bl" rotWithShape="0">
              <a:srgbClr val="0A123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pic>
        <p:nvPicPr>
          <p:cNvPr id="24" name="Icon 2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23010" y="4725162"/>
            <a:ext cx="205740" cy="205740"/>
          </a:xfrm>
          <a:prstGeom prst="rect">
            <a:avLst/>
          </a:prstGeom>
        </p:spPr>
      </p:pic>
      <p:sp>
        <p:nvSpPr>
          <p:cNvPr id="25" name="Text 25"/>
          <p:cNvSpPr txBox="1"/>
          <p:nvPr/>
        </p:nvSpPr>
        <p:spPr>
          <a:xfrm>
            <a:off x="1097280" y="51663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150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Codes statt Freitext vereinbaren</a:t>
            </a:r>
          </a:p>
        </p:txBody>
      </p:sp>
      <p:sp>
        <p:nvSpPr>
          <p:cNvPr id="26" name="Text 26"/>
          <p:cNvSpPr txBox="1"/>
          <p:nvPr/>
        </p:nvSpPr>
        <p:spPr>
          <a:xfrm>
            <a:off x="1097280" y="5550408"/>
            <a:ext cx="4663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de-DE" sz="115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Weil nur Codes automatisch verarbeitet werden; Pflichtangaben nach der Zuordnungstabelle von KoSIT und FeRD (BMF Rn. 8).</a:t>
            </a:r>
          </a:p>
        </p:txBody>
      </p:sp>
      <p:sp>
        <p:nvSpPr>
          <p:cNvPr id="27" name="Card 27"/>
          <p:cNvSpPr/>
          <p:nvPr/>
        </p:nvSpPr>
        <p:spPr>
          <a:xfrm>
            <a:off x="6163056" y="4343400"/>
            <a:ext cx="5202936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  <a:effectLst>
            <a:outerShdw blurRad="101600" dist="38100" dir="5400000" algn="bl" rotWithShape="0">
              <a:srgbClr val="0A1230">
                <a:alpha val="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8" name="IconCircle 28"/>
          <p:cNvSpPr/>
          <p:nvPr/>
        </p:nvSpPr>
        <p:spPr>
          <a:xfrm>
            <a:off x="6437376" y="4599432"/>
            <a:ext cx="457200" cy="457200"/>
          </a:xfrm>
          <a:prstGeom prst="ellipse">
            <a:avLst/>
          </a:prstGeom>
          <a:solidFill>
            <a:srgbClr val="19C3C8"/>
          </a:solidFill>
          <a:ln>
            <a:noFill/>
          </a:ln>
          <a:effectLst>
            <a:outerShdw blurRad="88900" dist="38100" dir="5400000" algn="bl" rotWithShape="0">
              <a:srgbClr val="0A123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pic>
        <p:nvPicPr>
          <p:cNvPr id="29" name="Icon 2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63106" y="4725162"/>
            <a:ext cx="205740" cy="205740"/>
          </a:xfrm>
          <a:prstGeom prst="rect">
            <a:avLst/>
          </a:prstGeom>
        </p:spPr>
      </p:pic>
      <p:sp>
        <p:nvSpPr>
          <p:cNvPr id="30" name="Text 30"/>
          <p:cNvSpPr txBox="1"/>
          <p:nvPr/>
        </p:nvSpPr>
        <p:spPr>
          <a:xfrm>
            <a:off x="6437376" y="51663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1500" dirty="0">
                <a:solidFill>
                  <a:srgbClr val="1A2B5E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Über Grün hinaus prüfen</a:t>
            </a:r>
          </a:p>
        </p:txBody>
      </p:sp>
      <p:sp>
        <p:nvSpPr>
          <p:cNvPr id="31" name="Text 31"/>
          <p:cNvSpPr txBox="1"/>
          <p:nvPr/>
        </p:nvSpPr>
        <p:spPr>
          <a:xfrm>
            <a:off x="6437376" y="5550408"/>
            <a:ext cx="4663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de-DE" sz="1150" dirty="0">
                <a:solidFill>
                  <a:srgbClr val="5B6890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Weil der EU-Validator nur die Norm prüft; steuerlich zählen die Pflichtangaben, dazu kommen Branche und Kunde (BMF Rn. 23).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Folie 33">
    <p:bg>
      <p:bgPr>
        <a:solidFill>
          <a:srgbClr val="0F1B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ackground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Header 4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950" spc="100" dirty="0">
                <a:solidFill>
                  <a:srgbClr val="9FB0D8"/>
                </a:solidFill>
                <a:latin typeface="Inter Medium Text Medium" pitchFamily="34" charset="0"/>
                <a:ea typeface="Inter Medium Text Medium" pitchFamily="34" charset="-122"/>
                <a:cs typeface="Inter Medium Text Medium" pitchFamily="34" charset="-120"/>
              </a:rPr>
              <a:t>E-Rechnungs-Gipfel Umsetzungstage 2026</a:t>
            </a:r>
            <a:r>
              <a:rPr lang="de-DE" sz="950" spc="100" dirty="0">
                <a:solidFill>
                  <a:srgbClr val="44598F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   ·   </a:t>
            </a:r>
            <a:r>
              <a:rPr lang="de-DE" sz="950" spc="100" dirty="0">
                <a:solidFill>
                  <a:srgbClr val="7E91C4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Workshop D · Datenqualität in der E-Rechnung</a:t>
            </a:r>
          </a:p>
        </p:txBody>
      </p:sp>
      <p:sp>
        <p:nvSpPr>
          <p:cNvPr id="5" name="PageNum 5"/>
          <p:cNvSpPr txBox="1"/>
          <p:nvPr/>
        </p:nvSpPr>
        <p:spPr>
          <a:xfrm>
            <a:off x="10908792" y="651459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fld id="{F5EABF99-63BD-4822-A20F-6C6A9E27D083}" type="slidenum">
              <a:rPr lang="de-DE" sz="1000" spc="200" dirty="0">
                <a:solidFill>
                  <a:srgbClr val="8EA0CC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12</a:t>
            </a:fld>
            <a:endParaRPr lang="de-DE" sz="1000" spc="200" dirty="0">
              <a:solidFill>
                <a:srgbClr val="8EA0CC"/>
              </a:solidFill>
              <a:latin typeface="Inter SemiBold Text SemiBold" pitchFamily="34" charset="0"/>
              <a:ea typeface="Inter SemiBold Text SemiBold" pitchFamily="34" charset="-122"/>
              <a:cs typeface="Inter SemiBold Text SemiBold" pitchFamily="34" charset="-120"/>
            </a:endParaRPr>
          </a:p>
        </p:txBody>
      </p:sp>
      <p:sp>
        <p:nvSpPr>
          <p:cNvPr id="6" name="Shape 6"/>
          <p:cNvSpPr/>
          <p:nvPr/>
        </p:nvSpPr>
        <p:spPr>
          <a:xfrm>
            <a:off x="5586984" y="2148840"/>
            <a:ext cx="1005840" cy="1005840"/>
          </a:xfrm>
          <a:prstGeom prst="ellipse">
            <a:avLst/>
          </a:prstGeom>
          <a:solidFill>
            <a:srgbClr val="19C3C8"/>
          </a:solidFill>
          <a:ln>
            <a:noFill/>
          </a:ln>
          <a:effectLst>
            <a:outerShdw blurRad="88900" dist="38100" dir="5400000" algn="bl" rotWithShape="0">
              <a:srgbClr val="0A123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pic>
        <p:nvPicPr>
          <p:cNvPr id="7" name="Imag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1304" y="2423160"/>
            <a:ext cx="457200" cy="457200"/>
          </a:xfrm>
          <a:prstGeom prst="rect">
            <a:avLst/>
          </a:prstGeom>
        </p:spPr>
      </p:pic>
      <p:sp>
        <p:nvSpPr>
          <p:cNvPr id="8" name="Text 8"/>
          <p:cNvSpPr txBox="1"/>
          <p:nvPr/>
        </p:nvSpPr>
        <p:spPr>
          <a:xfrm>
            <a:off x="914400" y="3337560"/>
            <a:ext cx="10360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de-DE" sz="5200" dirty="0">
                <a:solidFill>
                  <a:srgbClr val="FFFFFF"/>
                </a:solidFill>
                <a:latin typeface="Inter Light Text Light" pitchFamily="34" charset="0"/>
                <a:ea typeface="Inter Light Text Light" pitchFamily="34" charset="-122"/>
                <a:cs typeface="Inter Light Text Light" pitchFamily="34" charset="-120"/>
              </a:rPr>
              <a:t>Zeit für Ihre Fragen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914400" y="4297680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de-DE" sz="1600" spc="100" dirty="0">
                <a:solidFill>
                  <a:srgbClr val="AFC0EA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Diskussion · Austausch · nächste Schritte gemeinsam denken</a:t>
            </a:r>
          </a:p>
        </p:txBody>
      </p:sp>
      <p:sp>
        <p:nvSpPr>
          <p:cNvPr id="10" name="Speaker 10">
            <a:hlinkClick r:id="rId5"/>
          </p:cNvPr>
          <p:cNvSpPr txBox="1"/>
          <p:nvPr/>
        </p:nvSpPr>
        <p:spPr>
          <a:xfrm>
            <a:off x="7680960" y="6514592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de-DE" sz="1000" spc="100" dirty="0">
                <a:solidFill>
                  <a:srgbClr val="8EA0CC"/>
                </a:solidFill>
                <a:latin typeface="Inter Medium Text Medium" pitchFamily="34" charset="0"/>
                <a:ea typeface="Inter Medium Text Medium" pitchFamily="34" charset="-122"/>
                <a:cs typeface="Inter Medium Text Medium" pitchFamily="34" charset="-120"/>
              </a:rPr>
              <a:t>© Svante Schubert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Folie 34">
    <p:bg>
      <p:bgPr>
        <a:solidFill>
          <a:srgbClr val="0F1B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ackground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Header 4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950" spc="100" dirty="0">
                <a:solidFill>
                  <a:srgbClr val="9FB0D8"/>
                </a:solidFill>
                <a:latin typeface="Inter Medium Text Medium" pitchFamily="34" charset="0"/>
                <a:ea typeface="Inter Medium Text Medium" pitchFamily="34" charset="-122"/>
                <a:cs typeface="Inter Medium Text Medium" pitchFamily="34" charset="-120"/>
              </a:rPr>
              <a:t>E-Rechnungs-Gipfel Umsetzungstage 2026</a:t>
            </a:r>
            <a:r>
              <a:rPr lang="de-DE" sz="950" spc="100" dirty="0">
                <a:solidFill>
                  <a:srgbClr val="44598F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   ·   </a:t>
            </a:r>
            <a:r>
              <a:rPr lang="de-DE" sz="950" spc="100" dirty="0">
                <a:solidFill>
                  <a:srgbClr val="7E91C4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Workshop D · Datenqualität in der E-Rechnung</a:t>
            </a:r>
          </a:p>
        </p:txBody>
      </p:sp>
      <p:sp>
        <p:nvSpPr>
          <p:cNvPr id="5" name="SectionLabel 5"/>
          <p:cNvSpPr txBox="1"/>
          <p:nvPr/>
        </p:nvSpPr>
        <p:spPr>
          <a:xfrm>
            <a:off x="82296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de-DE" sz="1100" spc="300" dirty="0">
                <a:solidFill>
                  <a:srgbClr val="19C3C8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KONTAKT</a:t>
            </a:r>
          </a:p>
        </p:txBody>
      </p:sp>
      <p:sp>
        <p:nvSpPr>
          <p:cNvPr id="6" name="Title 6"/>
          <p:cNvSpPr txBox="1"/>
          <p:nvPr/>
        </p:nvSpPr>
        <p:spPr>
          <a:xfrm>
            <a:off x="804672" y="1115568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de-DE" sz="3800" b="1" dirty="0">
                <a:solidFill>
                  <a:srgbClr val="FFFFFF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Sprechen Sie mich an</a:t>
            </a:r>
          </a:p>
        </p:txBody>
      </p:sp>
      <p:sp>
        <p:nvSpPr>
          <p:cNvPr id="7" name="PageNum 7"/>
          <p:cNvSpPr txBox="1"/>
          <p:nvPr/>
        </p:nvSpPr>
        <p:spPr>
          <a:xfrm>
            <a:off x="10908792" y="651459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fld id="{87DA7C0F-D619-4F2F-88AE-3AFCE6D46308}" type="slidenum">
              <a:rPr lang="de-DE" sz="1000" spc="200" dirty="0">
                <a:solidFill>
                  <a:srgbClr val="8EA0CC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13</a:t>
            </a:fld>
            <a:endParaRPr lang="de-DE" sz="1000" spc="200" dirty="0">
              <a:solidFill>
                <a:srgbClr val="8EA0CC"/>
              </a:solidFill>
              <a:latin typeface="Inter SemiBold Text SemiBold" pitchFamily="34" charset="0"/>
              <a:ea typeface="Inter SemiBold Text SemiBold" pitchFamily="34" charset="-122"/>
              <a:cs typeface="Inter SemiBold Text SemiBold" pitchFamily="34" charset="-120"/>
            </a:endParaRPr>
          </a:p>
        </p:txBody>
      </p:sp>
      <p:sp>
        <p:nvSpPr>
          <p:cNvPr id="8" name="Shape 8"/>
          <p:cNvSpPr/>
          <p:nvPr/>
        </p:nvSpPr>
        <p:spPr>
          <a:xfrm>
            <a:off x="822960" y="2743200"/>
            <a:ext cx="5074920" cy="1920240"/>
          </a:xfrm>
          <a:prstGeom prst="roundRect">
            <a:avLst>
              <a:gd name="adj" fmla="val 4761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" name="Shape 9"/>
          <p:cNvSpPr/>
          <p:nvPr/>
        </p:nvSpPr>
        <p:spPr>
          <a:xfrm>
            <a:off x="1133856" y="3054096"/>
            <a:ext cx="640080" cy="640080"/>
          </a:xfrm>
          <a:prstGeom prst="ellipse">
            <a:avLst/>
          </a:prstGeom>
          <a:solidFill>
            <a:srgbClr val="19C3C8"/>
          </a:solidFill>
          <a:ln>
            <a:noFill/>
          </a:ln>
          <a:effectLst>
            <a:outerShdw blurRad="88900" dist="38100" dir="5400000" algn="bl" rotWithShape="0">
              <a:srgbClr val="0A123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pic>
        <p:nvPicPr>
          <p:cNvPr id="10" name="Imag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07592" y="3227832"/>
            <a:ext cx="292608" cy="292608"/>
          </a:xfrm>
          <a:prstGeom prst="rect">
            <a:avLst/>
          </a:prstGeom>
        </p:spPr>
      </p:pic>
      <p:sp>
        <p:nvSpPr>
          <p:cNvPr id="11" name="Text 11"/>
          <p:cNvSpPr txBox="1"/>
          <p:nvPr/>
        </p:nvSpPr>
        <p:spPr>
          <a:xfrm>
            <a:off x="1965960" y="3063240"/>
            <a:ext cx="3749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spcAft>
                <a:spcPts val="300"/>
              </a:spcAft>
              <a:buNone/>
            </a:pPr>
            <a:r>
              <a:rPr lang="de-DE" sz="1800" dirty="0">
                <a:solidFill>
                  <a:srgbClr val="FFFFFF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Svante Schubert</a:t>
            </a:r>
          </a:p>
          <a:p>
            <a:pPr marL="0" indent="0" algn="l">
              <a:lnSpc>
                <a:spcPct val="110000"/>
              </a:lnSpc>
              <a:buNone/>
            </a:pPr>
            <a:r>
              <a:rPr lang="de-DE" sz="1200" dirty="0">
                <a:solidFill>
                  <a:srgbClr val="BFD0F4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Syntax-Bindings · Validierung · Tooling</a:t>
            </a:r>
          </a:p>
          <a:p>
            <a:pPr marL="0" indent="0" algn="l">
              <a:lnSpc>
                <a:spcPct val="110000"/>
              </a:lnSpc>
              <a:buNone/>
            </a:pPr>
            <a:r>
              <a:rPr lang="de-DE" sz="1200" dirty="0">
                <a:solidFill>
                  <a:srgbClr val="BFD0F4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Technical Editor Work Packages CEN/TC 434</a:t>
            </a:r>
          </a:p>
        </p:txBody>
      </p:sp>
      <p:sp>
        <p:nvSpPr>
          <p:cNvPr id="18" name="Text 18"/>
          <p:cNvSpPr txBox="1"/>
          <p:nvPr/>
        </p:nvSpPr>
        <p:spPr>
          <a:xfrm>
            <a:off x="822960" y="50749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de-DE" sz="1500" dirty="0">
                <a:solidFill>
                  <a:srgbClr val="FFFFFF"/>
                </a:solidFill>
                <a:latin typeface="Inter SemiBold Text SemiBold" pitchFamily="34" charset="0"/>
                <a:ea typeface="Inter SemiBold Text SemiBold" pitchFamily="34" charset="-122"/>
                <a:cs typeface="Inter SemiBold Text SemiBold" pitchFamily="34" charset="-120"/>
              </a:rPr>
              <a:t>Vielen Dank </a:t>
            </a:r>
            <a:r>
              <a:rPr lang="de-DE" sz="1500" dirty="0">
                <a:solidFill>
                  <a:srgbClr val="AFC0EA"/>
                </a:solidFill>
                <a:latin typeface="Inter Text" pitchFamily="34" charset="0"/>
                <a:ea typeface="Inter Text" pitchFamily="34" charset="-122"/>
                <a:cs typeface="Inter Text" pitchFamily="34" charset="-120"/>
              </a:rPr>
              <a:t>für Ihre Aufmerksamkeit — ich freue mich auf den Austausch im Workshop.</a:t>
            </a:r>
          </a:p>
        </p:txBody>
      </p:sp>
      <p:sp>
        <p:nvSpPr>
          <p:cNvPr id="19" name="Speaker 19">
            <a:hlinkClick r:id="rId5"/>
          </p:cNvPr>
          <p:cNvSpPr txBox="1"/>
          <p:nvPr/>
        </p:nvSpPr>
        <p:spPr>
          <a:xfrm>
            <a:off x="7680960" y="6514592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de-DE" sz="1000" spc="100" dirty="0">
                <a:solidFill>
                  <a:srgbClr val="8EA0CC"/>
                </a:solidFill>
                <a:latin typeface="Inter Medium Text Medium" pitchFamily="34" charset="0"/>
                <a:ea typeface="Inter Medium Text Medium" pitchFamily="34" charset="-122"/>
                <a:cs typeface="Inter Medium Text Medium" pitchFamily="34" charset="-120"/>
              </a:rPr>
              <a:t>© Svante Schubert</a:t>
            </a:r>
          </a:p>
        </p:txBody>
      </p:sp>
      <p:sp>
        <p:nvSpPr>
          <p:cNvPr id="20" name="QR Card pptx"/>
          <p:cNvSpPr/>
          <p:nvPr/>
        </p:nvSpPr>
        <p:spPr>
          <a:xfrm>
            <a:off x="9902952" y="822960"/>
            <a:ext cx="1463040" cy="1463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bl" rotWithShape="0">
              <a:srgbClr val="0A1230">
                <a:alpha val="3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pic>
        <p:nvPicPr>
          <p:cNvPr id="21" name="QR Slides pptx" descr="QR-Code: Folien als PPTX (https://svanteschubert.github.io/testy/E-Rechnungs-Gipfel_2026_SvanteSchubert_Datenqualitaet_DE.pptx)">
            <a:hlinkClick r:id="rId6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76104" y="896112"/>
            <a:ext cx="1316736" cy="1316736"/>
          </a:xfrm>
          <a:prstGeom prst="rect">
            <a:avLst/>
          </a:prstGeom>
        </p:spPr>
      </p:pic>
      <p:sp>
        <p:nvSpPr>
          <p:cNvPr id="22" name="QR Caption pptx">
            <a:hlinkClick r:id="rId6"/>
          </p:cNvPr>
          <p:cNvSpPr txBox="1"/>
          <p:nvPr/>
        </p:nvSpPr>
        <p:spPr>
          <a:xfrm>
            <a:off x="9537192" y="234086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de-DE" sz="1000" spc="100" dirty="0">
                <a:solidFill>
                  <a:srgbClr val="C4D2F4"/>
                </a:solidFill>
                <a:latin typeface="Inter Medium Text Medium" pitchFamily="34" charset="0"/>
                <a:ea typeface="Inter Medium Text Medium" pitchFamily="34" charset="-122"/>
                <a:cs typeface="Inter Medium Text Medium" pitchFamily="34" charset="-120"/>
              </a:rPr>
              <a:t>Folien als PPTX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1144</TotalTime>
  <Words>4258</Words>
  <Application>Microsoft Macintosh PowerPoint</Application>
  <PresentationFormat>Widescreen</PresentationFormat>
  <Paragraphs>331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Arial</vt:lpstr>
      <vt:lpstr>Inter Medium Text Medium</vt:lpstr>
      <vt:lpstr>Inter Light Text Light</vt:lpstr>
      <vt:lpstr>Consolas</vt:lpstr>
      <vt:lpstr>Inter Text</vt:lpstr>
      <vt:lpstr>Inter SemiBold Text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>Schubert Consulting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Formal gültig, fachlich unbrauchbar? Vier Fragen an die E-Rechnung</dc:title>
  <dc:subject>Beitrag zu Workshop D, E-Rechnungs-Gipfel Umsetzungstage 2026</dc:subject>
  <dc:creator>Svante Schubert</dc:creator>
  <cp:keywords/>
  <dc:description>E-Rechnungs-Gipfel Umsetzungstage, 26. bis 28. Oktober 2026, Frankfurt am Main</dc:description>
  <cp:lastModifiedBy>Svante Schubert</cp:lastModifiedBy>
  <cp:revision>58</cp:revision>
  <dcterms:created xsi:type="dcterms:W3CDTF">2026-06-19T07:48:12Z</dcterms:created>
  <dcterms:modified xsi:type="dcterms:W3CDTF">2026-10-19T19:03:07Z</dcterms:modified>
  <cp:category/>
</cp:coreProperties>
</file>