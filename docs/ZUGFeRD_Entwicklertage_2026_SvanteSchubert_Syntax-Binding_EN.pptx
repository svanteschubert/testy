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sldIdLst>
    <p:sldId id="301" r:id="rId2"/>
    <p:sldId id="302" r:id="rId3"/>
    <p:sldId id="305" r:id="rId4"/>
    <p:sldId id="306" r:id="rId5"/>
    <p:sldId id="307" r:id="rId6"/>
    <p:sldId id="308" r:id="rId7"/>
    <p:sldId id="309" r:id="rId8"/>
    <p:sldId id="310" r:id="rId9"/>
    <p:sldId id="312" r:id="rId10"/>
    <p:sldId id="311"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31" r:id="rId25"/>
    <p:sldId id="328" r:id="rId26"/>
    <p:sldId id="329" r:id="rId27"/>
    <p:sldId id="330" r:id="rId28"/>
    <p:sldId id="337" r:id="rId29"/>
    <p:sldId id="336" r:id="rId30"/>
    <p:sldId id="335" r:id="rId31"/>
    <p:sldId id="332" r:id="rId32"/>
    <p:sldId id="303" r:id="rId33"/>
    <p:sldId id="304" r:id="rId34"/>
    <p:sldId id="313" r:id="rId35"/>
    <p:sldId id="327" r:id="rId36"/>
    <p:sldId id="333" r:id="rId37"/>
    <p:sldId id="334" r:id="rId38"/>
  </p:sldIdLst>
  <p:sldSz cx="12192000" cy="6858000"/>
  <p:notesSz cx="6858000" cy="12192000"/>
  <p:embeddedFontLst>
    <p:embeddedFont>
      <p:font typeface="Consolas" panose="020B0609020204030204" pitchFamily="49" charset="0"/>
      <p:regular r:id="rId40"/>
      <p:bold r:id="rId41"/>
      <p:italic r:id="rId42"/>
      <p:boldItalic r:id="rId43"/>
    </p:embeddedFont>
    <p:embeddedFont>
      <p:font typeface="Inter Light Text Light" panose="02000503000000020004" pitchFamily="2" charset="0"/>
      <p:regular r:id="rId44"/>
    </p:embeddedFont>
    <p:embeddedFont>
      <p:font typeface="Inter Medium Text Medium" panose="02000503000000020004" pitchFamily="2" charset="0"/>
      <p:regular r:id="rId45"/>
    </p:embeddedFont>
    <p:embeddedFont>
      <p:font typeface="Inter SemiBold Text SemiBold" panose="02000503000000020004" pitchFamily="2" charset="0"/>
      <p:regular r:id="rId46"/>
    </p:embeddedFont>
    <p:embeddedFont>
      <p:font typeface="Inter Text" panose="02000503000000020004" pitchFamily="2" charset="0"/>
      <p:regular r:id="rId47"/>
      <p:bold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66"/>
    <p:restoredTop sz="94610"/>
  </p:normalViewPr>
  <p:slideViewPr>
    <p:cSldViewPr snapToGrid="0" snapToObjects="1">
      <p:cViewPr varScale="1">
        <p:scale>
          <a:sx n="114" d="100"/>
          <a:sy n="114" d="100"/>
        </p:scale>
        <p:origin x="17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90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Topic: the new EN 16931-1:2026 from the perspective of the syntax bindings — UBL and CII as carriers of the semantics.</a:t>
            </a:r>
          </a:p>
          <a:p>
            <a:r>
              <a:rPr lang="en-GB" dirty="0"/>
              <a:t>Introduction: editor of the syntax bindings (CEN/TC 434 WG3), delegated by DIN.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Seven blocks: status, semantics (the cargo), syntax bindings (the carrier), formats in Europe and Germany, rounding and exact arithmetic, the amendment with my proposals #163 (incl. calculation chain 2017 · 2026 · #163) and #164, and finally the next steps at CEN.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Key message: the semantics (EN 16931-1) is the cargo, the syntax (UBL, CII) only the carrier.</a:t>
            </a:r>
          </a:p>
          <a:p>
            <a:r>
              <a:rPr lang="en-GB" dirty="0"/>
              <a:t>In 2026 the cargo grows (+52 business terms), and both carriers are raised to current versions: UBL 2.5 and CII D25A.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Summary of the slides by Paul Simons (WG1 convenor) — the semantics is the cargo that matters.</a:t>
            </a:r>
          </a:p>
          <a:p>
            <a:r>
              <a:rPr lang="en-GB" dirty="0"/>
              <a:t>Three pillars of the revision: correct errors; additional requirements from the B2B obligations in the Member States; requirements from ViDA.</a:t>
            </a:r>
          </a:p>
          <a:p>
            <a:r>
              <a:rPr lang="en-GB" dirty="0"/>
              <a:t>Business requirements: order, despatch advice, receiving advice, delivery note at document and line level; delivery information per line; PAYMENT TERMS 0..n; EARLY PAYMENT DISCOUNT and LATE PAYMENT PENALTY 0..n; fees on behalf of third parties; XML attachments.</a:t>
            </a:r>
          </a:p>
          <a:p>
            <a:r>
              <a:rPr lang="en-GB" dirty="0"/>
              <a:t>ViDA and legal requirements: VAT category N for national rules; exemption reason (text and code) for allowances and charges; VAT subtotals per exemption reason; goods/services indicator, also in the VAT breakdown for intra-Community supplies; exemption reason for categories other than E as well; VATEX code list extended by national codes; category O combinable with other categories.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Business groups 32 → 39, business terms 164 → 216, auxiliary attributes (e.g. scheme identifier) 19 → 22. In total 215 → 277, i.e. +62 elements.</a:t>
            </a:r>
          </a:p>
          <a:p>
            <a:r>
              <a:rPr lang="en-GB" dirty="0"/>
              <a:t>New groups include payment terms, early payment discount, late payment penalty, fees on behalf of third parties, delivery information and address per line, reference to a preceding invoice per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Codes +16 (e.g. exemption reasons, goods/services, non-VAT taxes), document references +12 (order, despatch advice, receiving advice, delivery note per line), text +10.</a:t>
            </a:r>
          </a:p>
          <a:p>
            <a:r>
              <a:rPr lang="en-GB" dirty="0"/>
              <a:t>New data type in 2026: time (BT-166 Invoice issue time).</a:t>
            </a:r>
          </a:p>
          <a:p>
            <a:r>
              <a:rPr lang="en-GB" dirty="0"/>
              <a:t>Percentages = change relative to 2017: code +76%, document reference +120%, text +16%, amount +19%, date +44%, identifier +11%, percentage +25%; time is new (0 → 1); total 164 → 216 = +32%.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EDIFACT and CII both come from UN/ECE WP.4 and UN/CEFACT respectively; most code lists of EN 16931 (UNTDID 1001, 4461, 5305, 7161) are code lists from the EDIFACT directory.</a:t>
            </a:r>
          </a:p>
          <a:p>
            <a:r>
              <a:rPr lang="en-GB" dirty="0"/>
              <a:t>UBL comes from OASIS; ebXML (1999 – 2001) was the joint project of UN/CEFACT and OASIS from which the core components methodology of both XML syntaxes originates.</a:t>
            </a:r>
          </a:p>
          <a:p>
            <a:r>
              <a:rPr lang="en-GB" dirty="0"/>
              <a:t>Sources: ISO/TC 154 FAQ on ISO 9735; OASIS UBL TC; CEN/TS 16931-3-2/-3-3/-3-4; Implementing Decision (EU) 2017/1870.</a:t>
            </a:r>
          </a:p>
          <a:p>
            <a:r>
              <a:rPr lang="en-GB" dirty="0"/>
              <a:t>The 2017 and 2026 rows name the syntax bindings with their versions: 2017 CEN/TS 16931-3-4 (INVOIC D.16B), -3-2 (UBL 2.1), -3-3 (CII D.16B); 2026 CEN/TS 16931-3-4 (INVOIC D.24A), -3-2 (UBL 2.5), -3-3 (CII D.25A).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EDIFACT has a CEN binding (CEN/TS 16931-3-4) but is not on the list of syntaxes in Implementing Decision (EU) 2017/1870 — no public contracting authority has to accept it.</a:t>
            </a:r>
          </a:p>
          <a:p>
            <a:r>
              <a:rPr lang="en-GB" dirty="0"/>
              <a:t>Germany: § 14(1) sentence 6 UStG. No. 1 = EN 16931 + list of syntaxes (UBL, CII), always permitted without consent. No. 2 = a format agreed between the parties, e.g. EDIFACT; it must allow correct and complete extraction into an EN 16931 compliant or interoperable format.</a:t>
            </a:r>
          </a:p>
          <a:p>
            <a:r>
              <a:rPr lang="en-GB" dirty="0"/>
              <a:t>BMF letter of 15 Oct 2024 (III C 2 - S 7287-a/23/10001 :007, BStBl I p. 1320): para. 33 names EDI procedures such as EDIFACT beyond the transition periods; para. 63: consent via framework agreement (e.g. T&amp;Cs) or implied; para. 65: EDI under Art. 2 of Recommendation 94/820/EC until end of 2027.</a:t>
            </a:r>
          </a:p>
          <a:p>
            <a:r>
              <a:rPr lang="en-GB" dirty="0"/>
              <a:t>BMF letter of 15 Oct 2025, UStAE 14.1 (7): consent may be implied (e.g. acceptance without objection). Note: 'implied' refers to consent to other electronic formats; for the agreement under no. 2 the BMF only requires 'agreed', without any form.</a:t>
            </a:r>
          </a:p>
          <a:p>
            <a:r>
              <a:rPr lang="en-GB" dirty="0"/>
              <a:t>Character sets: UNOW (UTF-8) requires syntax version 4 (ISO 9735:1998); most German EDIFACT invoices (EANCOM, VDA) still run on syntax version 3 with UNOA/UNOB/UNOC.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Figures from the automated comparison of the 2017 and 2026 binding tables (normalised CSV); entries include sub-rows such as scheme identifiers and date formats.</a:t>
            </a:r>
          </a:p>
          <a:p>
            <a:r>
              <a:rPr lang="en-GB" dirty="0"/>
              <a:t>Examples of changed paths: UBL BT-10 cbc:BuyerReference → cac:BuyerAssignedReference/cbc:BuyerReference; UBL BT-22 cbc:Note → cac:Annotation/cbc:AnnotationContent; CII BT-10 ram:BuyerReference → ram:BuyerReferenceID; CII BT-95/102/118/151 ram:TypeCode → ram:CategoryCode.</a:t>
            </a:r>
          </a:p>
          <a:p>
            <a:r>
              <a:rPr lang="en-GB" dirty="0"/>
              <a:t>For developers: compare the mapping tables as CSV instead of only reading the PDF.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number of entries comes from an automated comparison of the 2017 and 2026 syntax binding tables (normalised CSV); it includes sub-rows such as scheme identifiers and date formats.</a:t>
            </a:r>
          </a:p>
          <a:p>
            <a:r>
              <a:rPr lang="en-GB" dirty="0"/>
              <a:t>New groups: BG-33 to BG-39. Business terms 164 → 216 (+52), see the semantics slide.</a:t>
            </a:r>
          </a:p>
          <a:p>
            <a:r>
              <a:rPr lang="en-GB" dirty="0"/>
              <a:t>Fixed errors from 2017: typos, missing XPath alternatives, requirements that were only stated in comments.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Ten selected examples, not every accepted format. The year is the legal milestone for the scope named — not the year the format was published. B2G = to the public sector, B2B = between businesses. Format names and years are linked.</a:t>
            </a:r>
          </a:p>
          <a:p>
            <a:r>
              <a:rPr lang="en-GB" dirty="0"/>
              <a:t>AT: ebInterface (national XML), mandatory for invoices to federal authorities since 1 Jan 2014; UBL also possible.</a:t>
            </a:r>
          </a:p>
          <a:p>
            <a:r>
              <a:rPr lang="en-GB" dirty="0"/>
              <a:t>EE: EVS 923 (national XML), machine-readable invoices to the public sector since 1 Jul 2019; UBL and CII as well.</a:t>
            </a:r>
          </a:p>
          <a:p>
            <a:r>
              <a:rPr lang="en-GB" dirty="0"/>
              <a:t>ES: Facturae (national XML) since 2007, B2G mandatory since 15 Jan 2015. For the B2B reform, Art. 7 Real Decreto 238/2026 allows CII, UBL, EDIFACT and Facturae, aligned with the EN 16931 semantics.</a:t>
            </a:r>
          </a:p>
          <a:p>
            <a:r>
              <a:rPr lang="en-GB" dirty="0"/>
              <a:t>FI: Finvoice and TEAPPSXML (national XML); since 1 Apr 2020 the right to demand an EN 16931 compliant e-invoice — no general obligation to issue.</a:t>
            </a:r>
          </a:p>
          <a:p>
            <a:r>
              <a:rPr lang="en-GB" dirty="0"/>
              <a:t>IT: FatturaPA (national XML) via SdI; general B2B start 1 Jan 2019.</a:t>
            </a:r>
          </a:p>
          <a:p>
            <a:r>
              <a:rPr lang="en-GB" dirty="0"/>
              <a:t>PL: FA(3) (national XML) in KSeF; mandatory from 1 Feb 2026 for large companies, from 1 Apr 2026 for others.</a:t>
            </a:r>
          </a:p>
          <a:p>
            <a:r>
              <a:rPr lang="en-GB" dirty="0"/>
              <a:t>SI: e-SLOG (national XML); e-invoices to the public sector since 1 Jan 2015.</a:t>
            </a:r>
          </a:p>
          <a:p>
            <a:r>
              <a:rPr lang="en-GB" dirty="0"/>
              <a:t>BE: Peppol BIS Billing; B2B mandatory since 1 Jan 2026. UBL is mandatory; recipients can additionally register for CII D16B.</a:t>
            </a:r>
          </a:p>
          <a:p>
            <a:r>
              <a:rPr lang="en-GB" dirty="0"/>
              <a:t>DE: XRechnung (CIUS in UBL and CII) or ZUGFeRD/Factur-X (PDF + CII XML); since 1 Jan 2025 businesses must be able to receive e-invoices. The BMF accepts ZUGFeRD from 2.0.1 except MINIMUM and BASIC WL.</a:t>
            </a:r>
          </a:p>
          <a:p>
            <a:r>
              <a:rPr lang="en-GB" dirty="0"/>
              <a:t>FR: Factur-X (PDF/A-3 + CII XML), jointly with ZUGFeRD; France also supports UBL and pure CII. From 1 Sep 2026 receipt for all, issuing for large and medium-sized companies; smaller ones from 09/2027.</a:t>
            </a:r>
          </a:p>
          <a:p>
            <a:r>
              <a:rPr lang="en-GB" dirty="0"/>
              <a:t>List of syntaxes in Implementing Decision (EU) 2017/1870: UBL and CII. National B2B laws may allow further syntaxes. Flags: Flagpedia.net / FlagCDN.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two: different origin (industry vs. administration), different timing (ZUGFeRD 1.0 is older than EN 16931) and different governance (FeRD/AWV vs. KoSIT/IT Planning Council).</a:t>
            </a:r>
          </a:p>
          <a:p>
            <a:r>
              <a:rPr lang="en-GB" dirty="0"/>
              <a:t>Today they complement each other: hybrid B2B format vs. strict B2G CIUS; the ZUGFeRD profile XRECHNUNG connects both.</a:t>
            </a:r>
          </a:p>
          <a:p>
            <a:r>
              <a:rPr lang="en-GB" dirty="0"/>
              <a:t>Sources: IT Planning Council, decision 2017/22 (22 Jun 2017); XRechnung 1.0 of 10 May 2017; E-Invoicing Act of 4 Apr 2017 (§ 4a EGovG); ERechV; BMF letter of 15 Oct 2025, UStAE 14.1 (12) – (14).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Dates with the year first (ISO 8601) so the column is uniform. Green = an e-invoice according to the BMF (ZUGFeRD from version 2.0.1, except the profiles MINIMUM and BASIC WL; UStAE 14.1 (14), BMF letter of 15 Oct 2025); red = not an e-invoice.</a:t>
            </a:r>
          </a:p>
          <a:p>
            <a:r>
              <a:rPr lang="en-GB" dirty="0"/>
              <a:t>Factur-X is one of the three base formats of the French B2B obligation from September 2026. France was on board earlier than 2020: Factur-X 1.0 appeared on 31 Dec 2017 (FNFE-MPE). ZUGFeRD 2.0 (11 Mar 2019) corresponds to Factur-X 1.0.03, ZUGFeRD 2.0.1 to Factur-X 1.0.04 (Factur-X edition of 30 Jun 2019), ZUGFeRD 2.1 to Factur-X 1.0.05 (24 Mar 2020, full alignment).</a:t>
            </a:r>
          </a:p>
          <a:p>
            <a:r>
              <a:rPr lang="en-GB" dirty="0"/>
              <a:t>Further pairs according to the version history of the Factur-X specification 1.09.2: 2.2 = 1.0.06 (1 Mar 2022), 2.3 = 1.0.07 (18 Sep 2024, CII D22B instead of D16B), 2.4 = 1.08 (4 Dec 2025), 2.5 = 1.09 (10 Jun 2026), 2.5.2 = 1.09.2 (4 Aug 2026).</a:t>
            </a:r>
          </a:p>
          <a:p>
            <a:r>
              <a:rPr lang="en-GB" dirty="0"/>
              <a:t>Sources: version history of the Factur-X specification 1.09.2; BMWi press release of 24 Mar 2020; ZUGFeRD 2.4 announcement of 5 Dec 2025.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BG = business group, BT = business term (semantic model of EN 16931-1). BG-X / BT-X are the extensions of Factur-X EXTENDED.</a:t>
            </a:r>
          </a:p>
          <a:p>
            <a:r>
              <a:rPr lang="en-GB" dirty="0"/>
              <a:t>Counting: distinct IDs per profile column (X) in '3.FACTUR-X 1.09.2 - EN FR.xlsx', sheet 'Factur-X CII D22B EXTENDED'. CII helper rows (e.g. BT-23-00) and attribute rows (e.g. BT-29-1, BT-31-0) count towards their BT; the root BG-0 does not count.</a:t>
            </a:r>
          </a:p>
          <a:p>
            <a:r>
              <a:rPr lang="en-GB" dirty="0"/>
              <a:t>Profile EN 16931 = complete core of EN 16931-1: 32 BG + 164 BT (BT-1 … BT-165 without BT-4).</a:t>
            </a:r>
          </a:p>
          <a:p>
            <a:r>
              <a:rPr lang="en-GB" dirty="0"/>
              <a:t>EXTENDED adds 93 BG-X + 609 BT-X and 12 IDs new in 1.09: BG-34 CHARGES ON BEHALF OF A THIRD PARTY (BT-179, BT-180), BT-173 … BT-177 exemption reasons and non-VAT tax for allowances/charges, BT-186 Invoice line deliver to location identifier, BT-193 Invoice line-level non-VAT tax type code, BT-215 Debited account payment service provider identifier and BT-216 Debited account name.</a:t>
            </a:r>
          </a:p>
          <a:p>
            <a:r>
              <a:rPr lang="en-GB" dirty="0"/>
              <a:t>France (AFNOR XP Z12-012): MINIMUM not usable; BASIC WL only until 1 Sep 2027; BASIC is to be declared as EN 16931. French EXTENDED subsets: EXTENDED-CTC-FR 401, EXTENDED-B2B-FR 469 BG + BT.</a:t>
            </a:r>
          </a:p>
          <a:p>
            <a:r>
              <a:rPr lang="en-GB" dirty="0"/>
              <a:t>Why BASIC exists: a subset (CIUS) of EN 16931 with all mandatory fields and all business rules — as guidance on which data suppliers (above all SMEs and their software vendors) should master first. Every BASIC invoice is also EN 16931 compliant.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Rows sorted by total BG + BT; same scale for all three groups. 'New BG + BT' = terms outside the EN 16931 model (Factur-X BG-X/BT-X, XRechnung BG-DEX/BT-DEX, PINT IBG-33 … 38 / IBT-166 … 200).</a:t>
            </a:r>
          </a:p>
          <a:p>
            <a:r>
              <a:rPr lang="en-GB" dirty="0"/>
              <a:t>XRechnung 3.0.2: CIUS 196 = all terms of EN 16931 with stricter rules (e.g. BT-10 Buyer reference = Leitweg-ID, mandatory); extension 208 adds BG-DEX-01 … 09 and BT-DEX-001 … 003.</a:t>
            </a:r>
          </a:p>
          <a:p>
            <a:r>
              <a:rPr lang="en-GB" dirty="0"/>
              <a:t>Peppol BIS Billing 3.0 (release May 2026, structure files on GitHub OpenPEPPOL/peppol-bis-invoice-3): CIUS of EN 16931 with 32 BG + 163 BT = 195; only BT-21 Invoice note subject code is not used.</a:t>
            </a:r>
          </a:p>
          <a:p>
            <a:r>
              <a:rPr lang="en-GB" dirty="0"/>
              <a:t>Peppol PINT BIS Billing 1.1.3 (docs.peppol.eu/poac/pint): international model with 37 IBG + 195 IBT = 232; keeps 31 EN groups and 163 EN terms (without BG-1, BT-21) and adds 6 groups and 32 terms, e.g. per-unit tax, gross prices, tax breakdown in accounting currency. The next Peppol CIUS (PINT BIS 4) will follow the EN 16931 revision.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Peppol PINT (Peppol International Invoice) BIS Billing 1.1.3, release 5 Jun 2026: the general data model on which the specialisations of the individual countries build (docs.peppol.eu/poac/pint).</a:t>
            </a:r>
          </a:p>
          <a:p>
            <a:r>
              <a:rPr lang="en-GB" dirty="0"/>
              <a:t>Three layers according to the PINT Specialization Guide: Shared = defined the same in all invoicing domains, minimal rules, enough for ERP import, booking and order matching. Aligned = defined in general, refined per domain, without its own business rules (e.g. tax, payment instructions). Distinct = domain-specific laws and practice, not necessarily understandable for other domains.</a:t>
            </a:r>
          </a:p>
          <a:p>
            <a:r>
              <a:rPr lang="en-GB" dirty="0"/>
              <a:t>Specialisations on docs.peppol.eu/poac: Australia &amp; New Zealand (aunz), Japan (jp), Singapore (sg), Malaysia (my), United Arab Emirates (ae). Each has its own CustomizationID (urn:peppol:pint:billing-1@…).</a:t>
            </a:r>
          </a:p>
          <a:p>
            <a:r>
              <a:rPr lang="en-GB" dirty="0"/>
              <a:t>Wildcard in the SMP: a registration with '*' says that the recipient accepts more than it fully processes — e.g. receive every specialisation and process the shared part automatically.</a:t>
            </a:r>
          </a:p>
          <a:p>
            <a:r>
              <a:rPr lang="en-GB" dirty="0"/>
              <a:t>PINT's own terms (32 IBT + 6 IBG): IBT-166 Unit TAX, IBT-167 Tax Scheme, IBT-168 Invoice issue time, IBG-33 Invoice terms (IBT-176 Terms amount, IBT-177 Installment due date, IBT-187 Terms payment instructions ID), IBT-178 Payment instructions ID, IBG-34 Financial institution address (IBT-169 … 175), IBG-35 Paid amounts (IBT-179 … 182), IBG-36 Line document reference (IBT-188, IBT-189), IBT-183/184 order and despatch advice reference per line, IBT-185/186 exemption reason per line, IBT-196 … 199 exemption reasons for allowances/charges, IBT-200 Tax inclusive pricing, IBG-37/38 totals and tax breakdown in the accounting currency (IBT-190, 192, 193).</a:t>
            </a:r>
          </a:p>
          <a:p>
            <a:r>
              <a:rPr lang="en-GB" dirty="0"/>
              <a:t>Gross prices in PINT: optional; the default is net with the calculations of EN 16931. Specialisations may support net or net + gross, gross only is not allowed. That is exactly the pattern that #164 proposes for EN 16931.</a:t>
            </a:r>
          </a:p>
          <a:p>
            <a:r>
              <a:rPr lang="en-GB" dirty="0"/>
              <a:t>Much of this moved into the European core with EN 16931-1:2026: invoice time (BT-166), multiple payment terms, references per line, exemption reasons for allowances and charges. Typically PINT remain the tax-neutral model (TAX, tax scheme, per-unit tax), gross prices, instalments with payment means, payments made, tax in accounting currency and the bank address.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Same scale as the profile slide (circle area ∝ BG + BT); the dashed circle is Factur-X EXTENDED (910) for comparison.</a:t>
            </a:r>
          </a:p>
          <a:p>
            <a:r>
              <a:rPr lang="en-GB" dirty="0"/>
              <a:t>XRechnung CIUS: the list of information elements (chapter 10) contains all 32 BG and 164 BT of EN 16931; the CIUS restricts, it does not remove any terms. EN 16931 compliant.</a:t>
            </a:r>
          </a:p>
          <a:p>
            <a:r>
              <a:rPr lang="en-GB" dirty="0"/>
              <a:t>XRechnung extension (conformant, optional for invoice issuers): 9 new groups BG-DEX-01 … 09 and 3 new terms BT-DEX-001 … 003 (chapters 15 and 16). The recursive SUB INVOICE LINE uses the line BTs BT-126 … BT-161; they are not counted twice.</a:t>
            </a:r>
          </a:p>
          <a:p>
            <a:r>
              <a:rPr lang="en-GB" dirty="0"/>
              <a:t>XRechnung 4.0 (draft): the extension shrinks to sub-lines and healthcare codes; payment by third parties and XML attachments move into the EN core. In ZUGFeRD the CIUS is available as profile XRECHNUNG (CII).</a:t>
            </a:r>
          </a:p>
          <a:p>
            <a:r>
              <a:rPr lang="en-GB" dirty="0"/>
              <a:t>Slide by Svante (presented by Lars in Berlin).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Slides by Paul Simons, summarised. Rounding: all amounts are rounded to the number of decimal places in the 'minor unit' column of ISO 4217 for the currency used.</a:t>
            </a:r>
          </a:p>
          <a:p>
            <a:r>
              <a:rPr lang="en-GB" dirty="0"/>
              <a:t>Examples (ISO 4217, minor unit): EUR euro 2; ISK Icelandic króna 0 (the only current European currency without decimal places); JPY Japanese yen 0; KWD Kuwaiti dinar 3. No European currency has 3 decimal places — only BHD, IQD, JOD, KWD, LYD, OMR and TND have.</a:t>
            </a:r>
          </a:p>
          <a:p>
            <a:r>
              <a:rPr lang="en-GB" dirty="0"/>
              <a:t>Tolerance for BT-92 Document level allowance amount, BT-99 Document level charge or tax amount and BT-131 Invoice line net amount: 2 for 0 decimal places, 0.2 for 1, 0.02 for 2, 0.002 for 3, 0.0002 for 4.</a:t>
            </a:r>
          </a:p>
          <a:p>
            <a:r>
              <a:rPr lang="en-GB" dirty="0"/>
              <a:t>For calculations with multiplication and/or division (except BT-92, BT-99, BT-131) the deviation between the calculated and the stated value may be at most 0.1% of the calculated amount, but at least 0.01 and at most 1.00.</a:t>
            </a:r>
          </a:p>
          <a:p>
            <a:r>
              <a:rPr lang="en-GB" dirty="0"/>
              <a:t>New in 2026: EN 16931-1:2017 prescribed in Table 26 a fixed 2 decimal places for all amounts — regardless of the currency, so wrong for invoices in JPY or ISK (0) and in KWD (3). Since 2026 the minor unit according to ISO 4217 applies (Table 28); prices BT-146 to BT-148 may have minor unit + 2, quantities 4, base quantities and rates 2.</a:t>
            </a:r>
          </a:p>
          <a:p>
            <a:r>
              <a:rPr lang="en-GB" dirty="0"/>
              <a:t>VAT accounting currency (BT-6, BT-111): under Art. 230 of the VAT Directive the invoice may be in any currency, but the VAT must be stated in the national currency of the Member State — EUR or CZK, DKK, HUF, PLN, RON, SEK; Bulgaria has paid in euro since 1 January 2026. All these currencies have minor unit 2. We still speak of the minor unit because that is the rule of the standard; Iceland uses EN 16931 via the EEA with the ISK (0 decimal places).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Without a schema every XML value is untyped, and XPath calculates it as xs:double (IEEE 754 binary64). 0.1 has no finite binary representation — just as 1/3 has no finite decimal representation.</a:t>
            </a:r>
          </a:p>
          <a:p>
            <a:r>
              <a:rPr lang="en-GB" dirty="0"/>
              <a:t>The examples are tests in the repository Saxon-HE-enhanced-accuracy (Svanton), run against the unmodified Saxon-HE 13.0. In XPath notation with a point as the decimal separator.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 Mike Cowlishaw, General Decimal Arithmetic, speleotrove.com/decimal (FAQ).</a:t>
            </a:r>
          </a:p>
          <a:p>
            <a:r>
              <a:rPr lang="en-GB" dirty="0"/>
              <a:t>IEEE 754-1985 standardised binary floating-point numbers; IEEE 854-1987 allowed any radix but was hardly implemented; IBM POWER6 (2007) brought a decimal floating-point unit in hardware; IEEE 754-2008 (August 2008) added decimal formats and arithmetic; ISO/IEC/IEEE 60559:2011 is the international counterpart.</a:t>
            </a:r>
          </a:p>
          <a:p>
            <a:r>
              <a:rPr lang="en-GB" dirty="0"/>
              <a:t>IBM study of 1,091,916 columns in commercial databases: 55% decimal, 43.7% integer, 1.4% floating point.</a:t>
            </a:r>
          </a:p>
          <a:p>
            <a:r>
              <a:rPr lang="en-GB" dirty="0"/>
              <a:t>Phone example: 0.70 × 1.05 gives 0.73499999… in binary, rounded 0.73 instead of 0.74. The source (Cowlishaw, telco benchmark) calculates in dollars; on the slide in euros.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fn:round() in XPath rounds halves towards +∞. Commercial rounding (halves away from zero) is required by section 14.5 UStAE, DIN 1333 and AFNOR XP Z12-012.</a:t>
            </a:r>
          </a:p>
          <a:p>
            <a:r>
              <a:rPr lang="en-GB" dirty="0"/>
              <a:t>The credit note row is calculated in decimal — the only difference is the rounding rule. 1.005 fails for both reasons: it is stored in binary as 1.00499999…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Svanton = Saxon-HE-enhanced-accuracy, a fork of Saxon-HE 13.0: decimal floating point throughout (XML values, number(), scientific notation, XSLT 1.0), round() half away from zero, decimal division with 34 instead of 18 digits. Tested with 30 sample invoices and the official EN 16931 artefacts.</a:t>
            </a:r>
          </a:p>
          <a:p>
            <a:r>
              <a:rPr lang="en-GB" dirty="0"/>
              <a:t>Maven snapshot: com.schubert-consulting:Saxon-HE-accuracy:13.0.1-SNAPSHOT (Java 25). The name comes from Jochen Stärk: it sounds like a Swedish furniture range — fitting for a build-it-yourself Saxon.</a:t>
            </a:r>
          </a:p>
          <a:p>
            <a:r>
              <a:rPr lang="en-GB" dirty="0"/>
              <a:t>Best practices in XSLT: cast before calculating, sum(amount/xs:decimal(.)), never xs:decimal(sum(amount)); avoid number() — its NaN silently lets != comparisons pass; use castable as xs:decimal.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Proposal: github.com/qt4cg/qtspecs/issues/2935 'Opt-in commercial arithmetic for XPath, XQuery and XSLT 4.0' with arithmetic-mode="decimal" and default-rounding-mode="half-away-from-zero". Status: open, discussed in the Community Group; Michael Kay additionally suggested a general mechanism for default function options.</a:t>
            </a:r>
          </a:p>
          <a:p>
            <a:r>
              <a:rPr lang="en-GB" dirty="0"/>
              <a:t>In the rules today: custom:round-factor with one factor per currency (Factur-X #394).</a:t>
            </a:r>
          </a:p>
          <a:p>
            <a:r>
              <a:rPr lang="en-GB" dirty="0"/>
              <a:t>Svanton: github.com/svanteschubert/Saxon-HE-enhanced-accuracy. Supported by a StandICT.eu fellowship (project 02-300, 2021), funded by the EU under Grant Agreement No. 951972.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github.com/ConnectingEurope/CEN-TC434-WG1/issues/163 — 'Round only once: no rounding of intermediate values, only of the amounts that are paid are being rounded' (Update 3 of 14 Oct 2026).</a:t>
            </a:r>
          </a:p>
          <a:p>
            <a:r>
              <a:rPr lang="en-GB" dirty="0"/>
              <a:t>EN 16931-1:2026 already says the right thing in 6.5.14: the final result is rounded, not intermediate results. But that only applies per rule; Table 28 and the first indent of 6.5.14 force every result back to cents before it enters the next rule. That is why tolerances of up to EUR 1 are needed (BR-S-9, BR-IG-9, BR-IP-9).</a:t>
            </a:r>
          </a:p>
          <a:p>
            <a:r>
              <a:rPr lang="en-GB" dirty="0"/>
              <a:t>Update 3: only what is paid gets rounded — BT-115 Amount due for payment and the amounts that change it: BT-113 Paid amount, BT-172 Discount amount (early payment), BT-179 Charge amount collected on behalf of a third party, BT-183 Penalty amount (late payment). They are stated in the currency's Minor Unit (ISO 4217, column 'minor unit'; EUR: cent) — the bank does not transfer smaller amounts. BT-114 Rounding amount carries the one rounding. Everything else, VAT included, is stated as precisely as the issuer calculates.</a:t>
            </a:r>
          </a:p>
          <a:p>
            <a:r>
              <a:rPr lang="en-GB" dirty="0"/>
              <a:t>VAT is not transferred per invoice but with the VAT return (Art. 206 VAT Directive). How the VAT of an invoice is rounded is national law: if it requires cents — in Germany UStAE 14.5 (20) 'accurate to the cent' —, a national CIUS restricts BT-110 and BT-117 to the Minor Unit (EN 16931-1:2026, Table 29: 'Restrict allowed fraction digits'). The core validation reports this as a warning.</a:t>
            </a:r>
          </a:p>
          <a:p>
            <a:r>
              <a:rPr lang="en-GB" dirty="0"/>
              <a:t>Validation: exact from the stated values, with 34 digits for non-terminating divisions (IEEE 754 decimal128). Equal: valid. Within today's tolerance: valid with a warning — whether the deviation is accepted is decided by the tax administration; a warning does not protect against penalties. Outside: error. For sums 0.005 × (1 + number of addends) applies, as proposed in #164. The tolerances remain, no transition period is needed: every invoice valid today stays valid, at most with a warning.</a:t>
            </a:r>
          </a:p>
          <a:p>
            <a:r>
              <a:rPr lang="en-GB" dirty="0"/>
              <a:t>Recipients validate with this precision, book BT-115 Amount due for payment and may round all other values internally; the original invoice remains stored (Art. 233 and 244 VAT Directive). From 1 July 2030 an EN 16931 compliant e-invoice no longer needs the recipient's consent (new Art. 232, ViDA).</a:t>
            </a:r>
          </a:p>
          <a:p>
            <a:r>
              <a:rPr lang="en-GB" dirty="0"/>
              <a:t>Example receipt → invoice (#148): 1,000 × €9.99 incl. 19% VAT = €9,990.00 with €1,595.04 VAT. Today (BT-146 with 4 digits: 8.3950) the invoice gives €9,990.05 — 5 cents too much, VAT 1 cent too high. With #163 and 10 digits (8.3949579832): amount due €9,990.00, BT-114 = −0.000000008. With VAT in cents where the law requires it: €1,595.04 (warning), amount due €9,990.00.</a:t>
            </a:r>
          </a:p>
          <a:p>
            <a:r>
              <a:rPr lang="en-GB" dirty="0"/>
              <a:t>Discussion: the split into warning and error takes up the third option of Cyrille Sautereau (FR). Open are DRR reports with cent lines (FR: the PPF accepts up to 6 digits) and backward compatibility (Paul Simons). In 2020 WG1 already decided to lift the limitation of BT-131 (issue #7).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slide pairs with identical layout — when paging through you only see the differences.</a:t>
            </a:r>
          </a:p>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 in 2017 fixed to 2 decimal places (Table 26), since 2026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2017 (Table 26): only amounts are limited — fixed to 2 decimal places, regardless of the currency; prices, quantities, base quantities and rates are unlimited. One intermediate rounding: BT-131 deviates by up to €0.005 per line, over 100 lines by up to €0.50; the VAT on it by up to €0.10 (9.5 cents, rounded).</a:t>
            </a:r>
          </a:p>
          <a:p>
            <a:r>
              <a:rPr lang="en-GB" dirty="0"/>
              <a:t>Already in 2017 the table contradicts the text of the standard: 'Rounding shall be done on the final calculation results not on any intermediate results'.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2026 (Table 28): BT-146 to BT-148 to 'minor unit + 2' (EUR: 4), BT-129 to 4, BT-149 to 2, rates to 2, all amounts to the minor unit (EUR: 2). Two intermediate roundings: BT-146 (up to €0.00005 per unit) and BT-131.</a:t>
            </a:r>
          </a:p>
          <a:p>
            <a:r>
              <a:rPr lang="en-GB" dirty="0"/>
              <a:t>Per line: 100 × €0.00005 from the price + €0.005 from the line rounding = €0.01. Over 100 lines: €1.00 net; VAT €1.00 × 19% = €0.19 (the offset of exactly 19 cents survives the rounding); total €1.19.</a:t>
            </a:r>
          </a:p>
          <a:p>
            <a:r>
              <a:rPr lang="en-GB" dirty="0"/>
              <a:t>The tolerances of the 2026 rules absorb such differences (up to EUR 1 for BR-S-9) — but they also hide them. With #163 they separate warning from error: the deviation becomes visible. A concrete example with figures (receipt 1,000 × €9.99): see the notes on #163.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Proposal #163: intermediate values are no longer rounded by force, input values (quantities, prices, percentages) no longer limited; the VAT rate stays at 2 decimal places as a statutory constant.</a:t>
            </a:r>
          </a:p>
          <a:p>
            <a:r>
              <a:rPr lang="en-GB" dirty="0"/>
              <a:t>Only BT-115 Amount due for payment is rounded (plus BT-113, BT-172, BT-179 and BT-183, which change it); BT-114 Rounding amount makes the one rounding visible. VAT stays as precise as calculated; cents only via a national CIUS, as a warning. So there is no deviation from intermediate rounding — for any number of lines.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arises — step by step (EN 16931-1:2017):</a:t>
            </a:r>
          </a:p>
          <a:p>
            <a:r>
              <a:rPr lang="en-GB" dirty="0"/>
              <a:t>1. BT-146 Item net price: unlimited in 2017. The price stays exact, e.g. €0.123449. Factor 1 (price rounding × quantity) does not apply.</a:t>
            </a:r>
          </a:p>
          <a:p>
            <a:r>
              <a:rPr lang="en-GB" dirty="0"/>
              <a:t>2. BT-131 Invoice line net amount = price × quantity: must be rounded to 2 decimal places — fixed in 2017, regardless of the currency (Table 26). Worst case: the exact amount ends exactly on half a cent, e.g. €12.345 → €12.35. That is €0.005 deviation — in every line.</a:t>
            </a:r>
          </a:p>
          <a:p>
            <a:r>
              <a:rPr lang="en-GB" dirty="0"/>
              <a:t>3. BT-106 Sum of invoice line net amount and BT-116 VAT category taxable amount add up n rounded lines. If all lines round in the same direction, the half cents add up: n × €0.005. 100 lines: €0.50; 10,000 lines: €50.00.</a:t>
            </a:r>
          </a:p>
          <a:p>
            <a:r>
              <a:rPr lang="en-GB" dirty="0"/>
              <a:t>4. BT-117 VAT category tax amount = 19% of BT-116: 19% × €0.50 = €0.095 → up to €0.10 after rounding to 2 decimal places.</a:t>
            </a:r>
          </a:p>
          <a:p>
            <a:r>
              <a:rPr lang="en-GB" dirty="0"/>
              <a:t>Result: the deviation grows linearly with the number of lines, without an upper limit. In 2017 the quantity per line plays no role — that is why all columns of the table are the same.</a:t>
            </a:r>
          </a:p>
          <a:p>
            <a:r>
              <a:rPr lang="en-GB" dirty="0"/>
              <a:t>The table shows the upper limit. In practice lines round sometimes up, sometimes down and partly cancel each other out.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arises — step by step (EN 16931-1:2026):</a:t>
            </a:r>
          </a:p>
          <a:p>
            <a:r>
              <a:rPr lang="en-GB" dirty="0"/>
              <a:t>1. BT-146 Item net price (factor 1): may only have Minor Unit + 2 decimal places (Table 28; EUR: 4). The exact price — e.g. €0.123449 from gross price minus discount or from a gross receipt — is 'squeezed' once into 4 digits: €0.1234. Error €0.000049, at most €0.00005 (half a unit of the 4th digit).</a:t>
            </a:r>
          </a:p>
          <a:p>
            <a:r>
              <a:rPr lang="en-GB" dirty="0"/>
              <a:t>2. BT-131 Invoice line net amount = price × quantity: it is not rounded per unit — but the rounded price is in every unit. The quantity multiplies the one price error: 10,000 units × €0.000049 = €0.49 (WG1 issue #148: €1,234.00 instead of €1,234.49). At most Q × €0.00005.</a:t>
            </a:r>
          </a:p>
          <a:p>
            <a:r>
              <a:rPr lang="en-GB" dirty="0"/>
              <a:t>3. In addition BT-131 is rounded to the Minor Unit (EUR: cent): once more up to €0.005. So per line up to Q × €0.00005 + €0.005 — that is what the first table row shows (100 units: €0.005 + €0.005 = €0.01; 10,000 units: €0.50 + €0.005 = €0.505; 1,000,000 units: €50.00 + €0.005 = €50.005).</a:t>
            </a:r>
          </a:p>
          <a:p>
            <a:r>
              <a:rPr lang="en-GB" dirty="0"/>
              <a:t>4. BT-106 Sum of invoice line net amount and BT-116 VAT category taxable amount (factor 2) add up n lines. In the worst case in the same direction: n × (Q × €0.00005 + €0.005). The first table row shows the error per line as the sum of both parts (price × quantity + cent rounding); every further row is the number of lines × this value.</a:t>
            </a:r>
          </a:p>
          <a:p>
            <a:r>
              <a:rPr lang="en-GB" dirty="0"/>
              <a:t>To recalculate: 100 lines of 10,000 units → per line 10,000 × €0.00005 + €0.005 = €0.505 → × 100 lines = €50.50 net. VAT: 19% × €50.50 = €9.595 → up to €9.60.</a:t>
            </a:r>
          </a:p>
          <a:p>
            <a:r>
              <a:rPr lang="en-GB" dirty="0"/>
              <a:t>The corner of the table: 10,000 lines of 1,000,000 units → per line 1,000,000 × €0.00005 + €0.005 = €50.005 → × 10,000 lines = €500,050. Extreme, but it shows: open-ended. Large quantities occur e.g. in energy (kWh), small parts or data volume.</a:t>
            </a:r>
          </a:p>
          <a:p>
            <a:r>
              <a:rPr lang="en-GB" dirty="0"/>
              <a:t>Why the price weighs more than the lines: the price error never cancels out within a line, it is multiplied in full by the quantity. Across many lines, however, roundings partly cancel out; the table shows the upper limit.</a:t>
            </a:r>
          </a:p>
          <a:p>
            <a:r>
              <a:rPr lang="en-GB" dirty="0"/>
              <a:t>Likewise BT-129 Invoiced quantity is limited to 4 decimal places: for expensive items up to 0.00005 × price is missing per line (e.g. 0.00005 kg × €20,000/kg = €1.00).</a:t>
            </a:r>
          </a:p>
          <a:p>
            <a:r>
              <a:rPr lang="en-GB" dirty="0"/>
              <a:t>The tolerances of the 2026 rules (up to EUR 1, e.g. BR-S-9) only absorb small deviations — and hide the cause. With #163 the same tolerances separate warning from error: the deviation becomes visible instead of hidden.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stays at zero — step by step (proposal #163):</a:t>
            </a:r>
          </a:p>
          <a:p>
            <a:r>
              <a:rPr lang="en-GB" dirty="0"/>
              <a:t>1. BT-146 Item net price and BT-129 Invoiced quantity stay exact, their decimal places are not limited. Factor 1 (price rounding × quantity) does not apply.</a:t>
            </a:r>
          </a:p>
          <a:p>
            <a:r>
              <a:rPr lang="en-GB" dirty="0"/>
              <a:t>2. BT-131 Invoice line net amount and BT-106 Sum of invoice line net amount are not rounded but carried forward exactly. Factor 2 (number of lines) does not apply — no matter how many lines.</a:t>
            </a:r>
          </a:p>
          <a:p>
            <a:r>
              <a:rPr lang="en-GB" dirty="0"/>
              <a:t>3. Only what is paid gets rounded: BT-115 Amount due for payment, once from the exact total to the currency's Minor Unit (EUR: cent); BT-114 Rounding amount shows this one rounding. BT-117 VAT category tax amount and BT-116 VAT category taxable amount stay as precise as calculated. If national law requires the VAT in cents (UStAE 14.5 (20)), a national CIUS restricts it — validation reports this as a warning, not as an error.</a:t>
            </a:r>
          </a:p>
          <a:p>
            <a:r>
              <a:rPr lang="en-GB" dirty="0"/>
              <a:t>Result: ± 0 deviation from intermediate rounding, for any quantity and any number of lines. The prerequisite is exact decimal arithmetic — see the slides on exact invoice arithmetic.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github.com/ConnectingEurope/CEN-TC434-WG1/issues/164 — 'Gross price model: use Item net price plus VAT as the leading price and extract the VAT once per VAT category'.</a:t>
            </a:r>
          </a:p>
          <a:p>
            <a:r>
              <a:rPr lang="en-GB" dirty="0"/>
              <a:t>EN 16931 only knows the net model: add up net prices, add VAT on top. But many prices are fixed including VAT: fixed book prices (§ 5 BuchPrG), receipts above the small-amount threshold, retailers and marketplaces, statutory prices.</a:t>
            </a:r>
          </a:p>
          <a:p>
            <a:r>
              <a:rPr lang="en-GB" dirty="0"/>
              <a:t>Proposal: two calculation models, each invoice uses exactly one. In the gross model the VAT is extracted once per category: BT-117 = BT-116V × BT-119 ÷ (100 + BT-119), not rounded by the standard (cents only where national law requires it — a warning under #163); BT-116 = BT-116V − BT-117. New business terms with the suffix V ('plus VAT'), e.g. BT-146V, BT-131V, BT-116V — 'gross' is already taken in EN 16931 for the price before discount (BT-148).</a:t>
            </a:r>
          </a:p>
          <a:p>
            <a:r>
              <a:rPr lang="en-GB" dirty="0"/>
              <a:t>Example: 1,000 books at €24.95 incl. 7% VAT = €24,950.00 with €1,632.24 VAT. The net model of EN 16931-1:2026 (BT-146 with 4 decimal places: 23.3178) gives €24,950.05 and €1,632.25 VAT. There is no value within the tolerance of BR-CO-32 that gives €24,950.00 with correctly rounded VAT.</a:t>
            </a:r>
          </a:p>
          <a:p>
            <a:r>
              <a:rPr lang="en-GB" dirty="0"/>
              <a:t>Complements #163: in both models only the paid amounts are rounded, such as BT-115 Amount due for payment; the extracted BT-117 VAT category tax amount is stated as calculated, in cents only under national law (warning). In the example that is the only rounding: €1,632.24299… becomes €1,632.24 because UStAE 14.5 (20) requires cents. In the gross model BT-146 is checked as a derived information price with half a unit of its last digit — without a warning, because it does not enter any calculation. In the discussion Paul Simons alternatively proposes category N with an exemption reason; Cyrille Sautereau supports gross prices in the model, with an indicator.</a:t>
            </a:r>
          </a:p>
          <a:p>
            <a:r>
              <a:rPr lang="en-GB" dirty="0"/>
              <a:t>Often impossible today (#163, section 'Gross prices'): with net and VAT in the Minor Unit (EUR: cent), an invoice at 19% VAT reaches only 100 of 119 gross amounts; 19 of 119 (16%) are lost, e.g. €9.99 (8.39 + 1.59 = 9.98; 8.40 + 1.60 = 10.00). At 7% VAT it is 7/107 (7%), at 20% 20/120 (17%), at 21% 21/121 (17%). Simulation with decimal arithmetic, random gross amounts: 1 line 16%, 2 lines 34%, 5 lines 52%, 10 lines 66%, 35 lines 81% miss the receipt total without a workaround.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construction sites. Address validation honestly: copyright questions have stopped the work; the EU validator on GitHub and the e-Invoice Advisory Group have expired.</a:t>
            </a:r>
          </a:p>
          <a:p>
            <a:r>
              <a:rPr lang="en-GB" dirty="0"/>
              <a:t>UBL 2.5 has been an OASIS Standard since 12 Aug 2026 (announced 26 Aug 2026) — so the European Commission can refer to a finished standard. CII D25A: published by UN/CEFACT in June 2026.</a:t>
            </a:r>
          </a:p>
          <a:p>
            <a:r>
              <a:rPr lang="en-GB" dirty="0"/>
              <a:t>Errors found after the vote (github.com/svanteschubert/CEN-TC434-WG3, issues #57 to #64) are the reason to propose a corrigendum for both syntax bindings.</a:t>
            </a:r>
          </a:p>
          <a:p>
            <a:r>
              <a:rPr lang="en-GB" dirty="0"/>
              <a:t>Slide by Svante (presented by Lars in Berlin).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DAV = Date of Availability, DOA = Date of Announcement, DOP = Date of Publication, DOW = Date of Withdrawal.</a:t>
            </a:r>
          </a:p>
          <a:p>
            <a:r>
              <a:rPr lang="en-GB" dirty="0"/>
              <a:t>The DIN edition came later because CCMC dropped the 16-week translation phase and more than 40 pages of comment tables had to be incorporated.</a:t>
            </a:r>
          </a:p>
          <a:p>
            <a:r>
              <a:rPr lang="en-GB" dirty="0"/>
              <a:t>DIN EN 16931-1:2026-10, German edition of EN 16931-1:2026, provided in advance by DIN Media (203 pages); replaces DIN EN 16931-1:2020-12. dinmedia.de/de/norm/din-en-16931-1/400613286</a:t>
            </a:r>
          </a:p>
          <a:p>
            <a:r>
              <a:rPr lang="en-GB" dirty="0"/>
              <a:t>Slide by Svante (presented by Lars in Berlin).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Issue tracker: github.com/svanteschubert/CEN-TC434-WG3/issues</a:t>
            </a:r>
          </a:p>
          <a:p>
            <a:r>
              <a:rPr lang="en-GB" dirty="0"/>
              <a:t>#57 BT-167 VAT accounting currency exchange rate (CII InvoiceApplicableTradeCurrencyExchange → TaxApplicableTradeCurrencyExchange); #63 BT-186/BT-186-1 bound to the header ship-to party instead of the line; #58 ChargeIndicator predicates [.='false'] vs. xsd:boolean 0/1; #61 BT-105/BT-145 vs. BT-177/BT-193 need listID 5153 in the path; #64 cbc:EndpointID deprecated since UBL 2.5; #62 make XPaths self-contained.</a:t>
            </a:r>
          </a:p>
          <a:p>
            <a:r>
              <a:rPr lang="en-GB" dirty="0"/>
              <a:t>Proposal: bundle these points in a corrigendum for TS 16931-3-2 (UBL) and TS 16931-3-3 (CII).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Summary of the slides by Paul Simons: revision and syntax binding published, revision of the code lists in progress, discussion on the amendment started, around 50 topics, goal end of 2026, syntax binding in parallel where possible.</a:t>
            </a:r>
          </a:p>
          <a:p>
            <a:r>
              <a:rPr lang="en-GB" dirty="0"/>
              <a:t>Comments under discussion: BT-10 Buyer reference and backward compatibility; exemption reason mandatory or not for tax categories other than E; goods/services, subtotals and DRR; fees on behalf of third parties, amount due and DRR; Incoterms; split BT-161 into value and measurement; spaces, CR/LF, tab in identifiers.</a:t>
            </a:r>
          </a:p>
          <a:p>
            <a:r>
              <a:rPr lang="en-GB" dirty="0"/>
              <a:t>Also: multiple payment terms with date and amount; VAT group as one taxable person; notation and operator for exchange rates; standalone vs. corrective credit notes; negative credit notes; replacing corrective invoice; interoperability with different CIUS; extensions in cross-border ViDA traffic.</a:t>
            </a:r>
          </a:p>
          <a:p>
            <a:r>
              <a:rPr lang="en-GB" dirty="0"/>
              <a:t>DRR = Digital Reporting Requirements (ViDA).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Pick up open points: corrigendum for the syntax bindings, validation and IP, #163 and #164.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and an invitation to follow and discuss the issues. Links: WG1 #163/#164, WG3 issue tracker, Svanton, XSLT 4.0 proposal.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vanteschubert.github.io/testy/ZUGFeRD_Entwicklertage_2026_SvanteSchubert_Syntax-Binding_EN.pdf"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linkedin.com/in/svante-schubert-2913232/" TargetMode="Externa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hyperlink" Target="https://www.linkedin.com/in/svante-schubert-2913232/"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linkedin.com/in/svante-schubert-2913232/" TargetMode="External"/><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hyperlink" Target="https://www.informazioneeditoria.gov.it/it/comunicazione-istituzionale/le-campagne-di-comunicazione-del-governo/campagne-xviii-legislatura/la-fatturazione-elettronica/" TargetMode="External"/><Relationship Id="rId26" Type="http://schemas.openxmlformats.org/officeDocument/2006/relationships/hyperlink" Target="https://docs.peppol.eu/poacc/billing/3.0/bis/" TargetMode="External"/><Relationship Id="rId3" Type="http://schemas.openxmlformats.org/officeDocument/2006/relationships/image" Target="../media/image19.png"/><Relationship Id="rId21" Type="http://schemas.openxmlformats.org/officeDocument/2006/relationships/hyperlink" Target="https://ksef.podatki.gov.pl/informacje-ogolne-ksef-20/zakres-obowiazkowego-ksef/" TargetMode="External"/><Relationship Id="rId34" Type="http://schemas.openxmlformats.org/officeDocument/2006/relationships/hyperlink" Target="https://www.linkedin.com/in/svante-schubert-2913232/" TargetMode="External"/><Relationship Id="rId7" Type="http://schemas.openxmlformats.org/officeDocument/2006/relationships/hyperlink" Target="https://ec.europa.eu/digital-building-blocks/sites/pages/viewpage.action?pageId=768802837" TargetMode="External"/><Relationship Id="rId12" Type="http://schemas.openxmlformats.org/officeDocument/2006/relationships/hyperlink" Target="https://ec.europa.eu/digital-building-blocks/sites/pages/viewpage.action?navigatingVersions=true&amp;pageId=913506810" TargetMode="External"/><Relationship Id="rId17" Type="http://schemas.openxmlformats.org/officeDocument/2006/relationships/hyperlink" Target="https://www.fatturapa.gov.it/export/documenti/Specifiche_tecniche_del_formato_FatturaPA_V1.3.1.pdf" TargetMode="External"/><Relationship Id="rId25" Type="http://schemas.openxmlformats.org/officeDocument/2006/relationships/image" Target="../media/image26.png"/><Relationship Id="rId33" Type="http://schemas.openxmlformats.org/officeDocument/2006/relationships/hyperlink" Target="https://www.impots.gouv.fr/professionnel/questions/partir-de-quand-suis-je-concerne-par-la-reforme-de-la-facturation" TargetMode="External"/><Relationship Id="rId2" Type="http://schemas.openxmlformats.org/officeDocument/2006/relationships/notesSlide" Target="../notesSlides/notesSlide11.xml"/><Relationship Id="rId16" Type="http://schemas.openxmlformats.org/officeDocument/2006/relationships/image" Target="../media/image23.png"/><Relationship Id="rId20" Type="http://schemas.openxmlformats.org/officeDocument/2006/relationships/hyperlink" Target="https://ksef.podatki.gov.pl/informacje-ogolne-ksef-20/faktura-ustrukturyzowana-i-struktura-logiczna-fa/" TargetMode="External"/><Relationship Id="rId29" Type="http://schemas.openxmlformats.org/officeDocument/2006/relationships/hyperlink" Target="https://xeinkauf.de/xrechnung" TargetMode="Externa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hyperlink" Target="https://www.boe.es/buscar/act.php?id=BOE-A-2026-7295" TargetMode="External"/><Relationship Id="rId24" Type="http://schemas.openxmlformats.org/officeDocument/2006/relationships/hyperlink" Target="https://www.stopbirokraciji.gov.si/novice/s-1-1-2015-obvezno-posiljanje-racunov-v-javni-sektor-v-elektronski-obliki" TargetMode="External"/><Relationship Id="rId32" Type="http://schemas.openxmlformats.org/officeDocument/2006/relationships/hyperlink" Target="https://www.impots.gouv.fr/actualite/chorus-pro-restera-la-plateforme-de-reference-pour-la-facturation-electronique-du-secteur" TargetMode="External"/><Relationship Id="rId5" Type="http://schemas.openxmlformats.org/officeDocument/2006/relationships/hyperlink" Target="https://www.erechnung.gv.at/at.gv.bmf.erb/files/Leitfaden%20Rechnungsstellung%20und%20-einbringung%20V%202_7%2020240913.pdf" TargetMode="External"/><Relationship Id="rId15" Type="http://schemas.openxmlformats.org/officeDocument/2006/relationships/hyperlink" Target="https://www.valtiokonttori.fi/sv/foreskrifter-och-instruktioner/god-praxis-inom-processen-fran-bestallning-till-indrivning/" TargetMode="External"/><Relationship Id="rId23" Type="http://schemas.openxmlformats.org/officeDocument/2006/relationships/hyperlink" Target="https://www.gov.si/en/topics/exchange-of-e-invoices-with-budget-users/" TargetMode="External"/><Relationship Id="rId28" Type="http://schemas.openxmlformats.org/officeDocument/2006/relationships/image" Target="../media/image27.png"/><Relationship Id="rId10" Type="http://schemas.openxmlformats.org/officeDocument/2006/relationships/hyperlink" Target="https://www.facturae.gob.es/formato/versiones-anteriores" TargetMode="External"/><Relationship Id="rId19" Type="http://schemas.openxmlformats.org/officeDocument/2006/relationships/image" Target="../media/image24.png"/><Relationship Id="rId31" Type="http://schemas.openxmlformats.org/officeDocument/2006/relationships/image" Target="../media/image28.png"/><Relationship Id="rId4" Type="http://schemas.openxmlformats.org/officeDocument/2006/relationships/hyperlink" Target="https://www.erechnung.gv.at/erb/tec_formats_ebinterface" TargetMode="External"/><Relationship Id="rId9" Type="http://schemas.openxmlformats.org/officeDocument/2006/relationships/image" Target="../media/image21.png"/><Relationship Id="rId14" Type="http://schemas.openxmlformats.org/officeDocument/2006/relationships/hyperlink" Target="https://www.finanssiala.fi/en/topics/finvoice-standard/" TargetMode="External"/><Relationship Id="rId22" Type="http://schemas.openxmlformats.org/officeDocument/2006/relationships/image" Target="../media/image25.png"/><Relationship Id="rId27" Type="http://schemas.openxmlformats.org/officeDocument/2006/relationships/hyperlink" Target="https://efacture.belgium.be/fr/article/pour-qui-la-facturation-electronique-deviendra-t-elle-obligatoire" TargetMode="External"/><Relationship Id="rId30" Type="http://schemas.openxmlformats.org/officeDocument/2006/relationships/hyperlink" Target="https://www.bundesfinanzministerium.de/Content/DE/FAQ/e-rechnung.html" TargetMode="External"/><Relationship Id="rId8" Type="http://schemas.openxmlformats.org/officeDocument/2006/relationships/hyperlink" Target="https://ec.europa.eu/digital-building-blocks/sites/spaces/einvoicingCFS/pages/75667298/Estonia%2B2019%2BeInvoicing%2BCountry%2BSheet"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hyperlink" Target="https://www.linkedin.com/in/svante-schubert-2913232/"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www.linkedin.com/in/svante-schubert-2913232/" TargetMode="Externa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svanteschubert/Saxon-HE-enhanced-accuracy"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www.linkedin.com/in/svante-schubert-291323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www.linkedin.com/in/svante-schubert-2913232/" TargetMode="External"/><Relationship Id="rId4" Type="http://schemas.openxmlformats.org/officeDocument/2006/relationships/hyperlink" Target="https://github.com/qt4cg/qtspecs/issues/2935"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www.linkedin.com/in/svante-schubert-2913232/" TargetMode="Externa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www.linkedin.com/in/svante-schubert-2913232/"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hyperlink" Target="https://www.linkedin.com/in/svante-schubert-2913232/" TargetMode="Externa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hyperlink" Target="https://www.linkedin.com/in/svante-schubert-2913232/"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linkedin.com/in/svante-schubert-2913232/"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hyperlink" Target="https://www.linkedin.com/in/svante-schubert-2913232/" TargetMode="Externa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8" Type="http://schemas.openxmlformats.org/officeDocument/2006/relationships/hyperlink" Target="https://github.com/qt4cg/qtspecs/issues/2935" TargetMode="External"/><Relationship Id="rId3" Type="http://schemas.openxmlformats.org/officeDocument/2006/relationships/image" Target="../media/image37.jpg"/><Relationship Id="rId7" Type="http://schemas.openxmlformats.org/officeDocument/2006/relationships/hyperlink" Target="https://github.com/svanteschubert/Saxon-HE-enhanced-accuracy"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github.com/svanteschubert/CEN-TC434-WG3/issues" TargetMode="External"/><Relationship Id="rId11" Type="http://schemas.openxmlformats.org/officeDocument/2006/relationships/image" Target="../media/image38.png"/><Relationship Id="rId5" Type="http://schemas.openxmlformats.org/officeDocument/2006/relationships/hyperlink" Target="https://github.com/ConnectingEurope/CEN-TC434-WG1/issues/163" TargetMode="External"/><Relationship Id="rId10" Type="http://schemas.openxmlformats.org/officeDocument/2006/relationships/hyperlink" Target="https://svanteschubert.github.io/testy/ZUGFeRD_Entwicklertage_2026_SvanteSchubert_Syntax-Binding_EN.pptx" TargetMode="External"/><Relationship Id="rId4" Type="http://schemas.openxmlformats.org/officeDocument/2006/relationships/image" Target="../media/image2.png"/><Relationship Id="rId9" Type="http://schemas.openxmlformats.org/officeDocument/2006/relationships/hyperlink" Target="https://www.linkedin.com/in/svante-schubert-29132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Folie 1">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 Syntax Binding</a:t>
            </a:r>
          </a:p>
        </p:txBody>
      </p:sp>
      <p:sp>
        <p:nvSpPr>
          <p:cNvPr id="5" name="Text 5"/>
          <p:cNvSpPr txBox="1"/>
          <p:nvPr/>
        </p:nvSpPr>
        <p:spPr>
          <a:xfrm>
            <a:off x="822960" y="1783080"/>
            <a:ext cx="8229600" cy="365760"/>
          </a:xfrm>
          <a:prstGeom prst="rect">
            <a:avLst/>
          </a:prstGeom>
          <a:noFill/>
          <a:ln/>
        </p:spPr>
        <p:txBody>
          <a:bodyPr wrap="square" lIns="0" tIns="0" rIns="0" bIns="0" rtlCol="0" anchor="ctr"/>
          <a:lstStyle/>
          <a:p>
            <a:pPr marL="0" indent="0" algn="l">
              <a:buNone/>
            </a:pPr>
            <a:r>
              <a:rPr lang="en-GB" sz="1400" spc="400" dirty="0">
                <a:solidFill>
                  <a:srgbClr val="19C3C8"/>
                </a:solidFill>
                <a:latin typeface="Inter SemiBold Text SemiBold" pitchFamily="34" charset="0"/>
                <a:ea typeface="Inter SemiBold Text SemiBold" pitchFamily="34" charset="-122"/>
                <a:cs typeface="Inter SemiBold Text SemiBold" pitchFamily="34" charset="-120"/>
              </a:rPr>
              <a:t>ZUGFERD-ENTWICKLERTAGE 2026</a:t>
            </a:r>
          </a:p>
        </p:txBody>
      </p:sp>
      <p:sp>
        <p:nvSpPr>
          <p:cNvPr id="6" name="Text 6"/>
          <p:cNvSpPr txBox="1"/>
          <p:nvPr/>
        </p:nvSpPr>
        <p:spPr>
          <a:xfrm>
            <a:off x="795528" y="2240280"/>
            <a:ext cx="10515600" cy="2011680"/>
          </a:xfrm>
          <a:prstGeom prst="rect">
            <a:avLst/>
          </a:prstGeom>
          <a:noFill/>
          <a:ln/>
        </p:spPr>
        <p:txBody>
          <a:bodyPr wrap="square" lIns="0" tIns="0" rIns="0" bIns="0" rtlCol="0" anchor="t"/>
          <a:lstStyle/>
          <a:p>
            <a:pPr marL="0" indent="0" algn="l">
              <a:lnSpc>
                <a:spcPct val="98000"/>
              </a:lnSpc>
              <a:buNone/>
            </a:pPr>
            <a:r>
              <a:rPr lang="en-GB" sz="6000" dirty="0">
                <a:solidFill>
                  <a:srgbClr val="DCE6FF"/>
                </a:solidFill>
                <a:latin typeface="Inter Light Text Light" pitchFamily="34" charset="0"/>
                <a:ea typeface="Inter Light Text Light" pitchFamily="34" charset="-122"/>
                <a:cs typeface="Inter Light Text Light" pitchFamily="34" charset="-120"/>
              </a:rPr>
              <a:t>Syntax Binding of</a:t>
            </a:r>
          </a:p>
          <a:p>
            <a:pPr marL="0" indent="0" algn="l">
              <a:lnSpc>
                <a:spcPct val="98000"/>
              </a:lnSpc>
              <a:buNone/>
            </a:pPr>
            <a:r>
              <a:rPr lang="en-GB" sz="6600" b="1" dirty="0">
                <a:solidFill>
                  <a:srgbClr val="FFFFFF"/>
                </a:solidFill>
                <a:latin typeface="Inter Text" pitchFamily="34" charset="0"/>
                <a:ea typeface="Inter Text" pitchFamily="34" charset="-122"/>
                <a:cs typeface="Inter Text" pitchFamily="34" charset="-120"/>
              </a:rPr>
              <a:t>EN 16931-1:2026</a:t>
            </a:r>
          </a:p>
        </p:txBody>
      </p:sp>
      <p:sp>
        <p:nvSpPr>
          <p:cNvPr id="7" name="Text 7"/>
          <p:cNvSpPr txBox="1"/>
          <p:nvPr/>
        </p:nvSpPr>
        <p:spPr>
          <a:xfrm>
            <a:off x="822960" y="4343400"/>
            <a:ext cx="8412480" cy="685800"/>
          </a:xfrm>
          <a:prstGeom prst="rect">
            <a:avLst/>
          </a:prstGeom>
          <a:noFill/>
          <a:ln/>
        </p:spPr>
        <p:txBody>
          <a:bodyPr wrap="square" lIns="0" tIns="0" rIns="0" bIns="0" rtlCol="0" anchor="t"/>
          <a:lstStyle/>
          <a:p>
            <a:pPr marL="0" indent="0" algn="l">
              <a:lnSpc>
                <a:spcPct val="115000"/>
              </a:lnSpc>
              <a:buNone/>
            </a:pPr>
            <a:r>
              <a:rPr lang="en-GB" sz="1600" dirty="0">
                <a:solidFill>
                  <a:srgbClr val="C4D2F4"/>
                </a:solidFill>
                <a:latin typeface="Inter Text" pitchFamily="34" charset="0"/>
                <a:ea typeface="Inter Text" pitchFamily="34" charset="-122"/>
                <a:cs typeface="Inter Text" pitchFamily="34" charset="-120"/>
              </a:rPr>
              <a:t>Semantics is the cargo, syntax the carrier — what the new standard means for UBL, CII and ZUGFeRD.</a:t>
            </a:r>
          </a:p>
        </p:txBody>
      </p:sp>
      <p:sp>
        <p:nvSpPr>
          <p:cNvPr id="8" name="Shape 8"/>
          <p:cNvSpPr/>
          <p:nvPr/>
        </p:nvSpPr>
        <p:spPr>
          <a:xfrm>
            <a:off x="822960" y="5532120"/>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9" name="Image 9"/>
          <p:cNvPicPr>
            <a:picLocks noChangeAspect="1"/>
          </p:cNvPicPr>
          <p:nvPr/>
        </p:nvPicPr>
        <p:blipFill>
          <a:blip r:embed="rId4"/>
          <a:stretch>
            <a:fillRect/>
          </a:stretch>
        </p:blipFill>
        <p:spPr>
          <a:xfrm>
            <a:off x="941832" y="5650992"/>
            <a:ext cx="219456" cy="219456"/>
          </a:xfrm>
          <a:prstGeom prst="rect">
            <a:avLst/>
          </a:prstGeom>
        </p:spPr>
      </p:pic>
      <p:sp>
        <p:nvSpPr>
          <p:cNvPr id="10" name="Text 10"/>
          <p:cNvSpPr txBox="1"/>
          <p:nvPr/>
        </p:nvSpPr>
        <p:spPr>
          <a:xfrm>
            <a:off x="1463040" y="5486400"/>
            <a:ext cx="7315200" cy="566928"/>
          </a:xfrm>
          <a:prstGeom prst="rect">
            <a:avLst/>
          </a:prstGeom>
          <a:noFill/>
          <a:ln/>
        </p:spPr>
        <p:txBody>
          <a:bodyPr wrap="square" lIns="0" tIns="0" rIns="0" bIns="0" rtlCol="0" anchor="ctr"/>
          <a:lstStyle/>
          <a:p>
            <a:pPr marL="0" indent="0" algn="l">
              <a:lnSpc>
                <a:spcPct val="105000"/>
              </a:lnSpc>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05000"/>
              </a:lnSpc>
              <a:buNone/>
            </a:pPr>
            <a:r>
              <a:rPr lang="en-GB" sz="1200" dirty="0">
                <a:solidFill>
                  <a:srgbClr val="C4D2F4"/>
                </a:solidFill>
                <a:latin typeface="Inter Text" pitchFamily="34" charset="0"/>
                <a:ea typeface="Inter Text" pitchFamily="34" charset="-122"/>
                <a:cs typeface="Inter Text" pitchFamily="34" charset="-120"/>
              </a:rPr>
              <a:t>Editor of the syntax bindings · CEN/TC 434 WG3 · for DIN</a:t>
            </a:r>
          </a:p>
        </p:txBody>
      </p:sp>
      <p:sp>
        <p:nvSpPr>
          <p:cNvPr id="11" name="QR Card pdf"/>
          <p:cNvSpPr/>
          <p:nvPr/>
        </p:nvSpPr>
        <p:spPr>
          <a:xfrm>
            <a:off x="9537192" y="2359152"/>
            <a:ext cx="1828800" cy="182880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en-GB"/>
          </a:p>
        </p:txBody>
      </p:sp>
      <p:pic>
        <p:nvPicPr>
          <p:cNvPr id="12" name="QR Slides pdf" descr="QR code: slides as PDF (https://svanteschubert.github.io/testy/ZUGFeRD_Entwicklertage_2026_SvanteSchubert_Syntax-Binding_EN.pdf)">
            <a:hlinkClick r:id="rId5"/>
          </p:cNvPr>
          <p:cNvPicPr>
            <a:picLocks noChangeAspect="1"/>
          </p:cNvPicPr>
          <p:nvPr/>
        </p:nvPicPr>
        <p:blipFill>
          <a:blip r:embed="rId6"/>
          <a:stretch>
            <a:fillRect/>
          </a:stretch>
        </p:blipFill>
        <p:spPr>
          <a:xfrm>
            <a:off x="9610344" y="2432304"/>
            <a:ext cx="1682496" cy="1682496"/>
          </a:xfrm>
          <a:prstGeom prst="rect">
            <a:avLst/>
          </a:prstGeom>
        </p:spPr>
      </p:pic>
      <p:sp>
        <p:nvSpPr>
          <p:cNvPr id="13" name="QR Caption pdf">
            <a:hlinkClick r:id="rId5"/>
          </p:cNvPr>
          <p:cNvSpPr txBox="1"/>
          <p:nvPr/>
        </p:nvSpPr>
        <p:spPr>
          <a:xfrm>
            <a:off x="9171432" y="4242816"/>
            <a:ext cx="2560320" cy="256032"/>
          </a:xfrm>
          <a:prstGeom prst="rect">
            <a:avLst/>
          </a:prstGeom>
          <a:noFill/>
          <a:ln/>
        </p:spPr>
        <p:txBody>
          <a:bodyPr wrap="square" lIns="0" tIns="0" rIns="0" bIns="0" rtlCol="0" anchor="ctr"/>
          <a:lstStyle/>
          <a:p>
            <a:pPr marL="0" indent="0" algn="ctr">
              <a:buNone/>
            </a:pPr>
            <a:r>
              <a:rPr lang="en-GB" sz="1000" spc="100" dirty="0">
                <a:solidFill>
                  <a:srgbClr val="C4D2F4"/>
                </a:solidFill>
                <a:latin typeface="Inter Medium Text Medium" pitchFamily="34" charset="0"/>
                <a:ea typeface="Inter Medium Text Medium" pitchFamily="34" charset="-122"/>
                <a:cs typeface="Inter Medium Text Medium" pitchFamily="34" charset="-120"/>
              </a:rPr>
              <a:t>Slides as PDF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Folie 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AGENDA</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Overview</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09BE5234-8790-48A3-8D10-AE80C9E99563}"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103120"/>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78992" y="2185416"/>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4"/>
          <a:stretch>
            <a:fillRect/>
          </a:stretch>
        </p:blipFill>
        <p:spPr>
          <a:xfrm>
            <a:off x="1179576" y="2286000"/>
            <a:ext cx="164592" cy="164592"/>
          </a:xfrm>
          <a:prstGeom prst="rect">
            <a:avLst/>
          </a:prstGeom>
        </p:spPr>
      </p:pic>
      <p:sp>
        <p:nvSpPr>
          <p:cNvPr id="11" name="Text 11"/>
          <p:cNvSpPr txBox="1"/>
          <p:nvPr/>
        </p:nvSpPr>
        <p:spPr>
          <a:xfrm>
            <a:off x="10497312" y="2103120"/>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01</a:t>
            </a:r>
          </a:p>
        </p:txBody>
      </p:sp>
      <p:sp>
        <p:nvSpPr>
          <p:cNvPr id="12" name="Text 12"/>
          <p:cNvSpPr txBox="1"/>
          <p:nvPr/>
        </p:nvSpPr>
        <p:spPr>
          <a:xfrm>
            <a:off x="1664208" y="2157984"/>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Status &amp; timeline</a:t>
            </a:r>
          </a:p>
        </p:txBody>
      </p:sp>
      <p:sp>
        <p:nvSpPr>
          <p:cNvPr id="13" name="Text 13"/>
          <p:cNvSpPr txBox="1"/>
          <p:nvPr/>
        </p:nvSpPr>
        <p:spPr>
          <a:xfrm>
            <a:off x="5166360" y="2139696"/>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EN 16931-1:2026 approved, German edition published, new syntaxes UBL 2.5 and CII D25A.</a:t>
            </a:r>
          </a:p>
        </p:txBody>
      </p:sp>
      <p:sp>
        <p:nvSpPr>
          <p:cNvPr id="14" name="Card 14"/>
          <p:cNvSpPr/>
          <p:nvPr/>
        </p:nvSpPr>
        <p:spPr>
          <a:xfrm>
            <a:off x="822960" y="2692908"/>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IconCircle 15"/>
          <p:cNvSpPr/>
          <p:nvPr/>
        </p:nvSpPr>
        <p:spPr>
          <a:xfrm>
            <a:off x="1078992" y="2775204"/>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6" name="Icon 16"/>
          <p:cNvPicPr>
            <a:picLocks noChangeAspect="1"/>
          </p:cNvPicPr>
          <p:nvPr/>
        </p:nvPicPr>
        <p:blipFill>
          <a:blip r:embed="rId5"/>
          <a:stretch>
            <a:fillRect/>
          </a:stretch>
        </p:blipFill>
        <p:spPr>
          <a:xfrm>
            <a:off x="1179576" y="2875788"/>
            <a:ext cx="164592" cy="164592"/>
          </a:xfrm>
          <a:prstGeom prst="rect">
            <a:avLst/>
          </a:prstGeom>
        </p:spPr>
      </p:pic>
      <p:sp>
        <p:nvSpPr>
          <p:cNvPr id="17" name="Text 17"/>
          <p:cNvSpPr txBox="1"/>
          <p:nvPr/>
        </p:nvSpPr>
        <p:spPr>
          <a:xfrm>
            <a:off x="10497312" y="2692908"/>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02</a:t>
            </a:r>
          </a:p>
        </p:txBody>
      </p:sp>
      <p:sp>
        <p:nvSpPr>
          <p:cNvPr id="18" name="Text 18"/>
          <p:cNvSpPr txBox="1"/>
          <p:nvPr/>
        </p:nvSpPr>
        <p:spPr>
          <a:xfrm>
            <a:off x="1664208" y="2747772"/>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Semantics</a:t>
            </a:r>
          </a:p>
        </p:txBody>
      </p:sp>
      <p:sp>
        <p:nvSpPr>
          <p:cNvPr id="19" name="Text 19"/>
          <p:cNvSpPr txBox="1"/>
          <p:nvPr/>
        </p:nvSpPr>
        <p:spPr>
          <a:xfrm>
            <a:off x="5166360" y="2729484"/>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What the 2026 standard can newly express — the cargo: new business terms, groups and data types.</a:t>
            </a:r>
          </a:p>
        </p:txBody>
      </p:sp>
      <p:sp>
        <p:nvSpPr>
          <p:cNvPr id="20" name="Card 20"/>
          <p:cNvSpPr/>
          <p:nvPr/>
        </p:nvSpPr>
        <p:spPr>
          <a:xfrm>
            <a:off x="822960" y="3282696"/>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1" name="IconCircle 21"/>
          <p:cNvSpPr/>
          <p:nvPr/>
        </p:nvSpPr>
        <p:spPr>
          <a:xfrm>
            <a:off x="1078992" y="3364992"/>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22" name="Icon 22"/>
          <p:cNvPicPr>
            <a:picLocks noChangeAspect="1"/>
          </p:cNvPicPr>
          <p:nvPr/>
        </p:nvPicPr>
        <p:blipFill>
          <a:blip r:embed="rId6"/>
          <a:stretch>
            <a:fillRect/>
          </a:stretch>
        </p:blipFill>
        <p:spPr>
          <a:xfrm>
            <a:off x="1179576" y="3465576"/>
            <a:ext cx="164592" cy="164592"/>
          </a:xfrm>
          <a:prstGeom prst="rect">
            <a:avLst/>
          </a:prstGeom>
        </p:spPr>
      </p:pic>
      <p:sp>
        <p:nvSpPr>
          <p:cNvPr id="23" name="Text 23"/>
          <p:cNvSpPr txBox="1"/>
          <p:nvPr/>
        </p:nvSpPr>
        <p:spPr>
          <a:xfrm>
            <a:off x="10497312" y="3282696"/>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03</a:t>
            </a:r>
          </a:p>
        </p:txBody>
      </p:sp>
      <p:sp>
        <p:nvSpPr>
          <p:cNvPr id="24" name="Text 24"/>
          <p:cNvSpPr txBox="1"/>
          <p:nvPr/>
        </p:nvSpPr>
        <p:spPr>
          <a:xfrm>
            <a:off x="1664208" y="3337560"/>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Syntax bindings</a:t>
            </a:r>
          </a:p>
        </p:txBody>
      </p:sp>
      <p:sp>
        <p:nvSpPr>
          <p:cNvPr id="25" name="Text 25"/>
          <p:cNvSpPr txBox="1"/>
          <p:nvPr/>
        </p:nvSpPr>
        <p:spPr>
          <a:xfrm>
            <a:off x="5166360" y="3319272"/>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How UBL and CII carry the semantics — the carrier, and what changes with UBL 2.5 and CII D25A.</a:t>
            </a:r>
          </a:p>
        </p:txBody>
      </p:sp>
      <p:sp>
        <p:nvSpPr>
          <p:cNvPr id="26" name="Card 26"/>
          <p:cNvSpPr/>
          <p:nvPr/>
        </p:nvSpPr>
        <p:spPr>
          <a:xfrm>
            <a:off x="822960" y="3872484"/>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7" name="IconCircle 27"/>
          <p:cNvSpPr/>
          <p:nvPr/>
        </p:nvSpPr>
        <p:spPr>
          <a:xfrm>
            <a:off x="1078992" y="3954780"/>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28" name="Icon 28"/>
          <p:cNvPicPr>
            <a:picLocks noChangeAspect="1"/>
          </p:cNvPicPr>
          <p:nvPr/>
        </p:nvPicPr>
        <p:blipFill>
          <a:blip r:embed="rId7"/>
          <a:stretch>
            <a:fillRect/>
          </a:stretch>
        </p:blipFill>
        <p:spPr>
          <a:xfrm>
            <a:off x="1179576" y="4055364"/>
            <a:ext cx="164592" cy="164592"/>
          </a:xfrm>
          <a:prstGeom prst="rect">
            <a:avLst/>
          </a:prstGeom>
        </p:spPr>
      </p:pic>
      <p:sp>
        <p:nvSpPr>
          <p:cNvPr id="29" name="Text 29"/>
          <p:cNvSpPr txBox="1"/>
          <p:nvPr/>
        </p:nvSpPr>
        <p:spPr>
          <a:xfrm>
            <a:off x="10497312" y="3872484"/>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04</a:t>
            </a:r>
          </a:p>
        </p:txBody>
      </p:sp>
      <p:sp>
        <p:nvSpPr>
          <p:cNvPr id="30" name="Text 30"/>
          <p:cNvSpPr txBox="1"/>
          <p:nvPr/>
        </p:nvSpPr>
        <p:spPr>
          <a:xfrm>
            <a:off x="1664208" y="3927348"/>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Formats</a:t>
            </a:r>
          </a:p>
        </p:txBody>
      </p:sp>
      <p:sp>
        <p:nvSpPr>
          <p:cNvPr id="31" name="Text 31"/>
          <p:cNvSpPr txBox="1"/>
          <p:nvPr/>
        </p:nvSpPr>
        <p:spPr>
          <a:xfrm>
            <a:off x="5166360" y="3909060"/>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E-invoicing formats in the EU; ZUGFeRD/Factur-X, their profiles and the comparison with XRechnung and Peppol.</a:t>
            </a:r>
          </a:p>
        </p:txBody>
      </p:sp>
      <p:sp>
        <p:nvSpPr>
          <p:cNvPr id="32" name="Card 32"/>
          <p:cNvSpPr/>
          <p:nvPr/>
        </p:nvSpPr>
        <p:spPr>
          <a:xfrm>
            <a:off x="822960" y="4462272"/>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3" name="IconCircle 33"/>
          <p:cNvSpPr/>
          <p:nvPr/>
        </p:nvSpPr>
        <p:spPr>
          <a:xfrm>
            <a:off x="1078992" y="4544568"/>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34" name="Icon 34"/>
          <p:cNvPicPr>
            <a:picLocks noChangeAspect="1"/>
          </p:cNvPicPr>
          <p:nvPr/>
        </p:nvPicPr>
        <p:blipFill>
          <a:blip r:embed="rId8"/>
          <a:stretch>
            <a:fillRect/>
          </a:stretch>
        </p:blipFill>
        <p:spPr>
          <a:xfrm>
            <a:off x="1179576" y="4645152"/>
            <a:ext cx="164592" cy="164592"/>
          </a:xfrm>
          <a:prstGeom prst="rect">
            <a:avLst/>
          </a:prstGeom>
        </p:spPr>
      </p:pic>
      <p:sp>
        <p:nvSpPr>
          <p:cNvPr id="35" name="Text 35"/>
          <p:cNvSpPr txBox="1"/>
          <p:nvPr/>
        </p:nvSpPr>
        <p:spPr>
          <a:xfrm>
            <a:off x="10497312" y="4462272"/>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05</a:t>
            </a:r>
          </a:p>
        </p:txBody>
      </p:sp>
      <p:sp>
        <p:nvSpPr>
          <p:cNvPr id="36" name="Text 36"/>
          <p:cNvSpPr txBox="1"/>
          <p:nvPr/>
        </p:nvSpPr>
        <p:spPr>
          <a:xfrm>
            <a:off x="1664208" y="4517136"/>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Rounding &amp; arithmetic</a:t>
            </a:r>
          </a:p>
        </p:txBody>
      </p:sp>
      <p:sp>
        <p:nvSpPr>
          <p:cNvPr id="37" name="Text 37"/>
          <p:cNvSpPr txBox="1"/>
          <p:nvPr/>
        </p:nvSpPr>
        <p:spPr>
          <a:xfrm>
            <a:off x="5166360" y="4498848"/>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Rounding and tolerance in the standard; why binary arithmetic fails and decimal arithmetic is the solution.</a:t>
            </a:r>
          </a:p>
        </p:txBody>
      </p:sp>
      <p:sp>
        <p:nvSpPr>
          <p:cNvPr id="38" name="Card 38"/>
          <p:cNvSpPr/>
          <p:nvPr/>
        </p:nvSpPr>
        <p:spPr>
          <a:xfrm>
            <a:off x="822960" y="5052060"/>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9" name="IconCircle 39"/>
          <p:cNvSpPr/>
          <p:nvPr/>
        </p:nvSpPr>
        <p:spPr>
          <a:xfrm>
            <a:off x="1078992" y="5134356"/>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40" name="Icon 40"/>
          <p:cNvPicPr>
            <a:picLocks noChangeAspect="1"/>
          </p:cNvPicPr>
          <p:nvPr/>
        </p:nvPicPr>
        <p:blipFill>
          <a:blip r:embed="rId9"/>
          <a:stretch>
            <a:fillRect/>
          </a:stretch>
        </p:blipFill>
        <p:spPr>
          <a:xfrm>
            <a:off x="1179576" y="5234940"/>
            <a:ext cx="164592" cy="164592"/>
          </a:xfrm>
          <a:prstGeom prst="rect">
            <a:avLst/>
          </a:prstGeom>
        </p:spPr>
      </p:pic>
      <p:sp>
        <p:nvSpPr>
          <p:cNvPr id="41" name="Text 41"/>
          <p:cNvSpPr txBox="1"/>
          <p:nvPr/>
        </p:nvSpPr>
        <p:spPr>
          <a:xfrm>
            <a:off x="10497312" y="5052060"/>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06</a:t>
            </a:r>
          </a:p>
        </p:txBody>
      </p:sp>
      <p:sp>
        <p:nvSpPr>
          <p:cNvPr id="42" name="Text 42"/>
          <p:cNvSpPr txBox="1"/>
          <p:nvPr/>
        </p:nvSpPr>
        <p:spPr>
          <a:xfrm>
            <a:off x="1664208" y="5106924"/>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Amendment</a:t>
            </a:r>
          </a:p>
        </p:txBody>
      </p:sp>
      <p:sp>
        <p:nvSpPr>
          <p:cNvPr id="43" name="Text 43"/>
          <p:cNvSpPr txBox="1"/>
          <p:nvPr/>
        </p:nvSpPr>
        <p:spPr>
          <a:xfrm>
            <a:off x="5166360" y="5088636"/>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Where the journey goes, and my proposals: round only once (#163) with the calculation chain, gross prices (#164).</a:t>
            </a:r>
          </a:p>
        </p:txBody>
      </p:sp>
      <p:sp>
        <p:nvSpPr>
          <p:cNvPr id="44" name="Card 44"/>
          <p:cNvSpPr/>
          <p:nvPr/>
        </p:nvSpPr>
        <p:spPr>
          <a:xfrm>
            <a:off x="822960" y="5641848"/>
            <a:ext cx="10543032" cy="530352"/>
          </a:xfrm>
          <a:prstGeom prst="roundRect">
            <a:avLst>
              <a:gd name="adj" fmla="val 1379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5" name="IconCircle 45"/>
          <p:cNvSpPr/>
          <p:nvPr/>
        </p:nvSpPr>
        <p:spPr>
          <a:xfrm>
            <a:off x="1078992" y="5724144"/>
            <a:ext cx="365760" cy="365760"/>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46" name="Icon 46"/>
          <p:cNvPicPr>
            <a:picLocks noChangeAspect="1"/>
          </p:cNvPicPr>
          <p:nvPr/>
        </p:nvPicPr>
        <p:blipFill>
          <a:blip r:embed="rId10"/>
          <a:stretch>
            <a:fillRect/>
          </a:stretch>
        </p:blipFill>
        <p:spPr>
          <a:xfrm>
            <a:off x="1179576" y="5824728"/>
            <a:ext cx="164592" cy="164592"/>
          </a:xfrm>
          <a:prstGeom prst="rect">
            <a:avLst/>
          </a:prstGeom>
        </p:spPr>
      </p:pic>
      <p:sp>
        <p:nvSpPr>
          <p:cNvPr id="47" name="Text 47"/>
          <p:cNvSpPr txBox="1"/>
          <p:nvPr/>
        </p:nvSpPr>
        <p:spPr>
          <a:xfrm>
            <a:off x="10497312" y="5641848"/>
            <a:ext cx="640080" cy="530352"/>
          </a:xfrm>
          <a:prstGeom prst="rect">
            <a:avLst/>
          </a:prstGeom>
          <a:noFill/>
          <a:ln/>
        </p:spPr>
        <p:txBody>
          <a:bodyPr wrap="square" lIns="0" tIns="0" rIns="0" bIns="0" rtlCol="0" anchor="ctr"/>
          <a:lstStyle/>
          <a:p>
            <a:pPr marL="0" indent="0" algn="r">
              <a:buNone/>
            </a:pPr>
            <a:r>
              <a:rPr lang="en-GB" sz="2000" dirty="0">
                <a:solidFill>
                  <a:srgbClr val="DDE3F1"/>
                </a:solidFill>
                <a:latin typeface="Inter SemiBold Text SemiBold" pitchFamily="34" charset="0"/>
                <a:ea typeface="Inter SemiBold Text SemiBold" pitchFamily="34" charset="-122"/>
                <a:cs typeface="Inter SemiBold Text SemiBold" pitchFamily="34" charset="-120"/>
              </a:rPr>
              <a:t>07</a:t>
            </a:r>
          </a:p>
        </p:txBody>
      </p:sp>
      <p:sp>
        <p:nvSpPr>
          <p:cNvPr id="48" name="Text 48"/>
          <p:cNvSpPr txBox="1"/>
          <p:nvPr/>
        </p:nvSpPr>
        <p:spPr>
          <a:xfrm>
            <a:off x="1664208" y="5696712"/>
            <a:ext cx="3291840" cy="420624"/>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Next steps</a:t>
            </a:r>
          </a:p>
        </p:txBody>
      </p:sp>
      <p:sp>
        <p:nvSpPr>
          <p:cNvPr id="49" name="Text 49"/>
          <p:cNvSpPr txBox="1"/>
          <p:nvPr/>
        </p:nvSpPr>
        <p:spPr>
          <a:xfrm>
            <a:off x="5166360" y="5678424"/>
            <a:ext cx="5285232" cy="457200"/>
          </a:xfrm>
          <a:prstGeom prst="rect">
            <a:avLst/>
          </a:prstGeom>
          <a:noFill/>
          <a:ln/>
        </p:spPr>
        <p:txBody>
          <a:bodyPr wrap="square" lIns="0" tIns="0" rIns="0" bIns="0" rtlCol="0" anchor="ctr"/>
          <a:lstStyle/>
          <a:p>
            <a:pPr marL="0" indent="0" algn="l">
              <a:lnSpc>
                <a:spcPct val="105000"/>
              </a:lnSpc>
              <a:buNone/>
            </a:pPr>
            <a:r>
              <a:rPr lang="en-GB" sz="1150" dirty="0">
                <a:solidFill>
                  <a:srgbClr val="5B6890"/>
                </a:solidFill>
                <a:latin typeface="Inter Text" pitchFamily="34" charset="0"/>
                <a:ea typeface="Inter Text" pitchFamily="34" charset="-122"/>
                <a:cs typeface="Inter Text" pitchFamily="34" charset="-120"/>
              </a:rPr>
              <a:t>Work at CEN: issue tracker, current findings and a corrigendum for the syntax bindings.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olie 5">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 Syntax Binding</a:t>
            </a:r>
          </a:p>
        </p:txBody>
      </p:sp>
      <p:sp>
        <p:nvSpPr>
          <p:cNvPr id="5" name="SectionLabel 5"/>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SEMANTICS &amp; SYNTAX</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E9EB00FE-2239-4814-83A3-44B1C54F7C88}" type="slidenum">
              <a:rPr lang="en-GB" sz="1000" spc="200" dirty="0">
                <a:solidFill>
                  <a:srgbClr val="8EA0CC"/>
                </a:solidFill>
                <a:latin typeface="Inter SemiBold Text SemiBold" pitchFamily="34" charset="0"/>
                <a:ea typeface="Inter SemiBold Text SemiBold" pitchFamily="34" charset="-122"/>
                <a:cs typeface="Inter SemiBold Text SemiBold" pitchFamily="34" charset="-120"/>
              </a:rPr>
              <a:t>3</a:t>
            </a:fld>
            <a:endParaRPr lang="en-GB" sz="1000" spc="200" dirty="0">
              <a:solidFill>
                <a:srgbClr val="8EA0CC"/>
              </a:solidFill>
              <a:latin typeface="Inter SemiBold Text SemiBold" pitchFamily="34" charset="0"/>
              <a:ea typeface="Inter SemiBold Text SemiBold" pitchFamily="34" charset="-122"/>
              <a:cs typeface="Inter SemiBold Text SemiBold" pitchFamily="34" charset="-120"/>
            </a:endParaRPr>
          </a:p>
        </p:txBody>
      </p:sp>
      <p:sp>
        <p:nvSpPr>
          <p:cNvPr id="7" name="Text 7"/>
          <p:cNvSpPr txBox="1"/>
          <p:nvPr/>
        </p:nvSpPr>
        <p:spPr>
          <a:xfrm>
            <a:off x="822960" y="1600200"/>
            <a:ext cx="10424160" cy="2743200"/>
          </a:xfrm>
          <a:prstGeom prst="rect">
            <a:avLst/>
          </a:prstGeom>
          <a:noFill/>
          <a:ln/>
        </p:spPr>
        <p:txBody>
          <a:bodyPr wrap="square" lIns="0" tIns="0" rIns="0" bIns="0" rtlCol="0" anchor="t"/>
          <a:lstStyle/>
          <a:p>
            <a:pPr marL="0" indent="0" algn="l">
              <a:lnSpc>
                <a:spcPct val="112000"/>
              </a:lnSpc>
              <a:buNone/>
            </a:pPr>
            <a:r>
              <a:rPr lang="en-GB" sz="3800" dirty="0">
                <a:solidFill>
                  <a:srgbClr val="CBD8F7"/>
                </a:solidFill>
                <a:latin typeface="Inter Light Text Light" pitchFamily="34" charset="0"/>
                <a:ea typeface="Inter Light Text Light" pitchFamily="34" charset="-122"/>
                <a:cs typeface="Inter Light Text Light" pitchFamily="34" charset="-120"/>
              </a:rPr>
              <a:t/>
            </a:r>
            <a:r>
              <a:rPr lang="en-GB" sz="3800" b="1" dirty="0">
                <a:solidFill>
                  <a:srgbClr val="FFFFFF"/>
                </a:solidFill>
                <a:latin typeface="Inter Text" pitchFamily="34" charset="0"/>
                <a:ea typeface="Inter Text" pitchFamily="34" charset="-122"/>
                <a:cs typeface="Inter Text" pitchFamily="34" charset="-120"/>
              </a:rPr>
              <a:t>Semantics</a:t>
            </a:r>
            <a:r>
              <a:rPr lang="en-GB" sz="3800" dirty="0">
                <a:solidFill>
                  <a:srgbClr val="CBD8F7"/>
                </a:solidFill>
                <a:latin typeface="Inter Light Text Light" pitchFamily="34" charset="0"/>
                <a:ea typeface="Inter Light Text Light" pitchFamily="34" charset="-122"/>
                <a:cs typeface="Inter Light Text Light" pitchFamily="34" charset="-120"/>
              </a:rPr>
              <a:t> is the cargo, </a:t>
            </a:r>
            <a:r>
              <a:rPr lang="en-GB" sz="3800" b="1" dirty="0">
                <a:solidFill>
                  <a:srgbClr val="FFFFFF"/>
                </a:solidFill>
                <a:latin typeface="Inter Text" pitchFamily="34" charset="0"/>
                <a:ea typeface="Inter Text" pitchFamily="34" charset="-122"/>
                <a:cs typeface="Inter Text" pitchFamily="34" charset="-120"/>
              </a:rPr>
              <a:t>syntax</a:t>
            </a:r>
            <a:r>
              <a:rPr lang="en-GB" sz="3800" dirty="0">
                <a:solidFill>
                  <a:srgbClr val="CBD8F7"/>
                </a:solidFill>
                <a:latin typeface="Inter Light Text Light" pitchFamily="34" charset="0"/>
                <a:ea typeface="Inter Light Text Light" pitchFamily="34" charset="-122"/>
                <a:cs typeface="Inter Light Text Light" pitchFamily="34" charset="-120"/>
              </a:rPr>
              <a:t> the carrier. In 2026 </a:t>
            </a:r>
            <a:r>
              <a:rPr lang="en-GB" sz="3800" b="1" dirty="0">
                <a:solidFill>
                  <a:srgbClr val="58D6BB"/>
                </a:solidFill>
                <a:latin typeface="Inter Text" pitchFamily="34" charset="0"/>
                <a:ea typeface="Inter Text" pitchFamily="34" charset="-122"/>
                <a:cs typeface="Inter Text" pitchFamily="34" charset="-120"/>
              </a:rPr>
              <a:t>the cargo grows</a:t>
            </a:r>
            <a:r>
              <a:rPr lang="en-GB" sz="3800" dirty="0">
                <a:solidFill>
                  <a:srgbClr val="CBD8F7"/>
                </a:solidFill>
                <a:latin typeface="Inter Light Text Light" pitchFamily="34" charset="0"/>
                <a:ea typeface="Inter Light Text Light" pitchFamily="34" charset="-122"/>
                <a:cs typeface="Inter Light Text Light" pitchFamily="34" charset="-120"/>
              </a:rPr>
              <a:t> — and </a:t>
            </a:r>
            <a:r>
              <a:rPr lang="en-GB" sz="3800" b="1" dirty="0">
                <a:solidFill>
                  <a:srgbClr val="58D6BB"/>
                </a:solidFill>
                <a:latin typeface="Inter Text" pitchFamily="34" charset="0"/>
                <a:ea typeface="Inter Text" pitchFamily="34" charset="-122"/>
                <a:cs typeface="Inter Text" pitchFamily="34" charset="-120"/>
              </a:rPr>
              <a:t>both carriers</a:t>
            </a:r>
            <a:r>
              <a:rPr lang="en-GB" sz="3800" dirty="0">
                <a:solidFill>
                  <a:srgbClr val="CBD8F7"/>
                </a:solidFill>
                <a:latin typeface="Inter Light Text Light" pitchFamily="34" charset="0"/>
                <a:ea typeface="Inter Light Text Light" pitchFamily="34" charset="-122"/>
                <a:cs typeface="Inter Light Text Light" pitchFamily="34" charset="-120"/>
              </a:rPr>
              <a:t> are modernised.</a:t>
            </a:r>
          </a:p>
        </p:txBody>
      </p:sp>
      <p:sp>
        <p:nvSpPr>
          <p:cNvPr id="8" name="Shape 8"/>
          <p:cNvSpPr/>
          <p:nvPr/>
        </p:nvSpPr>
        <p:spPr>
          <a:xfrm>
            <a:off x="822960" y="4846320"/>
            <a:ext cx="3246120" cy="960120"/>
          </a:xfrm>
          <a:prstGeom prst="roundRect">
            <a:avLst>
              <a:gd name="adj" fmla="val 9523"/>
            </a:avLst>
          </a:prstGeom>
          <a:solidFill>
            <a:srgbClr val="FFFFFF">
              <a:alpha val="10000"/>
            </a:srgbClr>
          </a:solidFill>
          <a:ln w="12700">
            <a:solidFill>
              <a:srgbClr val="FFFFFF"/>
            </a:solidFill>
            <a:prstDash val="solid"/>
          </a:ln>
        </p:spPr>
        <p:txBody>
          <a:bodyPr/>
          <a:lstStyle/>
          <a:p>
            <a:endParaRPr lang="en-GB"/>
          </a:p>
        </p:txBody>
      </p:sp>
      <p:sp>
        <p:nvSpPr>
          <p:cNvPr id="9" name="Shape 9"/>
          <p:cNvSpPr/>
          <p:nvPr/>
        </p:nvSpPr>
        <p:spPr>
          <a:xfrm>
            <a:off x="1042416" y="5093208"/>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mage 10"/>
          <p:cNvPicPr>
            <a:picLocks noChangeAspect="1"/>
          </p:cNvPicPr>
          <p:nvPr/>
        </p:nvPicPr>
        <p:blipFill>
          <a:blip r:embed="rId4"/>
          <a:stretch>
            <a:fillRect/>
          </a:stretch>
        </p:blipFill>
        <p:spPr>
          <a:xfrm>
            <a:off x="1161288" y="5212080"/>
            <a:ext cx="219456" cy="219456"/>
          </a:xfrm>
          <a:prstGeom prst="rect">
            <a:avLst/>
          </a:prstGeom>
        </p:spPr>
      </p:pic>
      <p:sp>
        <p:nvSpPr>
          <p:cNvPr id="11" name="Text 11"/>
          <p:cNvSpPr txBox="1"/>
          <p:nvPr/>
        </p:nvSpPr>
        <p:spPr>
          <a:xfrm>
            <a:off x="1664208" y="4983480"/>
            <a:ext cx="2286000" cy="685800"/>
          </a:xfrm>
          <a:prstGeom prst="rect">
            <a:avLst/>
          </a:prstGeom>
          <a:noFill/>
          <a:ln/>
        </p:spPr>
        <p:txBody>
          <a:bodyPr wrap="square" lIns="0" tIns="0" rIns="0" bIns="0" rtlCol="0" anchor="ctr"/>
          <a:lstStyle/>
          <a:p>
            <a:pPr marL="0" indent="0" algn="l">
              <a:lnSpc>
                <a:spcPct val="105000"/>
              </a:lnSpc>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Semantics</a:t>
            </a:r>
          </a:p>
          <a:p>
            <a:pPr marL="0" indent="0" algn="l">
              <a:lnSpc>
                <a:spcPct val="105000"/>
              </a:lnSpc>
              <a:buNone/>
            </a:pPr>
            <a:r>
              <a:rPr lang="en-GB" sz="1100" dirty="0">
                <a:solidFill>
                  <a:srgbClr val="ABBFEA"/>
                </a:solidFill>
                <a:latin typeface="Inter Text" pitchFamily="34" charset="0"/>
                <a:ea typeface="Inter Text" pitchFamily="34" charset="-122"/>
                <a:cs typeface="Inter Text" pitchFamily="34" charset="-120"/>
              </a:rPr>
              <a:t>164 → 216 Business Terms</a:t>
            </a:r>
          </a:p>
        </p:txBody>
      </p:sp>
      <p:sp>
        <p:nvSpPr>
          <p:cNvPr id="12" name="Shape 12"/>
          <p:cNvSpPr/>
          <p:nvPr/>
        </p:nvSpPr>
        <p:spPr>
          <a:xfrm>
            <a:off x="4398264" y="4846320"/>
            <a:ext cx="3246120" cy="960120"/>
          </a:xfrm>
          <a:prstGeom prst="roundRect">
            <a:avLst>
              <a:gd name="adj" fmla="val 9523"/>
            </a:avLst>
          </a:prstGeom>
          <a:solidFill>
            <a:srgbClr val="FFFFFF">
              <a:alpha val="10000"/>
            </a:srgbClr>
          </a:solidFill>
          <a:ln w="12700">
            <a:solidFill>
              <a:srgbClr val="FFFFFF"/>
            </a:solidFill>
            <a:prstDash val="solid"/>
          </a:ln>
        </p:spPr>
        <p:txBody>
          <a:bodyPr/>
          <a:lstStyle/>
          <a:p>
            <a:endParaRPr lang="en-GB"/>
          </a:p>
        </p:txBody>
      </p:sp>
      <p:sp>
        <p:nvSpPr>
          <p:cNvPr id="13" name="Shape 13"/>
          <p:cNvSpPr/>
          <p:nvPr/>
        </p:nvSpPr>
        <p:spPr>
          <a:xfrm>
            <a:off x="4617720" y="5093208"/>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4" name="Image 14"/>
          <p:cNvPicPr>
            <a:picLocks noChangeAspect="1"/>
          </p:cNvPicPr>
          <p:nvPr/>
        </p:nvPicPr>
        <p:blipFill>
          <a:blip r:embed="rId5"/>
          <a:stretch>
            <a:fillRect/>
          </a:stretch>
        </p:blipFill>
        <p:spPr>
          <a:xfrm>
            <a:off x="4736592" y="5212080"/>
            <a:ext cx="219456" cy="219456"/>
          </a:xfrm>
          <a:prstGeom prst="rect">
            <a:avLst/>
          </a:prstGeom>
        </p:spPr>
      </p:pic>
      <p:sp>
        <p:nvSpPr>
          <p:cNvPr id="15" name="Text 15"/>
          <p:cNvSpPr txBox="1"/>
          <p:nvPr/>
        </p:nvSpPr>
        <p:spPr>
          <a:xfrm>
            <a:off x="5239512" y="4983480"/>
            <a:ext cx="2286000" cy="685800"/>
          </a:xfrm>
          <a:prstGeom prst="rect">
            <a:avLst/>
          </a:prstGeom>
          <a:noFill/>
          <a:ln/>
        </p:spPr>
        <p:txBody>
          <a:bodyPr wrap="square" lIns="0" tIns="0" rIns="0" bIns="0" rtlCol="0" anchor="ctr"/>
          <a:lstStyle/>
          <a:p>
            <a:pPr marL="0" indent="0" algn="l">
              <a:lnSpc>
                <a:spcPct val="105000"/>
              </a:lnSpc>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UBL 2.1 → 2.5</a:t>
            </a:r>
          </a:p>
          <a:p>
            <a:pPr marL="0" indent="0" algn="l">
              <a:lnSpc>
                <a:spcPct val="105000"/>
              </a:lnSpc>
              <a:buNone/>
            </a:pPr>
            <a:r>
              <a:rPr lang="en-GB" sz="1100" dirty="0">
                <a:solidFill>
                  <a:srgbClr val="ABBFEA"/>
                </a:solidFill>
                <a:latin typeface="Inter Text" pitchFamily="34" charset="0"/>
                <a:ea typeface="Inter Text" pitchFamily="34" charset="-122"/>
                <a:cs typeface="Inter Text" pitchFamily="34" charset="-120"/>
              </a:rPr>
              <a:t>OASIS Standard since 08/2026</a:t>
            </a:r>
          </a:p>
        </p:txBody>
      </p:sp>
      <p:sp>
        <p:nvSpPr>
          <p:cNvPr id="16" name="Shape 16"/>
          <p:cNvSpPr/>
          <p:nvPr/>
        </p:nvSpPr>
        <p:spPr>
          <a:xfrm>
            <a:off x="7973568" y="4846320"/>
            <a:ext cx="3246120" cy="960120"/>
          </a:xfrm>
          <a:prstGeom prst="roundRect">
            <a:avLst>
              <a:gd name="adj" fmla="val 9523"/>
            </a:avLst>
          </a:prstGeom>
          <a:solidFill>
            <a:srgbClr val="FFFFFF">
              <a:alpha val="10000"/>
            </a:srgbClr>
          </a:solidFill>
          <a:ln w="12700">
            <a:solidFill>
              <a:srgbClr val="FFFFFF"/>
            </a:solidFill>
            <a:prstDash val="solid"/>
          </a:ln>
        </p:spPr>
        <p:txBody>
          <a:bodyPr/>
          <a:lstStyle/>
          <a:p>
            <a:endParaRPr lang="en-GB"/>
          </a:p>
        </p:txBody>
      </p:sp>
      <p:sp>
        <p:nvSpPr>
          <p:cNvPr id="17" name="Shape 17"/>
          <p:cNvSpPr/>
          <p:nvPr/>
        </p:nvSpPr>
        <p:spPr>
          <a:xfrm>
            <a:off x="8193024" y="5093208"/>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8" name="Image 18"/>
          <p:cNvPicPr>
            <a:picLocks noChangeAspect="1"/>
          </p:cNvPicPr>
          <p:nvPr/>
        </p:nvPicPr>
        <p:blipFill>
          <a:blip r:embed="rId6"/>
          <a:stretch>
            <a:fillRect/>
          </a:stretch>
        </p:blipFill>
        <p:spPr>
          <a:xfrm>
            <a:off x="8311896" y="5212080"/>
            <a:ext cx="219456" cy="219456"/>
          </a:xfrm>
          <a:prstGeom prst="rect">
            <a:avLst/>
          </a:prstGeom>
        </p:spPr>
      </p:pic>
      <p:sp>
        <p:nvSpPr>
          <p:cNvPr id="19" name="Text 19"/>
          <p:cNvSpPr txBox="1"/>
          <p:nvPr/>
        </p:nvSpPr>
        <p:spPr>
          <a:xfrm>
            <a:off x="8814816" y="4983480"/>
            <a:ext cx="2286000" cy="685800"/>
          </a:xfrm>
          <a:prstGeom prst="rect">
            <a:avLst/>
          </a:prstGeom>
          <a:noFill/>
          <a:ln/>
        </p:spPr>
        <p:txBody>
          <a:bodyPr wrap="square" lIns="0" tIns="0" rIns="0" bIns="0" rtlCol="0" anchor="ctr"/>
          <a:lstStyle/>
          <a:p>
            <a:pPr marL="0" indent="0" algn="l">
              <a:lnSpc>
                <a:spcPct val="105000"/>
              </a:lnSpc>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CII D16B → D25A</a:t>
            </a:r>
          </a:p>
          <a:p>
            <a:pPr marL="0" indent="0" algn="l">
              <a:lnSpc>
                <a:spcPct val="105000"/>
              </a:lnSpc>
              <a:buNone/>
            </a:pPr>
            <a:r>
              <a:rPr lang="en-GB" sz="1100" dirty="0">
                <a:solidFill>
                  <a:srgbClr val="ABBFEA"/>
                </a:solidFill>
                <a:latin typeface="Inter Text" pitchFamily="34" charset="0"/>
                <a:ea typeface="Inter Text" pitchFamily="34" charset="-122"/>
                <a:cs typeface="Inter Text" pitchFamily="34" charset="-120"/>
              </a:rPr>
              <a:t>UN/CEFACT, 06/2026</a:t>
            </a:r>
          </a:p>
        </p:txBody>
      </p:sp>
      <p:sp>
        <p:nvSpPr>
          <p:cNvPr id="20" name="Speaker 20">
            <a:hlinkClick r:id="rId7"/>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8EA0CC"/>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olie 6">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NEW SEMANTICS · OVERVIEW</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What the standard can say now</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245C3502-1688-4C3A-868E-188C8596DD59}"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223821" cy="347472"/>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Three pillars of the revision:</a:t>
            </a:r>
          </a:p>
        </p:txBody>
      </p:sp>
      <p:sp>
        <p:nvSpPr>
          <p:cNvPr id="9" name="Pill 9"/>
          <p:cNvSpPr/>
          <p:nvPr/>
        </p:nvSpPr>
        <p:spPr>
          <a:xfrm>
            <a:off x="3156509" y="1856232"/>
            <a:ext cx="1456639" cy="329184"/>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en-GB" sz="1200" dirty="0">
                <a:solidFill>
                  <a:srgbClr val="B85C0A"/>
                </a:solidFill>
                <a:latin typeface="Inter SemiBold Text SemiBold" pitchFamily="34" charset="0"/>
                <a:ea typeface="Inter SemiBold Text SemiBold" pitchFamily="34" charset="-122"/>
                <a:cs typeface="Inter SemiBold Text SemiBold" pitchFamily="34" charset="-120"/>
              </a:rPr>
              <a:t>Correct errors</a:t>
            </a:r>
          </a:p>
        </p:txBody>
      </p:sp>
      <p:sp>
        <p:nvSpPr>
          <p:cNvPr id="10" name="Pill 10"/>
          <p:cNvSpPr/>
          <p:nvPr/>
        </p:nvSpPr>
        <p:spPr>
          <a:xfrm>
            <a:off x="4741164" y="1856232"/>
            <a:ext cx="3183941" cy="329184"/>
          </a:xfrm>
          <a:prstGeom prst="roundRect">
            <a:avLst>
              <a:gd name="adj" fmla="val 50000"/>
            </a:avLst>
          </a:prstGeom>
          <a:solidFill>
            <a:srgbClr val="EEF4FC"/>
          </a:solidFill>
          <a:ln w="9525">
            <a:solidFill>
              <a:srgbClr val="BBD3F5"/>
            </a:solidFill>
            <a:prstDash val="solid"/>
          </a:ln>
        </p:spPr>
        <p:txBody>
          <a:bodyPr wrap="square" lIns="36576" tIns="36576" rIns="36576" bIns="36576" rtlCol="0" anchor="ctr"/>
          <a:lstStyle/>
          <a:p>
            <a:pPr marL="0" indent="0" algn="ctr">
              <a:buNone/>
            </a:pPr>
            <a:r>
              <a:rPr lang="en-GB" sz="1200" dirty="0">
                <a:solidFill>
                  <a:srgbClr val="2F6FD0"/>
                </a:solidFill>
                <a:latin typeface="Inter SemiBold Text SemiBold" pitchFamily="34" charset="0"/>
                <a:ea typeface="Inter SemiBold Text SemiBold" pitchFamily="34" charset="-122"/>
                <a:cs typeface="Inter SemiBold Text SemiBold" pitchFamily="34" charset="-120"/>
              </a:rPr>
              <a:t>B2B obligations of the Member States</a:t>
            </a:r>
          </a:p>
        </p:txBody>
      </p:sp>
      <p:sp>
        <p:nvSpPr>
          <p:cNvPr id="11" name="Pill 11"/>
          <p:cNvSpPr/>
          <p:nvPr/>
        </p:nvSpPr>
        <p:spPr>
          <a:xfrm>
            <a:off x="8053121" y="1856232"/>
            <a:ext cx="2236622" cy="329184"/>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200" dirty="0">
                <a:solidFill>
                  <a:srgbClr val="1E8A4C"/>
                </a:solidFill>
                <a:latin typeface="Inter SemiBold Text SemiBold" pitchFamily="34" charset="0"/>
                <a:ea typeface="Inter SemiBold Text SemiBold" pitchFamily="34" charset="-122"/>
                <a:cs typeface="Inter SemiBold Text SemiBold" pitchFamily="34" charset="-120"/>
              </a:rPr>
              <a:t>Requirements from ViDA</a:t>
            </a:r>
          </a:p>
        </p:txBody>
      </p:sp>
      <p:sp>
        <p:nvSpPr>
          <p:cNvPr id="12" name="Card 12"/>
          <p:cNvSpPr/>
          <p:nvPr/>
        </p:nvSpPr>
        <p:spPr>
          <a:xfrm>
            <a:off x="822960" y="237744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3" name="IconCircle 13"/>
          <p:cNvSpPr/>
          <p:nvPr/>
        </p:nvSpPr>
        <p:spPr>
          <a:xfrm>
            <a:off x="1097280" y="263347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4" name="Icon 14"/>
          <p:cNvPicPr>
            <a:picLocks noChangeAspect="1"/>
          </p:cNvPicPr>
          <p:nvPr/>
        </p:nvPicPr>
        <p:blipFill>
          <a:blip r:embed="rId4"/>
          <a:stretch>
            <a:fillRect/>
          </a:stretch>
        </p:blipFill>
        <p:spPr>
          <a:xfrm>
            <a:off x="1223010" y="2759202"/>
            <a:ext cx="205740" cy="205740"/>
          </a:xfrm>
          <a:prstGeom prst="rect">
            <a:avLst/>
          </a:prstGeom>
        </p:spPr>
      </p:pic>
      <p:sp>
        <p:nvSpPr>
          <p:cNvPr id="15" name="Text 15"/>
          <p:cNvSpPr txBox="1"/>
          <p:nvPr/>
        </p:nvSpPr>
        <p:spPr>
          <a:xfrm>
            <a:off x="1097280" y="320040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Payment terms</a:t>
            </a:r>
          </a:p>
        </p:txBody>
      </p:sp>
      <p:sp>
        <p:nvSpPr>
          <p:cNvPr id="16" name="Text 16"/>
          <p:cNvSpPr txBox="1"/>
          <p:nvPr/>
        </p:nvSpPr>
        <p:spPr>
          <a:xfrm>
            <a:off x="1097280" y="358444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Multiple payment terms; early payment discount and late payment penalty 0..n each — structured instead of free text.</a:t>
            </a:r>
          </a:p>
        </p:txBody>
      </p:sp>
      <p:sp>
        <p:nvSpPr>
          <p:cNvPr id="17" name="Card 17"/>
          <p:cNvSpPr/>
          <p:nvPr/>
        </p:nvSpPr>
        <p:spPr>
          <a:xfrm>
            <a:off x="4379976" y="237744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8" name="IconCircle 18"/>
          <p:cNvSpPr/>
          <p:nvPr/>
        </p:nvSpPr>
        <p:spPr>
          <a:xfrm>
            <a:off x="4654296" y="263347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9" name="Icon 19"/>
          <p:cNvPicPr>
            <a:picLocks noChangeAspect="1"/>
          </p:cNvPicPr>
          <p:nvPr/>
        </p:nvPicPr>
        <p:blipFill>
          <a:blip r:embed="rId5"/>
          <a:stretch>
            <a:fillRect/>
          </a:stretch>
        </p:blipFill>
        <p:spPr>
          <a:xfrm>
            <a:off x="4780026" y="2759202"/>
            <a:ext cx="205740" cy="205740"/>
          </a:xfrm>
          <a:prstGeom prst="rect">
            <a:avLst/>
          </a:prstGeom>
        </p:spPr>
      </p:pic>
      <p:sp>
        <p:nvSpPr>
          <p:cNvPr id="20" name="Text 20"/>
          <p:cNvSpPr txBox="1"/>
          <p:nvPr/>
        </p:nvSpPr>
        <p:spPr>
          <a:xfrm>
            <a:off x="4654296" y="320040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Tax &amp; ViDA</a:t>
            </a:r>
          </a:p>
        </p:txBody>
      </p:sp>
      <p:sp>
        <p:nvSpPr>
          <p:cNvPr id="21" name="Text 21"/>
          <p:cNvSpPr txBox="1"/>
          <p:nvPr/>
        </p:nvSpPr>
        <p:spPr>
          <a:xfrm>
            <a:off x="4654296" y="358444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VAT category N, exemption reasons for allowances and charges, subtotals per exemption reason, goods/services.</a:t>
            </a:r>
          </a:p>
        </p:txBody>
      </p:sp>
      <p:sp>
        <p:nvSpPr>
          <p:cNvPr id="22" name="Card 22"/>
          <p:cNvSpPr/>
          <p:nvPr/>
        </p:nvSpPr>
        <p:spPr>
          <a:xfrm>
            <a:off x="7936992" y="237744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3" name="IconCircle 23"/>
          <p:cNvSpPr/>
          <p:nvPr/>
        </p:nvSpPr>
        <p:spPr>
          <a:xfrm>
            <a:off x="8211312" y="263347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24" name="Icon 24"/>
          <p:cNvPicPr>
            <a:picLocks noChangeAspect="1"/>
          </p:cNvPicPr>
          <p:nvPr/>
        </p:nvPicPr>
        <p:blipFill>
          <a:blip r:embed="rId6"/>
          <a:stretch>
            <a:fillRect/>
          </a:stretch>
        </p:blipFill>
        <p:spPr>
          <a:xfrm>
            <a:off x="8337042" y="2759202"/>
            <a:ext cx="205740" cy="205740"/>
          </a:xfrm>
          <a:prstGeom prst="rect">
            <a:avLst/>
          </a:prstGeom>
        </p:spPr>
      </p:pic>
      <p:sp>
        <p:nvSpPr>
          <p:cNvPr id="25" name="Text 25"/>
          <p:cNvSpPr txBox="1"/>
          <p:nvPr/>
        </p:nvSpPr>
        <p:spPr>
          <a:xfrm>
            <a:off x="8211312" y="320040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References per line</a:t>
            </a:r>
          </a:p>
        </p:txBody>
      </p:sp>
      <p:sp>
        <p:nvSpPr>
          <p:cNvPr id="26" name="Text 26"/>
          <p:cNvSpPr txBox="1"/>
          <p:nvPr/>
        </p:nvSpPr>
        <p:spPr>
          <a:xfrm>
            <a:off x="8211312" y="358444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Purchase order, despatch advice, receiving advice and delivery note at document and line level.</a:t>
            </a:r>
          </a:p>
        </p:txBody>
      </p:sp>
      <p:sp>
        <p:nvSpPr>
          <p:cNvPr id="27" name="Card 27"/>
          <p:cNvSpPr/>
          <p:nvPr/>
        </p:nvSpPr>
        <p:spPr>
          <a:xfrm>
            <a:off x="822960" y="434340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8" name="IconCircle 28"/>
          <p:cNvSpPr/>
          <p:nvPr/>
        </p:nvSpPr>
        <p:spPr>
          <a:xfrm>
            <a:off x="1097280" y="459943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29" name="Icon 29"/>
          <p:cNvPicPr>
            <a:picLocks noChangeAspect="1"/>
          </p:cNvPicPr>
          <p:nvPr/>
        </p:nvPicPr>
        <p:blipFill>
          <a:blip r:embed="rId7"/>
          <a:stretch>
            <a:fillRect/>
          </a:stretch>
        </p:blipFill>
        <p:spPr>
          <a:xfrm>
            <a:off x="1223010" y="4725162"/>
            <a:ext cx="205740" cy="205740"/>
          </a:xfrm>
          <a:prstGeom prst="rect">
            <a:avLst/>
          </a:prstGeom>
        </p:spPr>
      </p:pic>
      <p:sp>
        <p:nvSpPr>
          <p:cNvPr id="30" name="Text 30"/>
          <p:cNvSpPr txBox="1"/>
          <p:nvPr/>
        </p:nvSpPr>
        <p:spPr>
          <a:xfrm>
            <a:off x="1097280" y="516636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Delivery per line</a:t>
            </a:r>
          </a:p>
        </p:txBody>
      </p:sp>
      <p:sp>
        <p:nvSpPr>
          <p:cNvPr id="31" name="Text 31"/>
          <p:cNvSpPr txBox="1"/>
          <p:nvPr/>
        </p:nvSpPr>
        <p:spPr>
          <a:xfrm>
            <a:off x="1097280" y="555040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Deliver-to party, location, date and address per invoice line.</a:t>
            </a:r>
          </a:p>
        </p:txBody>
      </p:sp>
      <p:sp>
        <p:nvSpPr>
          <p:cNvPr id="32" name="Card 32"/>
          <p:cNvSpPr/>
          <p:nvPr/>
        </p:nvSpPr>
        <p:spPr>
          <a:xfrm>
            <a:off x="4379976" y="434340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3" name="IconCircle 33"/>
          <p:cNvSpPr/>
          <p:nvPr/>
        </p:nvSpPr>
        <p:spPr>
          <a:xfrm>
            <a:off x="4654296" y="459943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34" name="Icon 34"/>
          <p:cNvPicPr>
            <a:picLocks noChangeAspect="1"/>
          </p:cNvPicPr>
          <p:nvPr/>
        </p:nvPicPr>
        <p:blipFill>
          <a:blip r:embed="rId8"/>
          <a:stretch>
            <a:fillRect/>
          </a:stretch>
        </p:blipFill>
        <p:spPr>
          <a:xfrm>
            <a:off x="4780026" y="4725162"/>
            <a:ext cx="205740" cy="205740"/>
          </a:xfrm>
          <a:prstGeom prst="rect">
            <a:avLst/>
          </a:prstGeom>
        </p:spPr>
      </p:pic>
      <p:sp>
        <p:nvSpPr>
          <p:cNvPr id="35" name="Text 35"/>
          <p:cNvSpPr txBox="1"/>
          <p:nvPr/>
        </p:nvSpPr>
        <p:spPr>
          <a:xfrm>
            <a:off x="4654296" y="516636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Third-party fees</a:t>
            </a:r>
          </a:p>
        </p:txBody>
      </p:sp>
      <p:sp>
        <p:nvSpPr>
          <p:cNvPr id="36" name="Text 36"/>
          <p:cNvSpPr txBox="1"/>
          <p:nvPr/>
        </p:nvSpPr>
        <p:spPr>
          <a:xfrm>
            <a:off x="4654296" y="555040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Show amounts on behalf of third parties that are not part of the invoice separately.</a:t>
            </a:r>
          </a:p>
        </p:txBody>
      </p:sp>
      <p:sp>
        <p:nvSpPr>
          <p:cNvPr id="37" name="Card 37"/>
          <p:cNvSpPr/>
          <p:nvPr/>
        </p:nvSpPr>
        <p:spPr>
          <a:xfrm>
            <a:off x="7936992" y="4343400"/>
            <a:ext cx="342900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8" name="IconCircle 38"/>
          <p:cNvSpPr/>
          <p:nvPr/>
        </p:nvSpPr>
        <p:spPr>
          <a:xfrm>
            <a:off x="8211312" y="4599432"/>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39" name="Icon 39"/>
          <p:cNvPicPr>
            <a:picLocks noChangeAspect="1"/>
          </p:cNvPicPr>
          <p:nvPr/>
        </p:nvPicPr>
        <p:blipFill>
          <a:blip r:embed="rId9"/>
          <a:stretch>
            <a:fillRect/>
          </a:stretch>
        </p:blipFill>
        <p:spPr>
          <a:xfrm>
            <a:off x="8337042" y="4725162"/>
            <a:ext cx="205740" cy="205740"/>
          </a:xfrm>
          <a:prstGeom prst="rect">
            <a:avLst/>
          </a:prstGeom>
        </p:spPr>
      </p:pic>
      <p:sp>
        <p:nvSpPr>
          <p:cNvPr id="40" name="Text 40"/>
          <p:cNvSpPr txBox="1"/>
          <p:nvPr/>
        </p:nvSpPr>
        <p:spPr>
          <a:xfrm>
            <a:off x="8211312" y="5166360"/>
            <a:ext cx="2880360" cy="36576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XML attachments</a:t>
            </a:r>
          </a:p>
        </p:txBody>
      </p:sp>
      <p:sp>
        <p:nvSpPr>
          <p:cNvPr id="41" name="Text 41"/>
          <p:cNvSpPr txBox="1"/>
          <p:nvPr/>
        </p:nvSpPr>
        <p:spPr>
          <a:xfrm>
            <a:off x="8211312" y="5550408"/>
            <a:ext cx="2926080" cy="603504"/>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Embed structured documents as attachments to the invoice.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Footer"/>
          <p:cNvSpPr/>
          <p:nvPr/>
        </p:nvSpPr>
        <p:spPr>
          <a:xfrm>
            <a:off x="822960" y="384048"/>
            <a:ext cx="7315200" cy="274320"/>
          </a:xfrm>
          <a:prstGeom prst="rect">
            <a:avLst/>
          </a:prstGeom>
          <a:noFill/>
          <a:ln/>
        </p:spPr>
        <p:txBody>
          <a:bodyPr wrap="square" lIns="0" tIns="0" rIns="0" bIns="0" rtlCol="0" anchor="ctr"/>
          <a:lstStyle/>
          <a:p>
            <a:pPr marL="0" indent="0" algn="l">
              <a:buNone/>
            </a:pPr>
            <a:r>
              <a:rPr lang="en-US" sz="950" kern="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US" sz="950" kern="0" spc="100" dirty="0">
                <a:solidFill>
                  <a:srgbClr val="C2CADE"/>
                </a:solidFill>
              </a:rPr>
              <a:t>   ·   </a:t>
            </a:r>
            <a:r>
              <a:rPr lang="en-US" sz="950" kern="0" spc="100" dirty="0">
                <a:solidFill>
                  <a:srgbClr val="9AA4C2"/>
                </a:solidFill>
                <a:latin typeface="Inter Text" pitchFamily="34" charset="0"/>
                <a:ea typeface="Inter Text" pitchFamily="34" charset="-122"/>
                <a:cs typeface="Inter Text" pitchFamily="34" charset="-120"/>
              </a:rPr>
              <a:t>EN 16931-1:2026 · Syntax Binding</a:t>
            </a:r>
            <a:endParaRPr lang="en-US" sz="950" dirty="0"/>
          </a:p>
        </p:txBody>
      </p:sp>
      <p:sp>
        <p:nvSpPr>
          <p:cNvPr id="3" name="SectionLabel"/>
          <p:cNvSpPr/>
          <p:nvPr/>
        </p:nvSpPr>
        <p:spPr>
          <a:xfrm>
            <a:off x="822960" y="868680"/>
            <a:ext cx="5486400" cy="274320"/>
          </a:xfrm>
          <a:prstGeom prst="rect">
            <a:avLst/>
          </a:prstGeom>
          <a:noFill/>
          <a:ln/>
        </p:spPr>
        <p:txBody>
          <a:bodyPr wrap="square" lIns="0" tIns="0" rIns="0" bIns="0" rtlCol="0" anchor="ctr"/>
          <a:lstStyle/>
          <a:p>
            <a:pPr marL="0" indent="0" algn="l">
              <a:buNone/>
            </a:pPr>
            <a:r>
              <a:rPr lang="en-US" sz="1100" kern="0" spc="300" dirty="0">
                <a:solidFill>
                  <a:srgbClr val="19C3C8"/>
                </a:solidFill>
                <a:latin typeface="Inter SemiBold Text SemiBold" pitchFamily="34" charset="0"/>
                <a:ea typeface="Inter SemiBold Text SemiBold" pitchFamily="34" charset="-122"/>
                <a:cs typeface="Inter SemiBold Text SemiBold" pitchFamily="34" charset="-120"/>
              </a:rPr>
              <a:t>SEMANTICS COMPARED</a:t>
            </a:r>
            <a:endParaRPr lang="en-US" sz="1100" dirty="0"/>
          </a:p>
        </p:txBody>
      </p:sp>
      <p:sp>
        <p:nvSpPr>
          <p:cNvPr id="4" name="Title"/>
          <p:cNvSpPr/>
          <p:nvPr/>
        </p:nvSpPr>
        <p:spPr>
          <a:xfrm>
            <a:off x="804672" y="1115568"/>
            <a:ext cx="7498080" cy="822960"/>
          </a:xfrm>
          <a:prstGeom prst="rect">
            <a:avLst/>
          </a:prstGeom>
          <a:noFill/>
          <a:ln/>
        </p:spPr>
        <p:txBody>
          <a:bodyPr wrap="square" lIns="0" tIns="0" rIns="0" bIns="0" rtlCol="0" anchor="t"/>
          <a:lstStyle/>
          <a:p>
            <a:pPr marL="0" indent="0" algn="l">
              <a:buNone/>
            </a:pPr>
            <a:r>
              <a:rPr lang="en-US" sz="3800" b="1" dirty="0">
                <a:solidFill>
                  <a:srgbClr val="1A2B5E"/>
                </a:solidFill>
                <a:latin typeface="Inter Text" pitchFamily="34" charset="0"/>
                <a:ea typeface="Inter Text" pitchFamily="34" charset="-122"/>
                <a:cs typeface="Inter Text" pitchFamily="34" charset="-120"/>
              </a:rPr>
              <a:t>2017 → 2026</a:t>
            </a:r>
            <a:endParaRPr lang="en-US" sz="3800" dirty="0"/>
          </a:p>
        </p:txBody>
      </p:sp>
      <p:sp>
        <p:nvSpPr>
          <p:cNvPr id="5" name="PageNum"/>
          <p:cNvSpPr/>
          <p:nvPr/>
        </p:nvSpPr>
        <p:spPr>
          <a:xfrm>
            <a:off x="10911535" y="6514592"/>
            <a:ext cx="822960" cy="292608"/>
          </a:xfrm>
          <a:prstGeom prst="rect">
            <a:avLst/>
          </a:prstGeom>
          <a:noFill/>
          <a:ln/>
        </p:spPr>
        <p:txBody>
          <a:bodyPr wrap="square" lIns="0" tIns="0" rIns="0" bIns="0" rtlCol="0" anchor="ctr"/>
          <a:lstStyle/>
          <a:p>
            <a:pPr marL="0" indent="0" algn="r">
              <a:buNone/>
            </a:pPr>
            <a:fld id="{BE18664B-91E1-4C1D-A2CA-A688E58AEA03}" type="slidenum">
              <a:rPr lang="en-US" sz="1000" kern="0" spc="200" dirty="0">
                <a:solidFill>
                  <a:srgbClr val="5B6890"/>
                </a:solidFill>
                <a:latin typeface="Inter SemiBold Text SemiBold" pitchFamily="34" charset="0"/>
                <a:ea typeface="Inter SemiBold Text SemiBold" pitchFamily="34" charset="-122"/>
                <a:cs typeface="Inter SemiBold Text SemiBold" pitchFamily="34" charset="-120"/>
              </a:rPr>
              <a:t>5</a:t>
            </a:fld>
            <a:endParaRPr lang="en-US" sz="1000" dirty="0"/>
          </a:p>
        </p:txBody>
      </p:sp>
      <p:sp>
        <p:nvSpPr>
          <p:cNvPr id="6" name="Tagline"/>
          <p:cNvSpPr/>
          <p:nvPr/>
        </p:nvSpPr>
        <p:spPr>
          <a:xfrm>
            <a:off x="822960" y="1865376"/>
            <a:ext cx="7498080" cy="320040"/>
          </a:xfrm>
          <a:prstGeom prst="rect">
            <a:avLst/>
          </a:prstGeom>
          <a:noFill/>
          <a:ln/>
        </p:spPr>
        <p:txBody>
          <a:bodyPr wrap="square" lIns="0" tIns="0" rIns="0" bIns="0" rtlCol="0" anchor="ctr"/>
          <a:lstStyle/>
          <a:p>
            <a:pPr marL="0" indent="0" algn="l">
              <a:buNone/>
            </a:pPr>
            <a:r>
              <a:rPr lang="en-US" sz="1300" dirty="0">
                <a:solidFill>
                  <a:srgbClr val="5B6890"/>
                </a:solidFill>
                <a:latin typeface="Inter Text" pitchFamily="34" charset="0"/>
                <a:ea typeface="Inter Text" pitchFamily="34" charset="-122"/>
                <a:cs typeface="Inter Text" pitchFamily="34" charset="-120"/>
              </a:rPr>
              <a:t>The data model grows — above all in the business terms.</a:t>
            </a:r>
            <a:endParaRPr lang="en-US" sz="1300" dirty="0"/>
          </a:p>
        </p:txBody>
      </p:sp>
      <p:sp>
        <p:nvSpPr>
          <p:cNvPr id="7" name="Card1"/>
          <p:cNvSpPr/>
          <p:nvPr/>
        </p:nvSpPr>
        <p:spPr>
          <a:xfrm>
            <a:off x="822960" y="2331720"/>
            <a:ext cx="5577840" cy="1316736"/>
          </a:xfrm>
          <a:prstGeom prst="roundRect">
            <a:avLst>
              <a:gd name="adj" fmla="val 55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8" name="Card1Label"/>
          <p:cNvSpPr/>
          <p:nvPr/>
        </p:nvSpPr>
        <p:spPr>
          <a:xfrm>
            <a:off x="1097280" y="2505456"/>
            <a:ext cx="3383280" cy="640080"/>
          </a:xfrm>
          <a:prstGeom prst="rect">
            <a:avLst/>
          </a:prstGeom>
          <a:noFill/>
          <a:ln/>
        </p:spPr>
        <p:txBody>
          <a:bodyPr wrap="square" lIns="0" tIns="0" rIns="0" bIns="0" rtlCol="0" anchor="t"/>
          <a:lstStyle/>
          <a:p>
            <a:pPr marL="0" indent="0" algn="l">
              <a:buNone/>
            </a:pPr>
            <a:r>
              <a:rPr lang="en-US" sz="1500" dirty="0">
                <a:solidFill>
                  <a:srgbClr val="1A2B5E"/>
                </a:solidFill>
                <a:latin typeface="Inter SemiBold Text SemiBold" pitchFamily="34" charset="0"/>
                <a:ea typeface="Inter SemiBold Text SemiBold" pitchFamily="34" charset="-122"/>
                <a:cs typeface="Inter SemiBold Text SemiBold" pitchFamily="34" charset="-120"/>
              </a:rPr>
              <a:t>BG · Business Groups</a:t>
            </a:r>
          </a:p>
          <a:p>
            <a:pPr marL="0" indent="0" algn="l">
              <a:buNone/>
            </a:pPr>
            <a:r>
              <a:rPr lang="en-US" sz="1050" dirty="0">
                <a:solidFill>
                  <a:srgbClr val="9AA4C2"/>
                </a:solidFill>
                <a:latin typeface="Inter Text" pitchFamily="34" charset="0"/>
                <a:ea typeface="Inter Text" pitchFamily="34" charset="-122"/>
                <a:cs typeface="Inter Text" pitchFamily="34" charset="-120"/>
              </a:rPr>
              <a:t>Structural groups</a:t>
            </a:r>
          </a:p>
        </p:txBody>
      </p:sp>
      <p:sp>
        <p:nvSpPr>
          <p:cNvPr id="9" name="C1_2017_track"/>
          <p:cNvSpPr/>
          <p:nvPr/>
        </p:nvSpPr>
        <p:spPr>
          <a:xfrm>
            <a:off x="2148840" y="2953512"/>
            <a:ext cx="2057400" cy="146304"/>
          </a:xfrm>
          <a:prstGeom prst="roundRect">
            <a:avLst>
              <a:gd name="adj" fmla="val 50000"/>
            </a:avLst>
          </a:prstGeom>
          <a:solidFill>
            <a:srgbClr val="EEF1F8"/>
          </a:solidFill>
          <a:ln/>
        </p:spPr>
        <p:txBody>
          <a:bodyPr/>
          <a:lstStyle/>
          <a:p>
            <a:endParaRPr lang="en-GB"/>
          </a:p>
        </p:txBody>
      </p:sp>
      <p:sp>
        <p:nvSpPr>
          <p:cNvPr id="10" name="C1_2017_fill"/>
          <p:cNvSpPr/>
          <p:nvPr/>
        </p:nvSpPr>
        <p:spPr>
          <a:xfrm>
            <a:off x="2148840" y="2953512"/>
            <a:ext cx="1688123" cy="146304"/>
          </a:xfrm>
          <a:prstGeom prst="roundRect">
            <a:avLst>
              <a:gd name="adj" fmla="val 50000"/>
            </a:avLst>
          </a:prstGeom>
          <a:solidFill>
            <a:srgbClr val="C2CADE"/>
          </a:solidFill>
          <a:ln/>
        </p:spPr>
        <p:txBody>
          <a:bodyPr/>
          <a:lstStyle/>
          <a:p>
            <a:endParaRPr lang="en-GB"/>
          </a:p>
        </p:txBody>
      </p:sp>
      <p:sp>
        <p:nvSpPr>
          <p:cNvPr id="11" name="C1_2017_yr"/>
          <p:cNvSpPr/>
          <p:nvPr/>
        </p:nvSpPr>
        <p:spPr>
          <a:xfrm>
            <a:off x="1554480" y="2889504"/>
            <a:ext cx="557784" cy="274320"/>
          </a:xfrm>
          <a:prstGeom prst="rect">
            <a:avLst/>
          </a:prstGeom>
          <a:noFill/>
          <a:ln/>
        </p:spPr>
        <p:txBody>
          <a:bodyPr wrap="square" lIns="0" tIns="0" rIns="0" bIns="0" rtlCol="0" anchor="ctr"/>
          <a:lstStyle/>
          <a:p>
            <a:pPr marL="0" indent="0" algn="l">
              <a:buNone/>
            </a:pPr>
            <a:r>
              <a:rPr lang="en-US" sz="1000" dirty="0">
                <a:solidFill>
                  <a:srgbClr val="9AA4C2"/>
                </a:solidFill>
                <a:latin typeface="Inter Medium Text Medium" pitchFamily="34" charset="0"/>
                <a:ea typeface="Inter Medium Text Medium" pitchFamily="34" charset="-122"/>
                <a:cs typeface="Inter Medium Text Medium" pitchFamily="34" charset="-120"/>
              </a:rPr>
              <a:t>2017</a:t>
            </a:r>
          </a:p>
        </p:txBody>
      </p:sp>
      <p:sp>
        <p:nvSpPr>
          <p:cNvPr id="12" name="C1_2017_val"/>
          <p:cNvSpPr/>
          <p:nvPr/>
        </p:nvSpPr>
        <p:spPr>
          <a:xfrm>
            <a:off x="4288536" y="2852928"/>
            <a:ext cx="640080" cy="347472"/>
          </a:xfrm>
          <a:prstGeom prst="rect">
            <a:avLst/>
          </a:prstGeom>
          <a:noFill/>
          <a:ln/>
        </p:spPr>
        <p:txBody>
          <a:bodyPr wrap="square" lIns="0" tIns="0" rIns="0" bIns="0" rtlCol="0" anchor="ctr"/>
          <a:lstStyle/>
          <a:p>
            <a:pPr marL="0" indent="0" algn="l">
              <a:buNone/>
            </a:pPr>
            <a:r>
              <a:rPr lang="en-US" sz="1800" b="1" dirty="0">
                <a:solidFill>
                  <a:srgbClr val="9AA4C2"/>
                </a:solidFill>
                <a:latin typeface="Inter Text" pitchFamily="34" charset="0"/>
                <a:ea typeface="Inter Text" pitchFamily="34" charset="-122"/>
                <a:cs typeface="Inter Text" pitchFamily="34" charset="-120"/>
              </a:rPr>
              <a:t>32</a:t>
            </a:r>
          </a:p>
        </p:txBody>
      </p:sp>
      <p:sp>
        <p:nvSpPr>
          <p:cNvPr id="13" name="C1_2026_track"/>
          <p:cNvSpPr/>
          <p:nvPr/>
        </p:nvSpPr>
        <p:spPr>
          <a:xfrm>
            <a:off x="2148840" y="3236976"/>
            <a:ext cx="2057400" cy="146304"/>
          </a:xfrm>
          <a:prstGeom prst="roundRect">
            <a:avLst>
              <a:gd name="adj" fmla="val 50000"/>
            </a:avLst>
          </a:prstGeom>
          <a:solidFill>
            <a:srgbClr val="EEF1F8"/>
          </a:solidFill>
          <a:ln/>
        </p:spPr>
        <p:txBody>
          <a:bodyPr/>
          <a:lstStyle/>
          <a:p>
            <a:endParaRPr lang="en-GB"/>
          </a:p>
        </p:txBody>
      </p:sp>
      <p:sp>
        <p:nvSpPr>
          <p:cNvPr id="14" name="C1_2026_fill"/>
          <p:cNvSpPr/>
          <p:nvPr/>
        </p:nvSpPr>
        <p:spPr>
          <a:xfrm>
            <a:off x="2148840" y="3236976"/>
            <a:ext cx="2057400" cy="146304"/>
          </a:xfrm>
          <a:prstGeom prst="roundRect">
            <a:avLst>
              <a:gd name="adj" fmla="val 50000"/>
            </a:avLst>
          </a:prstGeom>
          <a:solidFill>
            <a:srgbClr val="19C3C8"/>
          </a:solidFill>
          <a:ln/>
        </p:spPr>
        <p:txBody>
          <a:bodyPr/>
          <a:lstStyle/>
          <a:p>
            <a:endParaRPr lang="en-GB"/>
          </a:p>
        </p:txBody>
      </p:sp>
      <p:sp>
        <p:nvSpPr>
          <p:cNvPr id="15" name="C1_2026_yr"/>
          <p:cNvSpPr/>
          <p:nvPr/>
        </p:nvSpPr>
        <p:spPr>
          <a:xfrm>
            <a:off x="1554480" y="3172968"/>
            <a:ext cx="557784" cy="274320"/>
          </a:xfrm>
          <a:prstGeom prst="rect">
            <a:avLst/>
          </a:prstGeom>
          <a:noFill/>
          <a:ln/>
        </p:spPr>
        <p:txBody>
          <a:bodyPr wrap="square" lIns="0" tIns="0" rIns="0" bIns="0" rtlCol="0" anchor="ctr"/>
          <a:lstStyle/>
          <a:p>
            <a:pPr marL="0" indent="0" algn="l">
              <a:buNone/>
            </a:pPr>
            <a:r>
              <a:rPr lang="en-US" sz="1000" dirty="0">
                <a:solidFill>
                  <a:srgbClr val="1A2B5E"/>
                </a:solidFill>
                <a:latin typeface="Inter SemiBold Text SemiBold" pitchFamily="34" charset="0"/>
                <a:ea typeface="Inter SemiBold Text SemiBold" pitchFamily="34" charset="-122"/>
                <a:cs typeface="Inter SemiBold Text SemiBold" pitchFamily="34" charset="-120"/>
              </a:rPr>
              <a:t>2026</a:t>
            </a:r>
          </a:p>
        </p:txBody>
      </p:sp>
      <p:sp>
        <p:nvSpPr>
          <p:cNvPr id="16" name="C1_2026_val"/>
          <p:cNvSpPr/>
          <p:nvPr/>
        </p:nvSpPr>
        <p:spPr>
          <a:xfrm>
            <a:off x="4288536" y="3136392"/>
            <a:ext cx="640080" cy="347472"/>
          </a:xfrm>
          <a:prstGeom prst="rect">
            <a:avLst/>
          </a:prstGeom>
          <a:noFill/>
          <a:ln/>
        </p:spPr>
        <p:txBody>
          <a:bodyPr wrap="square" lIns="0" tIns="0" rIns="0" bIns="0" rtlCol="0" anchor="ctr"/>
          <a:lstStyle/>
          <a:p>
            <a:pPr marL="0" indent="0" algn="l">
              <a:buNone/>
            </a:pPr>
            <a:r>
              <a:rPr lang="en-US" sz="1800" b="1" dirty="0">
                <a:solidFill>
                  <a:srgbClr val="1A2B5E"/>
                </a:solidFill>
                <a:latin typeface="Inter Text" pitchFamily="34" charset="0"/>
                <a:ea typeface="Inter Text" pitchFamily="34" charset="-122"/>
                <a:cs typeface="Inter Text" pitchFamily="34" charset="-120"/>
              </a:rPr>
              <a:t>39</a:t>
            </a:r>
          </a:p>
        </p:txBody>
      </p:sp>
      <p:sp>
        <p:nvSpPr>
          <p:cNvPr id="17" name="C1_badge"/>
          <p:cNvSpPr/>
          <p:nvPr/>
        </p:nvSpPr>
        <p:spPr>
          <a:xfrm>
            <a:off x="5074920" y="2953512"/>
            <a:ext cx="1051560" cy="429768"/>
          </a:xfrm>
          <a:prstGeom prst="roundRect">
            <a:avLst>
              <a:gd name="adj" fmla="val 26000"/>
            </a:avLst>
          </a:prstGeom>
          <a:solidFill>
            <a:srgbClr val="E7F8F8"/>
          </a:solidFill>
          <a:ln w="12700">
            <a:solidFill>
              <a:srgbClr val="B5E9EA"/>
            </a:solidFill>
            <a:prstDash val="solid"/>
          </a:ln>
        </p:spPr>
        <p:txBody>
          <a:bodyPr wrap="square" lIns="0" tIns="0" rIns="0" bIns="0" rtlCol="0" anchor="ctr"/>
          <a:lstStyle/>
          <a:p>
            <a:pPr marL="0" indent="0" algn="ctr">
              <a:buNone/>
            </a:pPr>
            <a:r>
              <a:rPr lang="en-US" sz="1500" b="1" dirty="0">
                <a:solidFill>
                  <a:srgbClr val="0E7E82"/>
                </a:solidFill>
                <a:latin typeface="Inter SemiBold Text SemiBold" pitchFamily="34" charset="0"/>
                <a:ea typeface="Inter SemiBold Text SemiBold" pitchFamily="34" charset="-122"/>
                <a:cs typeface="Inter SemiBold Text SemiBold" pitchFamily="34" charset="-120"/>
              </a:rPr>
              <a:t>+7</a:t>
            </a:r>
            <a:r>
              <a:rPr lang="en-US" sz="1050" dirty="0">
                <a:solidFill>
                  <a:srgbClr val="3FA9AC"/>
                </a:solidFill>
                <a:latin typeface="Inter Text" pitchFamily="34" charset="0"/>
                <a:ea typeface="Inter Text" pitchFamily="34" charset="-122"/>
                <a:cs typeface="Inter Text" pitchFamily="34" charset="-120"/>
              </a:rPr>
              <a:t>  +22%</a:t>
            </a:r>
          </a:p>
        </p:txBody>
      </p:sp>
      <p:sp>
        <p:nvSpPr>
          <p:cNvPr id="18" name="Card2"/>
          <p:cNvSpPr/>
          <p:nvPr/>
        </p:nvSpPr>
        <p:spPr>
          <a:xfrm>
            <a:off x="822960" y="3739896"/>
            <a:ext cx="5577840" cy="1316736"/>
          </a:xfrm>
          <a:prstGeom prst="roundRect">
            <a:avLst>
              <a:gd name="adj" fmla="val 5500"/>
            </a:avLst>
          </a:prstGeom>
          <a:solidFill>
            <a:srgbClr val="FFFFFF"/>
          </a:solidFill>
          <a:ln w="19050">
            <a:solidFill>
              <a:srgbClr val="19C3C8"/>
            </a:solidFill>
            <a:prstDash val="solid"/>
          </a:ln>
          <a:effectLst>
            <a:outerShdw blurRad="127000" dist="38100" dir="5400000" algn="bl" rotWithShape="0">
              <a:srgbClr val="0A1230">
                <a:alpha val="12000"/>
              </a:srgbClr>
            </a:outerShdw>
          </a:effectLst>
        </p:spPr>
        <p:txBody>
          <a:bodyPr/>
          <a:lstStyle/>
          <a:p>
            <a:endParaRPr lang="en-GB"/>
          </a:p>
        </p:txBody>
      </p:sp>
      <p:sp>
        <p:nvSpPr>
          <p:cNvPr id="19" name="Card2Label"/>
          <p:cNvSpPr/>
          <p:nvPr/>
        </p:nvSpPr>
        <p:spPr>
          <a:xfrm>
            <a:off x="1097280" y="3913632"/>
            <a:ext cx="3383280" cy="640080"/>
          </a:xfrm>
          <a:prstGeom prst="rect">
            <a:avLst/>
          </a:prstGeom>
          <a:noFill/>
          <a:ln/>
        </p:spPr>
        <p:txBody>
          <a:bodyPr wrap="square" lIns="0" tIns="0" rIns="0" bIns="0" rtlCol="0" anchor="t"/>
          <a:lstStyle/>
          <a:p>
            <a:pPr marL="0" indent="0" algn="l">
              <a:buNone/>
            </a:pPr>
            <a:r>
              <a:rPr lang="en-US" sz="1500" dirty="0">
                <a:solidFill>
                  <a:srgbClr val="1A2B5E"/>
                </a:solidFill>
                <a:latin typeface="Inter SemiBold Text SemiBold" pitchFamily="34" charset="0"/>
                <a:ea typeface="Inter SemiBold Text SemiBold" pitchFamily="34" charset="-122"/>
                <a:cs typeface="Inter SemiBold Text SemiBold" pitchFamily="34" charset="-120"/>
              </a:rPr>
              <a:t>BT · Business Terms</a:t>
            </a:r>
          </a:p>
          <a:p>
            <a:pPr marL="0" indent="0" algn="l">
              <a:buNone/>
            </a:pPr>
            <a:r>
              <a:rPr lang="en-US" sz="1050" dirty="0">
                <a:solidFill>
                  <a:srgbClr val="9AA4C2"/>
                </a:solidFill>
                <a:latin typeface="Inter Text" pitchFamily="34" charset="0"/>
                <a:ea typeface="Inter Text" pitchFamily="34" charset="-122"/>
                <a:cs typeface="Inter Text" pitchFamily="34" charset="-120"/>
              </a:rPr>
              <a:t>Numbered main terms</a:t>
            </a:r>
          </a:p>
        </p:txBody>
      </p:sp>
      <p:sp>
        <p:nvSpPr>
          <p:cNvPr id="20" name="C2_2017_track"/>
          <p:cNvSpPr/>
          <p:nvPr/>
        </p:nvSpPr>
        <p:spPr>
          <a:xfrm>
            <a:off x="2148840" y="4361688"/>
            <a:ext cx="2057400" cy="146304"/>
          </a:xfrm>
          <a:prstGeom prst="roundRect">
            <a:avLst>
              <a:gd name="adj" fmla="val 50000"/>
            </a:avLst>
          </a:prstGeom>
          <a:solidFill>
            <a:srgbClr val="EEF1F8"/>
          </a:solidFill>
          <a:ln/>
        </p:spPr>
        <p:txBody>
          <a:bodyPr/>
          <a:lstStyle/>
          <a:p>
            <a:endParaRPr lang="en-GB"/>
          </a:p>
        </p:txBody>
      </p:sp>
      <p:sp>
        <p:nvSpPr>
          <p:cNvPr id="21" name="C2_2017_fill"/>
          <p:cNvSpPr/>
          <p:nvPr/>
        </p:nvSpPr>
        <p:spPr>
          <a:xfrm>
            <a:off x="2148840" y="4361688"/>
            <a:ext cx="1562100" cy="146304"/>
          </a:xfrm>
          <a:prstGeom prst="roundRect">
            <a:avLst>
              <a:gd name="adj" fmla="val 50000"/>
            </a:avLst>
          </a:prstGeom>
          <a:solidFill>
            <a:srgbClr val="C2CADE"/>
          </a:solidFill>
          <a:ln/>
        </p:spPr>
        <p:txBody>
          <a:bodyPr/>
          <a:lstStyle/>
          <a:p>
            <a:endParaRPr lang="en-GB"/>
          </a:p>
        </p:txBody>
      </p:sp>
      <p:sp>
        <p:nvSpPr>
          <p:cNvPr id="22" name="C2_2017_yr"/>
          <p:cNvSpPr/>
          <p:nvPr/>
        </p:nvSpPr>
        <p:spPr>
          <a:xfrm>
            <a:off x="1554480" y="4297680"/>
            <a:ext cx="557784" cy="274320"/>
          </a:xfrm>
          <a:prstGeom prst="rect">
            <a:avLst/>
          </a:prstGeom>
          <a:noFill/>
          <a:ln/>
        </p:spPr>
        <p:txBody>
          <a:bodyPr wrap="square" lIns="0" tIns="0" rIns="0" bIns="0" rtlCol="0" anchor="ctr"/>
          <a:lstStyle/>
          <a:p>
            <a:pPr marL="0" indent="0" algn="l">
              <a:buNone/>
            </a:pPr>
            <a:r>
              <a:rPr lang="en-US" sz="1000" dirty="0">
                <a:solidFill>
                  <a:srgbClr val="9AA4C2"/>
                </a:solidFill>
                <a:latin typeface="Inter Medium Text Medium" pitchFamily="34" charset="0"/>
                <a:ea typeface="Inter Medium Text Medium" pitchFamily="34" charset="-122"/>
                <a:cs typeface="Inter Medium Text Medium" pitchFamily="34" charset="-120"/>
              </a:rPr>
              <a:t>2017</a:t>
            </a:r>
          </a:p>
        </p:txBody>
      </p:sp>
      <p:sp>
        <p:nvSpPr>
          <p:cNvPr id="23" name="C2_2017_val"/>
          <p:cNvSpPr/>
          <p:nvPr/>
        </p:nvSpPr>
        <p:spPr>
          <a:xfrm>
            <a:off x="4288536" y="4261104"/>
            <a:ext cx="731520" cy="347472"/>
          </a:xfrm>
          <a:prstGeom prst="rect">
            <a:avLst/>
          </a:prstGeom>
          <a:noFill/>
          <a:ln/>
        </p:spPr>
        <p:txBody>
          <a:bodyPr wrap="square" lIns="0" tIns="0" rIns="0" bIns="0" rtlCol="0" anchor="ctr"/>
          <a:lstStyle/>
          <a:p>
            <a:pPr marL="0" indent="0" algn="l">
              <a:buNone/>
            </a:pPr>
            <a:r>
              <a:rPr lang="en-US" sz="1800" b="1" dirty="0">
                <a:solidFill>
                  <a:srgbClr val="9AA4C2"/>
                </a:solidFill>
                <a:latin typeface="Inter Text" pitchFamily="34" charset="0"/>
                <a:ea typeface="Inter Text" pitchFamily="34" charset="-122"/>
                <a:cs typeface="Inter Text" pitchFamily="34" charset="-120"/>
              </a:rPr>
              <a:t>164</a:t>
            </a:r>
          </a:p>
        </p:txBody>
      </p:sp>
      <p:sp>
        <p:nvSpPr>
          <p:cNvPr id="24" name="C2_2026_track"/>
          <p:cNvSpPr/>
          <p:nvPr/>
        </p:nvSpPr>
        <p:spPr>
          <a:xfrm>
            <a:off x="2148840" y="4645152"/>
            <a:ext cx="2057400" cy="146304"/>
          </a:xfrm>
          <a:prstGeom prst="roundRect">
            <a:avLst>
              <a:gd name="adj" fmla="val 50000"/>
            </a:avLst>
          </a:prstGeom>
          <a:solidFill>
            <a:srgbClr val="EEF1F8"/>
          </a:solidFill>
          <a:ln/>
        </p:spPr>
        <p:txBody>
          <a:bodyPr/>
          <a:lstStyle/>
          <a:p>
            <a:endParaRPr lang="en-GB"/>
          </a:p>
        </p:txBody>
      </p:sp>
      <p:sp>
        <p:nvSpPr>
          <p:cNvPr id="25" name="C2_2026_fill"/>
          <p:cNvSpPr/>
          <p:nvPr/>
        </p:nvSpPr>
        <p:spPr>
          <a:xfrm>
            <a:off x="2148840" y="4645152"/>
            <a:ext cx="2057400" cy="146304"/>
          </a:xfrm>
          <a:prstGeom prst="roundRect">
            <a:avLst>
              <a:gd name="adj" fmla="val 50000"/>
            </a:avLst>
          </a:prstGeom>
          <a:solidFill>
            <a:srgbClr val="19C3C8"/>
          </a:solidFill>
          <a:ln/>
        </p:spPr>
        <p:txBody>
          <a:bodyPr/>
          <a:lstStyle/>
          <a:p>
            <a:endParaRPr lang="en-GB"/>
          </a:p>
        </p:txBody>
      </p:sp>
      <p:sp>
        <p:nvSpPr>
          <p:cNvPr id="26" name="C2_2026_yr"/>
          <p:cNvSpPr/>
          <p:nvPr/>
        </p:nvSpPr>
        <p:spPr>
          <a:xfrm>
            <a:off x="1554480" y="4581144"/>
            <a:ext cx="557784" cy="274320"/>
          </a:xfrm>
          <a:prstGeom prst="rect">
            <a:avLst/>
          </a:prstGeom>
          <a:noFill/>
          <a:ln/>
        </p:spPr>
        <p:txBody>
          <a:bodyPr wrap="square" lIns="0" tIns="0" rIns="0" bIns="0" rtlCol="0" anchor="ctr"/>
          <a:lstStyle/>
          <a:p>
            <a:pPr marL="0" indent="0" algn="l">
              <a:buNone/>
            </a:pPr>
            <a:r>
              <a:rPr lang="en-US" sz="1000" dirty="0">
                <a:solidFill>
                  <a:srgbClr val="1A2B5E"/>
                </a:solidFill>
                <a:latin typeface="Inter SemiBold Text SemiBold" pitchFamily="34" charset="0"/>
                <a:ea typeface="Inter SemiBold Text SemiBold" pitchFamily="34" charset="-122"/>
                <a:cs typeface="Inter SemiBold Text SemiBold" pitchFamily="34" charset="-120"/>
              </a:rPr>
              <a:t>2026</a:t>
            </a:r>
          </a:p>
        </p:txBody>
      </p:sp>
      <p:sp>
        <p:nvSpPr>
          <p:cNvPr id="27" name="C2_2026_val"/>
          <p:cNvSpPr/>
          <p:nvPr/>
        </p:nvSpPr>
        <p:spPr>
          <a:xfrm>
            <a:off x="4288536" y="4544568"/>
            <a:ext cx="731520" cy="347472"/>
          </a:xfrm>
          <a:prstGeom prst="rect">
            <a:avLst/>
          </a:prstGeom>
          <a:noFill/>
          <a:ln/>
        </p:spPr>
        <p:txBody>
          <a:bodyPr wrap="square" lIns="0" tIns="0" rIns="0" bIns="0" rtlCol="0" anchor="ctr"/>
          <a:lstStyle/>
          <a:p>
            <a:pPr marL="0" indent="0" algn="l">
              <a:buNone/>
            </a:pPr>
            <a:r>
              <a:rPr lang="en-US" sz="1800" b="1" dirty="0">
                <a:solidFill>
                  <a:srgbClr val="1A2B5E"/>
                </a:solidFill>
                <a:latin typeface="Inter Text" pitchFamily="34" charset="0"/>
                <a:ea typeface="Inter Text" pitchFamily="34" charset="-122"/>
                <a:cs typeface="Inter Text" pitchFamily="34" charset="-120"/>
              </a:rPr>
              <a:t>216</a:t>
            </a:r>
          </a:p>
        </p:txBody>
      </p:sp>
      <p:sp>
        <p:nvSpPr>
          <p:cNvPr id="28" name="C2_badge"/>
          <p:cNvSpPr/>
          <p:nvPr/>
        </p:nvSpPr>
        <p:spPr>
          <a:xfrm>
            <a:off x="5074920" y="4361688"/>
            <a:ext cx="1051560" cy="429768"/>
          </a:xfrm>
          <a:prstGeom prst="roundRect">
            <a:avLst>
              <a:gd name="adj" fmla="val 26000"/>
            </a:avLst>
          </a:prstGeom>
          <a:solidFill>
            <a:srgbClr val="19C3C8"/>
          </a:solidFill>
          <a:ln/>
        </p:spPr>
        <p:txBody>
          <a:bodyPr wrap="square" lIns="0" tIns="0" rIns="0" bIns="0" rtlCol="0" anchor="ctr"/>
          <a:lstStyle/>
          <a:p>
            <a:pPr marL="0" indent="0" algn="ctr">
              <a:buNone/>
            </a:pPr>
            <a:r>
              <a:rPr lang="en-US" sz="1500" b="1" dirty="0">
                <a:solidFill>
                  <a:srgbClr val="FFFFFF"/>
                </a:solidFill>
                <a:latin typeface="Inter SemiBold Text SemiBold" pitchFamily="34" charset="0"/>
                <a:ea typeface="Inter SemiBold Text SemiBold" pitchFamily="34" charset="-122"/>
                <a:cs typeface="Inter SemiBold Text SemiBold" pitchFamily="34" charset="-120"/>
              </a:rPr>
              <a:t>+52</a:t>
            </a:r>
            <a:r>
              <a:rPr lang="en-US" sz="1050" dirty="0">
                <a:solidFill>
                  <a:srgbClr val="D6F5F5"/>
                </a:solidFill>
                <a:latin typeface="Inter Text" pitchFamily="34" charset="0"/>
                <a:ea typeface="Inter Text" pitchFamily="34" charset="-122"/>
                <a:cs typeface="Inter Text" pitchFamily="34" charset="-120"/>
              </a:rPr>
              <a:t>  +32%</a:t>
            </a:r>
          </a:p>
        </p:txBody>
      </p:sp>
      <p:sp>
        <p:nvSpPr>
          <p:cNvPr id="29" name="Card3"/>
          <p:cNvSpPr/>
          <p:nvPr/>
        </p:nvSpPr>
        <p:spPr>
          <a:xfrm>
            <a:off x="822960" y="5148072"/>
            <a:ext cx="5577840" cy="1316736"/>
          </a:xfrm>
          <a:prstGeom prst="roundRect">
            <a:avLst>
              <a:gd name="adj" fmla="val 55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0" name="Card3Label"/>
          <p:cNvSpPr/>
          <p:nvPr/>
        </p:nvSpPr>
        <p:spPr>
          <a:xfrm>
            <a:off x="1097280" y="5321808"/>
            <a:ext cx="3383280" cy="640080"/>
          </a:xfrm>
          <a:prstGeom prst="rect">
            <a:avLst/>
          </a:prstGeom>
          <a:noFill/>
          <a:ln/>
        </p:spPr>
        <p:txBody>
          <a:bodyPr wrap="square" lIns="0" tIns="0" rIns="0" bIns="0" rtlCol="0" anchor="t"/>
          <a:lstStyle/>
          <a:p>
            <a:pPr marL="0" indent="0" algn="l">
              <a:buNone/>
            </a:pPr>
            <a:r>
              <a:rPr lang="en-US" sz="1500" dirty="0">
                <a:solidFill>
                  <a:srgbClr val="1A2B5E"/>
                </a:solidFill>
                <a:latin typeface="Inter SemiBold Text SemiBold" pitchFamily="34" charset="0"/>
                <a:ea typeface="Inter SemiBold Text SemiBold" pitchFamily="34" charset="-122"/>
                <a:cs typeface="Inter SemiBold Text SemiBold" pitchFamily="34" charset="-120"/>
              </a:rPr>
              <a:t>Auxiliary attributes</a:t>
            </a:r>
          </a:p>
          <a:p>
            <a:pPr marL="0" indent="0" algn="l">
              <a:buNone/>
            </a:pPr>
            <a:r>
              <a:rPr lang="en-US" sz="1050" dirty="0">
                <a:solidFill>
                  <a:srgbClr val="9AA4C2"/>
                </a:solidFill>
                <a:latin typeface="Inter Text" pitchFamily="34" charset="0"/>
                <a:ea typeface="Inter Text" pitchFamily="34" charset="-122"/>
                <a:cs typeface="Inter Text" pitchFamily="34" charset="-120"/>
              </a:rPr>
              <a:t>e.g. scheme identifier</a:t>
            </a:r>
          </a:p>
        </p:txBody>
      </p:sp>
      <p:sp>
        <p:nvSpPr>
          <p:cNvPr id="31" name="C3_2017_track"/>
          <p:cNvSpPr/>
          <p:nvPr/>
        </p:nvSpPr>
        <p:spPr>
          <a:xfrm>
            <a:off x="2148840" y="5769864"/>
            <a:ext cx="2057400" cy="146304"/>
          </a:xfrm>
          <a:prstGeom prst="roundRect">
            <a:avLst>
              <a:gd name="adj" fmla="val 50000"/>
            </a:avLst>
          </a:prstGeom>
          <a:solidFill>
            <a:srgbClr val="EEF1F8"/>
          </a:solidFill>
          <a:ln/>
        </p:spPr>
        <p:txBody>
          <a:bodyPr/>
          <a:lstStyle/>
          <a:p>
            <a:endParaRPr lang="en-GB"/>
          </a:p>
        </p:txBody>
      </p:sp>
      <p:sp>
        <p:nvSpPr>
          <p:cNvPr id="32" name="C3_2017_fill"/>
          <p:cNvSpPr/>
          <p:nvPr/>
        </p:nvSpPr>
        <p:spPr>
          <a:xfrm>
            <a:off x="2148840" y="5769864"/>
            <a:ext cx="1776845" cy="146304"/>
          </a:xfrm>
          <a:prstGeom prst="roundRect">
            <a:avLst>
              <a:gd name="adj" fmla="val 50000"/>
            </a:avLst>
          </a:prstGeom>
          <a:solidFill>
            <a:srgbClr val="C2CADE"/>
          </a:solidFill>
          <a:ln/>
        </p:spPr>
        <p:txBody>
          <a:bodyPr/>
          <a:lstStyle/>
          <a:p>
            <a:endParaRPr lang="en-GB"/>
          </a:p>
        </p:txBody>
      </p:sp>
      <p:sp>
        <p:nvSpPr>
          <p:cNvPr id="33" name="C3_2017_yr"/>
          <p:cNvSpPr/>
          <p:nvPr/>
        </p:nvSpPr>
        <p:spPr>
          <a:xfrm>
            <a:off x="1554480" y="5705856"/>
            <a:ext cx="557784" cy="274320"/>
          </a:xfrm>
          <a:prstGeom prst="rect">
            <a:avLst/>
          </a:prstGeom>
          <a:noFill/>
          <a:ln/>
        </p:spPr>
        <p:txBody>
          <a:bodyPr wrap="square" lIns="0" tIns="0" rIns="0" bIns="0" rtlCol="0" anchor="ctr"/>
          <a:lstStyle/>
          <a:p>
            <a:pPr marL="0" indent="0" algn="l">
              <a:buNone/>
            </a:pPr>
            <a:r>
              <a:rPr lang="en-US" sz="1000" dirty="0">
                <a:solidFill>
                  <a:srgbClr val="9AA4C2"/>
                </a:solidFill>
                <a:latin typeface="Inter Medium Text Medium" pitchFamily="34" charset="0"/>
                <a:ea typeface="Inter Medium Text Medium" pitchFamily="34" charset="-122"/>
                <a:cs typeface="Inter Medium Text Medium" pitchFamily="34" charset="-120"/>
              </a:rPr>
              <a:t>2017</a:t>
            </a:r>
          </a:p>
        </p:txBody>
      </p:sp>
      <p:sp>
        <p:nvSpPr>
          <p:cNvPr id="34" name="C3_2017_val"/>
          <p:cNvSpPr/>
          <p:nvPr/>
        </p:nvSpPr>
        <p:spPr>
          <a:xfrm>
            <a:off x="4288536" y="5669280"/>
            <a:ext cx="640080" cy="347472"/>
          </a:xfrm>
          <a:prstGeom prst="rect">
            <a:avLst/>
          </a:prstGeom>
          <a:noFill/>
          <a:ln/>
        </p:spPr>
        <p:txBody>
          <a:bodyPr wrap="square" lIns="0" tIns="0" rIns="0" bIns="0" rtlCol="0" anchor="ctr"/>
          <a:lstStyle/>
          <a:p>
            <a:pPr marL="0" indent="0" algn="l">
              <a:buNone/>
            </a:pPr>
            <a:r>
              <a:rPr lang="en-US" sz="1800" b="1" dirty="0">
                <a:solidFill>
                  <a:srgbClr val="9AA4C2"/>
                </a:solidFill>
                <a:latin typeface="Inter Text" pitchFamily="34" charset="0"/>
                <a:ea typeface="Inter Text" pitchFamily="34" charset="-122"/>
                <a:cs typeface="Inter Text" pitchFamily="34" charset="-120"/>
              </a:rPr>
              <a:t>19</a:t>
            </a:r>
          </a:p>
        </p:txBody>
      </p:sp>
      <p:sp>
        <p:nvSpPr>
          <p:cNvPr id="35" name="C3_2026_track"/>
          <p:cNvSpPr/>
          <p:nvPr/>
        </p:nvSpPr>
        <p:spPr>
          <a:xfrm>
            <a:off x="2148840" y="6053328"/>
            <a:ext cx="2057400" cy="146304"/>
          </a:xfrm>
          <a:prstGeom prst="roundRect">
            <a:avLst>
              <a:gd name="adj" fmla="val 50000"/>
            </a:avLst>
          </a:prstGeom>
          <a:solidFill>
            <a:srgbClr val="EEF1F8"/>
          </a:solidFill>
          <a:ln/>
        </p:spPr>
        <p:txBody>
          <a:bodyPr/>
          <a:lstStyle/>
          <a:p>
            <a:endParaRPr lang="en-GB"/>
          </a:p>
        </p:txBody>
      </p:sp>
      <p:sp>
        <p:nvSpPr>
          <p:cNvPr id="36" name="C3_2026_fill"/>
          <p:cNvSpPr/>
          <p:nvPr/>
        </p:nvSpPr>
        <p:spPr>
          <a:xfrm>
            <a:off x="2148840" y="6053328"/>
            <a:ext cx="2057400" cy="146304"/>
          </a:xfrm>
          <a:prstGeom prst="roundRect">
            <a:avLst>
              <a:gd name="adj" fmla="val 50000"/>
            </a:avLst>
          </a:prstGeom>
          <a:solidFill>
            <a:srgbClr val="19C3C8"/>
          </a:solidFill>
          <a:ln/>
        </p:spPr>
        <p:txBody>
          <a:bodyPr/>
          <a:lstStyle/>
          <a:p>
            <a:endParaRPr lang="en-GB"/>
          </a:p>
        </p:txBody>
      </p:sp>
      <p:sp>
        <p:nvSpPr>
          <p:cNvPr id="37" name="C3_2026_yr"/>
          <p:cNvSpPr/>
          <p:nvPr/>
        </p:nvSpPr>
        <p:spPr>
          <a:xfrm>
            <a:off x="1554480" y="5989320"/>
            <a:ext cx="557784" cy="274320"/>
          </a:xfrm>
          <a:prstGeom prst="rect">
            <a:avLst/>
          </a:prstGeom>
          <a:noFill/>
          <a:ln/>
        </p:spPr>
        <p:txBody>
          <a:bodyPr wrap="square" lIns="0" tIns="0" rIns="0" bIns="0" rtlCol="0" anchor="ctr"/>
          <a:lstStyle/>
          <a:p>
            <a:pPr marL="0" indent="0" algn="l">
              <a:buNone/>
            </a:pPr>
            <a:r>
              <a:rPr lang="en-US" sz="1000" dirty="0">
                <a:solidFill>
                  <a:srgbClr val="1A2B5E"/>
                </a:solidFill>
                <a:latin typeface="Inter SemiBold Text SemiBold" pitchFamily="34" charset="0"/>
                <a:ea typeface="Inter SemiBold Text SemiBold" pitchFamily="34" charset="-122"/>
                <a:cs typeface="Inter SemiBold Text SemiBold" pitchFamily="34" charset="-120"/>
              </a:rPr>
              <a:t>2026</a:t>
            </a:r>
          </a:p>
        </p:txBody>
      </p:sp>
      <p:sp>
        <p:nvSpPr>
          <p:cNvPr id="38" name="C3_2026_val"/>
          <p:cNvSpPr/>
          <p:nvPr/>
        </p:nvSpPr>
        <p:spPr>
          <a:xfrm>
            <a:off x="4288536" y="5952744"/>
            <a:ext cx="640080" cy="347472"/>
          </a:xfrm>
          <a:prstGeom prst="rect">
            <a:avLst/>
          </a:prstGeom>
          <a:noFill/>
          <a:ln/>
        </p:spPr>
        <p:txBody>
          <a:bodyPr wrap="square" lIns="0" tIns="0" rIns="0" bIns="0" rtlCol="0" anchor="ctr"/>
          <a:lstStyle/>
          <a:p>
            <a:pPr marL="0" indent="0" algn="l">
              <a:buNone/>
            </a:pPr>
            <a:r>
              <a:rPr lang="en-US" sz="1800" b="1" dirty="0">
                <a:solidFill>
                  <a:srgbClr val="1A2B5E"/>
                </a:solidFill>
                <a:latin typeface="Inter Text" pitchFamily="34" charset="0"/>
                <a:ea typeface="Inter Text" pitchFamily="34" charset="-122"/>
                <a:cs typeface="Inter Text" pitchFamily="34" charset="-120"/>
              </a:rPr>
              <a:t>22</a:t>
            </a:r>
          </a:p>
        </p:txBody>
      </p:sp>
      <p:sp>
        <p:nvSpPr>
          <p:cNvPr id="39" name="C3_badge"/>
          <p:cNvSpPr/>
          <p:nvPr/>
        </p:nvSpPr>
        <p:spPr>
          <a:xfrm>
            <a:off x="5074920" y="5769864"/>
            <a:ext cx="1051560" cy="429768"/>
          </a:xfrm>
          <a:prstGeom prst="roundRect">
            <a:avLst>
              <a:gd name="adj" fmla="val 26000"/>
            </a:avLst>
          </a:prstGeom>
          <a:solidFill>
            <a:srgbClr val="E7F8F8"/>
          </a:solidFill>
          <a:ln w="12700">
            <a:solidFill>
              <a:srgbClr val="B5E9EA"/>
            </a:solidFill>
            <a:prstDash val="solid"/>
          </a:ln>
        </p:spPr>
        <p:txBody>
          <a:bodyPr wrap="square" lIns="0" tIns="0" rIns="0" bIns="0" rtlCol="0" anchor="ctr"/>
          <a:lstStyle/>
          <a:p>
            <a:pPr marL="0" indent="0" algn="ctr">
              <a:buNone/>
            </a:pPr>
            <a:r>
              <a:rPr lang="en-US" sz="1500" b="1" dirty="0">
                <a:solidFill>
                  <a:srgbClr val="0E7E82"/>
                </a:solidFill>
                <a:latin typeface="Inter SemiBold Text SemiBold" pitchFamily="34" charset="0"/>
                <a:ea typeface="Inter SemiBold Text SemiBold" pitchFamily="34" charset="-122"/>
                <a:cs typeface="Inter SemiBold Text SemiBold" pitchFamily="34" charset="-120"/>
              </a:rPr>
              <a:t>+3</a:t>
            </a:r>
            <a:r>
              <a:rPr lang="en-US" sz="1050" dirty="0">
                <a:solidFill>
                  <a:srgbClr val="3FA9AC"/>
                </a:solidFill>
                <a:latin typeface="Inter Text" pitchFamily="34" charset="0"/>
                <a:ea typeface="Inter Text" pitchFamily="34" charset="-122"/>
                <a:cs typeface="Inter Text" pitchFamily="34" charset="-120"/>
              </a:rPr>
              <a:t>  +16%</a:t>
            </a:r>
          </a:p>
        </p:txBody>
      </p:sp>
      <p:sp>
        <p:nvSpPr>
          <p:cNvPr id="40" name="SummaryPanel"/>
          <p:cNvSpPr/>
          <p:nvPr/>
        </p:nvSpPr>
        <p:spPr>
          <a:xfrm>
            <a:off x="6675120" y="2331720"/>
            <a:ext cx="4693920" cy="4133088"/>
          </a:xfrm>
          <a:prstGeom prst="roundRect">
            <a:avLst>
              <a:gd name="adj" fmla="val 2400"/>
            </a:avLst>
          </a:prstGeom>
          <a:solidFill>
            <a:srgbClr val="1A2B5E"/>
          </a:solidFill>
          <a:ln/>
          <a:effectLst>
            <a:outerShdw blurRad="101600" dist="38100" dir="5400000" algn="bl" rotWithShape="0">
              <a:srgbClr val="0A1230">
                <a:alpha val="18000"/>
              </a:srgbClr>
            </a:outerShdw>
          </a:effectLst>
        </p:spPr>
        <p:txBody>
          <a:bodyPr/>
          <a:lstStyle/>
          <a:p>
            <a:endParaRPr lang="en-GB"/>
          </a:p>
        </p:txBody>
      </p:sp>
      <p:sp>
        <p:nvSpPr>
          <p:cNvPr id="41" name="SumLabel"/>
          <p:cNvSpPr/>
          <p:nvPr/>
        </p:nvSpPr>
        <p:spPr>
          <a:xfrm>
            <a:off x="7040880" y="2697480"/>
            <a:ext cx="3962400" cy="274320"/>
          </a:xfrm>
          <a:prstGeom prst="rect">
            <a:avLst/>
          </a:prstGeom>
          <a:noFill/>
          <a:ln/>
        </p:spPr>
        <p:txBody>
          <a:bodyPr wrap="square" lIns="0" tIns="0" rIns="0" bIns="0" rtlCol="0" anchor="ctr"/>
          <a:lstStyle/>
          <a:p>
            <a:pPr marL="0" indent="0" algn="l">
              <a:buNone/>
            </a:pPr>
            <a:r>
              <a:rPr lang="en-US" sz="1100" kern="0" spc="300" dirty="0">
                <a:solidFill>
                  <a:srgbClr val="19C3C8"/>
                </a:solidFill>
                <a:latin typeface="Inter SemiBold Text SemiBold" pitchFamily="34" charset="0"/>
                <a:ea typeface="Inter SemiBold Text SemiBold" pitchFamily="34" charset="-122"/>
                <a:cs typeface="Inter SemiBold Text SemiBold" pitchFamily="34" charset="-120"/>
              </a:rPr>
              <a:t>BOTTOM LINE</a:t>
            </a:r>
          </a:p>
        </p:txBody>
      </p:sp>
      <p:sp>
        <p:nvSpPr>
          <p:cNvPr id="42" name="SumBigNum"/>
          <p:cNvSpPr/>
          <p:nvPr/>
        </p:nvSpPr>
        <p:spPr>
          <a:xfrm>
            <a:off x="7040880" y="3072384"/>
            <a:ext cx="3962400" cy="1188720"/>
          </a:xfrm>
          <a:prstGeom prst="rect">
            <a:avLst/>
          </a:prstGeom>
          <a:noFill/>
          <a:ln/>
        </p:spPr>
        <p:txBody>
          <a:bodyPr wrap="square" lIns="0" tIns="0" rIns="0" bIns="0" rtlCol="0" anchor="t"/>
          <a:lstStyle/>
          <a:p>
            <a:pPr marL="0" indent="0" algn="l">
              <a:buNone/>
            </a:pPr>
            <a:r>
              <a:rPr lang="en-US" sz="9000" b="1" spc="-200" dirty="0">
                <a:solidFill>
                  <a:srgbClr val="FFFFFF"/>
                </a:solidFill>
                <a:latin typeface="Inter Text" pitchFamily="34" charset="0"/>
                <a:ea typeface="Inter Text" pitchFamily="34" charset="-122"/>
                <a:cs typeface="Inter Text" pitchFamily="34" charset="-120"/>
              </a:rPr>
              <a:t>+52</a:t>
            </a:r>
          </a:p>
        </p:txBody>
      </p:sp>
      <p:sp>
        <p:nvSpPr>
          <p:cNvPr id="43" name="SumBigCaption"/>
          <p:cNvSpPr/>
          <p:nvPr/>
        </p:nvSpPr>
        <p:spPr>
          <a:xfrm>
            <a:off x="7040880" y="4187952"/>
            <a:ext cx="3962400" cy="365760"/>
          </a:xfrm>
          <a:prstGeom prst="rect">
            <a:avLst/>
          </a:prstGeom>
          <a:noFill/>
          <a:ln/>
        </p:spPr>
        <p:txBody>
          <a:bodyPr wrap="square" lIns="0" tIns="0" rIns="0" bIns="0" rtlCol="0" anchor="ctr"/>
          <a:lstStyle/>
          <a:p>
            <a:pPr marL="0" indent="0" algn="l">
              <a:buNone/>
            </a:pPr>
            <a:r>
              <a:rPr lang="en-US" sz="1400" dirty="0">
                <a:solidFill>
                  <a:srgbClr val="C2CADE"/>
                </a:solidFill>
                <a:latin typeface="Inter Text" pitchFamily="34" charset="0"/>
                <a:ea typeface="Inter Text" pitchFamily="34" charset="-122"/>
                <a:cs typeface="Inter Text" pitchFamily="34" charset="-120"/>
              </a:rPr>
              <a:t>new business terms — the largest growth</a:t>
            </a:r>
          </a:p>
        </p:txBody>
      </p:sp>
      <p:sp>
        <p:nvSpPr>
          <p:cNvPr id="44" name="SumDivider"/>
          <p:cNvSpPr/>
          <p:nvPr/>
        </p:nvSpPr>
        <p:spPr>
          <a:xfrm>
            <a:off x="7040880" y="4754880"/>
            <a:ext cx="3962400" cy="9144"/>
          </a:xfrm>
          <a:prstGeom prst="rect">
            <a:avLst/>
          </a:prstGeom>
          <a:solidFill>
            <a:srgbClr val="3A4A7A"/>
          </a:solidFill>
          <a:ln/>
        </p:spPr>
        <p:txBody>
          <a:bodyPr/>
          <a:lstStyle/>
          <a:p>
            <a:endParaRPr lang="en-GB"/>
          </a:p>
        </p:txBody>
      </p:sp>
      <p:sp>
        <p:nvSpPr>
          <p:cNvPr id="45" name="SumBullets"/>
          <p:cNvSpPr/>
          <p:nvPr/>
        </p:nvSpPr>
        <p:spPr>
          <a:xfrm>
            <a:off x="7040880" y="4983480"/>
            <a:ext cx="3962400" cy="1188720"/>
          </a:xfrm>
          <a:prstGeom prst="rect">
            <a:avLst/>
          </a:prstGeom>
          <a:noFill/>
          <a:ln/>
        </p:spPr>
        <p:txBody>
          <a:bodyPr wrap="square" lIns="0" tIns="0" rIns="0" bIns="0" rtlCol="0" anchor="t"/>
          <a:lstStyle/>
          <a:p>
            <a:pPr marL="228600" indent="-228600" algn="l">
              <a:lnSpc>
                <a:spcPct val="100000"/>
              </a:lnSpc>
              <a:spcAft>
                <a:spcPts val="800"/>
              </a:spcAft>
              <a:buSzPct val="100000"/>
              <a:buChar char="•"/>
            </a:pPr>
            <a:r>
              <a:rPr lang="en-US" sz="1300" dirty="0">
                <a:solidFill>
                  <a:srgbClr val="C2CADE"/>
                </a:solidFill>
                <a:latin typeface="Inter Text" pitchFamily="34" charset="0"/>
                <a:ea typeface="Inter Text" pitchFamily="34" charset="-122"/>
                <a:cs typeface="Inter Text" pitchFamily="34" charset="-120"/>
              </a:rPr>
              <a:t>7 new business groups structure the new fields</a:t>
            </a:r>
          </a:p>
          <a:p>
            <a:pPr marL="228600" indent="-228600" algn="l">
              <a:lnSpc>
                <a:spcPct val="100000"/>
              </a:lnSpc>
              <a:spcAft>
                <a:spcPts val="800"/>
              </a:spcAft>
              <a:buSzPct val="100000"/>
              <a:buChar char="•"/>
            </a:pPr>
            <a:r>
              <a:rPr lang="en-US" sz="1300" dirty="0">
                <a:solidFill>
                  <a:srgbClr val="C2CADE"/>
                </a:solidFill>
                <a:latin typeface="Inter Text" pitchFamily="34" charset="0"/>
                <a:ea typeface="Inter Text" pitchFamily="34" charset="-122"/>
                <a:cs typeface="Inter Text" pitchFamily="34" charset="-120"/>
              </a:rPr>
              <a:t>Auxiliary attributes grow only moderately (+3)</a:t>
            </a:r>
          </a:p>
          <a:p>
            <a:pPr marL="228600" indent="-228600" algn="l">
              <a:lnSpc>
                <a:spcPct val="100000"/>
              </a:lnSpc>
              <a:spcAft>
                <a:spcPts val="0"/>
              </a:spcAft>
              <a:buSzPct val="100000"/>
              <a:buChar char="•"/>
            </a:pPr>
            <a:r>
              <a:rPr lang="en-US" sz="1300" dirty="0">
                <a:solidFill>
                  <a:srgbClr val="FFFFFF"/>
                </a:solidFill>
                <a:latin typeface="Inter SemiBold Text SemiBold" pitchFamily="34" charset="0"/>
                <a:ea typeface="Inter SemiBold Text SemiBold" pitchFamily="34" charset="-122"/>
                <a:cs typeface="Inter SemiBold Text SemiBold" pitchFamily="34" charset="-120"/>
              </a:rPr>
              <a:t>+62 elements in total in the data model</a:t>
            </a:r>
          </a:p>
        </p:txBody>
      </p:sp>
      <p:sp>
        <p:nvSpPr>
          <p:cNvPr id="46" name="Speaker 4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Footer"/>
          <p:cNvSpPr/>
          <p:nvPr/>
        </p:nvSpPr>
        <p:spPr>
          <a:xfrm>
            <a:off x="822960" y="384048"/>
            <a:ext cx="7315200" cy="274320"/>
          </a:xfrm>
          <a:prstGeom prst="rect">
            <a:avLst/>
          </a:prstGeom>
          <a:noFill/>
          <a:ln/>
        </p:spPr>
        <p:txBody>
          <a:bodyPr wrap="square" lIns="0" tIns="0" rIns="0" bIns="0" rtlCol="0" anchor="ctr"/>
          <a:lstStyle/>
          <a:p>
            <a:pPr marL="0" indent="0" algn="l">
              <a:buNone/>
            </a:pPr>
            <a:r>
              <a:rPr lang="en-US" sz="950" kern="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US" sz="950" kern="0" spc="100" dirty="0">
                <a:solidFill>
                  <a:srgbClr val="C2CADE"/>
                </a:solidFill>
              </a:rPr>
              <a:t>   ·   </a:t>
            </a:r>
            <a:r>
              <a:rPr lang="en-US" sz="950" kern="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3" name="SectionLabel"/>
          <p:cNvSpPr/>
          <p:nvPr/>
        </p:nvSpPr>
        <p:spPr>
          <a:xfrm>
            <a:off x="822960" y="868680"/>
            <a:ext cx="6400800" cy="274320"/>
          </a:xfrm>
          <a:prstGeom prst="rect">
            <a:avLst/>
          </a:prstGeom>
          <a:noFill/>
          <a:ln/>
        </p:spPr>
        <p:txBody>
          <a:bodyPr wrap="square" lIns="0" tIns="0" rIns="0" bIns="0" rtlCol="0" anchor="ctr"/>
          <a:lstStyle/>
          <a:p>
            <a:pPr marL="0" indent="0" algn="l">
              <a:buNone/>
            </a:pPr>
            <a:r>
              <a:rPr lang="en-US" sz="1100" kern="0" spc="300" dirty="0">
                <a:solidFill>
                  <a:srgbClr val="19C3C8"/>
                </a:solidFill>
                <a:latin typeface="Inter SemiBold Text SemiBold" pitchFamily="34" charset="0"/>
                <a:ea typeface="Inter SemiBold Text SemiBold" pitchFamily="34" charset="-122"/>
                <a:cs typeface="Inter SemiBold Text SemiBold" pitchFamily="34" charset="-120"/>
              </a:rPr>
              <a:t>SEMANTIC DATA TYPES</a:t>
            </a:r>
          </a:p>
        </p:txBody>
      </p:sp>
      <p:sp>
        <p:nvSpPr>
          <p:cNvPr id="4" name="Title"/>
          <p:cNvSpPr/>
          <p:nvPr/>
        </p:nvSpPr>
        <p:spPr>
          <a:xfrm>
            <a:off x="804672" y="1115568"/>
            <a:ext cx="9000000" cy="822960"/>
          </a:xfrm>
          <a:prstGeom prst="rect">
            <a:avLst/>
          </a:prstGeom>
          <a:noFill/>
          <a:ln/>
        </p:spPr>
        <p:txBody>
          <a:bodyPr wrap="square" lIns="0" tIns="0" rIns="0" bIns="0" rtlCol="0" anchor="t"/>
          <a:lstStyle/>
          <a:p>
            <a:pPr marL="0" indent="0" algn="l">
              <a:buNone/>
            </a:pPr>
            <a:r>
              <a:rPr lang="en-US" sz="3800" b="1" dirty="0">
                <a:solidFill>
                  <a:srgbClr val="1A2B5E"/>
                </a:solidFill>
                <a:latin typeface="Inter Text" pitchFamily="34" charset="0"/>
                <a:ea typeface="Inter Text" pitchFamily="34" charset="-122"/>
                <a:cs typeface="Inter Text" pitchFamily="34" charset="-120"/>
              </a:rPr>
              <a:t>Distribution by data type</a:t>
            </a:r>
          </a:p>
        </p:txBody>
      </p:sp>
      <p:sp>
        <p:nvSpPr>
          <p:cNvPr id="5" name="PageNum"/>
          <p:cNvSpPr/>
          <p:nvPr/>
        </p:nvSpPr>
        <p:spPr>
          <a:xfrm>
            <a:off x="10911535" y="6514592"/>
            <a:ext cx="822960" cy="292608"/>
          </a:xfrm>
          <a:prstGeom prst="rect">
            <a:avLst/>
          </a:prstGeom>
          <a:noFill/>
          <a:ln/>
        </p:spPr>
        <p:txBody>
          <a:bodyPr wrap="square" lIns="0" tIns="0" rIns="0" bIns="0" rtlCol="0" anchor="ctr"/>
          <a:lstStyle/>
          <a:p>
            <a:pPr marL="0" indent="0" algn="r">
              <a:buNone/>
            </a:pPr>
            <a:fld id="{8CF857AB-FD0F-4023-AD08-718A14AC7DB3}" type="slidenum">
              <a:rPr lang="en-US" sz="1000" kern="0" spc="200" dirty="0">
                <a:solidFill>
                  <a:srgbClr val="5B6890"/>
                </a:solidFill>
                <a:latin typeface="Inter SemiBold Text SemiBold" pitchFamily="34" charset="0"/>
                <a:ea typeface="Inter SemiBold Text SemiBold" pitchFamily="34" charset="-122"/>
                <a:cs typeface="Inter SemiBold Text SemiBold" pitchFamily="34" charset="-120"/>
              </a:rPr>
              <a:t>6</a:t>
            </a:fld>
            <a:endParaRPr lang="en-US" sz="1000" kern="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6" name="TotalChip"/>
          <p:cNvSpPr/>
          <p:nvPr/>
        </p:nvSpPr>
        <p:spPr>
          <a:xfrm>
            <a:off x="7818120" y="1188720"/>
            <a:ext cx="3520440" cy="640080"/>
          </a:xfrm>
          <a:prstGeom prst="roundRect">
            <a:avLst>
              <a:gd name="adj" fmla="val 14000"/>
            </a:avLst>
          </a:prstGeom>
          <a:solidFill>
            <a:srgbClr val="1A2B5E"/>
          </a:solidFill>
          <a:ln/>
          <a:effectLst>
            <a:outerShdw blurRad="88900" dist="38100" dir="5400000" algn="bl" rotWithShape="0">
              <a:srgbClr val="0A1230">
                <a:alpha val="18000"/>
              </a:srgbClr>
            </a:outerShdw>
          </a:effectLst>
        </p:spPr>
        <p:txBody>
          <a:bodyPr wrap="square" lIns="146304" tIns="0" rIns="146304" bIns="0" rtlCol="0" anchor="ctr"/>
          <a:lstStyle/>
          <a:p>
            <a:pPr marL="0" indent="0" algn="l">
              <a:buNone/>
            </a:pPr>
            <a:r>
              <a:rPr lang="en-US" sz="1100" dirty="0">
                <a:solidFill>
                  <a:srgbClr val="C2CADE"/>
                </a:solidFill>
                <a:latin typeface="Inter Text" pitchFamily="34" charset="0"/>
                <a:ea typeface="Inter Text" pitchFamily="34" charset="-122"/>
                <a:cs typeface="Inter Text" pitchFamily="34" charset="-120"/>
              </a:rPr>
              <a:t>Total  </a:t>
            </a:r>
            <a:r>
              <a:rPr lang="en-US" sz="1400" b="1" dirty="0">
                <a:solidFill>
                  <a:srgbClr val="FFFFFF"/>
                </a:solidFill>
                <a:latin typeface="Inter Text" pitchFamily="34" charset="0"/>
                <a:ea typeface="Inter Text" pitchFamily="34" charset="-122"/>
                <a:cs typeface="Inter Text" pitchFamily="34" charset="-120"/>
              </a:rPr>
              <a:t>164 → 216</a:t>
            </a:r>
            <a:r>
              <a:rPr lang="en-US" sz="1400" b="1" dirty="0">
                <a:solidFill>
                  <a:srgbClr val="19C3C8"/>
                </a:solidFill>
                <a:latin typeface="Inter SemiBold Text SemiBold" pitchFamily="34" charset="0"/>
                <a:ea typeface="Inter SemiBold Text SemiBold" pitchFamily="34" charset="-122"/>
                <a:cs typeface="Inter SemiBold Text SemiBold" pitchFamily="34" charset="-120"/>
              </a:rPr>
              <a:t>  +52</a:t>
            </a:r>
            <a:r>
              <a:rPr lang="en-GB" sz="1400" b="1" dirty="0">
                <a:solidFill>
                  <a:srgbClr val="19C3C8"/>
                </a:solidFill>
                <a:latin typeface="Inter SemiBold Text SemiBold" pitchFamily="34" charset="0"/>
                <a:ea typeface="Inter SemiBold Text SemiBold" pitchFamily="34" charset="-122"/>
                <a:cs typeface="Inter SemiBold Text SemiBold" pitchFamily="34" charset="-120"/>
              </a:rPr>
              <a:t>  ·  +32%</a:t>
            </a:r>
          </a:p>
        </p:txBody>
      </p:sp>
      <p:sp>
        <p:nvSpPr>
          <p:cNvPr id="101" name="t"/>
          <p:cNvSpPr/>
          <p:nvPr/>
        </p:nvSpPr>
        <p:spPr>
          <a:xfrm>
            <a:off x="822960" y="2057400"/>
            <a:ext cx="2926080" cy="274320"/>
          </a:xfrm>
          <a:prstGeom prst="rect">
            <a:avLst/>
          </a:prstGeom>
          <a:noFill/>
          <a:ln/>
        </p:spPr>
        <p:txBody>
          <a:bodyPr wrap="square" lIns="0" tIns="0" rIns="0" bIns="0" rtlCol="0" anchor="ctr"/>
          <a:lstStyle/>
          <a:p>
            <a:pPr marL="0" indent="0" algn="l">
              <a:buNone/>
            </a:pPr>
            <a:r>
              <a:rPr lang="en-US" sz="1000" dirty="0">
                <a:solidFill>
                  <a:srgbClr val="9AA4C2"/>
                </a:solidFill>
                <a:latin typeface="Inter SemiBold Text SemiBold" pitchFamily="34" charset="0"/>
                <a:ea typeface="Inter SemiBold Text SemiBold" pitchFamily="34" charset="-122"/>
                <a:cs typeface="Inter SemiBold Text SemiBold" pitchFamily="34" charset="-120"/>
              </a:rPr>
              <a:t>DATA TYPE</a:t>
            </a:r>
          </a:p>
        </p:txBody>
      </p:sp>
      <p:sp>
        <p:nvSpPr>
          <p:cNvPr id="102" name="t"/>
          <p:cNvSpPr/>
          <p:nvPr/>
        </p:nvSpPr>
        <p:spPr>
          <a:xfrm>
            <a:off x="5669280" y="2057400"/>
            <a:ext cx="502920" cy="274320"/>
          </a:xfrm>
          <a:prstGeom prst="rect">
            <a:avLst/>
          </a:prstGeom>
          <a:noFill/>
          <a:ln/>
        </p:spPr>
        <p:txBody>
          <a:bodyPr wrap="square" lIns="0" tIns="0" rIns="0" bIns="0" rtlCol="0" anchor="ctr"/>
          <a:lstStyle/>
          <a:p>
            <a:pPr marL="0" indent="0" algn="r">
              <a:buNone/>
            </a:pPr>
            <a:r>
              <a:rPr lang="en-US" sz="1000" dirty="0">
                <a:solidFill>
                  <a:srgbClr val="9AA4C2"/>
                </a:solidFill>
                <a:latin typeface="Inter SemiBold Text SemiBold" pitchFamily="34" charset="0"/>
                <a:ea typeface="Inter SemiBold Text SemiBold" pitchFamily="34" charset="-122"/>
                <a:cs typeface="Inter SemiBold Text SemiBold" pitchFamily="34" charset="-120"/>
              </a:rPr>
              <a:t>2017</a:t>
            </a:r>
          </a:p>
        </p:txBody>
      </p:sp>
      <p:sp>
        <p:nvSpPr>
          <p:cNvPr id="103" name="t"/>
          <p:cNvSpPr/>
          <p:nvPr/>
        </p:nvSpPr>
        <p:spPr>
          <a:xfrm>
            <a:off x="6583680" y="2057400"/>
            <a:ext cx="502920" cy="274320"/>
          </a:xfrm>
          <a:prstGeom prst="rect">
            <a:avLst/>
          </a:prstGeom>
          <a:noFill/>
          <a:ln/>
        </p:spPr>
        <p:txBody>
          <a:bodyPr wrap="square" lIns="0" tIns="0" rIns="0" bIns="0" rtlCol="0" anchor="ctr"/>
          <a:lstStyle/>
          <a:p>
            <a:pPr marL="0" indent="0" algn="r">
              <a:buNone/>
            </a:pPr>
            <a:r>
              <a:rPr lang="en-US" sz="1000" dirty="0">
                <a:solidFill>
                  <a:srgbClr val="9AA4C2"/>
                </a:solidFill>
                <a:latin typeface="Inter SemiBold Text SemiBold" pitchFamily="34" charset="0"/>
                <a:ea typeface="Inter SemiBold Text SemiBold" pitchFamily="34" charset="-122"/>
                <a:cs typeface="Inter SemiBold Text SemiBold" pitchFamily="34" charset="-120"/>
              </a:rPr>
              <a:t>2026</a:t>
            </a:r>
          </a:p>
        </p:txBody>
      </p:sp>
      <p:sp>
        <p:nvSpPr>
          <p:cNvPr id="104" name="t"/>
          <p:cNvSpPr/>
          <p:nvPr/>
        </p:nvSpPr>
        <p:spPr>
          <a:xfrm>
            <a:off x="7315200" y="2057400"/>
            <a:ext cx="1005840" cy="274320"/>
          </a:xfrm>
          <a:prstGeom prst="rect">
            <a:avLst/>
          </a:prstGeom>
          <a:noFill/>
          <a:ln/>
        </p:spPr>
        <p:txBody>
          <a:bodyPr wrap="square" lIns="0" tIns="0" rIns="0" bIns="0" rtlCol="0" anchor="ctr"/>
          <a:lstStyle/>
          <a:p>
            <a:pPr marL="0" indent="0" algn="ctr">
              <a:buNone/>
            </a:pPr>
            <a:r>
              <a:rPr lang="en-US" sz="1000" dirty="0">
                <a:solidFill>
                  <a:srgbClr val="9AA4C2"/>
                </a:solidFill>
                <a:latin typeface="Inter SemiBold Text SemiBold" pitchFamily="34" charset="0"/>
                <a:ea typeface="Inter SemiBold Text SemiBold" pitchFamily="34" charset="-122"/>
                <a:cs typeface="Inter SemiBold Text SemiBold" pitchFamily="34" charset="-120"/>
              </a:rPr>
              <a:t>CHANGE</a:t>
            </a:r>
          </a:p>
        </p:txBody>
      </p:sp>
      <p:sp>
        <p:nvSpPr>
          <p:cNvPr id="105" name="t"/>
          <p:cNvSpPr/>
          <p:nvPr/>
        </p:nvSpPr>
        <p:spPr>
          <a:xfrm>
            <a:off x="822960" y="2486400"/>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SemiBold Text SemiBold" pitchFamily="34" charset="0"/>
                <a:ea typeface="Inter SemiBold Text SemiBold" pitchFamily="34" charset="-122"/>
                <a:cs typeface="Inter SemiBold Text SemiBold" pitchFamily="34" charset="-120"/>
              </a:rPr>
              <a:t>Code</a:t>
            </a:r>
          </a:p>
        </p:txBody>
      </p:sp>
      <p:sp>
        <p:nvSpPr>
          <p:cNvPr id="106" name="r"/>
          <p:cNvSpPr/>
          <p:nvPr/>
        </p:nvSpPr>
        <p:spPr>
          <a:xfrm>
            <a:off x="3886200" y="2589270"/>
            <a:ext cx="1645920" cy="137160"/>
          </a:xfrm>
          <a:prstGeom prst="roundRect">
            <a:avLst>
              <a:gd name="adj" fmla="val 50000"/>
            </a:avLst>
          </a:prstGeom>
          <a:solidFill>
            <a:srgbClr val="EEF1F8"/>
          </a:solidFill>
          <a:ln/>
        </p:spPr>
        <p:txBody>
          <a:bodyPr/>
          <a:lstStyle/>
          <a:p>
            <a:endParaRPr lang="en-GB"/>
          </a:p>
        </p:txBody>
      </p:sp>
      <p:sp>
        <p:nvSpPr>
          <p:cNvPr id="107" name="r"/>
          <p:cNvSpPr/>
          <p:nvPr/>
        </p:nvSpPr>
        <p:spPr>
          <a:xfrm>
            <a:off x="3886200" y="2589270"/>
            <a:ext cx="480060" cy="137160"/>
          </a:xfrm>
          <a:prstGeom prst="roundRect">
            <a:avLst>
              <a:gd name="adj" fmla="val 50000"/>
            </a:avLst>
          </a:prstGeom>
          <a:solidFill>
            <a:srgbClr val="C2CADE"/>
          </a:solidFill>
          <a:ln/>
        </p:spPr>
        <p:txBody>
          <a:bodyPr/>
          <a:lstStyle/>
          <a:p>
            <a:endParaRPr lang="en-GB"/>
          </a:p>
        </p:txBody>
      </p:sp>
      <p:sp>
        <p:nvSpPr>
          <p:cNvPr id="108" name="r"/>
          <p:cNvSpPr/>
          <p:nvPr/>
        </p:nvSpPr>
        <p:spPr>
          <a:xfrm>
            <a:off x="3886200" y="2589270"/>
            <a:ext cx="845820" cy="137160"/>
          </a:xfrm>
          <a:prstGeom prst="roundRect">
            <a:avLst>
              <a:gd name="adj" fmla="val 50000"/>
            </a:avLst>
          </a:prstGeom>
          <a:solidFill>
            <a:srgbClr val="19C3C8"/>
          </a:solidFill>
          <a:ln/>
        </p:spPr>
        <p:txBody>
          <a:bodyPr/>
          <a:lstStyle/>
          <a:p>
            <a:endParaRPr lang="en-GB"/>
          </a:p>
        </p:txBody>
      </p:sp>
      <p:sp>
        <p:nvSpPr>
          <p:cNvPr id="109" name="t"/>
          <p:cNvSpPr/>
          <p:nvPr/>
        </p:nvSpPr>
        <p:spPr>
          <a:xfrm>
            <a:off x="5669280" y="2486400"/>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21</a:t>
            </a:r>
          </a:p>
        </p:txBody>
      </p:sp>
      <p:sp>
        <p:nvSpPr>
          <p:cNvPr id="110" name="t"/>
          <p:cNvSpPr/>
          <p:nvPr/>
        </p:nvSpPr>
        <p:spPr>
          <a:xfrm>
            <a:off x="6217920" y="2486400"/>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11" name="t"/>
          <p:cNvSpPr/>
          <p:nvPr/>
        </p:nvSpPr>
        <p:spPr>
          <a:xfrm>
            <a:off x="6583680" y="2486400"/>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37</a:t>
            </a:r>
          </a:p>
        </p:txBody>
      </p:sp>
      <p:sp>
        <p:nvSpPr>
          <p:cNvPr id="112" name="r"/>
          <p:cNvSpPr/>
          <p:nvPr/>
        </p:nvSpPr>
        <p:spPr>
          <a:xfrm>
            <a:off x="7315200" y="2516118"/>
            <a:ext cx="1005840" cy="283464"/>
          </a:xfrm>
          <a:prstGeom prst="roundRect">
            <a:avLst>
              <a:gd name="adj" fmla="val 30000"/>
            </a:avLst>
          </a:prstGeom>
          <a:solidFill>
            <a:srgbClr val="19C3C8"/>
          </a:solidFill>
          <a:ln/>
        </p:spPr>
        <p:txBody>
          <a:bodyPr/>
          <a:lstStyle/>
          <a:p>
            <a:endParaRPr lang="en-GB"/>
          </a:p>
        </p:txBody>
      </p:sp>
      <p:sp>
        <p:nvSpPr>
          <p:cNvPr id="113" name="t"/>
          <p:cNvSpPr/>
          <p:nvPr/>
        </p:nvSpPr>
        <p:spPr>
          <a:xfrm>
            <a:off x="7315200" y="2516118"/>
            <a:ext cx="1005840"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SemiBold Text SemiBold" pitchFamily="34" charset="0"/>
                <a:ea typeface="Inter SemiBold Text SemiBold" pitchFamily="34" charset="-122"/>
                <a:cs typeface="Inter SemiBold Text SemiBold" pitchFamily="34" charset="-120"/>
              </a:rPr>
              <a:t>+16</a:t>
            </a:r>
          </a:p>
        </p:txBody>
      </p:sp>
      <p:sp>
        <p:nvSpPr>
          <p:cNvPr id="114" name="r"/>
          <p:cNvSpPr/>
          <p:nvPr/>
        </p:nvSpPr>
        <p:spPr>
          <a:xfrm>
            <a:off x="822960" y="2865875"/>
            <a:ext cx="8503920" cy="6096"/>
          </a:xfrm>
          <a:prstGeom prst="rect">
            <a:avLst/>
          </a:prstGeom>
          <a:solidFill>
            <a:srgbClr val="ECEFF6"/>
          </a:solidFill>
          <a:ln/>
        </p:spPr>
        <p:txBody>
          <a:bodyPr/>
          <a:lstStyle/>
          <a:p>
            <a:endParaRPr lang="en-GB"/>
          </a:p>
        </p:txBody>
      </p:sp>
      <p:sp>
        <p:nvSpPr>
          <p:cNvPr id="115" name="t"/>
          <p:cNvSpPr/>
          <p:nvPr/>
        </p:nvSpPr>
        <p:spPr>
          <a:xfrm>
            <a:off x="822960" y="2865876"/>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SemiBold Text SemiBold" pitchFamily="34" charset="0"/>
                <a:ea typeface="Inter SemiBold Text SemiBold" pitchFamily="34" charset="-122"/>
                <a:cs typeface="Inter SemiBold Text SemiBold" pitchFamily="34" charset="-120"/>
              </a:rPr>
              <a:t>Document reference</a:t>
            </a:r>
          </a:p>
        </p:txBody>
      </p:sp>
      <p:sp>
        <p:nvSpPr>
          <p:cNvPr id="116" name="r"/>
          <p:cNvSpPr/>
          <p:nvPr/>
        </p:nvSpPr>
        <p:spPr>
          <a:xfrm>
            <a:off x="3886200" y="2968746"/>
            <a:ext cx="1645920" cy="137160"/>
          </a:xfrm>
          <a:prstGeom prst="roundRect">
            <a:avLst>
              <a:gd name="adj" fmla="val 50000"/>
            </a:avLst>
          </a:prstGeom>
          <a:solidFill>
            <a:srgbClr val="EEF1F8"/>
          </a:solidFill>
          <a:ln/>
        </p:spPr>
        <p:txBody>
          <a:bodyPr/>
          <a:lstStyle/>
          <a:p>
            <a:endParaRPr lang="en-GB"/>
          </a:p>
        </p:txBody>
      </p:sp>
      <p:sp>
        <p:nvSpPr>
          <p:cNvPr id="117" name="r"/>
          <p:cNvSpPr/>
          <p:nvPr/>
        </p:nvSpPr>
        <p:spPr>
          <a:xfrm>
            <a:off x="3886200" y="2968746"/>
            <a:ext cx="228600" cy="137160"/>
          </a:xfrm>
          <a:prstGeom prst="roundRect">
            <a:avLst>
              <a:gd name="adj" fmla="val 50000"/>
            </a:avLst>
          </a:prstGeom>
          <a:solidFill>
            <a:srgbClr val="C2CADE"/>
          </a:solidFill>
          <a:ln/>
        </p:spPr>
        <p:txBody>
          <a:bodyPr/>
          <a:lstStyle/>
          <a:p>
            <a:endParaRPr lang="en-GB"/>
          </a:p>
        </p:txBody>
      </p:sp>
      <p:sp>
        <p:nvSpPr>
          <p:cNvPr id="118" name="r"/>
          <p:cNvSpPr/>
          <p:nvPr/>
        </p:nvSpPr>
        <p:spPr>
          <a:xfrm>
            <a:off x="3886200" y="2968746"/>
            <a:ext cx="502920" cy="137160"/>
          </a:xfrm>
          <a:prstGeom prst="roundRect">
            <a:avLst>
              <a:gd name="adj" fmla="val 50000"/>
            </a:avLst>
          </a:prstGeom>
          <a:solidFill>
            <a:srgbClr val="19C3C8"/>
          </a:solidFill>
          <a:ln/>
        </p:spPr>
        <p:txBody>
          <a:bodyPr/>
          <a:lstStyle/>
          <a:p>
            <a:endParaRPr lang="en-GB"/>
          </a:p>
        </p:txBody>
      </p:sp>
      <p:sp>
        <p:nvSpPr>
          <p:cNvPr id="119" name="t"/>
          <p:cNvSpPr/>
          <p:nvPr/>
        </p:nvSpPr>
        <p:spPr>
          <a:xfrm>
            <a:off x="5669280" y="2865876"/>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10</a:t>
            </a:r>
          </a:p>
        </p:txBody>
      </p:sp>
      <p:sp>
        <p:nvSpPr>
          <p:cNvPr id="120" name="t"/>
          <p:cNvSpPr/>
          <p:nvPr/>
        </p:nvSpPr>
        <p:spPr>
          <a:xfrm>
            <a:off x="6217920" y="2865876"/>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21" name="t"/>
          <p:cNvSpPr/>
          <p:nvPr/>
        </p:nvSpPr>
        <p:spPr>
          <a:xfrm>
            <a:off x="6583680" y="2865876"/>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22</a:t>
            </a:r>
          </a:p>
        </p:txBody>
      </p:sp>
      <p:sp>
        <p:nvSpPr>
          <p:cNvPr id="122" name="r"/>
          <p:cNvSpPr/>
          <p:nvPr/>
        </p:nvSpPr>
        <p:spPr>
          <a:xfrm>
            <a:off x="7315200" y="2895594"/>
            <a:ext cx="1005840" cy="283464"/>
          </a:xfrm>
          <a:prstGeom prst="roundRect">
            <a:avLst>
              <a:gd name="adj" fmla="val 30000"/>
            </a:avLst>
          </a:prstGeom>
          <a:solidFill>
            <a:srgbClr val="19C3C8"/>
          </a:solidFill>
          <a:ln/>
        </p:spPr>
        <p:txBody>
          <a:bodyPr/>
          <a:lstStyle/>
          <a:p>
            <a:endParaRPr lang="en-GB"/>
          </a:p>
        </p:txBody>
      </p:sp>
      <p:sp>
        <p:nvSpPr>
          <p:cNvPr id="123" name="t"/>
          <p:cNvSpPr/>
          <p:nvPr/>
        </p:nvSpPr>
        <p:spPr>
          <a:xfrm>
            <a:off x="7315200" y="2895594"/>
            <a:ext cx="1005840"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SemiBold Text SemiBold" pitchFamily="34" charset="0"/>
                <a:ea typeface="Inter SemiBold Text SemiBold" pitchFamily="34" charset="-122"/>
                <a:cs typeface="Inter SemiBold Text SemiBold" pitchFamily="34" charset="-120"/>
              </a:rPr>
              <a:t>+12</a:t>
            </a:r>
          </a:p>
        </p:txBody>
      </p:sp>
      <p:sp>
        <p:nvSpPr>
          <p:cNvPr id="124" name="r"/>
          <p:cNvSpPr/>
          <p:nvPr/>
        </p:nvSpPr>
        <p:spPr>
          <a:xfrm>
            <a:off x="822960" y="3245351"/>
            <a:ext cx="8503920" cy="6096"/>
          </a:xfrm>
          <a:prstGeom prst="rect">
            <a:avLst/>
          </a:prstGeom>
          <a:solidFill>
            <a:srgbClr val="ECEFF6"/>
          </a:solidFill>
          <a:ln/>
        </p:spPr>
        <p:txBody>
          <a:bodyPr/>
          <a:lstStyle/>
          <a:p>
            <a:endParaRPr lang="en-GB"/>
          </a:p>
        </p:txBody>
      </p:sp>
      <p:sp>
        <p:nvSpPr>
          <p:cNvPr id="125" name="t"/>
          <p:cNvSpPr/>
          <p:nvPr/>
        </p:nvSpPr>
        <p:spPr>
          <a:xfrm>
            <a:off x="822960" y="3245352"/>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SemiBold Text SemiBold" pitchFamily="34" charset="0"/>
                <a:ea typeface="Inter SemiBold Text SemiBold" pitchFamily="34" charset="-122"/>
                <a:cs typeface="Inter SemiBold Text SemiBold" pitchFamily="34" charset="-120"/>
              </a:rPr>
              <a:t>Text</a:t>
            </a:r>
          </a:p>
        </p:txBody>
      </p:sp>
      <p:sp>
        <p:nvSpPr>
          <p:cNvPr id="126" name="r"/>
          <p:cNvSpPr/>
          <p:nvPr/>
        </p:nvSpPr>
        <p:spPr>
          <a:xfrm>
            <a:off x="3886200" y="3348222"/>
            <a:ext cx="1645920" cy="137160"/>
          </a:xfrm>
          <a:prstGeom prst="roundRect">
            <a:avLst>
              <a:gd name="adj" fmla="val 50000"/>
            </a:avLst>
          </a:prstGeom>
          <a:solidFill>
            <a:srgbClr val="EEF1F8"/>
          </a:solidFill>
          <a:ln/>
        </p:spPr>
        <p:txBody>
          <a:bodyPr/>
          <a:lstStyle/>
          <a:p>
            <a:endParaRPr lang="en-GB"/>
          </a:p>
        </p:txBody>
      </p:sp>
      <p:sp>
        <p:nvSpPr>
          <p:cNvPr id="127" name="r"/>
          <p:cNvSpPr/>
          <p:nvPr/>
        </p:nvSpPr>
        <p:spPr>
          <a:xfrm>
            <a:off x="3886200" y="3348222"/>
            <a:ext cx="1417320" cy="137160"/>
          </a:xfrm>
          <a:prstGeom prst="roundRect">
            <a:avLst>
              <a:gd name="adj" fmla="val 50000"/>
            </a:avLst>
          </a:prstGeom>
          <a:solidFill>
            <a:srgbClr val="C2CADE"/>
          </a:solidFill>
          <a:ln/>
        </p:spPr>
        <p:txBody>
          <a:bodyPr/>
          <a:lstStyle/>
          <a:p>
            <a:endParaRPr lang="en-GB"/>
          </a:p>
        </p:txBody>
      </p:sp>
      <p:sp>
        <p:nvSpPr>
          <p:cNvPr id="128" name="r"/>
          <p:cNvSpPr/>
          <p:nvPr/>
        </p:nvSpPr>
        <p:spPr>
          <a:xfrm>
            <a:off x="3886200" y="3348222"/>
            <a:ext cx="1645920" cy="137160"/>
          </a:xfrm>
          <a:prstGeom prst="roundRect">
            <a:avLst>
              <a:gd name="adj" fmla="val 50000"/>
            </a:avLst>
          </a:prstGeom>
          <a:solidFill>
            <a:srgbClr val="19C3C8"/>
          </a:solidFill>
          <a:ln/>
        </p:spPr>
        <p:txBody>
          <a:bodyPr/>
          <a:lstStyle/>
          <a:p>
            <a:endParaRPr lang="en-GB"/>
          </a:p>
        </p:txBody>
      </p:sp>
      <p:sp>
        <p:nvSpPr>
          <p:cNvPr id="129" name="t"/>
          <p:cNvSpPr/>
          <p:nvPr/>
        </p:nvSpPr>
        <p:spPr>
          <a:xfrm>
            <a:off x="5669280" y="3245352"/>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62</a:t>
            </a:r>
          </a:p>
        </p:txBody>
      </p:sp>
      <p:sp>
        <p:nvSpPr>
          <p:cNvPr id="130" name="t"/>
          <p:cNvSpPr/>
          <p:nvPr/>
        </p:nvSpPr>
        <p:spPr>
          <a:xfrm>
            <a:off x="6217920" y="3245352"/>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31" name="t"/>
          <p:cNvSpPr/>
          <p:nvPr/>
        </p:nvSpPr>
        <p:spPr>
          <a:xfrm>
            <a:off x="6583680" y="3245352"/>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72</a:t>
            </a:r>
          </a:p>
        </p:txBody>
      </p:sp>
      <p:sp>
        <p:nvSpPr>
          <p:cNvPr id="132" name="r"/>
          <p:cNvSpPr/>
          <p:nvPr/>
        </p:nvSpPr>
        <p:spPr>
          <a:xfrm>
            <a:off x="7315200" y="3275070"/>
            <a:ext cx="1005840" cy="283464"/>
          </a:xfrm>
          <a:prstGeom prst="roundRect">
            <a:avLst>
              <a:gd name="adj" fmla="val 30000"/>
            </a:avLst>
          </a:prstGeom>
          <a:solidFill>
            <a:srgbClr val="19C3C8"/>
          </a:solidFill>
          <a:ln/>
        </p:spPr>
        <p:txBody>
          <a:bodyPr/>
          <a:lstStyle/>
          <a:p>
            <a:endParaRPr lang="en-GB"/>
          </a:p>
        </p:txBody>
      </p:sp>
      <p:sp>
        <p:nvSpPr>
          <p:cNvPr id="133" name="t"/>
          <p:cNvSpPr/>
          <p:nvPr/>
        </p:nvSpPr>
        <p:spPr>
          <a:xfrm>
            <a:off x="7315200" y="3275070"/>
            <a:ext cx="1005840"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SemiBold Text SemiBold" pitchFamily="34" charset="0"/>
                <a:ea typeface="Inter SemiBold Text SemiBold" pitchFamily="34" charset="-122"/>
                <a:cs typeface="Inter SemiBold Text SemiBold" pitchFamily="34" charset="-120"/>
              </a:rPr>
              <a:t>+10</a:t>
            </a:r>
          </a:p>
        </p:txBody>
      </p:sp>
      <p:sp>
        <p:nvSpPr>
          <p:cNvPr id="134" name="r"/>
          <p:cNvSpPr/>
          <p:nvPr/>
        </p:nvSpPr>
        <p:spPr>
          <a:xfrm>
            <a:off x="822960" y="3624827"/>
            <a:ext cx="8503920" cy="6096"/>
          </a:xfrm>
          <a:prstGeom prst="rect">
            <a:avLst/>
          </a:prstGeom>
          <a:solidFill>
            <a:srgbClr val="ECEFF6"/>
          </a:solidFill>
          <a:ln/>
        </p:spPr>
        <p:txBody>
          <a:bodyPr/>
          <a:lstStyle/>
          <a:p>
            <a:endParaRPr lang="en-GB"/>
          </a:p>
        </p:txBody>
      </p:sp>
      <p:sp>
        <p:nvSpPr>
          <p:cNvPr id="135" name="t"/>
          <p:cNvSpPr/>
          <p:nvPr/>
        </p:nvSpPr>
        <p:spPr>
          <a:xfrm>
            <a:off x="822960" y="3624828"/>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Text" pitchFamily="34" charset="0"/>
                <a:ea typeface="Inter Text" pitchFamily="34" charset="-122"/>
                <a:cs typeface="Inter Text" pitchFamily="34" charset="-120"/>
              </a:rPr>
              <a:t>Amount</a:t>
            </a:r>
          </a:p>
        </p:txBody>
      </p:sp>
      <p:sp>
        <p:nvSpPr>
          <p:cNvPr id="136" name="r"/>
          <p:cNvSpPr/>
          <p:nvPr/>
        </p:nvSpPr>
        <p:spPr>
          <a:xfrm>
            <a:off x="3886200" y="3727698"/>
            <a:ext cx="1645920" cy="137160"/>
          </a:xfrm>
          <a:prstGeom prst="roundRect">
            <a:avLst>
              <a:gd name="adj" fmla="val 50000"/>
            </a:avLst>
          </a:prstGeom>
          <a:solidFill>
            <a:srgbClr val="EEF1F8"/>
          </a:solidFill>
          <a:ln/>
        </p:spPr>
        <p:txBody>
          <a:bodyPr/>
          <a:lstStyle/>
          <a:p>
            <a:endParaRPr lang="en-GB"/>
          </a:p>
        </p:txBody>
      </p:sp>
      <p:sp>
        <p:nvSpPr>
          <p:cNvPr id="137" name="r"/>
          <p:cNvSpPr/>
          <p:nvPr/>
        </p:nvSpPr>
        <p:spPr>
          <a:xfrm>
            <a:off x="3886200" y="3727698"/>
            <a:ext cx="480060" cy="137160"/>
          </a:xfrm>
          <a:prstGeom prst="roundRect">
            <a:avLst>
              <a:gd name="adj" fmla="val 50000"/>
            </a:avLst>
          </a:prstGeom>
          <a:solidFill>
            <a:srgbClr val="C2CADE"/>
          </a:solidFill>
          <a:ln/>
        </p:spPr>
        <p:txBody>
          <a:bodyPr/>
          <a:lstStyle/>
          <a:p>
            <a:endParaRPr lang="en-GB"/>
          </a:p>
        </p:txBody>
      </p:sp>
      <p:sp>
        <p:nvSpPr>
          <p:cNvPr id="138" name="r"/>
          <p:cNvSpPr/>
          <p:nvPr/>
        </p:nvSpPr>
        <p:spPr>
          <a:xfrm>
            <a:off x="3886200" y="3727698"/>
            <a:ext cx="571500" cy="137160"/>
          </a:xfrm>
          <a:prstGeom prst="roundRect">
            <a:avLst>
              <a:gd name="adj" fmla="val 50000"/>
            </a:avLst>
          </a:prstGeom>
          <a:solidFill>
            <a:srgbClr val="6F9BC9"/>
          </a:solidFill>
          <a:ln/>
        </p:spPr>
        <p:txBody>
          <a:bodyPr/>
          <a:lstStyle/>
          <a:p>
            <a:endParaRPr lang="en-GB"/>
          </a:p>
        </p:txBody>
      </p:sp>
      <p:sp>
        <p:nvSpPr>
          <p:cNvPr id="139" name="t"/>
          <p:cNvSpPr/>
          <p:nvPr/>
        </p:nvSpPr>
        <p:spPr>
          <a:xfrm>
            <a:off x="5669280" y="3624828"/>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21</a:t>
            </a:r>
          </a:p>
        </p:txBody>
      </p:sp>
      <p:sp>
        <p:nvSpPr>
          <p:cNvPr id="140" name="t"/>
          <p:cNvSpPr/>
          <p:nvPr/>
        </p:nvSpPr>
        <p:spPr>
          <a:xfrm>
            <a:off x="6217920" y="3624828"/>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41" name="t"/>
          <p:cNvSpPr/>
          <p:nvPr/>
        </p:nvSpPr>
        <p:spPr>
          <a:xfrm>
            <a:off x="6583680" y="3624828"/>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25</a:t>
            </a:r>
          </a:p>
        </p:txBody>
      </p:sp>
      <p:sp>
        <p:nvSpPr>
          <p:cNvPr id="142" name="r"/>
          <p:cNvSpPr/>
          <p:nvPr/>
        </p:nvSpPr>
        <p:spPr>
          <a:xfrm>
            <a:off x="7315200" y="3654546"/>
            <a:ext cx="1005840" cy="283464"/>
          </a:xfrm>
          <a:prstGeom prst="roundRect">
            <a:avLst>
              <a:gd name="adj" fmla="val 30000"/>
            </a:avLst>
          </a:prstGeom>
          <a:solidFill>
            <a:srgbClr val="E7F8F8"/>
          </a:solidFill>
          <a:ln w="12700">
            <a:solidFill>
              <a:srgbClr val="B5E9EA"/>
            </a:solidFill>
            <a:prstDash val="solid"/>
          </a:ln>
        </p:spPr>
        <p:txBody>
          <a:bodyPr/>
          <a:lstStyle/>
          <a:p>
            <a:endParaRPr lang="en-GB"/>
          </a:p>
        </p:txBody>
      </p:sp>
      <p:sp>
        <p:nvSpPr>
          <p:cNvPr id="143" name="t"/>
          <p:cNvSpPr/>
          <p:nvPr/>
        </p:nvSpPr>
        <p:spPr>
          <a:xfrm>
            <a:off x="7315200" y="3654546"/>
            <a:ext cx="1005840" cy="283464"/>
          </a:xfrm>
          <a:prstGeom prst="rect">
            <a:avLst/>
          </a:prstGeom>
          <a:noFill/>
          <a:ln/>
        </p:spPr>
        <p:txBody>
          <a:bodyPr wrap="square" lIns="0" tIns="0" rIns="0" bIns="0" rtlCol="0" anchor="ctr"/>
          <a:lstStyle/>
          <a:p>
            <a:pPr marL="0" indent="0" algn="ctr">
              <a:buNone/>
            </a:pPr>
            <a:r>
              <a:rPr lang="en-US" sz="1100" b="1" dirty="0">
                <a:solidFill>
                  <a:srgbClr val="0E7E82"/>
                </a:solidFill>
                <a:latin typeface="Inter SemiBold Text SemiBold" pitchFamily="34" charset="0"/>
                <a:ea typeface="Inter SemiBold Text SemiBold" pitchFamily="34" charset="-122"/>
                <a:cs typeface="Inter SemiBold Text SemiBold" pitchFamily="34" charset="-120"/>
              </a:rPr>
              <a:t>+4</a:t>
            </a:r>
          </a:p>
        </p:txBody>
      </p:sp>
      <p:sp>
        <p:nvSpPr>
          <p:cNvPr id="144" name="r"/>
          <p:cNvSpPr/>
          <p:nvPr/>
        </p:nvSpPr>
        <p:spPr>
          <a:xfrm>
            <a:off x="822960" y="4004303"/>
            <a:ext cx="8503920" cy="6096"/>
          </a:xfrm>
          <a:prstGeom prst="rect">
            <a:avLst/>
          </a:prstGeom>
          <a:solidFill>
            <a:srgbClr val="ECEFF6"/>
          </a:solidFill>
          <a:ln/>
        </p:spPr>
        <p:txBody>
          <a:bodyPr/>
          <a:lstStyle/>
          <a:p>
            <a:endParaRPr lang="en-GB"/>
          </a:p>
        </p:txBody>
      </p:sp>
      <p:sp>
        <p:nvSpPr>
          <p:cNvPr id="145" name="t"/>
          <p:cNvSpPr/>
          <p:nvPr/>
        </p:nvSpPr>
        <p:spPr>
          <a:xfrm>
            <a:off x="822960" y="4004304"/>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Text" pitchFamily="34" charset="0"/>
                <a:ea typeface="Inter Text" pitchFamily="34" charset="-122"/>
                <a:cs typeface="Inter Text" pitchFamily="34" charset="-120"/>
              </a:rPr>
              <a:t>Date</a:t>
            </a:r>
          </a:p>
        </p:txBody>
      </p:sp>
      <p:sp>
        <p:nvSpPr>
          <p:cNvPr id="146" name="r"/>
          <p:cNvSpPr/>
          <p:nvPr/>
        </p:nvSpPr>
        <p:spPr>
          <a:xfrm>
            <a:off x="3886200" y="4107174"/>
            <a:ext cx="1645920" cy="137160"/>
          </a:xfrm>
          <a:prstGeom prst="roundRect">
            <a:avLst>
              <a:gd name="adj" fmla="val 50000"/>
            </a:avLst>
          </a:prstGeom>
          <a:solidFill>
            <a:srgbClr val="EEF1F8"/>
          </a:solidFill>
          <a:ln/>
        </p:spPr>
        <p:txBody>
          <a:bodyPr/>
          <a:lstStyle/>
          <a:p>
            <a:endParaRPr lang="en-GB"/>
          </a:p>
        </p:txBody>
      </p:sp>
      <p:sp>
        <p:nvSpPr>
          <p:cNvPr id="147" name="r"/>
          <p:cNvSpPr/>
          <p:nvPr/>
        </p:nvSpPr>
        <p:spPr>
          <a:xfrm>
            <a:off x="3886200" y="4107174"/>
            <a:ext cx="205740" cy="137160"/>
          </a:xfrm>
          <a:prstGeom prst="roundRect">
            <a:avLst>
              <a:gd name="adj" fmla="val 50000"/>
            </a:avLst>
          </a:prstGeom>
          <a:solidFill>
            <a:srgbClr val="C2CADE"/>
          </a:solidFill>
          <a:ln/>
        </p:spPr>
        <p:txBody>
          <a:bodyPr/>
          <a:lstStyle/>
          <a:p>
            <a:endParaRPr lang="en-GB"/>
          </a:p>
        </p:txBody>
      </p:sp>
      <p:sp>
        <p:nvSpPr>
          <p:cNvPr id="148" name="r"/>
          <p:cNvSpPr/>
          <p:nvPr/>
        </p:nvSpPr>
        <p:spPr>
          <a:xfrm>
            <a:off x="3886200" y="4107174"/>
            <a:ext cx="297180" cy="137160"/>
          </a:xfrm>
          <a:prstGeom prst="roundRect">
            <a:avLst>
              <a:gd name="adj" fmla="val 50000"/>
            </a:avLst>
          </a:prstGeom>
          <a:solidFill>
            <a:srgbClr val="6F9BC9"/>
          </a:solidFill>
          <a:ln/>
        </p:spPr>
        <p:txBody>
          <a:bodyPr/>
          <a:lstStyle/>
          <a:p>
            <a:endParaRPr lang="en-GB"/>
          </a:p>
        </p:txBody>
      </p:sp>
      <p:sp>
        <p:nvSpPr>
          <p:cNvPr id="149" name="t"/>
          <p:cNvSpPr/>
          <p:nvPr/>
        </p:nvSpPr>
        <p:spPr>
          <a:xfrm>
            <a:off x="5669280" y="4004304"/>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9</a:t>
            </a:r>
          </a:p>
        </p:txBody>
      </p:sp>
      <p:sp>
        <p:nvSpPr>
          <p:cNvPr id="150" name="t"/>
          <p:cNvSpPr/>
          <p:nvPr/>
        </p:nvSpPr>
        <p:spPr>
          <a:xfrm>
            <a:off x="6217920" y="4004304"/>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51" name="t"/>
          <p:cNvSpPr/>
          <p:nvPr/>
        </p:nvSpPr>
        <p:spPr>
          <a:xfrm>
            <a:off x="6583680" y="4004304"/>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13</a:t>
            </a:r>
          </a:p>
        </p:txBody>
      </p:sp>
      <p:sp>
        <p:nvSpPr>
          <p:cNvPr id="152" name="r"/>
          <p:cNvSpPr/>
          <p:nvPr/>
        </p:nvSpPr>
        <p:spPr>
          <a:xfrm>
            <a:off x="7315200" y="4034022"/>
            <a:ext cx="1005840" cy="283464"/>
          </a:xfrm>
          <a:prstGeom prst="roundRect">
            <a:avLst>
              <a:gd name="adj" fmla="val 30000"/>
            </a:avLst>
          </a:prstGeom>
          <a:solidFill>
            <a:srgbClr val="E7F8F8"/>
          </a:solidFill>
          <a:ln w="12700">
            <a:solidFill>
              <a:srgbClr val="B5E9EA"/>
            </a:solidFill>
            <a:prstDash val="solid"/>
          </a:ln>
        </p:spPr>
        <p:txBody>
          <a:bodyPr/>
          <a:lstStyle/>
          <a:p>
            <a:endParaRPr lang="en-GB"/>
          </a:p>
        </p:txBody>
      </p:sp>
      <p:sp>
        <p:nvSpPr>
          <p:cNvPr id="153" name="t"/>
          <p:cNvSpPr/>
          <p:nvPr/>
        </p:nvSpPr>
        <p:spPr>
          <a:xfrm>
            <a:off x="7315200" y="4034022"/>
            <a:ext cx="1005840" cy="283464"/>
          </a:xfrm>
          <a:prstGeom prst="rect">
            <a:avLst/>
          </a:prstGeom>
          <a:noFill/>
          <a:ln/>
        </p:spPr>
        <p:txBody>
          <a:bodyPr wrap="square" lIns="0" tIns="0" rIns="0" bIns="0" rtlCol="0" anchor="ctr"/>
          <a:lstStyle/>
          <a:p>
            <a:pPr marL="0" indent="0" algn="ctr">
              <a:buNone/>
            </a:pPr>
            <a:r>
              <a:rPr lang="en-US" sz="1100" b="1" dirty="0">
                <a:solidFill>
                  <a:srgbClr val="0E7E82"/>
                </a:solidFill>
                <a:latin typeface="Inter SemiBold Text SemiBold" pitchFamily="34" charset="0"/>
                <a:ea typeface="Inter SemiBold Text SemiBold" pitchFamily="34" charset="-122"/>
                <a:cs typeface="Inter SemiBold Text SemiBold" pitchFamily="34" charset="-120"/>
              </a:rPr>
              <a:t>+4</a:t>
            </a:r>
          </a:p>
        </p:txBody>
      </p:sp>
      <p:sp>
        <p:nvSpPr>
          <p:cNvPr id="154" name="r"/>
          <p:cNvSpPr/>
          <p:nvPr/>
        </p:nvSpPr>
        <p:spPr>
          <a:xfrm>
            <a:off x="822960" y="4383779"/>
            <a:ext cx="8503920" cy="6096"/>
          </a:xfrm>
          <a:prstGeom prst="rect">
            <a:avLst/>
          </a:prstGeom>
          <a:solidFill>
            <a:srgbClr val="ECEFF6"/>
          </a:solidFill>
          <a:ln/>
        </p:spPr>
        <p:txBody>
          <a:bodyPr/>
          <a:lstStyle/>
          <a:p>
            <a:endParaRPr lang="en-GB"/>
          </a:p>
        </p:txBody>
      </p:sp>
      <p:sp>
        <p:nvSpPr>
          <p:cNvPr id="155" name="t"/>
          <p:cNvSpPr/>
          <p:nvPr/>
        </p:nvSpPr>
        <p:spPr>
          <a:xfrm>
            <a:off x="822960" y="4383780"/>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Text" pitchFamily="34" charset="0"/>
                <a:ea typeface="Inter Text" pitchFamily="34" charset="-122"/>
                <a:cs typeface="Inter Text" pitchFamily="34" charset="-120"/>
              </a:rPr>
              <a:t>Identifier</a:t>
            </a:r>
          </a:p>
        </p:txBody>
      </p:sp>
      <p:sp>
        <p:nvSpPr>
          <p:cNvPr id="156" name="r"/>
          <p:cNvSpPr/>
          <p:nvPr/>
        </p:nvSpPr>
        <p:spPr>
          <a:xfrm>
            <a:off x="3886200" y="4486650"/>
            <a:ext cx="1645920" cy="137160"/>
          </a:xfrm>
          <a:prstGeom prst="roundRect">
            <a:avLst>
              <a:gd name="adj" fmla="val 50000"/>
            </a:avLst>
          </a:prstGeom>
          <a:solidFill>
            <a:srgbClr val="EEF1F8"/>
          </a:solidFill>
          <a:ln/>
        </p:spPr>
        <p:txBody>
          <a:bodyPr/>
          <a:lstStyle/>
          <a:p>
            <a:endParaRPr lang="en-GB"/>
          </a:p>
        </p:txBody>
      </p:sp>
      <p:sp>
        <p:nvSpPr>
          <p:cNvPr id="157" name="r"/>
          <p:cNvSpPr/>
          <p:nvPr/>
        </p:nvSpPr>
        <p:spPr>
          <a:xfrm>
            <a:off x="3886200" y="4486650"/>
            <a:ext cx="617220" cy="137160"/>
          </a:xfrm>
          <a:prstGeom prst="roundRect">
            <a:avLst>
              <a:gd name="adj" fmla="val 50000"/>
            </a:avLst>
          </a:prstGeom>
          <a:solidFill>
            <a:srgbClr val="C2CADE"/>
          </a:solidFill>
          <a:ln/>
        </p:spPr>
        <p:txBody>
          <a:bodyPr/>
          <a:lstStyle/>
          <a:p>
            <a:endParaRPr lang="en-GB"/>
          </a:p>
        </p:txBody>
      </p:sp>
      <p:sp>
        <p:nvSpPr>
          <p:cNvPr id="158" name="r"/>
          <p:cNvSpPr/>
          <p:nvPr/>
        </p:nvSpPr>
        <p:spPr>
          <a:xfrm>
            <a:off x="3886200" y="4486650"/>
            <a:ext cx="685800" cy="137160"/>
          </a:xfrm>
          <a:prstGeom prst="roundRect">
            <a:avLst>
              <a:gd name="adj" fmla="val 50000"/>
            </a:avLst>
          </a:prstGeom>
          <a:solidFill>
            <a:srgbClr val="6F9BC9"/>
          </a:solidFill>
          <a:ln/>
        </p:spPr>
        <p:txBody>
          <a:bodyPr/>
          <a:lstStyle/>
          <a:p>
            <a:endParaRPr lang="en-GB"/>
          </a:p>
        </p:txBody>
      </p:sp>
      <p:sp>
        <p:nvSpPr>
          <p:cNvPr id="159" name="t"/>
          <p:cNvSpPr/>
          <p:nvPr/>
        </p:nvSpPr>
        <p:spPr>
          <a:xfrm>
            <a:off x="5669280" y="4383780"/>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27</a:t>
            </a:r>
          </a:p>
        </p:txBody>
      </p:sp>
      <p:sp>
        <p:nvSpPr>
          <p:cNvPr id="160" name="t"/>
          <p:cNvSpPr/>
          <p:nvPr/>
        </p:nvSpPr>
        <p:spPr>
          <a:xfrm>
            <a:off x="6217920" y="4383780"/>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61" name="t"/>
          <p:cNvSpPr/>
          <p:nvPr/>
        </p:nvSpPr>
        <p:spPr>
          <a:xfrm>
            <a:off x="6583680" y="4383780"/>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30</a:t>
            </a:r>
          </a:p>
        </p:txBody>
      </p:sp>
      <p:sp>
        <p:nvSpPr>
          <p:cNvPr id="162" name="r"/>
          <p:cNvSpPr/>
          <p:nvPr/>
        </p:nvSpPr>
        <p:spPr>
          <a:xfrm>
            <a:off x="7315200" y="4413498"/>
            <a:ext cx="1005840" cy="283464"/>
          </a:xfrm>
          <a:prstGeom prst="roundRect">
            <a:avLst>
              <a:gd name="adj" fmla="val 30000"/>
            </a:avLst>
          </a:prstGeom>
          <a:solidFill>
            <a:srgbClr val="E7F8F8"/>
          </a:solidFill>
          <a:ln w="12700">
            <a:solidFill>
              <a:srgbClr val="B5E9EA"/>
            </a:solidFill>
            <a:prstDash val="solid"/>
          </a:ln>
        </p:spPr>
        <p:txBody>
          <a:bodyPr/>
          <a:lstStyle/>
          <a:p>
            <a:endParaRPr lang="en-GB"/>
          </a:p>
        </p:txBody>
      </p:sp>
      <p:sp>
        <p:nvSpPr>
          <p:cNvPr id="163" name="t"/>
          <p:cNvSpPr/>
          <p:nvPr/>
        </p:nvSpPr>
        <p:spPr>
          <a:xfrm>
            <a:off x="7315200" y="4413498"/>
            <a:ext cx="1005840" cy="283464"/>
          </a:xfrm>
          <a:prstGeom prst="rect">
            <a:avLst/>
          </a:prstGeom>
          <a:noFill/>
          <a:ln/>
        </p:spPr>
        <p:txBody>
          <a:bodyPr wrap="square" lIns="0" tIns="0" rIns="0" bIns="0" rtlCol="0" anchor="ctr"/>
          <a:lstStyle/>
          <a:p>
            <a:pPr marL="0" indent="0" algn="ctr">
              <a:buNone/>
            </a:pPr>
            <a:r>
              <a:rPr lang="en-US" sz="1100" b="1" dirty="0">
                <a:solidFill>
                  <a:srgbClr val="0E7E82"/>
                </a:solidFill>
                <a:latin typeface="Inter SemiBold Text SemiBold" pitchFamily="34" charset="0"/>
                <a:ea typeface="Inter SemiBold Text SemiBold" pitchFamily="34" charset="-122"/>
                <a:cs typeface="Inter SemiBold Text SemiBold" pitchFamily="34" charset="-120"/>
              </a:rPr>
              <a:t>+3</a:t>
            </a:r>
          </a:p>
        </p:txBody>
      </p:sp>
      <p:sp>
        <p:nvSpPr>
          <p:cNvPr id="164" name="r"/>
          <p:cNvSpPr/>
          <p:nvPr/>
        </p:nvSpPr>
        <p:spPr>
          <a:xfrm>
            <a:off x="822960" y="4763255"/>
            <a:ext cx="8503920" cy="6096"/>
          </a:xfrm>
          <a:prstGeom prst="rect">
            <a:avLst/>
          </a:prstGeom>
          <a:solidFill>
            <a:srgbClr val="ECEFF6"/>
          </a:solidFill>
          <a:ln/>
        </p:spPr>
        <p:txBody>
          <a:bodyPr/>
          <a:lstStyle/>
          <a:p>
            <a:endParaRPr lang="en-GB"/>
          </a:p>
        </p:txBody>
      </p:sp>
      <p:sp>
        <p:nvSpPr>
          <p:cNvPr id="165" name="t"/>
          <p:cNvSpPr/>
          <p:nvPr/>
        </p:nvSpPr>
        <p:spPr>
          <a:xfrm>
            <a:off x="822960" y="4763256"/>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Text" pitchFamily="34" charset="0"/>
                <a:ea typeface="Inter Text" pitchFamily="34" charset="-122"/>
                <a:cs typeface="Inter Text" pitchFamily="34" charset="-120"/>
              </a:rPr>
              <a:t>Percentage / Percent</a:t>
            </a:r>
          </a:p>
        </p:txBody>
      </p:sp>
      <p:sp>
        <p:nvSpPr>
          <p:cNvPr id="166" name="r"/>
          <p:cNvSpPr/>
          <p:nvPr/>
        </p:nvSpPr>
        <p:spPr>
          <a:xfrm>
            <a:off x="3886200" y="4866126"/>
            <a:ext cx="1645920" cy="137160"/>
          </a:xfrm>
          <a:prstGeom prst="roundRect">
            <a:avLst>
              <a:gd name="adj" fmla="val 50000"/>
            </a:avLst>
          </a:prstGeom>
          <a:solidFill>
            <a:srgbClr val="EEF1F8"/>
          </a:solidFill>
          <a:ln/>
        </p:spPr>
        <p:txBody>
          <a:bodyPr/>
          <a:lstStyle/>
          <a:p>
            <a:endParaRPr lang="en-GB"/>
          </a:p>
        </p:txBody>
      </p:sp>
      <p:sp>
        <p:nvSpPr>
          <p:cNvPr id="167" name="r"/>
          <p:cNvSpPr/>
          <p:nvPr/>
        </p:nvSpPr>
        <p:spPr>
          <a:xfrm>
            <a:off x="3886200" y="4866126"/>
            <a:ext cx="182880" cy="137160"/>
          </a:xfrm>
          <a:prstGeom prst="roundRect">
            <a:avLst>
              <a:gd name="adj" fmla="val 50000"/>
            </a:avLst>
          </a:prstGeom>
          <a:solidFill>
            <a:srgbClr val="C2CADE"/>
          </a:solidFill>
          <a:ln/>
        </p:spPr>
        <p:txBody>
          <a:bodyPr/>
          <a:lstStyle/>
          <a:p>
            <a:endParaRPr lang="en-GB"/>
          </a:p>
        </p:txBody>
      </p:sp>
      <p:sp>
        <p:nvSpPr>
          <p:cNvPr id="168" name="r"/>
          <p:cNvSpPr/>
          <p:nvPr/>
        </p:nvSpPr>
        <p:spPr>
          <a:xfrm>
            <a:off x="3886200" y="4866126"/>
            <a:ext cx="228600" cy="137160"/>
          </a:xfrm>
          <a:prstGeom prst="roundRect">
            <a:avLst>
              <a:gd name="adj" fmla="val 50000"/>
            </a:avLst>
          </a:prstGeom>
          <a:solidFill>
            <a:srgbClr val="6F9BC9"/>
          </a:solidFill>
          <a:ln/>
        </p:spPr>
        <p:txBody>
          <a:bodyPr/>
          <a:lstStyle/>
          <a:p>
            <a:endParaRPr lang="en-GB"/>
          </a:p>
        </p:txBody>
      </p:sp>
      <p:sp>
        <p:nvSpPr>
          <p:cNvPr id="169" name="t"/>
          <p:cNvSpPr/>
          <p:nvPr/>
        </p:nvSpPr>
        <p:spPr>
          <a:xfrm>
            <a:off x="5669280" y="4763256"/>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8</a:t>
            </a:r>
          </a:p>
        </p:txBody>
      </p:sp>
      <p:sp>
        <p:nvSpPr>
          <p:cNvPr id="170" name="t"/>
          <p:cNvSpPr/>
          <p:nvPr/>
        </p:nvSpPr>
        <p:spPr>
          <a:xfrm>
            <a:off x="6217920" y="4763256"/>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71" name="t"/>
          <p:cNvSpPr/>
          <p:nvPr/>
        </p:nvSpPr>
        <p:spPr>
          <a:xfrm>
            <a:off x="6583680" y="4763256"/>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10</a:t>
            </a:r>
          </a:p>
        </p:txBody>
      </p:sp>
      <p:sp>
        <p:nvSpPr>
          <p:cNvPr id="172" name="r"/>
          <p:cNvSpPr/>
          <p:nvPr/>
        </p:nvSpPr>
        <p:spPr>
          <a:xfrm>
            <a:off x="7315200" y="4792974"/>
            <a:ext cx="1005840" cy="283464"/>
          </a:xfrm>
          <a:prstGeom prst="roundRect">
            <a:avLst>
              <a:gd name="adj" fmla="val 30000"/>
            </a:avLst>
          </a:prstGeom>
          <a:solidFill>
            <a:srgbClr val="E7F8F8"/>
          </a:solidFill>
          <a:ln w="12700">
            <a:solidFill>
              <a:srgbClr val="B5E9EA"/>
            </a:solidFill>
            <a:prstDash val="solid"/>
          </a:ln>
        </p:spPr>
        <p:txBody>
          <a:bodyPr/>
          <a:lstStyle/>
          <a:p>
            <a:endParaRPr lang="en-GB"/>
          </a:p>
        </p:txBody>
      </p:sp>
      <p:sp>
        <p:nvSpPr>
          <p:cNvPr id="173" name="t"/>
          <p:cNvSpPr/>
          <p:nvPr/>
        </p:nvSpPr>
        <p:spPr>
          <a:xfrm>
            <a:off x="7315200" y="4792974"/>
            <a:ext cx="1005840" cy="283464"/>
          </a:xfrm>
          <a:prstGeom prst="rect">
            <a:avLst/>
          </a:prstGeom>
          <a:noFill/>
          <a:ln/>
        </p:spPr>
        <p:txBody>
          <a:bodyPr wrap="square" lIns="0" tIns="0" rIns="0" bIns="0" rtlCol="0" anchor="ctr"/>
          <a:lstStyle/>
          <a:p>
            <a:pPr marL="0" indent="0" algn="ctr">
              <a:buNone/>
            </a:pPr>
            <a:r>
              <a:rPr lang="en-US" sz="1100" b="1" dirty="0">
                <a:solidFill>
                  <a:srgbClr val="0E7E82"/>
                </a:solidFill>
                <a:latin typeface="Inter SemiBold Text SemiBold" pitchFamily="34" charset="0"/>
                <a:ea typeface="Inter SemiBold Text SemiBold" pitchFamily="34" charset="-122"/>
                <a:cs typeface="Inter SemiBold Text SemiBold" pitchFamily="34" charset="-120"/>
              </a:rPr>
              <a:t>+2</a:t>
            </a:r>
          </a:p>
        </p:txBody>
      </p:sp>
      <p:sp>
        <p:nvSpPr>
          <p:cNvPr id="174" name="r"/>
          <p:cNvSpPr/>
          <p:nvPr/>
        </p:nvSpPr>
        <p:spPr>
          <a:xfrm>
            <a:off x="822960" y="5142731"/>
            <a:ext cx="8503920" cy="6096"/>
          </a:xfrm>
          <a:prstGeom prst="rect">
            <a:avLst/>
          </a:prstGeom>
          <a:solidFill>
            <a:srgbClr val="ECEFF6"/>
          </a:solidFill>
          <a:ln/>
        </p:spPr>
        <p:txBody>
          <a:bodyPr/>
          <a:lstStyle/>
          <a:p>
            <a:endParaRPr lang="en-GB"/>
          </a:p>
        </p:txBody>
      </p:sp>
      <p:sp>
        <p:nvSpPr>
          <p:cNvPr id="175" name="t"/>
          <p:cNvSpPr/>
          <p:nvPr/>
        </p:nvSpPr>
        <p:spPr>
          <a:xfrm>
            <a:off x="822960" y="5142732"/>
            <a:ext cx="2926080" cy="339476"/>
          </a:xfrm>
          <a:prstGeom prst="rect">
            <a:avLst/>
          </a:prstGeom>
          <a:noFill/>
          <a:ln/>
        </p:spPr>
        <p:txBody>
          <a:bodyPr wrap="square" lIns="0" tIns="0" rIns="0" bIns="0" rtlCol="0" anchor="ctr"/>
          <a:lstStyle/>
          <a:p>
            <a:pPr marL="0" indent="0" algn="l">
              <a:buNone/>
            </a:pPr>
            <a:r>
              <a:rPr lang="en-US" sz="1200" dirty="0">
                <a:solidFill>
                  <a:srgbClr val="1A2B5E"/>
                </a:solidFill>
                <a:latin typeface="Inter Text" pitchFamily="34" charset="0"/>
                <a:ea typeface="Inter Text" pitchFamily="34" charset="-122"/>
                <a:cs typeface="Inter Text" pitchFamily="34" charset="-120"/>
              </a:rPr>
              <a:t>Time</a:t>
            </a:r>
          </a:p>
        </p:txBody>
      </p:sp>
      <p:sp>
        <p:nvSpPr>
          <p:cNvPr id="176" name="r"/>
          <p:cNvSpPr/>
          <p:nvPr/>
        </p:nvSpPr>
        <p:spPr>
          <a:xfrm>
            <a:off x="3886200" y="5245602"/>
            <a:ext cx="1645920" cy="137160"/>
          </a:xfrm>
          <a:prstGeom prst="roundRect">
            <a:avLst>
              <a:gd name="adj" fmla="val 50000"/>
            </a:avLst>
          </a:prstGeom>
          <a:solidFill>
            <a:srgbClr val="EEF1F8"/>
          </a:solidFill>
          <a:ln/>
        </p:spPr>
        <p:txBody>
          <a:bodyPr/>
          <a:lstStyle/>
          <a:p>
            <a:endParaRPr lang="en-GB"/>
          </a:p>
        </p:txBody>
      </p:sp>
      <p:sp>
        <p:nvSpPr>
          <p:cNvPr id="177" name="r"/>
          <p:cNvSpPr/>
          <p:nvPr/>
        </p:nvSpPr>
        <p:spPr>
          <a:xfrm>
            <a:off x="3886200" y="5245602"/>
            <a:ext cx="22860" cy="137160"/>
          </a:xfrm>
          <a:prstGeom prst="roundRect">
            <a:avLst>
              <a:gd name="adj" fmla="val 50000"/>
            </a:avLst>
          </a:prstGeom>
          <a:solidFill>
            <a:srgbClr val="6F9BC9"/>
          </a:solidFill>
          <a:ln/>
        </p:spPr>
        <p:txBody>
          <a:bodyPr/>
          <a:lstStyle/>
          <a:p>
            <a:endParaRPr lang="en-GB"/>
          </a:p>
        </p:txBody>
      </p:sp>
      <p:sp>
        <p:nvSpPr>
          <p:cNvPr id="178" name="t"/>
          <p:cNvSpPr/>
          <p:nvPr/>
        </p:nvSpPr>
        <p:spPr>
          <a:xfrm>
            <a:off x="5669280" y="5142732"/>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0</a:t>
            </a:r>
          </a:p>
        </p:txBody>
      </p:sp>
      <p:sp>
        <p:nvSpPr>
          <p:cNvPr id="179" name="t"/>
          <p:cNvSpPr/>
          <p:nvPr/>
        </p:nvSpPr>
        <p:spPr>
          <a:xfrm>
            <a:off x="6217920" y="5142732"/>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80" name="t"/>
          <p:cNvSpPr/>
          <p:nvPr/>
        </p:nvSpPr>
        <p:spPr>
          <a:xfrm>
            <a:off x="6583680" y="5142732"/>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1</a:t>
            </a:r>
          </a:p>
        </p:txBody>
      </p:sp>
      <p:sp>
        <p:nvSpPr>
          <p:cNvPr id="181" name="r"/>
          <p:cNvSpPr/>
          <p:nvPr/>
        </p:nvSpPr>
        <p:spPr>
          <a:xfrm>
            <a:off x="7315200" y="5172450"/>
            <a:ext cx="1005840" cy="283464"/>
          </a:xfrm>
          <a:prstGeom prst="roundRect">
            <a:avLst>
              <a:gd name="adj" fmla="val 30000"/>
            </a:avLst>
          </a:prstGeom>
          <a:solidFill>
            <a:srgbClr val="E7F8F8"/>
          </a:solidFill>
          <a:ln w="12700">
            <a:solidFill>
              <a:srgbClr val="B5E9EA"/>
            </a:solidFill>
            <a:prstDash val="solid"/>
          </a:ln>
        </p:spPr>
        <p:txBody>
          <a:bodyPr/>
          <a:lstStyle/>
          <a:p>
            <a:endParaRPr lang="en-GB"/>
          </a:p>
        </p:txBody>
      </p:sp>
      <p:sp>
        <p:nvSpPr>
          <p:cNvPr id="182" name="t"/>
          <p:cNvSpPr/>
          <p:nvPr/>
        </p:nvSpPr>
        <p:spPr>
          <a:xfrm>
            <a:off x="7315200" y="5172450"/>
            <a:ext cx="1005840" cy="283464"/>
          </a:xfrm>
          <a:prstGeom prst="rect">
            <a:avLst/>
          </a:prstGeom>
          <a:noFill/>
          <a:ln/>
        </p:spPr>
        <p:txBody>
          <a:bodyPr wrap="square" lIns="0" tIns="0" rIns="0" bIns="0" rtlCol="0" anchor="ctr"/>
          <a:lstStyle/>
          <a:p>
            <a:pPr marL="0" indent="0" algn="ctr">
              <a:buNone/>
            </a:pPr>
            <a:r>
              <a:rPr lang="en-US" sz="1100" b="1" dirty="0">
                <a:solidFill>
                  <a:srgbClr val="0E7E82"/>
                </a:solidFill>
                <a:latin typeface="Inter SemiBold Text SemiBold" pitchFamily="34" charset="0"/>
                <a:ea typeface="Inter SemiBold Text SemiBold" pitchFamily="34" charset="-122"/>
                <a:cs typeface="Inter SemiBold Text SemiBold" pitchFamily="34" charset="-120"/>
              </a:rPr>
              <a:t>+1</a:t>
            </a:r>
          </a:p>
        </p:txBody>
      </p:sp>
      <p:sp>
        <p:nvSpPr>
          <p:cNvPr id="183" name="r"/>
          <p:cNvSpPr/>
          <p:nvPr/>
        </p:nvSpPr>
        <p:spPr>
          <a:xfrm>
            <a:off x="822960" y="5522207"/>
            <a:ext cx="8503920" cy="6096"/>
          </a:xfrm>
          <a:prstGeom prst="rect">
            <a:avLst/>
          </a:prstGeom>
          <a:solidFill>
            <a:srgbClr val="ECEFF6"/>
          </a:solidFill>
          <a:ln/>
        </p:spPr>
        <p:txBody>
          <a:bodyPr/>
          <a:lstStyle/>
          <a:p>
            <a:endParaRPr lang="en-GB"/>
          </a:p>
        </p:txBody>
      </p:sp>
      <p:sp>
        <p:nvSpPr>
          <p:cNvPr id="184" name="t"/>
          <p:cNvSpPr/>
          <p:nvPr/>
        </p:nvSpPr>
        <p:spPr>
          <a:xfrm>
            <a:off x="822960" y="5522208"/>
            <a:ext cx="2926080" cy="339476"/>
          </a:xfrm>
          <a:prstGeom prst="rect">
            <a:avLst/>
          </a:prstGeom>
          <a:noFill/>
          <a:ln/>
        </p:spPr>
        <p:txBody>
          <a:bodyPr wrap="square" lIns="0" tIns="0" rIns="0" bIns="0" rtlCol="0" anchor="ctr"/>
          <a:lstStyle/>
          <a:p>
            <a:pPr marL="0" indent="0" algn="l">
              <a:buNone/>
            </a:pPr>
            <a:r>
              <a:rPr lang="en-US" sz="1200" dirty="0">
                <a:solidFill>
                  <a:srgbClr val="5B6890"/>
                </a:solidFill>
                <a:latin typeface="Inter Text" pitchFamily="34" charset="0"/>
                <a:ea typeface="Inter Text" pitchFamily="34" charset="-122"/>
                <a:cs typeface="Inter Text" pitchFamily="34" charset="-120"/>
              </a:rPr>
              <a:t>Quantity</a:t>
            </a:r>
          </a:p>
        </p:txBody>
      </p:sp>
      <p:sp>
        <p:nvSpPr>
          <p:cNvPr id="185" name="r"/>
          <p:cNvSpPr/>
          <p:nvPr/>
        </p:nvSpPr>
        <p:spPr>
          <a:xfrm>
            <a:off x="3886200" y="5625078"/>
            <a:ext cx="1645920" cy="137160"/>
          </a:xfrm>
          <a:prstGeom prst="roundRect">
            <a:avLst>
              <a:gd name="adj" fmla="val 50000"/>
            </a:avLst>
          </a:prstGeom>
          <a:solidFill>
            <a:srgbClr val="EEF1F8"/>
          </a:solidFill>
          <a:ln/>
        </p:spPr>
        <p:txBody>
          <a:bodyPr/>
          <a:lstStyle/>
          <a:p>
            <a:endParaRPr lang="en-GB"/>
          </a:p>
        </p:txBody>
      </p:sp>
      <p:sp>
        <p:nvSpPr>
          <p:cNvPr id="186" name="r"/>
          <p:cNvSpPr/>
          <p:nvPr/>
        </p:nvSpPr>
        <p:spPr>
          <a:xfrm>
            <a:off x="3886200" y="5625078"/>
            <a:ext cx="45720" cy="137160"/>
          </a:xfrm>
          <a:prstGeom prst="roundRect">
            <a:avLst>
              <a:gd name="adj" fmla="val 50000"/>
            </a:avLst>
          </a:prstGeom>
          <a:solidFill>
            <a:srgbClr val="C2CADE"/>
          </a:solidFill>
          <a:ln/>
        </p:spPr>
        <p:txBody>
          <a:bodyPr/>
          <a:lstStyle/>
          <a:p>
            <a:endParaRPr lang="en-GB"/>
          </a:p>
        </p:txBody>
      </p:sp>
      <p:sp>
        <p:nvSpPr>
          <p:cNvPr id="187" name="r"/>
          <p:cNvSpPr/>
          <p:nvPr/>
        </p:nvSpPr>
        <p:spPr>
          <a:xfrm>
            <a:off x="3886200" y="5625078"/>
            <a:ext cx="45720" cy="137160"/>
          </a:xfrm>
          <a:prstGeom prst="roundRect">
            <a:avLst>
              <a:gd name="adj" fmla="val 50000"/>
            </a:avLst>
          </a:prstGeom>
          <a:solidFill>
            <a:srgbClr val="C2CADE"/>
          </a:solidFill>
          <a:ln/>
        </p:spPr>
        <p:txBody>
          <a:bodyPr/>
          <a:lstStyle/>
          <a:p>
            <a:endParaRPr lang="en-GB"/>
          </a:p>
        </p:txBody>
      </p:sp>
      <p:sp>
        <p:nvSpPr>
          <p:cNvPr id="188" name="t"/>
          <p:cNvSpPr/>
          <p:nvPr/>
        </p:nvSpPr>
        <p:spPr>
          <a:xfrm>
            <a:off x="5669280" y="5522208"/>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2</a:t>
            </a:r>
          </a:p>
        </p:txBody>
      </p:sp>
      <p:sp>
        <p:nvSpPr>
          <p:cNvPr id="189" name="t"/>
          <p:cNvSpPr/>
          <p:nvPr/>
        </p:nvSpPr>
        <p:spPr>
          <a:xfrm>
            <a:off x="6217920" y="5522208"/>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190" name="t"/>
          <p:cNvSpPr/>
          <p:nvPr/>
        </p:nvSpPr>
        <p:spPr>
          <a:xfrm>
            <a:off x="6583680" y="5522208"/>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2</a:t>
            </a:r>
          </a:p>
        </p:txBody>
      </p:sp>
      <p:sp>
        <p:nvSpPr>
          <p:cNvPr id="191" name="r"/>
          <p:cNvSpPr/>
          <p:nvPr/>
        </p:nvSpPr>
        <p:spPr>
          <a:xfrm>
            <a:off x="7315200" y="5551926"/>
            <a:ext cx="1005840" cy="283464"/>
          </a:xfrm>
          <a:prstGeom prst="roundRect">
            <a:avLst>
              <a:gd name="adj" fmla="val 30000"/>
            </a:avLst>
          </a:prstGeom>
          <a:solidFill>
            <a:srgbClr val="EEF1F8"/>
          </a:solidFill>
          <a:ln/>
        </p:spPr>
        <p:txBody>
          <a:bodyPr/>
          <a:lstStyle/>
          <a:p>
            <a:endParaRPr lang="en-GB"/>
          </a:p>
        </p:txBody>
      </p:sp>
      <p:sp>
        <p:nvSpPr>
          <p:cNvPr id="192" name="t"/>
          <p:cNvSpPr/>
          <p:nvPr/>
        </p:nvSpPr>
        <p:spPr>
          <a:xfrm>
            <a:off x="7315200" y="5551926"/>
            <a:ext cx="1005840" cy="283464"/>
          </a:xfrm>
          <a:prstGeom prst="rect">
            <a:avLst/>
          </a:prstGeom>
          <a:noFill/>
          <a:ln/>
        </p:spPr>
        <p:txBody>
          <a:bodyPr wrap="square" lIns="0" tIns="0" rIns="0" bIns="0" rtlCol="0" anchor="ctr"/>
          <a:lstStyle/>
          <a:p>
            <a:pPr marL="0" indent="0" algn="ctr">
              <a:buNone/>
            </a:pPr>
            <a:r>
              <a:rPr lang="en-US" sz="1100" dirty="0">
                <a:solidFill>
                  <a:srgbClr val="9AA4C2"/>
                </a:solidFill>
                <a:latin typeface="Inter Medium Text Medium" pitchFamily="34" charset="0"/>
                <a:ea typeface="Inter Medium Text Medium" pitchFamily="34" charset="-122"/>
                <a:cs typeface="Inter Medium Text Medium" pitchFamily="34" charset="-120"/>
              </a:rPr>
              <a:t>±0</a:t>
            </a:r>
          </a:p>
        </p:txBody>
      </p:sp>
      <p:sp>
        <p:nvSpPr>
          <p:cNvPr id="193" name="r"/>
          <p:cNvSpPr/>
          <p:nvPr/>
        </p:nvSpPr>
        <p:spPr>
          <a:xfrm>
            <a:off x="822960" y="5901683"/>
            <a:ext cx="8503920" cy="6096"/>
          </a:xfrm>
          <a:prstGeom prst="rect">
            <a:avLst/>
          </a:prstGeom>
          <a:solidFill>
            <a:srgbClr val="ECEFF6"/>
          </a:solidFill>
          <a:ln/>
        </p:spPr>
        <p:txBody>
          <a:bodyPr/>
          <a:lstStyle/>
          <a:p>
            <a:endParaRPr lang="en-GB"/>
          </a:p>
        </p:txBody>
      </p:sp>
      <p:sp>
        <p:nvSpPr>
          <p:cNvPr id="194" name="t"/>
          <p:cNvSpPr/>
          <p:nvPr/>
        </p:nvSpPr>
        <p:spPr>
          <a:xfrm>
            <a:off x="822960" y="5901684"/>
            <a:ext cx="2926080" cy="339476"/>
          </a:xfrm>
          <a:prstGeom prst="rect">
            <a:avLst/>
          </a:prstGeom>
          <a:noFill/>
          <a:ln/>
        </p:spPr>
        <p:txBody>
          <a:bodyPr wrap="square" lIns="0" tIns="0" rIns="0" bIns="0" rtlCol="0" anchor="ctr"/>
          <a:lstStyle/>
          <a:p>
            <a:pPr marL="0" indent="0" algn="l">
              <a:buNone/>
            </a:pPr>
            <a:r>
              <a:rPr lang="en-US" sz="1200" dirty="0">
                <a:solidFill>
                  <a:srgbClr val="5B6890"/>
                </a:solidFill>
                <a:latin typeface="Inter Text" pitchFamily="34" charset="0"/>
                <a:ea typeface="Inter Text" pitchFamily="34" charset="-122"/>
                <a:cs typeface="Inter Text" pitchFamily="34" charset="-120"/>
              </a:rPr>
              <a:t>Unit price amount</a:t>
            </a:r>
          </a:p>
        </p:txBody>
      </p:sp>
      <p:sp>
        <p:nvSpPr>
          <p:cNvPr id="195" name="r"/>
          <p:cNvSpPr/>
          <p:nvPr/>
        </p:nvSpPr>
        <p:spPr>
          <a:xfrm>
            <a:off x="3886200" y="6004554"/>
            <a:ext cx="1645920" cy="137160"/>
          </a:xfrm>
          <a:prstGeom prst="roundRect">
            <a:avLst>
              <a:gd name="adj" fmla="val 50000"/>
            </a:avLst>
          </a:prstGeom>
          <a:solidFill>
            <a:srgbClr val="EEF1F8"/>
          </a:solidFill>
          <a:ln/>
        </p:spPr>
        <p:txBody>
          <a:bodyPr/>
          <a:lstStyle/>
          <a:p>
            <a:endParaRPr lang="en-GB"/>
          </a:p>
        </p:txBody>
      </p:sp>
      <p:sp>
        <p:nvSpPr>
          <p:cNvPr id="196" name="r"/>
          <p:cNvSpPr/>
          <p:nvPr/>
        </p:nvSpPr>
        <p:spPr>
          <a:xfrm>
            <a:off x="3886200" y="6004554"/>
            <a:ext cx="68580" cy="137160"/>
          </a:xfrm>
          <a:prstGeom prst="roundRect">
            <a:avLst>
              <a:gd name="adj" fmla="val 50000"/>
            </a:avLst>
          </a:prstGeom>
          <a:solidFill>
            <a:srgbClr val="C2CADE"/>
          </a:solidFill>
          <a:ln/>
        </p:spPr>
        <p:txBody>
          <a:bodyPr/>
          <a:lstStyle/>
          <a:p>
            <a:endParaRPr lang="en-GB"/>
          </a:p>
        </p:txBody>
      </p:sp>
      <p:sp>
        <p:nvSpPr>
          <p:cNvPr id="197" name="r"/>
          <p:cNvSpPr/>
          <p:nvPr/>
        </p:nvSpPr>
        <p:spPr>
          <a:xfrm>
            <a:off x="3886200" y="6004554"/>
            <a:ext cx="68580" cy="137160"/>
          </a:xfrm>
          <a:prstGeom prst="roundRect">
            <a:avLst>
              <a:gd name="adj" fmla="val 50000"/>
            </a:avLst>
          </a:prstGeom>
          <a:solidFill>
            <a:srgbClr val="C2CADE"/>
          </a:solidFill>
          <a:ln/>
        </p:spPr>
        <p:txBody>
          <a:bodyPr/>
          <a:lstStyle/>
          <a:p>
            <a:endParaRPr lang="en-GB"/>
          </a:p>
        </p:txBody>
      </p:sp>
      <p:sp>
        <p:nvSpPr>
          <p:cNvPr id="198" name="t"/>
          <p:cNvSpPr/>
          <p:nvPr/>
        </p:nvSpPr>
        <p:spPr>
          <a:xfrm>
            <a:off x="5669280" y="5901684"/>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3</a:t>
            </a:r>
          </a:p>
        </p:txBody>
      </p:sp>
      <p:sp>
        <p:nvSpPr>
          <p:cNvPr id="199" name="t"/>
          <p:cNvSpPr/>
          <p:nvPr/>
        </p:nvSpPr>
        <p:spPr>
          <a:xfrm>
            <a:off x="6217920" y="5901684"/>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200" name="t"/>
          <p:cNvSpPr/>
          <p:nvPr/>
        </p:nvSpPr>
        <p:spPr>
          <a:xfrm>
            <a:off x="6583680" y="5901684"/>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3</a:t>
            </a:r>
          </a:p>
        </p:txBody>
      </p:sp>
      <p:sp>
        <p:nvSpPr>
          <p:cNvPr id="201" name="r"/>
          <p:cNvSpPr/>
          <p:nvPr/>
        </p:nvSpPr>
        <p:spPr>
          <a:xfrm>
            <a:off x="7315200" y="5931402"/>
            <a:ext cx="1005840" cy="283464"/>
          </a:xfrm>
          <a:prstGeom prst="roundRect">
            <a:avLst>
              <a:gd name="adj" fmla="val 30000"/>
            </a:avLst>
          </a:prstGeom>
          <a:solidFill>
            <a:srgbClr val="EEF1F8"/>
          </a:solidFill>
          <a:ln/>
        </p:spPr>
        <p:txBody>
          <a:bodyPr/>
          <a:lstStyle/>
          <a:p>
            <a:endParaRPr lang="en-GB"/>
          </a:p>
        </p:txBody>
      </p:sp>
      <p:sp>
        <p:nvSpPr>
          <p:cNvPr id="202" name="t"/>
          <p:cNvSpPr/>
          <p:nvPr/>
        </p:nvSpPr>
        <p:spPr>
          <a:xfrm>
            <a:off x="7315200" y="5931402"/>
            <a:ext cx="1005840" cy="283464"/>
          </a:xfrm>
          <a:prstGeom prst="rect">
            <a:avLst/>
          </a:prstGeom>
          <a:noFill/>
          <a:ln/>
        </p:spPr>
        <p:txBody>
          <a:bodyPr wrap="square" lIns="0" tIns="0" rIns="0" bIns="0" rtlCol="0" anchor="ctr"/>
          <a:lstStyle/>
          <a:p>
            <a:pPr marL="0" indent="0" algn="ctr">
              <a:buNone/>
            </a:pPr>
            <a:r>
              <a:rPr lang="en-US" sz="1100" dirty="0">
                <a:solidFill>
                  <a:srgbClr val="9AA4C2"/>
                </a:solidFill>
                <a:latin typeface="Inter Medium Text Medium" pitchFamily="34" charset="0"/>
                <a:ea typeface="Inter Medium Text Medium" pitchFamily="34" charset="-122"/>
                <a:cs typeface="Inter Medium Text Medium" pitchFamily="34" charset="-120"/>
              </a:rPr>
              <a:t>±0</a:t>
            </a:r>
          </a:p>
        </p:txBody>
      </p:sp>
      <p:sp>
        <p:nvSpPr>
          <p:cNvPr id="203" name="r"/>
          <p:cNvSpPr/>
          <p:nvPr/>
        </p:nvSpPr>
        <p:spPr>
          <a:xfrm>
            <a:off x="822960" y="6281159"/>
            <a:ext cx="8503920" cy="6096"/>
          </a:xfrm>
          <a:prstGeom prst="rect">
            <a:avLst/>
          </a:prstGeom>
          <a:solidFill>
            <a:srgbClr val="ECEFF6"/>
          </a:solidFill>
          <a:ln/>
        </p:spPr>
        <p:txBody>
          <a:bodyPr/>
          <a:lstStyle/>
          <a:p>
            <a:endParaRPr lang="en-GB"/>
          </a:p>
        </p:txBody>
      </p:sp>
      <p:sp>
        <p:nvSpPr>
          <p:cNvPr id="204" name="t"/>
          <p:cNvSpPr/>
          <p:nvPr/>
        </p:nvSpPr>
        <p:spPr>
          <a:xfrm>
            <a:off x="822960" y="6281160"/>
            <a:ext cx="2926080" cy="339476"/>
          </a:xfrm>
          <a:prstGeom prst="rect">
            <a:avLst/>
          </a:prstGeom>
          <a:noFill/>
          <a:ln/>
        </p:spPr>
        <p:txBody>
          <a:bodyPr wrap="square" lIns="0" tIns="0" rIns="0" bIns="0" rtlCol="0" anchor="ctr"/>
          <a:lstStyle/>
          <a:p>
            <a:pPr marL="0" indent="0" algn="l">
              <a:buNone/>
            </a:pPr>
            <a:r>
              <a:rPr lang="en-US" sz="1200" dirty="0">
                <a:solidFill>
                  <a:srgbClr val="5B6890"/>
                </a:solidFill>
                <a:latin typeface="Inter Text" pitchFamily="34" charset="0"/>
                <a:ea typeface="Inter Text" pitchFamily="34" charset="-122"/>
                <a:cs typeface="Inter Text" pitchFamily="34" charset="-120"/>
              </a:rPr>
              <a:t>Binary object</a:t>
            </a:r>
          </a:p>
        </p:txBody>
      </p:sp>
      <p:sp>
        <p:nvSpPr>
          <p:cNvPr id="205" name="r"/>
          <p:cNvSpPr/>
          <p:nvPr/>
        </p:nvSpPr>
        <p:spPr>
          <a:xfrm>
            <a:off x="3886200" y="6384030"/>
            <a:ext cx="1645920" cy="137160"/>
          </a:xfrm>
          <a:prstGeom prst="roundRect">
            <a:avLst>
              <a:gd name="adj" fmla="val 50000"/>
            </a:avLst>
          </a:prstGeom>
          <a:solidFill>
            <a:srgbClr val="EEF1F8"/>
          </a:solidFill>
          <a:ln/>
        </p:spPr>
        <p:txBody>
          <a:bodyPr/>
          <a:lstStyle/>
          <a:p>
            <a:endParaRPr lang="en-GB"/>
          </a:p>
        </p:txBody>
      </p:sp>
      <p:sp>
        <p:nvSpPr>
          <p:cNvPr id="206" name="r"/>
          <p:cNvSpPr/>
          <p:nvPr/>
        </p:nvSpPr>
        <p:spPr>
          <a:xfrm>
            <a:off x="3886200" y="6384030"/>
            <a:ext cx="22860" cy="137160"/>
          </a:xfrm>
          <a:prstGeom prst="roundRect">
            <a:avLst>
              <a:gd name="adj" fmla="val 50000"/>
            </a:avLst>
          </a:prstGeom>
          <a:solidFill>
            <a:srgbClr val="C2CADE"/>
          </a:solidFill>
          <a:ln/>
        </p:spPr>
        <p:txBody>
          <a:bodyPr/>
          <a:lstStyle/>
          <a:p>
            <a:endParaRPr lang="en-GB"/>
          </a:p>
        </p:txBody>
      </p:sp>
      <p:sp>
        <p:nvSpPr>
          <p:cNvPr id="207" name="r"/>
          <p:cNvSpPr/>
          <p:nvPr/>
        </p:nvSpPr>
        <p:spPr>
          <a:xfrm>
            <a:off x="3886200" y="6384030"/>
            <a:ext cx="22860" cy="137160"/>
          </a:xfrm>
          <a:prstGeom prst="roundRect">
            <a:avLst>
              <a:gd name="adj" fmla="val 50000"/>
            </a:avLst>
          </a:prstGeom>
          <a:solidFill>
            <a:srgbClr val="C2CADE"/>
          </a:solidFill>
          <a:ln/>
        </p:spPr>
        <p:txBody>
          <a:bodyPr/>
          <a:lstStyle/>
          <a:p>
            <a:endParaRPr lang="en-GB"/>
          </a:p>
        </p:txBody>
      </p:sp>
      <p:sp>
        <p:nvSpPr>
          <p:cNvPr id="208" name="t"/>
          <p:cNvSpPr/>
          <p:nvPr/>
        </p:nvSpPr>
        <p:spPr>
          <a:xfrm>
            <a:off x="5669280" y="6281160"/>
            <a:ext cx="502920" cy="339476"/>
          </a:xfrm>
          <a:prstGeom prst="rect">
            <a:avLst/>
          </a:prstGeom>
          <a:noFill/>
          <a:ln/>
        </p:spPr>
        <p:txBody>
          <a:bodyPr wrap="square" lIns="0" tIns="0" rIns="0" bIns="0" rtlCol="0" anchor="ctr"/>
          <a:lstStyle/>
          <a:p>
            <a:pPr marL="0" indent="0" algn="r">
              <a:buNone/>
            </a:pPr>
            <a:r>
              <a:rPr lang="en-US" sz="1300" dirty="0">
                <a:solidFill>
                  <a:srgbClr val="9AA4C2"/>
                </a:solidFill>
                <a:latin typeface="Inter Text" pitchFamily="34" charset="0"/>
                <a:ea typeface="Inter Text" pitchFamily="34" charset="-122"/>
                <a:cs typeface="Inter Text" pitchFamily="34" charset="-120"/>
              </a:rPr>
              <a:t>1</a:t>
            </a:r>
          </a:p>
        </p:txBody>
      </p:sp>
      <p:sp>
        <p:nvSpPr>
          <p:cNvPr id="209" name="t"/>
          <p:cNvSpPr/>
          <p:nvPr/>
        </p:nvSpPr>
        <p:spPr>
          <a:xfrm>
            <a:off x="6217920" y="6281160"/>
            <a:ext cx="320040" cy="339476"/>
          </a:xfrm>
          <a:prstGeom prst="rect">
            <a:avLst/>
          </a:prstGeom>
          <a:noFill/>
          <a:ln/>
        </p:spPr>
        <p:txBody>
          <a:bodyPr wrap="square" lIns="0" tIns="0" rIns="0" bIns="0" rtlCol="0" anchor="ctr"/>
          <a:lstStyle/>
          <a:p>
            <a:pPr marL="0" indent="0" algn="ctr">
              <a:buNone/>
            </a:pPr>
            <a:r>
              <a:rPr lang="en-US" sz="1100" dirty="0">
                <a:solidFill>
                  <a:srgbClr val="C2CADE"/>
                </a:solidFill>
                <a:latin typeface="Inter Text" pitchFamily="34" charset="0"/>
                <a:ea typeface="Inter Text" pitchFamily="34" charset="-122"/>
                <a:cs typeface="Inter Text" pitchFamily="34" charset="-120"/>
              </a:rPr>
              <a:t>→</a:t>
            </a:r>
          </a:p>
        </p:txBody>
      </p:sp>
      <p:sp>
        <p:nvSpPr>
          <p:cNvPr id="210" name="t"/>
          <p:cNvSpPr/>
          <p:nvPr/>
        </p:nvSpPr>
        <p:spPr>
          <a:xfrm>
            <a:off x="6583680" y="6281160"/>
            <a:ext cx="502920" cy="339476"/>
          </a:xfrm>
          <a:prstGeom prst="rect">
            <a:avLst/>
          </a:prstGeom>
          <a:noFill/>
          <a:ln/>
        </p:spPr>
        <p:txBody>
          <a:bodyPr wrap="square" lIns="0" tIns="0" rIns="0" bIns="0" rtlCol="0" anchor="ctr"/>
          <a:lstStyle/>
          <a:p>
            <a:pPr marL="0" indent="0" algn="r">
              <a:buNone/>
            </a:pPr>
            <a:r>
              <a:rPr lang="en-US" sz="1300" b="1" dirty="0">
                <a:solidFill>
                  <a:srgbClr val="1A2B5E"/>
                </a:solidFill>
                <a:latin typeface="Inter Text" pitchFamily="34" charset="0"/>
                <a:ea typeface="Inter Text" pitchFamily="34" charset="-122"/>
                <a:cs typeface="Inter Text" pitchFamily="34" charset="-120"/>
              </a:rPr>
              <a:t>1</a:t>
            </a:r>
          </a:p>
        </p:txBody>
      </p:sp>
      <p:sp>
        <p:nvSpPr>
          <p:cNvPr id="211" name="r"/>
          <p:cNvSpPr/>
          <p:nvPr/>
        </p:nvSpPr>
        <p:spPr>
          <a:xfrm>
            <a:off x="7315200" y="6310878"/>
            <a:ext cx="1005840" cy="283464"/>
          </a:xfrm>
          <a:prstGeom prst="roundRect">
            <a:avLst>
              <a:gd name="adj" fmla="val 30000"/>
            </a:avLst>
          </a:prstGeom>
          <a:solidFill>
            <a:srgbClr val="EEF1F8"/>
          </a:solidFill>
          <a:ln/>
        </p:spPr>
        <p:txBody>
          <a:bodyPr/>
          <a:lstStyle/>
          <a:p>
            <a:endParaRPr lang="en-GB"/>
          </a:p>
        </p:txBody>
      </p:sp>
      <p:sp>
        <p:nvSpPr>
          <p:cNvPr id="212" name="t"/>
          <p:cNvSpPr/>
          <p:nvPr/>
        </p:nvSpPr>
        <p:spPr>
          <a:xfrm>
            <a:off x="7315200" y="6310878"/>
            <a:ext cx="1005840" cy="283464"/>
          </a:xfrm>
          <a:prstGeom prst="rect">
            <a:avLst/>
          </a:prstGeom>
          <a:noFill/>
          <a:ln/>
        </p:spPr>
        <p:txBody>
          <a:bodyPr wrap="square" lIns="0" tIns="0" rIns="0" bIns="0" rtlCol="0" anchor="ctr"/>
          <a:lstStyle/>
          <a:p>
            <a:pPr marL="0" indent="0" algn="ctr">
              <a:buNone/>
            </a:pPr>
            <a:r>
              <a:rPr lang="en-US" sz="1100" dirty="0">
                <a:solidFill>
                  <a:srgbClr val="9AA4C2"/>
                </a:solidFill>
                <a:latin typeface="Inter Medium Text Medium" pitchFamily="34" charset="0"/>
                <a:ea typeface="Inter Medium Text Medium" pitchFamily="34" charset="-122"/>
                <a:cs typeface="Inter Medium Text Medium" pitchFamily="34" charset="-120"/>
              </a:rPr>
              <a:t>±0</a:t>
            </a:r>
          </a:p>
        </p:txBody>
      </p:sp>
      <p:sp>
        <p:nvSpPr>
          <p:cNvPr id="213" name="pct 213"/>
          <p:cNvSpPr txBox="1"/>
          <p:nvPr/>
        </p:nvSpPr>
        <p:spPr>
          <a:xfrm>
            <a:off x="8458200" y="2057400"/>
            <a:ext cx="868680" cy="274320"/>
          </a:xfrm>
          <a:prstGeom prst="rect">
            <a:avLst/>
          </a:prstGeom>
          <a:noFill/>
          <a:ln/>
        </p:spPr>
        <p:txBody>
          <a:bodyPr wrap="square" lIns="0" tIns="0" rIns="0" bIns="0" rtlCol="0" anchor="ctr"/>
          <a:lstStyle/>
          <a:p>
            <a:pPr marL="0" indent="0" algn="r">
              <a:buNone/>
            </a:pPr>
            <a:r>
              <a:rPr lang="en-GB" sz="1000" dirty="0">
                <a:solidFill>
                  <a:srgbClr val="9AA4C2"/>
                </a:solidFill>
                <a:latin typeface="Inter SemiBold Text SemiBold" pitchFamily="34" charset="0"/>
                <a:ea typeface="Inter SemiBold Text SemiBold" pitchFamily="34" charset="-122"/>
                <a:cs typeface="Inter SemiBold Text SemiBold" pitchFamily="34" charset="-120"/>
              </a:rPr>
              <a:t>IN %</a:t>
            </a:r>
          </a:p>
        </p:txBody>
      </p:sp>
      <p:sp>
        <p:nvSpPr>
          <p:cNvPr id="214" name="pct 214"/>
          <p:cNvSpPr txBox="1"/>
          <p:nvPr/>
        </p:nvSpPr>
        <p:spPr>
          <a:xfrm>
            <a:off x="8458200" y="2486400"/>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+76%</a:t>
            </a:r>
          </a:p>
        </p:txBody>
      </p:sp>
      <p:sp>
        <p:nvSpPr>
          <p:cNvPr id="215" name="pct 215"/>
          <p:cNvSpPr txBox="1"/>
          <p:nvPr/>
        </p:nvSpPr>
        <p:spPr>
          <a:xfrm>
            <a:off x="8458200" y="2865876"/>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+120%</a:t>
            </a:r>
          </a:p>
        </p:txBody>
      </p:sp>
      <p:sp>
        <p:nvSpPr>
          <p:cNvPr id="216" name="pct 216"/>
          <p:cNvSpPr txBox="1"/>
          <p:nvPr/>
        </p:nvSpPr>
        <p:spPr>
          <a:xfrm>
            <a:off x="8458200" y="3245352"/>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+16%</a:t>
            </a:r>
          </a:p>
        </p:txBody>
      </p:sp>
      <p:sp>
        <p:nvSpPr>
          <p:cNvPr id="217" name="pct 217"/>
          <p:cNvSpPr txBox="1"/>
          <p:nvPr/>
        </p:nvSpPr>
        <p:spPr>
          <a:xfrm>
            <a:off x="8458200" y="3624828"/>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+19%</a:t>
            </a:r>
          </a:p>
        </p:txBody>
      </p:sp>
      <p:sp>
        <p:nvSpPr>
          <p:cNvPr id="218" name="pct 218"/>
          <p:cNvSpPr txBox="1"/>
          <p:nvPr/>
        </p:nvSpPr>
        <p:spPr>
          <a:xfrm>
            <a:off x="8458200" y="4004304"/>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+44%</a:t>
            </a:r>
          </a:p>
        </p:txBody>
      </p:sp>
      <p:sp>
        <p:nvSpPr>
          <p:cNvPr id="219" name="pct 219"/>
          <p:cNvSpPr txBox="1"/>
          <p:nvPr/>
        </p:nvSpPr>
        <p:spPr>
          <a:xfrm>
            <a:off x="8458200" y="4383780"/>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+11%</a:t>
            </a:r>
          </a:p>
        </p:txBody>
      </p:sp>
      <p:sp>
        <p:nvSpPr>
          <p:cNvPr id="220" name="pct 220"/>
          <p:cNvSpPr txBox="1"/>
          <p:nvPr/>
        </p:nvSpPr>
        <p:spPr>
          <a:xfrm>
            <a:off x="8458200" y="4763256"/>
            <a:ext cx="868680" cy="339476"/>
          </a:xfrm>
          <a:prstGeom prst="rect">
            <a:avLst/>
          </a:prstGeom>
          <a:noFill/>
          <a:ln/>
        </p:spPr>
        <p:txBody>
          <a:bodyPr wrap="square" lIns="0" tIns="0" rIns="0" bIns="0" rtlCol="0" anchor="ctr"/>
          <a:lstStyle/>
          <a:p>
            <a:pPr marL="0" indent="0" algn="r">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+25%</a:t>
            </a:r>
          </a:p>
        </p:txBody>
      </p:sp>
      <p:sp>
        <p:nvSpPr>
          <p:cNvPr id="221" name="pct 221"/>
          <p:cNvSpPr txBox="1"/>
          <p:nvPr/>
        </p:nvSpPr>
        <p:spPr>
          <a:xfrm>
            <a:off x="8458200" y="5142732"/>
            <a:ext cx="868680" cy="339476"/>
          </a:xfrm>
          <a:prstGeom prst="rect">
            <a:avLst/>
          </a:prstGeom>
          <a:noFill/>
          <a:ln/>
        </p:spPr>
        <p:txBody>
          <a:bodyPr wrap="square" lIns="0" tIns="0" rIns="0" bIns="0" rtlCol="0" anchor="ctr"/>
          <a:lstStyle/>
          <a:p>
            <a:pPr marL="0" indent="0" algn="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new</a:t>
            </a:r>
          </a:p>
        </p:txBody>
      </p:sp>
      <p:sp>
        <p:nvSpPr>
          <p:cNvPr id="222" name="pct 222"/>
          <p:cNvSpPr txBox="1"/>
          <p:nvPr/>
        </p:nvSpPr>
        <p:spPr>
          <a:xfrm>
            <a:off x="8458200" y="5522208"/>
            <a:ext cx="868680" cy="339476"/>
          </a:xfrm>
          <a:prstGeom prst="rect">
            <a:avLst/>
          </a:prstGeom>
          <a:noFill/>
          <a:ln/>
        </p:spPr>
        <p:txBody>
          <a:bodyPr wrap="square" lIns="0" tIns="0" rIns="0" bIns="0" rtlCol="0" anchor="ctr"/>
          <a:lstStyle/>
          <a:p>
            <a:pPr marL="0" indent="0" algn="r">
              <a:buNone/>
            </a:pPr>
            <a:r>
              <a:rPr lang="en-GB" sz="1100" dirty="0">
                <a:solidFill>
                  <a:srgbClr val="9AA4C2"/>
                </a:solidFill>
                <a:latin typeface="Inter Text" pitchFamily="34" charset="0"/>
                <a:ea typeface="Inter Text" pitchFamily="34" charset="-122"/>
                <a:cs typeface="Inter Text" pitchFamily="34" charset="-120"/>
              </a:rPr>
              <a:t>±0%</a:t>
            </a:r>
          </a:p>
        </p:txBody>
      </p:sp>
      <p:sp>
        <p:nvSpPr>
          <p:cNvPr id="223" name="pct 223"/>
          <p:cNvSpPr txBox="1"/>
          <p:nvPr/>
        </p:nvSpPr>
        <p:spPr>
          <a:xfrm>
            <a:off x="8458200" y="5901684"/>
            <a:ext cx="868680" cy="339476"/>
          </a:xfrm>
          <a:prstGeom prst="rect">
            <a:avLst/>
          </a:prstGeom>
          <a:noFill/>
          <a:ln/>
        </p:spPr>
        <p:txBody>
          <a:bodyPr wrap="square" lIns="0" tIns="0" rIns="0" bIns="0" rtlCol="0" anchor="ctr"/>
          <a:lstStyle/>
          <a:p>
            <a:pPr marL="0" indent="0" algn="r">
              <a:buNone/>
            </a:pPr>
            <a:r>
              <a:rPr lang="en-GB" sz="1100" dirty="0">
                <a:solidFill>
                  <a:srgbClr val="9AA4C2"/>
                </a:solidFill>
                <a:latin typeface="Inter Text" pitchFamily="34" charset="0"/>
                <a:ea typeface="Inter Text" pitchFamily="34" charset="-122"/>
                <a:cs typeface="Inter Text" pitchFamily="34" charset="-120"/>
              </a:rPr>
              <a:t>±0%</a:t>
            </a:r>
          </a:p>
        </p:txBody>
      </p:sp>
      <p:sp>
        <p:nvSpPr>
          <p:cNvPr id="224" name="pct 224"/>
          <p:cNvSpPr txBox="1"/>
          <p:nvPr/>
        </p:nvSpPr>
        <p:spPr>
          <a:xfrm>
            <a:off x="8458200" y="6281160"/>
            <a:ext cx="868680" cy="339476"/>
          </a:xfrm>
          <a:prstGeom prst="rect">
            <a:avLst/>
          </a:prstGeom>
          <a:noFill/>
          <a:ln/>
        </p:spPr>
        <p:txBody>
          <a:bodyPr wrap="square" lIns="0" tIns="0" rIns="0" bIns="0" rtlCol="0" anchor="ctr"/>
          <a:lstStyle/>
          <a:p>
            <a:pPr marL="0" indent="0" algn="r">
              <a:buNone/>
            </a:pPr>
            <a:r>
              <a:rPr lang="en-GB" sz="1100" dirty="0">
                <a:solidFill>
                  <a:srgbClr val="9AA4C2"/>
                </a:solidFill>
                <a:latin typeface="Inter Text" pitchFamily="34" charset="0"/>
                <a:ea typeface="Inter Text" pitchFamily="34" charset="-122"/>
                <a:cs typeface="Inter Text" pitchFamily="34" charset="-120"/>
              </a:rPr>
              <a:t>±0%</a:t>
            </a:r>
          </a:p>
        </p:txBody>
      </p:sp>
      <p:sp>
        <p:nvSpPr>
          <p:cNvPr id="225" name="Speaker 225">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Folie 9">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SYNTAX · BACKGROUND</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One semantics, three syntaxes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EDIFACT and CII come from the UN family, UBL from OASIS — the Core Components connect the two XML syntaxes.</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564BBEF1-7309-4525-B04F-AEA29AE68CFE}"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7</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extLst>
              <p:ext uri="{D42A27DB-BD31-4B8C-83A1-F6EECF244321}">
                <p14:modId xmlns:p14="http://schemas.microsoft.com/office/powerpoint/2010/main" val="65253481"/>
              </p:ext>
            </p:extLst>
          </p:nvPr>
        </p:nvGraphicFramePr>
        <p:xfrm>
          <a:off x="822960" y="2377440"/>
          <a:ext cx="10543032" cy="384048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999232">
                  <a:extLst>
                    <a:ext uri="{9D8B030D-6E8A-4147-A177-3AD203B41FA5}">
                      <a16:colId xmlns:a16="http://schemas.microsoft.com/office/drawing/2014/main" val="20003"/>
                    </a:ext>
                  </a:extLst>
                </a:gridCol>
                <a:gridCol w="2971800">
                  <a:extLst>
                    <a:ext uri="{9D8B030D-6E8A-4147-A177-3AD203B41FA5}">
                      <a16:colId xmlns:a16="http://schemas.microsoft.com/office/drawing/2014/main" val="20002"/>
                    </a:ext>
                  </a:extLst>
                </a:gridCol>
              </a:tblGrid>
              <a:tr h="384048">
                <a:tc>
                  <a:txBody>
                    <a:bodyPr/>
                    <a:lstStyle/>
                    <a:p>
                      <a:pPr marL="0" indent="0" algn="l">
                        <a:buNone/>
                      </a:pPr>
                      <a:endParaRP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UN/EDIFACT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OASIS UBL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UN/CEFACT CII</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1987 – 1988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Syntax rules adopted by UN/ECE WP.4; ISO 9735 (1988)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1990s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INVOIC among the first UN standard messages; UN/CEFACT succeeds WP.4 (1996/97)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1998 – 2002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Syntax version 4 (ISO 9735:1998): UTF-8 possible via UNOW</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UBL TC founded at OASIS (2001), based on ebXML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ebXML Core Components (UN/CEFACT + OASIS, 1999 – 2001)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2004 – 2009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UBL 1.0 (2004), UBL 2.0 (2006)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CII v1 based on the UN/CEFACT Core Component Library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2013 – 2016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INVOIC D16B</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UBL 2.1 (2013) → ISO/IEC 19845:2015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CII D16B (2016)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16931-3-4 (</a:t>
                      </a:r>
                      <a:r>
                        <a:rPr lang="en-GB" sz="1100" b="1" dirty="0">
                          <a:solidFill>
                            <a:srgbClr val="5B6890"/>
                          </a:solidFill>
                          <a:latin typeface="Inter Text" pitchFamily="34" charset="0"/>
                          <a:ea typeface="Inter Text" pitchFamily="34" charset="-122"/>
                          <a:cs typeface="Inter Text" pitchFamily="34" charset="-120"/>
                        </a:rPr>
                        <a:t>INVOIC D.16B</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16931-3-2 (</a:t>
                      </a:r>
                      <a:r>
                        <a:rPr lang="en-GB" sz="1100" b="1" dirty="0">
                          <a:solidFill>
                            <a:srgbClr val="5B6890"/>
                          </a:solidFill>
                          <a:latin typeface="Inter Text" pitchFamily="34" charset="0"/>
                          <a:ea typeface="Inter Text" pitchFamily="34" charset="-122"/>
                          <a:cs typeface="Inter Text" pitchFamily="34" charset="-120"/>
                        </a:rPr>
                        <a:t>UBL 2.1</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16931-3-3 (</a:t>
                      </a:r>
                      <a:r>
                        <a:rPr lang="en-GB" sz="1100" b="1" dirty="0">
                          <a:solidFill>
                            <a:srgbClr val="5B6890"/>
                          </a:solidFill>
                          <a:latin typeface="Inter Text" pitchFamily="34" charset="0"/>
                          <a:ea typeface="Inter Text" pitchFamily="34" charset="-122"/>
                          <a:cs typeface="Inter Text" pitchFamily="34" charset="-120"/>
                        </a:rPr>
                        <a:t>CII D.16B</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6"/>
                  </a:ext>
                </a:extLst>
              </a:tr>
              <a:tr h="411480">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16931-3-4 (</a:t>
                      </a:r>
                      <a:r>
                        <a:rPr lang="en-GB" sz="1100" b="1" dirty="0">
                          <a:solidFill>
                            <a:srgbClr val="5B6890"/>
                          </a:solidFill>
                          <a:latin typeface="Inter Text" pitchFamily="34" charset="0"/>
                          <a:ea typeface="Inter Text" pitchFamily="34" charset="-122"/>
                          <a:cs typeface="Inter Text" pitchFamily="34" charset="-120"/>
                        </a:rPr>
                        <a:t>INVOIC D.24A</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16931-3-2 (</a:t>
                      </a:r>
                      <a:r>
                        <a:rPr lang="en-GB" sz="1100" b="1" dirty="0">
                          <a:solidFill>
                            <a:srgbClr val="5B6890"/>
                          </a:solidFill>
                          <a:latin typeface="Inter Text" pitchFamily="34" charset="0"/>
                          <a:ea typeface="Inter Text" pitchFamily="34" charset="-122"/>
                          <a:cs typeface="Inter Text" pitchFamily="34" charset="-120"/>
                        </a:rPr>
                        <a:t>UBL 2.5</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16931-3-3 (</a:t>
                      </a:r>
                      <a:r>
                        <a:rPr lang="en-GB" sz="1100" b="1" dirty="0">
                          <a:solidFill>
                            <a:srgbClr val="5B6890"/>
                          </a:solidFill>
                          <a:latin typeface="Inter Text" pitchFamily="34" charset="0"/>
                          <a:ea typeface="Inter Text" pitchFamily="34" charset="-122"/>
                          <a:cs typeface="Inter Text" pitchFamily="34" charset="-120"/>
                        </a:rPr>
                        <a:t>CII D.25A</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977759661"/>
                  </a:ext>
                </a:extLst>
              </a:tr>
              <a:tr h="411480">
                <a:tc gridSpan="4">
                  <a:txBody>
                    <a:bodyPr/>
                    <a:lstStyle/>
                    <a:p>
                      <a:pPr marL="0" indent="0" algn="l">
                        <a:buNone/>
                      </a:pPr>
                      <a:r>
                        <a:rPr lang="en-GB" sz="1100" b="0" dirty="0">
                          <a:solidFill>
                            <a:srgbClr val="0E7E82"/>
                          </a:solidFill>
                          <a:latin typeface="Inter SemiBold Text SemiBold" pitchFamily="34" charset="0"/>
                          <a:ea typeface="Inter SemiBold Text SemiBold" pitchFamily="34" charset="-122"/>
                          <a:cs typeface="Inter SemiBold Text SemiBold" pitchFamily="34" charset="-120"/>
                        </a:rPr>
                        <a:t>EN 16931-1:2017 + </a:t>
                      </a:r>
                      <a:r>
                        <a:rPr lang="en-GB" sz="1100" b="1" dirty="0">
                          <a:solidFill>
                            <a:srgbClr val="0E7E82"/>
                          </a:solidFill>
                          <a:latin typeface="Inter SemiBold Text SemiBold" pitchFamily="34" charset="0"/>
                          <a:ea typeface="Inter SemiBold Text SemiBold" pitchFamily="34" charset="-122"/>
                          <a:cs typeface="Inter SemiBold Text SemiBold" pitchFamily="34" charset="-120"/>
                        </a:rPr>
                        <a:t>Implementing Decision (EU) 2017/1870</a:t>
                      </a:r>
                      <a:r>
                        <a:rPr lang="en-GB" sz="1100" b="0" dirty="0">
                          <a:solidFill>
                            <a:srgbClr val="0E7E82"/>
                          </a:solidFill>
                          <a:latin typeface="Inter SemiBold Text SemiBold" pitchFamily="34" charset="0"/>
                          <a:ea typeface="Inter SemiBold Text SemiBold" pitchFamily="34" charset="-122"/>
                          <a:cs typeface="Inter SemiBold Text SemiBold" pitchFamily="34" charset="-120"/>
                        </a:rPr>
                        <a:t>: only </a:t>
                      </a:r>
                      <a:r>
                        <a:rPr lang="en-GB" sz="1100" b="1" dirty="0">
                          <a:solidFill>
                            <a:srgbClr val="0E7E82"/>
                          </a:solidFill>
                          <a:latin typeface="Inter SemiBold Text SemiBold" pitchFamily="34" charset="0"/>
                          <a:ea typeface="Inter SemiBold Text SemiBold" pitchFamily="34" charset="-122"/>
                          <a:cs typeface="Inter SemiBold Text SemiBold" pitchFamily="34" charset="-120"/>
                        </a:rPr>
                        <a:t>UBL 2.1 </a:t>
                      </a:r>
                      <a:r>
                        <a:rPr lang="en-GB" sz="1100" b="0" dirty="0">
                          <a:solidFill>
                            <a:srgbClr val="0E7E82"/>
                          </a:solidFill>
                          <a:latin typeface="Inter SemiBold Text SemiBold" pitchFamily="34" charset="0"/>
                          <a:ea typeface="Inter SemiBold Text SemiBold" pitchFamily="34" charset="-122"/>
                          <a:cs typeface="Inter SemiBold Text SemiBold" pitchFamily="34" charset="-120"/>
                        </a:rPr>
                        <a:t>and </a:t>
                      </a:r>
                      <a:r>
                        <a:rPr lang="en-GB" sz="1100" b="1">
                          <a:solidFill>
                            <a:srgbClr val="0E7E82"/>
                          </a:solidFill>
                          <a:latin typeface="Inter SemiBold Text SemiBold" pitchFamily="34" charset="0"/>
                          <a:ea typeface="Inter SemiBold Text SemiBold" pitchFamily="34" charset="-122"/>
                          <a:cs typeface="Inter SemiBold Text SemiBold" pitchFamily="34" charset="-120"/>
                        </a:rPr>
                        <a:t>CII D.16B </a:t>
                      </a:r>
                      <a:r>
                        <a:rPr lang="en-GB" sz="1100" b="0" dirty="0">
                          <a:solidFill>
                            <a:srgbClr val="0E7E82"/>
                          </a:solidFill>
                          <a:latin typeface="Inter SemiBold Text SemiBold" pitchFamily="34" charset="0"/>
                          <a:ea typeface="Inter SemiBold Text SemiBold" pitchFamily="34" charset="-122"/>
                          <a:cs typeface="Inter SemiBold Text SemiBold" pitchFamily="34" charset="-120"/>
                        </a:rPr>
                        <a:t>are on the list of </a:t>
                      </a:r>
                      <a:r>
                        <a:rPr lang="en-GB" sz="1100" b="0" dirty="0" err="1">
                          <a:solidFill>
                            <a:srgbClr val="0E7E82"/>
                          </a:solidFill>
                          <a:latin typeface="Inter SemiBold Text SemiBold" pitchFamily="34" charset="0"/>
                          <a:ea typeface="Inter SemiBold Text SemiBold" pitchFamily="34" charset="-122"/>
                          <a:cs typeface="Inter SemiBold Text SemiBold" pitchFamily="34" charset="-120"/>
                        </a:rPr>
                        <a:t>syntaxes</a:t>
                      </a:r>
                      <a:endParaRPr lang="en-GB" sz="1100" b="0" dirty="0">
                        <a:solidFill>
                          <a:srgbClr val="0E7E82"/>
                        </a:solidFill>
                        <a:latin typeface="Inter SemiBold Text SemiBold" pitchFamily="34" charset="0"/>
                        <a:ea typeface="Inter SemiBold Text SemiBold" pitchFamily="34" charset="-122"/>
                        <a:cs typeface="Inter SemiBold Text SemiBold" pitchFamily="34" charset="-120"/>
                      </a:endParaRP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7F8F8"/>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7"/>
                  </a:ext>
                </a:extLst>
              </a:tr>
            </a:tbl>
          </a:graphicData>
        </a:graphic>
      </p:graphicFrame>
      <p:sp>
        <p:nvSpPr>
          <p:cNvPr id="9" name="Speaker 9">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Folie 10">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SYNTAX · COMPARISON</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UBL &amp; CII vs. EDIFACT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Why EDIFACT needs a bilateral agreement.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E8EE8EC-098C-4E69-9B14-761A4432366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8</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77440"/>
          <a:ext cx="10543032" cy="3538728"/>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553712">
                  <a:extLst>
                    <a:ext uri="{9D8B030D-6E8A-4147-A177-3AD203B41FA5}">
                      <a16:colId xmlns:a16="http://schemas.microsoft.com/office/drawing/2014/main" val="20002"/>
                    </a:ext>
                  </a:extLst>
                </a:gridCol>
              </a:tblGrid>
              <a:tr h="384048">
                <a:tc>
                  <a:txBody>
                    <a:bodyPr/>
                    <a:lstStyle/>
                    <a:p>
                      <a:pPr marL="0" indent="0" algn="l">
                        <a:buNone/>
                      </a:pPr>
                      <a:endParaRP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UBL &amp; CII</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UN/EDIFACT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Standards body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OASIS (UBL, also ISO/IEC 19845) · UN/CEFACT (CII)</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UN/CEFACT (syntax: ISO 9735)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Technology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XML: named elements, XSD + CEN Schematron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Segments with separators; meaning via qualifiers (NAD+SU, DTM+137)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Character set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Unicode (UTF-8)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UNOA/UNOB (ISO 646), UNOC (Latin-1) …; UTF-8 (UNOW) only with syntax version 4, rarely used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Field lengths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Largely unlimited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Fixed maxima, e.g. an..35 for names → risk of truncation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CEN binding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16931-3-2 (UBL 2.1), -3-3 (CII D16B)</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CEN/TS 16931-3-4 (INVOIC D16B)</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Acceptance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Mandatory for public contracting authorities (Directive 2014/55/EU)</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Not on the list of syntaxes → bilateral agreement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6"/>
                  </a:ext>
                </a:extLst>
              </a:tr>
              <a:tr h="429768">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Example Germany (B2B)</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 14(1) sentence 6 no. 1 UStG: no consent required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 2: agreed format, lossless extraction to EN 16931; any form: framework contract, T&amp;Cs or practice (BMF 15 Oct 2024, para. 33, 63). Other EDI until end of 2027 (para. 65)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7"/>
                  </a:ext>
                </a:extLst>
              </a:tr>
            </a:tbl>
          </a:graphicData>
        </a:graphic>
      </p:graphicFrame>
      <p:sp>
        <p:nvSpPr>
          <p:cNvPr id="9" name="Speaker 9">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olie 1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SYNTAX · VERSIONS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UBL 2.5 and CII D25A</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From UBL 2.1 (2013) and CII D16B (2016) to the 2026 editions.</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0E5C9EFC-4290-4EE0-A8A6-0F01AC0D44C6}"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9</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75504" cy="3474720"/>
          </a:xfrm>
          <a:prstGeom prst="roundRect">
            <a:avLst>
              <a:gd name="adj" fmla="val 210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Text 9"/>
          <p:cNvSpPr txBox="1"/>
          <p:nvPr/>
        </p:nvSpPr>
        <p:spPr>
          <a:xfrm>
            <a:off x="1097280" y="2487168"/>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OASIS UBL</a:t>
            </a:r>
          </a:p>
        </p:txBody>
      </p:sp>
      <p:sp>
        <p:nvSpPr>
          <p:cNvPr id="10" name="Pill 10"/>
          <p:cNvSpPr/>
          <p:nvPr/>
        </p:nvSpPr>
        <p:spPr>
          <a:xfrm>
            <a:off x="1097280" y="2834640"/>
            <a:ext cx="1325880" cy="347472"/>
          </a:xfrm>
          <a:prstGeom prst="roundRect">
            <a:avLst>
              <a:gd name="adj" fmla="val 50000"/>
            </a:avLst>
          </a:prstGeom>
          <a:solidFill>
            <a:srgbClr val="EEF1F8"/>
          </a:solidFill>
          <a:ln w="9525">
            <a:solidFill>
              <a:srgbClr val="E2E7F2"/>
            </a:solidFill>
            <a:prstDash val="solid"/>
          </a:ln>
        </p:spPr>
        <p:txBody>
          <a:bodyPr wrap="square" lIns="36576" tIns="36576" rIns="36576" bIns="36576" rtlCol="0" anchor="ctr"/>
          <a:lstStyle/>
          <a:p>
            <a:pPr marL="0" indent="0" algn="ctr">
              <a:buNone/>
            </a:pP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UBL 2.1</a:t>
            </a:r>
          </a:p>
        </p:txBody>
      </p:sp>
      <p:cxnSp>
        <p:nvCxnSpPr>
          <p:cNvPr id="11" name="Connector 11"/>
          <p:cNvCxnSpPr/>
          <p:nvPr/>
        </p:nvCxnSpPr>
        <p:spPr>
          <a:xfrm>
            <a:off x="2514600" y="3008376"/>
            <a:ext cx="457200" cy="0"/>
          </a:xfrm>
          <a:prstGeom prst="line">
            <a:avLst/>
          </a:prstGeom>
          <a:ln w="19050">
            <a:solidFill>
              <a:srgbClr val="9AA4C2"/>
            </a:solidFill>
            <a:tailEnd type="triangle" w="med" len="med"/>
          </a:ln>
        </p:spPr>
      </p:cxnSp>
      <p:sp>
        <p:nvSpPr>
          <p:cNvPr id="12" name="Pill 12"/>
          <p:cNvSpPr/>
          <p:nvPr/>
        </p:nvSpPr>
        <p:spPr>
          <a:xfrm>
            <a:off x="3063240" y="2834640"/>
            <a:ext cx="1325880" cy="347472"/>
          </a:xfrm>
          <a:prstGeom prst="roundRect">
            <a:avLst>
              <a:gd name="adj" fmla="val 50000"/>
            </a:avLst>
          </a:prstGeom>
          <a:solidFill>
            <a:srgbClr val="1A2B5E"/>
          </a:solidFill>
          <a:ln>
            <a:noFill/>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UBL 2.5</a:t>
            </a:r>
          </a:p>
        </p:txBody>
      </p:sp>
      <p:sp>
        <p:nvSpPr>
          <p:cNvPr id="13" name="Text 13"/>
          <p:cNvSpPr txBox="1"/>
          <p:nvPr/>
        </p:nvSpPr>
        <p:spPr>
          <a:xfrm>
            <a:off x="4480560" y="2761488"/>
            <a:ext cx="1371600" cy="502920"/>
          </a:xfrm>
          <a:prstGeom prst="rect">
            <a:avLst/>
          </a:prstGeom>
          <a:noFill/>
          <a:ln/>
        </p:spPr>
        <p:txBody>
          <a:bodyPr wrap="square" lIns="0" tIns="0" rIns="0" bIns="0" rtlCol="0" anchor="ctr"/>
          <a:lstStyle/>
          <a:p>
            <a:pPr marL="0" indent="0" algn="r">
              <a:buNone/>
            </a:pPr>
            <a:r>
              <a:rPr lang="en-GB" sz="1900" b="1" dirty="0">
                <a:solidFill>
                  <a:srgbClr val="1A2B5E"/>
                </a:solidFill>
                <a:latin typeface="Inter Text" pitchFamily="34" charset="0"/>
                <a:ea typeface="Inter Text" pitchFamily="34" charset="-122"/>
                <a:cs typeface="Inter Text" pitchFamily="34" charset="-120"/>
              </a:rPr>
              <a:t>232 → 304</a:t>
            </a:r>
          </a:p>
        </p:txBody>
      </p:sp>
      <p:sp>
        <p:nvSpPr>
          <p:cNvPr id="14" name="Text 14"/>
          <p:cNvSpPr txBox="1"/>
          <p:nvPr/>
        </p:nvSpPr>
        <p:spPr>
          <a:xfrm>
            <a:off x="3840480" y="3218688"/>
            <a:ext cx="2011680" cy="274320"/>
          </a:xfrm>
          <a:prstGeom prst="rect">
            <a:avLst/>
          </a:prstGeom>
          <a:noFill/>
          <a:ln/>
        </p:spPr>
        <p:txBody>
          <a:bodyPr wrap="square" lIns="0" tIns="0" rIns="0" bIns="0" rtlCol="0" anchor="ctr"/>
          <a:lstStyle/>
          <a:p>
            <a:pPr marL="0" indent="0" algn="r">
              <a:buNone/>
            </a:pPr>
            <a:r>
              <a:rPr lang="en-GB" sz="950" dirty="0">
                <a:solidFill>
                  <a:srgbClr val="9AA4C2"/>
                </a:solidFill>
                <a:latin typeface="Inter Text" pitchFamily="34" charset="0"/>
                <a:ea typeface="Inter Text" pitchFamily="34" charset="-122"/>
                <a:cs typeface="Inter Text" pitchFamily="34" charset="-120"/>
              </a:rPr>
              <a:t>Entries in the mapping</a:t>
            </a:r>
          </a:p>
        </p:txBody>
      </p:sp>
      <p:sp>
        <p:nvSpPr>
          <p:cNvPr id="15" name="Text 15"/>
          <p:cNvSpPr txBox="1"/>
          <p:nvPr/>
        </p:nvSpPr>
        <p:spPr>
          <a:xfrm>
            <a:off x="1097280" y="3566160"/>
            <a:ext cx="4663440" cy="1371600"/>
          </a:xfrm>
          <a:prstGeom prst="rect">
            <a:avLst/>
          </a:prstGeom>
          <a:noFill/>
          <a:ln/>
        </p:spPr>
        <p:txBody>
          <a:bodyPr wrap="square" lIns="0" tIns="0" rIns="0" bIns="0" rtlCol="0" anchor="t"/>
          <a:lstStyle/>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OASIS Standard since 12 August 2026</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Buyer reference gets its own structure and may repeat</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Invoice notes move into their own annotation structure</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7 paths and 24 cardinalities changed</a:t>
            </a:r>
          </a:p>
        </p:txBody>
      </p:sp>
      <p:sp>
        <p:nvSpPr>
          <p:cNvPr id="16" name="Shape 16"/>
          <p:cNvSpPr/>
          <p:nvPr/>
        </p:nvSpPr>
        <p:spPr>
          <a:xfrm>
            <a:off x="1097280" y="5001768"/>
            <a:ext cx="4626864" cy="640080"/>
          </a:xfrm>
          <a:prstGeom prst="roundRect">
            <a:avLst>
              <a:gd name="adj" fmla="val 8571"/>
            </a:avLst>
          </a:prstGeom>
          <a:solidFill>
            <a:srgbClr val="F4F6FB"/>
          </a:solidFill>
          <a:ln w="9525">
            <a:solidFill>
              <a:srgbClr val="E2E7F2"/>
            </a:solidFill>
            <a:prstDash val="solid"/>
          </a:ln>
        </p:spPr>
        <p:txBody>
          <a:bodyPr wrap="square" lIns="73152" tIns="73152" rIns="73152" bIns="73152" rtlCol="0" anchor="ctr"/>
          <a:lstStyle/>
          <a:p>
            <a:pPr marL="0" indent="0" algn="l">
              <a:buNone/>
            </a:pPr>
            <a:r>
              <a:rPr lang="en-GB" sz="950" dirty="0">
                <a:solidFill>
                  <a:srgbClr val="1A2B5E"/>
                </a:solidFill>
                <a:latin typeface="Consolas" pitchFamily="34" charset="0"/>
                <a:ea typeface="Consolas" pitchFamily="34" charset="-122"/>
                <a:cs typeface="Consolas" pitchFamily="34" charset="-120"/>
              </a:rPr>
              <a:t>BT-10:  cbc:BuyerReference →</a:t>
            </a:r>
          </a:p>
          <a:p>
            <a:pPr marL="0" indent="0" algn="l">
              <a:buNone/>
            </a:pPr>
            <a:r>
              <a:rPr lang="en-GB" sz="950" dirty="0">
                <a:solidFill>
                  <a:srgbClr val="1A2B5E"/>
                </a:solidFill>
                <a:latin typeface="Consolas" pitchFamily="34" charset="0"/>
                <a:ea typeface="Consolas" pitchFamily="34" charset="-122"/>
                <a:cs typeface="Consolas" pitchFamily="34" charset="-120"/>
              </a:rPr>
              <a:t>           cac:BuyerAssignedReference/cbc:BuyerReference</a:t>
            </a:r>
          </a:p>
        </p:txBody>
      </p:sp>
      <p:sp>
        <p:nvSpPr>
          <p:cNvPr id="17" name="Card 17"/>
          <p:cNvSpPr/>
          <p:nvPr/>
        </p:nvSpPr>
        <p:spPr>
          <a:xfrm>
            <a:off x="6190488" y="2331720"/>
            <a:ext cx="5175504" cy="3474720"/>
          </a:xfrm>
          <a:prstGeom prst="roundRect">
            <a:avLst>
              <a:gd name="adj" fmla="val 210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8" name="Text 18"/>
          <p:cNvSpPr txBox="1"/>
          <p:nvPr/>
        </p:nvSpPr>
        <p:spPr>
          <a:xfrm>
            <a:off x="6464808" y="2487168"/>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UN/CEFACT CII</a:t>
            </a:r>
          </a:p>
        </p:txBody>
      </p:sp>
      <p:sp>
        <p:nvSpPr>
          <p:cNvPr id="19" name="Pill 19"/>
          <p:cNvSpPr/>
          <p:nvPr/>
        </p:nvSpPr>
        <p:spPr>
          <a:xfrm>
            <a:off x="6464808" y="2834640"/>
            <a:ext cx="1325880" cy="347472"/>
          </a:xfrm>
          <a:prstGeom prst="roundRect">
            <a:avLst>
              <a:gd name="adj" fmla="val 50000"/>
            </a:avLst>
          </a:prstGeom>
          <a:solidFill>
            <a:srgbClr val="EEF1F8"/>
          </a:solidFill>
          <a:ln w="9525">
            <a:solidFill>
              <a:srgbClr val="E2E7F2"/>
            </a:solidFill>
            <a:prstDash val="solid"/>
          </a:ln>
        </p:spPr>
        <p:txBody>
          <a:bodyPr wrap="square" lIns="36576" tIns="36576" rIns="36576" bIns="36576" rtlCol="0" anchor="ctr"/>
          <a:lstStyle/>
          <a:p>
            <a:pPr marL="0" indent="0" algn="ctr">
              <a:buNone/>
            </a:pP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CII D16B</a:t>
            </a:r>
          </a:p>
        </p:txBody>
      </p:sp>
      <p:cxnSp>
        <p:nvCxnSpPr>
          <p:cNvPr id="20" name="Connector 20"/>
          <p:cNvCxnSpPr/>
          <p:nvPr/>
        </p:nvCxnSpPr>
        <p:spPr>
          <a:xfrm>
            <a:off x="7882128" y="3008376"/>
            <a:ext cx="457200" cy="0"/>
          </a:xfrm>
          <a:prstGeom prst="line">
            <a:avLst/>
          </a:prstGeom>
          <a:ln w="19050">
            <a:solidFill>
              <a:srgbClr val="9AA4C2"/>
            </a:solidFill>
            <a:tailEnd type="triangle" w="med" len="med"/>
          </a:ln>
        </p:spPr>
      </p:cxnSp>
      <p:sp>
        <p:nvSpPr>
          <p:cNvPr id="21" name="Pill 21"/>
          <p:cNvSpPr/>
          <p:nvPr/>
        </p:nvSpPr>
        <p:spPr>
          <a:xfrm>
            <a:off x="8430768" y="2834640"/>
            <a:ext cx="1325880" cy="347472"/>
          </a:xfrm>
          <a:prstGeom prst="roundRect">
            <a:avLst>
              <a:gd name="adj" fmla="val 50000"/>
            </a:avLst>
          </a:prstGeom>
          <a:solidFill>
            <a:srgbClr val="1A2B5E"/>
          </a:solidFill>
          <a:ln>
            <a:noFill/>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CII D25A</a:t>
            </a:r>
          </a:p>
        </p:txBody>
      </p:sp>
      <p:sp>
        <p:nvSpPr>
          <p:cNvPr id="22" name="Text 22"/>
          <p:cNvSpPr txBox="1"/>
          <p:nvPr/>
        </p:nvSpPr>
        <p:spPr>
          <a:xfrm>
            <a:off x="9848088" y="2761488"/>
            <a:ext cx="1371600" cy="502920"/>
          </a:xfrm>
          <a:prstGeom prst="rect">
            <a:avLst/>
          </a:prstGeom>
          <a:noFill/>
          <a:ln/>
        </p:spPr>
        <p:txBody>
          <a:bodyPr wrap="square" lIns="0" tIns="0" rIns="0" bIns="0" rtlCol="0" anchor="ctr"/>
          <a:lstStyle/>
          <a:p>
            <a:pPr marL="0" indent="0" algn="r">
              <a:buNone/>
            </a:pPr>
            <a:r>
              <a:rPr lang="en-GB" sz="1900" b="1" dirty="0">
                <a:solidFill>
                  <a:srgbClr val="1A2B5E"/>
                </a:solidFill>
                <a:latin typeface="Inter Text" pitchFamily="34" charset="0"/>
                <a:ea typeface="Inter Text" pitchFamily="34" charset="-122"/>
                <a:cs typeface="Inter Text" pitchFamily="34" charset="-120"/>
              </a:rPr>
              <a:t>241 → 312</a:t>
            </a:r>
          </a:p>
        </p:txBody>
      </p:sp>
      <p:sp>
        <p:nvSpPr>
          <p:cNvPr id="23" name="Text 23"/>
          <p:cNvSpPr txBox="1"/>
          <p:nvPr/>
        </p:nvSpPr>
        <p:spPr>
          <a:xfrm>
            <a:off x="9208008" y="3218688"/>
            <a:ext cx="2011680" cy="274320"/>
          </a:xfrm>
          <a:prstGeom prst="rect">
            <a:avLst/>
          </a:prstGeom>
          <a:noFill/>
          <a:ln/>
        </p:spPr>
        <p:txBody>
          <a:bodyPr wrap="square" lIns="0" tIns="0" rIns="0" bIns="0" rtlCol="0" anchor="ctr"/>
          <a:lstStyle/>
          <a:p>
            <a:pPr marL="0" indent="0" algn="r">
              <a:buNone/>
            </a:pPr>
            <a:r>
              <a:rPr lang="en-GB" sz="950" dirty="0">
                <a:solidFill>
                  <a:srgbClr val="9AA4C2"/>
                </a:solidFill>
                <a:latin typeface="Inter Text" pitchFamily="34" charset="0"/>
                <a:ea typeface="Inter Text" pitchFamily="34" charset="-122"/>
                <a:cs typeface="Inter Text" pitchFamily="34" charset="-120"/>
              </a:rPr>
              <a:t>Entries in the mapping</a:t>
            </a:r>
          </a:p>
        </p:txBody>
      </p:sp>
      <p:sp>
        <p:nvSpPr>
          <p:cNvPr id="24" name="Text 24"/>
          <p:cNvSpPr txBox="1"/>
          <p:nvPr/>
        </p:nvSpPr>
        <p:spPr>
          <a:xfrm>
            <a:off x="6464808" y="3566160"/>
            <a:ext cx="4663440" cy="1371600"/>
          </a:xfrm>
          <a:prstGeom prst="rect">
            <a:avLst/>
          </a:prstGeom>
          <a:noFill/>
          <a:ln/>
        </p:spPr>
        <p:txBody>
          <a:bodyPr wrap="square" lIns="0" tIns="0" rIns="0" bIns="0" rtlCol="0" anchor="t"/>
          <a:lstStyle/>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Published by UN/CEFACT in June 2026</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Buyer reference moves into a new element and may repeat</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VAT category points to the varying code (standard rate, reverse charge, exempt …)</a:t>
            </a:r>
          </a:p>
          <a:p>
            <a:pPr marL="164592" indent="-164592" algn="l">
              <a:spcAft>
                <a:spcPts val="300"/>
              </a:spcAft>
              <a:buSzPct val="100000"/>
              <a:buChar char="•"/>
            </a:pPr>
            <a:r>
              <a:rPr lang="en-GB" sz="1200" dirty="0">
                <a:solidFill>
                  <a:srgbClr val="5B6890"/>
                </a:solidFill>
                <a:latin typeface="Inter Text" pitchFamily="34" charset="0"/>
                <a:ea typeface="Inter Text" pitchFamily="34" charset="-122"/>
                <a:cs typeface="Inter Text" pitchFamily="34" charset="-120"/>
              </a:rPr>
              <a:t>21 paths and 28 cardinalities changed</a:t>
            </a:r>
          </a:p>
        </p:txBody>
      </p:sp>
      <p:sp>
        <p:nvSpPr>
          <p:cNvPr id="25" name="Shape 25"/>
          <p:cNvSpPr/>
          <p:nvPr/>
        </p:nvSpPr>
        <p:spPr>
          <a:xfrm>
            <a:off x="6464808" y="5001768"/>
            <a:ext cx="4626864" cy="640080"/>
          </a:xfrm>
          <a:prstGeom prst="roundRect">
            <a:avLst>
              <a:gd name="adj" fmla="val 8571"/>
            </a:avLst>
          </a:prstGeom>
          <a:solidFill>
            <a:srgbClr val="F4F6FB"/>
          </a:solidFill>
          <a:ln w="9525">
            <a:solidFill>
              <a:srgbClr val="E2E7F2"/>
            </a:solidFill>
            <a:prstDash val="solid"/>
          </a:ln>
        </p:spPr>
        <p:txBody>
          <a:bodyPr wrap="square" lIns="73152" tIns="73152" rIns="73152" bIns="73152" rtlCol="0" anchor="ctr"/>
          <a:lstStyle/>
          <a:p>
            <a:pPr marL="0" indent="0" algn="l">
              <a:buNone/>
            </a:pPr>
            <a:r>
              <a:rPr lang="en-GB" sz="950" dirty="0">
                <a:solidFill>
                  <a:srgbClr val="1A2B5E"/>
                </a:solidFill>
                <a:latin typeface="Consolas" pitchFamily="34" charset="0"/>
                <a:ea typeface="Consolas" pitchFamily="34" charset="-122"/>
                <a:cs typeface="Consolas" pitchFamily="34" charset="-120"/>
              </a:rPr>
              <a:t>BT-10:  ram:BuyerReference → ram:BuyerReferenceID</a:t>
            </a:r>
          </a:p>
          <a:p>
            <a:pPr marL="0" indent="0" algn="l">
              <a:buNone/>
            </a:pPr>
            <a:r>
              <a:rPr lang="en-GB" sz="950" dirty="0">
                <a:solidFill>
                  <a:srgbClr val="1A2B5E"/>
                </a:solidFill>
                <a:latin typeface="Consolas" pitchFamily="34" charset="0"/>
                <a:ea typeface="Consolas" pitchFamily="34" charset="-122"/>
                <a:cs typeface="Consolas" pitchFamily="34" charset="-120"/>
              </a:rPr>
              <a:t>BT-95/102/118/151:  ram:TypeCode → ram:CategoryCode</a:t>
            </a:r>
          </a:p>
        </p:txBody>
      </p:sp>
      <p:sp>
        <p:nvSpPr>
          <p:cNvPr id="26" name="Pill 26"/>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50" dirty="0">
                <a:solidFill>
                  <a:srgbClr val="0E7E82"/>
                </a:solidFill>
                <a:latin typeface="Inter SemiBold Text SemiBold" pitchFamily="34" charset="0"/>
                <a:ea typeface="Inter SemiBold Text SemiBold" pitchFamily="34" charset="-122"/>
                <a:cs typeface="Inter SemiBold Text SemiBold" pitchFamily="34" charset="-120"/>
              </a:rPr>
              <a:t>In both syntaxes: 26 known errors of the 2017 mapping tables fixed</a:t>
            </a:r>
          </a:p>
        </p:txBody>
      </p:sp>
      <p:sp>
        <p:nvSpPr>
          <p:cNvPr id="27" name="Speaker 27">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Folie 1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SYNTAX · OVERVIEW</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The big picture in one sentence</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0B272998-D76C-4AB1-AFA7-7700ACF9435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10</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Panel 7"/>
          <p:cNvSpPr/>
          <p:nvPr/>
        </p:nvSpPr>
        <p:spPr>
          <a:xfrm>
            <a:off x="822960" y="2103120"/>
            <a:ext cx="10543032" cy="1097280"/>
          </a:xfrm>
          <a:prstGeom prst="roundRect">
            <a:avLst>
              <a:gd name="adj" fmla="val 8333"/>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8" name="Text 8"/>
          <p:cNvSpPr txBox="1"/>
          <p:nvPr/>
        </p:nvSpPr>
        <p:spPr>
          <a:xfrm>
            <a:off x="1188720" y="2103120"/>
            <a:ext cx="9875520" cy="1097280"/>
          </a:xfrm>
          <a:prstGeom prst="rect">
            <a:avLst/>
          </a:prstGeom>
          <a:noFill/>
          <a:ln/>
        </p:spPr>
        <p:txBody>
          <a:bodyPr wrap="square" lIns="0" tIns="0" rIns="0" bIns="0" rtlCol="0" anchor="ctr"/>
          <a:lstStyle/>
          <a:p>
            <a:pPr marL="0" indent="0" algn="l">
              <a:buNone/>
            </a:pPr>
            <a:r>
              <a:rPr lang="en-GB" sz="2800" dirty="0">
                <a:solidFill>
                  <a:srgbClr val="CBD8F7"/>
                </a:solidFill>
                <a:latin typeface="Inter Light Text Light" pitchFamily="34" charset="0"/>
                <a:ea typeface="Inter Light Text Light" pitchFamily="34" charset="-122"/>
                <a:cs typeface="Inter Light Text Light" pitchFamily="34" charset="-120"/>
              </a:rPr>
              <a:t>The 2026 invoice can </a:t>
            </a:r>
            <a:r>
              <a:rPr lang="en-GB" sz="2800" b="1" dirty="0">
                <a:solidFill>
                  <a:srgbClr val="FFFFFF"/>
                </a:solidFill>
                <a:latin typeface="Inter Text" pitchFamily="34" charset="0"/>
                <a:ea typeface="Inter Text" pitchFamily="34" charset="-122"/>
                <a:cs typeface="Inter Text" pitchFamily="34" charset="-120"/>
              </a:rPr>
              <a:t>say more</a:t>
            </a:r>
            <a:r>
              <a:rPr lang="en-GB" sz="2800" dirty="0">
                <a:solidFill>
                  <a:srgbClr val="CBD8F7"/>
                </a:solidFill>
                <a:latin typeface="Inter Light Text Light" pitchFamily="34" charset="0"/>
                <a:ea typeface="Inter Light Text Light" pitchFamily="34" charset="-122"/>
                <a:cs typeface="Inter Light Text Light" pitchFamily="34" charset="-120"/>
              </a:rPr>
              <a:t> — and says it </a:t>
            </a:r>
            <a:r>
              <a:rPr lang="en-GB" sz="2800" b="1" dirty="0">
                <a:solidFill>
                  <a:srgbClr val="58D6BB"/>
                </a:solidFill>
                <a:latin typeface="Inter Text" pitchFamily="34" charset="0"/>
                <a:ea typeface="Inter Text" pitchFamily="34" charset="-122"/>
                <a:cs typeface="Inter Text" pitchFamily="34" charset="-120"/>
              </a:rPr>
              <a:t>more clearly</a:t>
            </a:r>
            <a:r>
              <a:rPr lang="en-GB" sz="2800" dirty="0">
                <a:solidFill>
                  <a:srgbClr val="CBD8F7"/>
                </a:solidFill>
                <a:latin typeface="Inter Light Text Light" pitchFamily="34" charset="0"/>
                <a:ea typeface="Inter Light Text Light" pitchFamily="34" charset="-122"/>
                <a:cs typeface="Inter Light Text Light" pitchFamily="34" charset="-120"/>
              </a:rPr>
              <a:t>.</a:t>
            </a:r>
          </a:p>
        </p:txBody>
      </p:sp>
      <p:sp>
        <p:nvSpPr>
          <p:cNvPr id="9" name="Card 9"/>
          <p:cNvSpPr/>
          <p:nvPr/>
        </p:nvSpPr>
        <p:spPr>
          <a:xfrm>
            <a:off x="822960" y="3429000"/>
            <a:ext cx="2514600" cy="2194560"/>
          </a:xfrm>
          <a:prstGeom prst="roundRect">
            <a:avLst>
              <a:gd name="adj" fmla="val 33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Text 10"/>
          <p:cNvSpPr txBox="1"/>
          <p:nvPr/>
        </p:nvSpPr>
        <p:spPr>
          <a:xfrm>
            <a:off x="1051560" y="3611880"/>
            <a:ext cx="2103120" cy="868680"/>
          </a:xfrm>
          <a:prstGeom prst="rect">
            <a:avLst/>
          </a:prstGeom>
          <a:noFill/>
          <a:ln/>
        </p:spPr>
        <p:txBody>
          <a:bodyPr wrap="square" lIns="0" tIns="0" rIns="0" bIns="0" rtlCol="0" anchor="ctr"/>
          <a:lstStyle/>
          <a:p>
            <a:pPr marL="0" indent="0" algn="l">
              <a:buNone/>
            </a:pPr>
            <a:r>
              <a:rPr lang="en-GB" sz="4400" b="1" dirty="0">
                <a:solidFill>
                  <a:srgbClr val="19C3C8"/>
                </a:solidFill>
                <a:latin typeface="Inter Text" pitchFamily="34" charset="0"/>
                <a:ea typeface="Inter Text" pitchFamily="34" charset="-122"/>
                <a:cs typeface="Inter Text" pitchFamily="34" charset="-120"/>
              </a:rPr>
              <a:t>+30%</a:t>
            </a:r>
          </a:p>
        </p:txBody>
      </p:sp>
      <p:sp>
        <p:nvSpPr>
          <p:cNvPr id="11" name="Text 11"/>
          <p:cNvSpPr txBox="1"/>
          <p:nvPr/>
        </p:nvSpPr>
        <p:spPr>
          <a:xfrm>
            <a:off x="1051560" y="4526280"/>
            <a:ext cx="2103120" cy="365760"/>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more content</a:t>
            </a:r>
          </a:p>
        </p:txBody>
      </p:sp>
      <p:sp>
        <p:nvSpPr>
          <p:cNvPr id="12" name="Text 12"/>
          <p:cNvSpPr txBox="1"/>
          <p:nvPr/>
        </p:nvSpPr>
        <p:spPr>
          <a:xfrm>
            <a:off x="1051560" y="4892040"/>
            <a:ext cx="2103120" cy="640080"/>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CII mapping 241 → 312 entries, UBL 232 → 304</a:t>
            </a:r>
          </a:p>
        </p:txBody>
      </p:sp>
      <p:sp>
        <p:nvSpPr>
          <p:cNvPr id="13" name="Card 13"/>
          <p:cNvSpPr/>
          <p:nvPr/>
        </p:nvSpPr>
        <p:spPr>
          <a:xfrm>
            <a:off x="3502152" y="3429000"/>
            <a:ext cx="2514600" cy="2194560"/>
          </a:xfrm>
          <a:prstGeom prst="roundRect">
            <a:avLst>
              <a:gd name="adj" fmla="val 33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Text 14"/>
          <p:cNvSpPr txBox="1"/>
          <p:nvPr/>
        </p:nvSpPr>
        <p:spPr>
          <a:xfrm>
            <a:off x="3730752" y="3611880"/>
            <a:ext cx="2103120" cy="868680"/>
          </a:xfrm>
          <a:prstGeom prst="rect">
            <a:avLst/>
          </a:prstGeom>
          <a:noFill/>
          <a:ln/>
        </p:spPr>
        <p:txBody>
          <a:bodyPr wrap="square" lIns="0" tIns="0" rIns="0" bIns="0" rtlCol="0" anchor="ctr"/>
          <a:lstStyle/>
          <a:p>
            <a:pPr marL="0" indent="0" algn="l">
              <a:buNone/>
            </a:pPr>
            <a:r>
              <a:rPr lang="en-GB" sz="4400" b="1" dirty="0">
                <a:solidFill>
                  <a:srgbClr val="1A2B5E"/>
                </a:solidFill>
                <a:latin typeface="Inter Text" pitchFamily="34" charset="0"/>
                <a:ea typeface="Inter Text" pitchFamily="34" charset="-122"/>
                <a:cs typeface="Inter Text" pitchFamily="34" charset="-120"/>
              </a:rPr>
              <a:t>7</a:t>
            </a:r>
          </a:p>
        </p:txBody>
      </p:sp>
      <p:sp>
        <p:nvSpPr>
          <p:cNvPr id="15" name="Text 15"/>
          <p:cNvSpPr txBox="1"/>
          <p:nvPr/>
        </p:nvSpPr>
        <p:spPr>
          <a:xfrm>
            <a:off x="3730752" y="4526280"/>
            <a:ext cx="2103120" cy="365760"/>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new information groups</a:t>
            </a:r>
          </a:p>
        </p:txBody>
      </p:sp>
      <p:sp>
        <p:nvSpPr>
          <p:cNvPr id="16" name="Text 16"/>
          <p:cNvSpPr txBox="1"/>
          <p:nvPr/>
        </p:nvSpPr>
        <p:spPr>
          <a:xfrm>
            <a:off x="3730752" y="4892040"/>
            <a:ext cx="2103120" cy="640080"/>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BG-33 … BG-39</a:t>
            </a:r>
          </a:p>
        </p:txBody>
      </p:sp>
      <p:sp>
        <p:nvSpPr>
          <p:cNvPr id="17" name="Card 17"/>
          <p:cNvSpPr/>
          <p:nvPr/>
        </p:nvSpPr>
        <p:spPr>
          <a:xfrm>
            <a:off x="6181344" y="3429000"/>
            <a:ext cx="2514600" cy="2194560"/>
          </a:xfrm>
          <a:prstGeom prst="roundRect">
            <a:avLst>
              <a:gd name="adj" fmla="val 33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8" name="Text 18"/>
          <p:cNvSpPr txBox="1"/>
          <p:nvPr/>
        </p:nvSpPr>
        <p:spPr>
          <a:xfrm>
            <a:off x="6409944" y="3611880"/>
            <a:ext cx="2103120" cy="868680"/>
          </a:xfrm>
          <a:prstGeom prst="rect">
            <a:avLst/>
          </a:prstGeom>
          <a:noFill/>
          <a:ln/>
        </p:spPr>
        <p:txBody>
          <a:bodyPr wrap="square" lIns="0" tIns="0" rIns="0" bIns="0" rtlCol="0" anchor="ctr"/>
          <a:lstStyle/>
          <a:p>
            <a:pPr marL="0" indent="0" algn="l">
              <a:buNone/>
            </a:pPr>
            <a:r>
              <a:rPr lang="en-GB" sz="4400" b="1" dirty="0">
                <a:solidFill>
                  <a:srgbClr val="1A2B5E"/>
                </a:solidFill>
                <a:latin typeface="Inter Text" pitchFamily="34" charset="0"/>
                <a:ea typeface="Inter Text" pitchFamily="34" charset="-122"/>
                <a:cs typeface="Inter Text" pitchFamily="34" charset="-120"/>
              </a:rPr>
              <a:t>52</a:t>
            </a:r>
          </a:p>
        </p:txBody>
      </p:sp>
      <p:sp>
        <p:nvSpPr>
          <p:cNvPr id="19" name="Text 19"/>
          <p:cNvSpPr txBox="1"/>
          <p:nvPr/>
        </p:nvSpPr>
        <p:spPr>
          <a:xfrm>
            <a:off x="6409944" y="4526280"/>
            <a:ext cx="2103120" cy="365760"/>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new business terms</a:t>
            </a:r>
          </a:p>
        </p:txBody>
      </p:sp>
      <p:sp>
        <p:nvSpPr>
          <p:cNvPr id="20" name="Text 20"/>
          <p:cNvSpPr txBox="1"/>
          <p:nvPr/>
        </p:nvSpPr>
        <p:spPr>
          <a:xfrm>
            <a:off x="6409944" y="4892040"/>
            <a:ext cx="2103120" cy="640080"/>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Data fields 164 → 216</a:t>
            </a:r>
          </a:p>
        </p:txBody>
      </p:sp>
      <p:sp>
        <p:nvSpPr>
          <p:cNvPr id="21" name="Card 21"/>
          <p:cNvSpPr/>
          <p:nvPr/>
        </p:nvSpPr>
        <p:spPr>
          <a:xfrm>
            <a:off x="8860536" y="3429000"/>
            <a:ext cx="2514600" cy="2194560"/>
          </a:xfrm>
          <a:prstGeom prst="roundRect">
            <a:avLst>
              <a:gd name="adj" fmla="val 33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2" name="Text 22"/>
          <p:cNvSpPr txBox="1"/>
          <p:nvPr/>
        </p:nvSpPr>
        <p:spPr>
          <a:xfrm>
            <a:off x="9089136" y="3611880"/>
            <a:ext cx="2103120" cy="868680"/>
          </a:xfrm>
          <a:prstGeom prst="rect">
            <a:avLst/>
          </a:prstGeom>
          <a:noFill/>
          <a:ln/>
        </p:spPr>
        <p:txBody>
          <a:bodyPr wrap="square" lIns="0" tIns="0" rIns="0" bIns="0" rtlCol="0" anchor="ctr"/>
          <a:lstStyle/>
          <a:p>
            <a:pPr marL="0" indent="0" algn="l">
              <a:buNone/>
            </a:pPr>
            <a:r>
              <a:rPr lang="en-GB" sz="4400" b="1" dirty="0">
                <a:solidFill>
                  <a:srgbClr val="1A2B5E"/>
                </a:solidFill>
                <a:latin typeface="Inter Text" pitchFamily="34" charset="0"/>
                <a:ea typeface="Inter Text" pitchFamily="34" charset="-122"/>
                <a:cs typeface="Inter Text" pitchFamily="34" charset="-120"/>
              </a:rPr>
              <a:t>26</a:t>
            </a:r>
          </a:p>
        </p:txBody>
      </p:sp>
      <p:sp>
        <p:nvSpPr>
          <p:cNvPr id="23" name="Text 23"/>
          <p:cNvSpPr txBox="1"/>
          <p:nvPr/>
        </p:nvSpPr>
        <p:spPr>
          <a:xfrm>
            <a:off x="9089136" y="4526280"/>
            <a:ext cx="2103120" cy="365760"/>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errors fixed</a:t>
            </a:r>
          </a:p>
        </p:txBody>
      </p:sp>
      <p:sp>
        <p:nvSpPr>
          <p:cNvPr id="24" name="Text 24"/>
          <p:cNvSpPr txBox="1"/>
          <p:nvPr/>
        </p:nvSpPr>
        <p:spPr>
          <a:xfrm>
            <a:off x="9089136" y="4892040"/>
            <a:ext cx="2103120" cy="640080"/>
          </a:xfrm>
          <a:prstGeom prst="rect">
            <a:avLst/>
          </a:prstGeom>
          <a:noFill/>
          <a:ln/>
        </p:spPr>
        <p:txBody>
          <a:bodyPr wrap="square" lIns="0" tIns="0" rIns="0" bIns="0" rtlCol="0" anchor="t"/>
          <a:lstStyle/>
          <a:p>
            <a:pPr marL="0" indent="0" algn="l">
              <a:lnSpc>
                <a:spcPct val="108000"/>
              </a:lnSpc>
              <a:buNone/>
            </a:pPr>
            <a:r>
              <a:rPr lang="en-GB" sz="1150" dirty="0">
                <a:solidFill>
                  <a:srgbClr val="5B6890"/>
                </a:solidFill>
                <a:latin typeface="Inter Text" pitchFamily="34" charset="0"/>
                <a:ea typeface="Inter Text" pitchFamily="34" charset="-122"/>
                <a:cs typeface="Inter Text" pitchFamily="34" charset="-120"/>
              </a:rPr>
              <a:t>known errors of the 2017 tables, per format</a:t>
            </a:r>
          </a:p>
        </p:txBody>
      </p:sp>
      <p:sp>
        <p:nvSpPr>
          <p:cNvPr id="25" name="Pill 25"/>
          <p:cNvSpPr/>
          <p:nvPr/>
        </p:nvSpPr>
        <p:spPr>
          <a:xfrm>
            <a:off x="822960" y="5852160"/>
            <a:ext cx="10543032" cy="45720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50" dirty="0">
                <a:solidFill>
                  <a:srgbClr val="0E7E82"/>
                </a:solidFill>
                <a:latin typeface="Inter SemiBold Text SemiBold" pitchFamily="34" charset="0"/>
                <a:ea typeface="Inter SemiBold Text SemiBold" pitchFamily="34" charset="-122"/>
                <a:cs typeface="Inter SemiBold Text SemiBold" pitchFamily="34" charset="-120"/>
              </a:rPr>
              <a:t>Both XML formats on current versions:  </a:t>
            </a: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CII D16B → D25A  and  UBL 2.1 → 2.5</a:t>
            </a:r>
          </a:p>
        </p:txBody>
      </p:sp>
      <p:sp>
        <p:nvSpPr>
          <p:cNvPr id="26" name="Speaker 2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olie 14">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EUROPE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E-invoicing formats in the EU</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232B8545-D97B-4B6A-BB6D-B84F7209C1BF}"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11</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Card 7"/>
          <p:cNvSpPr/>
          <p:nvPr/>
        </p:nvSpPr>
        <p:spPr>
          <a:xfrm>
            <a:off x="822960" y="2103120"/>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8" name="Flag 8"/>
          <p:cNvPicPr>
            <a:picLocks noChangeAspect="1"/>
          </p:cNvPicPr>
          <p:nvPr/>
        </p:nvPicPr>
        <p:blipFill>
          <a:blip r:embed="rId3"/>
          <a:stretch>
            <a:fillRect/>
          </a:stretch>
        </p:blipFill>
        <p:spPr>
          <a:xfrm>
            <a:off x="1024128" y="2249424"/>
            <a:ext cx="384048" cy="256032"/>
          </a:xfrm>
          <a:prstGeom prst="rect">
            <a:avLst/>
          </a:prstGeom>
        </p:spPr>
      </p:pic>
      <p:sp>
        <p:nvSpPr>
          <p:cNvPr id="9" name="Text 9"/>
          <p:cNvSpPr txBox="1"/>
          <p:nvPr/>
        </p:nvSpPr>
        <p:spPr>
          <a:xfrm>
            <a:off x="1508760" y="2167128"/>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AT</a:t>
            </a:r>
          </a:p>
        </p:txBody>
      </p:sp>
      <p:sp>
        <p:nvSpPr>
          <p:cNvPr id="10" name="Text 10"/>
          <p:cNvSpPr txBox="1"/>
          <p:nvPr/>
        </p:nvSpPr>
        <p:spPr>
          <a:xfrm>
            <a:off x="1965960" y="2167128"/>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4"/>
              </a:rPr>
              <a:t>ebInterface</a:t>
            </a:r>
          </a:p>
        </p:txBody>
      </p:sp>
      <p:sp>
        <p:nvSpPr>
          <p:cNvPr id="11" name="Text 11"/>
          <p:cNvSpPr txBox="1"/>
          <p:nvPr/>
        </p:nvSpPr>
        <p:spPr>
          <a:xfrm>
            <a:off x="1965960" y="2487168"/>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5"/>
              </a:rPr>
              <a:t>2014 federal B2G</a:t>
            </a:r>
          </a:p>
        </p:txBody>
      </p:sp>
      <p:sp>
        <p:nvSpPr>
          <p:cNvPr id="12" name="Card 12"/>
          <p:cNvSpPr/>
          <p:nvPr/>
        </p:nvSpPr>
        <p:spPr>
          <a:xfrm>
            <a:off x="822960" y="2862072"/>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13" name="Flag 13"/>
          <p:cNvPicPr>
            <a:picLocks noChangeAspect="1"/>
          </p:cNvPicPr>
          <p:nvPr/>
        </p:nvPicPr>
        <p:blipFill>
          <a:blip r:embed="rId6"/>
          <a:stretch>
            <a:fillRect/>
          </a:stretch>
        </p:blipFill>
        <p:spPr>
          <a:xfrm>
            <a:off x="1024128" y="3008376"/>
            <a:ext cx="384048" cy="256032"/>
          </a:xfrm>
          <a:prstGeom prst="rect">
            <a:avLst/>
          </a:prstGeom>
        </p:spPr>
      </p:pic>
      <p:sp>
        <p:nvSpPr>
          <p:cNvPr id="14" name="Text 14"/>
          <p:cNvSpPr txBox="1"/>
          <p:nvPr/>
        </p:nvSpPr>
        <p:spPr>
          <a:xfrm>
            <a:off x="1508760" y="2926080"/>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EE</a:t>
            </a:r>
          </a:p>
        </p:txBody>
      </p:sp>
      <p:sp>
        <p:nvSpPr>
          <p:cNvPr id="15" name="Text 15"/>
          <p:cNvSpPr txBox="1"/>
          <p:nvPr/>
        </p:nvSpPr>
        <p:spPr>
          <a:xfrm>
            <a:off x="1965960" y="2926080"/>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7"/>
              </a:rPr>
              <a:t>EVS 923</a:t>
            </a:r>
          </a:p>
        </p:txBody>
      </p:sp>
      <p:sp>
        <p:nvSpPr>
          <p:cNvPr id="16" name="Text 16"/>
          <p:cNvSpPr txBox="1"/>
          <p:nvPr/>
        </p:nvSpPr>
        <p:spPr>
          <a:xfrm>
            <a:off x="1965960" y="3246120"/>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8"/>
              </a:rPr>
              <a:t>2019 B2G</a:t>
            </a:r>
          </a:p>
        </p:txBody>
      </p:sp>
      <p:sp>
        <p:nvSpPr>
          <p:cNvPr id="17" name="Card 17"/>
          <p:cNvSpPr/>
          <p:nvPr/>
        </p:nvSpPr>
        <p:spPr>
          <a:xfrm>
            <a:off x="822960" y="3621024"/>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18" name="Flag 18"/>
          <p:cNvPicPr>
            <a:picLocks noChangeAspect="1"/>
          </p:cNvPicPr>
          <p:nvPr/>
        </p:nvPicPr>
        <p:blipFill>
          <a:blip r:embed="rId9"/>
          <a:stretch>
            <a:fillRect/>
          </a:stretch>
        </p:blipFill>
        <p:spPr>
          <a:xfrm>
            <a:off x="1024128" y="3767328"/>
            <a:ext cx="384048" cy="256032"/>
          </a:xfrm>
          <a:prstGeom prst="rect">
            <a:avLst/>
          </a:prstGeom>
        </p:spPr>
      </p:pic>
      <p:sp>
        <p:nvSpPr>
          <p:cNvPr id="19" name="Text 19"/>
          <p:cNvSpPr txBox="1"/>
          <p:nvPr/>
        </p:nvSpPr>
        <p:spPr>
          <a:xfrm>
            <a:off x="1508760" y="3685032"/>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ES</a:t>
            </a:r>
          </a:p>
        </p:txBody>
      </p:sp>
      <p:sp>
        <p:nvSpPr>
          <p:cNvPr id="20" name="Text 20"/>
          <p:cNvSpPr txBox="1"/>
          <p:nvPr/>
        </p:nvSpPr>
        <p:spPr>
          <a:xfrm>
            <a:off x="1965960" y="3685032"/>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10"/>
              </a:rPr>
              <a:t>Facturae</a:t>
            </a:r>
            <a:r>
              <a:rPr lang="en-GB" sz="1400" dirty="0">
                <a:solidFill>
                  <a:srgbClr val="9AA4C2"/>
                </a:solidFill>
                <a:latin typeface="Inter Text" pitchFamily="34" charset="0"/>
                <a:ea typeface="Inter Text" pitchFamily="34" charset="-122"/>
                <a:cs typeface="Inter Text" pitchFamily="34" charset="-120"/>
              </a:rPr>
              <a:t> or </a:t>
            </a: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11"/>
              </a:rPr>
              <a:t>UN/EDIFACT</a:t>
            </a:r>
          </a:p>
        </p:txBody>
      </p:sp>
      <p:sp>
        <p:nvSpPr>
          <p:cNvPr id="21" name="Text 21"/>
          <p:cNvSpPr txBox="1"/>
          <p:nvPr/>
        </p:nvSpPr>
        <p:spPr>
          <a:xfrm>
            <a:off x="1965960" y="4005072"/>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 or EDIFACT</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12"/>
              </a:rPr>
              <a:t>2015 B2G</a:t>
            </a:r>
          </a:p>
        </p:txBody>
      </p:sp>
      <p:sp>
        <p:nvSpPr>
          <p:cNvPr id="22" name="Card 22"/>
          <p:cNvSpPr/>
          <p:nvPr/>
        </p:nvSpPr>
        <p:spPr>
          <a:xfrm>
            <a:off x="822960" y="4379976"/>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23" name="Flag 23"/>
          <p:cNvPicPr>
            <a:picLocks noChangeAspect="1"/>
          </p:cNvPicPr>
          <p:nvPr/>
        </p:nvPicPr>
        <p:blipFill>
          <a:blip r:embed="rId13"/>
          <a:stretch>
            <a:fillRect/>
          </a:stretch>
        </p:blipFill>
        <p:spPr>
          <a:xfrm>
            <a:off x="1024128" y="4526280"/>
            <a:ext cx="384048" cy="256032"/>
          </a:xfrm>
          <a:prstGeom prst="rect">
            <a:avLst/>
          </a:prstGeom>
        </p:spPr>
      </p:pic>
      <p:sp>
        <p:nvSpPr>
          <p:cNvPr id="24" name="Text 24"/>
          <p:cNvSpPr txBox="1"/>
          <p:nvPr/>
        </p:nvSpPr>
        <p:spPr>
          <a:xfrm>
            <a:off x="1508760" y="4443984"/>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FI</a:t>
            </a:r>
          </a:p>
        </p:txBody>
      </p:sp>
      <p:sp>
        <p:nvSpPr>
          <p:cNvPr id="25" name="Text 25"/>
          <p:cNvSpPr txBox="1"/>
          <p:nvPr/>
        </p:nvSpPr>
        <p:spPr>
          <a:xfrm>
            <a:off x="1965960" y="4443984"/>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14"/>
              </a:rPr>
              <a:t>Finvoice</a:t>
            </a:r>
            <a:r>
              <a:rPr lang="en-GB" sz="1400" dirty="0">
                <a:solidFill>
                  <a:srgbClr val="9AA4C2"/>
                </a:solidFill>
                <a:latin typeface="Inter Text" pitchFamily="34" charset="0"/>
                <a:ea typeface="Inter Text" pitchFamily="34" charset="-122"/>
                <a:cs typeface="Inter Text" pitchFamily="34" charset="-120"/>
              </a:rPr>
              <a:t> or </a:t>
            </a: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14"/>
              </a:rPr>
              <a:t>TEAPPSXML</a:t>
            </a:r>
          </a:p>
        </p:txBody>
      </p:sp>
      <p:sp>
        <p:nvSpPr>
          <p:cNvPr id="26" name="Text 26"/>
          <p:cNvSpPr txBox="1"/>
          <p:nvPr/>
        </p:nvSpPr>
        <p:spPr>
          <a:xfrm>
            <a:off x="1965960" y="4764024"/>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15"/>
              </a:rPr>
              <a:t>2020 right to e-invoice</a:t>
            </a:r>
          </a:p>
        </p:txBody>
      </p:sp>
      <p:sp>
        <p:nvSpPr>
          <p:cNvPr id="27" name="Card 27"/>
          <p:cNvSpPr/>
          <p:nvPr/>
        </p:nvSpPr>
        <p:spPr>
          <a:xfrm>
            <a:off x="822960" y="5138928"/>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28" name="Flag 28"/>
          <p:cNvPicPr>
            <a:picLocks noChangeAspect="1"/>
          </p:cNvPicPr>
          <p:nvPr/>
        </p:nvPicPr>
        <p:blipFill>
          <a:blip r:embed="rId16"/>
          <a:stretch>
            <a:fillRect/>
          </a:stretch>
        </p:blipFill>
        <p:spPr>
          <a:xfrm>
            <a:off x="1024128" y="5285232"/>
            <a:ext cx="384048" cy="256032"/>
          </a:xfrm>
          <a:prstGeom prst="rect">
            <a:avLst/>
          </a:prstGeom>
        </p:spPr>
      </p:pic>
      <p:sp>
        <p:nvSpPr>
          <p:cNvPr id="29" name="Text 29"/>
          <p:cNvSpPr txBox="1"/>
          <p:nvPr/>
        </p:nvSpPr>
        <p:spPr>
          <a:xfrm>
            <a:off x="1508760" y="5202936"/>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IT</a:t>
            </a:r>
          </a:p>
        </p:txBody>
      </p:sp>
      <p:sp>
        <p:nvSpPr>
          <p:cNvPr id="30" name="Text 30"/>
          <p:cNvSpPr txBox="1"/>
          <p:nvPr/>
        </p:nvSpPr>
        <p:spPr>
          <a:xfrm>
            <a:off x="1965960" y="5202936"/>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17"/>
              </a:rPr>
              <a:t>FatturaPA</a:t>
            </a:r>
          </a:p>
        </p:txBody>
      </p:sp>
      <p:sp>
        <p:nvSpPr>
          <p:cNvPr id="31" name="Text 31"/>
          <p:cNvSpPr txBox="1"/>
          <p:nvPr/>
        </p:nvSpPr>
        <p:spPr>
          <a:xfrm>
            <a:off x="1965960" y="5522976"/>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18"/>
              </a:rPr>
              <a:t>2019 B2B</a:t>
            </a:r>
          </a:p>
        </p:txBody>
      </p:sp>
      <p:sp>
        <p:nvSpPr>
          <p:cNvPr id="32" name="Card 32"/>
          <p:cNvSpPr/>
          <p:nvPr/>
        </p:nvSpPr>
        <p:spPr>
          <a:xfrm>
            <a:off x="6190488" y="2103120"/>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33" name="Flag 33"/>
          <p:cNvPicPr>
            <a:picLocks noChangeAspect="1"/>
          </p:cNvPicPr>
          <p:nvPr/>
        </p:nvPicPr>
        <p:blipFill>
          <a:blip r:embed="rId19"/>
          <a:stretch>
            <a:fillRect/>
          </a:stretch>
        </p:blipFill>
        <p:spPr>
          <a:xfrm>
            <a:off x="6391656" y="2258568"/>
            <a:ext cx="384048" cy="237744"/>
          </a:xfrm>
          <a:prstGeom prst="rect">
            <a:avLst/>
          </a:prstGeom>
        </p:spPr>
      </p:pic>
      <p:sp>
        <p:nvSpPr>
          <p:cNvPr id="34" name="Text 34"/>
          <p:cNvSpPr txBox="1"/>
          <p:nvPr/>
        </p:nvSpPr>
        <p:spPr>
          <a:xfrm>
            <a:off x="6876288" y="2167128"/>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PL</a:t>
            </a:r>
          </a:p>
        </p:txBody>
      </p:sp>
      <p:sp>
        <p:nvSpPr>
          <p:cNvPr id="35" name="Text 35"/>
          <p:cNvSpPr txBox="1"/>
          <p:nvPr/>
        </p:nvSpPr>
        <p:spPr>
          <a:xfrm>
            <a:off x="7333488" y="2167128"/>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20"/>
              </a:rPr>
              <a:t>FA(3)</a:t>
            </a:r>
          </a:p>
        </p:txBody>
      </p:sp>
      <p:sp>
        <p:nvSpPr>
          <p:cNvPr id="36" name="Text 36"/>
          <p:cNvSpPr txBox="1"/>
          <p:nvPr/>
        </p:nvSpPr>
        <p:spPr>
          <a:xfrm>
            <a:off x="7333488" y="2487168"/>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21"/>
              </a:rPr>
              <a:t>2026 B2B phased</a:t>
            </a:r>
          </a:p>
        </p:txBody>
      </p:sp>
      <p:sp>
        <p:nvSpPr>
          <p:cNvPr id="37" name="Card 37"/>
          <p:cNvSpPr/>
          <p:nvPr/>
        </p:nvSpPr>
        <p:spPr>
          <a:xfrm>
            <a:off x="6190488" y="2862072"/>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38" name="Flag 38"/>
          <p:cNvPicPr>
            <a:picLocks noChangeAspect="1"/>
          </p:cNvPicPr>
          <p:nvPr/>
        </p:nvPicPr>
        <p:blipFill>
          <a:blip r:embed="rId22"/>
          <a:stretch>
            <a:fillRect/>
          </a:stretch>
        </p:blipFill>
        <p:spPr>
          <a:xfrm>
            <a:off x="6391656" y="3040380"/>
            <a:ext cx="384048" cy="192024"/>
          </a:xfrm>
          <a:prstGeom prst="rect">
            <a:avLst/>
          </a:prstGeom>
        </p:spPr>
      </p:pic>
      <p:sp>
        <p:nvSpPr>
          <p:cNvPr id="39" name="Text 39"/>
          <p:cNvSpPr txBox="1"/>
          <p:nvPr/>
        </p:nvSpPr>
        <p:spPr>
          <a:xfrm>
            <a:off x="6876288" y="2926080"/>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SI</a:t>
            </a:r>
          </a:p>
        </p:txBody>
      </p:sp>
      <p:sp>
        <p:nvSpPr>
          <p:cNvPr id="40" name="Text 40"/>
          <p:cNvSpPr txBox="1"/>
          <p:nvPr/>
        </p:nvSpPr>
        <p:spPr>
          <a:xfrm>
            <a:off x="7333488" y="2926080"/>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23"/>
              </a:rPr>
              <a:t>e-SLOG</a:t>
            </a:r>
          </a:p>
        </p:txBody>
      </p:sp>
      <p:sp>
        <p:nvSpPr>
          <p:cNvPr id="41" name="Text 41"/>
          <p:cNvSpPr txBox="1"/>
          <p:nvPr/>
        </p:nvSpPr>
        <p:spPr>
          <a:xfrm>
            <a:off x="7333488" y="3246120"/>
            <a:ext cx="3931920" cy="237744"/>
          </a:xfrm>
          <a:prstGeom prst="rect">
            <a:avLst/>
          </a:prstGeom>
          <a:noFill/>
          <a:ln/>
        </p:spPr>
        <p:txBody>
          <a:bodyPr wrap="none" lIns="0" tIns="0" rIns="0" bIns="0" rtlCol="0" anchor="ctr"/>
          <a:lstStyle/>
          <a:p>
            <a:pPr marL="0" indent="0" algn="l">
              <a:buNone/>
            </a:pPr>
            <a:r>
              <a:rPr lang="en-GB" sz="1150" dirty="0">
                <a:solidFill>
                  <a:srgbClr val="B42318"/>
                </a:solidFill>
                <a:latin typeface="Inter Text" pitchFamily="34" charset="0"/>
                <a:ea typeface="Inter Text" pitchFamily="34" charset="-122"/>
                <a:cs typeface="Inter Text" pitchFamily="34" charset="-120"/>
              </a:rPr>
              <a:t>National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24"/>
              </a:rPr>
              <a:t>2015 B2G</a:t>
            </a:r>
          </a:p>
        </p:txBody>
      </p:sp>
      <p:sp>
        <p:nvSpPr>
          <p:cNvPr id="42" name="Card 42"/>
          <p:cNvSpPr/>
          <p:nvPr/>
        </p:nvSpPr>
        <p:spPr>
          <a:xfrm>
            <a:off x="6190488" y="3621024"/>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43" name="Flag 43"/>
          <p:cNvPicPr>
            <a:picLocks noChangeAspect="1"/>
          </p:cNvPicPr>
          <p:nvPr/>
        </p:nvPicPr>
        <p:blipFill>
          <a:blip r:embed="rId25"/>
          <a:stretch>
            <a:fillRect/>
          </a:stretch>
        </p:blipFill>
        <p:spPr>
          <a:xfrm>
            <a:off x="6446520" y="3776472"/>
            <a:ext cx="274320" cy="237744"/>
          </a:xfrm>
          <a:prstGeom prst="rect">
            <a:avLst/>
          </a:prstGeom>
        </p:spPr>
      </p:pic>
      <p:sp>
        <p:nvSpPr>
          <p:cNvPr id="44" name="Text 44"/>
          <p:cNvSpPr txBox="1"/>
          <p:nvPr/>
        </p:nvSpPr>
        <p:spPr>
          <a:xfrm>
            <a:off x="6876288" y="3685032"/>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BE</a:t>
            </a:r>
          </a:p>
        </p:txBody>
      </p:sp>
      <p:sp>
        <p:nvSpPr>
          <p:cNvPr id="45" name="Text 45"/>
          <p:cNvSpPr txBox="1"/>
          <p:nvPr/>
        </p:nvSpPr>
        <p:spPr>
          <a:xfrm>
            <a:off x="7333488" y="3685032"/>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26"/>
              </a:rPr>
              <a:t>Peppol BIS Billing</a:t>
            </a:r>
          </a:p>
        </p:txBody>
      </p:sp>
      <p:sp>
        <p:nvSpPr>
          <p:cNvPr id="46" name="Text 46"/>
          <p:cNvSpPr txBox="1"/>
          <p:nvPr/>
        </p:nvSpPr>
        <p:spPr>
          <a:xfrm>
            <a:off x="7333488" y="4005072"/>
            <a:ext cx="3931920" cy="237744"/>
          </a:xfrm>
          <a:prstGeom prst="rect">
            <a:avLst/>
          </a:prstGeom>
          <a:noFill/>
          <a:ln/>
        </p:spPr>
        <p:txBody>
          <a:bodyPr wrap="none" lIns="0" tIns="0" rIns="0" bIns="0" rtlCol="0" anchor="ctr"/>
          <a:lstStyle/>
          <a:p>
            <a:pPr marL="0" indent="0" algn="l">
              <a:buNone/>
            </a:pPr>
            <a:r>
              <a:rPr lang="en-GB" sz="1150" dirty="0">
                <a:solidFill>
                  <a:srgbClr val="137333"/>
                </a:solidFill>
                <a:latin typeface="Inter Text" pitchFamily="34" charset="0"/>
                <a:ea typeface="Inter Text" pitchFamily="34" charset="-122"/>
                <a:cs typeface="Inter Text" pitchFamily="34" charset="-120"/>
              </a:rPr>
              <a:t>UBL XML mandatory, CII additionally</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27"/>
              </a:rPr>
              <a:t>2026 B2B</a:t>
            </a:r>
          </a:p>
        </p:txBody>
      </p:sp>
      <p:sp>
        <p:nvSpPr>
          <p:cNvPr id="47" name="Card 47"/>
          <p:cNvSpPr/>
          <p:nvPr/>
        </p:nvSpPr>
        <p:spPr>
          <a:xfrm>
            <a:off x="6190488" y="4379976"/>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48" name="Flag 48"/>
          <p:cNvPicPr>
            <a:picLocks noChangeAspect="1"/>
          </p:cNvPicPr>
          <p:nvPr/>
        </p:nvPicPr>
        <p:blipFill>
          <a:blip r:embed="rId28"/>
          <a:stretch>
            <a:fillRect/>
          </a:stretch>
        </p:blipFill>
        <p:spPr>
          <a:xfrm>
            <a:off x="6391656" y="4526280"/>
            <a:ext cx="384048" cy="256032"/>
          </a:xfrm>
          <a:prstGeom prst="rect">
            <a:avLst/>
          </a:prstGeom>
        </p:spPr>
      </p:pic>
      <p:sp>
        <p:nvSpPr>
          <p:cNvPr id="49" name="Text 49"/>
          <p:cNvSpPr txBox="1"/>
          <p:nvPr/>
        </p:nvSpPr>
        <p:spPr>
          <a:xfrm>
            <a:off x="6876288" y="4443984"/>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DE</a:t>
            </a:r>
          </a:p>
        </p:txBody>
      </p:sp>
      <p:sp>
        <p:nvSpPr>
          <p:cNvPr id="50" name="Text 50"/>
          <p:cNvSpPr txBox="1"/>
          <p:nvPr/>
        </p:nvSpPr>
        <p:spPr>
          <a:xfrm>
            <a:off x="7333488" y="4443984"/>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29"/>
              </a:rPr>
              <a:t>XRechnung</a:t>
            </a:r>
            <a:r>
              <a:rPr lang="en-GB" sz="1400" dirty="0">
                <a:solidFill>
                  <a:srgbClr val="9AA4C2"/>
                </a:solidFill>
                <a:latin typeface="Inter Text" pitchFamily="34" charset="0"/>
                <a:ea typeface="Inter Text" pitchFamily="34" charset="-122"/>
                <a:cs typeface="Inter Text" pitchFamily="34" charset="-120"/>
              </a:rPr>
              <a:t> or </a:t>
            </a: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30"/>
              </a:rPr>
              <a:t>ZUGFeRD / Factur-X</a:t>
            </a:r>
          </a:p>
        </p:txBody>
      </p:sp>
      <p:sp>
        <p:nvSpPr>
          <p:cNvPr id="51" name="Text 51"/>
          <p:cNvSpPr txBox="1"/>
          <p:nvPr/>
        </p:nvSpPr>
        <p:spPr>
          <a:xfrm>
            <a:off x="7333488" y="4764024"/>
            <a:ext cx="3931920" cy="237744"/>
          </a:xfrm>
          <a:prstGeom prst="rect">
            <a:avLst/>
          </a:prstGeom>
          <a:noFill/>
          <a:ln/>
        </p:spPr>
        <p:txBody>
          <a:bodyPr wrap="none" lIns="0" tIns="0" rIns="0" bIns="0" rtlCol="0" anchor="ctr"/>
          <a:lstStyle/>
          <a:p>
            <a:pPr marL="0" indent="0" algn="l">
              <a:buNone/>
            </a:pPr>
            <a:r>
              <a:rPr lang="en-GB" sz="1150" dirty="0">
                <a:solidFill>
                  <a:srgbClr val="137333"/>
                </a:solidFill>
                <a:latin typeface="Inter Text" pitchFamily="34" charset="0"/>
                <a:ea typeface="Inter Text" pitchFamily="34" charset="-122"/>
                <a:cs typeface="Inter Text" pitchFamily="34" charset="-120"/>
              </a:rPr>
              <a:t>UBL/CII XML or PDF + CII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30"/>
              </a:rPr>
              <a:t>2025 B2B receipt</a:t>
            </a:r>
          </a:p>
        </p:txBody>
      </p:sp>
      <p:sp>
        <p:nvSpPr>
          <p:cNvPr id="52" name="Card 52"/>
          <p:cNvSpPr/>
          <p:nvPr/>
        </p:nvSpPr>
        <p:spPr>
          <a:xfrm>
            <a:off x="6190488" y="5138928"/>
            <a:ext cx="5175504" cy="676656"/>
          </a:xfrm>
          <a:prstGeom prst="roundRect">
            <a:avLst>
              <a:gd name="adj" fmla="val 9459"/>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pic>
        <p:nvPicPr>
          <p:cNvPr id="53" name="Flag 53"/>
          <p:cNvPicPr>
            <a:picLocks noChangeAspect="1"/>
          </p:cNvPicPr>
          <p:nvPr/>
        </p:nvPicPr>
        <p:blipFill>
          <a:blip r:embed="rId31"/>
          <a:stretch>
            <a:fillRect/>
          </a:stretch>
        </p:blipFill>
        <p:spPr>
          <a:xfrm>
            <a:off x="6391656" y="5285232"/>
            <a:ext cx="384048" cy="256032"/>
          </a:xfrm>
          <a:prstGeom prst="rect">
            <a:avLst/>
          </a:prstGeom>
        </p:spPr>
      </p:pic>
      <p:sp>
        <p:nvSpPr>
          <p:cNvPr id="54" name="Text 54"/>
          <p:cNvSpPr txBox="1"/>
          <p:nvPr/>
        </p:nvSpPr>
        <p:spPr>
          <a:xfrm>
            <a:off x="6876288" y="5202936"/>
            <a:ext cx="457200" cy="329184"/>
          </a:xfrm>
          <a:prstGeom prst="rect">
            <a:avLst/>
          </a:prstGeom>
          <a:noFill/>
          <a:ln/>
        </p:spPr>
        <p:txBody>
          <a:bodyPr wrap="square" lIns="0" tIns="0" rIns="0" bIns="0" rtlCol="0" anchor="ctr"/>
          <a:lstStyle/>
          <a:p>
            <a:pPr marL="0" indent="0" algn="l">
              <a:buNone/>
            </a:pPr>
            <a:r>
              <a:rPr lang="en-GB" sz="1400" b="1" dirty="0">
                <a:solidFill>
                  <a:srgbClr val="1A2B5E"/>
                </a:solidFill>
                <a:latin typeface="Inter Text" pitchFamily="34" charset="0"/>
                <a:ea typeface="Inter Text" pitchFamily="34" charset="-122"/>
                <a:cs typeface="Inter Text" pitchFamily="34" charset="-120"/>
              </a:rPr>
              <a:t>FR</a:t>
            </a:r>
          </a:p>
        </p:txBody>
      </p:sp>
      <p:sp>
        <p:nvSpPr>
          <p:cNvPr id="55" name="Text 55"/>
          <p:cNvSpPr txBox="1"/>
          <p:nvPr/>
        </p:nvSpPr>
        <p:spPr>
          <a:xfrm>
            <a:off x="7333488" y="5202936"/>
            <a:ext cx="3931920" cy="329184"/>
          </a:xfrm>
          <a:prstGeom prst="rect">
            <a:avLst/>
          </a:prstGeom>
          <a:noFill/>
          <a:ln/>
        </p:spPr>
        <p:txBody>
          <a:bodyPr wrap="non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hlinkClick r:id="rId32"/>
              </a:rPr>
              <a:t>Factur-X</a:t>
            </a:r>
          </a:p>
        </p:txBody>
      </p:sp>
      <p:sp>
        <p:nvSpPr>
          <p:cNvPr id="56" name="Text 56"/>
          <p:cNvSpPr txBox="1"/>
          <p:nvPr/>
        </p:nvSpPr>
        <p:spPr>
          <a:xfrm>
            <a:off x="7333488" y="5522976"/>
            <a:ext cx="3931920" cy="237744"/>
          </a:xfrm>
          <a:prstGeom prst="rect">
            <a:avLst/>
          </a:prstGeom>
          <a:noFill/>
          <a:ln/>
        </p:spPr>
        <p:txBody>
          <a:bodyPr wrap="none" lIns="0" tIns="0" rIns="0" bIns="0" rtlCol="0" anchor="ctr"/>
          <a:lstStyle/>
          <a:p>
            <a:pPr marL="0" indent="0" algn="l">
              <a:buNone/>
            </a:pPr>
            <a:r>
              <a:rPr lang="en-GB" sz="1150" dirty="0">
                <a:solidFill>
                  <a:srgbClr val="137333"/>
                </a:solidFill>
                <a:latin typeface="Inter Text" pitchFamily="34" charset="0"/>
                <a:ea typeface="Inter Text" pitchFamily="34" charset="-122"/>
                <a:cs typeface="Inter Text" pitchFamily="34" charset="-120"/>
              </a:rPr>
              <a:t>PDF + CII XML</a:t>
            </a:r>
            <a:r>
              <a:rPr lang="en-GB" sz="1150" dirty="0">
                <a:solidFill>
                  <a:srgbClr val="5B6890"/>
                </a:solidFill>
                <a:latin typeface="Inter Text" pitchFamily="34" charset="0"/>
                <a:ea typeface="Inter Text" pitchFamily="34" charset="-122"/>
                <a:cs typeface="Inter Text" pitchFamily="34" charset="-120"/>
              </a:rPr>
              <a:t>   </a:t>
            </a:r>
            <a:r>
              <a:rPr lang="en-GB" sz="1150" u="sng" dirty="0">
                <a:solidFill>
                  <a:srgbClr val="5B6890"/>
                </a:solidFill>
                <a:latin typeface="Inter Text" pitchFamily="34" charset="0"/>
                <a:ea typeface="Inter Text" pitchFamily="34" charset="-122"/>
                <a:cs typeface="Inter Text" pitchFamily="34" charset="-120"/>
                <a:hlinkClick r:id="rId33"/>
              </a:rPr>
              <a:t>2026 B2B phase 1</a:t>
            </a:r>
          </a:p>
        </p:txBody>
      </p:sp>
      <p:sp>
        <p:nvSpPr>
          <p:cNvPr id="57" name="Text 57"/>
          <p:cNvSpPr txBox="1"/>
          <p:nvPr/>
        </p:nvSpPr>
        <p:spPr>
          <a:xfrm>
            <a:off x="822960" y="5989320"/>
            <a:ext cx="10515600" cy="274320"/>
          </a:xfrm>
          <a:prstGeom prst="rect">
            <a:avLst/>
          </a:prstGeom>
          <a:noFill/>
          <a:ln/>
        </p:spPr>
        <p:txBody>
          <a:bodyPr wrap="square" lIns="0" tIns="0" rIns="0" bIns="0" rtlCol="0" anchor="ctr"/>
          <a:lstStyle/>
          <a:p>
            <a:pPr marL="0" indent="0" algn="l">
              <a:buNone/>
            </a:pPr>
            <a:r>
              <a:rPr lang="en-GB" sz="1000" dirty="0">
                <a:solidFill>
                  <a:srgbClr val="B42318"/>
                </a:solidFill>
                <a:latin typeface="Inter SemiBold Text SemiBold" pitchFamily="34" charset="0"/>
                <a:ea typeface="Inter SemiBold Text SemiBold" pitchFamily="34" charset="-122"/>
                <a:cs typeface="Inter SemiBold Text SemiBold" pitchFamily="34" charset="-120"/>
              </a:rPr>
              <a:t>National XML</a:t>
            </a:r>
            <a:r>
              <a:rPr lang="en-GB" sz="1000" dirty="0">
                <a:solidFill>
                  <a:srgbClr val="5B6890"/>
                </a:solidFill>
                <a:latin typeface="Inter Text" pitchFamily="34" charset="0"/>
                <a:ea typeface="Inter Text" pitchFamily="34" charset="-122"/>
                <a:cs typeface="Inter Text" pitchFamily="34" charset="-120"/>
              </a:rPr>
              <a:t> = own syntax;  </a:t>
            </a:r>
            <a:r>
              <a:rPr lang="en-GB" sz="1000" dirty="0">
                <a:solidFill>
                  <a:srgbClr val="137333"/>
                </a:solidFill>
                <a:latin typeface="Inter SemiBold Text SemiBold" pitchFamily="34" charset="0"/>
                <a:ea typeface="Inter SemiBold Text SemiBold" pitchFamily="34" charset="-122"/>
                <a:cs typeface="Inter SemiBold Text SemiBold" pitchFamily="34" charset="-120"/>
              </a:rPr>
              <a:t>green</a:t>
            </a:r>
            <a:r>
              <a:rPr lang="en-GB" sz="1000" dirty="0">
                <a:solidFill>
                  <a:srgbClr val="5B6890"/>
                </a:solidFill>
                <a:latin typeface="Inter Text" pitchFamily="34" charset="0"/>
                <a:ea typeface="Inter Text" pitchFamily="34" charset="-122"/>
                <a:cs typeface="Inter Text" pitchFamily="34" charset="-120"/>
              </a:rPr>
              <a:t> = built on UBL or CII.  Years = legal milestones for the scope named. Sources: links and notes.</a:t>
            </a:r>
          </a:p>
        </p:txBody>
      </p:sp>
      <p:sp>
        <p:nvSpPr>
          <p:cNvPr id="58" name="Speaker 58">
            <a:hlinkClick r:id="rId34"/>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Folie 15">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GERMANY</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Why two national standards?</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025416EE-E0DF-4140-835C-9D8948A2CF1D}"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7" name="Table 7"/>
          <p:cNvGraphicFramePr>
            <a:graphicFrameLocks noGrp="1"/>
          </p:cNvGraphicFramePr>
          <p:nvPr/>
        </p:nvGraphicFramePr>
        <p:xfrm>
          <a:off x="822960" y="2194560"/>
          <a:ext cx="10543032" cy="384048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70832">
                  <a:extLst>
                    <a:ext uri="{9D8B030D-6E8A-4147-A177-3AD203B41FA5}">
                      <a16:colId xmlns:a16="http://schemas.microsoft.com/office/drawing/2014/main" val="20002"/>
                    </a:ext>
                  </a:extLst>
                </a:gridCol>
              </a:tblGrid>
              <a:tr h="438912">
                <a:tc>
                  <a:txBody>
                    <a:bodyPr/>
                    <a:lstStyle/>
                    <a:p>
                      <a:pPr marL="0" indent="0" algn="l">
                        <a:buNone/>
                      </a:pPr>
                      <a:endParaRP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ZUGFeRD: from industry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XRechnung: from public administration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566928">
                <a:tc>
                  <a:txBody>
                    <a:bodyPr/>
                    <a:lstStyle/>
                    <a:p>
                      <a:pPr marL="0" indent="0" algn="l">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Owner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FeRD, the e-invoicing forum of AWV (founded March 2010)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KoSIT (Bremen), on behalf of the IT Planning Council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Trigger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2011: e-invoice legally equal to paper invoice; simple B2B e-invoice for SMEs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Directive 2014/55/EU on e-invoicing in public procurement (B2G)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566928">
                <a:tc>
                  <a:txBody>
                    <a:bodyPr/>
                    <a:lstStyle/>
                    <a:p>
                      <a:pPr marL="0" indent="0" algn="l">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First version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ZUGFeRD 1.0 on 25 Jun 2014 — before EN 16931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XRechnung 1.0, adopted on 22 Jun 2017 (IT Planning Council, decision 2017/22)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Structure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Hybrid: PDF/A-3 + CII XML; profiles MINIMUM … EXTENDED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Pure XML (UBL or CII); CIUS of EN 16931, e.g. Leitweg-ID in BT-10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566928">
                <a:tc>
                  <a:txBody>
                    <a:bodyPr/>
                    <a:lstStyle/>
                    <a:p>
                      <a:pPr marL="0" indent="0" algn="l">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Legal framework</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B2B obligation from 2025: e-invoice from version 2.0.1, except MINIMUM and BASIC WL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200" dirty="0">
                          <a:solidFill>
                            <a:srgbClr val="5B6890"/>
                          </a:solidFill>
                          <a:latin typeface="Inter Text" pitchFamily="34" charset="0"/>
                          <a:ea typeface="Inter Text" pitchFamily="34" charset="-122"/>
                          <a:cs typeface="Inter Text" pitchFamily="34" charset="-120"/>
                        </a:rPr>
                        <a:t>E-Invoicing Act 2017 (§ 4a EGovG) and ERechV: e-invoices to the federal government since 27 Nov 2020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r h="566928">
                <a:tc gridSpan="3">
                  <a:txBody>
                    <a:bodyPr/>
                    <a:lstStyle/>
                    <a:p>
                      <a:pPr marL="0" indent="0" algn="l">
                        <a:buNone/>
                      </a:pP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Both are based on EN 16931 and named by the BMF (UStAE 14.1 (12) – (14)); the B2B obligation accepts any EN 16931 compliant format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7F8F8"/>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bl>
          </a:graphicData>
        </a:graphic>
      </p:graphicFrame>
      <p:sp>
        <p:nvSpPr>
          <p:cNvPr id="8" name="Speaker 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Folie 16">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GERMANY &amp; FRANCE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ZUGFeRD &amp; Factur-X</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A German-French standard — France has been on board with Factur-X since 2017.</a:t>
            </a:r>
          </a:p>
        </p:txBody>
      </p:sp>
      <p:sp>
        <p:nvSpPr>
          <p:cNvPr id="7" name="Speaker 7">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8" name="PageNum 8"/>
          <p:cNvSpPr txBox="1"/>
          <p:nvPr/>
        </p:nvSpPr>
        <p:spPr>
          <a:xfrm>
            <a:off x="10908792" y="6514592"/>
            <a:ext cx="822960" cy="292608"/>
          </a:xfrm>
          <a:prstGeom prst="rect">
            <a:avLst/>
          </a:prstGeom>
          <a:noFill/>
          <a:ln/>
        </p:spPr>
        <p:txBody>
          <a:bodyPr wrap="square" lIns="0" tIns="0" rIns="0" bIns="0" rtlCol="0" anchor="ctr"/>
          <a:lstStyle/>
          <a:p>
            <a:pPr marL="0" indent="0" algn="r">
              <a:buNone/>
            </a:pPr>
            <a:fld id="{36255500-6848-4403-B05A-32A8B073712C}"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13</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9" name="Table 9"/>
          <p:cNvGraphicFramePr>
            <a:graphicFrameLocks noGrp="1"/>
          </p:cNvGraphicFramePr>
          <p:nvPr/>
        </p:nvGraphicFramePr>
        <p:xfrm>
          <a:off x="822960" y="2240280"/>
          <a:ext cx="10543032" cy="3936492"/>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7114032">
                  <a:extLst>
                    <a:ext uri="{9D8B030D-6E8A-4147-A177-3AD203B41FA5}">
                      <a16:colId xmlns:a16="http://schemas.microsoft.com/office/drawing/2014/main" val="20003"/>
                    </a:ext>
                  </a:extLst>
                </a:gridCol>
              </a:tblGrid>
              <a:tr h="365760">
                <a:tc>
                  <a:txBody>
                    <a:bodyPr/>
                    <a:lstStyle/>
                    <a:p>
                      <a:pPr marL="0" indent="0" algn="l">
                        <a:buNone/>
                      </a:pPr>
                      <a:r>
                        <a:rPr lang="en-GB" sz="1100" dirty="0">
                          <a:solidFill>
                            <a:srgbClr val="FFFFFF"/>
                          </a:solidFill>
                          <a:latin typeface="Inter SemiBold Text SemiBold" pitchFamily="34" charset="0"/>
                          <a:ea typeface="Inter SemiBold Text SemiBold" pitchFamily="34" charset="-122"/>
                          <a:cs typeface="Inter SemiBold Text SemiBold" pitchFamily="34" charset="-120"/>
                        </a:rPr>
                        <a:t>Date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ctr">
                        <a:buNone/>
                      </a:pPr>
                      <a:r>
                        <a:rPr lang="en-GB" sz="1100" dirty="0">
                          <a:solidFill>
                            <a:srgbClr val="FFFFFF"/>
                          </a:solidFill>
                          <a:latin typeface="Inter SemiBold Text SemiBold" pitchFamily="34" charset="0"/>
                          <a:ea typeface="Inter SemiBold Text SemiBold" pitchFamily="34" charset="-122"/>
                          <a:cs typeface="Inter SemiBold Text SemiBold" pitchFamily="34" charset="-120"/>
                        </a:rPr>
                        <a:t>ZUGFeRD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ctr">
                        <a:buNone/>
                      </a:pPr>
                      <a:r>
                        <a:rPr lang="en-GB" sz="1100" dirty="0">
                          <a:solidFill>
                            <a:srgbClr val="FFFFFF"/>
                          </a:solidFill>
                          <a:latin typeface="Inter SemiBold Text SemiBold" pitchFamily="34" charset="0"/>
                          <a:ea typeface="Inter SemiBold Text SemiBold" pitchFamily="34" charset="-122"/>
                          <a:cs typeface="Inter SemiBold Text SemiBold" pitchFamily="34" charset="-120"/>
                        </a:rPr>
                        <a:t>Factur-X</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100" dirty="0">
                          <a:solidFill>
                            <a:srgbClr val="FFFFFF"/>
                          </a:solidFill>
                          <a:latin typeface="Inter SemiBold Text SemiBold" pitchFamily="34" charset="0"/>
                          <a:ea typeface="Inter SemiBold Text SemiBold" pitchFamily="34" charset="-122"/>
                          <a:cs typeface="Inter SemiBold Text SemiBold" pitchFamily="34" charset="-120"/>
                        </a:rPr>
                        <a:t>Milestone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2014-06-25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ctr">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Hybrid invoice of PDF/A-3 + CII — designed before EN 16931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2017-12-31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France launches Factur-X (FNFE-MPE) based on EN 16931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2019-03-11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1.0.03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ZUGFeRD 2.0 = Factur-X 1.0.03: rebuilt on EN 16931 (CII D16B)</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2019-10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1.0.04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Technical alignment — from here on an e-invoice as defined by the BMF</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2020-03-24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Full alignment: one common German-French standard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2020-07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2.1.1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New profile XRECHNUNG — the bridge to the public administration's standard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6"/>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2022-03-01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1.0.06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Reference profile XRECHNUNG; EXTENDED for Order-X and the B2B reform in France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7"/>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2024-09-18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1.0.07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CII D22B instead of D16B; alignment with XRechnung 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8"/>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2025-12-04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Sub-lines with subtotals, machine-readable delivery date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9"/>
                  </a:ext>
                </a:extLst>
              </a:tr>
              <a:tr h="324612">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2026-06-10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1.09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IDs of the EN 16931 revision; maintenance 2.5.2 / 1.09.2 on 2026-08-04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10"/>
                  </a:ext>
                </a:extLst>
              </a:tr>
              <a:tr h="324612">
                <a:tc gridSpan="4">
                  <a:txBody>
                    <a:bodyPr/>
                    <a:lstStyle/>
                    <a:p>
                      <a:pPr marL="0" indent="0" algn="l">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1050" dirty="0">
                          <a:solidFill>
                            <a:srgbClr val="0E7E82"/>
                          </a:solidFill>
                          <a:latin typeface="Inter Text" pitchFamily="34" charset="0"/>
                          <a:ea typeface="Inter Text" pitchFamily="34" charset="-122"/>
                          <a:cs typeface="Inter Text" pitchFamily="34" charset="-120"/>
                        </a:rPr>
                        <a:t> = e-invoice in Germany (BMF: from ZUGFeRD 2.0.1, without MINIMUM and BASIC WL)   ·   </a:t>
                      </a:r>
                      <a:r>
                        <a:rPr lang="en-GB" sz="10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1050" dirty="0">
                          <a:solidFill>
                            <a:srgbClr val="0E7E82"/>
                          </a:solidFill>
                          <a:latin typeface="Inter Text" pitchFamily="34" charset="0"/>
                          <a:ea typeface="Inter Text" pitchFamily="34" charset="-122"/>
                          <a:cs typeface="Inter Text" pitchFamily="34" charset="-120"/>
                        </a:rPr>
                        <a:t> = not an e-invoice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7F8F8"/>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Folie 17">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ZUGFERD PROFILES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200" b="1" dirty="0">
                <a:solidFill>
                  <a:srgbClr val="1A2B5E"/>
                </a:solidFill>
                <a:latin typeface="Inter Text" pitchFamily="34" charset="0"/>
                <a:ea typeface="Inter Text" pitchFamily="34" charset="-122"/>
                <a:cs typeface="Inter Text" pitchFamily="34" charset="-120"/>
              </a:rPr>
              <a:t>ZUGFeRD 2.5.2 / Factur-X 1.09.2: size of the profiles</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ED28B3F3-E23F-4C4E-A6AE-E2B9C9BB1C50}"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Shape 7"/>
          <p:cNvSpPr/>
          <p:nvPr/>
        </p:nvSpPr>
        <p:spPr>
          <a:xfrm>
            <a:off x="731520" y="2788920"/>
            <a:ext cx="3566160" cy="3566160"/>
          </a:xfrm>
          <a:prstGeom prst="ellipse">
            <a:avLst/>
          </a:prstGeom>
          <a:solidFill>
            <a:srgbClr val="CDEBF8"/>
          </a:solidFill>
          <a:ln w="28575">
            <a:solidFill>
              <a:srgbClr val="2E9E44"/>
            </a:solidFill>
            <a:prstDash val="solid"/>
          </a:ln>
        </p:spPr>
        <p:txBody>
          <a:bodyPr/>
          <a:lstStyle/>
          <a:p>
            <a:endParaRPr lang="en-GB"/>
          </a:p>
        </p:txBody>
      </p:sp>
      <p:sp>
        <p:nvSpPr>
          <p:cNvPr id="8" name="Shape 8"/>
          <p:cNvSpPr/>
          <p:nvPr/>
        </p:nvSpPr>
        <p:spPr>
          <a:xfrm>
            <a:off x="1687081" y="4700041"/>
            <a:ext cx="1655039" cy="1655039"/>
          </a:xfrm>
          <a:prstGeom prst="ellipse">
            <a:avLst/>
          </a:prstGeom>
          <a:solidFill>
            <a:srgbClr val="7CC8EC"/>
          </a:solidFill>
          <a:ln w="28575">
            <a:solidFill>
              <a:srgbClr val="2E9E44"/>
            </a:solidFill>
            <a:prstDash val="solid"/>
          </a:ln>
        </p:spPr>
        <p:txBody>
          <a:bodyPr/>
          <a:lstStyle/>
          <a:p>
            <a:endParaRPr lang="en-GB"/>
          </a:p>
        </p:txBody>
      </p:sp>
      <p:sp>
        <p:nvSpPr>
          <p:cNvPr id="9" name="Shape 9"/>
          <p:cNvSpPr/>
          <p:nvPr/>
        </p:nvSpPr>
        <p:spPr>
          <a:xfrm>
            <a:off x="1785861" y="4897602"/>
            <a:ext cx="1457478" cy="1457478"/>
          </a:xfrm>
          <a:prstGeom prst="ellipse">
            <a:avLst/>
          </a:prstGeom>
          <a:solidFill>
            <a:srgbClr val="3AA8DD"/>
          </a:solidFill>
          <a:ln w="28575">
            <a:solidFill>
              <a:srgbClr val="2E9E44"/>
            </a:solidFill>
            <a:prstDash val="solid"/>
          </a:ln>
        </p:spPr>
        <p:txBody>
          <a:bodyPr/>
          <a:lstStyle/>
          <a:p>
            <a:endParaRPr lang="en-GB"/>
          </a:p>
        </p:txBody>
      </p:sp>
      <p:sp>
        <p:nvSpPr>
          <p:cNvPr id="10" name="Shape 10"/>
          <p:cNvSpPr/>
          <p:nvPr/>
        </p:nvSpPr>
        <p:spPr>
          <a:xfrm>
            <a:off x="1856395" y="5038671"/>
            <a:ext cx="1316409" cy="1316409"/>
          </a:xfrm>
          <a:prstGeom prst="ellipse">
            <a:avLst/>
          </a:prstGeom>
          <a:solidFill>
            <a:srgbClr val="1478AE"/>
          </a:solidFill>
          <a:ln w="28575">
            <a:solidFill>
              <a:srgbClr val="D62828"/>
            </a:solidFill>
            <a:prstDash val="solid"/>
          </a:ln>
        </p:spPr>
        <p:txBody>
          <a:bodyPr/>
          <a:lstStyle/>
          <a:p>
            <a:endParaRPr lang="en-GB"/>
          </a:p>
        </p:txBody>
      </p:sp>
      <p:sp>
        <p:nvSpPr>
          <p:cNvPr id="11" name="Shape 11"/>
          <p:cNvSpPr/>
          <p:nvPr/>
        </p:nvSpPr>
        <p:spPr>
          <a:xfrm>
            <a:off x="2213204" y="5752289"/>
            <a:ext cx="602791" cy="602791"/>
          </a:xfrm>
          <a:prstGeom prst="ellipse">
            <a:avLst/>
          </a:prstGeom>
          <a:solidFill>
            <a:srgbClr val="0B4F6C"/>
          </a:solidFill>
          <a:ln w="28575">
            <a:solidFill>
              <a:srgbClr val="D62828"/>
            </a:solidFill>
            <a:prstDash val="solid"/>
          </a:ln>
        </p:spPr>
        <p:txBody>
          <a:bodyPr/>
          <a:lstStyle/>
          <a:p>
            <a:endParaRPr lang="en-GB"/>
          </a:p>
        </p:txBody>
      </p:sp>
      <p:sp>
        <p:nvSpPr>
          <p:cNvPr id="12" name="Text 12"/>
          <p:cNvSpPr txBox="1"/>
          <p:nvPr/>
        </p:nvSpPr>
        <p:spPr>
          <a:xfrm>
            <a:off x="1691640" y="3081528"/>
            <a:ext cx="1645920" cy="566928"/>
          </a:xfrm>
          <a:prstGeom prst="rect">
            <a:avLst/>
          </a:prstGeom>
          <a:noFill/>
          <a:ln/>
        </p:spPr>
        <p:txBody>
          <a:bodyPr wrap="square" lIns="0" tIns="0" rIns="0" bIns="0" rtlCol="0" anchor="t"/>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EXTENDED</a:t>
            </a:r>
          </a:p>
          <a:p>
            <a:pPr marL="0" indent="0" algn="ctr">
              <a:buNone/>
            </a:pPr>
            <a:r>
              <a:rPr lang="en-GB" sz="2000" b="1" dirty="0">
                <a:solidFill>
                  <a:srgbClr val="1A2B5E"/>
                </a:solidFill>
                <a:latin typeface="Inter Text" pitchFamily="34" charset="0"/>
                <a:ea typeface="Inter Text" pitchFamily="34" charset="-122"/>
                <a:cs typeface="Inter Text" pitchFamily="34" charset="-120"/>
              </a:rPr>
              <a:t>910</a:t>
            </a:r>
          </a:p>
        </p:txBody>
      </p:sp>
      <p:sp>
        <p:nvSpPr>
          <p:cNvPr id="13" name="Shape 13"/>
          <p:cNvSpPr/>
          <p:nvPr/>
        </p:nvSpPr>
        <p:spPr>
          <a:xfrm>
            <a:off x="2482596" y="2756916"/>
            <a:ext cx="64008" cy="64008"/>
          </a:xfrm>
          <a:prstGeom prst="ellipse">
            <a:avLst/>
          </a:prstGeom>
          <a:solidFill>
            <a:srgbClr val="5B6890"/>
          </a:solidFill>
          <a:ln>
            <a:noFill/>
          </a:ln>
        </p:spPr>
        <p:txBody>
          <a:bodyPr/>
          <a:lstStyle/>
          <a:p>
            <a:endParaRPr lang="en-GB"/>
          </a:p>
        </p:txBody>
      </p:sp>
      <p:cxnSp>
        <p:nvCxnSpPr>
          <p:cNvPr id="14" name="Connector 14"/>
          <p:cNvCxnSpPr/>
          <p:nvPr/>
        </p:nvCxnSpPr>
        <p:spPr>
          <a:xfrm>
            <a:off x="2514600" y="2788920"/>
            <a:ext cx="2304288" cy="146304"/>
          </a:xfrm>
          <a:prstGeom prst="line">
            <a:avLst/>
          </a:prstGeom>
          <a:ln w="9525">
            <a:solidFill>
              <a:srgbClr val="9AA4C2"/>
            </a:solidFill>
          </a:ln>
        </p:spPr>
      </p:cxnSp>
      <p:sp>
        <p:nvSpPr>
          <p:cNvPr id="15" name="Shape 15"/>
          <p:cNvSpPr/>
          <p:nvPr/>
        </p:nvSpPr>
        <p:spPr>
          <a:xfrm>
            <a:off x="4846320" y="2852928"/>
            <a:ext cx="164592" cy="164592"/>
          </a:xfrm>
          <a:prstGeom prst="ellipse">
            <a:avLst/>
          </a:prstGeom>
          <a:solidFill>
            <a:srgbClr val="CDEBF8"/>
          </a:solidFill>
          <a:ln w="19050">
            <a:solidFill>
              <a:srgbClr val="2E9E44"/>
            </a:solidFill>
            <a:prstDash val="solid"/>
          </a:ln>
        </p:spPr>
        <p:txBody>
          <a:bodyPr/>
          <a:lstStyle/>
          <a:p>
            <a:endParaRPr lang="en-GB"/>
          </a:p>
        </p:txBody>
      </p:sp>
      <p:sp>
        <p:nvSpPr>
          <p:cNvPr id="16" name="Shape 16"/>
          <p:cNvSpPr/>
          <p:nvPr/>
        </p:nvSpPr>
        <p:spPr>
          <a:xfrm>
            <a:off x="2482596" y="4668037"/>
            <a:ext cx="64008" cy="64008"/>
          </a:xfrm>
          <a:prstGeom prst="ellipse">
            <a:avLst/>
          </a:prstGeom>
          <a:solidFill>
            <a:srgbClr val="5B6890"/>
          </a:solidFill>
          <a:ln>
            <a:noFill/>
          </a:ln>
        </p:spPr>
        <p:txBody>
          <a:bodyPr/>
          <a:lstStyle/>
          <a:p>
            <a:endParaRPr lang="en-GB"/>
          </a:p>
        </p:txBody>
      </p:sp>
      <p:cxnSp>
        <p:nvCxnSpPr>
          <p:cNvPr id="17" name="Connector 17"/>
          <p:cNvCxnSpPr/>
          <p:nvPr/>
        </p:nvCxnSpPr>
        <p:spPr>
          <a:xfrm flipV="1">
            <a:off x="2514600" y="3319272"/>
            <a:ext cx="2304288" cy="1380769"/>
          </a:xfrm>
          <a:prstGeom prst="line">
            <a:avLst/>
          </a:prstGeom>
          <a:ln w="9525">
            <a:solidFill>
              <a:srgbClr val="9AA4C2"/>
            </a:solidFill>
          </a:ln>
        </p:spPr>
      </p:cxnSp>
      <p:sp>
        <p:nvSpPr>
          <p:cNvPr id="18" name="Shape 18"/>
          <p:cNvSpPr/>
          <p:nvPr/>
        </p:nvSpPr>
        <p:spPr>
          <a:xfrm>
            <a:off x="4846320" y="3236976"/>
            <a:ext cx="164592" cy="164592"/>
          </a:xfrm>
          <a:prstGeom prst="ellipse">
            <a:avLst/>
          </a:prstGeom>
          <a:solidFill>
            <a:srgbClr val="7CC8EC"/>
          </a:solidFill>
          <a:ln w="19050">
            <a:solidFill>
              <a:srgbClr val="2E9E44"/>
            </a:solidFill>
            <a:prstDash val="solid"/>
          </a:ln>
        </p:spPr>
        <p:txBody>
          <a:bodyPr/>
          <a:lstStyle/>
          <a:p>
            <a:endParaRPr lang="en-GB"/>
          </a:p>
        </p:txBody>
      </p:sp>
      <p:sp>
        <p:nvSpPr>
          <p:cNvPr id="19" name="Shape 19"/>
          <p:cNvSpPr/>
          <p:nvPr/>
        </p:nvSpPr>
        <p:spPr>
          <a:xfrm>
            <a:off x="2482596" y="4865598"/>
            <a:ext cx="64008" cy="64008"/>
          </a:xfrm>
          <a:prstGeom prst="ellipse">
            <a:avLst/>
          </a:prstGeom>
          <a:solidFill>
            <a:srgbClr val="5B6890"/>
          </a:solidFill>
          <a:ln>
            <a:noFill/>
          </a:ln>
        </p:spPr>
        <p:txBody>
          <a:bodyPr/>
          <a:lstStyle/>
          <a:p>
            <a:endParaRPr lang="en-GB"/>
          </a:p>
        </p:txBody>
      </p:sp>
      <p:cxnSp>
        <p:nvCxnSpPr>
          <p:cNvPr id="20" name="Connector 20"/>
          <p:cNvCxnSpPr/>
          <p:nvPr/>
        </p:nvCxnSpPr>
        <p:spPr>
          <a:xfrm flipV="1">
            <a:off x="2514600" y="3703320"/>
            <a:ext cx="2304288" cy="1194282"/>
          </a:xfrm>
          <a:prstGeom prst="line">
            <a:avLst/>
          </a:prstGeom>
          <a:ln w="9525">
            <a:solidFill>
              <a:srgbClr val="9AA4C2"/>
            </a:solidFill>
          </a:ln>
        </p:spPr>
      </p:cxnSp>
      <p:sp>
        <p:nvSpPr>
          <p:cNvPr id="21" name="Shape 21"/>
          <p:cNvSpPr/>
          <p:nvPr/>
        </p:nvSpPr>
        <p:spPr>
          <a:xfrm>
            <a:off x="4846320" y="3621024"/>
            <a:ext cx="164592" cy="164592"/>
          </a:xfrm>
          <a:prstGeom prst="ellipse">
            <a:avLst/>
          </a:prstGeom>
          <a:solidFill>
            <a:srgbClr val="3AA8DD"/>
          </a:solidFill>
          <a:ln w="19050">
            <a:solidFill>
              <a:srgbClr val="2E9E44"/>
            </a:solidFill>
            <a:prstDash val="solid"/>
          </a:ln>
        </p:spPr>
        <p:txBody>
          <a:bodyPr/>
          <a:lstStyle/>
          <a:p>
            <a:endParaRPr lang="en-GB"/>
          </a:p>
        </p:txBody>
      </p:sp>
      <p:sp>
        <p:nvSpPr>
          <p:cNvPr id="22" name="Shape 22"/>
          <p:cNvSpPr/>
          <p:nvPr/>
        </p:nvSpPr>
        <p:spPr>
          <a:xfrm>
            <a:off x="2482596" y="5006667"/>
            <a:ext cx="64008" cy="64008"/>
          </a:xfrm>
          <a:prstGeom prst="ellipse">
            <a:avLst/>
          </a:prstGeom>
          <a:solidFill>
            <a:srgbClr val="5B6890"/>
          </a:solidFill>
          <a:ln>
            <a:noFill/>
          </a:ln>
        </p:spPr>
        <p:txBody>
          <a:bodyPr/>
          <a:lstStyle/>
          <a:p>
            <a:endParaRPr lang="en-GB"/>
          </a:p>
        </p:txBody>
      </p:sp>
      <p:cxnSp>
        <p:nvCxnSpPr>
          <p:cNvPr id="23" name="Connector 23"/>
          <p:cNvCxnSpPr/>
          <p:nvPr/>
        </p:nvCxnSpPr>
        <p:spPr>
          <a:xfrm flipV="1">
            <a:off x="2514600" y="4087368"/>
            <a:ext cx="2304288" cy="951303"/>
          </a:xfrm>
          <a:prstGeom prst="line">
            <a:avLst/>
          </a:prstGeom>
          <a:ln w="9525">
            <a:solidFill>
              <a:srgbClr val="9AA4C2"/>
            </a:solidFill>
          </a:ln>
        </p:spPr>
      </p:cxnSp>
      <p:sp>
        <p:nvSpPr>
          <p:cNvPr id="24" name="Shape 24"/>
          <p:cNvSpPr/>
          <p:nvPr/>
        </p:nvSpPr>
        <p:spPr>
          <a:xfrm>
            <a:off x="4846320" y="4005072"/>
            <a:ext cx="164592" cy="164592"/>
          </a:xfrm>
          <a:prstGeom prst="ellipse">
            <a:avLst/>
          </a:prstGeom>
          <a:solidFill>
            <a:srgbClr val="1478AE"/>
          </a:solidFill>
          <a:ln w="19050">
            <a:solidFill>
              <a:srgbClr val="D62828"/>
            </a:solidFill>
            <a:prstDash val="solid"/>
          </a:ln>
        </p:spPr>
        <p:txBody>
          <a:bodyPr/>
          <a:lstStyle/>
          <a:p>
            <a:endParaRPr lang="en-GB"/>
          </a:p>
        </p:txBody>
      </p:sp>
      <p:sp>
        <p:nvSpPr>
          <p:cNvPr id="25" name="Shape 25"/>
          <p:cNvSpPr/>
          <p:nvPr/>
        </p:nvSpPr>
        <p:spPr>
          <a:xfrm>
            <a:off x="2482596" y="5720285"/>
            <a:ext cx="64008" cy="64008"/>
          </a:xfrm>
          <a:prstGeom prst="ellipse">
            <a:avLst/>
          </a:prstGeom>
          <a:solidFill>
            <a:srgbClr val="5B6890"/>
          </a:solidFill>
          <a:ln>
            <a:noFill/>
          </a:ln>
        </p:spPr>
        <p:txBody>
          <a:bodyPr/>
          <a:lstStyle/>
          <a:p>
            <a:endParaRPr lang="en-GB"/>
          </a:p>
        </p:txBody>
      </p:sp>
      <p:cxnSp>
        <p:nvCxnSpPr>
          <p:cNvPr id="26" name="Connector 26"/>
          <p:cNvCxnSpPr/>
          <p:nvPr/>
        </p:nvCxnSpPr>
        <p:spPr>
          <a:xfrm flipV="1">
            <a:off x="2514600" y="4471416"/>
            <a:ext cx="2304288" cy="1280873"/>
          </a:xfrm>
          <a:prstGeom prst="line">
            <a:avLst/>
          </a:prstGeom>
          <a:ln w="9525">
            <a:solidFill>
              <a:srgbClr val="9AA4C2"/>
            </a:solidFill>
          </a:ln>
        </p:spPr>
      </p:cxnSp>
      <p:sp>
        <p:nvSpPr>
          <p:cNvPr id="27" name="Shape 27"/>
          <p:cNvSpPr/>
          <p:nvPr/>
        </p:nvSpPr>
        <p:spPr>
          <a:xfrm>
            <a:off x="4846320" y="4389120"/>
            <a:ext cx="164592" cy="164592"/>
          </a:xfrm>
          <a:prstGeom prst="ellipse">
            <a:avLst/>
          </a:prstGeom>
          <a:solidFill>
            <a:srgbClr val="0B4F6C"/>
          </a:solidFill>
          <a:ln w="19050">
            <a:solidFill>
              <a:srgbClr val="D62828"/>
            </a:solidFill>
            <a:prstDash val="solid"/>
          </a:ln>
        </p:spPr>
        <p:txBody>
          <a:bodyPr/>
          <a:lstStyle/>
          <a:p>
            <a:endParaRPr lang="en-GB"/>
          </a:p>
        </p:txBody>
      </p:sp>
      <p:graphicFrame>
        <p:nvGraphicFramePr>
          <p:cNvPr id="28" name="Table 28"/>
          <p:cNvGraphicFramePr>
            <a:graphicFrameLocks noGrp="1"/>
          </p:cNvGraphicFramePr>
          <p:nvPr>
            <p:extLst>
              <p:ext uri="{D42A27DB-BD31-4B8C-83A1-F6EECF244321}">
                <p14:modId xmlns:p14="http://schemas.microsoft.com/office/powerpoint/2010/main" val="1465213822"/>
              </p:ext>
            </p:extLst>
          </p:nvPr>
        </p:nvGraphicFramePr>
        <p:xfrm>
          <a:off x="5120640" y="2240280"/>
          <a:ext cx="6236208" cy="2432304"/>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930303">
                  <a:extLst>
                    <a:ext uri="{9D8B030D-6E8A-4147-A177-3AD203B41FA5}">
                      <a16:colId xmlns:a16="http://schemas.microsoft.com/office/drawing/2014/main" val="20005"/>
                    </a:ext>
                  </a:extLst>
                </a:gridCol>
                <a:gridCol w="871065">
                  <a:extLst>
                    <a:ext uri="{9D8B030D-6E8A-4147-A177-3AD203B41FA5}">
                      <a16:colId xmlns:a16="http://schemas.microsoft.com/office/drawing/2014/main" val="20006"/>
                    </a:ext>
                  </a:extLst>
                </a:gridCol>
              </a:tblGrid>
              <a:tr h="502920">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Profile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Business Groups (BG)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Business Terms (BT)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Extension (BG-X + BT-X)</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Σ</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E-invoice DE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E-invoice FR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EXTENDED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33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175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93 + 609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910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yes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yes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EN 16931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196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yes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yes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BASIC</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27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125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152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E8A4C"/>
                          </a:solidFill>
                          <a:latin typeface="Inter SemiBold Text SemiBold" pitchFamily="34" charset="0"/>
                          <a:ea typeface="Inter SemiBold Text SemiBold" pitchFamily="34" charset="-122"/>
                          <a:cs typeface="Inter SemiBold Text SemiBold" pitchFamily="34" charset="-120"/>
                        </a:rPr>
                        <a:t>yes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C0392B"/>
                          </a:solidFill>
                          <a:latin typeface="Inter SemiBold Text SemiBold" pitchFamily="34" charset="0"/>
                          <a:ea typeface="Inter SemiBold Text SemiBold" pitchFamily="34" charset="-122"/>
                          <a:cs typeface="Inter SemiBold Text SemiBold" pitchFamily="34" charset="-120"/>
                        </a:rPr>
                        <a:t>no*</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BASIC WL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21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103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124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C0392B"/>
                          </a:solidFill>
                          <a:latin typeface="Inter SemiBold Text SemiBold" pitchFamily="34" charset="0"/>
                          <a:ea typeface="Inter SemiBold Text SemiBold" pitchFamily="34" charset="-122"/>
                          <a:cs typeface="Inter SemiBold Text SemiBold" pitchFamily="34" charset="-120"/>
                        </a:rPr>
                        <a:t>no</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B7791F"/>
                          </a:solidFill>
                          <a:latin typeface="Inter SemiBold Text SemiBold" pitchFamily="34" charset="0"/>
                          <a:ea typeface="Inter SemiBold Text SemiBold" pitchFamily="34" charset="-122"/>
                          <a:cs typeface="Inter SemiBold Text SemiBold" pitchFamily="34" charset="-120"/>
                        </a:rPr>
                        <a:t>until 09/2027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MINIMUM</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18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26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C0392B"/>
                          </a:solidFill>
                          <a:latin typeface="Inter SemiBold Text SemiBold" pitchFamily="34" charset="0"/>
                          <a:ea typeface="Inter SemiBold Text SemiBold" pitchFamily="34" charset="-122"/>
                          <a:cs typeface="Inter SemiBold Text SemiBold" pitchFamily="34" charset="-120"/>
                        </a:rPr>
                        <a:t>no</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C0392B"/>
                          </a:solidFill>
                          <a:latin typeface="Inter SemiBold Text SemiBold" pitchFamily="34" charset="0"/>
                          <a:ea typeface="Inter SemiBold Text SemiBold" pitchFamily="34" charset="-122"/>
                          <a:cs typeface="Inter SemiBold Text SemiBold" pitchFamily="34" charset="-120"/>
                        </a:rPr>
                        <a:t>no</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bl>
          </a:graphicData>
        </a:graphic>
      </p:graphicFrame>
      <p:sp>
        <p:nvSpPr>
          <p:cNvPr id="29" name="Text 29"/>
          <p:cNvSpPr txBox="1"/>
          <p:nvPr/>
        </p:nvSpPr>
        <p:spPr>
          <a:xfrm>
            <a:off x="5029200" y="4800600"/>
            <a:ext cx="6355080" cy="1417320"/>
          </a:xfrm>
          <a:prstGeom prst="rect">
            <a:avLst/>
          </a:prstGeom>
          <a:noFill/>
          <a:ln/>
        </p:spPr>
        <p:txBody>
          <a:bodyPr wrap="square" lIns="0" tIns="0" rIns="0" bIns="0" rtlCol="0" anchor="t"/>
          <a:lstStyle/>
          <a:p>
            <a:pPr marL="0" indent="0" algn="l">
              <a:lnSpc>
                <a:spcPct val="105000"/>
              </a:lnSpc>
              <a:spcAft>
                <a:spcPts val="400"/>
              </a:spcAft>
              <a:buNone/>
            </a:pPr>
            <a:r>
              <a:rPr lang="en-GB" sz="1050" dirty="0">
                <a:solidFill>
                  <a:srgbClr val="5B6890"/>
                </a:solidFill>
                <a:latin typeface="Inter Text" pitchFamily="34" charset="0"/>
                <a:ea typeface="Inter Text" pitchFamily="34" charset="-122"/>
                <a:cs typeface="Inter Text" pitchFamily="34" charset="-120"/>
              </a:rPr>
              <a:t>BG = business group (group of related fields, e.g. BG-4 SELLER); BT = business term (single field, e.g. BT-1 Invoice number).</a:t>
            </a:r>
          </a:p>
          <a:p>
            <a:pPr marL="0" indent="0" algn="l">
              <a:lnSpc>
                <a:spcPct val="105000"/>
              </a:lnSpc>
              <a:spcAft>
                <a:spcPts val="400"/>
              </a:spcAft>
              <a:buNone/>
            </a:pPr>
            <a:r>
              <a:rPr lang="en-GB" sz="1050" dirty="0">
                <a:solidFill>
                  <a:srgbClr val="5B6890"/>
                </a:solidFill>
                <a:latin typeface="Inter Text" pitchFamily="34" charset="0"/>
                <a:ea typeface="Inter Text" pitchFamily="34" charset="-122"/>
                <a:cs typeface="Inter Text" pitchFamily="34" charset="-120"/>
              </a:rPr>
              <a:t>Circle area ∝ number of BG + BT; each profile contains all smaller ones. Green: e-invoice in Germany; red: MINIMUM and BASIC WL are not (BMF).</a:t>
            </a:r>
          </a:p>
          <a:p>
            <a:pPr marL="0" indent="0" algn="l">
              <a:lnSpc>
                <a:spcPct val="105000"/>
              </a:lnSpc>
              <a:buNone/>
            </a:pPr>
            <a:r>
              <a:rPr lang="en-GB" sz="1050" dirty="0">
                <a:solidFill>
                  <a:srgbClr val="5B6890"/>
                </a:solidFill>
                <a:latin typeface="Inter Text" pitchFamily="34" charset="0"/>
                <a:ea typeface="Inter Text" pitchFamily="34" charset="-122"/>
                <a:cs typeface="Inter Text" pitchFamily="34" charset="-120"/>
              </a:rPr>
              <a:t>* FR: BASIC is to be declared as EN 16931 (AFNOR XP Z12-012). EXTENDED already uses 12 new IDs of the revision (BG-34, BT-173 … BT-216).</a:t>
            </a:r>
          </a:p>
        </p:txBody>
      </p:sp>
      <p:sp>
        <p:nvSpPr>
          <p:cNvPr id="30" name="Speaker 30">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Folie 18">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COMPARISON</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200" b="1" dirty="0">
                <a:solidFill>
                  <a:srgbClr val="1A2B5E"/>
                </a:solidFill>
                <a:latin typeface="Inter Text" pitchFamily="34" charset="0"/>
                <a:ea typeface="Inter Text" pitchFamily="34" charset="-122"/>
                <a:cs typeface="Inter Text" pitchFamily="34" charset="-120"/>
              </a:rPr>
              <a:t>ZUGFeRD, XRechnung and Peppol compared</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6F32DDFF-A426-4763-A4A0-A0764A318820}"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15</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Shape 7"/>
          <p:cNvSpPr/>
          <p:nvPr/>
        </p:nvSpPr>
        <p:spPr>
          <a:xfrm>
            <a:off x="548640" y="3520440"/>
            <a:ext cx="2834640" cy="2834640"/>
          </a:xfrm>
          <a:prstGeom prst="ellipse">
            <a:avLst/>
          </a:prstGeom>
          <a:solidFill>
            <a:srgbClr val="CDEBF8"/>
          </a:solidFill>
          <a:ln w="28575">
            <a:solidFill>
              <a:srgbClr val="2E9E44"/>
            </a:solidFill>
            <a:prstDash val="solid"/>
          </a:ln>
        </p:spPr>
        <p:txBody>
          <a:bodyPr/>
          <a:lstStyle/>
          <a:p>
            <a:endParaRPr lang="en-GB"/>
          </a:p>
        </p:txBody>
      </p:sp>
      <p:sp>
        <p:nvSpPr>
          <p:cNvPr id="8" name="Shape 8"/>
          <p:cNvSpPr/>
          <p:nvPr/>
        </p:nvSpPr>
        <p:spPr>
          <a:xfrm>
            <a:off x="8702686" y="4923811"/>
            <a:ext cx="1431269" cy="1431269"/>
          </a:xfrm>
          <a:prstGeom prst="ellipse">
            <a:avLst/>
          </a:prstGeom>
          <a:solidFill>
            <a:srgbClr val="D9CCF0"/>
          </a:solidFill>
          <a:ln w="28575">
            <a:solidFill>
              <a:srgbClr val="8C8C8C"/>
            </a:solidFill>
            <a:prstDash val="solid"/>
          </a:ln>
        </p:spPr>
        <p:txBody>
          <a:bodyPr/>
          <a:lstStyle/>
          <a:p>
            <a:endParaRPr lang="en-GB"/>
          </a:p>
        </p:txBody>
      </p:sp>
      <p:sp>
        <p:nvSpPr>
          <p:cNvPr id="9" name="Shape 9"/>
          <p:cNvSpPr/>
          <p:nvPr/>
        </p:nvSpPr>
        <p:spPr>
          <a:xfrm>
            <a:off x="8740711" y="2851023"/>
            <a:ext cx="1355217" cy="1355217"/>
          </a:xfrm>
          <a:prstGeom prst="ellipse">
            <a:avLst/>
          </a:prstGeom>
          <a:solidFill>
            <a:srgbClr val="F6CF8F"/>
          </a:solidFill>
          <a:ln w="28575">
            <a:solidFill>
              <a:srgbClr val="2E9E44"/>
            </a:solidFill>
            <a:prstDash val="solid"/>
          </a:ln>
        </p:spPr>
        <p:txBody>
          <a:bodyPr/>
          <a:lstStyle/>
          <a:p>
            <a:endParaRPr lang="en-GB"/>
          </a:p>
        </p:txBody>
      </p:sp>
      <p:sp>
        <p:nvSpPr>
          <p:cNvPr id="10" name="Shape 10"/>
          <p:cNvSpPr/>
          <p:nvPr/>
        </p:nvSpPr>
        <p:spPr>
          <a:xfrm>
            <a:off x="1308188" y="5039536"/>
            <a:ext cx="1315544" cy="1315544"/>
          </a:xfrm>
          <a:prstGeom prst="ellipse">
            <a:avLst/>
          </a:prstGeom>
          <a:solidFill>
            <a:srgbClr val="7CC8EC"/>
          </a:solidFill>
          <a:ln w="28575">
            <a:solidFill>
              <a:srgbClr val="2E9E44"/>
            </a:solidFill>
            <a:prstDash val="solid"/>
          </a:ln>
        </p:spPr>
        <p:txBody>
          <a:bodyPr/>
          <a:lstStyle/>
          <a:p>
            <a:endParaRPr lang="en-GB"/>
          </a:p>
        </p:txBody>
      </p:sp>
      <p:sp>
        <p:nvSpPr>
          <p:cNvPr id="11" name="Shape 11"/>
          <p:cNvSpPr/>
          <p:nvPr/>
        </p:nvSpPr>
        <p:spPr>
          <a:xfrm>
            <a:off x="8760548" y="2890696"/>
            <a:ext cx="1315544" cy="1315544"/>
          </a:xfrm>
          <a:prstGeom prst="ellipse">
            <a:avLst/>
          </a:prstGeom>
          <a:solidFill>
            <a:srgbClr val="E0952B"/>
          </a:solidFill>
          <a:ln w="28575">
            <a:solidFill>
              <a:srgbClr val="2E9E44"/>
            </a:solidFill>
            <a:prstDash val="solid"/>
          </a:ln>
        </p:spPr>
        <p:txBody>
          <a:bodyPr/>
          <a:lstStyle/>
          <a:p>
            <a:endParaRPr lang="en-GB"/>
          </a:p>
        </p:txBody>
      </p:sp>
      <p:sp>
        <p:nvSpPr>
          <p:cNvPr id="12" name="Shape 12"/>
          <p:cNvSpPr/>
          <p:nvPr/>
        </p:nvSpPr>
        <p:spPr>
          <a:xfrm>
            <a:off x="8762228" y="5042897"/>
            <a:ext cx="1312183" cy="1312183"/>
          </a:xfrm>
          <a:prstGeom prst="ellipse">
            <a:avLst/>
          </a:prstGeom>
          <a:solidFill>
            <a:srgbClr val="8E6CC9"/>
          </a:solidFill>
          <a:ln w="28575">
            <a:solidFill>
              <a:srgbClr val="2E9E44"/>
            </a:solidFill>
            <a:prstDash val="solid"/>
          </a:ln>
        </p:spPr>
        <p:txBody>
          <a:bodyPr/>
          <a:lstStyle/>
          <a:p>
            <a:endParaRPr lang="en-GB"/>
          </a:p>
        </p:txBody>
      </p:sp>
      <p:sp>
        <p:nvSpPr>
          <p:cNvPr id="13" name="Shape 13"/>
          <p:cNvSpPr/>
          <p:nvPr/>
        </p:nvSpPr>
        <p:spPr>
          <a:xfrm>
            <a:off x="1386706" y="5196572"/>
            <a:ext cx="1158508" cy="1158508"/>
          </a:xfrm>
          <a:prstGeom prst="ellipse">
            <a:avLst/>
          </a:prstGeom>
          <a:solidFill>
            <a:srgbClr val="3AA8DD"/>
          </a:solidFill>
          <a:ln w="28575">
            <a:solidFill>
              <a:srgbClr val="2E9E44"/>
            </a:solidFill>
            <a:prstDash val="solid"/>
          </a:ln>
        </p:spPr>
        <p:txBody>
          <a:bodyPr/>
          <a:lstStyle/>
          <a:p>
            <a:endParaRPr lang="en-GB"/>
          </a:p>
        </p:txBody>
      </p:sp>
      <p:sp>
        <p:nvSpPr>
          <p:cNvPr id="14" name="Shape 14"/>
          <p:cNvSpPr/>
          <p:nvPr/>
        </p:nvSpPr>
        <p:spPr>
          <a:xfrm>
            <a:off x="1442772" y="5308703"/>
            <a:ext cx="1046377" cy="1046377"/>
          </a:xfrm>
          <a:prstGeom prst="ellipse">
            <a:avLst/>
          </a:prstGeom>
          <a:solidFill>
            <a:srgbClr val="1478AE"/>
          </a:solidFill>
          <a:ln w="28575">
            <a:solidFill>
              <a:srgbClr val="D62828"/>
            </a:solidFill>
            <a:prstDash val="solid"/>
          </a:ln>
        </p:spPr>
        <p:txBody>
          <a:bodyPr/>
          <a:lstStyle/>
          <a:p>
            <a:endParaRPr lang="en-GB"/>
          </a:p>
        </p:txBody>
      </p:sp>
      <p:sp>
        <p:nvSpPr>
          <p:cNvPr id="15" name="Shape 15"/>
          <p:cNvSpPr/>
          <p:nvPr/>
        </p:nvSpPr>
        <p:spPr>
          <a:xfrm>
            <a:off x="1726389" y="5875938"/>
            <a:ext cx="479142" cy="479142"/>
          </a:xfrm>
          <a:prstGeom prst="ellipse">
            <a:avLst/>
          </a:prstGeom>
          <a:solidFill>
            <a:srgbClr val="0B4F6C"/>
          </a:solidFill>
          <a:ln w="28575">
            <a:solidFill>
              <a:srgbClr val="D62828"/>
            </a:solidFill>
            <a:prstDash val="solid"/>
          </a:ln>
        </p:spPr>
        <p:txBody>
          <a:bodyPr/>
          <a:lstStyle/>
          <a:p>
            <a:endParaRPr lang="en-GB"/>
          </a:p>
        </p:txBody>
      </p:sp>
      <p:sp>
        <p:nvSpPr>
          <p:cNvPr id="16" name="Text 16"/>
          <p:cNvSpPr txBox="1"/>
          <p:nvPr/>
        </p:nvSpPr>
        <p:spPr>
          <a:xfrm>
            <a:off x="1143000" y="3794760"/>
            <a:ext cx="1645920" cy="566928"/>
          </a:xfrm>
          <a:prstGeom prst="rect">
            <a:avLst/>
          </a:prstGeom>
          <a:noFill/>
          <a:ln/>
        </p:spPr>
        <p:txBody>
          <a:bodyPr wrap="square" lIns="0" tIns="0" rIns="0" bIns="0" rtlCol="0" anchor="t"/>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EXTENDED</a:t>
            </a:r>
          </a:p>
          <a:p>
            <a:pPr marL="0" indent="0" algn="ctr">
              <a:buNone/>
            </a:pPr>
            <a:r>
              <a:rPr lang="en-GB" sz="2000" b="1" dirty="0">
                <a:solidFill>
                  <a:srgbClr val="1A2B5E"/>
                </a:solidFill>
                <a:latin typeface="Inter Text" pitchFamily="34" charset="0"/>
                <a:ea typeface="Inter Text" pitchFamily="34" charset="-122"/>
                <a:cs typeface="Inter Text" pitchFamily="34" charset="-120"/>
              </a:rPr>
              <a:t>910</a:t>
            </a:r>
          </a:p>
        </p:txBody>
      </p:sp>
      <p:sp>
        <p:nvSpPr>
          <p:cNvPr id="17" name="Text 17"/>
          <p:cNvSpPr txBox="1"/>
          <p:nvPr/>
        </p:nvSpPr>
        <p:spPr>
          <a:xfrm>
            <a:off x="777240" y="3108960"/>
            <a:ext cx="2377440" cy="292608"/>
          </a:xfrm>
          <a:prstGeom prst="rect">
            <a:avLst/>
          </a:prstGeom>
          <a:noFill/>
          <a:ln/>
        </p:spPr>
        <p:txBody>
          <a:bodyPr wrap="square" lIns="0" tIns="0" rIns="0" bIns="0" rtlCol="0" anchor="b"/>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ZUGFeRD / Factur-X</a:t>
            </a:r>
          </a:p>
        </p:txBody>
      </p:sp>
      <p:sp>
        <p:nvSpPr>
          <p:cNvPr id="18" name="Text 18"/>
          <p:cNvSpPr txBox="1"/>
          <p:nvPr/>
        </p:nvSpPr>
        <p:spPr>
          <a:xfrm>
            <a:off x="10205657" y="3117151"/>
            <a:ext cx="1188720" cy="822960"/>
          </a:xfrm>
          <a:prstGeom prst="rect">
            <a:avLst/>
          </a:prstGeom>
          <a:noFill/>
          <a:ln/>
        </p:spPr>
        <p:txBody>
          <a:bodyPr wrap="square" lIns="0" tIns="0" rIns="0" bIns="0" rtlCol="0" anchor="ctr"/>
          <a:lstStyle/>
          <a:p>
            <a:pPr marL="0" indent="0" algn="l">
              <a:buNone/>
            </a:pPr>
            <a:r>
              <a:rPr lang="en-GB" sz="1200" dirty="0">
                <a:solidFill>
                  <a:srgbClr val="9A5B00"/>
                </a:solidFill>
                <a:latin typeface="Inter SemiBold Text SemiBold" pitchFamily="34" charset="0"/>
                <a:ea typeface="Inter SemiBold Text SemiBold" pitchFamily="34" charset="-122"/>
                <a:cs typeface="Inter SemiBold Text SemiBold" pitchFamily="34" charset="-120"/>
              </a:rPr>
              <a:t>XRechnung</a:t>
            </a:r>
          </a:p>
          <a:p>
            <a:pPr marL="0" indent="0" algn="l">
              <a:buNone/>
            </a:pPr>
            <a:r>
              <a:rPr lang="en-GB" sz="1200" dirty="0">
                <a:solidFill>
                  <a:srgbClr val="9A5B00"/>
                </a:solidFill>
                <a:latin typeface="Inter SemiBold Text SemiBold" pitchFamily="34" charset="0"/>
                <a:ea typeface="Inter SemiBold Text SemiBold" pitchFamily="34" charset="-122"/>
                <a:cs typeface="Inter SemiBold Text SemiBold" pitchFamily="34" charset="-120"/>
              </a:rPr>
              <a:t>3.0.2</a:t>
            </a:r>
          </a:p>
          <a:p>
            <a:pPr marL="0" indent="0" algn="l">
              <a:buNone/>
            </a:pPr>
            <a:r>
              <a:rPr lang="en-GB" sz="1000" dirty="0">
                <a:solidFill>
                  <a:srgbClr val="5B6890"/>
                </a:solidFill>
                <a:latin typeface="Inter Text" pitchFamily="34" charset="0"/>
                <a:ea typeface="Inter Text" pitchFamily="34" charset="-122"/>
                <a:cs typeface="Inter Text" pitchFamily="34" charset="-120"/>
              </a:rPr>
              <a:t>Ext. 208</a:t>
            </a:r>
          </a:p>
          <a:p>
            <a:pPr marL="0" indent="0" algn="l">
              <a:buNone/>
            </a:pPr>
            <a:r>
              <a:rPr lang="en-GB" sz="1000" dirty="0">
                <a:solidFill>
                  <a:srgbClr val="5B6890"/>
                </a:solidFill>
                <a:latin typeface="Inter Text" pitchFamily="34" charset="0"/>
                <a:ea typeface="Inter Text" pitchFamily="34" charset="-122"/>
                <a:cs typeface="Inter Text" pitchFamily="34" charset="-120"/>
              </a:rPr>
              <a:t>CIUS 196</a:t>
            </a:r>
          </a:p>
        </p:txBody>
      </p:sp>
      <p:sp>
        <p:nvSpPr>
          <p:cNvPr id="19" name="Text 19"/>
          <p:cNvSpPr txBox="1"/>
          <p:nvPr/>
        </p:nvSpPr>
        <p:spPr>
          <a:xfrm>
            <a:off x="10243682" y="5227966"/>
            <a:ext cx="1188720" cy="822960"/>
          </a:xfrm>
          <a:prstGeom prst="rect">
            <a:avLst/>
          </a:prstGeom>
          <a:noFill/>
          <a:ln/>
        </p:spPr>
        <p:txBody>
          <a:bodyPr wrap="square" lIns="0" tIns="0" rIns="0" bIns="0" rtlCol="0" anchor="ctr"/>
          <a:lstStyle/>
          <a:p>
            <a:pPr marL="0" indent="0" algn="l">
              <a:buNone/>
            </a:pPr>
            <a:r>
              <a:rPr lang="en-GB" sz="1200" dirty="0">
                <a:solidFill>
                  <a:srgbClr val="5B3E96"/>
                </a:solidFill>
                <a:latin typeface="Inter SemiBold Text SemiBold" pitchFamily="34" charset="0"/>
                <a:ea typeface="Inter SemiBold Text SemiBold" pitchFamily="34" charset="-122"/>
                <a:cs typeface="Inter SemiBold Text SemiBold" pitchFamily="34" charset="-120"/>
              </a:rPr>
              <a:t>Peppol</a:t>
            </a:r>
          </a:p>
          <a:p>
            <a:pPr marL="0" indent="0" algn="l">
              <a:buNone/>
            </a:pPr>
            <a:r>
              <a:rPr lang="en-GB" sz="1000" dirty="0">
                <a:solidFill>
                  <a:srgbClr val="5B6890"/>
                </a:solidFill>
                <a:latin typeface="Inter Text" pitchFamily="34" charset="0"/>
                <a:ea typeface="Inter Text" pitchFamily="34" charset="-122"/>
                <a:cs typeface="Inter Text" pitchFamily="34" charset="-120"/>
              </a:rPr>
              <a:t>PINT 232</a:t>
            </a:r>
          </a:p>
          <a:p>
            <a:pPr marL="0" indent="0" algn="l">
              <a:buNone/>
            </a:pPr>
            <a:r>
              <a:rPr lang="en-GB" sz="1000" dirty="0">
                <a:solidFill>
                  <a:srgbClr val="5B6890"/>
                </a:solidFill>
                <a:latin typeface="Inter Text" pitchFamily="34" charset="0"/>
                <a:ea typeface="Inter Text" pitchFamily="34" charset="-122"/>
                <a:cs typeface="Inter Text" pitchFamily="34" charset="-120"/>
              </a:rPr>
              <a:t>BIS 3.0 195</a:t>
            </a:r>
          </a:p>
        </p:txBody>
      </p:sp>
      <p:sp>
        <p:nvSpPr>
          <p:cNvPr id="20" name="Shape 20"/>
          <p:cNvSpPr/>
          <p:nvPr/>
        </p:nvSpPr>
        <p:spPr>
          <a:xfrm>
            <a:off x="1933956" y="3488436"/>
            <a:ext cx="64008" cy="64008"/>
          </a:xfrm>
          <a:prstGeom prst="ellipse">
            <a:avLst/>
          </a:prstGeom>
          <a:solidFill>
            <a:srgbClr val="5B6890"/>
          </a:solidFill>
          <a:ln>
            <a:noFill/>
          </a:ln>
        </p:spPr>
        <p:txBody>
          <a:bodyPr/>
          <a:lstStyle/>
          <a:p>
            <a:endParaRPr lang="en-GB"/>
          </a:p>
        </p:txBody>
      </p:sp>
      <p:cxnSp>
        <p:nvCxnSpPr>
          <p:cNvPr id="21" name="Connector 21"/>
          <p:cNvCxnSpPr/>
          <p:nvPr/>
        </p:nvCxnSpPr>
        <p:spPr>
          <a:xfrm flipV="1">
            <a:off x="1965960" y="2834640"/>
            <a:ext cx="1691640" cy="685800"/>
          </a:xfrm>
          <a:prstGeom prst="line">
            <a:avLst/>
          </a:prstGeom>
          <a:ln w="9525">
            <a:solidFill>
              <a:srgbClr val="9AA4C2"/>
            </a:solidFill>
          </a:ln>
        </p:spPr>
      </p:cxnSp>
      <p:sp>
        <p:nvSpPr>
          <p:cNvPr id="22" name="Shape 22"/>
          <p:cNvSpPr/>
          <p:nvPr/>
        </p:nvSpPr>
        <p:spPr>
          <a:xfrm>
            <a:off x="3671316" y="2756916"/>
            <a:ext cx="155448" cy="155448"/>
          </a:xfrm>
          <a:prstGeom prst="ellipse">
            <a:avLst/>
          </a:prstGeom>
          <a:solidFill>
            <a:srgbClr val="CDEBF8"/>
          </a:solidFill>
          <a:ln w="19050">
            <a:solidFill>
              <a:srgbClr val="2E9E44"/>
            </a:solidFill>
            <a:prstDash val="solid"/>
          </a:ln>
        </p:spPr>
        <p:txBody>
          <a:bodyPr/>
          <a:lstStyle/>
          <a:p>
            <a:endParaRPr lang="en-GB"/>
          </a:p>
        </p:txBody>
      </p:sp>
      <p:sp>
        <p:nvSpPr>
          <p:cNvPr id="23" name="Shape 23"/>
          <p:cNvSpPr/>
          <p:nvPr/>
        </p:nvSpPr>
        <p:spPr>
          <a:xfrm>
            <a:off x="9028499" y="4987684"/>
            <a:ext cx="64008" cy="64008"/>
          </a:xfrm>
          <a:prstGeom prst="ellipse">
            <a:avLst/>
          </a:prstGeom>
          <a:solidFill>
            <a:srgbClr val="5B6890"/>
          </a:solidFill>
          <a:ln>
            <a:noFill/>
          </a:ln>
        </p:spPr>
        <p:txBody>
          <a:bodyPr/>
          <a:lstStyle/>
          <a:p>
            <a:endParaRPr lang="en-GB"/>
          </a:p>
        </p:txBody>
      </p:sp>
      <p:cxnSp>
        <p:nvCxnSpPr>
          <p:cNvPr id="24" name="Connector 24"/>
          <p:cNvCxnSpPr/>
          <p:nvPr/>
        </p:nvCxnSpPr>
        <p:spPr>
          <a:xfrm flipH="1" flipV="1">
            <a:off x="8321040" y="3108960"/>
            <a:ext cx="739463" cy="1910728"/>
          </a:xfrm>
          <a:prstGeom prst="line">
            <a:avLst/>
          </a:prstGeom>
          <a:ln w="9525">
            <a:solidFill>
              <a:srgbClr val="9AA4C2"/>
            </a:solidFill>
          </a:ln>
        </p:spPr>
      </p:cxnSp>
      <p:sp>
        <p:nvSpPr>
          <p:cNvPr id="25" name="Shape 25"/>
          <p:cNvSpPr/>
          <p:nvPr/>
        </p:nvSpPr>
        <p:spPr>
          <a:xfrm>
            <a:off x="8151876" y="3031236"/>
            <a:ext cx="155448" cy="155448"/>
          </a:xfrm>
          <a:prstGeom prst="ellipse">
            <a:avLst/>
          </a:prstGeom>
          <a:solidFill>
            <a:srgbClr val="D9CCF0"/>
          </a:solidFill>
          <a:ln w="19050">
            <a:solidFill>
              <a:srgbClr val="8C8C8C"/>
            </a:solidFill>
            <a:prstDash val="solid"/>
          </a:ln>
        </p:spPr>
        <p:txBody>
          <a:bodyPr/>
          <a:lstStyle/>
          <a:p>
            <a:endParaRPr lang="en-GB"/>
          </a:p>
        </p:txBody>
      </p:sp>
      <p:sp>
        <p:nvSpPr>
          <p:cNvPr id="26" name="Shape 26"/>
          <p:cNvSpPr/>
          <p:nvPr/>
        </p:nvSpPr>
        <p:spPr>
          <a:xfrm>
            <a:off x="8749572" y="3728383"/>
            <a:ext cx="64008" cy="64008"/>
          </a:xfrm>
          <a:prstGeom prst="ellipse">
            <a:avLst/>
          </a:prstGeom>
          <a:solidFill>
            <a:srgbClr val="5B6890"/>
          </a:solidFill>
          <a:ln>
            <a:noFill/>
          </a:ln>
        </p:spPr>
        <p:txBody>
          <a:bodyPr/>
          <a:lstStyle/>
          <a:p>
            <a:endParaRPr lang="en-GB"/>
          </a:p>
        </p:txBody>
      </p:sp>
      <p:cxnSp>
        <p:nvCxnSpPr>
          <p:cNvPr id="27" name="Connector 27"/>
          <p:cNvCxnSpPr/>
          <p:nvPr/>
        </p:nvCxnSpPr>
        <p:spPr>
          <a:xfrm flipH="1" flipV="1">
            <a:off x="8321040" y="3383280"/>
            <a:ext cx="460536" cy="377107"/>
          </a:xfrm>
          <a:prstGeom prst="line">
            <a:avLst/>
          </a:prstGeom>
          <a:ln w="9525">
            <a:solidFill>
              <a:srgbClr val="9AA4C2"/>
            </a:solidFill>
          </a:ln>
        </p:spPr>
      </p:cxnSp>
      <p:sp>
        <p:nvSpPr>
          <p:cNvPr id="28" name="Shape 28"/>
          <p:cNvSpPr/>
          <p:nvPr/>
        </p:nvSpPr>
        <p:spPr>
          <a:xfrm>
            <a:off x="8151876" y="3305556"/>
            <a:ext cx="155448" cy="155448"/>
          </a:xfrm>
          <a:prstGeom prst="ellipse">
            <a:avLst/>
          </a:prstGeom>
          <a:solidFill>
            <a:srgbClr val="F6CF8F"/>
          </a:solidFill>
          <a:ln w="19050">
            <a:solidFill>
              <a:srgbClr val="2E9E44"/>
            </a:solidFill>
            <a:prstDash val="solid"/>
          </a:ln>
        </p:spPr>
        <p:txBody>
          <a:bodyPr/>
          <a:lstStyle/>
          <a:p>
            <a:endParaRPr lang="en-GB"/>
          </a:p>
        </p:txBody>
      </p:sp>
      <p:sp>
        <p:nvSpPr>
          <p:cNvPr id="29" name="Shape 29"/>
          <p:cNvSpPr/>
          <p:nvPr/>
        </p:nvSpPr>
        <p:spPr>
          <a:xfrm>
            <a:off x="1933956" y="5007532"/>
            <a:ext cx="64008" cy="64008"/>
          </a:xfrm>
          <a:prstGeom prst="ellipse">
            <a:avLst/>
          </a:prstGeom>
          <a:solidFill>
            <a:srgbClr val="5B6890"/>
          </a:solidFill>
          <a:ln>
            <a:noFill/>
          </a:ln>
        </p:spPr>
        <p:txBody>
          <a:bodyPr/>
          <a:lstStyle/>
          <a:p>
            <a:endParaRPr lang="en-GB"/>
          </a:p>
        </p:txBody>
      </p:sp>
      <p:cxnSp>
        <p:nvCxnSpPr>
          <p:cNvPr id="30" name="Connector 30"/>
          <p:cNvCxnSpPr/>
          <p:nvPr/>
        </p:nvCxnSpPr>
        <p:spPr>
          <a:xfrm flipV="1">
            <a:off x="1965960" y="3657600"/>
            <a:ext cx="1691640" cy="1381936"/>
          </a:xfrm>
          <a:prstGeom prst="line">
            <a:avLst/>
          </a:prstGeom>
          <a:ln w="9525">
            <a:solidFill>
              <a:srgbClr val="9AA4C2"/>
            </a:solidFill>
          </a:ln>
        </p:spPr>
      </p:cxnSp>
      <p:sp>
        <p:nvSpPr>
          <p:cNvPr id="31" name="Shape 31"/>
          <p:cNvSpPr/>
          <p:nvPr/>
        </p:nvSpPr>
        <p:spPr>
          <a:xfrm>
            <a:off x="3671316" y="3579876"/>
            <a:ext cx="155448" cy="155448"/>
          </a:xfrm>
          <a:prstGeom prst="ellipse">
            <a:avLst/>
          </a:prstGeom>
          <a:solidFill>
            <a:srgbClr val="7CC8EC"/>
          </a:solidFill>
          <a:ln w="19050">
            <a:solidFill>
              <a:srgbClr val="2E9E44"/>
            </a:solidFill>
            <a:prstDash val="solid"/>
          </a:ln>
        </p:spPr>
        <p:txBody>
          <a:bodyPr/>
          <a:lstStyle/>
          <a:p>
            <a:endParaRPr lang="en-GB"/>
          </a:p>
        </p:txBody>
      </p:sp>
      <p:sp>
        <p:nvSpPr>
          <p:cNvPr id="32" name="Shape 32"/>
          <p:cNvSpPr/>
          <p:nvPr/>
        </p:nvSpPr>
        <p:spPr>
          <a:xfrm>
            <a:off x="9016407" y="3957304"/>
            <a:ext cx="64008" cy="64008"/>
          </a:xfrm>
          <a:prstGeom prst="ellipse">
            <a:avLst/>
          </a:prstGeom>
          <a:solidFill>
            <a:srgbClr val="5B6890"/>
          </a:solidFill>
          <a:ln>
            <a:noFill/>
          </a:ln>
        </p:spPr>
        <p:txBody>
          <a:bodyPr/>
          <a:lstStyle/>
          <a:p>
            <a:endParaRPr lang="en-GB"/>
          </a:p>
        </p:txBody>
      </p:sp>
      <p:cxnSp>
        <p:nvCxnSpPr>
          <p:cNvPr id="33" name="Connector 33"/>
          <p:cNvCxnSpPr/>
          <p:nvPr/>
        </p:nvCxnSpPr>
        <p:spPr>
          <a:xfrm flipH="1" flipV="1">
            <a:off x="8321040" y="3931920"/>
            <a:ext cx="727371" cy="57388"/>
          </a:xfrm>
          <a:prstGeom prst="line">
            <a:avLst/>
          </a:prstGeom>
          <a:ln w="9525">
            <a:solidFill>
              <a:srgbClr val="9AA4C2"/>
            </a:solidFill>
          </a:ln>
        </p:spPr>
      </p:cxnSp>
      <p:sp>
        <p:nvSpPr>
          <p:cNvPr id="34" name="Shape 34"/>
          <p:cNvSpPr/>
          <p:nvPr/>
        </p:nvSpPr>
        <p:spPr>
          <a:xfrm>
            <a:off x="8151876" y="3854196"/>
            <a:ext cx="155448" cy="155448"/>
          </a:xfrm>
          <a:prstGeom prst="ellipse">
            <a:avLst/>
          </a:prstGeom>
          <a:solidFill>
            <a:srgbClr val="E0952B"/>
          </a:solidFill>
          <a:ln w="19050">
            <a:solidFill>
              <a:srgbClr val="2E9E44"/>
            </a:solidFill>
            <a:prstDash val="solid"/>
          </a:ln>
        </p:spPr>
        <p:txBody>
          <a:bodyPr/>
          <a:lstStyle/>
          <a:p>
            <a:endParaRPr lang="en-GB"/>
          </a:p>
        </p:txBody>
      </p:sp>
      <p:sp>
        <p:nvSpPr>
          <p:cNvPr id="35" name="Shape 35"/>
          <p:cNvSpPr/>
          <p:nvPr/>
        </p:nvSpPr>
        <p:spPr>
          <a:xfrm>
            <a:off x="8889394" y="5380086"/>
            <a:ext cx="64008" cy="64008"/>
          </a:xfrm>
          <a:prstGeom prst="ellipse">
            <a:avLst/>
          </a:prstGeom>
          <a:solidFill>
            <a:srgbClr val="5B6890"/>
          </a:solidFill>
          <a:ln>
            <a:noFill/>
          </a:ln>
        </p:spPr>
        <p:txBody>
          <a:bodyPr/>
          <a:lstStyle/>
          <a:p>
            <a:endParaRPr lang="en-GB"/>
          </a:p>
        </p:txBody>
      </p:sp>
      <p:cxnSp>
        <p:nvCxnSpPr>
          <p:cNvPr id="36" name="Connector 36"/>
          <p:cNvCxnSpPr/>
          <p:nvPr/>
        </p:nvCxnSpPr>
        <p:spPr>
          <a:xfrm flipH="1" flipV="1">
            <a:off x="8321040" y="4206240"/>
            <a:ext cx="600358" cy="1205850"/>
          </a:xfrm>
          <a:prstGeom prst="line">
            <a:avLst/>
          </a:prstGeom>
          <a:ln w="9525">
            <a:solidFill>
              <a:srgbClr val="9AA4C2"/>
            </a:solidFill>
          </a:ln>
        </p:spPr>
      </p:cxnSp>
      <p:sp>
        <p:nvSpPr>
          <p:cNvPr id="37" name="Shape 37"/>
          <p:cNvSpPr/>
          <p:nvPr/>
        </p:nvSpPr>
        <p:spPr>
          <a:xfrm>
            <a:off x="8151876" y="4128516"/>
            <a:ext cx="155448" cy="155448"/>
          </a:xfrm>
          <a:prstGeom prst="ellipse">
            <a:avLst/>
          </a:prstGeom>
          <a:solidFill>
            <a:srgbClr val="8E6CC9"/>
          </a:solidFill>
          <a:ln w="19050">
            <a:solidFill>
              <a:srgbClr val="2E9E44"/>
            </a:solidFill>
            <a:prstDash val="solid"/>
          </a:ln>
        </p:spPr>
        <p:txBody>
          <a:bodyPr/>
          <a:lstStyle/>
          <a:p>
            <a:endParaRPr lang="en-GB"/>
          </a:p>
        </p:txBody>
      </p:sp>
      <p:sp>
        <p:nvSpPr>
          <p:cNvPr id="38" name="Shape 38"/>
          <p:cNvSpPr/>
          <p:nvPr/>
        </p:nvSpPr>
        <p:spPr>
          <a:xfrm>
            <a:off x="1933956" y="5164568"/>
            <a:ext cx="64008" cy="64008"/>
          </a:xfrm>
          <a:prstGeom prst="ellipse">
            <a:avLst/>
          </a:prstGeom>
          <a:solidFill>
            <a:srgbClr val="5B6890"/>
          </a:solidFill>
          <a:ln>
            <a:noFill/>
          </a:ln>
        </p:spPr>
        <p:txBody>
          <a:bodyPr/>
          <a:lstStyle/>
          <a:p>
            <a:endParaRPr lang="en-GB"/>
          </a:p>
        </p:txBody>
      </p:sp>
      <p:cxnSp>
        <p:nvCxnSpPr>
          <p:cNvPr id="39" name="Connector 39"/>
          <p:cNvCxnSpPr/>
          <p:nvPr/>
        </p:nvCxnSpPr>
        <p:spPr>
          <a:xfrm flipV="1">
            <a:off x="1965960" y="4480560"/>
            <a:ext cx="1691640" cy="716012"/>
          </a:xfrm>
          <a:prstGeom prst="line">
            <a:avLst/>
          </a:prstGeom>
          <a:ln w="9525">
            <a:solidFill>
              <a:srgbClr val="9AA4C2"/>
            </a:solidFill>
          </a:ln>
        </p:spPr>
      </p:cxnSp>
      <p:sp>
        <p:nvSpPr>
          <p:cNvPr id="40" name="Shape 40"/>
          <p:cNvSpPr/>
          <p:nvPr/>
        </p:nvSpPr>
        <p:spPr>
          <a:xfrm>
            <a:off x="3671316" y="4402836"/>
            <a:ext cx="155448" cy="155448"/>
          </a:xfrm>
          <a:prstGeom prst="ellipse">
            <a:avLst/>
          </a:prstGeom>
          <a:solidFill>
            <a:srgbClr val="3AA8DD"/>
          </a:solidFill>
          <a:ln w="19050">
            <a:solidFill>
              <a:srgbClr val="2E9E44"/>
            </a:solidFill>
            <a:prstDash val="solid"/>
          </a:ln>
        </p:spPr>
        <p:txBody>
          <a:bodyPr/>
          <a:lstStyle/>
          <a:p>
            <a:endParaRPr lang="en-GB"/>
          </a:p>
        </p:txBody>
      </p:sp>
      <p:sp>
        <p:nvSpPr>
          <p:cNvPr id="41" name="Shape 41"/>
          <p:cNvSpPr/>
          <p:nvPr/>
        </p:nvSpPr>
        <p:spPr>
          <a:xfrm>
            <a:off x="1933956" y="5276699"/>
            <a:ext cx="64008" cy="64008"/>
          </a:xfrm>
          <a:prstGeom prst="ellipse">
            <a:avLst/>
          </a:prstGeom>
          <a:solidFill>
            <a:srgbClr val="5B6890"/>
          </a:solidFill>
          <a:ln>
            <a:noFill/>
          </a:ln>
        </p:spPr>
        <p:txBody>
          <a:bodyPr/>
          <a:lstStyle/>
          <a:p>
            <a:endParaRPr lang="en-GB"/>
          </a:p>
        </p:txBody>
      </p:sp>
      <p:cxnSp>
        <p:nvCxnSpPr>
          <p:cNvPr id="42" name="Connector 42"/>
          <p:cNvCxnSpPr/>
          <p:nvPr/>
        </p:nvCxnSpPr>
        <p:spPr>
          <a:xfrm flipV="1">
            <a:off x="1965960" y="4754880"/>
            <a:ext cx="1691640" cy="553823"/>
          </a:xfrm>
          <a:prstGeom prst="line">
            <a:avLst/>
          </a:prstGeom>
          <a:ln w="9525">
            <a:solidFill>
              <a:srgbClr val="9AA4C2"/>
            </a:solidFill>
          </a:ln>
        </p:spPr>
      </p:cxnSp>
      <p:sp>
        <p:nvSpPr>
          <p:cNvPr id="43" name="Shape 43"/>
          <p:cNvSpPr/>
          <p:nvPr/>
        </p:nvSpPr>
        <p:spPr>
          <a:xfrm>
            <a:off x="3671316" y="4677156"/>
            <a:ext cx="155448" cy="155448"/>
          </a:xfrm>
          <a:prstGeom prst="ellipse">
            <a:avLst/>
          </a:prstGeom>
          <a:solidFill>
            <a:srgbClr val="1478AE"/>
          </a:solidFill>
          <a:ln w="19050">
            <a:solidFill>
              <a:srgbClr val="D62828"/>
            </a:solidFill>
            <a:prstDash val="solid"/>
          </a:ln>
        </p:spPr>
        <p:txBody>
          <a:bodyPr/>
          <a:lstStyle/>
          <a:p>
            <a:endParaRPr lang="en-GB"/>
          </a:p>
        </p:txBody>
      </p:sp>
      <p:sp>
        <p:nvSpPr>
          <p:cNvPr id="44" name="Shape 44"/>
          <p:cNvSpPr/>
          <p:nvPr/>
        </p:nvSpPr>
        <p:spPr>
          <a:xfrm>
            <a:off x="1933956" y="5843934"/>
            <a:ext cx="64008" cy="64008"/>
          </a:xfrm>
          <a:prstGeom prst="ellipse">
            <a:avLst/>
          </a:prstGeom>
          <a:solidFill>
            <a:srgbClr val="5B6890"/>
          </a:solidFill>
          <a:ln>
            <a:noFill/>
          </a:ln>
        </p:spPr>
        <p:txBody>
          <a:bodyPr/>
          <a:lstStyle/>
          <a:p>
            <a:endParaRPr lang="en-GB"/>
          </a:p>
        </p:txBody>
      </p:sp>
      <p:cxnSp>
        <p:nvCxnSpPr>
          <p:cNvPr id="45" name="Connector 45"/>
          <p:cNvCxnSpPr/>
          <p:nvPr/>
        </p:nvCxnSpPr>
        <p:spPr>
          <a:xfrm flipV="1">
            <a:off x="1965960" y="5029200"/>
            <a:ext cx="1691640" cy="846738"/>
          </a:xfrm>
          <a:prstGeom prst="line">
            <a:avLst/>
          </a:prstGeom>
          <a:ln w="9525">
            <a:solidFill>
              <a:srgbClr val="9AA4C2"/>
            </a:solidFill>
          </a:ln>
        </p:spPr>
      </p:cxnSp>
      <p:sp>
        <p:nvSpPr>
          <p:cNvPr id="46" name="Shape 46"/>
          <p:cNvSpPr/>
          <p:nvPr/>
        </p:nvSpPr>
        <p:spPr>
          <a:xfrm>
            <a:off x="3671316" y="4951476"/>
            <a:ext cx="155448" cy="155448"/>
          </a:xfrm>
          <a:prstGeom prst="ellipse">
            <a:avLst/>
          </a:prstGeom>
          <a:solidFill>
            <a:srgbClr val="0B4F6C"/>
          </a:solidFill>
          <a:ln w="19050">
            <a:solidFill>
              <a:srgbClr val="D62828"/>
            </a:solidFill>
            <a:prstDash val="solid"/>
          </a:ln>
        </p:spPr>
        <p:txBody>
          <a:bodyPr/>
          <a:lstStyle/>
          <a:p>
            <a:endParaRPr lang="en-GB"/>
          </a:p>
        </p:txBody>
      </p:sp>
      <p:graphicFrame>
        <p:nvGraphicFramePr>
          <p:cNvPr id="47" name="Table 47"/>
          <p:cNvGraphicFramePr>
            <a:graphicFrameLocks noGrp="1"/>
          </p:cNvGraphicFramePr>
          <p:nvPr/>
        </p:nvGraphicFramePr>
        <p:xfrm>
          <a:off x="3931920" y="2240280"/>
          <a:ext cx="4114800" cy="292608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676656">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850392">
                  <a:extLst>
                    <a:ext uri="{9D8B030D-6E8A-4147-A177-3AD203B41FA5}">
                      <a16:colId xmlns:a16="http://schemas.microsoft.com/office/drawing/2014/main" val="20003"/>
                    </a:ext>
                  </a:extLst>
                </a:gridCol>
                <a:gridCol w="530352">
                  <a:extLst>
                    <a:ext uri="{9D8B030D-6E8A-4147-A177-3AD203B41FA5}">
                      <a16:colId xmlns:a16="http://schemas.microsoft.com/office/drawing/2014/main" val="20004"/>
                    </a:ext>
                  </a:extLst>
                </a:gridCol>
              </a:tblGrid>
              <a:tr h="457200">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Model / profile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Groups (BG)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Terms (BT)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New BG + BT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Σ</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EXTENDED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175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93 + 609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910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Peppol PINT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163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6 + 32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6B6B6B"/>
                          </a:solidFill>
                          <a:latin typeface="Inter SemiBold Text SemiBold" pitchFamily="34" charset="0"/>
                          <a:ea typeface="Inter SemiBold Text SemiBold" pitchFamily="34" charset="-122"/>
                          <a:cs typeface="Inter SemiBold Text SemiBold" pitchFamily="34" charset="-120"/>
                        </a:rPr>
                        <a:t>232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XRechnung Ext.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9 + 3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208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EN 16931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196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XRechnung CIUS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196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Peppol BIS 3.0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32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163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195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6"/>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BASIC</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27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125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1E8A4C"/>
                          </a:solidFill>
                          <a:latin typeface="Inter SemiBold Text SemiBold" pitchFamily="34" charset="0"/>
                          <a:ea typeface="Inter SemiBold Text SemiBold" pitchFamily="34" charset="-122"/>
                          <a:cs typeface="Inter SemiBold Text SemiBold" pitchFamily="34" charset="-120"/>
                        </a:rPr>
                        <a:t>152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7"/>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BASIC WL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21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103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00" dirty="0">
                          <a:solidFill>
                            <a:srgbClr val="C0392B"/>
                          </a:solidFill>
                          <a:latin typeface="Inter SemiBold Text SemiBold" pitchFamily="34" charset="0"/>
                          <a:ea typeface="Inter SemiBold Text SemiBold" pitchFamily="34" charset="-122"/>
                          <a:cs typeface="Inter SemiBold Text SemiBold" pitchFamily="34" charset="-120"/>
                        </a:rPr>
                        <a:t>124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8"/>
                  </a:ext>
                </a:extLst>
              </a:tr>
              <a:tr h="274320">
                <a:tc>
                  <a:txBody>
                    <a:bodyPr/>
                    <a:lstStyle/>
                    <a:p>
                      <a:pPr marL="0" indent="0" algn="l">
                        <a:buNone/>
                      </a:pPr>
                      <a:r>
                        <a:rPr lang="en-GB" sz="1000" dirty="0">
                          <a:solidFill>
                            <a:srgbClr val="1A2B5E"/>
                          </a:solidFill>
                          <a:latin typeface="Inter SemiBold Text SemiBold" pitchFamily="34" charset="0"/>
                          <a:ea typeface="Inter SemiBold Text SemiBold" pitchFamily="34" charset="-122"/>
                          <a:cs typeface="Inter SemiBold Text SemiBold" pitchFamily="34" charset="-120"/>
                        </a:rPr>
                        <a:t>MINIMUM</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18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00" dirty="0">
                          <a:solidFill>
                            <a:srgbClr val="C0392B"/>
                          </a:solidFill>
                          <a:latin typeface="Inter SemiBold Text SemiBold" pitchFamily="34" charset="0"/>
                          <a:ea typeface="Inter SemiBold Text SemiBold" pitchFamily="34" charset="-122"/>
                          <a:cs typeface="Inter SemiBold Text SemiBold" pitchFamily="34" charset="-120"/>
                        </a:rPr>
                        <a:t>26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9"/>
                  </a:ext>
                </a:extLst>
              </a:tr>
            </a:tbl>
          </a:graphicData>
        </a:graphic>
      </p:graphicFrame>
      <p:sp>
        <p:nvSpPr>
          <p:cNvPr id="48" name="Text 48"/>
          <p:cNvSpPr txBox="1"/>
          <p:nvPr/>
        </p:nvSpPr>
        <p:spPr>
          <a:xfrm>
            <a:off x="3840480" y="5349240"/>
            <a:ext cx="4343400" cy="822960"/>
          </a:xfrm>
          <a:prstGeom prst="rect">
            <a:avLst/>
          </a:prstGeom>
          <a:noFill/>
          <a:ln/>
        </p:spPr>
        <p:txBody>
          <a:bodyPr wrap="square" lIns="0" tIns="0" rIns="0" bIns="0" rtlCol="0" anchor="t"/>
          <a:lstStyle/>
          <a:p>
            <a:pPr marL="0" indent="0" algn="l">
              <a:lnSpc>
                <a:spcPct val="105000"/>
              </a:lnSpc>
              <a:buNone/>
            </a:pPr>
            <a:r>
              <a:rPr lang="en-GB" sz="950" dirty="0">
                <a:solidFill>
                  <a:srgbClr val="5B6890"/>
                </a:solidFill>
                <a:latin typeface="Inter Text" pitchFamily="34" charset="0"/>
                <a:ea typeface="Inter Text" pitchFamily="34" charset="-122"/>
                <a:cs typeface="Inter Text" pitchFamily="34" charset="-120"/>
              </a:rPr>
              <a:t>Circle area ∝ business groups (BG) + business terms (BT). Outline green = e-invoice in Germany, red = not (MINIMUM, BASIC WL), grey = PINT is not a CIUS of EN 16931 (in Germany only by agreement).</a:t>
            </a:r>
          </a:p>
        </p:txBody>
      </p:sp>
      <p:sp>
        <p:nvSpPr>
          <p:cNvPr id="49" name="Speaker 49">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Folie 19">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PEPPOL INTERNATIONAL</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400" b="1" dirty="0">
                <a:solidFill>
                  <a:srgbClr val="1A2B5E"/>
                </a:solidFill>
                <a:latin typeface="Inter Text" pitchFamily="34" charset="0"/>
                <a:ea typeface="Inter Text" pitchFamily="34" charset="-122"/>
                <a:cs typeface="Inter Text" pitchFamily="34" charset="-120"/>
              </a:rPr>
              <a:t>Peppol PINT: usable worldwide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One common core, extensible per country — for tax systems beyond EU VAT.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D4D8B36-AC45-46B1-8DDD-84DB38D800FF}"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16</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anel 8"/>
          <p:cNvSpPr/>
          <p:nvPr/>
        </p:nvSpPr>
        <p:spPr>
          <a:xfrm>
            <a:off x="822960" y="2331720"/>
            <a:ext cx="3931920" cy="3977640"/>
          </a:xfrm>
          <a:prstGeom prst="roundRect">
            <a:avLst>
              <a:gd name="adj" fmla="val 2325"/>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9" name="Text 9"/>
          <p:cNvSpPr txBox="1"/>
          <p:nvPr/>
        </p:nvSpPr>
        <p:spPr>
          <a:xfrm>
            <a:off x="1143000" y="2514600"/>
            <a:ext cx="338328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THREE LAYERS</a:t>
            </a:r>
          </a:p>
        </p:txBody>
      </p:sp>
      <p:sp>
        <p:nvSpPr>
          <p:cNvPr id="10" name="Pill 10"/>
          <p:cNvSpPr/>
          <p:nvPr/>
        </p:nvSpPr>
        <p:spPr>
          <a:xfrm>
            <a:off x="1143000" y="2907792"/>
            <a:ext cx="960120" cy="310896"/>
          </a:xfrm>
          <a:prstGeom prst="roundRect">
            <a:avLst>
              <a:gd name="adj" fmla="val 50000"/>
            </a:avLst>
          </a:prstGeom>
          <a:solidFill>
            <a:srgbClr val="19C3C8"/>
          </a:solidFill>
          <a:ln>
            <a:noFill/>
          </a:ln>
        </p:spPr>
        <p:txBody>
          <a:bodyPr wrap="square" lIns="36576" tIns="36576" rIns="36576" bIns="36576" rtlCol="0" anchor="ctr"/>
          <a:lstStyle/>
          <a:p>
            <a:pPr marL="0" indent="0" algn="ctr">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Shared</a:t>
            </a:r>
          </a:p>
        </p:txBody>
      </p:sp>
      <p:sp>
        <p:nvSpPr>
          <p:cNvPr id="11" name="Text 11"/>
          <p:cNvSpPr txBox="1"/>
          <p:nvPr/>
        </p:nvSpPr>
        <p:spPr>
          <a:xfrm>
            <a:off x="2240280" y="2834640"/>
            <a:ext cx="2331720" cy="77724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defined the same everywhere: header, parties, lines, totals, references — enough for booking and order matching</a:t>
            </a:r>
          </a:p>
        </p:txBody>
      </p:sp>
      <p:sp>
        <p:nvSpPr>
          <p:cNvPr id="12" name="Pill 12"/>
          <p:cNvSpPr/>
          <p:nvPr/>
        </p:nvSpPr>
        <p:spPr>
          <a:xfrm>
            <a:off x="1143000" y="3730752"/>
            <a:ext cx="960120" cy="310896"/>
          </a:xfrm>
          <a:prstGeom prst="roundRect">
            <a:avLst>
              <a:gd name="adj" fmla="val 50000"/>
            </a:avLst>
          </a:prstGeom>
          <a:solidFill>
            <a:srgbClr val="19C3C8"/>
          </a:solidFill>
          <a:ln>
            <a:noFill/>
          </a:ln>
        </p:spPr>
        <p:txBody>
          <a:bodyPr wrap="square" lIns="36576" tIns="36576" rIns="36576" bIns="36576" rtlCol="0" anchor="ctr"/>
          <a:lstStyle/>
          <a:p>
            <a:pPr marL="0" indent="0" algn="ctr">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Aligned</a:t>
            </a:r>
          </a:p>
        </p:txBody>
      </p:sp>
      <p:sp>
        <p:nvSpPr>
          <p:cNvPr id="13" name="Text 13"/>
          <p:cNvSpPr txBox="1"/>
          <p:nvPr/>
        </p:nvSpPr>
        <p:spPr>
          <a:xfrm>
            <a:off x="2240280" y="3657600"/>
            <a:ext cx="2331720" cy="77724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defined in general, refined per country: tax, payment instructions; rules come with the specialisation</a:t>
            </a:r>
          </a:p>
        </p:txBody>
      </p:sp>
      <p:sp>
        <p:nvSpPr>
          <p:cNvPr id="14" name="Pill 14"/>
          <p:cNvSpPr/>
          <p:nvPr/>
        </p:nvSpPr>
        <p:spPr>
          <a:xfrm>
            <a:off x="1143000" y="4553712"/>
            <a:ext cx="960120" cy="310896"/>
          </a:xfrm>
          <a:prstGeom prst="roundRect">
            <a:avLst>
              <a:gd name="adj" fmla="val 50000"/>
            </a:avLst>
          </a:prstGeom>
          <a:solidFill>
            <a:srgbClr val="19C3C8"/>
          </a:solidFill>
          <a:ln>
            <a:noFill/>
          </a:ln>
        </p:spPr>
        <p:txBody>
          <a:bodyPr wrap="square" lIns="36576" tIns="36576" rIns="36576" bIns="36576" rtlCol="0" anchor="ctr"/>
          <a:lstStyle/>
          <a:p>
            <a:pPr marL="0" indent="0" algn="ctr">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Distinct</a:t>
            </a:r>
          </a:p>
        </p:txBody>
      </p:sp>
      <p:sp>
        <p:nvSpPr>
          <p:cNvPr id="15" name="Text 15"/>
          <p:cNvSpPr txBox="1"/>
          <p:nvPr/>
        </p:nvSpPr>
        <p:spPr>
          <a:xfrm>
            <a:off x="2240280" y="4480560"/>
            <a:ext cx="2331720" cy="77724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only in the respective country: national laws and industry practice</a:t>
            </a:r>
          </a:p>
        </p:txBody>
      </p:sp>
      <p:sp>
        <p:nvSpPr>
          <p:cNvPr id="16" name="Shape 16"/>
          <p:cNvSpPr/>
          <p:nvPr/>
        </p:nvSpPr>
        <p:spPr>
          <a:xfrm>
            <a:off x="1143000" y="5349240"/>
            <a:ext cx="3291840" cy="9144"/>
          </a:xfrm>
          <a:prstGeom prst="rect">
            <a:avLst/>
          </a:prstGeom>
          <a:solidFill>
            <a:srgbClr val="3A4A7A"/>
          </a:solidFill>
          <a:ln>
            <a:noFill/>
          </a:ln>
        </p:spPr>
        <p:txBody>
          <a:bodyPr/>
          <a:lstStyle/>
          <a:p>
            <a:endParaRPr lang="en-GB"/>
          </a:p>
        </p:txBody>
      </p:sp>
      <p:sp>
        <p:nvSpPr>
          <p:cNvPr id="17" name="Text 17"/>
          <p:cNvSpPr txBox="1"/>
          <p:nvPr/>
        </p:nvSpPr>
        <p:spPr>
          <a:xfrm>
            <a:off x="1143000" y="5413248"/>
            <a:ext cx="3383280" cy="868680"/>
          </a:xfrm>
          <a:prstGeom prst="rect">
            <a:avLst/>
          </a:prstGeom>
          <a:noFill/>
          <a:ln/>
        </p:spPr>
        <p:txBody>
          <a:bodyPr wrap="square" lIns="0" tIns="0" rIns="0" bIns="0" rtlCol="0" anchor="t"/>
          <a:lstStyle/>
          <a:p>
            <a:pPr marL="0" indent="0" algn="l">
              <a:lnSpc>
                <a:spcPct val="105000"/>
              </a:lnSpc>
              <a:spcAft>
                <a:spcPts val="300"/>
              </a:spcAft>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Specialisations: </a:t>
            </a:r>
            <a:r>
              <a:rPr lang="en-GB" sz="1050" dirty="0">
                <a:solidFill>
                  <a:srgbClr val="C2CADE"/>
                </a:solidFill>
                <a:latin typeface="Inter Text" pitchFamily="34" charset="0"/>
                <a:ea typeface="Inter Text" pitchFamily="34" charset="-122"/>
                <a:cs typeface="Inter Text" pitchFamily="34" charset="-120"/>
              </a:rPr>
              <a:t>Australia &amp; New Zealand, Japan, Singapore, Malaysia, UAE</a:t>
            </a:r>
          </a:p>
          <a:p>
            <a:pPr marL="0" indent="0" algn="l">
              <a:lnSpc>
                <a:spcPct val="105000"/>
              </a:lnSpc>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Receipt via wildcard: </a:t>
            </a:r>
            <a:r>
              <a:rPr lang="en-GB" sz="1050" dirty="0">
                <a:solidFill>
                  <a:srgbClr val="C2CADE"/>
                </a:solidFill>
                <a:latin typeface="Inter Text" pitchFamily="34" charset="0"/>
                <a:ea typeface="Inter Text" pitchFamily="34" charset="-122"/>
                <a:cs typeface="Inter Text" pitchFamily="34" charset="-120"/>
              </a:rPr>
              <a:t>accept all specialisations, process the shared part</a:t>
            </a:r>
          </a:p>
        </p:txBody>
      </p:sp>
      <p:sp>
        <p:nvSpPr>
          <p:cNvPr id="18" name="Card 18"/>
          <p:cNvSpPr/>
          <p:nvPr/>
        </p:nvSpPr>
        <p:spPr>
          <a:xfrm>
            <a:off x="4937760" y="2331720"/>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9" name="IconCircle 19"/>
          <p:cNvSpPr/>
          <p:nvPr/>
        </p:nvSpPr>
        <p:spPr>
          <a:xfrm>
            <a:off x="5138928" y="2532888"/>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20" name="Icon 20"/>
          <p:cNvPicPr>
            <a:picLocks noChangeAspect="1"/>
          </p:cNvPicPr>
          <p:nvPr/>
        </p:nvPicPr>
        <p:blipFill>
          <a:blip r:embed="rId3"/>
          <a:stretch>
            <a:fillRect/>
          </a:stretch>
        </p:blipFill>
        <p:spPr>
          <a:xfrm>
            <a:off x="5244541" y="2638501"/>
            <a:ext cx="172822" cy="172822"/>
          </a:xfrm>
          <a:prstGeom prst="rect">
            <a:avLst/>
          </a:prstGeom>
        </p:spPr>
      </p:pic>
      <p:sp>
        <p:nvSpPr>
          <p:cNvPr id="21" name="Text 21"/>
          <p:cNvSpPr txBox="1"/>
          <p:nvPr/>
        </p:nvSpPr>
        <p:spPr>
          <a:xfrm>
            <a:off x="5650992" y="2514600"/>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Tax, not just VAT</a:t>
            </a:r>
          </a:p>
        </p:txBody>
      </p:sp>
      <p:sp>
        <p:nvSpPr>
          <p:cNvPr id="22" name="Text 22"/>
          <p:cNvSpPr txBox="1"/>
          <p:nvPr/>
        </p:nvSpPr>
        <p:spPr>
          <a:xfrm>
            <a:off x="5138928" y="2990088"/>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TAX instead of VAT: a tax scheme per tax (e.g. VAT, GST; IBT-167), per-unit tax (IBT-166)</a:t>
            </a:r>
          </a:p>
        </p:txBody>
      </p:sp>
      <p:sp>
        <p:nvSpPr>
          <p:cNvPr id="23" name="Card 23"/>
          <p:cNvSpPr/>
          <p:nvPr/>
        </p:nvSpPr>
        <p:spPr>
          <a:xfrm>
            <a:off x="8211312" y="2331720"/>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4" name="IconCircle 24"/>
          <p:cNvSpPr/>
          <p:nvPr/>
        </p:nvSpPr>
        <p:spPr>
          <a:xfrm>
            <a:off x="8412480" y="2532888"/>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25" name="Icon 25"/>
          <p:cNvPicPr>
            <a:picLocks noChangeAspect="1"/>
          </p:cNvPicPr>
          <p:nvPr/>
        </p:nvPicPr>
        <p:blipFill>
          <a:blip r:embed="rId4"/>
          <a:stretch>
            <a:fillRect/>
          </a:stretch>
        </p:blipFill>
        <p:spPr>
          <a:xfrm>
            <a:off x="8518093" y="2638501"/>
            <a:ext cx="172822" cy="172822"/>
          </a:xfrm>
          <a:prstGeom prst="rect">
            <a:avLst/>
          </a:prstGeom>
        </p:spPr>
      </p:pic>
      <p:sp>
        <p:nvSpPr>
          <p:cNvPr id="26" name="Text 26"/>
          <p:cNvSpPr txBox="1"/>
          <p:nvPr/>
        </p:nvSpPr>
        <p:spPr>
          <a:xfrm>
            <a:off x="8924544" y="2514600"/>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Gross prices</a:t>
            </a:r>
          </a:p>
        </p:txBody>
      </p:sp>
      <p:sp>
        <p:nvSpPr>
          <p:cNvPr id="27" name="Text 27"/>
          <p:cNvSpPr txBox="1"/>
          <p:nvPr/>
        </p:nvSpPr>
        <p:spPr>
          <a:xfrm>
            <a:off x="8412480" y="2990088"/>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IBT-200: prices, allowances/charges and line amounts including tax — net remains the default (cf. #164)</a:t>
            </a:r>
          </a:p>
        </p:txBody>
      </p:sp>
      <p:sp>
        <p:nvSpPr>
          <p:cNvPr id="28" name="Card 28"/>
          <p:cNvSpPr/>
          <p:nvPr/>
        </p:nvSpPr>
        <p:spPr>
          <a:xfrm>
            <a:off x="4937760" y="3675888"/>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9" name="IconCircle 29"/>
          <p:cNvSpPr/>
          <p:nvPr/>
        </p:nvSpPr>
        <p:spPr>
          <a:xfrm>
            <a:off x="5138928" y="3877056"/>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30" name="Icon 30"/>
          <p:cNvPicPr>
            <a:picLocks noChangeAspect="1"/>
          </p:cNvPicPr>
          <p:nvPr/>
        </p:nvPicPr>
        <p:blipFill>
          <a:blip r:embed="rId5"/>
          <a:stretch>
            <a:fillRect/>
          </a:stretch>
        </p:blipFill>
        <p:spPr>
          <a:xfrm>
            <a:off x="5244541" y="3982669"/>
            <a:ext cx="172822" cy="172822"/>
          </a:xfrm>
          <a:prstGeom prst="rect">
            <a:avLst/>
          </a:prstGeom>
        </p:spPr>
      </p:pic>
      <p:sp>
        <p:nvSpPr>
          <p:cNvPr id="31" name="Text 31"/>
          <p:cNvSpPr txBox="1"/>
          <p:nvPr/>
        </p:nvSpPr>
        <p:spPr>
          <a:xfrm>
            <a:off x="5650992" y="3858768"/>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Instalments &amp; split payment</a:t>
            </a:r>
          </a:p>
        </p:txBody>
      </p:sp>
      <p:sp>
        <p:nvSpPr>
          <p:cNvPr id="32" name="Text 32"/>
          <p:cNvSpPr txBox="1"/>
          <p:nvPr/>
        </p:nvSpPr>
        <p:spPr>
          <a:xfrm>
            <a:off x="5138928" y="4334256"/>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IBG-33: amount, due date and payment means per instalment; withholding tax paid separately</a:t>
            </a:r>
          </a:p>
        </p:txBody>
      </p:sp>
      <p:sp>
        <p:nvSpPr>
          <p:cNvPr id="33" name="Card 33"/>
          <p:cNvSpPr/>
          <p:nvPr/>
        </p:nvSpPr>
        <p:spPr>
          <a:xfrm>
            <a:off x="8211312" y="3675888"/>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4" name="IconCircle 34"/>
          <p:cNvSpPr/>
          <p:nvPr/>
        </p:nvSpPr>
        <p:spPr>
          <a:xfrm>
            <a:off x="8412480" y="3877056"/>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35" name="Icon 35"/>
          <p:cNvPicPr>
            <a:picLocks noChangeAspect="1"/>
          </p:cNvPicPr>
          <p:nvPr/>
        </p:nvPicPr>
        <p:blipFill>
          <a:blip r:embed="rId6"/>
          <a:stretch>
            <a:fillRect/>
          </a:stretch>
        </p:blipFill>
        <p:spPr>
          <a:xfrm>
            <a:off x="8518093" y="3982669"/>
            <a:ext cx="172822" cy="172822"/>
          </a:xfrm>
          <a:prstGeom prst="rect">
            <a:avLst/>
          </a:prstGeom>
        </p:spPr>
      </p:pic>
      <p:sp>
        <p:nvSpPr>
          <p:cNvPr id="36" name="Text 36"/>
          <p:cNvSpPr txBox="1"/>
          <p:nvPr/>
        </p:nvSpPr>
        <p:spPr>
          <a:xfrm>
            <a:off x="8924544" y="3858768"/>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Payments made</a:t>
            </a:r>
          </a:p>
        </p:txBody>
      </p:sp>
      <p:sp>
        <p:nvSpPr>
          <p:cNvPr id="37" name="Text 37"/>
          <p:cNvSpPr txBox="1"/>
          <p:nvPr/>
        </p:nvSpPr>
        <p:spPr>
          <a:xfrm>
            <a:off x="8412480" y="4334256"/>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IBG-35: prepayments broken down by amount, date, payment type and reference</a:t>
            </a:r>
          </a:p>
        </p:txBody>
      </p:sp>
      <p:sp>
        <p:nvSpPr>
          <p:cNvPr id="38" name="Card 38"/>
          <p:cNvSpPr/>
          <p:nvPr/>
        </p:nvSpPr>
        <p:spPr>
          <a:xfrm>
            <a:off x="4937760" y="5020056"/>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9" name="IconCircle 39"/>
          <p:cNvSpPr/>
          <p:nvPr/>
        </p:nvSpPr>
        <p:spPr>
          <a:xfrm>
            <a:off x="5138928" y="5221224"/>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40" name="Icon 40"/>
          <p:cNvPicPr>
            <a:picLocks noChangeAspect="1"/>
          </p:cNvPicPr>
          <p:nvPr/>
        </p:nvPicPr>
        <p:blipFill>
          <a:blip r:embed="rId7"/>
          <a:stretch>
            <a:fillRect/>
          </a:stretch>
        </p:blipFill>
        <p:spPr>
          <a:xfrm>
            <a:off x="5244541" y="5326837"/>
            <a:ext cx="172822" cy="172822"/>
          </a:xfrm>
          <a:prstGeom prst="rect">
            <a:avLst/>
          </a:prstGeom>
        </p:spPr>
      </p:pic>
      <p:sp>
        <p:nvSpPr>
          <p:cNvPr id="41" name="Text 41"/>
          <p:cNvSpPr txBox="1"/>
          <p:nvPr/>
        </p:nvSpPr>
        <p:spPr>
          <a:xfrm>
            <a:off x="5650992" y="5202936"/>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Tax in accounting currency</a:t>
            </a:r>
          </a:p>
        </p:txBody>
      </p:sp>
      <p:sp>
        <p:nvSpPr>
          <p:cNvPr id="42" name="Text 42"/>
          <p:cNvSpPr txBox="1"/>
          <p:nvPr/>
        </p:nvSpPr>
        <p:spPr>
          <a:xfrm>
            <a:off x="5138928" y="5678424"/>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IBG-37/38: totals and tax breakdown in the accounting currency</a:t>
            </a:r>
          </a:p>
        </p:txBody>
      </p:sp>
      <p:sp>
        <p:nvSpPr>
          <p:cNvPr id="43" name="Card 43"/>
          <p:cNvSpPr/>
          <p:nvPr/>
        </p:nvSpPr>
        <p:spPr>
          <a:xfrm>
            <a:off x="8211312" y="5020056"/>
            <a:ext cx="3154680" cy="1234440"/>
          </a:xfrm>
          <a:prstGeom prst="roundRect">
            <a:avLst>
              <a:gd name="adj" fmla="val 59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4" name="IconCircle 44"/>
          <p:cNvSpPr/>
          <p:nvPr/>
        </p:nvSpPr>
        <p:spPr>
          <a:xfrm>
            <a:off x="8412480" y="5221224"/>
            <a:ext cx="384048" cy="384048"/>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45" name="Icon 45"/>
          <p:cNvPicPr>
            <a:picLocks noChangeAspect="1"/>
          </p:cNvPicPr>
          <p:nvPr/>
        </p:nvPicPr>
        <p:blipFill>
          <a:blip r:embed="rId8"/>
          <a:stretch>
            <a:fillRect/>
          </a:stretch>
        </p:blipFill>
        <p:spPr>
          <a:xfrm>
            <a:off x="8518093" y="5326837"/>
            <a:ext cx="172822" cy="172822"/>
          </a:xfrm>
          <a:prstGeom prst="rect">
            <a:avLst/>
          </a:prstGeom>
        </p:spPr>
      </p:pic>
      <p:sp>
        <p:nvSpPr>
          <p:cNvPr id="46" name="Text 46"/>
          <p:cNvSpPr txBox="1"/>
          <p:nvPr/>
        </p:nvSpPr>
        <p:spPr>
          <a:xfrm>
            <a:off x="8924544" y="5202936"/>
            <a:ext cx="2331720" cy="411480"/>
          </a:xfrm>
          <a:prstGeom prst="rect">
            <a:avLst/>
          </a:prstGeom>
          <a:noFill/>
          <a:ln/>
        </p:spPr>
        <p:txBody>
          <a:bodyPr wrap="square" lIns="0" tIns="0" rIns="0" bIns="0" rtlCol="0" anchor="ct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Bank abroad</a:t>
            </a:r>
          </a:p>
        </p:txBody>
      </p:sp>
      <p:sp>
        <p:nvSpPr>
          <p:cNvPr id="47" name="Text 47"/>
          <p:cNvSpPr txBox="1"/>
          <p:nvPr/>
        </p:nvSpPr>
        <p:spPr>
          <a:xfrm>
            <a:off x="8412480" y="5678424"/>
            <a:ext cx="2834640" cy="548640"/>
          </a:xfrm>
          <a:prstGeom prst="rect">
            <a:avLst/>
          </a:prstGeom>
          <a:noFill/>
          <a:ln/>
        </p:spPr>
        <p:txBody>
          <a:bodyPr wrap="square" lIns="0" tIns="0" rIns="0" bIns="0" rtlCol="0" anchor="t"/>
          <a:lstStyle/>
          <a:p>
            <a:pPr marL="0" indent="0" algn="l">
              <a:lnSpc>
                <a:spcPct val="105000"/>
              </a:lnSpc>
              <a:buNone/>
            </a:pPr>
            <a:r>
              <a:rPr lang="en-GB" sz="1000" dirty="0">
                <a:solidFill>
                  <a:srgbClr val="5B6890"/>
                </a:solidFill>
                <a:latin typeface="Inter Text" pitchFamily="34" charset="0"/>
                <a:ea typeface="Inter Text" pitchFamily="34" charset="-122"/>
                <a:cs typeface="Inter Text" pitchFamily="34" charset="-120"/>
              </a:rPr>
              <a:t>IBG-34: address of the account-holding institution for international transfers</a:t>
            </a:r>
          </a:p>
        </p:txBody>
      </p:sp>
      <p:sp>
        <p:nvSpPr>
          <p:cNvPr id="48" name="Speaker 48">
            <a:hlinkClick r:id="rId9"/>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Folie 20">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FORMATS · XRECHNUNG</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200" b="1" dirty="0">
                <a:solidFill>
                  <a:srgbClr val="1A2B5E"/>
                </a:solidFill>
                <a:latin typeface="Inter Text" pitchFamily="34" charset="0"/>
                <a:ea typeface="Inter Text" pitchFamily="34" charset="-122"/>
                <a:cs typeface="Inter Text" pitchFamily="34" charset="-120"/>
              </a:rPr>
              <a:t>XRechnung 3.0.2: CIUS and extension</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143540A6-3919-4101-933E-242E6FDA5FF7}"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17</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Shape 7"/>
          <p:cNvSpPr/>
          <p:nvPr/>
        </p:nvSpPr>
        <p:spPr>
          <a:xfrm>
            <a:off x="731520" y="2788920"/>
            <a:ext cx="3566160" cy="3566160"/>
          </a:xfrm>
          <a:prstGeom prst="ellipse">
            <a:avLst/>
          </a:prstGeom>
          <a:noFill/>
          <a:ln w="15875">
            <a:solidFill>
              <a:srgbClr val="8C8C8C"/>
            </a:solidFill>
            <a:prstDash val="dash"/>
          </a:ln>
        </p:spPr>
        <p:txBody>
          <a:bodyPr/>
          <a:lstStyle/>
          <a:p>
            <a:endParaRPr lang="en-GB"/>
          </a:p>
        </p:txBody>
      </p:sp>
      <p:sp>
        <p:nvSpPr>
          <p:cNvPr id="8" name="Shape 8"/>
          <p:cNvSpPr/>
          <p:nvPr/>
        </p:nvSpPr>
        <p:spPr>
          <a:xfrm>
            <a:off x="1662125" y="4650129"/>
            <a:ext cx="1704951" cy="1704951"/>
          </a:xfrm>
          <a:prstGeom prst="ellipse">
            <a:avLst/>
          </a:prstGeom>
          <a:solidFill>
            <a:srgbClr val="F6CF8F"/>
          </a:solidFill>
          <a:ln w="28575">
            <a:solidFill>
              <a:srgbClr val="2E9E44"/>
            </a:solidFill>
            <a:prstDash val="solid"/>
          </a:ln>
        </p:spPr>
        <p:txBody>
          <a:bodyPr/>
          <a:lstStyle/>
          <a:p>
            <a:endParaRPr lang="en-GB"/>
          </a:p>
        </p:txBody>
      </p:sp>
      <p:sp>
        <p:nvSpPr>
          <p:cNvPr id="9" name="Shape 9"/>
          <p:cNvSpPr/>
          <p:nvPr/>
        </p:nvSpPr>
        <p:spPr>
          <a:xfrm>
            <a:off x="1687081" y="4700041"/>
            <a:ext cx="1655039" cy="1655039"/>
          </a:xfrm>
          <a:prstGeom prst="ellipse">
            <a:avLst/>
          </a:prstGeom>
          <a:solidFill>
            <a:srgbClr val="E0952B"/>
          </a:solidFill>
          <a:ln w="19050">
            <a:solidFill>
              <a:srgbClr val="2E9E44"/>
            </a:solidFill>
            <a:prstDash val="solid"/>
          </a:ln>
        </p:spPr>
        <p:txBody>
          <a:bodyPr/>
          <a:lstStyle/>
          <a:p>
            <a:endParaRPr lang="en-GB"/>
          </a:p>
        </p:txBody>
      </p:sp>
      <p:sp>
        <p:nvSpPr>
          <p:cNvPr id="10" name="Text 10"/>
          <p:cNvSpPr txBox="1"/>
          <p:nvPr/>
        </p:nvSpPr>
        <p:spPr>
          <a:xfrm>
            <a:off x="1508760" y="3081528"/>
            <a:ext cx="2011680" cy="566928"/>
          </a:xfrm>
          <a:prstGeom prst="rect">
            <a:avLst/>
          </a:prstGeom>
          <a:noFill/>
          <a:ln/>
        </p:spPr>
        <p:txBody>
          <a:bodyPr wrap="square" lIns="0" tIns="0" rIns="0" bIns="0" rtlCol="0" anchor="t"/>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Factur-X EXTENDED</a:t>
            </a:r>
          </a:p>
          <a:p>
            <a:pPr marL="0" indent="0" algn="ctr">
              <a:buNone/>
            </a:pPr>
            <a:r>
              <a:rPr lang="en-GB" sz="1100" b="1" dirty="0">
                <a:solidFill>
                  <a:srgbClr val="00B0F0"/>
                </a:solidFill>
                <a:latin typeface="Inter Text" pitchFamily="34" charset="0"/>
                <a:ea typeface="Inter Text" pitchFamily="34" charset="-122"/>
                <a:cs typeface="Inter Text" pitchFamily="34" charset="-120"/>
              </a:rPr>
              <a:t>910</a:t>
            </a:r>
            <a:r>
              <a:rPr lang="en-GB" sz="1100" dirty="0">
                <a:solidFill>
                  <a:srgbClr val="5B6890"/>
                </a:solidFill>
                <a:latin typeface="Inter Text" pitchFamily="34" charset="0"/>
                <a:ea typeface="Inter Text" pitchFamily="34" charset="-122"/>
                <a:cs typeface="Inter Text" pitchFamily="34" charset="-120"/>
              </a:rPr>
              <a:t> — for comparison</a:t>
            </a:r>
          </a:p>
        </p:txBody>
      </p:sp>
      <p:sp>
        <p:nvSpPr>
          <p:cNvPr id="11" name="Text 11"/>
          <p:cNvSpPr txBox="1"/>
          <p:nvPr/>
        </p:nvSpPr>
        <p:spPr>
          <a:xfrm>
            <a:off x="1965960" y="5298961"/>
            <a:ext cx="1097280" cy="457200"/>
          </a:xfrm>
          <a:prstGeom prst="rect">
            <a:avLst/>
          </a:prstGeom>
          <a:noFill/>
          <a:ln/>
        </p:spPr>
        <p:txBody>
          <a:bodyPr wrap="square" lIns="0" tIns="0" rIns="0" bIns="0" rtlCol="0" anchor="ctr"/>
          <a:lstStyle/>
          <a:p>
            <a:pPr marL="0" indent="0" algn="ctr">
              <a:buNone/>
            </a:pPr>
            <a:r>
              <a:rPr lang="en-GB" sz="2000" b="1" dirty="0">
                <a:solidFill>
                  <a:srgbClr val="FFFFFF"/>
                </a:solidFill>
                <a:latin typeface="Inter Text" pitchFamily="34" charset="0"/>
                <a:ea typeface="Inter Text" pitchFamily="34" charset="-122"/>
                <a:cs typeface="Inter Text" pitchFamily="34" charset="-120"/>
              </a:rPr>
              <a:t>196</a:t>
            </a:r>
          </a:p>
        </p:txBody>
      </p:sp>
      <p:sp>
        <p:nvSpPr>
          <p:cNvPr id="12" name="Text 12"/>
          <p:cNvSpPr txBox="1"/>
          <p:nvPr/>
        </p:nvSpPr>
        <p:spPr>
          <a:xfrm>
            <a:off x="1387805" y="4608782"/>
            <a:ext cx="548640" cy="274320"/>
          </a:xfrm>
          <a:prstGeom prst="rect">
            <a:avLst/>
          </a:prstGeom>
          <a:noFill/>
          <a:ln/>
        </p:spPr>
        <p:txBody>
          <a:bodyPr wrap="square" lIns="0" tIns="0" rIns="0" bIns="0" rtlCol="0" anchor="ctr"/>
          <a:lstStyle/>
          <a:p>
            <a:pPr marL="0" indent="0" algn="r">
              <a:buNone/>
            </a:pPr>
            <a:r>
              <a:rPr lang="en-GB" sz="1400" b="1" dirty="0">
                <a:solidFill>
                  <a:srgbClr val="9A5B00"/>
                </a:solidFill>
                <a:latin typeface="Inter Text" pitchFamily="34" charset="0"/>
                <a:ea typeface="Inter Text" pitchFamily="34" charset="-122"/>
                <a:cs typeface="Inter Text" pitchFamily="34" charset="-120"/>
              </a:rPr>
              <a:t>+12</a:t>
            </a:r>
          </a:p>
        </p:txBody>
      </p:sp>
      <p:graphicFrame>
        <p:nvGraphicFramePr>
          <p:cNvPr id="13" name="Table 13"/>
          <p:cNvGraphicFramePr>
            <a:graphicFrameLocks noGrp="1"/>
          </p:cNvGraphicFramePr>
          <p:nvPr/>
        </p:nvGraphicFramePr>
        <p:xfrm>
          <a:off x="5120640" y="2240280"/>
          <a:ext cx="5806440" cy="1563624"/>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11480">
                <a:tc>
                  <a:txBody>
                    <a:bodyPr/>
                    <a:lstStyle/>
                    <a:p>
                      <a:pPr marL="0" indent="0" algn="l">
                        <a:buNone/>
                      </a:pPr>
                      <a:r>
                        <a:rPr lang="en-GB" sz="1000" dirty="0">
                          <a:solidFill>
                            <a:srgbClr val="FFFFFF"/>
                          </a:solidFill>
                          <a:latin typeface="Inter SemiBold Text SemiBold" pitchFamily="34" charset="0"/>
                          <a:ea typeface="Inter SemiBold Text SemiBold" pitchFamily="34" charset="-122"/>
                          <a:cs typeface="Inter SemiBold Text SemiBold" pitchFamily="34" charset="-120"/>
                        </a:rPr>
                        <a:t>XRechnung 3.0.2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00" dirty="0">
                          <a:solidFill>
                            <a:srgbClr val="FFFFFF"/>
                          </a:solidFill>
                          <a:latin typeface="Inter SemiBold Text SemiBold" pitchFamily="34" charset="0"/>
                          <a:ea typeface="Inter SemiBold Text SemiBold" pitchFamily="34" charset="-122"/>
                          <a:cs typeface="Inter SemiBold Text SemiBold" pitchFamily="34" charset="-120"/>
                        </a:rPr>
                        <a:t>EN BG + BT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00" dirty="0">
                          <a:solidFill>
                            <a:srgbClr val="FFFFFF"/>
                          </a:solidFill>
                          <a:latin typeface="Inter SemiBold Text SemiBold" pitchFamily="34" charset="0"/>
                          <a:ea typeface="Inter SemiBold Text SemiBold" pitchFamily="34" charset="-122"/>
                          <a:cs typeface="Inter SemiBold Text SemiBold" pitchFamily="34" charset="-120"/>
                        </a:rPr>
                        <a:t>New BG + BT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00" dirty="0">
                          <a:solidFill>
                            <a:srgbClr val="FFFFFF"/>
                          </a:solidFill>
                          <a:latin typeface="Inter SemiBold Text SemiBold" pitchFamily="34" charset="0"/>
                          <a:ea typeface="Inter SemiBold Text SemiBold" pitchFamily="34" charset="-122"/>
                          <a:cs typeface="Inter SemiBold Text SemiBold" pitchFamily="34" charset="-120"/>
                        </a:rPr>
                        <a:t>Σ</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00" dirty="0">
                          <a:solidFill>
                            <a:srgbClr val="FFFFFF"/>
                          </a:solidFill>
                          <a:latin typeface="Inter SemiBold Text SemiBold" pitchFamily="34" charset="0"/>
                          <a:ea typeface="Inter SemiBold Text SemiBold" pitchFamily="34" charset="-122"/>
                          <a:cs typeface="Inter SemiBold Text SemiBold" pitchFamily="34" charset="-120"/>
                        </a:rPr>
                        <a:t>Status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XRechnung CIUS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32 + 164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196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050" dirty="0">
                          <a:solidFill>
                            <a:srgbClr val="5B6890"/>
                          </a:solidFill>
                          <a:latin typeface="Inter Text" pitchFamily="34" charset="0"/>
                          <a:ea typeface="Inter Text" pitchFamily="34" charset="-122"/>
                          <a:cs typeface="Inter Text" pitchFamily="34" charset="-120"/>
                        </a:rPr>
                        <a:t>Default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XRechnung extension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32 + 164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9 + 3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208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050" dirty="0">
                          <a:solidFill>
                            <a:srgbClr val="5B6890"/>
                          </a:solidFill>
                          <a:latin typeface="Inter Text" pitchFamily="34" charset="0"/>
                          <a:ea typeface="Inter Text" pitchFamily="34" charset="-122"/>
                          <a:cs typeface="Inter Text" pitchFamily="34" charset="-120"/>
                        </a:rPr>
                        <a:t>optional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384048">
                <a:tc>
                  <a:txBody>
                    <a:bodyPr/>
                    <a:lstStyle/>
                    <a:p>
                      <a:pPr marL="0" indent="0" algn="l">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Factur-X EXTENDED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33 + 175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5B6890"/>
                          </a:solidFill>
                          <a:latin typeface="Inter Text" pitchFamily="34" charset="0"/>
                          <a:ea typeface="Inter Text" pitchFamily="34" charset="-122"/>
                          <a:cs typeface="Inter Text" pitchFamily="34" charset="-120"/>
                        </a:rPr>
                        <a:t>93 + 609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910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050" dirty="0">
                          <a:solidFill>
                            <a:srgbClr val="5B6890"/>
                          </a:solidFill>
                          <a:latin typeface="Inter Text" pitchFamily="34" charset="0"/>
                          <a:ea typeface="Inter Text" pitchFamily="34" charset="-122"/>
                          <a:cs typeface="Inter Text" pitchFamily="34" charset="-120"/>
                        </a:rPr>
                        <a:t>reference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bl>
          </a:graphicData>
        </a:graphic>
      </p:graphicFrame>
      <p:sp>
        <p:nvSpPr>
          <p:cNvPr id="14" name="Card 14"/>
          <p:cNvSpPr/>
          <p:nvPr/>
        </p:nvSpPr>
        <p:spPr>
          <a:xfrm>
            <a:off x="5120640" y="4023360"/>
            <a:ext cx="5806440" cy="2240280"/>
          </a:xfrm>
          <a:prstGeom prst="roundRect">
            <a:avLst>
              <a:gd name="adj" fmla="val 326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Text 15"/>
          <p:cNvSpPr txBox="1"/>
          <p:nvPr/>
        </p:nvSpPr>
        <p:spPr>
          <a:xfrm>
            <a:off x="5394960" y="4160520"/>
            <a:ext cx="5303520" cy="2011680"/>
          </a:xfrm>
          <a:prstGeom prst="rect">
            <a:avLst/>
          </a:prstGeom>
          <a:noFill/>
          <a:ln/>
        </p:spPr>
        <p:txBody>
          <a:bodyPr wrap="square" lIns="0" tIns="0" rIns="0" bIns="0" rtlCol="0" anchor="t"/>
          <a:lstStyle/>
          <a:p>
            <a:pPr marL="0" indent="0" algn="l">
              <a:lnSpc>
                <a:spcPct val="108000"/>
              </a:lnSpc>
              <a:spcAft>
                <a:spcPts val="600"/>
              </a:spcAft>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Not just an extension: </a:t>
            </a:r>
            <a:r>
              <a:rPr lang="en-GB" sz="1200" dirty="0">
                <a:solidFill>
                  <a:srgbClr val="5B6890"/>
                </a:solidFill>
                <a:latin typeface="Inter Text" pitchFamily="34" charset="0"/>
                <a:ea typeface="Inter Text" pitchFamily="34" charset="-122"/>
                <a:cs typeface="Inter Text" pitchFamily="34" charset="-120"/>
              </a:rPr>
              <a:t>The XRechnung CIUS is the default. It keeps all 196 terms of EN 16931 and tightens the rules (e.g. BT-10 Buyer reference = Leitweg-ID, mandatory).</a:t>
            </a:r>
          </a:p>
          <a:p>
            <a:pPr marL="0" indent="0" algn="l">
              <a:spcAft>
                <a:spcPts val="200"/>
              </a:spcAft>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The optional extension adds:</a:t>
            </a:r>
          </a:p>
          <a:p>
            <a:pPr marL="164592" indent="-164592" algn="l">
              <a:spcAft>
                <a:spcPts val="100"/>
              </a:spcAft>
              <a:buSzPct val="100000"/>
              <a:buChar char="•"/>
            </a:pPr>
            <a:r>
              <a:rPr lang="en-GB" sz="1150" dirty="0">
                <a:solidFill>
                  <a:srgbClr val="5B6890"/>
                </a:solidFill>
                <a:latin typeface="Inter Text" pitchFamily="34" charset="0"/>
                <a:ea typeface="Inter Text" pitchFamily="34" charset="-122"/>
                <a:cs typeface="Inter Text" pitchFamily="34" charset="-120"/>
              </a:rPr>
              <a:t>Sub-lines (BG-DEX-01 … 08, with BT-126 … BT-161)</a:t>
            </a:r>
          </a:p>
          <a:p>
            <a:pPr marL="164592" indent="-164592" algn="l">
              <a:spcAft>
                <a:spcPts val="100"/>
              </a:spcAft>
              <a:buSzPct val="100000"/>
              <a:buChar char="•"/>
            </a:pPr>
            <a:r>
              <a:rPr lang="en-GB" sz="1150" dirty="0">
                <a:solidFill>
                  <a:srgbClr val="5B6890"/>
                </a:solidFill>
                <a:latin typeface="Inter Text" pitchFamily="34" charset="0"/>
                <a:ea typeface="Inter Text" pitchFamily="34" charset="-122"/>
                <a:cs typeface="Inter Text" pitchFamily="34" charset="-120"/>
              </a:rPr>
              <a:t>Payment by third parties (BG-DEX-09, BT-DEX-001 … 003)</a:t>
            </a:r>
          </a:p>
          <a:p>
            <a:pPr marL="164592" indent="-164592" algn="l">
              <a:buSzPct val="100000"/>
              <a:buChar char="•"/>
            </a:pPr>
            <a:r>
              <a:rPr lang="en-GB" sz="1150" dirty="0">
                <a:solidFill>
                  <a:srgbClr val="5B6890"/>
                </a:solidFill>
                <a:latin typeface="Inter Text" pitchFamily="34" charset="0"/>
                <a:ea typeface="Inter Text" pitchFamily="34" charset="-122"/>
                <a:cs typeface="Inter Text" pitchFamily="34" charset="-120"/>
              </a:rPr>
              <a:t>embedded XML attachments (application/xml)</a:t>
            </a:r>
          </a:p>
        </p:txBody>
      </p:sp>
      <p:sp>
        <p:nvSpPr>
          <p:cNvPr id="16" name="Speaker 1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Folie 2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NEW SEMANTICS · CALCULATION RULES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Rounding &amp; tolerance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For the first time the standard specifies how precisely to calculate and compare.</a:t>
            </a:r>
          </a:p>
        </p:txBody>
      </p:sp>
      <p:sp>
        <p:nvSpPr>
          <p:cNvPr id="7" name="Speaker 7">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8" name="PageNum 8"/>
          <p:cNvSpPr txBox="1"/>
          <p:nvPr/>
        </p:nvSpPr>
        <p:spPr>
          <a:xfrm>
            <a:off x="10908792" y="6514592"/>
            <a:ext cx="822960" cy="292608"/>
          </a:xfrm>
          <a:prstGeom prst="rect">
            <a:avLst/>
          </a:prstGeom>
          <a:noFill/>
          <a:ln/>
        </p:spPr>
        <p:txBody>
          <a:bodyPr wrap="square" lIns="0" tIns="0" rIns="0" bIns="0" rtlCol="0" anchor="ctr"/>
          <a:lstStyle/>
          <a:p>
            <a:pPr marL="0" indent="0" algn="r">
              <a:buNone/>
            </a:pPr>
            <a:fld id="{7A3FEE03-2F3C-4052-82B8-A097196B0022}"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18</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9" name="Card 9"/>
          <p:cNvSpPr/>
          <p:nvPr/>
        </p:nvSpPr>
        <p:spPr>
          <a:xfrm>
            <a:off x="822960" y="2377440"/>
            <a:ext cx="3246120" cy="3429000"/>
          </a:xfrm>
          <a:prstGeom prst="roundRect">
            <a:avLst>
              <a:gd name="adj" fmla="val 225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57860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689250"/>
            <a:ext cx="181051" cy="181051"/>
          </a:xfrm>
          <a:prstGeom prst="rect">
            <a:avLst/>
          </a:prstGeom>
        </p:spPr>
      </p:pic>
      <p:sp>
        <p:nvSpPr>
          <p:cNvPr id="12" name="Text 12"/>
          <p:cNvSpPr txBox="1"/>
          <p:nvPr/>
        </p:nvSpPr>
        <p:spPr>
          <a:xfrm>
            <a:off x="1600200" y="2560320"/>
            <a:ext cx="228600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Rounding</a:t>
            </a:r>
          </a:p>
        </p:txBody>
      </p:sp>
      <p:sp>
        <p:nvSpPr>
          <p:cNvPr id="13" name="Text 13"/>
          <p:cNvSpPr txBox="1"/>
          <p:nvPr/>
        </p:nvSpPr>
        <p:spPr>
          <a:xfrm>
            <a:off x="1097280" y="3017520"/>
            <a:ext cx="2743200" cy="914400"/>
          </a:xfrm>
          <a:prstGeom prst="rect">
            <a:avLst/>
          </a:prstGeom>
          <a:noFill/>
          <a:ln/>
        </p:spPr>
        <p:txBody>
          <a:bodyPr wrap="square" lIns="0" tIns="0" rIns="0" bIns="0" rtlCol="0" anchor="t"/>
          <a:lstStyle/>
          <a:p>
            <a:pPr marL="0" indent="0" algn="l">
              <a:lnSpc>
                <a:spcPct val="108000"/>
              </a:lnSpc>
              <a:buNone/>
            </a:pPr>
            <a:r>
              <a:rPr lang="en-GB" sz="1200" dirty="0">
                <a:solidFill>
                  <a:srgbClr val="5B6890"/>
                </a:solidFill>
                <a:latin typeface="Inter Text" pitchFamily="34" charset="0"/>
                <a:ea typeface="Inter Text" pitchFamily="34" charset="-122"/>
                <a:cs typeface="Inter Text" pitchFamily="34" charset="-120"/>
              </a:rPr>
              <a:t>All amounts are rounded to the decimal places of the smallest currency unit — the “minor unit” according to ISO 4217.</a:t>
            </a:r>
          </a:p>
        </p:txBody>
      </p:sp>
      <p:sp>
        <p:nvSpPr>
          <p:cNvPr id="14" name="Text 14"/>
          <p:cNvSpPr txBox="1"/>
          <p:nvPr/>
        </p:nvSpPr>
        <p:spPr>
          <a:xfrm>
            <a:off x="1097280" y="3986784"/>
            <a:ext cx="2697480" cy="219456"/>
          </a:xfrm>
          <a:prstGeom prst="rect">
            <a:avLst/>
          </a:prstGeom>
          <a:noFill/>
          <a:ln/>
        </p:spPr>
        <p:txBody>
          <a:bodyPr wrap="square" lIns="0" tIns="0" rIns="0" bIns="0" rtlCol="0" anchor="ctr"/>
          <a:lstStyle/>
          <a:p>
            <a:pPr marL="0" indent="0" algn="l">
              <a:buNone/>
            </a:pPr>
            <a:r>
              <a:rPr lang="en-GB" sz="900" spc="150" dirty="0">
                <a:solidFill>
                  <a:srgbClr val="19C3C8"/>
                </a:solidFill>
                <a:latin typeface="Inter SemiBold Text SemiBold" pitchFamily="34" charset="0"/>
                <a:ea typeface="Inter SemiBold Text SemiBold" pitchFamily="34" charset="-122"/>
                <a:cs typeface="Inter SemiBold Text SemiBold" pitchFamily="34" charset="-120"/>
              </a:rPr>
              <a:t>EXAMPLES</a:t>
            </a:r>
            <a:r>
              <a:rPr lang="en-GB" sz="850" dirty="0">
                <a:solidFill>
                  <a:srgbClr val="9AA4C2"/>
                </a:solidFill>
                <a:latin typeface="Inter Text" pitchFamily="34" charset="0"/>
                <a:ea typeface="Inter Text" pitchFamily="34" charset="-122"/>
                <a:cs typeface="Inter Text" pitchFamily="34" charset="-120"/>
              </a:rPr>
              <a:t>   decimal places</a:t>
            </a:r>
          </a:p>
        </p:txBody>
      </p:sp>
      <p:sp>
        <p:nvSpPr>
          <p:cNvPr id="15" name="Text 15"/>
          <p:cNvSpPr txBox="1"/>
          <p:nvPr/>
        </p:nvSpPr>
        <p:spPr>
          <a:xfrm>
            <a:off x="1097280" y="4242816"/>
            <a:ext cx="548640" cy="256032"/>
          </a:xfrm>
          <a:prstGeom prst="rect">
            <a:avLst/>
          </a:prstGeom>
          <a:noFill/>
          <a:ln/>
        </p:spPr>
        <p:txBody>
          <a:bodyPr wrap="squar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EUR</a:t>
            </a:r>
          </a:p>
        </p:txBody>
      </p:sp>
      <p:sp>
        <p:nvSpPr>
          <p:cNvPr id="16" name="Text 16"/>
          <p:cNvSpPr txBox="1"/>
          <p:nvPr/>
        </p:nvSpPr>
        <p:spPr>
          <a:xfrm>
            <a:off x="1664208" y="4242816"/>
            <a:ext cx="1737360" cy="256032"/>
          </a:xfrm>
          <a:prstGeom prst="rect">
            <a:avLst/>
          </a:prstGeom>
          <a:noFill/>
          <a:ln/>
        </p:spPr>
        <p:txBody>
          <a:bodyPr wrap="none" lIns="0" tIns="0" rIns="0" bIns="0" rtlCol="0" anchor="ctr"/>
          <a:lstStyle/>
          <a:p>
            <a:pPr marL="0" indent="0" algn="l">
              <a:buNone/>
            </a:pPr>
            <a:r>
              <a:rPr lang="en-GB" sz="1100" dirty="0">
                <a:solidFill>
                  <a:srgbClr val="5B6890"/>
                </a:solidFill>
                <a:latin typeface="Inter Text" pitchFamily="34" charset="0"/>
                <a:ea typeface="Inter Text" pitchFamily="34" charset="-122"/>
                <a:cs typeface="Inter Text" pitchFamily="34" charset="-120"/>
              </a:rPr>
              <a:t>Euro</a:t>
            </a:r>
          </a:p>
        </p:txBody>
      </p:sp>
      <p:sp>
        <p:nvSpPr>
          <p:cNvPr id="17" name="Text 17"/>
          <p:cNvSpPr txBox="1"/>
          <p:nvPr/>
        </p:nvSpPr>
        <p:spPr>
          <a:xfrm>
            <a:off x="3337560" y="4242816"/>
            <a:ext cx="457200" cy="256032"/>
          </a:xfrm>
          <a:prstGeom prst="rect">
            <a:avLst/>
          </a:prstGeom>
          <a:noFill/>
          <a:ln/>
        </p:spPr>
        <p:txBody>
          <a:bodyPr wrap="square" lIns="0" tIns="0" rIns="0" bIns="0" rtlCol="0" anchor="ctr"/>
          <a:lstStyle/>
          <a:p>
            <a:pPr marL="0" indent="0" algn="r">
              <a:buNone/>
            </a:pPr>
            <a:r>
              <a:rPr lang="en-GB" sz="1250" b="1" dirty="0">
                <a:solidFill>
                  <a:srgbClr val="1A2B5E"/>
                </a:solidFill>
                <a:latin typeface="Inter Text" pitchFamily="34" charset="0"/>
                <a:ea typeface="Inter Text" pitchFamily="34" charset="-122"/>
                <a:cs typeface="Inter Text" pitchFamily="34" charset="-120"/>
              </a:rPr>
              <a:t>2</a:t>
            </a:r>
          </a:p>
        </p:txBody>
      </p:sp>
      <p:sp>
        <p:nvSpPr>
          <p:cNvPr id="18" name="Text 18"/>
          <p:cNvSpPr txBox="1"/>
          <p:nvPr/>
        </p:nvSpPr>
        <p:spPr>
          <a:xfrm>
            <a:off x="1097280" y="4517136"/>
            <a:ext cx="548640" cy="256032"/>
          </a:xfrm>
          <a:prstGeom prst="rect">
            <a:avLst/>
          </a:prstGeom>
          <a:noFill/>
          <a:ln/>
        </p:spPr>
        <p:txBody>
          <a:bodyPr wrap="squar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ISK</a:t>
            </a:r>
          </a:p>
        </p:txBody>
      </p:sp>
      <p:sp>
        <p:nvSpPr>
          <p:cNvPr id="19" name="Text 19"/>
          <p:cNvSpPr txBox="1"/>
          <p:nvPr/>
        </p:nvSpPr>
        <p:spPr>
          <a:xfrm>
            <a:off x="1664208" y="4517136"/>
            <a:ext cx="1737360" cy="256032"/>
          </a:xfrm>
          <a:prstGeom prst="rect">
            <a:avLst/>
          </a:prstGeom>
          <a:noFill/>
          <a:ln/>
        </p:spPr>
        <p:txBody>
          <a:bodyPr wrap="none" lIns="0" tIns="0" rIns="0" bIns="0" rtlCol="0" anchor="ctr"/>
          <a:lstStyle/>
          <a:p>
            <a:pPr marL="0" indent="0" algn="l">
              <a:buNone/>
            </a:pPr>
            <a:r>
              <a:rPr lang="en-GB" sz="1100" dirty="0">
                <a:solidFill>
                  <a:srgbClr val="5B6890"/>
                </a:solidFill>
                <a:latin typeface="Inter Text" pitchFamily="34" charset="0"/>
                <a:ea typeface="Inter Text" pitchFamily="34" charset="-122"/>
                <a:cs typeface="Inter Text" pitchFamily="34" charset="-120"/>
              </a:rPr>
              <a:t>Icelandic króna</a:t>
            </a:r>
          </a:p>
        </p:txBody>
      </p:sp>
      <p:sp>
        <p:nvSpPr>
          <p:cNvPr id="20" name="Text 20"/>
          <p:cNvSpPr txBox="1"/>
          <p:nvPr/>
        </p:nvSpPr>
        <p:spPr>
          <a:xfrm>
            <a:off x="3337560" y="4517136"/>
            <a:ext cx="457200" cy="256032"/>
          </a:xfrm>
          <a:prstGeom prst="rect">
            <a:avLst/>
          </a:prstGeom>
          <a:noFill/>
          <a:ln/>
        </p:spPr>
        <p:txBody>
          <a:bodyPr wrap="square" lIns="0" tIns="0" rIns="0" bIns="0" rtlCol="0" anchor="ctr"/>
          <a:lstStyle/>
          <a:p>
            <a:pPr marL="0" indent="0" algn="r">
              <a:buNone/>
            </a:pPr>
            <a:r>
              <a:rPr lang="en-GB" sz="1250" b="1" dirty="0">
                <a:solidFill>
                  <a:srgbClr val="1A2B5E"/>
                </a:solidFill>
                <a:latin typeface="Inter Text" pitchFamily="34" charset="0"/>
                <a:ea typeface="Inter Text" pitchFamily="34" charset="-122"/>
                <a:cs typeface="Inter Text" pitchFamily="34" charset="-120"/>
              </a:rPr>
              <a:t>0</a:t>
            </a:r>
          </a:p>
        </p:txBody>
      </p:sp>
      <p:sp>
        <p:nvSpPr>
          <p:cNvPr id="21" name="Text 21"/>
          <p:cNvSpPr txBox="1"/>
          <p:nvPr/>
        </p:nvSpPr>
        <p:spPr>
          <a:xfrm>
            <a:off x="1097280" y="4846320"/>
            <a:ext cx="548640" cy="256032"/>
          </a:xfrm>
          <a:prstGeom prst="rect">
            <a:avLst/>
          </a:prstGeom>
          <a:noFill/>
          <a:ln/>
        </p:spPr>
        <p:txBody>
          <a:bodyPr wrap="squar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JPY</a:t>
            </a:r>
          </a:p>
        </p:txBody>
      </p:sp>
      <p:sp>
        <p:nvSpPr>
          <p:cNvPr id="22" name="Text 22"/>
          <p:cNvSpPr txBox="1"/>
          <p:nvPr/>
        </p:nvSpPr>
        <p:spPr>
          <a:xfrm>
            <a:off x="1664208" y="4846320"/>
            <a:ext cx="1737360" cy="256032"/>
          </a:xfrm>
          <a:prstGeom prst="rect">
            <a:avLst/>
          </a:prstGeom>
          <a:noFill/>
          <a:ln/>
        </p:spPr>
        <p:txBody>
          <a:bodyPr wrap="none" lIns="0" tIns="0" rIns="0" bIns="0" rtlCol="0" anchor="ctr"/>
          <a:lstStyle/>
          <a:p>
            <a:pPr marL="0" indent="0" algn="l">
              <a:buNone/>
            </a:pPr>
            <a:r>
              <a:rPr lang="en-GB" sz="1100" dirty="0">
                <a:solidFill>
                  <a:srgbClr val="5B6890"/>
                </a:solidFill>
                <a:latin typeface="Inter Text" pitchFamily="34" charset="0"/>
                <a:ea typeface="Inter Text" pitchFamily="34" charset="-122"/>
                <a:cs typeface="Inter Text" pitchFamily="34" charset="-120"/>
              </a:rPr>
              <a:t>Japanese yen</a:t>
            </a:r>
          </a:p>
        </p:txBody>
      </p:sp>
      <p:sp>
        <p:nvSpPr>
          <p:cNvPr id="23" name="Text 23"/>
          <p:cNvSpPr txBox="1"/>
          <p:nvPr/>
        </p:nvSpPr>
        <p:spPr>
          <a:xfrm>
            <a:off x="3337560" y="4846320"/>
            <a:ext cx="457200" cy="256032"/>
          </a:xfrm>
          <a:prstGeom prst="rect">
            <a:avLst/>
          </a:prstGeom>
          <a:noFill/>
          <a:ln/>
        </p:spPr>
        <p:txBody>
          <a:bodyPr wrap="square" lIns="0" tIns="0" rIns="0" bIns="0" rtlCol="0" anchor="ctr"/>
          <a:lstStyle/>
          <a:p>
            <a:pPr marL="0" indent="0" algn="r">
              <a:buNone/>
            </a:pPr>
            <a:r>
              <a:rPr lang="en-GB" sz="1250" b="1" dirty="0">
                <a:solidFill>
                  <a:srgbClr val="1A2B5E"/>
                </a:solidFill>
                <a:latin typeface="Inter Text" pitchFamily="34" charset="0"/>
                <a:ea typeface="Inter Text" pitchFamily="34" charset="-122"/>
                <a:cs typeface="Inter Text" pitchFamily="34" charset="-120"/>
              </a:rPr>
              <a:t>0</a:t>
            </a:r>
          </a:p>
        </p:txBody>
      </p:sp>
      <p:sp>
        <p:nvSpPr>
          <p:cNvPr id="24" name="Text 24"/>
          <p:cNvSpPr txBox="1"/>
          <p:nvPr/>
        </p:nvSpPr>
        <p:spPr>
          <a:xfrm>
            <a:off x="1097280" y="5120640"/>
            <a:ext cx="548640" cy="256032"/>
          </a:xfrm>
          <a:prstGeom prst="rect">
            <a:avLst/>
          </a:prstGeom>
          <a:noFill/>
          <a:ln/>
        </p:spPr>
        <p:txBody>
          <a:bodyPr wrap="squar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KWD</a:t>
            </a:r>
          </a:p>
        </p:txBody>
      </p:sp>
      <p:sp>
        <p:nvSpPr>
          <p:cNvPr id="25" name="Text 25"/>
          <p:cNvSpPr txBox="1"/>
          <p:nvPr/>
        </p:nvSpPr>
        <p:spPr>
          <a:xfrm>
            <a:off x="1664208" y="5120640"/>
            <a:ext cx="1737360" cy="256032"/>
          </a:xfrm>
          <a:prstGeom prst="rect">
            <a:avLst/>
          </a:prstGeom>
          <a:noFill/>
          <a:ln/>
        </p:spPr>
        <p:txBody>
          <a:bodyPr wrap="none" lIns="0" tIns="0" rIns="0" bIns="0" rtlCol="0" anchor="ctr"/>
          <a:lstStyle/>
          <a:p>
            <a:pPr marL="0" indent="0" algn="l">
              <a:buNone/>
            </a:pPr>
            <a:r>
              <a:rPr lang="en-GB" sz="1100" dirty="0">
                <a:solidFill>
                  <a:srgbClr val="5B6890"/>
                </a:solidFill>
                <a:latin typeface="Inter Text" pitchFamily="34" charset="0"/>
                <a:ea typeface="Inter Text" pitchFamily="34" charset="-122"/>
                <a:cs typeface="Inter Text" pitchFamily="34" charset="-120"/>
              </a:rPr>
              <a:t>Kuwaiti dinar</a:t>
            </a:r>
          </a:p>
        </p:txBody>
      </p:sp>
      <p:sp>
        <p:nvSpPr>
          <p:cNvPr id="26" name="Text 26"/>
          <p:cNvSpPr txBox="1"/>
          <p:nvPr/>
        </p:nvSpPr>
        <p:spPr>
          <a:xfrm>
            <a:off x="3337560" y="5120640"/>
            <a:ext cx="457200" cy="256032"/>
          </a:xfrm>
          <a:prstGeom prst="rect">
            <a:avLst/>
          </a:prstGeom>
          <a:noFill/>
          <a:ln/>
        </p:spPr>
        <p:txBody>
          <a:bodyPr wrap="square" lIns="0" tIns="0" rIns="0" bIns="0" rtlCol="0" anchor="ctr"/>
          <a:lstStyle/>
          <a:p>
            <a:pPr marL="0" indent="0" algn="r">
              <a:buNone/>
            </a:pPr>
            <a:r>
              <a:rPr lang="en-GB" sz="1250" b="1" dirty="0">
                <a:solidFill>
                  <a:srgbClr val="1A2B5E"/>
                </a:solidFill>
                <a:latin typeface="Inter Text" pitchFamily="34" charset="0"/>
                <a:ea typeface="Inter Text" pitchFamily="34" charset="-122"/>
                <a:cs typeface="Inter Text" pitchFamily="34" charset="-120"/>
              </a:rPr>
              <a:t>3</a:t>
            </a:r>
          </a:p>
        </p:txBody>
      </p:sp>
      <p:sp>
        <p:nvSpPr>
          <p:cNvPr id="27" name="Shape 27"/>
          <p:cNvSpPr/>
          <p:nvPr/>
        </p:nvSpPr>
        <p:spPr>
          <a:xfrm>
            <a:off x="1097280" y="4805172"/>
            <a:ext cx="2697480" cy="9144"/>
          </a:xfrm>
          <a:prstGeom prst="rect">
            <a:avLst/>
          </a:prstGeom>
          <a:solidFill>
            <a:srgbClr val="E2E7F2"/>
          </a:solidFill>
          <a:ln>
            <a:noFill/>
          </a:ln>
        </p:spPr>
        <p:txBody>
          <a:bodyPr/>
          <a:lstStyle/>
          <a:p>
            <a:endParaRPr lang="en-GB"/>
          </a:p>
        </p:txBody>
      </p:sp>
      <p:sp>
        <p:nvSpPr>
          <p:cNvPr id="28" name="Text 28"/>
          <p:cNvSpPr txBox="1"/>
          <p:nvPr/>
        </p:nvSpPr>
        <p:spPr>
          <a:xfrm>
            <a:off x="1097280" y="5376672"/>
            <a:ext cx="2697480" cy="329184"/>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JPY and KWD are outside Europe — no European currency has 3 decimal places.</a:t>
            </a:r>
          </a:p>
        </p:txBody>
      </p:sp>
      <p:sp>
        <p:nvSpPr>
          <p:cNvPr id="29" name="Card 29"/>
          <p:cNvSpPr/>
          <p:nvPr/>
        </p:nvSpPr>
        <p:spPr>
          <a:xfrm>
            <a:off x="4251960" y="2377440"/>
            <a:ext cx="3566160" cy="3429000"/>
          </a:xfrm>
          <a:prstGeom prst="roundRect">
            <a:avLst>
              <a:gd name="adj" fmla="val 21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0" name="IconCircle 30"/>
          <p:cNvSpPr/>
          <p:nvPr/>
        </p:nvSpPr>
        <p:spPr>
          <a:xfrm>
            <a:off x="4489704" y="257860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31" name="Icon 31"/>
          <p:cNvPicPr>
            <a:picLocks noChangeAspect="1"/>
          </p:cNvPicPr>
          <p:nvPr/>
        </p:nvPicPr>
        <p:blipFill>
          <a:blip r:embed="rId5"/>
          <a:stretch>
            <a:fillRect/>
          </a:stretch>
        </p:blipFill>
        <p:spPr>
          <a:xfrm>
            <a:off x="4600346" y="2689250"/>
            <a:ext cx="181051" cy="181051"/>
          </a:xfrm>
          <a:prstGeom prst="rect">
            <a:avLst/>
          </a:prstGeom>
        </p:spPr>
      </p:pic>
      <p:sp>
        <p:nvSpPr>
          <p:cNvPr id="32" name="Text 32"/>
          <p:cNvSpPr txBox="1"/>
          <p:nvPr/>
        </p:nvSpPr>
        <p:spPr>
          <a:xfrm>
            <a:off x="5029200" y="2560320"/>
            <a:ext cx="26060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Tolerance BT-92, 99, 131</a:t>
            </a:r>
          </a:p>
        </p:txBody>
      </p:sp>
      <p:sp>
        <p:nvSpPr>
          <p:cNvPr id="33" name="Text 33"/>
          <p:cNvSpPr txBox="1"/>
          <p:nvPr/>
        </p:nvSpPr>
        <p:spPr>
          <a:xfrm>
            <a:off x="4526280" y="3017520"/>
            <a:ext cx="3108960" cy="521208"/>
          </a:xfrm>
          <a:prstGeom prst="rect">
            <a:avLst/>
          </a:prstGeom>
          <a:noFill/>
          <a:ln/>
        </p:spPr>
        <p:txBody>
          <a:bodyPr wrap="square" lIns="0" tIns="0" rIns="0" bIns="0" rtlCol="0" anchor="t"/>
          <a:lstStyle/>
          <a:p>
            <a:pPr marL="0" indent="0" algn="l">
              <a:lnSpc>
                <a:spcPct val="105000"/>
              </a:lnSpc>
              <a:buNone/>
            </a:pPr>
            <a:r>
              <a:rPr lang="en-GB" sz="1100" dirty="0">
                <a:solidFill>
                  <a:srgbClr val="5B6890"/>
                </a:solidFill>
                <a:latin typeface="Inter Text" pitchFamily="34" charset="0"/>
                <a:ea typeface="Inter Text" pitchFamily="34" charset="-122"/>
                <a:cs typeface="Inter Text" pitchFamily="34" charset="-120"/>
              </a:rPr>
              <a:t>Document level allowance amount, Document level charge or tax amount, Invoice line net amount</a:t>
            </a:r>
          </a:p>
        </p:txBody>
      </p:sp>
      <p:graphicFrame>
        <p:nvGraphicFramePr>
          <p:cNvPr id="34" name="Table 34"/>
          <p:cNvGraphicFramePr>
            <a:graphicFrameLocks noGrp="1"/>
          </p:cNvGraphicFramePr>
          <p:nvPr/>
        </p:nvGraphicFramePr>
        <p:xfrm>
          <a:off x="4526280" y="3630168"/>
          <a:ext cx="3017520" cy="2008632"/>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347472">
                <a:tc>
                  <a:txBody>
                    <a:bodyPr/>
                    <a:lstStyle/>
                    <a:p>
                      <a:pPr marL="0" indent="0" algn="l">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Decimal places of the currency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950" dirty="0">
                          <a:solidFill>
                            <a:srgbClr val="FFFFFF"/>
                          </a:solidFill>
                          <a:latin typeface="Inter SemiBold Text SemiBold" pitchFamily="34" charset="0"/>
                          <a:ea typeface="Inter SemiBold Text SemiBold" pitchFamily="34" charset="-122"/>
                          <a:cs typeface="Inter SemiBold Text SemiBold" pitchFamily="34" charset="-120"/>
                        </a:rPr>
                        <a:t>Tolerance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329184">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0  (e.g. ISK, JPY)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00" dirty="0">
                          <a:solidFill>
                            <a:srgbClr val="5B6890"/>
                          </a:solidFill>
                          <a:latin typeface="Inter Text" pitchFamily="34" charset="0"/>
                          <a:ea typeface="Inter Text" pitchFamily="34" charset="-122"/>
                          <a:cs typeface="Inter Text" pitchFamily="34" charset="-120"/>
                        </a:rPr>
                        <a:t>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r">
                        <a:buNone/>
                      </a:pPr>
                      <a:r>
                        <a:rPr lang="en-GB" sz="1100" dirty="0">
                          <a:solidFill>
                            <a:srgbClr val="5B6890"/>
                          </a:solidFill>
                          <a:latin typeface="Inter Text" pitchFamily="34" charset="0"/>
                          <a:ea typeface="Inter Text" pitchFamily="34" charset="-122"/>
                          <a:cs typeface="Inter Text" pitchFamily="34" charset="-120"/>
                        </a:rPr>
                        <a:t>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329184">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2  (e.g. EUR)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00" dirty="0">
                          <a:solidFill>
                            <a:srgbClr val="5B6890"/>
                          </a:solidFill>
                          <a:latin typeface="Inter Text" pitchFamily="34" charset="0"/>
                          <a:ea typeface="Inter Text" pitchFamily="34" charset="-122"/>
                          <a:cs typeface="Inter Text" pitchFamily="34" charset="-120"/>
                        </a:rPr>
                        <a:t>0.02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3  (e.g. KWD)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r">
                        <a:buNone/>
                      </a:pPr>
                      <a:r>
                        <a:rPr lang="en-GB" sz="1100" dirty="0">
                          <a:solidFill>
                            <a:srgbClr val="5B6890"/>
                          </a:solidFill>
                          <a:latin typeface="Inter Text" pitchFamily="34" charset="0"/>
                          <a:ea typeface="Inter Text" pitchFamily="34" charset="-122"/>
                          <a:cs typeface="Inter Text" pitchFamily="34" charset="-120"/>
                        </a:rPr>
                        <a:t>0.002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329184">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00" dirty="0">
                          <a:solidFill>
                            <a:srgbClr val="5B6890"/>
                          </a:solidFill>
                          <a:latin typeface="Inter Text" pitchFamily="34" charset="0"/>
                          <a:ea typeface="Inter Text" pitchFamily="34" charset="-122"/>
                          <a:cs typeface="Inter Text" pitchFamily="34" charset="-120"/>
                        </a:rPr>
                        <a:t>0.0002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bl>
          </a:graphicData>
        </a:graphic>
      </p:graphicFrame>
      <p:sp>
        <p:nvSpPr>
          <p:cNvPr id="35" name="Panel 35"/>
          <p:cNvSpPr/>
          <p:nvPr/>
        </p:nvSpPr>
        <p:spPr>
          <a:xfrm>
            <a:off x="8001000" y="2377440"/>
            <a:ext cx="3364992" cy="3429000"/>
          </a:xfrm>
          <a:prstGeom prst="roundRect">
            <a:avLst>
              <a:gd name="adj" fmla="val 271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36" name="Text 36"/>
          <p:cNvSpPr txBox="1"/>
          <p:nvPr/>
        </p:nvSpPr>
        <p:spPr>
          <a:xfrm>
            <a:off x="8321040" y="2606040"/>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MULTIPLICATION &amp; DIVISION</a:t>
            </a:r>
          </a:p>
        </p:txBody>
      </p:sp>
      <p:sp>
        <p:nvSpPr>
          <p:cNvPr id="37" name="Text 37"/>
          <p:cNvSpPr txBox="1"/>
          <p:nvPr/>
        </p:nvSpPr>
        <p:spPr>
          <a:xfrm>
            <a:off x="8321040" y="2926080"/>
            <a:ext cx="2743200" cy="914400"/>
          </a:xfrm>
          <a:prstGeom prst="rect">
            <a:avLst/>
          </a:prstGeom>
          <a:noFill/>
          <a:ln/>
        </p:spPr>
        <p:txBody>
          <a:bodyPr wrap="square" lIns="0" tIns="0" rIns="0" bIns="0" rtlCol="0" anchor="ctr"/>
          <a:lstStyle/>
          <a:p>
            <a:pPr marL="0" indent="0" algn="l">
              <a:buNone/>
            </a:pPr>
            <a:r>
              <a:rPr lang="en-GB" sz="5400" b="1" dirty="0">
                <a:solidFill>
                  <a:srgbClr val="FFFFFF"/>
                </a:solidFill>
                <a:latin typeface="Inter Text" pitchFamily="34" charset="0"/>
                <a:ea typeface="Inter Text" pitchFamily="34" charset="-122"/>
                <a:cs typeface="Inter Text" pitchFamily="34" charset="-120"/>
              </a:rPr>
              <a:t>0.1%</a:t>
            </a:r>
          </a:p>
        </p:txBody>
      </p:sp>
      <p:sp>
        <p:nvSpPr>
          <p:cNvPr id="38" name="Text 38"/>
          <p:cNvSpPr txBox="1"/>
          <p:nvPr/>
        </p:nvSpPr>
        <p:spPr>
          <a:xfrm>
            <a:off x="8321040" y="3840480"/>
            <a:ext cx="2788920" cy="548640"/>
          </a:xfrm>
          <a:prstGeom prst="rect">
            <a:avLst/>
          </a:prstGeom>
          <a:noFill/>
          <a:ln/>
        </p:spPr>
        <p:txBody>
          <a:bodyPr wrap="square" lIns="0" tIns="0" rIns="0" bIns="0" rtlCol="0" anchor="t"/>
          <a:lstStyle/>
          <a:p>
            <a:pPr marL="0" indent="0" algn="l">
              <a:lnSpc>
                <a:spcPct val="108000"/>
              </a:lnSpc>
              <a:buNone/>
            </a:pPr>
            <a:r>
              <a:rPr lang="en-GB" sz="1250" dirty="0">
                <a:solidFill>
                  <a:srgbClr val="C2CADE"/>
                </a:solidFill>
                <a:latin typeface="Inter Text" pitchFamily="34" charset="0"/>
                <a:ea typeface="Inter Text" pitchFamily="34" charset="-122"/>
                <a:cs typeface="Inter Text" pitchFamily="34" charset="-120"/>
              </a:rPr>
              <a:t>of the calculated amount as the largest permitted deviation</a:t>
            </a:r>
          </a:p>
        </p:txBody>
      </p:sp>
      <p:sp>
        <p:nvSpPr>
          <p:cNvPr id="39" name="Shape 39"/>
          <p:cNvSpPr/>
          <p:nvPr/>
        </p:nvSpPr>
        <p:spPr>
          <a:xfrm>
            <a:off x="8321040" y="4526280"/>
            <a:ext cx="2724912" cy="9144"/>
          </a:xfrm>
          <a:prstGeom prst="rect">
            <a:avLst/>
          </a:prstGeom>
          <a:solidFill>
            <a:srgbClr val="3A4A7A"/>
          </a:solidFill>
          <a:ln>
            <a:noFill/>
          </a:ln>
        </p:spPr>
        <p:txBody>
          <a:bodyPr/>
          <a:lstStyle/>
          <a:p>
            <a:endParaRPr lang="en-GB"/>
          </a:p>
        </p:txBody>
      </p:sp>
      <p:sp>
        <p:nvSpPr>
          <p:cNvPr id="40" name="Text 40"/>
          <p:cNvSpPr txBox="1"/>
          <p:nvPr/>
        </p:nvSpPr>
        <p:spPr>
          <a:xfrm>
            <a:off x="8321040" y="4663440"/>
            <a:ext cx="2788920" cy="1005840"/>
          </a:xfrm>
          <a:prstGeom prst="rect">
            <a:avLst/>
          </a:prstGeom>
          <a:noFill/>
          <a:ln/>
        </p:spPr>
        <p:txBody>
          <a:bodyPr wrap="square" lIns="0" tIns="0" rIns="0" bIns="0" rtlCol="0" anchor="t"/>
          <a:lstStyle/>
          <a:p>
            <a:pPr marL="164592" indent="-164592" algn="l">
              <a:spcAft>
                <a:spcPts val="200"/>
              </a:spcAft>
              <a:buClr>
                <a:srgbClr val="19C3C8"/>
              </a:buClr>
              <a:buSzPct val="100000"/>
              <a:buChar char="•"/>
            </a:pPr>
            <a:r>
              <a:rPr lang="en-GB" sz="1250" dirty="0">
                <a:solidFill>
                  <a:srgbClr val="FFFFFF"/>
                </a:solidFill>
                <a:latin typeface="Inter Text" pitchFamily="34" charset="0"/>
                <a:ea typeface="Inter Text" pitchFamily="34" charset="-122"/>
                <a:cs typeface="Inter Text" pitchFamily="34" charset="-120"/>
              </a:rPr>
              <a:t>at least 0.01</a:t>
            </a:r>
          </a:p>
          <a:p>
            <a:pPr marL="164592" indent="-164592" algn="l">
              <a:spcAft>
                <a:spcPts val="200"/>
              </a:spcAft>
              <a:buClr>
                <a:srgbClr val="19C3C8"/>
              </a:buClr>
              <a:buSzPct val="100000"/>
              <a:buChar char="•"/>
            </a:pPr>
            <a:r>
              <a:rPr lang="en-GB" sz="1250" dirty="0">
                <a:solidFill>
                  <a:srgbClr val="FFFFFF"/>
                </a:solidFill>
                <a:latin typeface="Inter Text" pitchFamily="34" charset="0"/>
                <a:ea typeface="Inter Text" pitchFamily="34" charset="-122"/>
                <a:cs typeface="Inter Text" pitchFamily="34" charset="-120"/>
              </a:rPr>
              <a:t>at most 1.00</a:t>
            </a:r>
          </a:p>
          <a:p>
            <a:pPr marL="164592" indent="-164592" algn="l">
              <a:spcAft>
                <a:spcPts val="200"/>
              </a:spcAft>
              <a:buClr>
                <a:srgbClr val="19C3C8"/>
              </a:buClr>
              <a:buSzPct val="100000"/>
              <a:buChar char="•"/>
            </a:pPr>
            <a:r>
              <a:rPr lang="en-GB" sz="1250" dirty="0">
                <a:solidFill>
                  <a:srgbClr val="C2CADE"/>
                </a:solidFill>
                <a:latin typeface="Inter Text" pitchFamily="34" charset="0"/>
                <a:ea typeface="Inter Text" pitchFamily="34" charset="-122"/>
                <a:cs typeface="Inter Text" pitchFamily="34" charset="-120"/>
              </a:rPr>
              <a:t>for all other calculation rules</a:t>
            </a:r>
          </a:p>
        </p:txBody>
      </p:sp>
      <p:sp>
        <p:nvSpPr>
          <p:cNvPr id="41" name="Pill 41"/>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Text" pitchFamily="34" charset="0"/>
                <a:ea typeface="Inter Text" pitchFamily="34" charset="-122"/>
                <a:cs typeface="Inter Text" pitchFamily="34" charset="-120"/>
              </a:rPr>
              <a:t>Tolerances absorb rounding differences — better they never arise:  </a:t>
            </a: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 Amendment #163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Folie 2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EXACT INVOICE ARITHMETIC · 1/5</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Computers usually calculate in binary</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XSLT, the standard for validating e-invoices, calculates in binary — unless told otherwise.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F91DACF-B74D-42B5-9B79-F0DD2DFD5FA4}"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19</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77440"/>
            <a:ext cx="4937760" cy="3520440"/>
          </a:xfrm>
          <a:prstGeom prst="roundRect">
            <a:avLst>
              <a:gd name="adj" fmla="val 2077"/>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Text 9"/>
          <p:cNvSpPr txBox="1"/>
          <p:nvPr/>
        </p:nvSpPr>
        <p:spPr>
          <a:xfrm>
            <a:off x="1143000" y="2560320"/>
            <a:ext cx="438912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AN EVERYDAY COMPARISON</a:t>
            </a:r>
          </a:p>
        </p:txBody>
      </p:sp>
      <p:sp>
        <p:nvSpPr>
          <p:cNvPr id="10" name="Text 10"/>
          <p:cNvSpPr txBox="1"/>
          <p:nvPr/>
        </p:nvSpPr>
        <p:spPr>
          <a:xfrm>
            <a:off x="1143000" y="2926080"/>
            <a:ext cx="4389120" cy="594360"/>
          </a:xfrm>
          <a:prstGeom prst="rect">
            <a:avLst/>
          </a:prstGeom>
          <a:noFill/>
          <a:ln/>
        </p:spPr>
        <p:txBody>
          <a:bodyPr wrap="square" lIns="0" tIns="0" rIns="0" bIns="0" rtlCol="0" anchor="ctr"/>
          <a:lstStyle/>
          <a:p>
            <a:pPr marL="0" indent="0" algn="l">
              <a:buNone/>
            </a:pPr>
            <a:r>
              <a:rPr lang="en-GB" sz="3000" b="1" dirty="0">
                <a:solidFill>
                  <a:srgbClr val="1A2B5E"/>
                </a:solidFill>
                <a:latin typeface="Inter Text" pitchFamily="34" charset="0"/>
                <a:ea typeface="Inter Text" pitchFamily="34" charset="-122"/>
                <a:cs typeface="Inter Text" pitchFamily="34" charset="-120"/>
              </a:rPr>
              <a:t>1 ÷ 3 = 0.3333…</a:t>
            </a:r>
          </a:p>
        </p:txBody>
      </p:sp>
      <p:sp>
        <p:nvSpPr>
          <p:cNvPr id="11" name="Text 11"/>
          <p:cNvSpPr txBox="1"/>
          <p:nvPr/>
        </p:nvSpPr>
        <p:spPr>
          <a:xfrm>
            <a:off x="1143000" y="3520440"/>
            <a:ext cx="4389120" cy="320040"/>
          </a:xfrm>
          <a:prstGeom prst="rect">
            <a:avLst/>
          </a:prstGeom>
          <a:noFill/>
          <a:ln/>
        </p:spPr>
        <p:txBody>
          <a:bodyPr wrap="square" lIns="0" tIns="0" rIns="0" bIns="0" rtlCol="0" anchor="ctr"/>
          <a:lstStyle/>
          <a:p>
            <a:pPr marL="0" indent="0" algn="l">
              <a:buNone/>
            </a:pPr>
            <a:r>
              <a:rPr lang="en-GB" sz="1400" dirty="0">
                <a:solidFill>
                  <a:srgbClr val="5B6890"/>
                </a:solidFill>
                <a:latin typeface="Inter Text" pitchFamily="34" charset="0"/>
                <a:ea typeface="Inter Text" pitchFamily="34" charset="-122"/>
                <a:cs typeface="Inter Text" pitchFamily="34" charset="-120"/>
              </a:rPr>
              <a:t>never ends in decimal.</a:t>
            </a:r>
          </a:p>
        </p:txBody>
      </p:sp>
      <p:sp>
        <p:nvSpPr>
          <p:cNvPr id="12" name="Text 12"/>
          <p:cNvSpPr txBox="1"/>
          <p:nvPr/>
        </p:nvSpPr>
        <p:spPr>
          <a:xfrm>
            <a:off x="1143000" y="3977640"/>
            <a:ext cx="4389120" cy="594360"/>
          </a:xfrm>
          <a:prstGeom prst="rect">
            <a:avLst/>
          </a:prstGeom>
          <a:noFill/>
          <a:ln/>
        </p:spPr>
        <p:txBody>
          <a:bodyPr wrap="square" lIns="0" tIns="0" rIns="0" bIns="0" rtlCol="0" anchor="ctr"/>
          <a:lstStyle/>
          <a:p>
            <a:pPr marL="0" indent="0" algn="l">
              <a:buNone/>
            </a:pPr>
            <a:r>
              <a:rPr lang="en-GB" sz="3000" b="1" dirty="0">
                <a:solidFill>
                  <a:srgbClr val="1A2B5E"/>
                </a:solidFill>
                <a:latin typeface="Inter Text" pitchFamily="34" charset="0"/>
                <a:ea typeface="Inter Text" pitchFamily="34" charset="-122"/>
                <a:cs typeface="Inter Text" pitchFamily="34" charset="-120"/>
              </a:rPr>
              <a:t>0.1</a:t>
            </a:r>
          </a:p>
        </p:txBody>
      </p:sp>
      <p:sp>
        <p:nvSpPr>
          <p:cNvPr id="13" name="Text 13"/>
          <p:cNvSpPr txBox="1"/>
          <p:nvPr/>
        </p:nvSpPr>
        <p:spPr>
          <a:xfrm>
            <a:off x="1143000" y="4572000"/>
            <a:ext cx="4389120" cy="320040"/>
          </a:xfrm>
          <a:prstGeom prst="rect">
            <a:avLst/>
          </a:prstGeom>
          <a:noFill/>
          <a:ln/>
        </p:spPr>
        <p:txBody>
          <a:bodyPr wrap="square" lIns="0" tIns="0" rIns="0" bIns="0" rtlCol="0" anchor="ctr"/>
          <a:lstStyle/>
          <a:p>
            <a:pPr marL="0" indent="0" algn="l">
              <a:buNone/>
            </a:pPr>
            <a:r>
              <a:rPr lang="en-GB" sz="1400" dirty="0">
                <a:solidFill>
                  <a:srgbClr val="5B6890"/>
                </a:solidFill>
                <a:latin typeface="Inter Text" pitchFamily="34" charset="0"/>
                <a:ea typeface="Inter Text" pitchFamily="34" charset="-122"/>
                <a:cs typeface="Inter Text" pitchFamily="34" charset="-120"/>
              </a:rPr>
              <a:t>never ends in binary.</a:t>
            </a:r>
          </a:p>
        </p:txBody>
      </p:sp>
      <p:sp>
        <p:nvSpPr>
          <p:cNvPr id="14" name="Text 14"/>
          <p:cNvSpPr txBox="1"/>
          <p:nvPr/>
        </p:nvSpPr>
        <p:spPr>
          <a:xfrm>
            <a:off x="1143000" y="4983480"/>
            <a:ext cx="4389120" cy="777240"/>
          </a:xfrm>
          <a:prstGeom prst="rect">
            <a:avLst/>
          </a:prstGeom>
          <a:noFill/>
          <a:ln/>
        </p:spPr>
        <p:txBody>
          <a:bodyPr wrap="square" lIns="0" tIns="0" rIns="0" bIns="0" rtlCol="0" anchor="t"/>
          <a:lstStyle/>
          <a:p>
            <a:pPr marL="0" indent="0" algn="l">
              <a:lnSpc>
                <a:spcPct val="110000"/>
              </a:lnSpc>
              <a:buNone/>
            </a:pPr>
            <a:r>
              <a:rPr lang="en-GB" sz="1200" dirty="0">
                <a:solidFill>
                  <a:srgbClr val="5B6890"/>
                </a:solidFill>
                <a:latin typeface="Inter Text" pitchFamily="34" charset="0"/>
                <a:ea typeface="Inter Text" pitchFamily="34" charset="-122"/>
                <a:cs typeface="Inter Text" pitchFamily="34" charset="-120"/>
              </a:rPr>
              <a:t>Computers store numbers in binary — so 0.1 is always slightly off.</a:t>
            </a:r>
          </a:p>
        </p:txBody>
      </p:sp>
      <p:sp>
        <p:nvSpPr>
          <p:cNvPr id="15" name="Panel 15"/>
          <p:cNvSpPr/>
          <p:nvPr/>
        </p:nvSpPr>
        <p:spPr>
          <a:xfrm>
            <a:off x="5989320" y="2377440"/>
            <a:ext cx="5376672" cy="1691640"/>
          </a:xfrm>
          <a:prstGeom prst="roundRect">
            <a:avLst>
              <a:gd name="adj" fmla="val 5405"/>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6" name="Text 16"/>
          <p:cNvSpPr txBox="1"/>
          <p:nvPr/>
        </p:nvSpPr>
        <p:spPr>
          <a:xfrm>
            <a:off x="6355080" y="2578608"/>
            <a:ext cx="4663440" cy="320040"/>
          </a:xfrm>
          <a:prstGeom prst="rect">
            <a:avLst/>
          </a:prstGeom>
          <a:noFill/>
          <a:ln/>
        </p:spPr>
        <p:txBody>
          <a:bodyPr wrap="square" lIns="0" tIns="0" rIns="0" bIns="0" rtlCol="0" anchor="ctr"/>
          <a:lstStyle/>
          <a:p>
            <a:pPr marL="0" indent="0" algn="l">
              <a:buNone/>
            </a:pPr>
            <a:r>
              <a:rPr lang="en-GB" sz="1300" dirty="0">
                <a:solidFill>
                  <a:srgbClr val="C2CADE"/>
                </a:solidFill>
                <a:latin typeface="Consolas" pitchFamily="34" charset="0"/>
                <a:ea typeface="Consolas" pitchFamily="34" charset="-122"/>
                <a:cs typeface="Consolas" pitchFamily="34" charset="-120"/>
              </a:rPr>
              <a:t>XPath:  0.1 + 0.2</a:t>
            </a:r>
          </a:p>
        </p:txBody>
      </p:sp>
      <p:sp>
        <p:nvSpPr>
          <p:cNvPr id="17" name="Text 17"/>
          <p:cNvSpPr txBox="1"/>
          <p:nvPr/>
        </p:nvSpPr>
        <p:spPr>
          <a:xfrm>
            <a:off x="6355080" y="2926080"/>
            <a:ext cx="4663440" cy="640080"/>
          </a:xfrm>
          <a:prstGeom prst="rect">
            <a:avLst/>
          </a:prstGeom>
          <a:noFill/>
          <a:ln/>
        </p:spPr>
        <p:txBody>
          <a:bodyPr wrap="square" lIns="0" tIns="0" rIns="0" bIns="0" rtlCol="0" anchor="ctr"/>
          <a:lstStyle/>
          <a:p>
            <a:pPr marL="0" indent="0" algn="l">
              <a:buNone/>
            </a:pPr>
            <a:r>
              <a:rPr lang="en-GB" sz="2600" b="1" dirty="0">
                <a:solidFill>
                  <a:srgbClr val="FFFFFF"/>
                </a:solidFill>
                <a:latin typeface="Consolas" pitchFamily="34" charset="0"/>
                <a:ea typeface="Consolas" pitchFamily="34" charset="-122"/>
                <a:cs typeface="Consolas" pitchFamily="34" charset="-120"/>
              </a:rPr>
              <a:t>0.30000000000000004</a:t>
            </a:r>
          </a:p>
        </p:txBody>
      </p:sp>
      <p:sp>
        <p:nvSpPr>
          <p:cNvPr id="18" name="Text 18"/>
          <p:cNvSpPr txBox="1"/>
          <p:nvPr/>
        </p:nvSpPr>
        <p:spPr>
          <a:xfrm>
            <a:off x="6355080" y="3566160"/>
            <a:ext cx="4663440" cy="320040"/>
          </a:xfrm>
          <a:prstGeom prst="rect">
            <a:avLst/>
          </a:prstGeom>
          <a:noFill/>
          <a:ln/>
        </p:spPr>
        <p:txBody>
          <a:bodyPr wrap="square" lIns="0" tIns="0" rIns="0" bIns="0" rtlCol="0" anchor="ctr"/>
          <a:lstStyle/>
          <a:p>
            <a:pPr marL="0" indent="0" algn="l">
              <a:buNone/>
            </a:pPr>
            <a:r>
              <a:rPr lang="en-GB" sz="1300" dirty="0">
                <a:solidFill>
                  <a:srgbClr val="19C3C8"/>
                </a:solidFill>
                <a:latin typeface="Inter SemiBold Text SemiBold" pitchFamily="34" charset="0"/>
                <a:ea typeface="Inter SemiBold Text SemiBold" pitchFamily="34" charset="-122"/>
                <a:cs typeface="Inter SemiBold Text SemiBold" pitchFamily="34" charset="-120"/>
              </a:rPr>
              <a:t>instead of 0.3</a:t>
            </a:r>
          </a:p>
        </p:txBody>
      </p:sp>
      <p:sp>
        <p:nvSpPr>
          <p:cNvPr id="19" name="Panel 19"/>
          <p:cNvSpPr/>
          <p:nvPr/>
        </p:nvSpPr>
        <p:spPr>
          <a:xfrm>
            <a:off x="5989320" y="4206240"/>
            <a:ext cx="5376672" cy="1691640"/>
          </a:xfrm>
          <a:prstGeom prst="roundRect">
            <a:avLst>
              <a:gd name="adj" fmla="val 5405"/>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0" name="Text 20"/>
          <p:cNvSpPr txBox="1"/>
          <p:nvPr/>
        </p:nvSpPr>
        <p:spPr>
          <a:xfrm>
            <a:off x="6355080" y="4407408"/>
            <a:ext cx="4663440" cy="320040"/>
          </a:xfrm>
          <a:prstGeom prst="rect">
            <a:avLst/>
          </a:prstGeom>
          <a:noFill/>
          <a:ln/>
        </p:spPr>
        <p:txBody>
          <a:bodyPr wrap="square" lIns="0" tIns="0" rIns="0" bIns="0" rtlCol="0" anchor="ctr"/>
          <a:lstStyle/>
          <a:p>
            <a:pPr marL="0" indent="0" algn="l">
              <a:buNone/>
            </a:pPr>
            <a:r>
              <a:rPr lang="en-GB" sz="1300" dirty="0">
                <a:solidFill>
                  <a:srgbClr val="C2CADE"/>
                </a:solidFill>
                <a:latin typeface="Consolas" pitchFamily="34" charset="0"/>
                <a:ea typeface="Consolas" pitchFamily="34" charset="-122"/>
                <a:cs typeface="Consolas" pitchFamily="34" charset="-120"/>
              </a:rPr>
              <a:t>XPath:  4.35 * 100</a:t>
            </a:r>
          </a:p>
        </p:txBody>
      </p:sp>
      <p:sp>
        <p:nvSpPr>
          <p:cNvPr id="21" name="Text 21"/>
          <p:cNvSpPr txBox="1"/>
          <p:nvPr/>
        </p:nvSpPr>
        <p:spPr>
          <a:xfrm>
            <a:off x="6355080" y="4754880"/>
            <a:ext cx="4663440" cy="640080"/>
          </a:xfrm>
          <a:prstGeom prst="rect">
            <a:avLst/>
          </a:prstGeom>
          <a:noFill/>
          <a:ln/>
        </p:spPr>
        <p:txBody>
          <a:bodyPr wrap="square" lIns="0" tIns="0" rIns="0" bIns="0" rtlCol="0" anchor="ctr"/>
          <a:lstStyle/>
          <a:p>
            <a:pPr marL="0" indent="0" algn="l">
              <a:buNone/>
            </a:pPr>
            <a:r>
              <a:rPr lang="en-GB" sz="2600" b="1" dirty="0">
                <a:solidFill>
                  <a:srgbClr val="FFFFFF"/>
                </a:solidFill>
                <a:latin typeface="Consolas" pitchFamily="34" charset="0"/>
                <a:ea typeface="Consolas" pitchFamily="34" charset="-122"/>
                <a:cs typeface="Consolas" pitchFamily="34" charset="-120"/>
              </a:rPr>
              <a:t>434.99999999999994</a:t>
            </a:r>
          </a:p>
        </p:txBody>
      </p:sp>
      <p:sp>
        <p:nvSpPr>
          <p:cNvPr id="22" name="Text 22"/>
          <p:cNvSpPr txBox="1"/>
          <p:nvPr/>
        </p:nvSpPr>
        <p:spPr>
          <a:xfrm>
            <a:off x="6355080" y="5394960"/>
            <a:ext cx="4663440" cy="320040"/>
          </a:xfrm>
          <a:prstGeom prst="rect">
            <a:avLst/>
          </a:prstGeom>
          <a:noFill/>
          <a:ln/>
        </p:spPr>
        <p:txBody>
          <a:bodyPr wrap="square" lIns="0" tIns="0" rIns="0" bIns="0" rtlCol="0" anchor="ctr"/>
          <a:lstStyle/>
          <a:p>
            <a:pPr marL="0" indent="0" algn="l">
              <a:buNone/>
            </a:pPr>
            <a:r>
              <a:rPr lang="en-GB" sz="1300" dirty="0">
                <a:solidFill>
                  <a:srgbClr val="19C3C8"/>
                </a:solidFill>
                <a:latin typeface="Inter SemiBold Text SemiBold" pitchFamily="34" charset="0"/>
                <a:ea typeface="Inter SemiBold Text SemiBold" pitchFamily="34" charset="-122"/>
                <a:cs typeface="Inter SemiBold Text SemiBold" pitchFamily="34" charset="-120"/>
              </a:rPr>
              <a:t>instead of 435</a:t>
            </a:r>
          </a:p>
        </p:txBody>
      </p:sp>
      <p:sp>
        <p:nvSpPr>
          <p:cNvPr id="23" name="Speaker 23">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Folie 2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EXACT INVOICE ARITHMETIC · 2/5</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Decimal has been standard since 2008</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For 23 years the floating-point standard knew only binary — XSLT still calculates that way by default.</a:t>
            </a:r>
          </a:p>
        </p:txBody>
      </p:sp>
      <p:sp>
        <p:nvSpPr>
          <p:cNvPr id="7" name="Speaker 7">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8" name="PageNum 8"/>
          <p:cNvSpPr txBox="1"/>
          <p:nvPr/>
        </p:nvSpPr>
        <p:spPr>
          <a:xfrm>
            <a:off x="10908792" y="6514592"/>
            <a:ext cx="822960" cy="292608"/>
          </a:xfrm>
          <a:prstGeom prst="rect">
            <a:avLst/>
          </a:prstGeom>
          <a:noFill/>
          <a:ln/>
        </p:spPr>
        <p:txBody>
          <a:bodyPr wrap="square" lIns="0" tIns="0" rIns="0" bIns="0" rtlCol="0" anchor="ctr"/>
          <a:lstStyle/>
          <a:p>
            <a:pPr marL="0" indent="0" algn="r">
              <a:buNone/>
            </a:pPr>
            <a:fld id="{F7C5613F-305F-4AAF-9D08-5AE6C7D33BC0}"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20</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9" name="Card 9"/>
          <p:cNvSpPr/>
          <p:nvPr/>
        </p:nvSpPr>
        <p:spPr>
          <a:xfrm>
            <a:off x="822960" y="2331720"/>
            <a:ext cx="10543032" cy="1874520"/>
          </a:xfrm>
          <a:prstGeom prst="roundRect">
            <a:avLst>
              <a:gd name="adj" fmla="val 39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cxnSp>
        <p:nvCxnSpPr>
          <p:cNvPr id="10" name="Connector 10"/>
          <p:cNvCxnSpPr/>
          <p:nvPr/>
        </p:nvCxnSpPr>
        <p:spPr>
          <a:xfrm>
            <a:off x="1280160" y="3127248"/>
            <a:ext cx="9646920" cy="0"/>
          </a:xfrm>
          <a:prstGeom prst="line">
            <a:avLst/>
          </a:prstGeom>
          <a:ln w="25400">
            <a:solidFill>
              <a:srgbClr val="E2E7F2"/>
            </a:solidFill>
          </a:ln>
        </p:spPr>
      </p:cxnSp>
      <p:sp>
        <p:nvSpPr>
          <p:cNvPr id="11" name="Text 11"/>
          <p:cNvSpPr txBox="1"/>
          <p:nvPr/>
        </p:nvSpPr>
        <p:spPr>
          <a:xfrm>
            <a:off x="1005840" y="2468880"/>
            <a:ext cx="1920240" cy="365760"/>
          </a:xfrm>
          <a:prstGeom prst="rect">
            <a:avLst/>
          </a:prstGeom>
          <a:noFill/>
          <a:ln/>
        </p:spPr>
        <p:txBody>
          <a:bodyPr wrap="square" lIns="0" tIns="0" rIns="0" bIns="0" rtlCol="0" anchor="ctr"/>
          <a:lstStyle/>
          <a:p>
            <a:pPr marL="0" indent="0" algn="ctr">
              <a:buNone/>
            </a:pPr>
            <a:r>
              <a:rPr lang="en-GB" sz="1700" b="1" dirty="0">
                <a:solidFill>
                  <a:srgbClr val="1A2B5E"/>
                </a:solidFill>
                <a:latin typeface="Inter Text" pitchFamily="34" charset="0"/>
                <a:ea typeface="Inter Text" pitchFamily="34" charset="-122"/>
                <a:cs typeface="Inter Text" pitchFamily="34" charset="-120"/>
              </a:rPr>
              <a:t>1985</a:t>
            </a:r>
          </a:p>
        </p:txBody>
      </p:sp>
      <p:sp>
        <p:nvSpPr>
          <p:cNvPr id="12" name="Shape 12"/>
          <p:cNvSpPr/>
          <p:nvPr/>
        </p:nvSpPr>
        <p:spPr>
          <a:xfrm>
            <a:off x="1874520" y="3035808"/>
            <a:ext cx="182880" cy="182880"/>
          </a:xfrm>
          <a:prstGeom prst="ellipse">
            <a:avLst/>
          </a:prstGeom>
          <a:solidFill>
            <a:srgbClr val="9AA4C2"/>
          </a:solidFill>
          <a:ln w="19050">
            <a:solidFill>
              <a:srgbClr val="FFFFFF"/>
            </a:solidFill>
            <a:prstDash val="solid"/>
          </a:ln>
        </p:spPr>
        <p:txBody>
          <a:bodyPr/>
          <a:lstStyle/>
          <a:p>
            <a:endParaRPr lang="en-GB"/>
          </a:p>
        </p:txBody>
      </p:sp>
      <p:sp>
        <p:nvSpPr>
          <p:cNvPr id="13" name="Text 13"/>
          <p:cNvSpPr txBox="1"/>
          <p:nvPr/>
        </p:nvSpPr>
        <p:spPr>
          <a:xfrm>
            <a:off x="1005840" y="3310128"/>
            <a:ext cx="1920240" cy="320040"/>
          </a:xfrm>
          <a:prstGeom prst="rect">
            <a:avLst/>
          </a:prstGeom>
          <a:noFill/>
          <a:ln/>
        </p:spPr>
        <p:txBody>
          <a:bodyPr wrap="square" lIns="0" tIns="0" rIns="0" bIns="0" rtlCol="0" anchor="ctr"/>
          <a:lstStyle/>
          <a:p>
            <a:pPr marL="0" indent="0" algn="ctr">
              <a:buNone/>
            </a:pP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IEEE 754</a:t>
            </a:r>
          </a:p>
        </p:txBody>
      </p:sp>
      <p:sp>
        <p:nvSpPr>
          <p:cNvPr id="14" name="Text 14"/>
          <p:cNvSpPr txBox="1"/>
          <p:nvPr/>
        </p:nvSpPr>
        <p:spPr>
          <a:xfrm>
            <a:off x="1005840" y="3630168"/>
            <a:ext cx="1920240" cy="457200"/>
          </a:xfrm>
          <a:prstGeom prst="rect">
            <a:avLst/>
          </a:prstGeom>
          <a:noFill/>
          <a:ln/>
        </p:spPr>
        <p:txBody>
          <a:bodyPr wrap="square" lIns="0" tIns="0" rIns="0" bIns="0" rtlCol="0" anchor="t"/>
          <a:lstStyle/>
          <a:p>
            <a:pPr marL="0" indent="0" algn="ctr">
              <a:lnSpc>
                <a:spcPct val="105000"/>
              </a:lnSpc>
              <a:buNone/>
            </a:pPr>
            <a:r>
              <a:rPr lang="en-GB" sz="1050" dirty="0">
                <a:solidFill>
                  <a:srgbClr val="5B6890"/>
                </a:solidFill>
                <a:latin typeface="Inter Text" pitchFamily="34" charset="0"/>
                <a:ea typeface="Inter Text" pitchFamily="34" charset="-122"/>
                <a:cs typeface="Inter Text" pitchFamily="34" charset="-120"/>
              </a:rPr>
              <a:t>Floating-point standard: binary only</a:t>
            </a:r>
          </a:p>
        </p:txBody>
      </p:sp>
      <p:sp>
        <p:nvSpPr>
          <p:cNvPr id="15" name="Text 15"/>
          <p:cNvSpPr txBox="1"/>
          <p:nvPr/>
        </p:nvSpPr>
        <p:spPr>
          <a:xfrm>
            <a:off x="3090672" y="2468880"/>
            <a:ext cx="1920240" cy="365760"/>
          </a:xfrm>
          <a:prstGeom prst="rect">
            <a:avLst/>
          </a:prstGeom>
          <a:noFill/>
          <a:ln/>
        </p:spPr>
        <p:txBody>
          <a:bodyPr wrap="square" lIns="0" tIns="0" rIns="0" bIns="0" rtlCol="0" anchor="ctr"/>
          <a:lstStyle/>
          <a:p>
            <a:pPr marL="0" indent="0" algn="ctr">
              <a:buNone/>
            </a:pPr>
            <a:r>
              <a:rPr lang="en-GB" sz="1700" b="1" dirty="0">
                <a:solidFill>
                  <a:srgbClr val="1A2B5E"/>
                </a:solidFill>
                <a:latin typeface="Inter Text" pitchFamily="34" charset="0"/>
                <a:ea typeface="Inter Text" pitchFamily="34" charset="-122"/>
                <a:cs typeface="Inter Text" pitchFamily="34" charset="-120"/>
              </a:rPr>
              <a:t>1987</a:t>
            </a:r>
          </a:p>
        </p:txBody>
      </p:sp>
      <p:sp>
        <p:nvSpPr>
          <p:cNvPr id="16" name="Shape 16"/>
          <p:cNvSpPr/>
          <p:nvPr/>
        </p:nvSpPr>
        <p:spPr>
          <a:xfrm>
            <a:off x="3959352" y="3035808"/>
            <a:ext cx="182880" cy="182880"/>
          </a:xfrm>
          <a:prstGeom prst="ellipse">
            <a:avLst/>
          </a:prstGeom>
          <a:solidFill>
            <a:srgbClr val="9AA4C2"/>
          </a:solidFill>
          <a:ln w="19050">
            <a:solidFill>
              <a:srgbClr val="FFFFFF"/>
            </a:solidFill>
            <a:prstDash val="solid"/>
          </a:ln>
        </p:spPr>
        <p:txBody>
          <a:bodyPr/>
          <a:lstStyle/>
          <a:p>
            <a:endParaRPr lang="en-GB"/>
          </a:p>
        </p:txBody>
      </p:sp>
      <p:sp>
        <p:nvSpPr>
          <p:cNvPr id="17" name="Text 17"/>
          <p:cNvSpPr txBox="1"/>
          <p:nvPr/>
        </p:nvSpPr>
        <p:spPr>
          <a:xfrm>
            <a:off x="3090672" y="3310128"/>
            <a:ext cx="1920240" cy="320040"/>
          </a:xfrm>
          <a:prstGeom prst="rect">
            <a:avLst/>
          </a:prstGeom>
          <a:noFill/>
          <a:ln/>
        </p:spPr>
        <p:txBody>
          <a:bodyPr wrap="square" lIns="0" tIns="0" rIns="0" bIns="0" rtlCol="0" anchor="ctr"/>
          <a:lstStyle/>
          <a:p>
            <a:pPr marL="0" indent="0" algn="ctr">
              <a:buNone/>
            </a:pP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IEEE 854</a:t>
            </a:r>
          </a:p>
        </p:txBody>
      </p:sp>
      <p:sp>
        <p:nvSpPr>
          <p:cNvPr id="18" name="Text 18"/>
          <p:cNvSpPr txBox="1"/>
          <p:nvPr/>
        </p:nvSpPr>
        <p:spPr>
          <a:xfrm>
            <a:off x="3090672" y="3630168"/>
            <a:ext cx="1920240" cy="457200"/>
          </a:xfrm>
          <a:prstGeom prst="rect">
            <a:avLst/>
          </a:prstGeom>
          <a:noFill/>
          <a:ln/>
        </p:spPr>
        <p:txBody>
          <a:bodyPr wrap="square" lIns="0" tIns="0" rIns="0" bIns="0" rtlCol="0" anchor="t"/>
          <a:lstStyle/>
          <a:p>
            <a:pPr marL="0" indent="0" algn="ctr">
              <a:lnSpc>
                <a:spcPct val="105000"/>
              </a:lnSpc>
              <a:buNone/>
            </a:pPr>
            <a:r>
              <a:rPr lang="en-GB" sz="1050" dirty="0">
                <a:solidFill>
                  <a:srgbClr val="5B6890"/>
                </a:solidFill>
                <a:latin typeface="Inter Text" pitchFamily="34" charset="0"/>
                <a:ea typeface="Inter Text" pitchFamily="34" charset="-122"/>
                <a:cs typeface="Inter Text" pitchFamily="34" charset="-120"/>
              </a:rPr>
              <a:t>any radix, hardly implemented</a:t>
            </a:r>
          </a:p>
        </p:txBody>
      </p:sp>
      <p:sp>
        <p:nvSpPr>
          <p:cNvPr id="19" name="Text 19"/>
          <p:cNvSpPr txBox="1"/>
          <p:nvPr/>
        </p:nvSpPr>
        <p:spPr>
          <a:xfrm>
            <a:off x="5175504" y="2468880"/>
            <a:ext cx="1920240" cy="365760"/>
          </a:xfrm>
          <a:prstGeom prst="rect">
            <a:avLst/>
          </a:prstGeom>
          <a:noFill/>
          <a:ln/>
        </p:spPr>
        <p:txBody>
          <a:bodyPr wrap="square" lIns="0" tIns="0" rIns="0" bIns="0" rtlCol="0" anchor="ctr"/>
          <a:lstStyle/>
          <a:p>
            <a:pPr marL="0" indent="0" algn="ctr">
              <a:buNone/>
            </a:pPr>
            <a:r>
              <a:rPr lang="en-GB" sz="1700" b="1" dirty="0">
                <a:solidFill>
                  <a:srgbClr val="1A2B5E"/>
                </a:solidFill>
                <a:latin typeface="Inter Text" pitchFamily="34" charset="0"/>
                <a:ea typeface="Inter Text" pitchFamily="34" charset="-122"/>
                <a:cs typeface="Inter Text" pitchFamily="34" charset="-120"/>
              </a:rPr>
              <a:t>2007</a:t>
            </a:r>
          </a:p>
        </p:txBody>
      </p:sp>
      <p:sp>
        <p:nvSpPr>
          <p:cNvPr id="20" name="Shape 20"/>
          <p:cNvSpPr/>
          <p:nvPr/>
        </p:nvSpPr>
        <p:spPr>
          <a:xfrm>
            <a:off x="6044184" y="3035808"/>
            <a:ext cx="182880" cy="182880"/>
          </a:xfrm>
          <a:prstGeom prst="ellipse">
            <a:avLst/>
          </a:prstGeom>
          <a:solidFill>
            <a:srgbClr val="9AA4C2"/>
          </a:solidFill>
          <a:ln w="19050">
            <a:solidFill>
              <a:srgbClr val="FFFFFF"/>
            </a:solidFill>
            <a:prstDash val="solid"/>
          </a:ln>
        </p:spPr>
        <p:txBody>
          <a:bodyPr/>
          <a:lstStyle/>
          <a:p>
            <a:endParaRPr lang="en-GB"/>
          </a:p>
        </p:txBody>
      </p:sp>
      <p:sp>
        <p:nvSpPr>
          <p:cNvPr id="21" name="Text 21"/>
          <p:cNvSpPr txBox="1"/>
          <p:nvPr/>
        </p:nvSpPr>
        <p:spPr>
          <a:xfrm>
            <a:off x="5175504" y="3310128"/>
            <a:ext cx="1920240" cy="320040"/>
          </a:xfrm>
          <a:prstGeom prst="rect">
            <a:avLst/>
          </a:prstGeom>
          <a:noFill/>
          <a:ln/>
        </p:spPr>
        <p:txBody>
          <a:bodyPr wrap="square" lIns="0" tIns="0" rIns="0" bIns="0" rtlCol="0" anchor="ctr"/>
          <a:lstStyle/>
          <a:p>
            <a:pPr marL="0" indent="0" algn="ctr">
              <a:buNone/>
            </a:pP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IBM POWER6</a:t>
            </a:r>
          </a:p>
        </p:txBody>
      </p:sp>
      <p:sp>
        <p:nvSpPr>
          <p:cNvPr id="22" name="Text 22"/>
          <p:cNvSpPr txBox="1"/>
          <p:nvPr/>
        </p:nvSpPr>
        <p:spPr>
          <a:xfrm>
            <a:off x="5175504" y="3630168"/>
            <a:ext cx="1920240" cy="457200"/>
          </a:xfrm>
          <a:prstGeom prst="rect">
            <a:avLst/>
          </a:prstGeom>
          <a:noFill/>
          <a:ln/>
        </p:spPr>
        <p:txBody>
          <a:bodyPr wrap="square" lIns="0" tIns="0" rIns="0" bIns="0" rtlCol="0" anchor="t"/>
          <a:lstStyle/>
          <a:p>
            <a:pPr marL="0" indent="0" algn="ctr">
              <a:lnSpc>
                <a:spcPct val="105000"/>
              </a:lnSpc>
              <a:buNone/>
            </a:pPr>
            <a:r>
              <a:rPr lang="en-GB" sz="1050" dirty="0">
                <a:solidFill>
                  <a:srgbClr val="5B6890"/>
                </a:solidFill>
                <a:latin typeface="Inter Text" pitchFamily="34" charset="0"/>
                <a:ea typeface="Inter Text" pitchFamily="34" charset="-122"/>
                <a:cs typeface="Inter Text" pitchFamily="34" charset="-120"/>
              </a:rPr>
              <a:t>Decimal arithmetic in hardware</a:t>
            </a:r>
          </a:p>
        </p:txBody>
      </p:sp>
      <p:sp>
        <p:nvSpPr>
          <p:cNvPr id="23" name="Text 23"/>
          <p:cNvSpPr txBox="1"/>
          <p:nvPr/>
        </p:nvSpPr>
        <p:spPr>
          <a:xfrm>
            <a:off x="7260336" y="2468880"/>
            <a:ext cx="1920240" cy="365760"/>
          </a:xfrm>
          <a:prstGeom prst="rect">
            <a:avLst/>
          </a:prstGeom>
          <a:noFill/>
          <a:ln/>
        </p:spPr>
        <p:txBody>
          <a:bodyPr wrap="square" lIns="0" tIns="0" rIns="0" bIns="0" rtlCol="0" anchor="ctr"/>
          <a:lstStyle/>
          <a:p>
            <a:pPr marL="0" indent="0" algn="ctr">
              <a:buNone/>
            </a:pPr>
            <a:r>
              <a:rPr lang="en-GB" sz="1700" b="1" dirty="0">
                <a:solidFill>
                  <a:srgbClr val="0E7E82"/>
                </a:solidFill>
                <a:latin typeface="Inter Text" pitchFamily="34" charset="0"/>
                <a:ea typeface="Inter Text" pitchFamily="34" charset="-122"/>
                <a:cs typeface="Inter Text" pitchFamily="34" charset="-120"/>
              </a:rPr>
              <a:t>2008</a:t>
            </a:r>
          </a:p>
        </p:txBody>
      </p:sp>
      <p:sp>
        <p:nvSpPr>
          <p:cNvPr id="24" name="Shape 24"/>
          <p:cNvSpPr/>
          <p:nvPr/>
        </p:nvSpPr>
        <p:spPr>
          <a:xfrm>
            <a:off x="8129016" y="3035808"/>
            <a:ext cx="182880" cy="182880"/>
          </a:xfrm>
          <a:prstGeom prst="ellipse">
            <a:avLst/>
          </a:prstGeom>
          <a:solidFill>
            <a:srgbClr val="19C3C8"/>
          </a:solidFill>
          <a:ln w="19050">
            <a:solidFill>
              <a:srgbClr val="FFFFFF"/>
            </a:solidFill>
            <a:prstDash val="solid"/>
          </a:ln>
        </p:spPr>
        <p:txBody>
          <a:bodyPr/>
          <a:lstStyle/>
          <a:p>
            <a:endParaRPr lang="en-GB"/>
          </a:p>
        </p:txBody>
      </p:sp>
      <p:sp>
        <p:nvSpPr>
          <p:cNvPr id="25" name="Text 25"/>
          <p:cNvSpPr txBox="1"/>
          <p:nvPr/>
        </p:nvSpPr>
        <p:spPr>
          <a:xfrm>
            <a:off x="7260336" y="3310128"/>
            <a:ext cx="1920240" cy="320040"/>
          </a:xfrm>
          <a:prstGeom prst="rect">
            <a:avLst/>
          </a:prstGeom>
          <a:noFill/>
          <a:ln/>
        </p:spPr>
        <p:txBody>
          <a:bodyPr wrap="square" lIns="0" tIns="0" rIns="0" bIns="0" rtlCol="0" anchor="ctr"/>
          <a:lstStyle/>
          <a:p>
            <a:pPr marL="0" indent="0" algn="ctr">
              <a:buNone/>
            </a:pP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IEEE 754-2008</a:t>
            </a:r>
          </a:p>
        </p:txBody>
      </p:sp>
      <p:sp>
        <p:nvSpPr>
          <p:cNvPr id="26" name="Text 26"/>
          <p:cNvSpPr txBox="1"/>
          <p:nvPr/>
        </p:nvSpPr>
        <p:spPr>
          <a:xfrm>
            <a:off x="7260336" y="3630168"/>
            <a:ext cx="1920240" cy="457200"/>
          </a:xfrm>
          <a:prstGeom prst="rect">
            <a:avLst/>
          </a:prstGeom>
          <a:noFill/>
          <a:ln/>
        </p:spPr>
        <p:txBody>
          <a:bodyPr wrap="square" lIns="0" tIns="0" rIns="0" bIns="0" rtlCol="0" anchor="t"/>
          <a:lstStyle/>
          <a:p>
            <a:pPr marL="0" indent="0" algn="ctr">
              <a:lnSpc>
                <a:spcPct val="105000"/>
              </a:lnSpc>
              <a:buNone/>
            </a:pPr>
            <a:r>
              <a:rPr lang="en-GB" sz="1050" dirty="0">
                <a:solidFill>
                  <a:srgbClr val="5B6890"/>
                </a:solidFill>
                <a:latin typeface="Inter Text" pitchFamily="34" charset="0"/>
                <a:ea typeface="Inter Text" pitchFamily="34" charset="-122"/>
                <a:cs typeface="Inter Text" pitchFamily="34" charset="-120"/>
              </a:rPr>
              <a:t>Decimal becomes part of the standard</a:t>
            </a:r>
          </a:p>
        </p:txBody>
      </p:sp>
      <p:sp>
        <p:nvSpPr>
          <p:cNvPr id="27" name="Text 27"/>
          <p:cNvSpPr txBox="1"/>
          <p:nvPr/>
        </p:nvSpPr>
        <p:spPr>
          <a:xfrm>
            <a:off x="9345168" y="2468880"/>
            <a:ext cx="1920240" cy="365760"/>
          </a:xfrm>
          <a:prstGeom prst="rect">
            <a:avLst/>
          </a:prstGeom>
          <a:noFill/>
          <a:ln/>
        </p:spPr>
        <p:txBody>
          <a:bodyPr wrap="square" lIns="0" tIns="0" rIns="0" bIns="0" rtlCol="0" anchor="ctr"/>
          <a:lstStyle/>
          <a:p>
            <a:pPr marL="0" indent="0" algn="ctr">
              <a:buNone/>
            </a:pPr>
            <a:r>
              <a:rPr lang="en-GB" sz="1700" b="1" dirty="0">
                <a:solidFill>
                  <a:srgbClr val="1A2B5E"/>
                </a:solidFill>
                <a:latin typeface="Inter Text" pitchFamily="34" charset="0"/>
                <a:ea typeface="Inter Text" pitchFamily="34" charset="-122"/>
                <a:cs typeface="Inter Text" pitchFamily="34" charset="-120"/>
              </a:rPr>
              <a:t>2011</a:t>
            </a:r>
          </a:p>
        </p:txBody>
      </p:sp>
      <p:sp>
        <p:nvSpPr>
          <p:cNvPr id="28" name="Shape 28"/>
          <p:cNvSpPr/>
          <p:nvPr/>
        </p:nvSpPr>
        <p:spPr>
          <a:xfrm>
            <a:off x="10213848" y="3035808"/>
            <a:ext cx="182880" cy="182880"/>
          </a:xfrm>
          <a:prstGeom prst="ellipse">
            <a:avLst/>
          </a:prstGeom>
          <a:solidFill>
            <a:srgbClr val="9AA4C2"/>
          </a:solidFill>
          <a:ln w="19050">
            <a:solidFill>
              <a:srgbClr val="FFFFFF"/>
            </a:solidFill>
            <a:prstDash val="solid"/>
          </a:ln>
        </p:spPr>
        <p:txBody>
          <a:bodyPr/>
          <a:lstStyle/>
          <a:p>
            <a:endParaRPr lang="en-GB"/>
          </a:p>
        </p:txBody>
      </p:sp>
      <p:sp>
        <p:nvSpPr>
          <p:cNvPr id="29" name="Text 29"/>
          <p:cNvSpPr txBox="1"/>
          <p:nvPr/>
        </p:nvSpPr>
        <p:spPr>
          <a:xfrm>
            <a:off x="9345168" y="3310128"/>
            <a:ext cx="1920240" cy="320040"/>
          </a:xfrm>
          <a:prstGeom prst="rect">
            <a:avLst/>
          </a:prstGeom>
          <a:noFill/>
          <a:ln/>
        </p:spPr>
        <p:txBody>
          <a:bodyPr wrap="square" lIns="0" tIns="0" rIns="0" bIns="0" rtlCol="0" anchor="ctr"/>
          <a:lstStyle/>
          <a:p>
            <a:pPr marL="0" indent="0" algn="ctr">
              <a:buNone/>
            </a:pPr>
            <a:r>
              <a:rPr lang="en-GB" sz="1250" dirty="0">
                <a:solidFill>
                  <a:srgbClr val="1A2B5E"/>
                </a:solidFill>
                <a:latin typeface="Inter SemiBold Text SemiBold" pitchFamily="34" charset="0"/>
                <a:ea typeface="Inter SemiBold Text SemiBold" pitchFamily="34" charset="-122"/>
                <a:cs typeface="Inter SemiBold Text SemiBold" pitchFamily="34" charset="-120"/>
              </a:rPr>
              <a:t>ISO/IEC/IEEE 60559</a:t>
            </a:r>
          </a:p>
        </p:txBody>
      </p:sp>
      <p:sp>
        <p:nvSpPr>
          <p:cNvPr id="30" name="Text 30"/>
          <p:cNvSpPr txBox="1"/>
          <p:nvPr/>
        </p:nvSpPr>
        <p:spPr>
          <a:xfrm>
            <a:off x="9345168" y="3630168"/>
            <a:ext cx="1920240" cy="457200"/>
          </a:xfrm>
          <a:prstGeom prst="rect">
            <a:avLst/>
          </a:prstGeom>
          <a:noFill/>
          <a:ln/>
        </p:spPr>
        <p:txBody>
          <a:bodyPr wrap="square" lIns="0" tIns="0" rIns="0" bIns="0" rtlCol="0" anchor="t"/>
          <a:lstStyle/>
          <a:p>
            <a:pPr marL="0" indent="0" algn="ctr">
              <a:lnSpc>
                <a:spcPct val="105000"/>
              </a:lnSpc>
              <a:buNone/>
            </a:pPr>
            <a:r>
              <a:rPr lang="en-GB" sz="1050" dirty="0">
                <a:solidFill>
                  <a:srgbClr val="5B6890"/>
                </a:solidFill>
                <a:latin typeface="Inter Text" pitchFamily="34" charset="0"/>
                <a:ea typeface="Inter Text" pitchFamily="34" charset="-122"/>
                <a:cs typeface="Inter Text" pitchFamily="34" charset="-120"/>
              </a:rPr>
              <a:t>the same as an international standard</a:t>
            </a:r>
          </a:p>
        </p:txBody>
      </p:sp>
      <p:sp>
        <p:nvSpPr>
          <p:cNvPr id="31" name="Panel 31"/>
          <p:cNvSpPr/>
          <p:nvPr/>
        </p:nvSpPr>
        <p:spPr>
          <a:xfrm>
            <a:off x="822960" y="4389120"/>
            <a:ext cx="5175504" cy="1691640"/>
          </a:xfrm>
          <a:prstGeom prst="roundRect">
            <a:avLst>
              <a:gd name="adj" fmla="val 5405"/>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32" name="Text 32"/>
          <p:cNvSpPr txBox="1"/>
          <p:nvPr/>
        </p:nvSpPr>
        <p:spPr>
          <a:xfrm>
            <a:off x="1143000" y="4526280"/>
            <a:ext cx="4572000" cy="685800"/>
          </a:xfrm>
          <a:prstGeom prst="rect">
            <a:avLst/>
          </a:prstGeom>
          <a:noFill/>
          <a:ln/>
        </p:spPr>
        <p:txBody>
          <a:bodyPr wrap="square" lIns="0" tIns="0" rIns="0" bIns="0" rtlCol="0" anchor="ctr"/>
          <a:lstStyle/>
          <a:p>
            <a:pPr marL="0" indent="0" algn="l">
              <a:buNone/>
            </a:pPr>
            <a:r>
              <a:rPr lang="en-GB" sz="3400" b="1" dirty="0">
                <a:solidFill>
                  <a:srgbClr val="FFFFFF"/>
                </a:solidFill>
                <a:latin typeface="Inter Text" pitchFamily="34" charset="0"/>
                <a:ea typeface="Inter Text" pitchFamily="34" charset="-122"/>
                <a:cs typeface="Inter Text" pitchFamily="34" charset="-120"/>
              </a:rPr>
              <a:t>98.6%</a:t>
            </a:r>
          </a:p>
        </p:txBody>
      </p:sp>
      <p:sp>
        <p:nvSpPr>
          <p:cNvPr id="33" name="Text 33"/>
          <p:cNvSpPr txBox="1"/>
          <p:nvPr/>
        </p:nvSpPr>
        <p:spPr>
          <a:xfrm>
            <a:off x="1143000" y="5212080"/>
            <a:ext cx="4572000" cy="777240"/>
          </a:xfrm>
          <a:prstGeom prst="rect">
            <a:avLst/>
          </a:prstGeom>
          <a:noFill/>
          <a:ln/>
        </p:spPr>
        <p:txBody>
          <a:bodyPr wrap="square" lIns="0" tIns="0" rIns="0" bIns="0" rtlCol="0" anchor="t"/>
          <a:lstStyle/>
          <a:p>
            <a:pPr marL="0" indent="0" algn="l">
              <a:lnSpc>
                <a:spcPct val="110000"/>
              </a:lnSpc>
              <a:buNone/>
            </a:pPr>
            <a:r>
              <a:rPr lang="en-GB" sz="1250" dirty="0">
                <a:solidFill>
                  <a:srgbClr val="C2CADE"/>
                </a:solidFill>
                <a:latin typeface="Inter Text" pitchFamily="34" charset="0"/>
                <a:ea typeface="Inter Text" pitchFamily="34" charset="-122"/>
                <a:cs typeface="Inter Text" pitchFamily="34" charset="-120"/>
              </a:rPr>
              <a:t>of the numbers in commercial databases are decimal or integer</a:t>
            </a:r>
          </a:p>
        </p:txBody>
      </p:sp>
      <p:sp>
        <p:nvSpPr>
          <p:cNvPr id="34" name="Panel 34"/>
          <p:cNvSpPr/>
          <p:nvPr/>
        </p:nvSpPr>
        <p:spPr>
          <a:xfrm>
            <a:off x="6190488" y="4389120"/>
            <a:ext cx="5175504" cy="1691640"/>
          </a:xfrm>
          <a:prstGeom prst="roundRect">
            <a:avLst>
              <a:gd name="adj" fmla="val 5405"/>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35" name="Text 35"/>
          <p:cNvSpPr txBox="1"/>
          <p:nvPr/>
        </p:nvSpPr>
        <p:spPr>
          <a:xfrm>
            <a:off x="6510528" y="4526280"/>
            <a:ext cx="4572000" cy="685800"/>
          </a:xfrm>
          <a:prstGeom prst="rect">
            <a:avLst/>
          </a:prstGeom>
          <a:noFill/>
          <a:ln/>
        </p:spPr>
        <p:txBody>
          <a:bodyPr wrap="square" lIns="0" tIns="0" rIns="0" bIns="0" rtlCol="0" anchor="ctr"/>
          <a:lstStyle/>
          <a:p>
            <a:pPr marL="0" indent="0" algn="l">
              <a:buNone/>
            </a:pPr>
            <a:r>
              <a:rPr lang="en-GB" sz="3400" b="1" dirty="0">
                <a:solidFill>
                  <a:srgbClr val="FFFFFF"/>
                </a:solidFill>
                <a:latin typeface="Inter Text" pitchFamily="34" charset="0"/>
                <a:ea typeface="Inter Text" pitchFamily="34" charset="-122"/>
                <a:cs typeface="Inter Text" pitchFamily="34" charset="-120"/>
              </a:rPr>
              <a:t>€0.73, not €0.74</a:t>
            </a:r>
          </a:p>
        </p:txBody>
      </p:sp>
      <p:sp>
        <p:nvSpPr>
          <p:cNvPr id="36" name="Text 36"/>
          <p:cNvSpPr txBox="1"/>
          <p:nvPr/>
        </p:nvSpPr>
        <p:spPr>
          <a:xfrm>
            <a:off x="6510528" y="5212080"/>
            <a:ext cx="4572000" cy="777240"/>
          </a:xfrm>
          <a:prstGeom prst="rect">
            <a:avLst/>
          </a:prstGeom>
          <a:noFill/>
          <a:ln/>
        </p:spPr>
        <p:txBody>
          <a:bodyPr wrap="square" lIns="0" tIns="0" rIns="0" bIns="0" rtlCol="0" anchor="t"/>
          <a:lstStyle/>
          <a:p>
            <a:pPr marL="0" indent="0" algn="l">
              <a:lnSpc>
                <a:spcPct val="110000"/>
              </a:lnSpc>
              <a:buNone/>
            </a:pPr>
            <a:r>
              <a:rPr lang="en-GB" sz="1250" dirty="0">
                <a:solidFill>
                  <a:srgbClr val="C2CADE"/>
                </a:solidFill>
                <a:latin typeface="Inter Text" pitchFamily="34" charset="0"/>
                <a:ea typeface="Inter Text" pitchFamily="34" charset="-122"/>
                <a:cs typeface="Inter Text" pitchFamily="34" charset="-120"/>
              </a:rPr>
              <a:t>5% tax on a €0.70 phone call, calculated in binary. With a million calls: more than €20 wrong.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Folie 24">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EXACT INVOICE ARITHMETIC · 3/5</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 and it rounds differently from commerce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Every credit note is affected.</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F71794B-2BB3-4FED-B1A8-17B7954B8052}"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21</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77440"/>
          <a:ext cx="10543032" cy="2084832"/>
        </p:xfrm>
        <a:graphic>
          <a:graphicData uri="http://schemas.openxmlformats.org/drawingml/2006/table">
            <a:tbl>
              <a:tblPr firstRow="1" bandRow="1"/>
              <a:tblGrid>
                <a:gridCol w="5422392">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38912">
                <a:tc>
                  <a:txBody>
                    <a:bodyPr/>
                    <a:lstStyle/>
                    <a:p>
                      <a:pPr marL="0" indent="0" algn="l">
                        <a:buNone/>
                      </a:pPr>
                      <a:endParaRP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Standard XSLT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Commercial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548640">
                <a:tc>
                  <a:txBody>
                    <a:bodyP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Round −2.5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400" dirty="0">
                          <a:solidFill>
                            <a:srgbClr val="C0392B"/>
                          </a:solidFill>
                          <a:latin typeface="Inter SemiBold Text SemiBold" pitchFamily="34" charset="0"/>
                          <a:ea typeface="Inter SemiBold Text SemiBold" pitchFamily="34" charset="-122"/>
                          <a:cs typeface="Inter SemiBold Text SemiBold" pitchFamily="34" charset="-120"/>
                        </a:rPr>
                        <a:t>−2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400" dirty="0">
                          <a:solidFill>
                            <a:srgbClr val="1E8A4C"/>
                          </a:solidFill>
                          <a:latin typeface="Inter SemiBold Text SemiBold" pitchFamily="34" charset="0"/>
                          <a:ea typeface="Inter SemiBold Text SemiBold" pitchFamily="34" charset="-122"/>
                          <a:cs typeface="Inter SemiBold Text SemiBold" pitchFamily="34" charset="-120"/>
                        </a:rPr>
                        <a:t>−3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Round 1.005 to two decimals (stored in binary as 1.00499999…)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400" dirty="0">
                          <a:solidFill>
                            <a:srgbClr val="C0392B"/>
                          </a:solidFill>
                          <a:latin typeface="Inter SemiBold Text SemiBold" pitchFamily="34" charset="0"/>
                          <a:ea typeface="Inter SemiBold Text SemiBold" pitchFamily="34" charset="-122"/>
                          <a:cs typeface="Inter SemiBold Text SemiBold" pitchFamily="34" charset="-120"/>
                        </a:rPr>
                        <a:t>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ctr">
                        <a:buNone/>
                      </a:pPr>
                      <a:r>
                        <a:rPr lang="en-GB" sz="1400" dirty="0">
                          <a:solidFill>
                            <a:srgbClr val="1E8A4C"/>
                          </a:solidFill>
                          <a:latin typeface="Inter SemiBold Text SemiBold" pitchFamily="34" charset="0"/>
                          <a:ea typeface="Inter SemiBold Text SemiBold" pitchFamily="34" charset="-122"/>
                          <a:cs typeface="Inter SemiBold Text SemiBold" pitchFamily="34" charset="-120"/>
                        </a:rPr>
                        <a:t>1.01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548640">
                <a:tc>
                  <a:txBody>
                    <a:bodyPr/>
                    <a:lstStyle/>
                    <a:p>
                      <a:pPr marL="0" indent="0" algn="l">
                        <a:buNone/>
                      </a:pPr>
                      <a:r>
                        <a:rPr lang="en-GB" sz="1300" dirty="0">
                          <a:solidFill>
                            <a:srgbClr val="1A2B5E"/>
                          </a:solidFill>
                          <a:latin typeface="Inter SemiBold Text SemiBold" pitchFamily="34" charset="0"/>
                          <a:ea typeface="Inter SemiBold Text SemiBold" pitchFamily="34" charset="-122"/>
                          <a:cs typeface="Inter SemiBold Text SemiBold" pitchFamily="34" charset="-120"/>
                        </a:rPr>
                        <a:t>VAT on a credit note of −€3.50 at 19%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400" dirty="0">
                          <a:solidFill>
                            <a:srgbClr val="C0392B"/>
                          </a:solidFill>
                          <a:latin typeface="Inter SemiBold Text SemiBold" pitchFamily="34" charset="0"/>
                          <a:ea typeface="Inter SemiBold Text SemiBold" pitchFamily="34" charset="-122"/>
                          <a:cs typeface="Inter SemiBold Text SemiBold" pitchFamily="34" charset="-120"/>
                        </a:rPr>
                        <a:t>−0.66</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ctr">
                        <a:buNone/>
                      </a:pPr>
                      <a:r>
                        <a:rPr lang="en-GB" sz="1400" dirty="0">
                          <a:solidFill>
                            <a:srgbClr val="1E8A4C"/>
                          </a:solidFill>
                          <a:latin typeface="Inter SemiBold Text SemiBold" pitchFamily="34" charset="0"/>
                          <a:ea typeface="Inter SemiBold Text SemiBold" pitchFamily="34" charset="-122"/>
                          <a:cs typeface="Inter SemiBold Text SemiBold" pitchFamily="34" charset="-120"/>
                        </a:rPr>
                        <a:t>−0.67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bl>
          </a:graphicData>
        </a:graphic>
      </p:graphicFrame>
      <p:sp>
        <p:nvSpPr>
          <p:cNvPr id="9" name="Card 9"/>
          <p:cNvSpPr/>
          <p:nvPr/>
        </p:nvSpPr>
        <p:spPr>
          <a:xfrm>
            <a:off x="822960" y="4572000"/>
            <a:ext cx="5175504" cy="1417320"/>
          </a:xfrm>
          <a:prstGeom prst="roundRect">
            <a:avLst>
              <a:gd name="adj" fmla="val 5161"/>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4773168"/>
            <a:ext cx="402336" cy="402336"/>
          </a:xfrm>
          <a:prstGeom prst="ellipse">
            <a:avLst/>
          </a:prstGeom>
          <a:solidFill>
            <a:srgbClr val="C0392B"/>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3"/>
          <a:stretch>
            <a:fillRect/>
          </a:stretch>
        </p:blipFill>
        <p:spPr>
          <a:xfrm>
            <a:off x="1171346" y="4883810"/>
            <a:ext cx="181051" cy="181051"/>
          </a:xfrm>
          <a:prstGeom prst="rect">
            <a:avLst/>
          </a:prstGeom>
        </p:spPr>
      </p:pic>
      <p:sp>
        <p:nvSpPr>
          <p:cNvPr id="12" name="Text 12"/>
          <p:cNvSpPr txBox="1"/>
          <p:nvPr/>
        </p:nvSpPr>
        <p:spPr>
          <a:xfrm>
            <a:off x="1600200" y="4754880"/>
            <a:ext cx="4215384"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XSLT: halves always up</a:t>
            </a:r>
          </a:p>
        </p:txBody>
      </p:sp>
      <p:sp>
        <p:nvSpPr>
          <p:cNvPr id="13" name="Text 13"/>
          <p:cNvSpPr txBox="1"/>
          <p:nvPr/>
        </p:nvSpPr>
        <p:spPr>
          <a:xfrm>
            <a:off x="1600200" y="5230368"/>
            <a:ext cx="4206240" cy="548640"/>
          </a:xfrm>
          <a:prstGeom prst="rect">
            <a:avLst/>
          </a:prstGeom>
          <a:noFill/>
          <a:ln/>
        </p:spPr>
        <p:txBody>
          <a:bodyPr wrap="square" lIns="0" tIns="0" rIns="0" bIns="0" rtlCol="0" anchor="t"/>
          <a:lstStyle/>
          <a:p>
            <a:pPr marL="0" indent="0" algn="l">
              <a:lnSpc>
                <a:spcPct val="108000"/>
              </a:lnSpc>
              <a:buNone/>
            </a:pPr>
            <a:r>
              <a:rPr lang="en-GB" sz="1250" dirty="0">
                <a:solidFill>
                  <a:srgbClr val="5B6890"/>
                </a:solidFill>
                <a:latin typeface="Inter Text" pitchFamily="34" charset="0"/>
                <a:ea typeface="Inter Text" pitchFamily="34" charset="-122"/>
                <a:cs typeface="Inter Text" pitchFamily="34" charset="-120"/>
              </a:rPr>
              <a:t>Towards +∞ — even for negative amounts.</a:t>
            </a:r>
          </a:p>
        </p:txBody>
      </p:sp>
      <p:sp>
        <p:nvSpPr>
          <p:cNvPr id="14" name="Card 14"/>
          <p:cNvSpPr/>
          <p:nvPr/>
        </p:nvSpPr>
        <p:spPr>
          <a:xfrm>
            <a:off x="6190488" y="4572000"/>
            <a:ext cx="5175504" cy="1417320"/>
          </a:xfrm>
          <a:prstGeom prst="roundRect">
            <a:avLst>
              <a:gd name="adj" fmla="val 5161"/>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IconCircle 15"/>
          <p:cNvSpPr/>
          <p:nvPr/>
        </p:nvSpPr>
        <p:spPr>
          <a:xfrm>
            <a:off x="6428232" y="4773168"/>
            <a:ext cx="402336" cy="402336"/>
          </a:xfrm>
          <a:prstGeom prst="ellipse">
            <a:avLst/>
          </a:prstGeom>
          <a:solidFill>
            <a:srgbClr val="1E8A4C"/>
          </a:solidFill>
          <a:ln>
            <a:noFill/>
          </a:ln>
          <a:effectLst>
            <a:outerShdw blurRad="88900" dist="38100" dir="5400000" algn="bl" rotWithShape="0">
              <a:srgbClr val="0A1230">
                <a:alpha val="18000"/>
              </a:srgbClr>
            </a:outerShdw>
          </a:effectLst>
        </p:spPr>
        <p:txBody>
          <a:bodyPr/>
          <a:lstStyle/>
          <a:p>
            <a:endParaRPr lang="en-GB"/>
          </a:p>
        </p:txBody>
      </p:sp>
      <p:pic>
        <p:nvPicPr>
          <p:cNvPr id="16" name="Icon 16"/>
          <p:cNvPicPr>
            <a:picLocks noChangeAspect="1"/>
          </p:cNvPicPr>
          <p:nvPr/>
        </p:nvPicPr>
        <p:blipFill>
          <a:blip r:embed="rId4"/>
          <a:stretch>
            <a:fillRect/>
          </a:stretch>
        </p:blipFill>
        <p:spPr>
          <a:xfrm>
            <a:off x="6538874" y="4883810"/>
            <a:ext cx="181051" cy="181051"/>
          </a:xfrm>
          <a:prstGeom prst="rect">
            <a:avLst/>
          </a:prstGeom>
        </p:spPr>
      </p:pic>
      <p:sp>
        <p:nvSpPr>
          <p:cNvPr id="17" name="Text 17"/>
          <p:cNvSpPr txBox="1"/>
          <p:nvPr/>
        </p:nvSpPr>
        <p:spPr>
          <a:xfrm>
            <a:off x="6967728" y="4754880"/>
            <a:ext cx="4215384"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Commerce &amp; tax law: halves away from zero</a:t>
            </a:r>
          </a:p>
        </p:txBody>
      </p:sp>
      <p:sp>
        <p:nvSpPr>
          <p:cNvPr id="18" name="Text 18"/>
          <p:cNvSpPr txBox="1"/>
          <p:nvPr/>
        </p:nvSpPr>
        <p:spPr>
          <a:xfrm>
            <a:off x="6967728" y="5230368"/>
            <a:ext cx="4206240" cy="548640"/>
          </a:xfrm>
          <a:prstGeom prst="rect">
            <a:avLst/>
          </a:prstGeom>
          <a:noFill/>
          <a:ln/>
        </p:spPr>
        <p:txBody>
          <a:bodyPr wrap="square" lIns="0" tIns="0" rIns="0" bIns="0" rtlCol="0" anchor="t"/>
          <a:lstStyle/>
          <a:p>
            <a:pPr marL="0" indent="0" algn="l">
              <a:lnSpc>
                <a:spcPct val="108000"/>
              </a:lnSpc>
              <a:buNone/>
            </a:pPr>
            <a:r>
              <a:rPr lang="en-GB" sz="1250" dirty="0">
                <a:solidFill>
                  <a:srgbClr val="5B6890"/>
                </a:solidFill>
                <a:latin typeface="Inter Text" pitchFamily="34" charset="0"/>
                <a:ea typeface="Inter Text" pitchFamily="34" charset="-122"/>
                <a:cs typeface="Inter Text" pitchFamily="34" charset="-120"/>
              </a:rPr>
              <a:t>Sect. 14.5 UStAE, DIN 1333, AFNOR XP Z12-012</a:t>
            </a:r>
          </a:p>
        </p:txBody>
      </p:sp>
      <p:sp>
        <p:nvSpPr>
          <p:cNvPr id="19" name="Speaker 19">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Folie 25">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EXACT INVOICE ARITHMETIC · 4/5</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400" b="1" dirty="0">
                <a:solidFill>
                  <a:srgbClr val="1A2B5E"/>
                </a:solidFill>
                <a:latin typeface="Inter Text" pitchFamily="34" charset="0"/>
                <a:ea typeface="Inter Text" pitchFamily="34" charset="-122"/>
                <a:cs typeface="Inter Text" pitchFamily="34" charset="-120"/>
              </a:rPr>
              <a:t>Svanton today, the standard tomorrow</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8744BD23-780D-430D-915A-599EA610065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Card 7"/>
          <p:cNvSpPr/>
          <p:nvPr/>
        </p:nvSpPr>
        <p:spPr>
          <a:xfrm>
            <a:off x="822960" y="2240280"/>
            <a:ext cx="3246120" cy="2743200"/>
          </a:xfrm>
          <a:prstGeom prst="roundRect">
            <a:avLst>
              <a:gd name="adj" fmla="val 2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8" name="Text 8"/>
          <p:cNvSpPr txBox="1"/>
          <p:nvPr/>
        </p:nvSpPr>
        <p:spPr>
          <a:xfrm>
            <a:off x="1097280" y="2423160"/>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TODAY</a:t>
            </a:r>
          </a:p>
        </p:txBody>
      </p:sp>
      <p:sp>
        <p:nvSpPr>
          <p:cNvPr id="9" name="Text 9"/>
          <p:cNvSpPr txBox="1"/>
          <p:nvPr/>
        </p:nvSpPr>
        <p:spPr>
          <a:xfrm>
            <a:off x="1097280" y="2743200"/>
            <a:ext cx="2743200" cy="502920"/>
          </a:xfrm>
          <a:prstGeom prst="rect">
            <a:avLst/>
          </a:prstGeom>
          <a:noFill/>
          <a:ln/>
        </p:spPr>
        <p:txBody>
          <a:bodyPr wrap="square" lIns="0" tIns="0" rIns="0" bIns="0" rtlCol="0" anchor="ctr"/>
          <a:lstStyle/>
          <a:p>
            <a:pPr marL="0" indent="0" algn="l">
              <a:buNone/>
            </a:pPr>
            <a:r>
              <a:rPr lang="en-GB" sz="2200" b="1" dirty="0">
                <a:solidFill>
                  <a:srgbClr val="1A2B5E"/>
                </a:solidFill>
                <a:latin typeface="Inter Text" pitchFamily="34" charset="0"/>
                <a:ea typeface="Inter Text" pitchFamily="34" charset="-122"/>
                <a:cs typeface="Inter Text" pitchFamily="34" charset="-120"/>
                <a:hlinkClick r:id="rId3"/>
              </a:rPr>
              <a:t>Svanton</a:t>
            </a:r>
            <a:endParaRPr lang="en-GB" sz="2200" b="1" dirty="0">
              <a:solidFill>
                <a:srgbClr val="1A2B5E"/>
              </a:solidFill>
              <a:latin typeface="Inter Text" pitchFamily="34" charset="0"/>
              <a:ea typeface="Inter Text" pitchFamily="34" charset="-122"/>
              <a:cs typeface="Inter Text" pitchFamily="34" charset="-120"/>
            </a:endParaRPr>
          </a:p>
        </p:txBody>
      </p:sp>
      <p:sp>
        <p:nvSpPr>
          <p:cNvPr id="10" name="Text 10"/>
          <p:cNvSpPr txBox="1"/>
          <p:nvPr/>
        </p:nvSpPr>
        <p:spPr>
          <a:xfrm>
            <a:off x="1097280" y="3383280"/>
            <a:ext cx="2743200" cy="1554480"/>
          </a:xfrm>
          <a:prstGeom prst="rect">
            <a:avLst/>
          </a:prstGeom>
          <a:noFill/>
          <a:ln/>
        </p:spPr>
        <p:txBody>
          <a:bodyPr wrap="square" lIns="0" tIns="0" rIns="0" bIns="0" rtlCol="0" anchor="t"/>
          <a:lstStyle/>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Enhanced Saxon, the most widely used free XSLT engine</a:t>
            </a:r>
          </a:p>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Decimal arithmetic, commercial rounding</a:t>
            </a:r>
          </a:p>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Drop-in replacement, tested with the EN 16931 artefacts</a:t>
            </a:r>
          </a:p>
        </p:txBody>
      </p:sp>
      <p:cxnSp>
        <p:nvCxnSpPr>
          <p:cNvPr id="11" name="Connector 11"/>
          <p:cNvCxnSpPr/>
          <p:nvPr/>
        </p:nvCxnSpPr>
        <p:spPr>
          <a:xfrm>
            <a:off x="4114800" y="3611880"/>
            <a:ext cx="310896" cy="0"/>
          </a:xfrm>
          <a:prstGeom prst="line">
            <a:avLst/>
          </a:prstGeom>
          <a:ln w="28575">
            <a:solidFill>
              <a:srgbClr val="19C3C8"/>
            </a:solidFill>
            <a:tailEnd type="triangle" w="med" len="med"/>
          </a:ln>
        </p:spPr>
      </p:cxnSp>
      <p:sp>
        <p:nvSpPr>
          <p:cNvPr id="12" name="Card 12"/>
          <p:cNvSpPr/>
          <p:nvPr/>
        </p:nvSpPr>
        <p:spPr>
          <a:xfrm>
            <a:off x="4471416" y="2240280"/>
            <a:ext cx="3246120" cy="2743200"/>
          </a:xfrm>
          <a:prstGeom prst="roundRect">
            <a:avLst>
              <a:gd name="adj" fmla="val 2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3" name="Text 13"/>
          <p:cNvSpPr txBox="1"/>
          <p:nvPr/>
        </p:nvSpPr>
        <p:spPr>
          <a:xfrm>
            <a:off x="4745736" y="2423160"/>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PROPOSED</a:t>
            </a:r>
          </a:p>
        </p:txBody>
      </p:sp>
      <p:sp>
        <p:nvSpPr>
          <p:cNvPr id="14" name="Text 14"/>
          <p:cNvSpPr txBox="1"/>
          <p:nvPr/>
        </p:nvSpPr>
        <p:spPr>
          <a:xfrm>
            <a:off x="4745736" y="2743200"/>
            <a:ext cx="2743200" cy="502920"/>
          </a:xfrm>
          <a:prstGeom prst="rect">
            <a:avLst/>
          </a:prstGeom>
          <a:noFill/>
          <a:ln/>
        </p:spPr>
        <p:txBody>
          <a:bodyPr wrap="square" lIns="0" tIns="0" rIns="0" bIns="0" rtlCol="0" anchor="ctr"/>
          <a:lstStyle/>
          <a:p>
            <a:pPr marL="0" indent="0" algn="l">
              <a:buNone/>
            </a:pPr>
            <a:r>
              <a:rPr lang="en-GB" sz="2200" b="1" dirty="0">
                <a:solidFill>
                  <a:srgbClr val="1A2B5E"/>
                </a:solidFill>
                <a:latin typeface="Inter Text" pitchFamily="34" charset="0"/>
                <a:ea typeface="Inter Text" pitchFamily="34" charset="-122"/>
                <a:cs typeface="Inter Text" pitchFamily="34" charset="-120"/>
              </a:rPr>
              <a:t>XSLT 4.0</a:t>
            </a:r>
          </a:p>
        </p:txBody>
      </p:sp>
      <p:sp>
        <p:nvSpPr>
          <p:cNvPr id="15" name="Text 15"/>
          <p:cNvSpPr txBox="1"/>
          <p:nvPr/>
        </p:nvSpPr>
        <p:spPr>
          <a:xfrm>
            <a:off x="4745736" y="3383280"/>
            <a:ext cx="2743200" cy="1554480"/>
          </a:xfrm>
          <a:prstGeom prst="rect">
            <a:avLst/>
          </a:prstGeom>
          <a:noFill/>
          <a:ln/>
        </p:spPr>
        <p:txBody>
          <a:bodyPr wrap="square" lIns="0" tIns="0" rIns="0" bIns="0" rtlCol="0" anchor="t"/>
          <a:lstStyle/>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Proposal to the W3C group behind XPath, XQuery and XSLT</a:t>
            </a:r>
          </a:p>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One switch per rule set</a:t>
            </a:r>
          </a:p>
          <a:p>
            <a:pPr marL="164592" indent="-164592" algn="l">
              <a:spcAft>
                <a:spcPts val="400"/>
              </a:spcAft>
              <a:buClr>
                <a:srgbClr val="19C3C8"/>
              </a:buClr>
              <a:buSzPct val="100000"/>
              <a:buChar char="•"/>
            </a:pPr>
            <a:r>
              <a:rPr lang="en-GB" sz="1200" dirty="0">
                <a:solidFill>
                  <a:srgbClr val="5B6890"/>
                </a:solidFill>
                <a:latin typeface="Inter Text" pitchFamily="34" charset="0"/>
                <a:ea typeface="Inter Text" pitchFamily="34" charset="-122"/>
                <a:cs typeface="Inter Text" pitchFamily="34" charset="-120"/>
              </a:rPr>
              <a:t>No rule has to change</a:t>
            </a:r>
          </a:p>
        </p:txBody>
      </p:sp>
      <p:cxnSp>
        <p:nvCxnSpPr>
          <p:cNvPr id="16" name="Connector 16"/>
          <p:cNvCxnSpPr/>
          <p:nvPr/>
        </p:nvCxnSpPr>
        <p:spPr>
          <a:xfrm>
            <a:off x="7763256" y="3611880"/>
            <a:ext cx="310896" cy="0"/>
          </a:xfrm>
          <a:prstGeom prst="line">
            <a:avLst/>
          </a:prstGeom>
          <a:ln w="28575">
            <a:solidFill>
              <a:srgbClr val="19C3C8"/>
            </a:solidFill>
            <a:tailEnd type="triangle" w="med" len="med"/>
          </a:ln>
        </p:spPr>
      </p:cxnSp>
      <p:sp>
        <p:nvSpPr>
          <p:cNvPr id="17" name="Panel 17"/>
          <p:cNvSpPr/>
          <p:nvPr/>
        </p:nvSpPr>
        <p:spPr>
          <a:xfrm>
            <a:off x="8119872" y="2240280"/>
            <a:ext cx="3246120" cy="2743200"/>
          </a:xfrm>
          <a:prstGeom prst="roundRect">
            <a:avLst>
              <a:gd name="adj" fmla="val 3333"/>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8" name="Text 18"/>
          <p:cNvSpPr txBox="1"/>
          <p:nvPr/>
        </p:nvSpPr>
        <p:spPr>
          <a:xfrm>
            <a:off x="8394192" y="2423160"/>
            <a:ext cx="2743200" cy="274320"/>
          </a:xfrm>
          <a:prstGeom prst="rect">
            <a:avLst/>
          </a:prstGeom>
          <a:noFill/>
          <a:ln/>
        </p:spPr>
        <p:txBody>
          <a:bodyPr wrap="square" lIns="0" tIns="0" rIns="0" bIns="0" rtlCol="0" anchor="ctr"/>
          <a:lstStyle/>
          <a:p>
            <a:pPr marL="0" indent="0" algn="l">
              <a:buNone/>
            </a:pPr>
            <a:r>
              <a:rPr lang="en-GB" sz="1100" spc="200" dirty="0">
                <a:solidFill>
                  <a:srgbClr val="19C3C8"/>
                </a:solidFill>
                <a:latin typeface="Inter SemiBold Text SemiBold" pitchFamily="34" charset="0"/>
                <a:ea typeface="Inter SemiBold Text SemiBold" pitchFamily="34" charset="-122"/>
                <a:cs typeface="Inter SemiBold Text SemiBold" pitchFamily="34" charset="-120"/>
              </a:rPr>
              <a:t>GOAL</a:t>
            </a:r>
          </a:p>
        </p:txBody>
      </p:sp>
      <p:sp>
        <p:nvSpPr>
          <p:cNvPr id="19" name="Text 19"/>
          <p:cNvSpPr txBox="1"/>
          <p:nvPr/>
        </p:nvSpPr>
        <p:spPr>
          <a:xfrm>
            <a:off x="8394192" y="2743200"/>
            <a:ext cx="2743200" cy="502920"/>
          </a:xfrm>
          <a:prstGeom prst="rect">
            <a:avLst/>
          </a:prstGeom>
          <a:noFill/>
          <a:ln/>
        </p:spPr>
        <p:txBody>
          <a:bodyPr wrap="square" lIns="0" tIns="0" rIns="0" bIns="0" rtlCol="0" anchor="ctr"/>
          <a:lstStyle/>
          <a:p>
            <a:pPr marL="0" indent="0" algn="l">
              <a:buNone/>
            </a:pPr>
            <a:r>
              <a:rPr lang="en-GB" sz="2200" b="1" dirty="0">
                <a:solidFill>
                  <a:srgbClr val="FFFFFF"/>
                </a:solidFill>
                <a:latin typeface="Inter Text" pitchFamily="34" charset="0"/>
                <a:ea typeface="Inter Text" pitchFamily="34" charset="-122"/>
                <a:cs typeface="Inter Text" pitchFamily="34" charset="-120"/>
              </a:rPr>
              <a:t>Every processor</a:t>
            </a:r>
          </a:p>
        </p:txBody>
      </p:sp>
      <p:sp>
        <p:nvSpPr>
          <p:cNvPr id="20" name="Text 20"/>
          <p:cNvSpPr txBox="1"/>
          <p:nvPr/>
        </p:nvSpPr>
        <p:spPr>
          <a:xfrm>
            <a:off x="8394192" y="3383280"/>
            <a:ext cx="2743200" cy="1554480"/>
          </a:xfrm>
          <a:prstGeom prst="rect">
            <a:avLst/>
          </a:prstGeom>
          <a:noFill/>
          <a:ln/>
        </p:spPr>
        <p:txBody>
          <a:bodyPr wrap="square" lIns="0" tIns="0" rIns="0" bIns="0" rtlCol="0" anchor="t"/>
          <a:lstStyle/>
          <a:p>
            <a:pPr marL="164592" indent="-164592" algn="l">
              <a:spcAft>
                <a:spcPts val="400"/>
              </a:spcAft>
              <a:buClr>
                <a:srgbClr val="19C3C8"/>
              </a:buClr>
              <a:buSzPct val="100000"/>
              <a:buChar char="•"/>
            </a:pPr>
            <a:r>
              <a:rPr lang="en-GB" sz="1200" dirty="0">
                <a:solidFill>
                  <a:srgbClr val="C2CADE"/>
                </a:solidFill>
                <a:latin typeface="Inter Text" pitchFamily="34" charset="0"/>
                <a:ea typeface="Inter Text" pitchFamily="34" charset="-122"/>
                <a:cs typeface="Inter Text" pitchFamily="34" charset="-120"/>
              </a:rPr>
              <a:t>Exact invoice arithmetic by default</a:t>
            </a:r>
          </a:p>
          <a:p>
            <a:pPr marL="164592" indent="-164592" algn="l">
              <a:spcAft>
                <a:spcPts val="400"/>
              </a:spcAft>
              <a:buClr>
                <a:srgbClr val="19C3C8"/>
              </a:buClr>
              <a:buSzPct val="100000"/>
              <a:buChar char="•"/>
            </a:pPr>
            <a:r>
              <a:rPr lang="en-GB" sz="1200" dirty="0">
                <a:solidFill>
                  <a:srgbClr val="C2CADE"/>
                </a:solidFill>
                <a:latin typeface="Inter Text" pitchFamily="34" charset="0"/>
                <a:ea typeface="Inter Text" pitchFamily="34" charset="-122"/>
                <a:cs typeface="Inter Text" pitchFamily="34" charset="-120"/>
              </a:rPr>
              <a:t>Same result everywhere</a:t>
            </a:r>
          </a:p>
          <a:p>
            <a:pPr marL="164592" indent="-164592" algn="l">
              <a:spcAft>
                <a:spcPts val="400"/>
              </a:spcAft>
              <a:buClr>
                <a:srgbClr val="19C3C8"/>
              </a:buClr>
              <a:buSzPct val="100000"/>
              <a:buChar char="•"/>
            </a:pPr>
            <a:r>
              <a:rPr lang="en-GB" sz="1200" dirty="0">
                <a:solidFill>
                  <a:srgbClr val="C2CADE"/>
                </a:solidFill>
                <a:latin typeface="Inter Text" pitchFamily="34" charset="0"/>
                <a:ea typeface="Inter Text" pitchFamily="34" charset="-122"/>
                <a:cs typeface="Inter Text" pitchFamily="34" charset="-120"/>
              </a:rPr>
              <a:t>Svanton becomes obsolete</a:t>
            </a:r>
          </a:p>
        </p:txBody>
      </p:sp>
      <p:sp>
        <p:nvSpPr>
          <p:cNvPr id="21" name="Panel 21"/>
          <p:cNvSpPr/>
          <p:nvPr/>
        </p:nvSpPr>
        <p:spPr>
          <a:xfrm>
            <a:off x="822960" y="5212080"/>
            <a:ext cx="10543032" cy="1143000"/>
          </a:xfrm>
          <a:prstGeom prst="roundRect">
            <a:avLst>
              <a:gd name="adj" fmla="val 8000"/>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2" name="Text 22"/>
          <p:cNvSpPr txBox="1"/>
          <p:nvPr/>
        </p:nvSpPr>
        <p:spPr>
          <a:xfrm>
            <a:off x="1143000" y="5321808"/>
            <a:ext cx="996696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UNTIL THEN — FOR EVERYONE WHO WRITES RULES OR CALCULATES INVOICES</a:t>
            </a:r>
          </a:p>
        </p:txBody>
      </p:sp>
      <p:sp>
        <p:nvSpPr>
          <p:cNvPr id="23" name="Pill 23"/>
          <p:cNvSpPr/>
          <p:nvPr/>
        </p:nvSpPr>
        <p:spPr>
          <a:xfrm>
            <a:off x="1143000" y="5733288"/>
            <a:ext cx="1828800" cy="438912"/>
          </a:xfrm>
          <a:prstGeom prst="roundRect">
            <a:avLst>
              <a:gd name="adj" fmla="val 50000"/>
            </a:avLst>
          </a:prstGeom>
          <a:solidFill>
            <a:srgbClr val="2A3D74"/>
          </a:solidFill>
          <a:ln w="9525">
            <a:solidFill>
              <a:srgbClr val="3A4F8A"/>
            </a:solidFill>
            <a:prstDash val="solid"/>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calculate in decimal</a:t>
            </a:r>
          </a:p>
        </p:txBody>
      </p:sp>
      <p:sp>
        <p:nvSpPr>
          <p:cNvPr id="24" name="Pill 24"/>
          <p:cNvSpPr/>
          <p:nvPr/>
        </p:nvSpPr>
        <p:spPr>
          <a:xfrm>
            <a:off x="3108960" y="5733288"/>
            <a:ext cx="2103120" cy="438912"/>
          </a:xfrm>
          <a:prstGeom prst="roundRect">
            <a:avLst>
              <a:gd name="adj" fmla="val 50000"/>
            </a:avLst>
          </a:prstGeom>
          <a:solidFill>
            <a:srgbClr val="2A3D74"/>
          </a:solidFill>
          <a:ln w="9525">
            <a:solidFill>
              <a:srgbClr val="3A4F8A"/>
            </a:solidFill>
            <a:prstDash val="solid"/>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round commercially</a:t>
            </a:r>
          </a:p>
        </p:txBody>
      </p:sp>
      <p:sp>
        <p:nvSpPr>
          <p:cNvPr id="25" name="Pill 25"/>
          <p:cNvSpPr/>
          <p:nvPr/>
        </p:nvSpPr>
        <p:spPr>
          <a:xfrm>
            <a:off x="5349240" y="5733288"/>
            <a:ext cx="2377440" cy="438912"/>
          </a:xfrm>
          <a:prstGeom prst="roundRect">
            <a:avLst>
              <a:gd name="adj" fmla="val 50000"/>
            </a:avLst>
          </a:prstGeom>
          <a:solidFill>
            <a:srgbClr val="2A3D74"/>
          </a:solidFill>
          <a:ln w="9525">
            <a:solidFill>
              <a:srgbClr val="3A4F8A"/>
            </a:solidFill>
            <a:prstDash val="solid"/>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round once — at the end</a:t>
            </a:r>
          </a:p>
        </p:txBody>
      </p:sp>
      <p:sp>
        <p:nvSpPr>
          <p:cNvPr id="26" name="Pill 26"/>
          <p:cNvSpPr/>
          <p:nvPr/>
        </p:nvSpPr>
        <p:spPr>
          <a:xfrm>
            <a:off x="7863840" y="5733288"/>
            <a:ext cx="3017520" cy="438912"/>
          </a:xfrm>
          <a:prstGeom prst="roundRect">
            <a:avLst>
              <a:gd name="adj" fmla="val 50000"/>
            </a:avLst>
          </a:prstGeom>
          <a:solidFill>
            <a:srgbClr val="2A3D74"/>
          </a:solidFill>
          <a:ln w="9525">
            <a:solidFill>
              <a:srgbClr val="3A4F8A"/>
            </a:solidFill>
            <a:prstDash val="solid"/>
          </a:ln>
        </p:spPr>
        <p:txBody>
          <a:bodyPr wrap="square" lIns="36576" tIns="36576" rIns="36576" bIns="36576" rtlCol="0" anchor="ctr"/>
          <a:lstStyle/>
          <a:p>
            <a:pPr marL="0" indent="0" algn="ctr">
              <a:buNone/>
            </a:pPr>
            <a:r>
              <a:rPr lang="en-GB" sz="1200" dirty="0">
                <a:solidFill>
                  <a:srgbClr val="FFFFFF"/>
                </a:solidFill>
                <a:latin typeface="Inter SemiBold Text SemiBold" pitchFamily="34" charset="0"/>
                <a:ea typeface="Inter SemiBold Text SemiBold" pitchFamily="34" charset="-122"/>
                <a:cs typeface="Inter SemiBold Text SemiBold" pitchFamily="34" charset="-120"/>
              </a:rPr>
              <a:t>multiply first, divide last</a:t>
            </a:r>
          </a:p>
        </p:txBody>
      </p:sp>
      <p:sp>
        <p:nvSpPr>
          <p:cNvPr id="27" name="Speaker 27">
            <a:hlinkClick r:id="rId4"/>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Folie 26">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EXACT INVOICE ARITHMETIC · 5/5</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On the way to the standard</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Then nobody needs a special engine any more.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9E18277-7858-4F6E-BD14-1ECF90BB1AB3}"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23</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anel 8"/>
          <p:cNvSpPr/>
          <p:nvPr/>
        </p:nvSpPr>
        <p:spPr>
          <a:xfrm>
            <a:off x="822960" y="2377440"/>
            <a:ext cx="4937760"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9" name="Text 9"/>
          <p:cNvSpPr txBox="1"/>
          <p:nvPr/>
        </p:nvSpPr>
        <p:spPr>
          <a:xfrm>
            <a:off x="1143000" y="2377440"/>
            <a:ext cx="914400" cy="914400"/>
          </a:xfrm>
          <a:prstGeom prst="rect">
            <a:avLst/>
          </a:prstGeom>
          <a:noFill/>
          <a:ln/>
        </p:spPr>
        <p:txBody>
          <a:bodyPr wrap="square" lIns="0" tIns="0" rIns="0" bIns="0" rtlCol="0" anchor="ctr"/>
          <a:lstStyle/>
          <a:p>
            <a:pPr marL="0" indent="0" algn="l">
              <a:buNone/>
            </a:pPr>
            <a:r>
              <a:rPr lang="en-GB" sz="8000" b="1" dirty="0">
                <a:solidFill>
                  <a:srgbClr val="19C3C8"/>
                </a:solidFill>
                <a:latin typeface="Inter Text" pitchFamily="34" charset="0"/>
                <a:ea typeface="Inter Text" pitchFamily="34" charset="-122"/>
                <a:cs typeface="Inter Text" pitchFamily="34" charset="-120"/>
              </a:rPr>
              <a:t>“</a:t>
            </a:r>
          </a:p>
        </p:txBody>
      </p:sp>
      <p:sp>
        <p:nvSpPr>
          <p:cNvPr id="10" name="Text 10"/>
          <p:cNvSpPr txBox="1"/>
          <p:nvPr/>
        </p:nvSpPr>
        <p:spPr>
          <a:xfrm>
            <a:off x="1143000" y="3246120"/>
            <a:ext cx="4389120" cy="1280160"/>
          </a:xfrm>
          <a:prstGeom prst="rect">
            <a:avLst/>
          </a:prstGeom>
          <a:noFill/>
          <a:ln/>
        </p:spPr>
        <p:txBody>
          <a:bodyPr wrap="square" lIns="0" tIns="0" rIns="0" bIns="0" rtlCol="0" anchor="t"/>
          <a:lstStyle/>
          <a:p>
            <a:pPr marL="0" indent="0" algn="l">
              <a:lnSpc>
                <a:spcPct val="110000"/>
              </a:lnSpc>
              <a:buNone/>
            </a:pPr>
            <a:r>
              <a:rPr lang="en-GB" sz="2400" dirty="0">
                <a:solidFill>
                  <a:srgbClr val="FFFFFF"/>
                </a:solidFill>
                <a:latin typeface="Inter Light Text Light" pitchFamily="34" charset="0"/>
                <a:ea typeface="Inter Light Text Light" pitchFamily="34" charset="-122"/>
                <a:cs typeface="Inter Light Text Light" pitchFamily="34" charset="-120"/>
              </a:rPr>
              <a:t>… I guess we have to give this a shot.</a:t>
            </a:r>
          </a:p>
        </p:txBody>
      </p:sp>
      <p:sp>
        <p:nvSpPr>
          <p:cNvPr id="11" name="Text 11"/>
          <p:cNvSpPr txBox="1"/>
          <p:nvPr/>
        </p:nvSpPr>
        <p:spPr>
          <a:xfrm>
            <a:off x="1143000" y="4663440"/>
            <a:ext cx="4389120" cy="1005840"/>
          </a:xfrm>
          <a:prstGeom prst="rect">
            <a:avLst/>
          </a:prstGeom>
          <a:noFill/>
          <a:ln/>
        </p:spPr>
        <p:txBody>
          <a:bodyPr wrap="square" lIns="0" tIns="0" rIns="0" bIns="0" rtlCol="0" anchor="t"/>
          <a:lstStyle/>
          <a:p>
            <a:pPr marL="0" indent="0" algn="l">
              <a:lnSpc>
                <a:spcPct val="110000"/>
              </a:lnSpc>
              <a:buNone/>
            </a:pPr>
            <a:r>
              <a:rPr lang="en-GB" sz="1200" dirty="0">
                <a:solidFill>
                  <a:srgbClr val="C2CADE"/>
                </a:solidFill>
                <a:latin typeface="Inter Text" pitchFamily="34" charset="0"/>
                <a:ea typeface="Inter Text" pitchFamily="34" charset="-122"/>
                <a:cs typeface="Inter Text" pitchFamily="34" charset="-120"/>
              </a:rPr>
              <a:t>Michael Kay, editor of the XSLT specification and author of Saxon, on the proposal on 28 Sep 2026</a:t>
            </a:r>
          </a:p>
        </p:txBody>
      </p:sp>
      <p:sp>
        <p:nvSpPr>
          <p:cNvPr id="12" name="Card 12"/>
          <p:cNvSpPr/>
          <p:nvPr/>
        </p:nvSpPr>
        <p:spPr>
          <a:xfrm>
            <a:off x="5989320" y="2377440"/>
            <a:ext cx="5376672" cy="3520440"/>
          </a:xfrm>
          <a:prstGeom prst="roundRect">
            <a:avLst>
              <a:gd name="adj" fmla="val 2077"/>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3" name="Text 13"/>
          <p:cNvSpPr txBox="1"/>
          <p:nvPr/>
        </p:nvSpPr>
        <p:spPr>
          <a:xfrm>
            <a:off x="6309360" y="2560320"/>
            <a:ext cx="4846320" cy="411480"/>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What the proposal adds to XSLT 4.0</a:t>
            </a:r>
          </a:p>
        </p:txBody>
      </p:sp>
      <p:sp>
        <p:nvSpPr>
          <p:cNvPr id="14" name="IconCircle 14"/>
          <p:cNvSpPr/>
          <p:nvPr/>
        </p:nvSpPr>
        <p:spPr>
          <a:xfrm>
            <a:off x="6309360" y="315468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3"/>
          <a:stretch>
            <a:fillRect/>
          </a:stretch>
        </p:blipFill>
        <p:spPr>
          <a:xfrm>
            <a:off x="6420002" y="3265322"/>
            <a:ext cx="181051" cy="181051"/>
          </a:xfrm>
          <a:prstGeom prst="rect">
            <a:avLst/>
          </a:prstGeom>
        </p:spPr>
      </p:pic>
      <p:sp>
        <p:nvSpPr>
          <p:cNvPr id="16" name="Text 16"/>
          <p:cNvSpPr txBox="1"/>
          <p:nvPr/>
        </p:nvSpPr>
        <p:spPr>
          <a:xfrm>
            <a:off x="6858000" y="3081528"/>
            <a:ext cx="4297680" cy="566928"/>
          </a:xfrm>
          <a:prstGeom prst="rect">
            <a:avLst/>
          </a:prstGeom>
          <a:noFill/>
          <a:ln/>
        </p:spPr>
        <p:txBody>
          <a:bodyPr wrap="square" lIns="0" tIns="0" rIns="0" bIns="0" rtlCol="0" anchor="ctr"/>
          <a:lstStyle/>
          <a:p>
            <a:pPr marL="0" indent="0" algn="l">
              <a:lnSpc>
                <a:spcPct val="108000"/>
              </a:lnSpc>
              <a:buNone/>
            </a:pPr>
            <a:r>
              <a:rPr lang="en-GB" sz="1300" dirty="0">
                <a:solidFill>
                  <a:srgbClr val="5B6890"/>
                </a:solidFill>
                <a:latin typeface="Inter Text" pitchFamily="34" charset="0"/>
                <a:ea typeface="Inter Text" pitchFamily="34" charset="-122"/>
                <a:cs typeface="Inter Text" pitchFamily="34" charset="-120"/>
              </a:rPr>
              <a:t>Decimal arithmetic for a whole rule set — switched on once</a:t>
            </a:r>
          </a:p>
        </p:txBody>
      </p:sp>
      <p:sp>
        <p:nvSpPr>
          <p:cNvPr id="17" name="IconCircle 17"/>
          <p:cNvSpPr/>
          <p:nvPr/>
        </p:nvSpPr>
        <p:spPr>
          <a:xfrm>
            <a:off x="6309360" y="40233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8" name="Icon 18"/>
          <p:cNvPicPr>
            <a:picLocks noChangeAspect="1"/>
          </p:cNvPicPr>
          <p:nvPr/>
        </p:nvPicPr>
        <p:blipFill>
          <a:blip r:embed="rId3"/>
          <a:stretch>
            <a:fillRect/>
          </a:stretch>
        </p:blipFill>
        <p:spPr>
          <a:xfrm>
            <a:off x="6420002" y="4134002"/>
            <a:ext cx="181051" cy="181051"/>
          </a:xfrm>
          <a:prstGeom prst="rect">
            <a:avLst/>
          </a:prstGeom>
        </p:spPr>
      </p:pic>
      <p:sp>
        <p:nvSpPr>
          <p:cNvPr id="19" name="Text 19"/>
          <p:cNvSpPr txBox="1"/>
          <p:nvPr/>
        </p:nvSpPr>
        <p:spPr>
          <a:xfrm>
            <a:off x="6858000" y="3950208"/>
            <a:ext cx="4297680" cy="566928"/>
          </a:xfrm>
          <a:prstGeom prst="rect">
            <a:avLst/>
          </a:prstGeom>
          <a:noFill/>
          <a:ln/>
        </p:spPr>
        <p:txBody>
          <a:bodyPr wrap="square" lIns="0" tIns="0" rIns="0" bIns="0" rtlCol="0" anchor="ctr"/>
          <a:lstStyle/>
          <a:p>
            <a:pPr marL="0" indent="0" algn="l">
              <a:lnSpc>
                <a:spcPct val="108000"/>
              </a:lnSpc>
              <a:buNone/>
            </a:pPr>
            <a:r>
              <a:rPr lang="en-GB" sz="1300" dirty="0">
                <a:solidFill>
                  <a:srgbClr val="5B6890"/>
                </a:solidFill>
                <a:latin typeface="Inter Text" pitchFamily="34" charset="0"/>
                <a:ea typeface="Inter Text" pitchFamily="34" charset="-122"/>
                <a:cs typeface="Inter Text" pitchFamily="34" charset="-120"/>
              </a:rPr>
              <a:t>Commercial rounding (half away from zero) as the default</a:t>
            </a:r>
          </a:p>
        </p:txBody>
      </p:sp>
      <p:sp>
        <p:nvSpPr>
          <p:cNvPr id="20" name="IconCircle 20"/>
          <p:cNvSpPr/>
          <p:nvPr/>
        </p:nvSpPr>
        <p:spPr>
          <a:xfrm>
            <a:off x="6309360" y="489204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21" name="Icon 21"/>
          <p:cNvPicPr>
            <a:picLocks noChangeAspect="1"/>
          </p:cNvPicPr>
          <p:nvPr/>
        </p:nvPicPr>
        <p:blipFill>
          <a:blip r:embed="rId3"/>
          <a:stretch>
            <a:fillRect/>
          </a:stretch>
        </p:blipFill>
        <p:spPr>
          <a:xfrm>
            <a:off x="6420002" y="5002682"/>
            <a:ext cx="181051" cy="181051"/>
          </a:xfrm>
          <a:prstGeom prst="rect">
            <a:avLst/>
          </a:prstGeom>
        </p:spPr>
      </p:pic>
      <p:sp>
        <p:nvSpPr>
          <p:cNvPr id="22" name="Text 22"/>
          <p:cNvSpPr txBox="1"/>
          <p:nvPr/>
        </p:nvSpPr>
        <p:spPr>
          <a:xfrm>
            <a:off x="6858000" y="4818888"/>
            <a:ext cx="4297680" cy="566928"/>
          </a:xfrm>
          <a:prstGeom prst="rect">
            <a:avLst/>
          </a:prstGeom>
          <a:noFill/>
          <a:ln/>
        </p:spPr>
        <p:txBody>
          <a:bodyPr wrap="square" lIns="0" tIns="0" rIns="0" bIns="0" rtlCol="0" anchor="ctr"/>
          <a:lstStyle/>
          <a:p>
            <a:pPr marL="0" indent="0" algn="l">
              <a:lnSpc>
                <a:spcPct val="108000"/>
              </a:lnSpc>
              <a:buNone/>
            </a:pPr>
            <a:r>
              <a:rPr lang="en-GB" sz="1300" dirty="0">
                <a:solidFill>
                  <a:srgbClr val="5B6890"/>
                </a:solidFill>
                <a:latin typeface="Inter Text" pitchFamily="34" charset="0"/>
                <a:ea typeface="Inter Text" pitchFamily="34" charset="-122"/>
                <a:cs typeface="Inter Text" pitchFamily="34" charset="-120"/>
              </a:rPr>
              <a:t>No change to existing rules — instead of rebuilding every single rule</a:t>
            </a:r>
          </a:p>
        </p:txBody>
      </p:sp>
      <p:sp>
        <p:nvSpPr>
          <p:cNvPr id="23" name="Text 23"/>
          <p:cNvSpPr txBox="1"/>
          <p:nvPr/>
        </p:nvSpPr>
        <p:spPr>
          <a:xfrm>
            <a:off x="822960" y="6053328"/>
            <a:ext cx="10515600" cy="274320"/>
          </a:xfrm>
          <a:prstGeom prst="rect">
            <a:avLst/>
          </a:prstGeom>
          <a:noFill/>
          <a:ln/>
        </p:spPr>
        <p:txBody>
          <a:bodyPr wrap="square" lIns="0" tIns="0" rIns="0" bIns="0" rtlCol="0" anchor="ctr"/>
          <a:lstStyle/>
          <a:p>
            <a:pPr marL="0" indent="0" algn="l">
              <a:buNone/>
            </a:pPr>
            <a:r>
              <a:rPr lang="en-GB" sz="1050" dirty="0">
                <a:solidFill>
                  <a:srgbClr val="5B6890"/>
                </a:solidFill>
                <a:latin typeface="Inter Text" pitchFamily="34" charset="0"/>
                <a:ea typeface="Inter Text" pitchFamily="34" charset="-122"/>
                <a:cs typeface="Inter Text" pitchFamily="34" charset="-120"/>
              </a:rPr>
              <a:t>Funded by the European Union (StandICT.eu fellowship)  ·  Proposal: </a:t>
            </a:r>
            <a:r>
              <a:rPr lang="en-GB" sz="1050" u="sng" dirty="0">
                <a:solidFill>
                  <a:srgbClr val="0E7E82"/>
                </a:solidFill>
                <a:latin typeface="Inter Text" pitchFamily="34" charset="0"/>
                <a:ea typeface="Inter Text" pitchFamily="34" charset="-122"/>
                <a:cs typeface="Inter Text" pitchFamily="34" charset="-120"/>
                <a:hlinkClick r:id="rId4"/>
              </a:rPr>
              <a:t>github.com/qt4cg/qtspecs/issues/2935</a:t>
            </a:r>
          </a:p>
        </p:txBody>
      </p:sp>
      <p:sp>
        <p:nvSpPr>
          <p:cNvPr id="24" name="Speaker 24">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MY PROPOSAL 1/2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Round only once (#163)</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Only what is paid gets rounded — nothing else.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Paid amounts — rounded once</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BT-115 Amount due for payment, in the Minor Unit (EUR: cent)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BT-114 Rounding amount carries the one rounding</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BT-113, BT-172, BT-179, BT-183 likewise — they change the amount due</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Everything else, VAT included: as calculated</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Prices, lines, totals, taxable amount and VAT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Cent VAT only via a national CIUS (e.g. UStAE 14.5 (20))</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Rounding to the Minor Unit today stays valid (warning)</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WHAT CHANGES</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6.5.14 applies to the whole chain, not just per rule</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Exact validation (decimal128): equal → valid, within tolerance → warning, otherwise error</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Today's tolerances remain — they now separate warning from error</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No requirement on software: neither a maximum nor a minimum of decimal places</a:t>
            </a:r>
          </a:p>
        </p:txBody>
      </p:sp>
      <p:sp>
        <p:nvSpPr>
          <p:cNvPr id="32" name="Shape 32"/>
          <p:cNvSpPr/>
          <p:nvPr/>
        </p:nvSpPr>
        <p:spPr>
          <a:xfrm>
            <a:off x="6492240" y="5212080"/>
            <a:ext cx="292608" cy="292608"/>
          </a:xfrm>
          <a:prstGeom prst="ellipse">
            <a:avLst/>
          </a:prstGeom>
          <a:solidFill>
            <a:srgbClr val="19C3C8"/>
          </a:solidFill>
          <a:ln>
            <a:noFill/>
          </a:ln>
        </p:spPr>
        <p:txBody>
          <a:bodyPr/>
          <a:lstStyle/>
          <a:p>
            <a:endParaRPr lang="en-GB"/>
          </a:p>
        </p:txBody>
      </p:sp>
      <p:sp>
        <p:nvSpPr>
          <p:cNvPr id="33" name="Text 33"/>
          <p:cNvSpPr txBox="1"/>
          <p:nvPr/>
        </p:nvSpPr>
        <p:spPr>
          <a:xfrm>
            <a:off x="6492240" y="5212080"/>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4" name="Text 34"/>
          <p:cNvSpPr txBox="1"/>
          <p:nvPr/>
        </p:nvSpPr>
        <p:spPr>
          <a:xfrm>
            <a:off x="6949440" y="5148072"/>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Syntax unchanged: amounts in UBL and CII are xsd:decimal</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Status 14 Oct 2026: Update 3 in WG1  ·  </a:t>
            </a:r>
            <a:r>
              <a:rPr lang="en-GB" sz="1100" dirty="0">
                <a:solidFill>
                  <a:srgbClr val="5B6890"/>
                </a:solidFill>
                <a:latin typeface="Inter Text" pitchFamily="34" charset="0"/>
                <a:ea typeface="Inter Text" pitchFamily="34" charset="-122"/>
                <a:cs typeface="Inter Text" pitchFamily="34" charset="-120"/>
              </a:rPr>
              <a:t>warning/error following Cyrille Sautereau's 3rd option · open: DRR with cent lines (FR), backward compatibility</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Folie 28">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CF4905E-37B2-437C-A529-BB0811F32B64}"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25</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177186"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One intermediate rounding:</a:t>
            </a:r>
          </a:p>
        </p:txBody>
      </p:sp>
      <p:sp>
        <p:nvSpPr>
          <p:cNvPr id="9" name="Pill 9"/>
          <p:cNvSpPr/>
          <p:nvPr/>
        </p:nvSpPr>
        <p:spPr>
          <a:xfrm>
            <a:off x="3109874" y="1856232"/>
            <a:ext cx="2368296"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en-GB" sz="1200" dirty="0">
                <a:solidFill>
                  <a:srgbClr val="C25700"/>
                </a:solidFill>
                <a:latin typeface="Inter SemiBold Text SemiBold" pitchFamily="34" charset="0"/>
                <a:ea typeface="Inter SemiBold Text SemiBold" pitchFamily="34" charset="-122"/>
                <a:cs typeface="Inter SemiBold Text SemiBold" pitchFamily="34" charset="-120"/>
              </a:rPr>
              <a:t>BT-131 to 2 decimal places</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unlimited</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1A2B5E"/>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stated exactly</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€0.005</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per line</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€0.50</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 100 lines</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€0.50</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Σ of rounded lines</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€0.10</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€0.50 × 19%</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€0.10</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2017 (Tab. 26): all amounts fixed 2 dp, regardless of the currency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1E8A4C"/>
                </a:solidFill>
                <a:latin typeface="Inter Text" pitchFamily="34" charset="0"/>
                <a:ea typeface="Inter Text" pitchFamily="34" charset="-122"/>
                <a:cs typeface="Inter Text" pitchFamily="34" charset="-120"/>
              </a:rPr>
              <a:t>final value · bank</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€0.60</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€0.50 + €0.10</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2 dp</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Folie 30">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3E2CDAE-2F23-4283-8153-FFAA4570C66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26</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285086"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Two intermediate roundings:</a:t>
            </a:r>
          </a:p>
        </p:txBody>
      </p:sp>
      <p:sp>
        <p:nvSpPr>
          <p:cNvPr id="9" name="Pill 9"/>
          <p:cNvSpPr/>
          <p:nvPr/>
        </p:nvSpPr>
        <p:spPr>
          <a:xfrm>
            <a:off x="3217774" y="1856232"/>
            <a:ext cx="2209190" cy="310896"/>
          </a:xfrm>
          <a:prstGeom prst="roundRect">
            <a:avLst>
              <a:gd name="adj" fmla="val 50000"/>
            </a:avLst>
          </a:prstGeom>
          <a:solidFill>
            <a:srgbClr val="FDECEA"/>
          </a:solidFill>
          <a:ln w="9525">
            <a:solidFill>
              <a:srgbClr val="F5C2BF"/>
            </a:solidFill>
            <a:prstDash val="solid"/>
          </a:ln>
        </p:spPr>
        <p:txBody>
          <a:bodyPr wrap="square" lIns="36576" tIns="36576" rIns="36576" bIns="36576" rtlCol="0" anchor="ctr"/>
          <a:lstStyle/>
          <a:p>
            <a:pPr marL="0" indent="0" algn="ctr">
              <a:buNone/>
            </a:pPr>
            <a:r>
              <a:rPr lang="en-GB" sz="1200" dirty="0">
                <a:solidFill>
                  <a:srgbClr val="C62828"/>
                </a:solidFill>
                <a:latin typeface="Inter SemiBold Text SemiBold" pitchFamily="34" charset="0"/>
                <a:ea typeface="Inter SemiBold Text SemiBold" pitchFamily="34" charset="-122"/>
                <a:cs typeface="Inter SemiBold Text SemiBold" pitchFamily="34" charset="-120"/>
              </a:rPr>
              <a:t>BT-146 to Minor Unit + 2</a:t>
            </a:r>
          </a:p>
        </p:txBody>
      </p:sp>
      <p:sp>
        <p:nvSpPr>
          <p:cNvPr id="10" name="Pill 10"/>
          <p:cNvSpPr/>
          <p:nvPr/>
        </p:nvSpPr>
        <p:spPr>
          <a:xfrm>
            <a:off x="5554980" y="1856232"/>
            <a:ext cx="2209190"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en-GB" sz="1200" dirty="0">
                <a:solidFill>
                  <a:srgbClr val="C25700"/>
                </a:solidFill>
                <a:latin typeface="Inter SemiBold Text SemiBold" pitchFamily="34" charset="0"/>
                <a:ea typeface="Inter SemiBold Text SemiBold" pitchFamily="34" charset="-122"/>
                <a:cs typeface="Inter SemiBold Text SemiBold" pitchFamily="34" charset="-120"/>
              </a:rPr>
              <a:t>BT-131 to the Minor Unit</a:t>
            </a:r>
          </a:p>
        </p:txBody>
      </p:sp>
      <p:sp>
        <p:nvSpPr>
          <p:cNvPr id="11" name="Frame 11"/>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2" name="Text 12"/>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3" name="Frame 13"/>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4" name="Text 14"/>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5" name="Card 15"/>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Pill 16"/>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7" name="Text 17"/>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8" name="Text 18"/>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9" name="Pill 19"/>
          <p:cNvSpPr/>
          <p:nvPr/>
        </p:nvSpPr>
        <p:spPr>
          <a:xfrm>
            <a:off x="4773168" y="250393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000" dirty="0">
                <a:solidFill>
                  <a:srgbClr val="C0392B"/>
                </a:solidFill>
                <a:latin typeface="Inter SemiBold Text SemiBold" pitchFamily="34" charset="0"/>
                <a:ea typeface="Inter SemiBold Text SemiBold" pitchFamily="34" charset="-122"/>
                <a:cs typeface="Inter SemiBold Text SemiBold" pitchFamily="34" charset="-120"/>
              </a:rPr>
              <a:t>Minor Unit + 2</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0" name="Text 20"/>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€0.00005</a:t>
            </a:r>
          </a:p>
        </p:txBody>
      </p:sp>
      <p:sp>
        <p:nvSpPr>
          <p:cNvPr id="21" name="Text 21"/>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price rounded once</a:t>
            </a:r>
          </a:p>
        </p:txBody>
      </p:sp>
      <p:cxnSp>
        <p:nvCxnSpPr>
          <p:cNvPr id="22" name="Connector 22"/>
          <p:cNvCxnSpPr/>
          <p:nvPr/>
        </p:nvCxnSpPr>
        <p:spPr>
          <a:xfrm>
            <a:off x="1303020" y="2907792"/>
            <a:ext cx="0" cy="36576"/>
          </a:xfrm>
          <a:prstGeom prst="line">
            <a:avLst/>
          </a:prstGeom>
          <a:ln w="15875">
            <a:solidFill>
              <a:srgbClr val="9AA4C2"/>
            </a:solidFill>
          </a:ln>
        </p:spPr>
      </p:cxnSp>
      <p:sp>
        <p:nvSpPr>
          <p:cNvPr id="23" name="Card 23"/>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4" name="Pill 24"/>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5" name="Text 25"/>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6" name="Text 26"/>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7" name="Pill 27"/>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8" name="Text 28"/>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€0.01</a:t>
            </a:r>
          </a:p>
        </p:txBody>
      </p:sp>
      <p:sp>
        <p:nvSpPr>
          <p:cNvPr id="29" name="Text 29"/>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€0.005 + 100 × €0.00005</a:t>
            </a:r>
          </a:p>
        </p:txBody>
      </p:sp>
      <p:cxnSp>
        <p:nvCxnSpPr>
          <p:cNvPr id="30" name="Connector 30"/>
          <p:cNvCxnSpPr/>
          <p:nvPr/>
        </p:nvCxnSpPr>
        <p:spPr>
          <a:xfrm>
            <a:off x="1303020" y="3401568"/>
            <a:ext cx="0" cy="36576"/>
          </a:xfrm>
          <a:prstGeom prst="line">
            <a:avLst/>
          </a:prstGeom>
          <a:ln w="15875">
            <a:solidFill>
              <a:srgbClr val="9AA4C2"/>
            </a:solidFill>
          </a:ln>
        </p:spPr>
      </p:cxnSp>
      <p:sp>
        <p:nvSpPr>
          <p:cNvPr id="31" name="Card 31"/>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2" name="Pill 32"/>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3" name="Text 33"/>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4" name="Text 34"/>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5" name="Pill 35"/>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36" name="Text 36"/>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€1.00</a:t>
            </a:r>
          </a:p>
        </p:txBody>
      </p:sp>
      <p:sp>
        <p:nvSpPr>
          <p:cNvPr id="37" name="Text 37"/>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 100 lines</a:t>
            </a:r>
          </a:p>
        </p:txBody>
      </p:sp>
      <p:sp>
        <p:nvSpPr>
          <p:cNvPr id="38" name="Card 38"/>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9" name="Pill 39"/>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40" name="Text 40"/>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1" name="Text 41"/>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2" name="Pill 42"/>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43" name="Text 43"/>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€1.00</a:t>
            </a:r>
          </a:p>
        </p:txBody>
      </p:sp>
      <p:sp>
        <p:nvSpPr>
          <p:cNvPr id="44" name="Text 44"/>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Σ of rounded lines</a:t>
            </a:r>
          </a:p>
        </p:txBody>
      </p:sp>
      <p:cxnSp>
        <p:nvCxnSpPr>
          <p:cNvPr id="45" name="Connector 45"/>
          <p:cNvCxnSpPr/>
          <p:nvPr/>
        </p:nvCxnSpPr>
        <p:spPr>
          <a:xfrm>
            <a:off x="1303020" y="4690872"/>
            <a:ext cx="0" cy="36576"/>
          </a:xfrm>
          <a:prstGeom prst="line">
            <a:avLst/>
          </a:prstGeom>
          <a:ln w="15875">
            <a:solidFill>
              <a:srgbClr val="9AA4C2"/>
            </a:solidFill>
          </a:ln>
        </p:spPr>
      </p:cxnSp>
      <p:sp>
        <p:nvSpPr>
          <p:cNvPr id="46" name="Card 46"/>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7" name="Pill 47"/>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8" name="Text 48"/>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9" name="Text 49"/>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50" name="Pill 50"/>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51" name="Text 51"/>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€0.19</a:t>
            </a:r>
          </a:p>
        </p:txBody>
      </p:sp>
      <p:sp>
        <p:nvSpPr>
          <p:cNvPr id="52" name="Text 52"/>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€1.00 × 19%</a:t>
            </a:r>
          </a:p>
        </p:txBody>
      </p:sp>
      <p:cxnSp>
        <p:nvCxnSpPr>
          <p:cNvPr id="53" name="Connector 53"/>
          <p:cNvCxnSpPr/>
          <p:nvPr/>
        </p:nvCxnSpPr>
        <p:spPr>
          <a:xfrm>
            <a:off x="1303020" y="5184648"/>
            <a:ext cx="0" cy="36576"/>
          </a:xfrm>
          <a:prstGeom prst="line">
            <a:avLst/>
          </a:prstGeom>
          <a:ln w="15875">
            <a:solidFill>
              <a:srgbClr val="9AA4C2"/>
            </a:solidFill>
          </a:ln>
        </p:spPr>
      </p:cxnSp>
      <p:sp>
        <p:nvSpPr>
          <p:cNvPr id="54" name="Card 54"/>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5" name="Pill 55"/>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6" name="Text 56"/>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7" name="Text 57"/>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8" name="Pill 58"/>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59" name="Text 59"/>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€0.19</a:t>
            </a:r>
          </a:p>
        </p:txBody>
      </p:sp>
      <p:sp>
        <p:nvSpPr>
          <p:cNvPr id="60" name="Panel 60"/>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1" name="Text 61"/>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80" name="Panel 80"/>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1" name="Text 81"/>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2" name="Text 82"/>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3" name="Text 83"/>
          <p:cNvSpPr txBox="1"/>
          <p:nvPr/>
        </p:nvSpPr>
        <p:spPr>
          <a:xfrm>
            <a:off x="9994392" y="435254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4" name="Text 84"/>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5" name="Text 85"/>
          <p:cNvSpPr txBox="1"/>
          <p:nvPr/>
        </p:nvSpPr>
        <p:spPr>
          <a:xfrm>
            <a:off x="9994392" y="462686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6" name="Text 86"/>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7" name="Text 87"/>
          <p:cNvSpPr txBox="1"/>
          <p:nvPr/>
        </p:nvSpPr>
        <p:spPr>
          <a:xfrm>
            <a:off x="9994392" y="490118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8" name="Text 88"/>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9" name="Text 89"/>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Minor Unit = smallest currency unit, ISO 4217 (EUR: 2 dp)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90" name="Card 90"/>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1" name="Pill 91"/>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2" name="Text 92"/>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3" name="Text 93"/>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4" name="Pill 94"/>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1E8A4C"/>
                </a:solidFill>
                <a:latin typeface="Inter Text" pitchFamily="34" charset="0"/>
                <a:ea typeface="Inter Text" pitchFamily="34" charset="-122"/>
                <a:cs typeface="Inter Text" pitchFamily="34" charset="-120"/>
              </a:rPr>
              <a:t>final value · bank</a:t>
            </a:r>
          </a:p>
        </p:txBody>
      </p:sp>
      <p:sp>
        <p:nvSpPr>
          <p:cNvPr id="95" name="Text 95"/>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€1.19</a:t>
            </a:r>
          </a:p>
        </p:txBody>
      </p:sp>
      <p:sp>
        <p:nvSpPr>
          <p:cNvPr id="96" name="Text 96"/>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€1.00 + €0.19</a:t>
            </a:r>
          </a:p>
        </p:txBody>
      </p:sp>
      <p:cxnSp>
        <p:nvCxnSpPr>
          <p:cNvPr id="97" name="Connector 97"/>
          <p:cNvCxnSpPr/>
          <p:nvPr/>
        </p:nvCxnSpPr>
        <p:spPr>
          <a:xfrm>
            <a:off x="1303020" y="5678424"/>
            <a:ext cx="0" cy="36576"/>
          </a:xfrm>
          <a:prstGeom prst="line">
            <a:avLst/>
          </a:prstGeom>
          <a:ln w="15875">
            <a:solidFill>
              <a:srgbClr val="9AA4C2"/>
            </a:solidFill>
          </a:ln>
        </p:spPr>
      </p:cxnSp>
      <p:sp>
        <p:nvSpPr>
          <p:cNvPr id="98" name="Text 98"/>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9" name="Text 99"/>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100" name="Reuse 100"/>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1" name="Reuse 101"/>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3" name="Reuse 103"/>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4" name="Reuse 104"/>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5" name="Reuse 105"/>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6" name="Text 106"/>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7" name="Text 107"/>
          <p:cNvSpPr txBox="1"/>
          <p:nvPr/>
        </p:nvSpPr>
        <p:spPr>
          <a:xfrm>
            <a:off x="9994392" y="2542032"/>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08" name="Text 108"/>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9" name="Text 109"/>
          <p:cNvSpPr txBox="1"/>
          <p:nvPr/>
        </p:nvSpPr>
        <p:spPr>
          <a:xfrm>
            <a:off x="9994392" y="2655875"/>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10" name="Text 110"/>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1" name="Text 111"/>
          <p:cNvSpPr txBox="1"/>
          <p:nvPr/>
        </p:nvSpPr>
        <p:spPr>
          <a:xfrm>
            <a:off x="9994392" y="2769718"/>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 + 2</a:t>
            </a:r>
          </a:p>
        </p:txBody>
      </p:sp>
      <p:sp>
        <p:nvSpPr>
          <p:cNvPr id="112" name="Text 112"/>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3" name="Text 113"/>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4 dp</a:t>
            </a:r>
          </a:p>
        </p:txBody>
      </p:sp>
      <p:sp>
        <p:nvSpPr>
          <p:cNvPr id="114" name="Text 114"/>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5" name="Text 115"/>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6" name="Text 116"/>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7" name="Text 117"/>
          <p:cNvSpPr txBox="1"/>
          <p:nvPr/>
        </p:nvSpPr>
        <p:spPr>
          <a:xfrm>
            <a:off x="9994392" y="3111246"/>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18" name="Text 118"/>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9" name="Text 119"/>
          <p:cNvSpPr txBox="1"/>
          <p:nvPr/>
        </p:nvSpPr>
        <p:spPr>
          <a:xfrm>
            <a:off x="9994392" y="3225089"/>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0" name="Text 120"/>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1" name="Text 121"/>
          <p:cNvSpPr txBox="1"/>
          <p:nvPr/>
        </p:nvSpPr>
        <p:spPr>
          <a:xfrm>
            <a:off x="9994392" y="3338932"/>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2" name="Text 122"/>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3" name="Text 123"/>
          <p:cNvSpPr txBox="1"/>
          <p:nvPr/>
        </p:nvSpPr>
        <p:spPr>
          <a:xfrm>
            <a:off x="9994392" y="3452774"/>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4" name="Text 124"/>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5" name="Text 125"/>
          <p:cNvSpPr txBox="1"/>
          <p:nvPr/>
        </p:nvSpPr>
        <p:spPr>
          <a:xfrm>
            <a:off x="9994392" y="3566617"/>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6" name="Text 126"/>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7" name="Text 127"/>
          <p:cNvSpPr txBox="1"/>
          <p:nvPr/>
        </p:nvSpPr>
        <p:spPr>
          <a:xfrm>
            <a:off x="9994392" y="3680460"/>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8" name="Text 128"/>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9" name="Text 129"/>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2 dp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PROPOSED EN 16931-1:2026 AMENDMENT (#163)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4055174-2971-41F0-AAA2-FCF21F98D99D}"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27</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ill 8"/>
          <p:cNvSpPr/>
          <p:nvPr/>
        </p:nvSpPr>
        <p:spPr>
          <a:xfrm>
            <a:off x="822960" y="1856232"/>
            <a:ext cx="2291486"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200" dirty="0">
                <a:solidFill>
                  <a:srgbClr val="1E8A4C"/>
                </a:solidFill>
                <a:latin typeface="Inter SemiBold Text SemiBold" pitchFamily="34" charset="0"/>
                <a:ea typeface="Inter SemiBold Text SemiBold" pitchFamily="34" charset="-122"/>
                <a:cs typeface="Inter SemiBold Text SemiBold" pitchFamily="34" charset="-120"/>
              </a:rPr>
              <a:t>No intermediate rounding</a:t>
            </a:r>
          </a:p>
        </p:txBody>
      </p:sp>
      <p:sp>
        <p:nvSpPr>
          <p:cNvPr id="9" name="Text 9"/>
          <p:cNvSpPr txBox="1"/>
          <p:nvPr/>
        </p:nvSpPr>
        <p:spPr>
          <a:xfrm>
            <a:off x="3242462" y="1847088"/>
            <a:ext cx="7273138"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 only BT-115 Amount due for payment is rounded; BT-114 Rounding amount shows it.</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as agreed</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 sum</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Minor Unit only via CIUS → warning</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Minor Unit = smallest currency unit, ISO 4217 (EUR: 2 dp)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1E8A4C"/>
                </a:solidFill>
                <a:latin typeface="Inter Text" pitchFamily="34" charset="0"/>
                <a:ea typeface="Inter Text" pitchFamily="34" charset="-122"/>
                <a:cs typeface="Inter Text" pitchFamily="34" charset="-120"/>
              </a:rPr>
              <a:t>rounded once</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BT-114 shows the rounding</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2 dp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Folie 29">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FF8C59E-DB43-45C8-AAB1-F463E6DDD355}"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28</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One factor: the number of lines n — each line rounds </a:t>
            </a:r>
            <a:r>
              <a:rPr lang="en-GB" sz="13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300" dirty="0">
                <a:solidFill>
                  <a:srgbClr val="EF6C00"/>
                </a:solidFill>
                <a:latin typeface="Inter Text" pitchFamily="34" charset="0"/>
                <a:ea typeface="Inter Text" pitchFamily="34" charset="-122"/>
                <a:cs typeface="Inter Text" pitchFamily="34" charset="-120"/>
              </a:rPr>
              <a:t> Invoice line net amount</a:t>
            </a:r>
            <a:r>
              <a:rPr lang="en-GB" sz="1300" dirty="0">
                <a:solidFill>
                  <a:srgbClr val="5B6890"/>
                </a:solidFill>
                <a:latin typeface="Inter Text" pitchFamily="34" charset="0"/>
                <a:ea typeface="Inter Text" pitchFamily="34" charset="-122"/>
                <a:cs typeface="Inter Text" pitchFamily="34" charset="-120"/>
              </a:rPr>
              <a:t> and loses up to ± €0.005.</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is unlimited in 2017 — the price is not rounded, so the quantity magnifies no error.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dirty="0">
                <a:solidFill>
                  <a:srgbClr val="5B6890"/>
                </a:solidFill>
                <a:latin typeface="Inter Text" pitchFamily="34" charset="0"/>
                <a:ea typeface="Inter Text" pitchFamily="34" charset="-122"/>
                <a:cs typeface="Inter Text" pitchFamily="34" charset="-120"/>
              </a:rPr>
              <a:t>Each line rounds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to</a:t>
            </a:r>
            <a:r>
              <a:rPr lang="en-GB" sz="1050" dirty="0">
                <a:solidFill>
                  <a:srgbClr val="5B6890"/>
                </a:solidFill>
                <a:latin typeface="Inter Text" pitchFamily="34" charset="0"/>
                <a:ea typeface="Inter Text" pitchFamily="34" charset="-122"/>
                <a:cs typeface="Inter Text" pitchFamily="34" charset="-120"/>
              </a:rPr>
              <a:t> 2 decimal places: up to ± €0.005. </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1050" dirty="0">
                <a:solidFill>
                  <a:srgbClr val="C79100"/>
                </a:solidFill>
                <a:latin typeface="Inter Text" pitchFamily="34" charset="0"/>
                <a:ea typeface="Inter Text" pitchFamily="34" charset="-122"/>
                <a:cs typeface="Inter Text" pitchFamily="34" charset="-120"/>
              </a:rPr>
              <a:t> Sum of invoice</a:t>
            </a:r>
            <a:r>
              <a:rPr lang="en-GB" sz="1050" dirty="0">
                <a:solidFill>
                  <a:srgbClr val="C79100"/>
                </a:solidFill>
                <a:latin typeface="Inter Text" pitchFamily="34" charset="0"/>
                <a:ea typeface="Inter Text" pitchFamily="34" charset="-122"/>
                <a:cs typeface="Inter Text" pitchFamily="34" charset="-120"/>
              </a:rPr>
              <a:t> line net amount</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 all n</a:t>
            </a:r>
            <a:r>
              <a:rPr lang="en-GB" sz="1050" dirty="0">
                <a:solidFill>
                  <a:srgbClr val="5B6890"/>
                </a:solidFill>
                <a:latin typeface="Inter Text" pitchFamily="34" charset="0"/>
                <a:ea typeface="Inter Text" pitchFamily="34" charset="-122"/>
                <a:cs typeface="Inter Text" pitchFamily="34" charset="-120"/>
              </a:rPr>
              <a:t> lines — and with them the errors of all lines.</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en-GB" sz="1150" b="1" dirty="0">
                <a:solidFill>
                  <a:srgbClr val="C0392B"/>
                </a:solidFill>
                <a:latin typeface="Consolas" pitchFamily="34" charset="0"/>
                <a:ea typeface="Consolas" pitchFamily="34" charset="-122"/>
                <a:cs typeface="Consolas" pitchFamily="34" charset="-120"/>
              </a:rPr>
              <a:t>± n × €0.005</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800" b="1" dirty="0">
                <a:solidFill>
                  <a:srgbClr val="FFFFFF"/>
                </a:solidFill>
                <a:latin typeface="Consolas" pitchFamily="34" charset="0"/>
                <a:ea typeface="Consolas" pitchFamily="34" charset="-122"/>
                <a:cs typeface="Consolas" pitchFamily="34" charset="-120"/>
              </a:rPr>
              <a:t>n × €0.005</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VAT: 19% of that. Open-ended — the more lines, the larger the deviation.</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€0.50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€0.10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E655C58-AB39-491B-9C9F-468B34428247}"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29</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Two factors: first the quantity Q × rounded </a:t>
            </a:r>
            <a:r>
              <a:rPr lang="en-GB" sz="13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300" dirty="0">
                <a:solidFill>
                  <a:srgbClr val="D32F2F"/>
                </a:solidFill>
                <a:latin typeface="Inter Text" pitchFamily="34" charset="0"/>
                <a:ea typeface="Inter Text" pitchFamily="34" charset="-122"/>
                <a:cs typeface="Inter Text" pitchFamily="34" charset="-120"/>
              </a:rPr>
              <a:t> Item net price</a:t>
            </a:r>
            <a:r>
              <a:rPr lang="en-GB" sz="1300" dirty="0">
                <a:solidFill>
                  <a:srgbClr val="5B6890"/>
                </a:solidFill>
                <a:latin typeface="Inter Text" pitchFamily="34" charset="0"/>
                <a:ea typeface="Inter Text" pitchFamily="34" charset="-122"/>
                <a:cs typeface="Inter Text" pitchFamily="34" charset="-120"/>
              </a:rPr>
              <a:t>, then the number of lines n — open-ended.</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is “squeezed” once into Minor Unit + 2 (EUR: 4 dp): up to ± €0.00005.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multiplies this one error by </a:t>
            </a: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1050" dirty="0">
                <a:solidFill>
                  <a:srgbClr val="5B6890"/>
                </a:solidFill>
                <a:latin typeface="Inter Text" pitchFamily="34" charset="0"/>
                <a:ea typeface="Inter Text" pitchFamily="34" charset="-122"/>
                <a:cs typeface="Inter Text" pitchFamily="34" charset="-120"/>
              </a:rPr>
              <a:t> Invoiced quantity. #148: €0.123449 → €0.1234; with 10,000 units €0.49 is missing.</a:t>
            </a:r>
          </a:p>
        </p:txBody>
      </p:sp>
      <p:sp>
        <p:nvSpPr>
          <p:cNvPr id="14" name="Pill 14"/>
          <p:cNvSpPr/>
          <p:nvPr/>
        </p:nvSpPr>
        <p:spPr>
          <a:xfrm>
            <a:off x="1097280"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en-GB" sz="1150" b="1" dirty="0">
                <a:solidFill>
                  <a:srgbClr val="C0392B"/>
                </a:solidFill>
                <a:latin typeface="Consolas" pitchFamily="34" charset="0"/>
                <a:ea typeface="Consolas" pitchFamily="34" charset="-122"/>
                <a:cs typeface="Consolas" pitchFamily="34" charset="-120"/>
              </a:rPr>
              <a:t>± Q × €0.00005 per line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dirty="0">
                <a:solidFill>
                  <a:srgbClr val="5B6890"/>
                </a:solidFill>
                <a:latin typeface="Inter Text" pitchFamily="34" charset="0"/>
                <a:ea typeface="Inter Text" pitchFamily="34" charset="-122"/>
                <a:cs typeface="Inter Text" pitchFamily="34" charset="-120"/>
              </a:rPr>
              <a:t>Each line rounds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additionally to the</a:t>
            </a:r>
            <a:r>
              <a:rPr lang="en-GB" sz="1050" dirty="0">
                <a:solidFill>
                  <a:srgbClr val="5B6890"/>
                </a:solidFill>
                <a:latin typeface="Inter Text" pitchFamily="34" charset="0"/>
                <a:ea typeface="Inter Text" pitchFamily="34" charset="-122"/>
                <a:cs typeface="Inter Text" pitchFamily="34" charset="-120"/>
              </a:rPr>
              <a:t> Minor Unit: up to ± €0.005. </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1050" dirty="0">
                <a:solidFill>
                  <a:srgbClr val="C79100"/>
                </a:solidFill>
                <a:latin typeface="Inter Text" pitchFamily="34" charset="0"/>
                <a:ea typeface="Inter Text" pitchFamily="34" charset="-122"/>
                <a:cs typeface="Inter Text" pitchFamily="34" charset="-120"/>
              </a:rPr>
              <a:t> Sum of invoice line net amount</a:t>
            </a:r>
            <a:r>
              <a:rPr lang="en-GB" sz="1050" dirty="0">
                <a:solidFill>
                  <a:srgbClr val="5B6890"/>
                </a:solidFill>
                <a:latin typeface="Inter Text" pitchFamily="34" charset="0"/>
                <a:ea typeface="Inter Text" pitchFamily="34" charset="-122"/>
                <a:cs typeface="Inter Text" pitchFamily="34" charset="-120"/>
              </a:rPr>
              <a:t> and</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 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 all n lines — and with them the</a:t>
            </a:r>
            <a:r>
              <a:rPr lang="en-GB" sz="1050" dirty="0">
                <a:solidFill>
                  <a:srgbClr val="5B6890"/>
                </a:solidFill>
                <a:latin typeface="Inter Text" pitchFamily="34" charset="0"/>
                <a:ea typeface="Inter Text" pitchFamily="34" charset="-122"/>
                <a:cs typeface="Inter Text" pitchFamily="34" charset="-120"/>
              </a:rPr>
              <a:t> errors of all lines.</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algn="ctr"/>
            <a:r>
              <a:rPr lang="en-GB" sz="1150" b="1" dirty="0">
                <a:solidFill>
                  <a:srgbClr val="C0392B"/>
                </a:solidFill>
                <a:latin typeface="Consolas" pitchFamily="34" charset="0"/>
                <a:ea typeface="Consolas" pitchFamily="34" charset="-122"/>
                <a:cs typeface="Consolas" pitchFamily="34" charset="-120"/>
              </a:rPr>
              <a:t>± </a:t>
            </a:r>
            <a:r>
              <a:rPr lang="en-GB" sz="1150" b="1" dirty="0" err="1">
                <a:solidFill>
                  <a:srgbClr val="C0392B"/>
                </a:solidFill>
                <a:latin typeface="Consolas" pitchFamily="34" charset="0"/>
                <a:ea typeface="Consolas" pitchFamily="34" charset="-122"/>
                <a:cs typeface="Consolas" pitchFamily="34" charset="-120"/>
              </a:rPr>
              <a:t>n</a:t>
            </a:r>
            <a:r>
              <a:rPr lang="en-GB" sz="1150" b="1" dirty="0">
                <a:solidFill>
                  <a:srgbClr val="C0392B"/>
                </a:solidFill>
                <a:latin typeface="Consolas" pitchFamily="34" charset="0"/>
                <a:ea typeface="Consolas" pitchFamily="34" charset="-122"/>
                <a:cs typeface="Consolas" pitchFamily="34" charset="-120"/>
              </a:rPr>
              <a:t> × €0.005</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€0.005</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€0.50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€0.505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€50.00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C0392B"/>
                          </a:solidFill>
                          <a:latin typeface="Consolas" pitchFamily="34" charset="0"/>
                          <a:ea typeface="Consolas" pitchFamily="34" charset="-122"/>
                          <a:cs typeface="Consolas" pitchFamily="34" charset="-120"/>
                        </a:rPr>
                        <a:t>= ± €50.005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€1.00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€100.00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300" b="1" dirty="0">
                <a:solidFill>
                  <a:srgbClr val="FFFFFF"/>
                </a:solidFill>
                <a:latin typeface="Consolas" pitchFamily="34" charset="0"/>
                <a:ea typeface="Consolas" pitchFamily="34" charset="-122"/>
                <a:cs typeface="Consolas" pitchFamily="34" charset="-120"/>
              </a:rPr>
              <a:t>n × (Q × €0.00005 + €0.005)</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VAT: 19% of that. Open-ended — more lines or larger quantities, more deviation.</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€50.50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€9.60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 Likewise: BT-129 Invoiced quantity only 4 dp — up to ± 0.00005 × price per line for expensive items.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Folie 3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PROPOSED AMENDMENT (#163)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B4244B92-B2BD-4779-B150-313396024C5D}"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30</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No factor: without intermediate rounding it stays at ± 0 — for any quantity and any number of lines.</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stay exact — the quantity magnifies no error.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stays exact — it does not matter how many lines</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 BT-106</a:t>
            </a:r>
            <a:r>
              <a:rPr lang="en-GB" sz="1050" dirty="0">
                <a:solidFill>
                  <a:srgbClr val="C79100"/>
                </a:solidFill>
                <a:latin typeface="Inter Text" pitchFamily="34" charset="0"/>
                <a:ea typeface="Inter Text" pitchFamily="34" charset="-122"/>
                <a:cs typeface="Inter Text" pitchFamily="34" charset="-120"/>
              </a:rPr>
              <a:t> Sum of invoice line net amount</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a:t>
            </a:r>
          </a:p>
        </p:txBody>
      </p:sp>
      <p:sp>
        <p:nvSpPr>
          <p:cNvPr id="20" name="Pill 20"/>
          <p:cNvSpPr/>
          <p:nvPr/>
        </p:nvSpPr>
        <p:spPr>
          <a:xfrm>
            <a:off x="6473952"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800" b="1" dirty="0">
                <a:solidFill>
                  <a:srgbClr val="FFFFFF"/>
                </a:solidFill>
                <a:latin typeface="Consolas" pitchFamily="34" charset="0"/>
                <a:ea typeface="Consolas" pitchFamily="34" charset="-122"/>
                <a:cs typeface="Consolas" pitchFamily="34" charset="-120"/>
              </a:rPr>
              <a:t>± 0</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Only BT-115 Amount due for payment is rounded once; BT-114 Rounding amount shows it.</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MY PROPOSAL 2/2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Gross prices for the EN core (#164)</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If the price is fixed including VAT, it should lead the invoice.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31</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Step</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Net model (today)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Gross model (new)</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Price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BT-146 Item net price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BT-146V Item net price plus 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BT-131 = price × quantity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BT-131V = price plus VAT × quantity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Per category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 = Σ BT-131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BT-116V = Σ BT-131V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BT-117 = BT-116 × rate</a:t>
                      </a:r>
                      <a:r>
                        <a:rPr lang="en-GB" sz="1000" dirty="0">
                          <a:solidFill>
                            <a:srgbClr val="9AA4C2"/>
                          </a:solidFill>
                          <a:latin typeface="Inter Text" pitchFamily="34" charset="0"/>
                          <a:ea typeface="Inter Text" pitchFamily="34" charset="-122"/>
                          <a:cs typeface="Inter Text" pitchFamily="34" charset="-120"/>
                        </a:rPr>
                        <a:t>  added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BT-117 = BT-116V × rate ÷ (100 + rate)</a:t>
                      </a:r>
                      <a:r>
                        <a:rPr lang="en-GB" sz="1000" dirty="0">
                          <a:solidFill>
                            <a:srgbClr val="0E7E82"/>
                          </a:solidFill>
                          <a:latin typeface="Inter SemiBold Text SemiBold" pitchFamily="34" charset="0"/>
                          <a:ea typeface="Inter SemiBold Text SemiBold" pitchFamily="34" charset="-122"/>
                          <a:cs typeface="Inter SemiBold Text SemiBold" pitchFamily="34" charset="-120"/>
                        </a:rPr>
                        <a:t>  extracted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Net per category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(given)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 = BT-116V − BT-117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en-GB" sz="1100" dirty="0">
                <a:solidFill>
                  <a:srgbClr val="5B6890"/>
                </a:solidFill>
                <a:latin typeface="Inter Text" pitchFamily="34" charset="0"/>
                <a:ea typeface="Inter Text" pitchFamily="34" charset="-122"/>
                <a:cs typeface="Inter Text" pitchFamily="34" charset="-120"/>
              </a:rPr>
              <a:t>The model is selected via BT-146V on each line — no indicator needed. BT-146 remains mandatory (Art. 226(8) VAT Directive), in the gross model for information only. Not for categories N, D, F, I, J.</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EXAMPLE: FIXED BOOK PRICES</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en-GB" sz="1300" dirty="0">
                <a:solidFill>
                  <a:srgbClr val="FFFFFF"/>
                </a:solidFill>
                <a:latin typeface="Inter SemiBold Text SemiBold" pitchFamily="34" charset="0"/>
                <a:ea typeface="Inter SemiBold Text SemiBold" pitchFamily="34" charset="-122"/>
                <a:cs typeface="Inter SemiBold Text SemiBold" pitchFamily="34" charset="-120"/>
              </a:rPr>
              <a:t>1,000 books at €24.95 incl. 7% VAT</a:t>
            </a:r>
          </a:p>
        </p:txBody>
      </p:sp>
      <p:sp>
        <p:nvSpPr>
          <p:cNvPr id="13" name="Text 13"/>
          <p:cNvSpPr txBox="1"/>
          <p:nvPr/>
        </p:nvSpPr>
        <p:spPr>
          <a:xfrm>
            <a:off x="7909560" y="3291840"/>
            <a:ext cx="1143000" cy="274320"/>
          </a:xfrm>
          <a:prstGeom prst="rect">
            <a:avLst/>
          </a:prstGeom>
          <a:noFill/>
          <a:ln/>
        </p:spPr>
        <p:txBody>
          <a:bodyPr wrap="square" lIns="0" tIns="0" rIns="0" bIns="0" rtlCol="0" anchor="ctr"/>
          <a:lstStyle/>
          <a:p>
            <a:pPr marL="0" indent="0" algn="l">
              <a:buNone/>
            </a:pPr>
            <a:endParaRPr/>
          </a:p>
        </p:txBody>
      </p:sp>
      <p:sp>
        <p:nvSpPr>
          <p:cNvPr id="14" name="Text 14"/>
          <p:cNvSpPr txBox="1"/>
          <p:nvPr/>
        </p:nvSpPr>
        <p:spPr>
          <a:xfrm>
            <a:off x="9052560" y="3291840"/>
            <a:ext cx="1143000" cy="274320"/>
          </a:xfrm>
          <a:prstGeom prst="rect">
            <a:avLst/>
          </a:prstGeom>
          <a:noFill/>
          <a:ln/>
        </p:spPr>
        <p:txBody>
          <a:bodyPr wrap="square" lIns="0" tIns="0" rIns="0" bIns="0" rtlCol="0" anchor="ctr"/>
          <a:lstStyle/>
          <a:p>
            <a:pPr marL="0" indent="0" algn="r">
              <a:buNone/>
            </a:pPr>
            <a:r>
              <a:rPr lang="en-GB" sz="1000" dirty="0">
                <a:solidFill>
                  <a:srgbClr val="9AA4C2"/>
                </a:solidFill>
                <a:latin typeface="Inter SemiBold Text SemiBold" pitchFamily="34" charset="0"/>
                <a:ea typeface="Inter SemiBold Text SemiBold" pitchFamily="34" charset="-122"/>
                <a:cs typeface="Inter SemiBold Text SemiBold" pitchFamily="34" charset="-120"/>
              </a:rPr>
              <a:t>Total</a:t>
            </a:r>
          </a:p>
        </p:txBody>
      </p:sp>
      <p:sp>
        <p:nvSpPr>
          <p:cNvPr id="15" name="Text 15"/>
          <p:cNvSpPr txBox="1"/>
          <p:nvPr/>
        </p:nvSpPr>
        <p:spPr>
          <a:xfrm>
            <a:off x="10195560" y="3291840"/>
            <a:ext cx="914400" cy="274320"/>
          </a:xfrm>
          <a:prstGeom prst="rect">
            <a:avLst/>
          </a:prstGeom>
          <a:noFill/>
          <a:ln/>
        </p:spPr>
        <p:txBody>
          <a:bodyPr wrap="square" lIns="0" tIns="0" rIns="0" bIns="0" rtlCol="0" anchor="ctr"/>
          <a:lstStyle/>
          <a:p>
            <a:pPr marL="0" indent="0" algn="r">
              <a:buNone/>
            </a:pPr>
            <a:r>
              <a:rPr lang="en-GB" sz="1000" dirty="0">
                <a:solidFill>
                  <a:srgbClr val="9AA4C2"/>
                </a:solidFill>
                <a:latin typeface="Inter SemiBold Text SemiBold" pitchFamily="34" charset="0"/>
                <a:ea typeface="Inter SemiBold Text SemiBold" pitchFamily="34" charset="-122"/>
                <a:cs typeface="Inter SemiBold Text SemiBold" pitchFamily="34" charset="-120"/>
              </a:rPr>
              <a:t>VAT</a:t>
            </a:r>
          </a:p>
        </p:txBody>
      </p:sp>
      <p:sp>
        <p:nvSpPr>
          <p:cNvPr id="16" name="Text 16"/>
          <p:cNvSpPr txBox="1"/>
          <p:nvPr/>
        </p:nvSpPr>
        <p:spPr>
          <a:xfrm>
            <a:off x="7909560" y="3611880"/>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Target</a:t>
            </a:r>
          </a:p>
        </p:txBody>
      </p:sp>
      <p:sp>
        <p:nvSpPr>
          <p:cNvPr id="17" name="Text 17"/>
          <p:cNvSpPr txBox="1"/>
          <p:nvPr/>
        </p:nvSpPr>
        <p:spPr>
          <a:xfrm>
            <a:off x="9052560" y="3611880"/>
            <a:ext cx="11430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24,950.00</a:t>
            </a:r>
          </a:p>
        </p:txBody>
      </p:sp>
      <p:sp>
        <p:nvSpPr>
          <p:cNvPr id="18" name="Text 18"/>
          <p:cNvSpPr txBox="1"/>
          <p:nvPr/>
        </p:nvSpPr>
        <p:spPr>
          <a:xfrm>
            <a:off x="10195560" y="3611880"/>
            <a:ext cx="9144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1,632.24</a:t>
            </a:r>
          </a:p>
        </p:txBody>
      </p:sp>
      <p:sp>
        <p:nvSpPr>
          <p:cNvPr id="19" name="Text 19"/>
          <p:cNvSpPr txBox="1"/>
          <p:nvPr/>
        </p:nvSpPr>
        <p:spPr>
          <a:xfrm>
            <a:off x="7909560" y="4087368"/>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Net 2026</a:t>
            </a:r>
          </a:p>
        </p:txBody>
      </p:sp>
      <p:sp>
        <p:nvSpPr>
          <p:cNvPr id="20" name="Text 20"/>
          <p:cNvSpPr txBox="1"/>
          <p:nvPr/>
        </p:nvSpPr>
        <p:spPr>
          <a:xfrm>
            <a:off x="9052560" y="4087368"/>
            <a:ext cx="11430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24,950.05</a:t>
            </a:r>
          </a:p>
        </p:txBody>
      </p:sp>
      <p:sp>
        <p:nvSpPr>
          <p:cNvPr id="21" name="Text 21"/>
          <p:cNvSpPr txBox="1"/>
          <p:nvPr/>
        </p:nvSpPr>
        <p:spPr>
          <a:xfrm>
            <a:off x="10195560" y="4087368"/>
            <a:ext cx="9144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1,632.25</a:t>
            </a:r>
          </a:p>
        </p:txBody>
      </p:sp>
      <p:sp>
        <p:nvSpPr>
          <p:cNvPr id="22" name="Text 22"/>
          <p:cNvSpPr txBox="1"/>
          <p:nvPr/>
        </p:nvSpPr>
        <p:spPr>
          <a:xfrm>
            <a:off x="7909560" y="4562856"/>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Gross model</a:t>
            </a:r>
          </a:p>
        </p:txBody>
      </p:sp>
      <p:sp>
        <p:nvSpPr>
          <p:cNvPr id="23" name="Text 23"/>
          <p:cNvSpPr txBox="1"/>
          <p:nvPr/>
        </p:nvSpPr>
        <p:spPr>
          <a:xfrm>
            <a:off x="9052560" y="4562856"/>
            <a:ext cx="1143000" cy="365760"/>
          </a:xfrm>
          <a:prstGeom prst="rect">
            <a:avLst/>
          </a:prstGeom>
          <a:noFill/>
          <a:ln/>
        </p:spPr>
        <p:txBody>
          <a:bodyPr wrap="square" lIns="0" tIns="0" rIns="0" bIns="0" rtlCol="0" anchor="ctr"/>
          <a:lstStyle/>
          <a:p>
            <a:pPr marL="0" indent="0" algn="r">
              <a:buNone/>
            </a:pPr>
            <a:r>
              <a:rPr lang="en-GB" sz="1200" b="1" dirty="0">
                <a:solidFill>
                  <a:srgbClr val="58D6BB"/>
                </a:solidFill>
                <a:latin typeface="Consolas" pitchFamily="34" charset="0"/>
                <a:ea typeface="Consolas" pitchFamily="34" charset="-122"/>
                <a:cs typeface="Consolas" pitchFamily="34" charset="-120"/>
              </a:rPr>
              <a:t>24,950.00</a:t>
            </a:r>
          </a:p>
        </p:txBody>
      </p:sp>
      <p:sp>
        <p:nvSpPr>
          <p:cNvPr id="24" name="Text 24"/>
          <p:cNvSpPr txBox="1"/>
          <p:nvPr/>
        </p:nvSpPr>
        <p:spPr>
          <a:xfrm>
            <a:off x="10195560" y="4562856"/>
            <a:ext cx="914400" cy="365760"/>
          </a:xfrm>
          <a:prstGeom prst="rect">
            <a:avLst/>
          </a:prstGeom>
          <a:noFill/>
          <a:ln/>
        </p:spPr>
        <p:txBody>
          <a:bodyPr wrap="square" lIns="0" tIns="0" rIns="0" bIns="0" rtlCol="0" anchor="ctr"/>
          <a:lstStyle/>
          <a:p>
            <a:pPr marL="0" indent="0" algn="r">
              <a:buNone/>
            </a:pPr>
            <a:r>
              <a:rPr lang="en-GB" sz="1200" b="1" dirty="0">
                <a:solidFill>
                  <a:srgbClr val="58D6BB"/>
                </a:solidFill>
                <a:latin typeface="Consolas" pitchFamily="34" charset="0"/>
                <a:ea typeface="Consolas" pitchFamily="34" charset="-122"/>
                <a:cs typeface="Consolas" pitchFamily="34" charset="-120"/>
              </a:rPr>
              <a:t>1,632.24</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en-GB"/>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Net model: 5 cents too much, VAT 1 cent too high. Gross model: VAT €1,632.24299… → €1,632.24 only due to the cent rule (UStAE) — #163: warning.</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Text" pitchFamily="34" charset="0"/>
                <a:ea typeface="Inter Text" pitchFamily="34" charset="-122"/>
                <a:cs typeface="Inter Text" pitchFamily="34" charset="-120"/>
              </a:rPr>
              <a:t>Use cases:  </a:t>
            </a: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fixed book prices · receipt → invoice · retail and marketplaces · statutory gross prices</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en-GB" sz="1050" dirty="0">
                <a:solidFill>
                  <a:srgbClr val="B85C0A"/>
                </a:solidFill>
                <a:latin typeface="Inter SemiBold Text SemiBold" pitchFamily="34" charset="0"/>
                <a:ea typeface="Inter SemiBold Text SemiBold" pitchFamily="34" charset="-122"/>
                <a:cs typeface="Inter SemiBold Text SemiBold" pitchFamily="34" charset="-120"/>
              </a:rPr>
              <a:t>Often impossible today: </a:t>
            </a:r>
            <a:r>
              <a:rPr lang="en-GB" sz="1050" dirty="0">
                <a:solidFill>
                  <a:srgbClr val="5B6890"/>
                </a:solidFill>
                <a:latin typeface="Inter Text" pitchFamily="34" charset="0"/>
                <a:ea typeface="Inter Text" pitchFamily="34" charset="-122"/>
                <a:cs typeface="Inter Text" pitchFamily="34" charset="-120"/>
              </a:rPr>
              <a:t>At 19% VAT, 16% of all gross amounts cannot be reached with net and VAT in the Minor Unit — €9.99 = 8.39 + 1.59 → 9.98. With 5 lines 52%, with 35 lines 81% miss the receipt total.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Folie 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STATUS QUO</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Current status</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54E6935E-FF57-47E4-9A22-EE9758A115C0}"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Card 7"/>
          <p:cNvSpPr/>
          <p:nvPr/>
        </p:nvSpPr>
        <p:spPr>
          <a:xfrm>
            <a:off x="822960" y="2011680"/>
            <a:ext cx="7498080" cy="1463040"/>
          </a:xfrm>
          <a:prstGeom prst="roundRect">
            <a:avLst>
              <a:gd name="adj" fmla="val 5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8" name="IconCircle 8"/>
          <p:cNvSpPr/>
          <p:nvPr/>
        </p:nvSpPr>
        <p:spPr>
          <a:xfrm>
            <a:off x="1060704" y="221284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9" name="Icon 9"/>
          <p:cNvPicPr>
            <a:picLocks noChangeAspect="1"/>
          </p:cNvPicPr>
          <p:nvPr/>
        </p:nvPicPr>
        <p:blipFill>
          <a:blip r:embed="rId3"/>
          <a:stretch>
            <a:fillRect/>
          </a:stretch>
        </p:blipFill>
        <p:spPr>
          <a:xfrm>
            <a:off x="1171346" y="2323490"/>
            <a:ext cx="181051" cy="181051"/>
          </a:xfrm>
          <a:prstGeom prst="rect">
            <a:avLst/>
          </a:prstGeom>
        </p:spPr>
      </p:pic>
      <p:sp>
        <p:nvSpPr>
          <p:cNvPr id="10" name="Text 10"/>
          <p:cNvSpPr txBox="1"/>
          <p:nvPr/>
        </p:nvSpPr>
        <p:spPr>
          <a:xfrm>
            <a:off x="1600200" y="2194560"/>
            <a:ext cx="653796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Revision of the standard</a:t>
            </a:r>
          </a:p>
        </p:txBody>
      </p:sp>
      <p:sp>
        <p:nvSpPr>
          <p:cNvPr id="11" name="Text 11"/>
          <p:cNvSpPr txBox="1"/>
          <p:nvPr/>
        </p:nvSpPr>
        <p:spPr>
          <a:xfrm>
            <a:off x="1133856" y="2670048"/>
            <a:ext cx="6949440" cy="777240"/>
          </a:xfrm>
          <a:prstGeom prst="rect">
            <a:avLst/>
          </a:prstGeom>
          <a:noFill/>
          <a:ln/>
        </p:spPr>
        <p:txBody>
          <a:bodyPr wrap="square" lIns="0" tIns="0" rIns="0" bIns="0" rtlCol="0" anchor="t"/>
          <a:lstStyle/>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March 2026: final vote on EN 16931-1 completed</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May 2026: final vote on the syntax bindings (TS 16931-3) completed</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German edition DIN EN 16931-1:2026-10 now available</a:t>
            </a:r>
          </a:p>
        </p:txBody>
      </p:sp>
      <p:sp>
        <p:nvSpPr>
          <p:cNvPr id="12" name="Card 12"/>
          <p:cNvSpPr/>
          <p:nvPr/>
        </p:nvSpPr>
        <p:spPr>
          <a:xfrm>
            <a:off x="822960" y="3584448"/>
            <a:ext cx="7498080" cy="1463040"/>
          </a:xfrm>
          <a:prstGeom prst="roundRect">
            <a:avLst>
              <a:gd name="adj" fmla="val 5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3" name="IconCircle 13"/>
          <p:cNvSpPr/>
          <p:nvPr/>
        </p:nvSpPr>
        <p:spPr>
          <a:xfrm>
            <a:off x="1060704" y="3785616"/>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4" name="Icon 14"/>
          <p:cNvPicPr>
            <a:picLocks noChangeAspect="1"/>
          </p:cNvPicPr>
          <p:nvPr/>
        </p:nvPicPr>
        <p:blipFill>
          <a:blip r:embed="rId4"/>
          <a:stretch>
            <a:fillRect/>
          </a:stretch>
        </p:blipFill>
        <p:spPr>
          <a:xfrm>
            <a:off x="1171346" y="3896258"/>
            <a:ext cx="181051" cy="181051"/>
          </a:xfrm>
          <a:prstGeom prst="rect">
            <a:avLst/>
          </a:prstGeom>
        </p:spPr>
      </p:pic>
      <p:sp>
        <p:nvSpPr>
          <p:cNvPr id="15" name="Text 15"/>
          <p:cNvSpPr txBox="1"/>
          <p:nvPr/>
        </p:nvSpPr>
        <p:spPr>
          <a:xfrm>
            <a:off x="1600200" y="3767328"/>
            <a:ext cx="653796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New syntaxes: UBL 2.5 &amp; CII D25A</a:t>
            </a:r>
          </a:p>
        </p:txBody>
      </p:sp>
      <p:sp>
        <p:nvSpPr>
          <p:cNvPr id="16" name="Text 16"/>
          <p:cNvSpPr txBox="1"/>
          <p:nvPr/>
        </p:nvSpPr>
        <p:spPr>
          <a:xfrm>
            <a:off x="1133856" y="4242816"/>
            <a:ext cx="6949440" cy="777240"/>
          </a:xfrm>
          <a:prstGeom prst="rect">
            <a:avLst/>
          </a:prstGeom>
          <a:noFill/>
          <a:ln/>
        </p:spPr>
        <p:txBody>
          <a:bodyPr wrap="square" lIns="0" tIns="0" rIns="0" bIns="0" rtlCol="0" anchor="t"/>
          <a:lstStyle/>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UBL 2.5: OASIS Standard since 12 August 2026</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CII D25A: published by UN/CEFACT in June 2026</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Next step: the European Commission adds both to the list of syntaxes</a:t>
            </a:r>
          </a:p>
        </p:txBody>
      </p:sp>
      <p:sp>
        <p:nvSpPr>
          <p:cNvPr id="17" name="Card 17"/>
          <p:cNvSpPr/>
          <p:nvPr/>
        </p:nvSpPr>
        <p:spPr>
          <a:xfrm>
            <a:off x="822960" y="5157216"/>
            <a:ext cx="7498080" cy="1463040"/>
          </a:xfrm>
          <a:prstGeom prst="roundRect">
            <a:avLst>
              <a:gd name="adj" fmla="val 5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8" name="IconCircle 18"/>
          <p:cNvSpPr/>
          <p:nvPr/>
        </p:nvSpPr>
        <p:spPr>
          <a:xfrm>
            <a:off x="1060704" y="5358384"/>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9" name="Icon 19"/>
          <p:cNvPicPr>
            <a:picLocks noChangeAspect="1"/>
          </p:cNvPicPr>
          <p:nvPr/>
        </p:nvPicPr>
        <p:blipFill>
          <a:blip r:embed="rId5"/>
          <a:stretch>
            <a:fillRect/>
          </a:stretch>
        </p:blipFill>
        <p:spPr>
          <a:xfrm>
            <a:off x="1171346" y="5469026"/>
            <a:ext cx="181051" cy="181051"/>
          </a:xfrm>
          <a:prstGeom prst="rect">
            <a:avLst/>
          </a:prstGeom>
        </p:spPr>
      </p:pic>
      <p:sp>
        <p:nvSpPr>
          <p:cNvPr id="20" name="Text 20"/>
          <p:cNvSpPr txBox="1"/>
          <p:nvPr/>
        </p:nvSpPr>
        <p:spPr>
          <a:xfrm>
            <a:off x="1600200" y="5340096"/>
            <a:ext cx="653796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Validation</a:t>
            </a:r>
          </a:p>
        </p:txBody>
      </p:sp>
      <p:sp>
        <p:nvSpPr>
          <p:cNvPr id="21" name="Text 21"/>
          <p:cNvSpPr txBox="1"/>
          <p:nvPr/>
        </p:nvSpPr>
        <p:spPr>
          <a:xfrm>
            <a:off x="1133856" y="5815584"/>
            <a:ext cx="6949440" cy="777240"/>
          </a:xfrm>
          <a:prstGeom prst="rect">
            <a:avLst/>
          </a:prstGeom>
          <a:noFill/>
          <a:ln/>
        </p:spPr>
        <p:txBody>
          <a:bodyPr wrap="square" lIns="0" tIns="0" rIns="0" bIns="0" rtlCol="0" anchor="t"/>
          <a:lstStyle/>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Work interrupted by open copyright questions (IP problem)</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Derivative use hopefully possible soon</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EU validator on GitHub and e-Invoice Advisory Group have expired — progress unclear</a:t>
            </a:r>
          </a:p>
        </p:txBody>
      </p:sp>
      <p:pic>
        <p:nvPicPr>
          <p:cNvPr id="22" name="Image 22"/>
          <p:cNvPicPr>
            <a:picLocks noChangeAspect="1"/>
          </p:cNvPicPr>
          <p:nvPr/>
        </p:nvPicPr>
        <p:blipFill>
          <a:blip r:embed="rId6"/>
          <a:stretch>
            <a:fillRect/>
          </a:stretch>
        </p:blipFill>
        <p:spPr>
          <a:xfrm>
            <a:off x="8732520" y="960120"/>
            <a:ext cx="2633472" cy="5074920"/>
          </a:xfrm>
          <a:prstGeom prst="rect">
            <a:avLst/>
          </a:prstGeom>
        </p:spPr>
      </p:pic>
      <p:sp>
        <p:nvSpPr>
          <p:cNvPr id="23" name="Text 23"/>
          <p:cNvSpPr txBox="1"/>
          <p:nvPr/>
        </p:nvSpPr>
        <p:spPr>
          <a:xfrm>
            <a:off x="8933688" y="4526280"/>
            <a:ext cx="2240280" cy="1325880"/>
          </a:xfrm>
          <a:prstGeom prst="rect">
            <a:avLst/>
          </a:prstGeom>
          <a:noFill/>
          <a:ln/>
        </p:spPr>
        <p:txBody>
          <a:bodyPr wrap="square" lIns="0" tIns="0" rIns="0" bIns="0" rtlCol="0" anchor="b"/>
          <a:lstStyle/>
          <a:p>
            <a:pPr marL="0" indent="0" algn="l">
              <a:lnSpc>
                <a:spcPct val="110000"/>
              </a:lnSpc>
              <a:buNone/>
            </a:pPr>
            <a:r>
              <a:rPr lang="en-GB" sz="1300" dirty="0">
                <a:solidFill>
                  <a:srgbClr val="FFFFFF"/>
                </a:solidFill>
                <a:latin typeface="Inter SemiBold Text SemiBold" pitchFamily="34" charset="0"/>
                <a:ea typeface="Inter SemiBold Text SemiBold" pitchFamily="34" charset="-122"/>
                <a:cs typeface="Inter SemiBold Text SemiBold" pitchFamily="34" charset="-120"/>
              </a:rPr>
              <a:t>Further binding errors found after the vote — proposal: a corrigendum for UBL and CII.</a:t>
            </a:r>
          </a:p>
        </p:txBody>
      </p:sp>
      <p:sp>
        <p:nvSpPr>
          <p:cNvPr id="24" name="Speaker 24">
            <a:hlinkClick r:id="rId7"/>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Folie 4">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STATUS · STANDARD</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EN 16931-1:2026</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Adopted at European level — the German edition has been published.</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5C7DE92-1A02-4BD8-8899-7DE13FDB76C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33</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212080" cy="1828800"/>
          </a:xfrm>
          <a:prstGeom prst="roundRect">
            <a:avLst>
              <a:gd name="adj" fmla="val 4000"/>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5196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Adopted &amp; available</a:t>
            </a:r>
          </a:p>
        </p:txBody>
      </p:sp>
      <p:sp>
        <p:nvSpPr>
          <p:cNvPr id="12" name="Text 12"/>
          <p:cNvSpPr txBox="1"/>
          <p:nvPr/>
        </p:nvSpPr>
        <p:spPr>
          <a:xfrm>
            <a:off x="1133856" y="3017520"/>
            <a:ext cx="4663440" cy="1097280"/>
          </a:xfrm>
          <a:prstGeom prst="rect">
            <a:avLst/>
          </a:prstGeom>
          <a:noFill/>
          <a:ln/>
        </p:spPr>
        <p:txBody>
          <a:bodyPr wrap="square" lIns="0" tIns="0" rIns="0" bIns="0" rtlCol="0" anchor="t"/>
          <a:lstStyle/>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Ratified by CEN on 13 Mar 2026</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English edition since 18 Mar 2026 (DAV)</a:t>
            </a:r>
          </a:p>
          <a:p>
            <a:pPr marL="164592" indent="-164592" algn="l">
              <a:spcAft>
                <a:spcPts val="300"/>
              </a:spcAft>
              <a:buSzPct val="100000"/>
              <a:buChar char="•"/>
            </a:pPr>
            <a:r>
              <a:rPr lang="en-GB" sz="1250" dirty="0">
                <a:solidFill>
                  <a:srgbClr val="5B6890"/>
                </a:solidFill>
                <a:latin typeface="Inter Text" pitchFamily="34" charset="0"/>
                <a:ea typeface="Inter Text" pitchFamily="34" charset="-122"/>
                <a:cs typeface="Inter Text" pitchFamily="34" charset="-120"/>
              </a:rPr>
              <a:t>DIN EN 16931-1:2026-10 available from DIN Media</a:t>
            </a:r>
          </a:p>
        </p:txBody>
      </p:sp>
      <p:sp>
        <p:nvSpPr>
          <p:cNvPr id="13" name="Card 13"/>
          <p:cNvSpPr/>
          <p:nvPr/>
        </p:nvSpPr>
        <p:spPr>
          <a:xfrm>
            <a:off x="822960" y="4315968"/>
            <a:ext cx="5212080" cy="2194560"/>
          </a:xfrm>
          <a:prstGeom prst="roundRect">
            <a:avLst>
              <a:gd name="adj" fmla="val 3333"/>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517136"/>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627778"/>
            <a:ext cx="181051" cy="181051"/>
          </a:xfrm>
          <a:prstGeom prst="rect">
            <a:avLst/>
          </a:prstGeom>
        </p:spPr>
      </p:pic>
      <p:sp>
        <p:nvSpPr>
          <p:cNvPr id="16" name="Text 16"/>
          <p:cNvSpPr txBox="1"/>
          <p:nvPr/>
        </p:nvSpPr>
        <p:spPr>
          <a:xfrm>
            <a:off x="1600200" y="4498848"/>
            <a:ext cx="425196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Why the DIN edition came later</a:t>
            </a:r>
          </a:p>
        </p:txBody>
      </p:sp>
      <p:sp>
        <p:nvSpPr>
          <p:cNvPr id="17" name="Text 17"/>
          <p:cNvSpPr txBox="1"/>
          <p:nvPr/>
        </p:nvSpPr>
        <p:spPr>
          <a:xfrm>
            <a:off x="1133856" y="4983480"/>
            <a:ext cx="4663440" cy="1463040"/>
          </a:xfrm>
          <a:prstGeom prst="rect">
            <a:avLst/>
          </a:prstGeom>
          <a:noFill/>
          <a:ln/>
        </p:spPr>
        <p:txBody>
          <a:bodyPr wrap="square" lIns="0" tIns="0" rIns="0" bIns="0" rtlCol="0" anchor="t"/>
          <a:lstStyle/>
          <a:p>
            <a:pPr marL="164592" indent="-164592" algn="l">
              <a:spcAft>
                <a:spcPts val="400"/>
              </a:spcAft>
              <a:buSzPct val="100000"/>
              <a:buChar char="•"/>
            </a:pPr>
            <a:r>
              <a:rPr lang="en-GB" sz="1250" dirty="0">
                <a:solidFill>
                  <a:srgbClr val="5B6890"/>
                </a:solidFill>
                <a:latin typeface="Inter Text" pitchFamily="34" charset="0"/>
                <a:ea typeface="Inter Text" pitchFamily="34" charset="-122"/>
                <a:cs typeface="Inter Text" pitchFamily="34" charset="-120"/>
              </a:rPr>
              <a:t>CCMC (CEN-CENELEC Management Centre) dropped the 16‑week translation phase — under pressure from the European Commission, in favour of the English edition</a:t>
            </a:r>
          </a:p>
          <a:p>
            <a:pPr marL="164592" indent="-164592" algn="l">
              <a:spcAft>
                <a:spcPts val="400"/>
              </a:spcAft>
              <a:buSzPct val="100000"/>
              <a:buChar char="•"/>
            </a:pPr>
            <a:r>
              <a:rPr lang="en-GB" sz="1250" dirty="0">
                <a:solidFill>
                  <a:srgbClr val="5B6890"/>
                </a:solidFill>
                <a:latin typeface="Inter Text" pitchFamily="34" charset="0"/>
                <a:ea typeface="Inter Text" pitchFamily="34" charset="-122"/>
                <a:cs typeface="Inter Text" pitchFamily="34" charset="-120"/>
              </a:rPr>
              <a:t>In addition, more than 40 pages of comment tables to discuss and incorporate</a:t>
            </a:r>
          </a:p>
        </p:txBody>
      </p:sp>
      <p:sp>
        <p:nvSpPr>
          <p:cNvPr id="18" name="Panel 18"/>
          <p:cNvSpPr/>
          <p:nvPr/>
        </p:nvSpPr>
        <p:spPr>
          <a:xfrm>
            <a:off x="6309360" y="2331720"/>
            <a:ext cx="5056632" cy="4178808"/>
          </a:xfrm>
          <a:prstGeom prst="roundRect">
            <a:avLst>
              <a:gd name="adj" fmla="val 2188"/>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675120" y="2606040"/>
            <a:ext cx="4325112"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CEN MILESTONES</a:t>
            </a:r>
          </a:p>
        </p:txBody>
      </p:sp>
      <p:sp>
        <p:nvSpPr>
          <p:cNvPr id="20" name="Shape 20"/>
          <p:cNvSpPr/>
          <p:nvPr/>
        </p:nvSpPr>
        <p:spPr>
          <a:xfrm>
            <a:off x="6803136" y="3200400"/>
            <a:ext cx="27432" cy="2971800"/>
          </a:xfrm>
          <a:prstGeom prst="rect">
            <a:avLst/>
          </a:prstGeom>
          <a:solidFill>
            <a:srgbClr val="3A4A7A"/>
          </a:solidFill>
          <a:ln>
            <a:noFill/>
          </a:ln>
        </p:spPr>
        <p:txBody>
          <a:bodyPr/>
          <a:lstStyle/>
          <a:p>
            <a:endParaRPr lang="en-GB"/>
          </a:p>
        </p:txBody>
      </p:sp>
      <p:sp>
        <p:nvSpPr>
          <p:cNvPr id="21" name="Shape 21"/>
          <p:cNvSpPr/>
          <p:nvPr/>
        </p:nvSpPr>
        <p:spPr>
          <a:xfrm>
            <a:off x="6739128" y="3191256"/>
            <a:ext cx="173736" cy="173736"/>
          </a:xfrm>
          <a:prstGeom prst="ellipse">
            <a:avLst/>
          </a:prstGeom>
          <a:solidFill>
            <a:srgbClr val="9AA4C2"/>
          </a:solidFill>
          <a:ln w="19050">
            <a:solidFill>
              <a:srgbClr val="1A2B5E"/>
            </a:solidFill>
            <a:prstDash val="solid"/>
          </a:ln>
        </p:spPr>
        <p:txBody>
          <a:bodyPr/>
          <a:lstStyle/>
          <a:p>
            <a:endParaRPr lang="en-GB"/>
          </a:p>
        </p:txBody>
      </p:sp>
      <p:sp>
        <p:nvSpPr>
          <p:cNvPr id="22" name="Text 22"/>
          <p:cNvSpPr txBox="1"/>
          <p:nvPr/>
        </p:nvSpPr>
        <p:spPr>
          <a:xfrm>
            <a:off x="7040880" y="3136392"/>
            <a:ext cx="1188720" cy="274320"/>
          </a:xfrm>
          <a:prstGeom prst="rect">
            <a:avLst/>
          </a:prstGeom>
          <a:noFill/>
          <a:ln/>
        </p:spPr>
        <p:txBody>
          <a:bodyPr wrap="square" lIns="0" tIns="0" rIns="0" bIns="0" rtlCol="0" anchor="ctr"/>
          <a:lstStyle/>
          <a:p>
            <a:pPr marL="0" indent="0" algn="l">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2026-03-13</a:t>
            </a:r>
          </a:p>
        </p:txBody>
      </p:sp>
      <p:sp>
        <p:nvSpPr>
          <p:cNvPr id="23" name="Text 23"/>
          <p:cNvSpPr txBox="1"/>
          <p:nvPr/>
        </p:nvSpPr>
        <p:spPr>
          <a:xfrm>
            <a:off x="8275320" y="3136392"/>
            <a:ext cx="2926080" cy="274320"/>
          </a:xfrm>
          <a:prstGeom prst="rect">
            <a:avLst/>
          </a:prstGeom>
          <a:noFill/>
          <a:ln/>
        </p:spPr>
        <p:txBody>
          <a:bodyPr wrap="square" lIns="0" tIns="0" rIns="0" bIns="0" rtlCol="0" anchor="ctr"/>
          <a:lstStyle/>
          <a:p>
            <a:pPr marL="0" indent="0" algn="l">
              <a:buNone/>
            </a:pPr>
            <a:r>
              <a:rPr lang="en-GB" sz="1200" dirty="0">
                <a:solidFill>
                  <a:srgbClr val="C2CADE"/>
                </a:solidFill>
                <a:latin typeface="Inter Text" pitchFamily="34" charset="0"/>
                <a:ea typeface="Inter Text" pitchFamily="34" charset="-122"/>
                <a:cs typeface="Inter Text" pitchFamily="34" charset="-120"/>
              </a:rPr>
              <a:t>Ratification</a:t>
            </a:r>
          </a:p>
        </p:txBody>
      </p:sp>
      <p:sp>
        <p:nvSpPr>
          <p:cNvPr id="24" name="Shape 24"/>
          <p:cNvSpPr/>
          <p:nvPr/>
        </p:nvSpPr>
        <p:spPr>
          <a:xfrm>
            <a:off x="6739128" y="3904488"/>
            <a:ext cx="173736" cy="173736"/>
          </a:xfrm>
          <a:prstGeom prst="ellipse">
            <a:avLst/>
          </a:prstGeom>
          <a:solidFill>
            <a:srgbClr val="9AA4C2"/>
          </a:solidFill>
          <a:ln w="19050">
            <a:solidFill>
              <a:srgbClr val="1A2B5E"/>
            </a:solidFill>
            <a:prstDash val="solid"/>
          </a:ln>
        </p:spPr>
        <p:txBody>
          <a:bodyPr/>
          <a:lstStyle/>
          <a:p>
            <a:endParaRPr lang="en-GB"/>
          </a:p>
        </p:txBody>
      </p:sp>
      <p:sp>
        <p:nvSpPr>
          <p:cNvPr id="25" name="Text 25"/>
          <p:cNvSpPr txBox="1"/>
          <p:nvPr/>
        </p:nvSpPr>
        <p:spPr>
          <a:xfrm>
            <a:off x="7040880" y="3849624"/>
            <a:ext cx="1188720" cy="274320"/>
          </a:xfrm>
          <a:prstGeom prst="rect">
            <a:avLst/>
          </a:prstGeom>
          <a:noFill/>
          <a:ln/>
        </p:spPr>
        <p:txBody>
          <a:bodyPr wrap="square" lIns="0" tIns="0" rIns="0" bIns="0" rtlCol="0" anchor="ctr"/>
          <a:lstStyle/>
          <a:p>
            <a:pPr marL="0" indent="0" algn="l">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2026-03-18</a:t>
            </a:r>
          </a:p>
        </p:txBody>
      </p:sp>
      <p:sp>
        <p:nvSpPr>
          <p:cNvPr id="26" name="Text 26"/>
          <p:cNvSpPr txBox="1"/>
          <p:nvPr/>
        </p:nvSpPr>
        <p:spPr>
          <a:xfrm>
            <a:off x="8275320" y="3849624"/>
            <a:ext cx="2926080" cy="274320"/>
          </a:xfrm>
          <a:prstGeom prst="rect">
            <a:avLst/>
          </a:prstGeom>
          <a:noFill/>
          <a:ln/>
        </p:spPr>
        <p:txBody>
          <a:bodyPr wrap="square" lIns="0" tIns="0" rIns="0" bIns="0" rtlCol="0" anchor="ctr"/>
          <a:lstStyle/>
          <a:p>
            <a:pPr marL="0" indent="0" algn="l">
              <a:buNone/>
            </a:pPr>
            <a:r>
              <a:rPr lang="en-GB" sz="1200" dirty="0">
                <a:solidFill>
                  <a:srgbClr val="C2CADE"/>
                </a:solidFill>
                <a:latin typeface="Inter Text" pitchFamily="34" charset="0"/>
                <a:ea typeface="Inter Text" pitchFamily="34" charset="-122"/>
                <a:cs typeface="Inter Text" pitchFamily="34" charset="-120"/>
              </a:rPr>
              <a:t>Available · English edition (DAV)</a:t>
            </a:r>
          </a:p>
        </p:txBody>
      </p:sp>
      <p:sp>
        <p:nvSpPr>
          <p:cNvPr id="27" name="Shape 27"/>
          <p:cNvSpPr/>
          <p:nvPr/>
        </p:nvSpPr>
        <p:spPr>
          <a:xfrm>
            <a:off x="6739128" y="4617720"/>
            <a:ext cx="173736" cy="173736"/>
          </a:xfrm>
          <a:prstGeom prst="ellipse">
            <a:avLst/>
          </a:prstGeom>
          <a:solidFill>
            <a:srgbClr val="9AA4C2"/>
          </a:solidFill>
          <a:ln w="19050">
            <a:solidFill>
              <a:srgbClr val="1A2B5E"/>
            </a:solidFill>
            <a:prstDash val="solid"/>
          </a:ln>
        </p:spPr>
        <p:txBody>
          <a:bodyPr/>
          <a:lstStyle/>
          <a:p>
            <a:endParaRPr lang="en-GB"/>
          </a:p>
        </p:txBody>
      </p:sp>
      <p:sp>
        <p:nvSpPr>
          <p:cNvPr id="28" name="Text 28"/>
          <p:cNvSpPr txBox="1"/>
          <p:nvPr/>
        </p:nvSpPr>
        <p:spPr>
          <a:xfrm>
            <a:off x="7040880" y="4562856"/>
            <a:ext cx="1188720" cy="274320"/>
          </a:xfrm>
          <a:prstGeom prst="rect">
            <a:avLst/>
          </a:prstGeom>
          <a:noFill/>
          <a:ln/>
        </p:spPr>
        <p:txBody>
          <a:bodyPr wrap="square" lIns="0" tIns="0" rIns="0" bIns="0" rtlCol="0" anchor="ctr"/>
          <a:lstStyle/>
          <a:p>
            <a:pPr marL="0" indent="0" algn="l">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2026-06-30</a:t>
            </a:r>
          </a:p>
        </p:txBody>
      </p:sp>
      <p:sp>
        <p:nvSpPr>
          <p:cNvPr id="29" name="Text 29"/>
          <p:cNvSpPr txBox="1"/>
          <p:nvPr/>
        </p:nvSpPr>
        <p:spPr>
          <a:xfrm>
            <a:off x="8275320" y="4562856"/>
            <a:ext cx="2926080" cy="274320"/>
          </a:xfrm>
          <a:prstGeom prst="rect">
            <a:avLst/>
          </a:prstGeom>
          <a:noFill/>
          <a:ln/>
        </p:spPr>
        <p:txBody>
          <a:bodyPr wrap="square" lIns="0" tIns="0" rIns="0" bIns="0" rtlCol="0" anchor="ctr"/>
          <a:lstStyle/>
          <a:p>
            <a:pPr marL="0" indent="0" algn="l">
              <a:buNone/>
            </a:pPr>
            <a:r>
              <a:rPr lang="en-GB" sz="1200" dirty="0">
                <a:solidFill>
                  <a:srgbClr val="C2CADE"/>
                </a:solidFill>
                <a:latin typeface="Inter Text" pitchFamily="34" charset="0"/>
                <a:ea typeface="Inter Text" pitchFamily="34" charset="-122"/>
                <a:cs typeface="Inter Text" pitchFamily="34" charset="-120"/>
              </a:rPr>
              <a:t>National announcement (DOA)</a:t>
            </a:r>
          </a:p>
        </p:txBody>
      </p:sp>
      <p:sp>
        <p:nvSpPr>
          <p:cNvPr id="30" name="Pill 30"/>
          <p:cNvSpPr/>
          <p:nvPr/>
        </p:nvSpPr>
        <p:spPr>
          <a:xfrm>
            <a:off x="6629400" y="5138928"/>
            <a:ext cx="4553712" cy="566928"/>
          </a:xfrm>
          <a:prstGeom prst="roundRect">
            <a:avLst>
              <a:gd name="adj" fmla="val 50000"/>
            </a:avLst>
          </a:prstGeom>
          <a:solidFill>
            <a:srgbClr val="19C3C8"/>
          </a:solidFill>
          <a:ln>
            <a:noFill/>
          </a:ln>
        </p:spPr>
        <p:txBody>
          <a:bodyPr/>
          <a:lstStyle/>
          <a:p>
            <a:endParaRPr lang="en-GB"/>
          </a:p>
        </p:txBody>
      </p:sp>
      <p:sp>
        <p:nvSpPr>
          <p:cNvPr id="31" name="Shape 31"/>
          <p:cNvSpPr/>
          <p:nvPr/>
        </p:nvSpPr>
        <p:spPr>
          <a:xfrm>
            <a:off x="6720840" y="5321808"/>
            <a:ext cx="201168" cy="201168"/>
          </a:xfrm>
          <a:prstGeom prst="ellipse">
            <a:avLst/>
          </a:prstGeom>
          <a:solidFill>
            <a:srgbClr val="FFFFFF"/>
          </a:solidFill>
          <a:ln w="19050">
            <a:solidFill>
              <a:srgbClr val="0E7E82"/>
            </a:solidFill>
            <a:prstDash val="solid"/>
          </a:ln>
        </p:spPr>
        <p:txBody>
          <a:bodyPr/>
          <a:lstStyle/>
          <a:p>
            <a:endParaRPr lang="en-GB"/>
          </a:p>
        </p:txBody>
      </p:sp>
      <p:sp>
        <p:nvSpPr>
          <p:cNvPr id="32" name="Text 32"/>
          <p:cNvSpPr txBox="1"/>
          <p:nvPr/>
        </p:nvSpPr>
        <p:spPr>
          <a:xfrm>
            <a:off x="7040880" y="5248656"/>
            <a:ext cx="1417320" cy="347472"/>
          </a:xfrm>
          <a:prstGeom prst="rect">
            <a:avLst/>
          </a:prstGeom>
          <a:noFill/>
          <a:ln/>
        </p:spPr>
        <p:txBody>
          <a:bodyPr wrap="square" lIns="0" tIns="0" rIns="0" bIns="0" rtlCol="0" anchor="ctr"/>
          <a:lstStyle/>
          <a:p>
            <a:pPr marL="0" indent="0" algn="l">
              <a:buNone/>
            </a:pPr>
            <a:r>
              <a:rPr lang="en-GB" sz="1500" dirty="0">
                <a:solidFill>
                  <a:srgbClr val="0A2E2F"/>
                </a:solidFill>
                <a:latin typeface="Inter SemiBold Text SemiBold" pitchFamily="34" charset="0"/>
                <a:ea typeface="Inter SemiBold Text SemiBold" pitchFamily="34" charset="-122"/>
                <a:cs typeface="Inter SemiBold Text SemiBold" pitchFamily="34" charset="-120"/>
              </a:rPr>
              <a:t>2026-09-30</a:t>
            </a:r>
          </a:p>
        </p:txBody>
      </p:sp>
      <p:sp>
        <p:nvSpPr>
          <p:cNvPr id="33" name="Text 33"/>
          <p:cNvSpPr txBox="1"/>
          <p:nvPr/>
        </p:nvSpPr>
        <p:spPr>
          <a:xfrm>
            <a:off x="8503920" y="5248656"/>
            <a:ext cx="2606040" cy="347472"/>
          </a:xfrm>
          <a:prstGeom prst="rect">
            <a:avLst/>
          </a:prstGeom>
          <a:noFill/>
          <a:ln/>
        </p:spPr>
        <p:txBody>
          <a:bodyPr wrap="square" lIns="0" tIns="0" rIns="0" bIns="0" rtlCol="0" anchor="ctr"/>
          <a:lstStyle/>
          <a:p>
            <a:pPr marL="0" indent="0" algn="l">
              <a:buNone/>
            </a:pPr>
            <a:r>
              <a:rPr lang="en-GB" sz="1200" dirty="0">
                <a:solidFill>
                  <a:srgbClr val="0A2E2F"/>
                </a:solidFill>
                <a:latin typeface="Inter SemiBold Text SemiBold" pitchFamily="34" charset="0"/>
                <a:ea typeface="Inter SemiBold Text SemiBold" pitchFamily="34" charset="-122"/>
                <a:cs typeface="Inter SemiBold Text SemiBold" pitchFamily="34" charset="-120"/>
              </a:rPr>
              <a:t>German edition published (DOP)</a:t>
            </a:r>
          </a:p>
        </p:txBody>
      </p:sp>
      <p:sp>
        <p:nvSpPr>
          <p:cNvPr id="34" name="Shape 34"/>
          <p:cNvSpPr/>
          <p:nvPr/>
        </p:nvSpPr>
        <p:spPr>
          <a:xfrm>
            <a:off x="6739128" y="6044184"/>
            <a:ext cx="173736" cy="173736"/>
          </a:xfrm>
          <a:prstGeom prst="ellipse">
            <a:avLst/>
          </a:prstGeom>
          <a:solidFill>
            <a:srgbClr val="9AA4C2"/>
          </a:solidFill>
          <a:ln w="19050">
            <a:solidFill>
              <a:srgbClr val="1A2B5E"/>
            </a:solidFill>
            <a:prstDash val="solid"/>
          </a:ln>
        </p:spPr>
        <p:txBody>
          <a:bodyPr/>
          <a:lstStyle/>
          <a:p>
            <a:endParaRPr lang="en-GB"/>
          </a:p>
        </p:txBody>
      </p:sp>
      <p:sp>
        <p:nvSpPr>
          <p:cNvPr id="35" name="Text 35"/>
          <p:cNvSpPr txBox="1"/>
          <p:nvPr/>
        </p:nvSpPr>
        <p:spPr>
          <a:xfrm>
            <a:off x="7040880" y="5989320"/>
            <a:ext cx="1188720" cy="274320"/>
          </a:xfrm>
          <a:prstGeom prst="rect">
            <a:avLst/>
          </a:prstGeom>
          <a:noFill/>
          <a:ln/>
        </p:spPr>
        <p:txBody>
          <a:bodyPr wrap="square" lIns="0" tIns="0" rIns="0" bIns="0" rtlCol="0" anchor="ctr"/>
          <a:lstStyle/>
          <a:p>
            <a:pPr marL="0" indent="0" algn="l">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2029-03-31</a:t>
            </a:r>
          </a:p>
        </p:txBody>
      </p:sp>
      <p:sp>
        <p:nvSpPr>
          <p:cNvPr id="36" name="Text 36"/>
          <p:cNvSpPr txBox="1"/>
          <p:nvPr/>
        </p:nvSpPr>
        <p:spPr>
          <a:xfrm>
            <a:off x="8275320" y="5989320"/>
            <a:ext cx="2926080" cy="274320"/>
          </a:xfrm>
          <a:prstGeom prst="rect">
            <a:avLst/>
          </a:prstGeom>
          <a:noFill/>
          <a:ln/>
        </p:spPr>
        <p:txBody>
          <a:bodyPr wrap="square" lIns="0" tIns="0" rIns="0" bIns="0" rtlCol="0" anchor="ctr"/>
          <a:lstStyle/>
          <a:p>
            <a:pPr marL="0" indent="0" algn="l">
              <a:buNone/>
            </a:pPr>
            <a:r>
              <a:rPr lang="en-GB" sz="1200" dirty="0">
                <a:solidFill>
                  <a:srgbClr val="C2CADE"/>
                </a:solidFill>
                <a:latin typeface="Inter Text" pitchFamily="34" charset="0"/>
                <a:ea typeface="Inter Text" pitchFamily="34" charset="-122"/>
                <a:cs typeface="Inter Text" pitchFamily="34" charset="-120"/>
              </a:rPr>
              <a:t>Withdrawal of EN 16931-1:2017 (DOW)</a:t>
            </a:r>
          </a:p>
        </p:txBody>
      </p:sp>
      <p:sp>
        <p:nvSpPr>
          <p:cNvPr id="37" name="Speaker 37">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Folie 1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SYNTAX BINDING · NEXT STEPS</a:t>
            </a:r>
          </a:p>
        </p:txBody>
      </p:sp>
      <p:sp>
        <p:nvSpPr>
          <p:cNvPr id="5" name="Title 5"/>
          <p:cNvSpPr txBox="1"/>
          <p:nvPr/>
        </p:nvSpPr>
        <p:spPr>
          <a:xfrm>
            <a:off x="804672" y="1115568"/>
            <a:ext cx="10848848"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Work at CEN on an amendment / corrigendum</a:t>
            </a:r>
          </a:p>
        </p:txBody>
      </p:sp>
      <p:sp>
        <p:nvSpPr>
          <p:cNvPr id="6" name="PageNum 6"/>
          <p:cNvSpPr txBox="1"/>
          <p:nvPr/>
        </p:nvSpPr>
        <p:spPr>
          <a:xfrm>
            <a:off x="10908792" y="6514592"/>
            <a:ext cx="822960" cy="292608"/>
          </a:xfrm>
          <a:prstGeom prst="rect">
            <a:avLst/>
          </a:prstGeom>
          <a:noFill/>
          <a:ln/>
        </p:spPr>
        <p:txBody>
          <a:bodyPr wrap="square" lIns="0" tIns="0" rIns="0" bIns="0" rtlCol="0" anchor="ctr"/>
          <a:lstStyle/>
          <a:p>
            <a:pPr marL="0" indent="0" algn="r">
              <a:buNone/>
            </a:pPr>
            <a:fld id="{5DDF6A79-4043-4594-B888-0EB66DDEA9F6}"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7" name="Panel 7"/>
          <p:cNvSpPr/>
          <p:nvPr/>
        </p:nvSpPr>
        <p:spPr>
          <a:xfrm>
            <a:off x="822960" y="2103120"/>
            <a:ext cx="3291840" cy="3611880"/>
          </a:xfrm>
          <a:prstGeom prst="roundRect">
            <a:avLst>
              <a:gd name="adj" fmla="val 277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8" name="Text 8"/>
          <p:cNvSpPr txBox="1"/>
          <p:nvPr/>
        </p:nvSpPr>
        <p:spPr>
          <a:xfrm>
            <a:off x="1143000" y="2331720"/>
            <a:ext cx="27432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ISSUE TRACKER</a:t>
            </a:r>
          </a:p>
        </p:txBody>
      </p:sp>
      <p:sp>
        <p:nvSpPr>
          <p:cNvPr id="9" name="Text 9"/>
          <p:cNvSpPr txBox="1"/>
          <p:nvPr/>
        </p:nvSpPr>
        <p:spPr>
          <a:xfrm>
            <a:off x="1143000" y="2651760"/>
            <a:ext cx="2743200" cy="1097280"/>
          </a:xfrm>
          <a:prstGeom prst="rect">
            <a:avLst/>
          </a:prstGeom>
          <a:noFill/>
          <a:ln/>
        </p:spPr>
        <p:txBody>
          <a:bodyPr wrap="square" lIns="0" tIns="0" rIns="0" bIns="0" rtlCol="0" anchor="ctr"/>
          <a:lstStyle/>
          <a:p>
            <a:pPr marL="0" indent="0" algn="l">
              <a:buNone/>
            </a:pPr>
            <a:r>
              <a:rPr lang="en-GB" sz="7200" b="1" dirty="0">
                <a:solidFill>
                  <a:srgbClr val="FFFFFF"/>
                </a:solidFill>
                <a:latin typeface="Inter Text" pitchFamily="34" charset="0"/>
                <a:ea typeface="Inter Text" pitchFamily="34" charset="-122"/>
                <a:cs typeface="Inter Text" pitchFamily="34" charset="-120"/>
              </a:rPr>
              <a:t>64</a:t>
            </a:r>
          </a:p>
        </p:txBody>
      </p:sp>
      <p:sp>
        <p:nvSpPr>
          <p:cNvPr id="10" name="Text 10"/>
          <p:cNvSpPr txBox="1"/>
          <p:nvPr/>
        </p:nvSpPr>
        <p:spPr>
          <a:xfrm>
            <a:off x="1143000" y="3749040"/>
            <a:ext cx="2743200" cy="640080"/>
          </a:xfrm>
          <a:prstGeom prst="rect">
            <a:avLst/>
          </a:prstGeom>
          <a:noFill/>
          <a:ln/>
        </p:spPr>
        <p:txBody>
          <a:bodyPr wrap="square" lIns="0" tIns="0" rIns="0" bIns="0" rtlCol="0" anchor="t"/>
          <a:lstStyle/>
          <a:p>
            <a:pPr marL="0" indent="0" algn="l">
              <a:lnSpc>
                <a:spcPct val="110000"/>
              </a:lnSpc>
              <a:buNone/>
            </a:pPr>
            <a:r>
              <a:rPr lang="en-GB" sz="1300" dirty="0">
                <a:solidFill>
                  <a:srgbClr val="C2CADE"/>
                </a:solidFill>
                <a:latin typeface="Inter Text" pitchFamily="34" charset="0"/>
                <a:ea typeface="Inter Text" pitchFamily="34" charset="-122"/>
                <a:cs typeface="Inter Text" pitchFamily="34" charset="-120"/>
              </a:rPr>
              <a:t>Issues for the CEN members on GitHub since 2020</a:t>
            </a:r>
          </a:p>
        </p:txBody>
      </p:sp>
      <p:sp>
        <p:nvSpPr>
          <p:cNvPr id="11" name="Shape 11"/>
          <p:cNvSpPr/>
          <p:nvPr/>
        </p:nvSpPr>
        <p:spPr>
          <a:xfrm>
            <a:off x="1143000" y="4480560"/>
            <a:ext cx="2651760" cy="9144"/>
          </a:xfrm>
          <a:prstGeom prst="rect">
            <a:avLst/>
          </a:prstGeom>
          <a:solidFill>
            <a:srgbClr val="3A4A7A"/>
          </a:solidFill>
          <a:ln>
            <a:noFill/>
          </a:ln>
        </p:spPr>
        <p:txBody>
          <a:bodyPr/>
          <a:lstStyle/>
          <a:p>
            <a:endParaRPr lang="en-GB"/>
          </a:p>
        </p:txBody>
      </p:sp>
      <p:sp>
        <p:nvSpPr>
          <p:cNvPr id="12" name="Text 12"/>
          <p:cNvSpPr txBox="1"/>
          <p:nvPr/>
        </p:nvSpPr>
        <p:spPr>
          <a:xfrm>
            <a:off x="1143000" y="4572000"/>
            <a:ext cx="2743200" cy="914400"/>
          </a:xfrm>
          <a:prstGeom prst="rect">
            <a:avLst/>
          </a:prstGeom>
          <a:noFill/>
          <a:ln/>
        </p:spPr>
        <p:txBody>
          <a:bodyPr wrap="square" lIns="0" tIns="0" rIns="0" bIns="0" rtlCol="0" anchor="t"/>
          <a:lstStyle/>
          <a:p>
            <a:pPr marL="0" indent="0" algn="l">
              <a:lnSpc>
                <a:spcPct val="110000"/>
              </a:lnSpc>
              <a:buNone/>
            </a:pPr>
            <a:r>
              <a:rPr lang="en-GB" sz="1200" dirty="0">
                <a:solidFill>
                  <a:srgbClr val="9AA4C2"/>
                </a:solidFill>
                <a:latin typeface="Inter Text" pitchFamily="34" charset="0"/>
                <a:ea typeface="Inter Text" pitchFamily="34" charset="-122"/>
                <a:cs typeface="Inter Text" pitchFamily="34" charset="-120"/>
              </a:rPr>
              <a:t>Contributions from DE, FR, NL and the OASIS UBL community</a:t>
            </a:r>
          </a:p>
        </p:txBody>
      </p:sp>
      <p:sp>
        <p:nvSpPr>
          <p:cNvPr id="13" name="Card 13"/>
          <p:cNvSpPr/>
          <p:nvPr/>
        </p:nvSpPr>
        <p:spPr>
          <a:xfrm>
            <a:off x="4343400" y="2103120"/>
            <a:ext cx="7022592" cy="3611880"/>
          </a:xfrm>
          <a:prstGeom prst="roundRect">
            <a:avLst>
              <a:gd name="adj" fmla="val 2025"/>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4581144" y="23042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3"/>
          <a:stretch>
            <a:fillRect/>
          </a:stretch>
        </p:blipFill>
        <p:spPr>
          <a:xfrm>
            <a:off x="4691786" y="2414930"/>
            <a:ext cx="181051" cy="181051"/>
          </a:xfrm>
          <a:prstGeom prst="rect">
            <a:avLst/>
          </a:prstGeom>
        </p:spPr>
      </p:pic>
      <p:sp>
        <p:nvSpPr>
          <p:cNvPr id="16" name="Text 16"/>
          <p:cNvSpPr txBox="1"/>
          <p:nvPr/>
        </p:nvSpPr>
        <p:spPr>
          <a:xfrm>
            <a:off x="5120640" y="2286000"/>
            <a:ext cx="6062472"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Current findings in the syntax bindings (September 2026)</a:t>
            </a:r>
          </a:p>
        </p:txBody>
      </p:sp>
      <p:sp>
        <p:nvSpPr>
          <p:cNvPr id="17" name="Text 17"/>
          <p:cNvSpPr txBox="1"/>
          <p:nvPr/>
        </p:nvSpPr>
        <p:spPr>
          <a:xfrm>
            <a:off x="4663440" y="2788920"/>
            <a:ext cx="6492240" cy="2834640"/>
          </a:xfrm>
          <a:prstGeom prst="rect">
            <a:avLst/>
          </a:prstGeom>
          <a:noFill/>
          <a:ln/>
        </p:spPr>
        <p:txBody>
          <a:bodyPr wrap="square" lIns="0" tIns="0" rIns="0" bIns="0" rtlCol="0" anchor="t"/>
          <a:lstStyle/>
          <a:p>
            <a:pPr marL="164592" indent="-164592" algn="l">
              <a:spcAft>
                <a:spcPts val="600"/>
              </a:spcAft>
              <a:buSzPct val="100000"/>
              <a:buChar char="•"/>
            </a:pPr>
            <a:r>
              <a:rPr lang="en-GB" sz="1250" dirty="0">
                <a:solidFill>
                  <a:srgbClr val="5B6890"/>
                </a:solidFill>
                <a:latin typeface="Inter Text" pitchFamily="34" charset="0"/>
                <a:ea typeface="Inter Text" pitchFamily="34" charset="-122"/>
                <a:cs typeface="Inter Text" pitchFamily="34" charset="-120"/>
              </a:rPr>
              <a:t>CII: the VAT exchange rate is bound to the wrong element</a:t>
            </a:r>
          </a:p>
          <a:p>
            <a:pPr marL="164592" indent="-164592" algn="l">
              <a:spcAft>
                <a:spcPts val="600"/>
              </a:spcAft>
              <a:buSzPct val="100000"/>
              <a:buChar char="•"/>
            </a:pPr>
            <a:r>
              <a:rPr lang="en-GB" sz="1250" dirty="0">
                <a:solidFill>
                  <a:srgbClr val="5B6890"/>
                </a:solidFill>
                <a:latin typeface="Inter Text" pitchFamily="34" charset="0"/>
                <a:ea typeface="Inter Text" pitchFamily="34" charset="-122"/>
                <a:cs typeface="Inter Text" pitchFamily="34" charset="-120"/>
              </a:rPr>
              <a:t>CII: a line-level delivery location is bound to the invoice header</a:t>
            </a:r>
          </a:p>
          <a:p>
            <a:pPr marL="164592" indent="-164592" algn="l">
              <a:spcAft>
                <a:spcPts val="600"/>
              </a:spcAft>
              <a:buSzPct val="100000"/>
              <a:buChar char="•"/>
            </a:pPr>
            <a:r>
              <a:rPr lang="en-GB" sz="1250" dirty="0">
                <a:solidFill>
                  <a:srgbClr val="5B6890"/>
                </a:solidFill>
                <a:latin typeface="Inter Text" pitchFamily="34" charset="0"/>
                <a:ea typeface="Inter Text" pitchFamily="34" charset="-122"/>
                <a:cs typeface="Inter Text" pitchFamily="34" charset="-120"/>
              </a:rPr>
              <a:t>Checks for “true/false” miss the equally valid values “1/0”</a:t>
            </a:r>
          </a:p>
          <a:p>
            <a:pPr marL="164592" indent="-164592" algn="l">
              <a:spcAft>
                <a:spcPts val="600"/>
              </a:spcAft>
              <a:buSzPct val="100000"/>
              <a:buChar char="•"/>
            </a:pPr>
            <a:r>
              <a:rPr lang="en-GB" sz="1250" dirty="0">
                <a:solidFill>
                  <a:srgbClr val="5B6890"/>
                </a:solidFill>
                <a:latin typeface="Inter Text" pitchFamily="34" charset="0"/>
                <a:ea typeface="Inter Text" pitchFamily="34" charset="-122"/>
                <a:cs typeface="Inter Text" pitchFamily="34" charset="-120"/>
              </a:rPr>
              <a:t>…</a:t>
            </a:r>
          </a:p>
        </p:txBody>
      </p:sp>
      <p:sp>
        <p:nvSpPr>
          <p:cNvPr id="18" name="Pill 18"/>
          <p:cNvSpPr/>
          <p:nvPr/>
        </p:nvSpPr>
        <p:spPr>
          <a:xfrm>
            <a:off x="822960" y="5897880"/>
            <a:ext cx="10543032" cy="45720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50" dirty="0">
                <a:solidFill>
                  <a:srgbClr val="0E7E82"/>
                </a:solidFill>
                <a:latin typeface="Inter SemiBold Text SemiBold" pitchFamily="34" charset="0"/>
                <a:ea typeface="Inter SemiBold Text SemiBold" pitchFamily="34" charset="-122"/>
                <a:cs typeface="Inter SemiBold Text SemiBold" pitchFamily="34" charset="-120"/>
              </a:rPr>
              <a:t>Proposal: </a:t>
            </a:r>
            <a:r>
              <a:rPr lang="en-GB" sz="1250" dirty="0">
                <a:solidFill>
                  <a:srgbClr val="1A2B5E"/>
                </a:solidFill>
                <a:latin typeface="Inter Text" pitchFamily="34" charset="0"/>
                <a:ea typeface="Inter Text" pitchFamily="34" charset="-122"/>
                <a:cs typeface="Inter Text" pitchFamily="34" charset="-120"/>
              </a:rPr>
              <a:t>a corrigendum for the syntax bindings of UBL and CII — so that every path is unambiguous and machine-readable</a:t>
            </a:r>
          </a:p>
        </p:txBody>
      </p:sp>
      <p:sp>
        <p:nvSpPr>
          <p:cNvPr id="19" name="Speaker 19">
            <a:hlinkClick r:id="rId4"/>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Folie 27">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 Syntax Binding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OUTLOOK · SEMANTIC AMENDMENT</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Where is the journey going?</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Revision and syntax binding are published — work on the </a:t>
            </a:r>
            <a:r>
              <a:rPr lang="en-GB" sz="1300">
                <a:solidFill>
                  <a:srgbClr val="5B6890"/>
                </a:solidFill>
                <a:latin typeface="Inter Text" pitchFamily="34" charset="0"/>
                <a:ea typeface="Inter Text" pitchFamily="34" charset="-122"/>
                <a:cs typeface="Inter Text" pitchFamily="34" charset="-120"/>
              </a:rPr>
              <a:t>amendment of the semantics has </a:t>
            </a:r>
            <a:r>
              <a:rPr lang="en-GB" sz="1300" dirty="0">
                <a:solidFill>
                  <a:srgbClr val="5B6890"/>
                </a:solidFill>
                <a:latin typeface="Inter Text" pitchFamily="34" charset="0"/>
                <a:ea typeface="Inter Text" pitchFamily="34" charset="-122"/>
                <a:cs typeface="Inter Text" pitchFamily="34" charset="-120"/>
              </a:rPr>
              <a:t>started.</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8BB9389-9802-4564-91A4-F5A78D914DFE}"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35</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anel 8"/>
          <p:cNvSpPr/>
          <p:nvPr/>
        </p:nvSpPr>
        <p:spPr>
          <a:xfrm>
            <a:off x="822960" y="2377440"/>
            <a:ext cx="3108960" cy="3429000"/>
          </a:xfrm>
          <a:prstGeom prst="roundRect">
            <a:avLst>
              <a:gd name="adj" fmla="val 294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9" name="Text 9"/>
          <p:cNvSpPr txBox="1"/>
          <p:nvPr/>
        </p:nvSpPr>
        <p:spPr>
          <a:xfrm>
            <a:off x="1143000" y="2606040"/>
            <a:ext cx="256032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AMENDMENT</a:t>
            </a:r>
          </a:p>
        </p:txBody>
      </p:sp>
      <p:sp>
        <p:nvSpPr>
          <p:cNvPr id="10" name="Text 10"/>
          <p:cNvSpPr txBox="1"/>
          <p:nvPr/>
        </p:nvSpPr>
        <p:spPr>
          <a:xfrm>
            <a:off x="1143000" y="2880360"/>
            <a:ext cx="2560320" cy="1005840"/>
          </a:xfrm>
          <a:prstGeom prst="rect">
            <a:avLst/>
          </a:prstGeom>
          <a:noFill/>
          <a:ln/>
        </p:spPr>
        <p:txBody>
          <a:bodyPr wrap="square" lIns="0" tIns="0" rIns="0" bIns="0" rtlCol="0" anchor="ctr"/>
          <a:lstStyle/>
          <a:p>
            <a:pPr marL="0" indent="0" algn="l">
              <a:buNone/>
            </a:pPr>
            <a:r>
              <a:rPr lang="en-GB" sz="6400" b="1" dirty="0">
                <a:solidFill>
                  <a:srgbClr val="FFFFFF"/>
                </a:solidFill>
                <a:latin typeface="Inter Text" pitchFamily="34" charset="0"/>
                <a:ea typeface="Inter Text" pitchFamily="34" charset="-122"/>
                <a:cs typeface="Inter Text" pitchFamily="34" charset="-120"/>
              </a:rPr>
              <a:t>~50</a:t>
            </a:r>
          </a:p>
        </p:txBody>
      </p:sp>
      <p:sp>
        <p:nvSpPr>
          <p:cNvPr id="11" name="Text 11"/>
          <p:cNvSpPr txBox="1"/>
          <p:nvPr/>
        </p:nvSpPr>
        <p:spPr>
          <a:xfrm>
            <a:off x="1143000" y="3840480"/>
            <a:ext cx="2560320" cy="320040"/>
          </a:xfrm>
          <a:prstGeom prst="rect">
            <a:avLst/>
          </a:prstGeom>
          <a:noFill/>
          <a:ln/>
        </p:spPr>
        <p:txBody>
          <a:bodyPr wrap="square" lIns="0" tIns="0" rIns="0" bIns="0" rtlCol="0" anchor="ctr"/>
          <a:lstStyle/>
          <a:p>
            <a:pPr marL="0" indent="0" algn="l">
              <a:buNone/>
            </a:pPr>
            <a:r>
              <a:rPr lang="en-GB" sz="1300" dirty="0">
                <a:solidFill>
                  <a:srgbClr val="C2CADE"/>
                </a:solidFill>
                <a:latin typeface="Inter Text" pitchFamily="34" charset="0"/>
                <a:ea typeface="Inter Text" pitchFamily="34" charset="-122"/>
                <a:cs typeface="Inter Text" pitchFamily="34" charset="-120"/>
              </a:rPr>
              <a:t>Topics under discussion</a:t>
            </a:r>
          </a:p>
        </p:txBody>
      </p:sp>
      <p:sp>
        <p:nvSpPr>
          <p:cNvPr id="12" name="Shape 12"/>
          <p:cNvSpPr/>
          <p:nvPr/>
        </p:nvSpPr>
        <p:spPr>
          <a:xfrm>
            <a:off x="1143000" y="4297680"/>
            <a:ext cx="2468880" cy="9144"/>
          </a:xfrm>
          <a:prstGeom prst="rect">
            <a:avLst/>
          </a:prstGeom>
          <a:solidFill>
            <a:srgbClr val="3A4A7A"/>
          </a:solidFill>
          <a:ln>
            <a:noFill/>
          </a:ln>
        </p:spPr>
        <p:txBody>
          <a:bodyPr/>
          <a:lstStyle/>
          <a:p>
            <a:endParaRPr lang="en-GB"/>
          </a:p>
        </p:txBody>
      </p:sp>
      <p:sp>
        <p:nvSpPr>
          <p:cNvPr id="13" name="Text 13"/>
          <p:cNvSpPr txBox="1"/>
          <p:nvPr/>
        </p:nvSpPr>
        <p:spPr>
          <a:xfrm>
            <a:off x="1143000" y="4434840"/>
            <a:ext cx="2606040" cy="1325880"/>
          </a:xfrm>
          <a:prstGeom prst="rect">
            <a:avLst/>
          </a:prstGeom>
          <a:noFill/>
          <a:ln/>
        </p:spPr>
        <p:txBody>
          <a:bodyPr wrap="square" lIns="0" tIns="0" rIns="0" bIns="0" rtlCol="0" anchor="t"/>
          <a:lstStyle/>
          <a:p>
            <a:pPr marL="164592" indent="-164592" algn="l">
              <a:spcAft>
                <a:spcPts val="300"/>
              </a:spcAft>
              <a:buClr>
                <a:srgbClr val="19C3C8"/>
              </a:buClr>
              <a:buSzPct val="100000"/>
              <a:buChar char="•"/>
            </a:pPr>
            <a:r>
              <a:rPr lang="en-GB" sz="1150" dirty="0">
                <a:solidFill>
                  <a:srgbClr val="C2CADE"/>
                </a:solidFill>
                <a:latin typeface="Inter Text" pitchFamily="34" charset="0"/>
                <a:ea typeface="Inter Text" pitchFamily="34" charset="-122"/>
                <a:cs typeface="Inter Text" pitchFamily="34" charset="-120"/>
              </a:rPr>
              <a:t>Code list revision in progress</a:t>
            </a:r>
          </a:p>
          <a:p>
            <a:pPr marL="164592" indent="-164592" algn="l">
              <a:spcAft>
                <a:spcPts val="300"/>
              </a:spcAft>
              <a:buClr>
                <a:srgbClr val="19C3C8"/>
              </a:buClr>
              <a:buSzPct val="100000"/>
              <a:buChar char="•"/>
            </a:pPr>
            <a:r>
              <a:rPr lang="en-GB" sz="1150" dirty="0">
                <a:solidFill>
                  <a:srgbClr val="FFFFFF"/>
                </a:solidFill>
                <a:latin typeface="Inter Text" pitchFamily="34" charset="0"/>
                <a:ea typeface="Inter Text" pitchFamily="34" charset="-122"/>
                <a:cs typeface="Inter Text" pitchFamily="34" charset="-120"/>
              </a:rPr>
              <a:t>Goal: completion by end of 2026</a:t>
            </a:r>
          </a:p>
          <a:p>
            <a:pPr marL="164592" indent="-164592" algn="l">
              <a:spcAft>
                <a:spcPts val="300"/>
              </a:spcAft>
              <a:buClr>
                <a:srgbClr val="19C3C8"/>
              </a:buClr>
              <a:buSzPct val="100000"/>
              <a:buChar char="•"/>
            </a:pPr>
            <a:r>
              <a:rPr lang="en-GB" sz="1150" dirty="0">
                <a:solidFill>
                  <a:srgbClr val="C2CADE"/>
                </a:solidFill>
                <a:latin typeface="Inter Text" pitchFamily="34" charset="0"/>
                <a:ea typeface="Inter Text" pitchFamily="34" charset="-122"/>
                <a:cs typeface="Inter Text" pitchFamily="34" charset="-120"/>
              </a:rPr>
              <a:t>Syntax binding in parallel where possible</a:t>
            </a:r>
          </a:p>
        </p:txBody>
      </p:sp>
      <p:sp>
        <p:nvSpPr>
          <p:cNvPr id="14" name="Card 14"/>
          <p:cNvSpPr/>
          <p:nvPr/>
        </p:nvSpPr>
        <p:spPr>
          <a:xfrm>
            <a:off x="4114800" y="2377440"/>
            <a:ext cx="2331720" cy="3429000"/>
          </a:xfrm>
          <a:prstGeom prst="roundRect">
            <a:avLst>
              <a:gd name="adj" fmla="val 3137"/>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Text 15"/>
          <p:cNvSpPr txBox="1"/>
          <p:nvPr/>
        </p:nvSpPr>
        <p:spPr>
          <a:xfrm>
            <a:off x="4315968" y="2514600"/>
            <a:ext cx="1965960" cy="411480"/>
          </a:xfrm>
          <a:prstGeom prst="rect">
            <a:avLst/>
          </a:prstGeom>
          <a:noFill/>
          <a:ln/>
        </p:spPr>
        <p:txBody>
          <a:bodyPr wrap="square" lIns="0" tIns="0" rIns="0" bIns="0" rtlCol="0" anchor="ctr"/>
          <a:lstStyle/>
          <a:p>
            <a:pPr marL="0" indent="0" algn="l">
              <a:buNone/>
            </a:pPr>
            <a:r>
              <a:rPr lang="en-GB" sz="1350" dirty="0">
                <a:solidFill>
                  <a:srgbClr val="1A2B5E"/>
                </a:solidFill>
                <a:latin typeface="Inter SemiBold Text SemiBold" pitchFamily="34" charset="0"/>
                <a:ea typeface="Inter SemiBold Text SemiBold" pitchFamily="34" charset="-122"/>
                <a:cs typeface="Inter SemiBold Text SemiBold" pitchFamily="34" charset="-120"/>
              </a:rPr>
              <a:t>Tax &amp; DRR</a:t>
            </a:r>
          </a:p>
        </p:txBody>
      </p:sp>
      <p:sp>
        <p:nvSpPr>
          <p:cNvPr id="16" name="Text 16"/>
          <p:cNvSpPr txBox="1"/>
          <p:nvPr/>
        </p:nvSpPr>
        <p:spPr>
          <a:xfrm>
            <a:off x="4315968" y="2971800"/>
            <a:ext cx="1993392" cy="2788920"/>
          </a:xfrm>
          <a:prstGeom prst="rect">
            <a:avLst/>
          </a:prstGeom>
          <a:noFill/>
          <a:ln/>
        </p:spPr>
        <p:txBody>
          <a:bodyPr wrap="square" lIns="0" tIns="0" rIns="0" bIns="0" rtlCol="0" anchor="t"/>
          <a:lstStyle/>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Exemption reason for categories besides E?</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Goods/services, subtotals and DRR</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Third-party fees, amount due and DRR</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VAT group as one taxable person</a:t>
            </a:r>
          </a:p>
        </p:txBody>
      </p:sp>
      <p:sp>
        <p:nvSpPr>
          <p:cNvPr id="17" name="Card 17"/>
          <p:cNvSpPr/>
          <p:nvPr/>
        </p:nvSpPr>
        <p:spPr>
          <a:xfrm>
            <a:off x="6565392" y="2377440"/>
            <a:ext cx="2331720" cy="3429000"/>
          </a:xfrm>
          <a:prstGeom prst="roundRect">
            <a:avLst>
              <a:gd name="adj" fmla="val 3137"/>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8" name="Text 18"/>
          <p:cNvSpPr txBox="1"/>
          <p:nvPr/>
        </p:nvSpPr>
        <p:spPr>
          <a:xfrm>
            <a:off x="6766560" y="2514600"/>
            <a:ext cx="1965960" cy="411480"/>
          </a:xfrm>
          <a:prstGeom prst="rect">
            <a:avLst/>
          </a:prstGeom>
          <a:noFill/>
          <a:ln/>
        </p:spPr>
        <p:txBody>
          <a:bodyPr wrap="square" lIns="0" tIns="0" rIns="0" bIns="0" rtlCol="0" anchor="ctr"/>
          <a:lstStyle/>
          <a:p>
            <a:pPr marL="0" indent="0" algn="l">
              <a:buNone/>
            </a:pPr>
            <a:r>
              <a:rPr lang="en-GB" sz="1350" dirty="0">
                <a:solidFill>
                  <a:srgbClr val="1A2B5E"/>
                </a:solidFill>
                <a:latin typeface="Inter SemiBold Text SemiBold" pitchFamily="34" charset="0"/>
                <a:ea typeface="Inter SemiBold Text SemiBold" pitchFamily="34" charset="-122"/>
                <a:cs typeface="Inter SemiBold Text SemiBold" pitchFamily="34" charset="-120"/>
              </a:rPr>
              <a:t>Business processes</a:t>
            </a:r>
          </a:p>
        </p:txBody>
      </p:sp>
      <p:sp>
        <p:nvSpPr>
          <p:cNvPr id="19" name="Text 19"/>
          <p:cNvSpPr txBox="1"/>
          <p:nvPr/>
        </p:nvSpPr>
        <p:spPr>
          <a:xfrm>
            <a:off x="6766560" y="2971800"/>
            <a:ext cx="1993392" cy="2788920"/>
          </a:xfrm>
          <a:prstGeom prst="rect">
            <a:avLst/>
          </a:prstGeom>
          <a:noFill/>
          <a:ln/>
        </p:spPr>
        <p:txBody>
          <a:bodyPr wrap="square" lIns="0" tIns="0" rIns="0" bIns="0" rtlCol="0" anchor="t"/>
          <a:lstStyle/>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Multiple payment terms with date and amount</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Incoterms</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Credit note: standalone or corrective, negative credit notes</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Replacing corrective invoice</a:t>
            </a:r>
          </a:p>
        </p:txBody>
      </p:sp>
      <p:sp>
        <p:nvSpPr>
          <p:cNvPr id="20" name="Card 20"/>
          <p:cNvSpPr/>
          <p:nvPr/>
        </p:nvSpPr>
        <p:spPr>
          <a:xfrm>
            <a:off x="9015984" y="2377440"/>
            <a:ext cx="2331720" cy="3429000"/>
          </a:xfrm>
          <a:prstGeom prst="roundRect">
            <a:avLst>
              <a:gd name="adj" fmla="val 3137"/>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1" name="Text 21"/>
          <p:cNvSpPr txBox="1"/>
          <p:nvPr/>
        </p:nvSpPr>
        <p:spPr>
          <a:xfrm>
            <a:off x="9217152" y="2514600"/>
            <a:ext cx="1965960" cy="411480"/>
          </a:xfrm>
          <a:prstGeom prst="rect">
            <a:avLst/>
          </a:prstGeom>
          <a:noFill/>
          <a:ln/>
        </p:spPr>
        <p:txBody>
          <a:bodyPr wrap="square" lIns="0" tIns="0" rIns="0" bIns="0" rtlCol="0" anchor="ctr"/>
          <a:lstStyle/>
          <a:p>
            <a:pPr marL="0" indent="0" algn="l">
              <a:buNone/>
            </a:pPr>
            <a:r>
              <a:rPr lang="en-GB" sz="1350" dirty="0">
                <a:solidFill>
                  <a:srgbClr val="1A2B5E"/>
                </a:solidFill>
                <a:latin typeface="Inter SemiBold Text SemiBold" pitchFamily="34" charset="0"/>
                <a:ea typeface="Inter SemiBold Text SemiBold" pitchFamily="34" charset="-122"/>
                <a:cs typeface="Inter SemiBold Text SemiBold" pitchFamily="34" charset="-120"/>
              </a:rPr>
              <a:t>Technology &amp; interoperability</a:t>
            </a:r>
          </a:p>
        </p:txBody>
      </p:sp>
      <p:sp>
        <p:nvSpPr>
          <p:cNvPr id="22" name="Text 22"/>
          <p:cNvSpPr txBox="1"/>
          <p:nvPr/>
        </p:nvSpPr>
        <p:spPr>
          <a:xfrm>
            <a:off x="9217152" y="2971800"/>
            <a:ext cx="1993392" cy="2788920"/>
          </a:xfrm>
          <a:prstGeom prst="rect">
            <a:avLst/>
          </a:prstGeom>
          <a:noFill/>
          <a:ln/>
        </p:spPr>
        <p:txBody>
          <a:bodyPr wrap="square" lIns="0" tIns="0" rIns="0" bIns="0" rtlCol="0" anchor="t"/>
          <a:lstStyle/>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BT-10 Buyer reference and backward compatibility</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Split BT-161 into value and measurement</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Exchange rate: notation and operator</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Spaces, CR/LF, tab in identifiers</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Different CIUS at buyer and seller</a:t>
            </a:r>
          </a:p>
          <a:p>
            <a:pPr marL="128016" indent="-128016" algn="l">
              <a:spcAft>
                <a:spcPts val="400"/>
              </a:spcAft>
              <a:buSzPct val="100000"/>
              <a:buChar char="•"/>
            </a:pPr>
            <a:r>
              <a:rPr lang="en-GB" sz="1050" dirty="0">
                <a:solidFill>
                  <a:srgbClr val="5B6890"/>
                </a:solidFill>
                <a:latin typeface="Inter Text" pitchFamily="34" charset="0"/>
                <a:ea typeface="Inter Text" pitchFamily="34" charset="-122"/>
                <a:cs typeface="Inter Text" pitchFamily="34" charset="-120"/>
              </a:rPr>
              <a:t>Extensions in cross-border ViDA traffic</a:t>
            </a:r>
          </a:p>
        </p:txBody>
      </p:sp>
      <p:sp>
        <p:nvSpPr>
          <p:cNvPr id="23" name="Pill 23"/>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50" dirty="0">
                <a:solidFill>
                  <a:srgbClr val="5B6890"/>
                </a:solidFill>
                <a:latin typeface="Inter Text" pitchFamily="34" charset="0"/>
                <a:ea typeface="Inter Text" pitchFamily="34" charset="-122"/>
                <a:cs typeface="Inter Text" pitchFamily="34" charset="-120"/>
              </a:rPr>
              <a:t>My contributions to the amendment:  </a:t>
            </a:r>
            <a:r>
              <a:rPr lang="en-GB" sz="1250" dirty="0">
                <a:solidFill>
                  <a:srgbClr val="0E7E82"/>
                </a:solidFill>
                <a:latin typeface="Inter SemiBold Text SemiBold" pitchFamily="34" charset="0"/>
                <a:ea typeface="Inter SemiBold Text SemiBold" pitchFamily="34" charset="-122"/>
                <a:cs typeface="Inter SemiBold Text SemiBold" pitchFamily="34" charset="-120"/>
              </a:rPr>
              <a:t>#163 Round only once  ·  #164 Gross price model</a:t>
            </a:r>
          </a:p>
        </p:txBody>
      </p:sp>
      <p:sp>
        <p:nvSpPr>
          <p:cNvPr id="24" name="Speaker 24">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Folie 33">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 Syntax Binding</a:t>
            </a:r>
          </a:p>
        </p:txBody>
      </p:sp>
      <p:sp>
        <p:nvSpPr>
          <p:cNvPr id="5" name="PageNum 5"/>
          <p:cNvSpPr txBox="1"/>
          <p:nvPr/>
        </p:nvSpPr>
        <p:spPr>
          <a:xfrm>
            <a:off x="10908792" y="6514592"/>
            <a:ext cx="822960" cy="292608"/>
          </a:xfrm>
          <a:prstGeom prst="rect">
            <a:avLst/>
          </a:prstGeom>
          <a:noFill/>
          <a:ln/>
        </p:spPr>
        <p:txBody>
          <a:bodyPr wrap="square" lIns="0" tIns="0" rIns="0" bIns="0" rtlCol="0" anchor="ctr"/>
          <a:lstStyle/>
          <a:p>
            <a:pPr marL="0" indent="0" algn="r">
              <a:buNone/>
            </a:pPr>
            <a:fld id="{F5EABF99-63BD-4822-A20F-6C6A9E27D083}" type="slidenum">
              <a:rPr lang="en-GB" sz="1000" spc="200" dirty="0">
                <a:solidFill>
                  <a:srgbClr val="8EA0CC"/>
                </a:solidFill>
                <a:latin typeface="Inter SemiBold Text SemiBold" pitchFamily="34" charset="0"/>
                <a:ea typeface="Inter SemiBold Text SemiBold" pitchFamily="34" charset="-122"/>
                <a:cs typeface="Inter SemiBold Text SemiBold" pitchFamily="34" charset="-120"/>
              </a:rPr>
              <a:t>36</a:t>
            </a:fld>
            <a:endParaRPr lang="en-GB" sz="1000" spc="200" dirty="0">
              <a:solidFill>
                <a:srgbClr val="8EA0CC"/>
              </a:solidFill>
              <a:latin typeface="Inter SemiBold Text SemiBold" pitchFamily="34" charset="0"/>
              <a:ea typeface="Inter SemiBold Text SemiBold" pitchFamily="34" charset="-122"/>
              <a:cs typeface="Inter SemiBold Text SemiBold" pitchFamily="34" charset="-120"/>
            </a:endParaRPr>
          </a:p>
        </p:txBody>
      </p:sp>
      <p:sp>
        <p:nvSpPr>
          <p:cNvPr id="6" name="Shape 6"/>
          <p:cNvSpPr/>
          <p:nvPr/>
        </p:nvSpPr>
        <p:spPr>
          <a:xfrm>
            <a:off x="5586984" y="2148840"/>
            <a:ext cx="1005840" cy="100584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7" name="Image 7"/>
          <p:cNvPicPr>
            <a:picLocks noChangeAspect="1"/>
          </p:cNvPicPr>
          <p:nvPr/>
        </p:nvPicPr>
        <p:blipFill>
          <a:blip r:embed="rId4"/>
          <a:stretch>
            <a:fillRect/>
          </a:stretch>
        </p:blipFill>
        <p:spPr>
          <a:xfrm>
            <a:off x="5861304" y="2423160"/>
            <a:ext cx="457200" cy="457200"/>
          </a:xfrm>
          <a:prstGeom prst="rect">
            <a:avLst/>
          </a:prstGeom>
        </p:spPr>
      </p:pic>
      <p:sp>
        <p:nvSpPr>
          <p:cNvPr id="8" name="Text 8"/>
          <p:cNvSpPr txBox="1"/>
          <p:nvPr/>
        </p:nvSpPr>
        <p:spPr>
          <a:xfrm>
            <a:off x="914400" y="3337560"/>
            <a:ext cx="10360152" cy="914400"/>
          </a:xfrm>
          <a:prstGeom prst="rect">
            <a:avLst/>
          </a:prstGeom>
          <a:noFill/>
          <a:ln/>
        </p:spPr>
        <p:txBody>
          <a:bodyPr wrap="square" lIns="0" tIns="0" rIns="0" bIns="0" rtlCol="0" anchor="ctr"/>
          <a:lstStyle/>
          <a:p>
            <a:pPr marL="0" indent="0" algn="ctr">
              <a:buNone/>
            </a:pPr>
            <a:r>
              <a:rPr lang="en-GB" sz="5200" dirty="0">
                <a:solidFill>
                  <a:srgbClr val="FFFFFF"/>
                </a:solidFill>
                <a:latin typeface="Inter Light Text Light" pitchFamily="34" charset="0"/>
                <a:ea typeface="Inter Light Text Light" pitchFamily="34" charset="-122"/>
                <a:cs typeface="Inter Light Text Light" pitchFamily="34" charset="-120"/>
              </a:rPr>
              <a:t>Time for your questions</a:t>
            </a:r>
          </a:p>
        </p:txBody>
      </p:sp>
      <p:sp>
        <p:nvSpPr>
          <p:cNvPr id="9" name="Text 9"/>
          <p:cNvSpPr txBox="1"/>
          <p:nvPr/>
        </p:nvSpPr>
        <p:spPr>
          <a:xfrm>
            <a:off x="914400" y="4297680"/>
            <a:ext cx="10360152" cy="457200"/>
          </a:xfrm>
          <a:prstGeom prst="rect">
            <a:avLst/>
          </a:prstGeom>
          <a:noFill/>
          <a:ln/>
        </p:spPr>
        <p:txBody>
          <a:bodyPr wrap="square" lIns="0" tIns="0" rIns="0" bIns="0" rtlCol="0" anchor="ctr"/>
          <a:lstStyle/>
          <a:p>
            <a:pPr marL="0" indent="0" algn="ctr">
              <a:buNone/>
            </a:pPr>
            <a:r>
              <a:rPr lang="en-GB" sz="1600" spc="100" dirty="0">
                <a:solidFill>
                  <a:srgbClr val="AFC0EA"/>
                </a:solidFill>
                <a:latin typeface="Inter Text" pitchFamily="34" charset="0"/>
                <a:ea typeface="Inter Text" pitchFamily="34" charset="-122"/>
                <a:cs typeface="Inter Text" pitchFamily="34" charset="-120"/>
              </a:rPr>
              <a:t>Discussion · exchange · thinking through next steps together</a:t>
            </a:r>
          </a:p>
        </p:txBody>
      </p:sp>
      <p:sp>
        <p:nvSpPr>
          <p:cNvPr id="10" name="Speaker 10">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8EA0CC"/>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Folie 34">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ZUGFeRD-Entwicklertage 2026</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 Syntax Binding</a:t>
            </a:r>
          </a:p>
        </p:txBody>
      </p:sp>
      <p:sp>
        <p:nvSpPr>
          <p:cNvPr id="5" name="SectionLabel 5"/>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CONTACT</a:t>
            </a:r>
          </a:p>
        </p:txBody>
      </p:sp>
      <p:sp>
        <p:nvSpPr>
          <p:cNvPr id="6" name="Title 6"/>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FFFFFF"/>
                </a:solidFill>
                <a:latin typeface="Inter Text" pitchFamily="34" charset="0"/>
                <a:ea typeface="Inter Text" pitchFamily="34" charset="-122"/>
                <a:cs typeface="Inter Text" pitchFamily="34" charset="-120"/>
              </a:rPr>
              <a:t>Talk to me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87DA7C0F-D619-4F2F-88AE-3AFCE6D46308}" type="slidenum">
              <a:rPr lang="en-GB" sz="1000" spc="200" dirty="0">
                <a:solidFill>
                  <a:srgbClr val="8EA0CC"/>
                </a:solidFill>
                <a:latin typeface="Inter SemiBold Text SemiBold" pitchFamily="34" charset="0"/>
                <a:ea typeface="Inter SemiBold Text SemiBold" pitchFamily="34" charset="-122"/>
                <a:cs typeface="Inter SemiBold Text SemiBold" pitchFamily="34" charset="-120"/>
              </a:rPr>
              <a:t>37</a:t>
            </a:fld>
            <a:endParaRPr lang="en-GB" sz="1000" spc="200" dirty="0">
              <a:solidFill>
                <a:srgbClr val="8EA0CC"/>
              </a:solidFill>
              <a:latin typeface="Inter SemiBold Text SemiBold" pitchFamily="34" charset="0"/>
              <a:ea typeface="Inter SemiBold Text SemiBold" pitchFamily="34" charset="-122"/>
              <a:cs typeface="Inter SemiBold Text SemiBold" pitchFamily="34" charset="-120"/>
            </a:endParaRPr>
          </a:p>
        </p:txBody>
      </p:sp>
      <p:sp>
        <p:nvSpPr>
          <p:cNvPr id="8" name="Shape 8"/>
          <p:cNvSpPr/>
          <p:nvPr/>
        </p:nvSpPr>
        <p:spPr>
          <a:xfrm>
            <a:off x="82296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en-GB"/>
          </a:p>
        </p:txBody>
      </p:sp>
      <p:sp>
        <p:nvSpPr>
          <p:cNvPr id="9" name="Shape 9"/>
          <p:cNvSpPr/>
          <p:nvPr/>
        </p:nvSpPr>
        <p:spPr>
          <a:xfrm>
            <a:off x="1133856" y="3054096"/>
            <a:ext cx="640080" cy="64008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mage 10"/>
          <p:cNvPicPr>
            <a:picLocks noChangeAspect="1"/>
          </p:cNvPicPr>
          <p:nvPr/>
        </p:nvPicPr>
        <p:blipFill>
          <a:blip r:embed="rId4"/>
          <a:stretch>
            <a:fillRect/>
          </a:stretch>
        </p:blipFill>
        <p:spPr>
          <a:xfrm>
            <a:off x="1307592" y="3227832"/>
            <a:ext cx="292608" cy="292608"/>
          </a:xfrm>
          <a:prstGeom prst="rect">
            <a:avLst/>
          </a:prstGeom>
        </p:spPr>
      </p:pic>
      <p:sp>
        <p:nvSpPr>
          <p:cNvPr id="11" name="Text 11"/>
          <p:cNvSpPr txBox="1"/>
          <p:nvPr/>
        </p:nvSpPr>
        <p:spPr>
          <a:xfrm>
            <a:off x="1965960" y="3063240"/>
            <a:ext cx="3749040" cy="1463040"/>
          </a:xfrm>
          <a:prstGeom prst="rect">
            <a:avLst/>
          </a:prstGeom>
          <a:noFill/>
          <a:ln/>
        </p:spPr>
        <p:txBody>
          <a:bodyPr wrap="square" lIns="0" tIns="0" rIns="0" bIns="0" rtlCol="0" anchor="t"/>
          <a:lstStyle/>
          <a:p>
            <a:pPr marL="0" indent="0" algn="l">
              <a:lnSpc>
                <a:spcPct val="110000"/>
              </a:lnSpc>
              <a:spcAft>
                <a:spcPts val="300"/>
              </a:spcAft>
              <a:buNone/>
            </a:pPr>
            <a:r>
              <a:rPr lang="en-GB" sz="18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10000"/>
              </a:lnSpc>
              <a:buNone/>
            </a:pPr>
            <a:r>
              <a:rPr lang="en-GB" sz="1200" dirty="0">
                <a:solidFill>
                  <a:srgbClr val="BFD0F4"/>
                </a:solidFill>
                <a:latin typeface="Inter Text" pitchFamily="34" charset="0"/>
                <a:ea typeface="Inter Text" pitchFamily="34" charset="-122"/>
                <a:cs typeface="Inter Text" pitchFamily="34" charset="-120"/>
              </a:rPr>
              <a:t>Syntax bindings · validation · tooling</a:t>
            </a:r>
          </a:p>
          <a:p>
            <a:pPr marL="0" indent="0" algn="l">
              <a:lnSpc>
                <a:spcPct val="110000"/>
              </a:lnSpc>
              <a:buNone/>
            </a:pPr>
            <a:r>
              <a:rPr lang="en-GB" sz="1200" dirty="0">
                <a:solidFill>
                  <a:srgbClr val="BFD0F4"/>
                </a:solidFill>
                <a:latin typeface="Inter Text" pitchFamily="34" charset="0"/>
                <a:ea typeface="Inter Text" pitchFamily="34" charset="-122"/>
                <a:cs typeface="Inter Text" pitchFamily="34" charset="-120"/>
              </a:rPr>
              <a:t>Editor of the syntax bindings, CEN/TC 434 WG3</a:t>
            </a:r>
          </a:p>
        </p:txBody>
      </p:sp>
      <p:sp>
        <p:nvSpPr>
          <p:cNvPr id="12" name="Shape 12"/>
          <p:cNvSpPr/>
          <p:nvPr/>
        </p:nvSpPr>
        <p:spPr>
          <a:xfrm>
            <a:off x="626364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en-GB"/>
          </a:p>
        </p:txBody>
      </p:sp>
      <p:sp>
        <p:nvSpPr>
          <p:cNvPr id="13" name="Text 13"/>
          <p:cNvSpPr txBox="1"/>
          <p:nvPr/>
        </p:nvSpPr>
        <p:spPr>
          <a:xfrm>
            <a:off x="6583680" y="2880360"/>
            <a:ext cx="4572000" cy="365760"/>
          </a:xfrm>
          <a:prstGeom prst="rect">
            <a:avLst/>
          </a:prstGeom>
          <a:noFill/>
          <a:ln/>
        </p:spPr>
        <p:txBody>
          <a:bodyPr wrap="square" lIns="0" tIns="0" rIns="0" bIns="0" rtlCol="0" anchor="ctr"/>
          <a:lstStyle/>
          <a:p>
            <a:pPr marL="0" indent="0" algn="l">
              <a:buNone/>
            </a:pPr>
            <a:r>
              <a:rPr lang="en-GB" sz="1500" dirty="0">
                <a:solidFill>
                  <a:srgbClr val="FFFFFF"/>
                </a:solidFill>
                <a:latin typeface="Inter SemiBold Text SemiBold" pitchFamily="34" charset="0"/>
                <a:ea typeface="Inter SemiBold Text SemiBold" pitchFamily="34" charset="-122"/>
                <a:cs typeface="Inter SemiBold Text SemiBold" pitchFamily="34" charset="-120"/>
              </a:rPr>
              <a:t>Follow &amp; join in</a:t>
            </a:r>
          </a:p>
        </p:txBody>
      </p:sp>
      <p:sp>
        <p:nvSpPr>
          <p:cNvPr id="14" name="Text 14">
            <a:hlinkClick r:id="rId5"/>
          </p:cNvPr>
          <p:cNvSpPr txBox="1"/>
          <p:nvPr/>
        </p:nvSpPr>
        <p:spPr>
          <a:xfrm>
            <a:off x="6583680" y="3310128"/>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WG1 issues #163 and #164</a:t>
            </a:r>
          </a:p>
        </p:txBody>
      </p:sp>
      <p:sp>
        <p:nvSpPr>
          <p:cNvPr id="15" name="Text 15">
            <a:hlinkClick r:id="rId6"/>
          </p:cNvPr>
          <p:cNvSpPr txBox="1"/>
          <p:nvPr/>
        </p:nvSpPr>
        <p:spPr>
          <a:xfrm>
            <a:off x="6583680" y="3611880"/>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Issues on the syntax bindings (WG3)</a:t>
            </a:r>
          </a:p>
        </p:txBody>
      </p:sp>
      <p:sp>
        <p:nvSpPr>
          <p:cNvPr id="16" name="Text 16">
            <a:hlinkClick r:id="rId7"/>
          </p:cNvPr>
          <p:cNvSpPr txBox="1"/>
          <p:nvPr/>
        </p:nvSpPr>
        <p:spPr>
          <a:xfrm>
            <a:off x="6583680" y="3913632"/>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Svanton: exact arithmetic for Saxon</a:t>
            </a:r>
          </a:p>
        </p:txBody>
      </p:sp>
      <p:sp>
        <p:nvSpPr>
          <p:cNvPr id="17" name="Text 17">
            <a:hlinkClick r:id="rId8"/>
          </p:cNvPr>
          <p:cNvSpPr txBox="1"/>
          <p:nvPr/>
        </p:nvSpPr>
        <p:spPr>
          <a:xfrm>
            <a:off x="6583680" y="4215384"/>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XSLT 4.0 proposal (qt4cg #2935)</a:t>
            </a:r>
          </a:p>
        </p:txBody>
      </p:sp>
      <p:sp>
        <p:nvSpPr>
          <p:cNvPr id="18" name="Text 18"/>
          <p:cNvSpPr txBox="1"/>
          <p:nvPr/>
        </p:nvSpPr>
        <p:spPr>
          <a:xfrm>
            <a:off x="822960" y="5074920"/>
            <a:ext cx="10058400" cy="548640"/>
          </a:xfrm>
          <a:prstGeom prst="rect">
            <a:avLst/>
          </a:prstGeom>
          <a:noFill/>
          <a:ln/>
        </p:spPr>
        <p:txBody>
          <a:bodyPr wrap="square" lIns="0" tIns="0" rIns="0" bIns="0" rtlCol="0" anchor="ctr"/>
          <a:lstStyle/>
          <a:p>
            <a:pPr marL="0" indent="0" algn="l">
              <a:lnSpc>
                <a:spcPct val="110000"/>
              </a:lnSpc>
              <a:buNone/>
            </a:pPr>
            <a:r>
              <a:rPr lang="en-GB" sz="1500" dirty="0">
                <a:solidFill>
                  <a:srgbClr val="FFFFFF"/>
                </a:solidFill>
                <a:latin typeface="Inter SemiBold Text SemiBold" pitchFamily="34" charset="0"/>
                <a:ea typeface="Inter SemiBold Text SemiBold" pitchFamily="34" charset="-122"/>
                <a:cs typeface="Inter SemiBold Text SemiBold" pitchFamily="34" charset="-120"/>
              </a:rPr>
              <a:t>Thank you </a:t>
            </a:r>
            <a:r>
              <a:rPr lang="en-GB" sz="1500" dirty="0">
                <a:solidFill>
                  <a:srgbClr val="AFC0EA"/>
                </a:solidFill>
                <a:latin typeface="Inter Text" pitchFamily="34" charset="0"/>
                <a:ea typeface="Inter Text" pitchFamily="34" charset="-122"/>
                <a:cs typeface="Inter Text" pitchFamily="34" charset="-120"/>
              </a:rPr>
              <a:t>for your attention — I look forward to the exchange at the ZUGFeRD-Entwicklertage.</a:t>
            </a:r>
          </a:p>
        </p:txBody>
      </p:sp>
      <p:sp>
        <p:nvSpPr>
          <p:cNvPr id="19" name="Speaker 19">
            <a:hlinkClick r:id="rId9"/>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8EA0CC"/>
                </a:solidFill>
                <a:latin typeface="Inter Medium Text Medium" pitchFamily="34" charset="0"/>
                <a:ea typeface="Inter Medium Text Medium" pitchFamily="34" charset="-122"/>
                <a:cs typeface="Inter Medium Text Medium" pitchFamily="34" charset="-120"/>
              </a:rPr>
              <a:t>© Svante Schubert</a:t>
            </a:r>
          </a:p>
        </p:txBody>
      </p:sp>
      <p:sp>
        <p:nvSpPr>
          <p:cNvPr id="20" name="QR Card pptx"/>
          <p:cNvSpPr/>
          <p:nvPr/>
        </p:nvSpPr>
        <p:spPr>
          <a:xfrm>
            <a:off x="9902952" y="822960"/>
            <a:ext cx="1463040" cy="146304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en-GB"/>
          </a:p>
        </p:txBody>
      </p:sp>
      <p:pic>
        <p:nvPicPr>
          <p:cNvPr id="21" name="QR Slides pptx" descr="QR code: slides as PPTX (https://svanteschubert.github.io/testy/ZUGFeRD_Entwicklertage_2026_SvanteSchubert_Syntax-Binding_EN.pptx)">
            <a:hlinkClick r:id="rId10"/>
          </p:cNvPr>
          <p:cNvPicPr>
            <a:picLocks noChangeAspect="1"/>
          </p:cNvPicPr>
          <p:nvPr/>
        </p:nvPicPr>
        <p:blipFill>
          <a:blip r:embed="rId11"/>
          <a:stretch>
            <a:fillRect/>
          </a:stretch>
        </p:blipFill>
        <p:spPr>
          <a:xfrm>
            <a:off x="9976104" y="896112"/>
            <a:ext cx="1316736" cy="1316736"/>
          </a:xfrm>
          <a:prstGeom prst="rect">
            <a:avLst/>
          </a:prstGeom>
        </p:spPr>
      </p:pic>
      <p:sp>
        <p:nvSpPr>
          <p:cNvPr id="22" name="QR Caption pptx">
            <a:hlinkClick r:id="rId10"/>
          </p:cNvPr>
          <p:cNvSpPr txBox="1"/>
          <p:nvPr/>
        </p:nvSpPr>
        <p:spPr>
          <a:xfrm>
            <a:off x="9537192" y="2340864"/>
            <a:ext cx="2194560" cy="256032"/>
          </a:xfrm>
          <a:prstGeom prst="rect">
            <a:avLst/>
          </a:prstGeom>
          <a:noFill/>
          <a:ln/>
        </p:spPr>
        <p:txBody>
          <a:bodyPr wrap="square" lIns="0" tIns="0" rIns="0" bIns="0" rtlCol="0" anchor="ctr"/>
          <a:lstStyle/>
          <a:p>
            <a:pPr marL="0" indent="0" algn="ctr">
              <a:buNone/>
            </a:pPr>
            <a:r>
              <a:rPr lang="en-GB" sz="1000" spc="100" dirty="0">
                <a:solidFill>
                  <a:srgbClr val="C4D2F4"/>
                </a:solidFill>
                <a:latin typeface="Inter Medium Text Medium" pitchFamily="34" charset="0"/>
                <a:ea typeface="Inter Medium Text Medium" pitchFamily="34" charset="-122"/>
                <a:cs typeface="Inter Medium Text Medium" pitchFamily="34" charset="-120"/>
              </a:rPr>
              <a:t>Slides as 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TotalTime>
  <Words>13885</Words>
  <Application>Microsoft Macintosh PowerPoint</Application>
  <PresentationFormat>Widescreen</PresentationFormat>
  <Paragraphs>1503</Paragraphs>
  <Slides>37</Slides>
  <Notes>37</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Consolas</vt:lpstr>
      <vt:lpstr>Inter Text</vt:lpstr>
      <vt:lpstr>Arial</vt:lpstr>
      <vt:lpstr>Inter SemiBold Text SemiBold</vt:lpstr>
      <vt:lpstr>Inter Medium Text Medium</vt:lpstr>
      <vt:lpstr>Inter Light Text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Schubert Consulting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Syntax Binding of EN 16931-1:2026</dc:title>
  <dc:subject>Update on the syntax binding (EN)</dc:subject>
  <dc:creator>Svante Schubert</dc:creator>
  <cp:keywords/>
  <dc:description>ZUGFeRD Entwicklertage 2026</dc:description>
  <cp:lastModifiedBy>Svante Schubert</cp:lastModifiedBy>
  <cp:revision>58</cp:revision>
  <dcterms:created xsi:type="dcterms:W3CDTF">2026-06-19T07:48:12Z</dcterms:created>
  <dcterms:modified xsi:type="dcterms:W3CDTF">2026-10-15T08:47:41Z</dcterms:modified>
  <cp:category/>
</cp:coreProperties>
</file>