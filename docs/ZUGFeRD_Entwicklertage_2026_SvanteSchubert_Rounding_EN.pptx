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9"/>
  </p:notesMasterIdLst>
  <p:sldIdLst>
    <p:sldId id="301" r:id="rId2"/>
    <p:sldId id="331" r:id="rId25"/>
    <p:sldId id="328" r:id="rId26"/>
    <p:sldId id="329" r:id="rId27"/>
    <p:sldId id="330" r:id="rId28"/>
    <p:sldId id="337" r:id="rId29"/>
    <p:sldId id="336" r:id="rId30"/>
    <p:sldId id="335" r:id="rId31"/>
    <p:sldId id="332" r:id="rId32"/>
    <p:sldId id="334" r:id="rId38"/>
  </p:sldIdLst>
  <p:sldSz cx="12192000" cy="6858000"/>
  <p:notesSz cx="6858000" cy="12192000"/>
  <p:embeddedFontLs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Inter Light Text Light" panose="02000503000000020004" pitchFamily="2" charset="0"/>
      <p:regular r:id="rId44"/>
    </p:embeddedFont>
    <p:embeddedFont>
      <p:font typeface="Inter Medium Text Medium" panose="02000503000000020004" pitchFamily="2" charset="0"/>
      <p:regular r:id="rId45"/>
    </p:embeddedFont>
    <p:embeddedFont>
      <p:font typeface="Inter SemiBold Text SemiBold" panose="02000503000000020004" pitchFamily="2" charset="0"/>
      <p:regular r:id="rId46"/>
    </p:embeddedFont>
    <p:embeddedFont>
      <p:font typeface="Inter Text" panose="02000503000000020004" pitchFamily="2" charset="0"/>
      <p:regular r:id="rId47"/>
      <p:bold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166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32" Type="http://schemas.openxmlformats.org/officeDocument/2006/relationships/slide" Target="slides/slide31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28" Type="http://schemas.openxmlformats.org/officeDocument/2006/relationships/slide" Target="slides/slide27.xml"/><Relationship Id="rId49" Type="http://schemas.openxmlformats.org/officeDocument/2006/relationships/presProps" Target="presProps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1" Type="http://schemas.openxmlformats.org/officeDocument/2006/relationships/theme" Target="theme/theme1.xml"/><Relationship Id="rId25" Type="http://schemas.openxmlformats.org/officeDocument/2006/relationships/slide" Target="slides/slide24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90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Welcome. Topic: the new EN 16931-1:2026 from the perspective of the syntax bindings — UBL and CII as carriers of the semantics.</a:t>
            </a:r>
          </a:p>
          <a:p>
            <a:r>
              <a:rPr lang="en-GB" dirty="0"/>
              <a:t>Introduction: editor of the syntax bindings (CEN/TC 434 WG3), delegated by 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github.com/ConnectingEurope/CEN-TC434-WG1/issues/163 — 'Round only once: no rounding of intermediate values, only of the amounts that are paid are being rounded' (Update 3 of 14 Oct 2026).</a:t>
            </a:r>
          </a:p>
          <a:p>
            <a:r>
              <a:rPr lang="en-GB" dirty="0"/>
              <a:t>EN 16931-1:2026 already says the right thing in 6.5.14: the final result is rounded, not intermediate results. But that only applies per rule; Table 28 and the first indent of 6.5.14 force every result back to cents before it enters the next rule. That is why tolerances of up to EUR 1 are needed (BR-S-9, BR-IG-9, BR-IP-9).</a:t>
            </a:r>
          </a:p>
          <a:p>
            <a:r>
              <a:rPr lang="en-GB" dirty="0"/>
              <a:t>Update 3: only what is paid gets rounded — BT-115 Amount due for payment and the amounts that change it: BT-113 Paid amount, BT-172 Discount amount (early payment), BT-179 Charge amount collected on behalf of a third party, BT-183 Penalty amount (late payment). They are stated in the currency's Minor Unit (ISO 4217, column 'minor unit'; EUR: cent) — the bank does not transfer smaller amounts. BT-114 Rounding amount carries the one rounding. Everything else, VAT included, is stated as precisely as the issuer calculates.</a:t>
            </a:r>
          </a:p>
          <a:p>
            <a:r>
              <a:rPr lang="en-GB" dirty="0"/>
              <a:t>VAT is not transferred per invoice but with the VAT return (Art. 206 VAT Directive). How the VAT of an invoice is rounded is national law: if it requires cents — in Germany UStAE 14.5 (20) 'accurate to the cent' —, a national CIUS restricts BT-110 and BT-117 to the Minor Unit (EN 16931-1:2026, Table 29: 'Restrict allowed fraction digits'). The core validation reports this as a warning.</a:t>
            </a:r>
          </a:p>
          <a:p>
            <a:r>
              <a:rPr lang="en-GB" dirty="0"/>
              <a:t>Validation: exact from the stated values, with 34 digits for non-terminating divisions (IEEE 754 decimal128). Equal: valid. Within today's tolerance: valid with a warning — whether the deviation is accepted is decided by the tax administration; a warning does not protect against penalties. Outside: error. For sums 0.005 × (1 + number of addends) applies, as proposed in #164. The tolerances remain, no transition period is needed: every invoice valid today stays valid, at most with a warning.</a:t>
            </a:r>
          </a:p>
          <a:p>
            <a:r>
              <a:rPr lang="en-GB" dirty="0"/>
              <a:t>Recipients validate with this precision, book BT-115 Amount due for payment and may round all other values internally; the original invoice remains stored (Art. 233 and 244 VAT Directive). From 1 July 2030 an EN 16931 compliant e-invoice no longer needs the recipient's consent (new Art. 232, ViDA).</a:t>
            </a:r>
          </a:p>
          <a:p>
            <a:r>
              <a:rPr lang="en-GB" dirty="0"/>
              <a:t>Example receipt → invoice (#148): 1,000 × €9.99 incl. 19% VAT = €9,990.00 with €1,595.04 VAT. Today (BT-146 with 4 digits: 8.3950) the invoice gives €9,990.05 — 5 cents too much, VAT 1 cent too high. With #163 and 10 digits (8.3949579832): amount due €9,990.00, BT-114 = −0.000000008. With VAT in cents where the law requires it: €1,595.04 (warning), amount due €9,990.00.</a:t>
            </a:r>
          </a:p>
          <a:p>
            <a:r>
              <a:rPr lang="en-GB" dirty="0"/>
              <a:t>Discussion: the split into warning and error takes up the third option of Cyrille Sautereau (FR). Open are DRR reports with cent lines (FR: the PPF accepts up to 6 digits) and backward compatibility (Paul Simons). In 2020 WG1 already decided to lift the limitation of BT-131 (issue #7).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Three slide pairs with identical layout — when paging through you only see the differences.</a:t>
            </a:r>
          </a:p>
          <a:p>
            <a:r>
              <a:rPr lang="en-GB" dirty="0"/>
              <a:t>Rainbow: the seven calculated BTs run through the rainbow from top to bottom — BT-146 red, BT-131 orange, BT-106 yellow, BT-116 green, BT-117 blue, BT-110 violet, BT-115 magenta. Where a later line reuses one of them, it appears there in bold in the same colour (BT-146 in BT-131, BT-131 in BT-106 and BT-116, BT-116 in BT-117, BT-117 in BT-110, BT-110 in BT-115). Input values stay dark blue.</a:t>
            </a:r>
          </a:p>
          <a:p>
            <a:r>
              <a:rPr lang="en-GB" dirty="0"/>
              <a:t>Frames: blue = input and intermediate values, violet = final results. The formulas show only the BT identifiers; the card titles and the panel on the right give the names from EN 16931-1. The panel lists every BT of the chain with its allowed decimal places, the calculated ones in their rainbow colour. All input values — including document level allowances and charges and the VAT rate — are in the upper box, below are the final results BT-116, BT-117, BT-110 and BT-115 Amount due for payment.</a:t>
            </a:r>
          </a:p>
          <a:p>
            <a:r>
              <a:rPr lang="en-GB" dirty="0"/>
              <a:t>The ± values on the left apply to 100 lines of 100 units, 19% VAT, all roundings in the same direction. How far this can grow is shown on the slides 'How large does the deviation get?' (worst case with number of lines and quantity).</a:t>
            </a:r>
          </a:p>
          <a:p>
            <a:r>
              <a:rPr lang="en-GB" dirty="0"/>
              <a:t>Colours of the decimal places: red = rounding forced by the standard on a value that is not paid (2017/2026: BT-131, BT-106, BT-116, BT-117, BT-110; 2026 also BT-146); green = paid amount, rounded once: BT-115 Amount due for payment — in 2017 fixed to 2 decimal places (Table 26), since 2026 to the currency's Minor Unit (ISO 4217; EUR: cent, JPY: whole yen, KWD: 3 decimal places); orange = input value that has to be rounded because of a limitation; 'free' = no limitation (#163). The VAT rate is a statutory constant and is not rounded.</a:t>
            </a:r>
          </a:p>
          <a:p>
            <a:r>
              <a:rPr lang="en-GB" dirty="0"/>
              <a:t>Why BT-116, BT-117 and BT-110 are no longer final values: according to Update 3 of #163 (14 Oct 2026) only what is paid gets rounded. VAT is paid with the VAT return, not per invoice (Art. 206 VAT Directive); the German advance VAT return even takes the taxable amount in whole euros only (BMF instructions 2026). If national law requires the VAT per invoice in cents (UStAE 14.5 (20)), a national CIUS restricts BT-117 and BT-110 to the Minor Unit (Table 29) — the core validation reports this as a warning.</a:t>
            </a:r>
          </a:p>
          <a:p>
            <a:r>
              <a:rPr lang="en-GB" dirty="0"/>
              <a:t>BT-115 Amount due for payment = BT-112 Invoice total amount with VAT (BT-109 Invoice total amount without VAT + BT-110 Invoice total VAT amount) − BT-113 Paid amount + Σ BT-179 Charge amount collected on behalf of a third party + BT-114 Rounding amount (BR-CO-16). In 2017 and 2026 the errors of all intermediate roundings end up in BT-115 (± €0.60 and ± €1.19 respectively for 100 lines of 100 units); with #163 it is rounded once, and BT-114 shows this rounding.</a:t>
            </a:r>
          </a:p>
          <a:p>
            <a:r>
              <a:rPr lang="en-GB" dirty="0"/>
              <a:t>2017 (Table 26): only amounts are limited — fixed to 2 decimal places, regardless of the currency; prices, quantities, base quantities and rates are unlimited. One intermediate rounding: BT-131 deviates by up to €0.005 per line, over 100 lines by up to €0.50; the VAT on it by up to €0.10 (9.5 cents, rounded).</a:t>
            </a:r>
          </a:p>
          <a:p>
            <a:r>
              <a:rPr lang="en-GB" dirty="0"/>
              <a:t>Already in 2017 the table contradicts the text of the standard: 'Rounding shall be done on the final calculation results not on any intermediate results'.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Rainbow: the seven calculated BTs run through the rainbow from top to bottom — BT-146 red, BT-131 orange, BT-106 yellow, BT-116 green, BT-117 blue, BT-110 violet, BT-115 magenta. Where a later line reuses one of them, it appears there in bold in the same colour (BT-146 in BT-131, BT-131 in BT-106 and BT-116, BT-116 in BT-117, BT-117 in BT-110, BT-110 in BT-115). Input values stay dark blue.</a:t>
            </a:r>
          </a:p>
          <a:p>
            <a:r>
              <a:rPr lang="en-GB" dirty="0"/>
              <a:t>Frames: blue = input and intermediate values, violet = final results. The formulas show only the BT identifiers; the card titles and the panel on the right give the names from EN 16931-1. The panel lists every BT of the chain with its allowed decimal places, the calculated ones in their rainbow colour. All input values — including document level allowances and charges and the VAT rate — are in the upper box, below are the final results BT-116, BT-117, BT-110 and BT-115 Amount due for payment.</a:t>
            </a:r>
          </a:p>
          <a:p>
            <a:r>
              <a:rPr lang="en-GB" dirty="0"/>
              <a:t>The ± values on the left apply to 100 lines of 100 units, 19% VAT, all roundings in the same direction. How far this can grow is shown on the slides 'How large does the deviation get?' (worst case with number of lines and quantity).</a:t>
            </a:r>
          </a:p>
          <a:p>
            <a:r>
              <a:rPr lang="en-GB" dirty="0"/>
              <a:t>Colours of the decimal places: red = rounding forced by the standard on a value that is not paid (2017/2026: BT-131, BT-106, BT-116, BT-117, BT-110; 2026 also BT-146); green = paid amount, rounded once: BT-115 Amount due for payment, to the currency's Minor Unit (ISO 4217; EUR: cent, JPY: whole yen, KWD: 3 decimal places); orange = input value that has to be rounded because of a limitation; 'free' = no limitation (#163). The VAT rate is a statutory constant and is not rounded.</a:t>
            </a:r>
          </a:p>
          <a:p>
            <a:r>
              <a:rPr lang="en-GB" dirty="0"/>
              <a:t>Why BT-116, BT-117 and BT-110 are no longer final values: according to Update 3 of #163 (14 Oct 2026) only what is paid gets rounded. VAT is paid with the VAT return, not per invoice (Art. 206 VAT Directive); the German advance VAT return even takes the taxable amount in whole euros only (BMF instructions 2026). If national law requires the VAT per invoice in cents (UStAE 14.5 (20)), a national CIUS restricts BT-117 and BT-110 to the Minor Unit (Table 29) — the core validation reports this as a warning.</a:t>
            </a:r>
          </a:p>
          <a:p>
            <a:r>
              <a:rPr lang="en-GB" dirty="0"/>
              <a:t>BT-115 Amount due for payment = BT-112 Invoice total amount with VAT (BT-109 Invoice total amount without VAT + BT-110 Invoice total VAT amount) − BT-113 Paid amount + Σ BT-179 Charge amount collected on behalf of a third party + BT-114 Rounding amount (BR-CO-16). In 2017 and 2026 the errors of all intermediate roundings end up in BT-115 (± €0.60 and ± €1.19 respectively for 100 lines of 100 units); with #163 it is rounded once, and BT-114 shows this rounding.</a:t>
            </a:r>
          </a:p>
          <a:p>
            <a:r>
              <a:rPr lang="en-GB" dirty="0"/>
              <a:t>2026 (Table 28): BT-146 to BT-148 to 'minor unit + 2' (EUR: 4), BT-129 to 4, BT-149 to 2, rates to 2, all amounts to the minor unit (EUR: 2). Two intermediate roundings: BT-146 (up to €0.00005 per unit) and BT-131.</a:t>
            </a:r>
          </a:p>
          <a:p>
            <a:r>
              <a:rPr lang="en-GB" dirty="0"/>
              <a:t>Per line: 100 × €0.00005 from the price + €0.005 from the line rounding = €0.01. Over 100 lines: €1.00 net; VAT €1.00 × 19% = €0.19 (the offset of exactly 19 cents survives the rounding); total €1.19.</a:t>
            </a:r>
          </a:p>
          <a:p>
            <a:r>
              <a:rPr lang="en-GB" dirty="0"/>
              <a:t>The tolerances of the 2026 rules absorb such differences (up to EUR 1 for BR-S-9) — but they also hide them. With #163 they separate warning from error: the deviation becomes visible. A concrete example with figures (receipt 1,000 × €9.99): see the notes on #163.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Rainbow: the seven calculated BTs run through the rainbow from top to bottom — BT-146 red, BT-131 orange, BT-106 yellow, BT-116 green, BT-117 blue, BT-110 violet, BT-115 magenta. Where a later line reuses one of them, it appears there in bold in the same colour (BT-146 in BT-131, BT-131 in BT-106 and BT-116, BT-116 in BT-117, BT-117 in BT-110, BT-110 in BT-115). Input values stay dark blue.</a:t>
            </a:r>
          </a:p>
          <a:p>
            <a:r>
              <a:rPr lang="en-GB" dirty="0"/>
              <a:t>Frames: blue = input and intermediate values, violet = final results. The formulas show only the BT identifiers; the card titles and the panel on the right give the names from EN 16931-1. The panel lists every BT of the chain with its allowed decimal places, the calculated ones in their rainbow colour. All input values — including document level allowances and charges and the VAT rate — are in the upper box, below are the final results BT-116, BT-117, BT-110 and BT-115 Amount due for payment.</a:t>
            </a:r>
          </a:p>
          <a:p>
            <a:r>
              <a:rPr lang="en-GB" dirty="0"/>
              <a:t>The ± values on the left apply to 100 lines of 100 units, 19% VAT, all roundings in the same direction. How far this can grow is shown on the slides 'How large does the deviation get?' (worst case with number of lines and quantity).</a:t>
            </a:r>
          </a:p>
          <a:p>
            <a:r>
              <a:rPr lang="en-GB" dirty="0"/>
              <a:t>Colours of the decimal places: red = rounding forced by the standard on a value that is not paid (2017/2026: BT-131, BT-106, BT-116, BT-117, BT-110; 2026 also BT-146); green = paid amount, rounded once: BT-115 Amount due for payment, to the currency's Minor Unit (ISO 4217; EUR: cent, JPY: whole yen, KWD: 3 decimal places); orange = input value that has to be rounded because of a limitation; 'free' = no limitation (#163). The VAT rate is a statutory constant and is not rounded.</a:t>
            </a:r>
          </a:p>
          <a:p>
            <a:r>
              <a:rPr lang="en-GB" dirty="0"/>
              <a:t>Why BT-116, BT-117 and BT-110 are no longer final values: according to Update 3 of #163 (14 Oct 2026) only what is paid gets rounded. VAT is paid with the VAT return, not per invoice (Art. 206 VAT Directive); the German advance VAT return even takes the taxable amount in whole euros only (BMF instructions 2026). If national law requires the VAT per invoice in cents (UStAE 14.5 (20)), a national CIUS restricts BT-117 and BT-110 to the Minor Unit (Table 29) — the core validation reports this as a warning.</a:t>
            </a:r>
          </a:p>
          <a:p>
            <a:r>
              <a:rPr lang="en-GB" dirty="0"/>
              <a:t>BT-115 Amount due for payment = BT-112 Invoice total amount with VAT (BT-109 Invoice total amount without VAT + BT-110 Invoice total VAT amount) − BT-113 Paid amount + Σ BT-179 Charge amount collected on behalf of a third party + BT-114 Rounding amount (BR-CO-16). In 2017 and 2026 the errors of all intermediate roundings end up in BT-115 (± €0.60 and ± €1.19 respectively for 100 lines of 100 units); with #163 it is rounded once, and BT-114 shows this rounding.</a:t>
            </a:r>
          </a:p>
          <a:p>
            <a:r>
              <a:rPr lang="en-GB" dirty="0"/>
              <a:t>Proposal #163: intermediate values are no longer rounded by force, input values (quantities, prices, percentages) no longer limited; the VAT rate stays at 2 decimal places as a statutory constant.</a:t>
            </a:r>
          </a:p>
          <a:p>
            <a:r>
              <a:rPr lang="en-GB" dirty="0"/>
              <a:t>Only BT-115 Amount due for payment is rounded (plus BT-113, BT-172, BT-179 and BT-183, which change it); BT-114 Rounding amount makes the one rounding visible. VAT stays as precise as calculated; cents only via a national CIUS, as a warning. So there is no deviation from intermediate rounding — for any number of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the deviation arises — step by step (EN 16931-1:2017):</a:t>
            </a:r>
          </a:p>
          <a:p>
            <a:r>
              <a:rPr lang="en-GB" dirty="0"/>
              <a:t>1. BT-146 Item net price: unlimited in 2017. The price stays exact, e.g. €0.123449. Factor 1 (price rounding × quantity) does not apply.</a:t>
            </a:r>
          </a:p>
          <a:p>
            <a:r>
              <a:rPr lang="en-GB" dirty="0"/>
              <a:t>2. BT-131 Invoice line net amount = price × quantity: must be rounded to 2 decimal places — fixed in 2017, regardless of the currency (Table 26). Worst case: the exact amount ends exactly on half a cent, e.g. €12.345 → €12.35. That is €0.005 deviation — in every line.</a:t>
            </a:r>
          </a:p>
          <a:p>
            <a:r>
              <a:rPr lang="en-GB" dirty="0"/>
              <a:t>3. BT-106 Sum of invoice line net amount and BT-116 VAT category taxable amount add up n rounded lines. If all lines round in the same direction, the half cents add up: n × €0.005. 100 lines: €0.50; 10,000 lines: €50.00.</a:t>
            </a:r>
          </a:p>
          <a:p>
            <a:r>
              <a:rPr lang="en-GB" dirty="0"/>
              <a:t>4. BT-117 VAT category tax amount = 19% of BT-116: 19% × €0.50 = €0.095 → up to €0.10 after rounding to 2 decimal places.</a:t>
            </a:r>
          </a:p>
          <a:p>
            <a:r>
              <a:rPr lang="en-GB" dirty="0"/>
              <a:t>Result: the deviation grows linearly with the number of lines, without an upper limit. In 2017 the quantity per line plays no role — that is why all columns of the table are the same.</a:t>
            </a:r>
          </a:p>
          <a:p>
            <a:r>
              <a:rPr lang="en-GB" dirty="0"/>
              <a:t>The table shows the upper limit. In practice lines round sometimes up, sometimes down and partly cancel each other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the deviation arises — step by step (EN 16931-1:2026):</a:t>
            </a:r>
          </a:p>
          <a:p>
            <a:r>
              <a:rPr lang="en-GB" dirty="0"/>
              <a:t>1. BT-146 Item net price (factor 1): may only have Minor Unit + 2 decimal places (Table 28; EUR: 4). The exact price — e.g. €0.123449 from gross price minus discount or from a gross receipt — is 'squeezed' once into 4 digits: €0.1234. Error €0.000049, at most €0.00005 (half a unit of the 4th digit).</a:t>
            </a:r>
          </a:p>
          <a:p>
            <a:r>
              <a:rPr lang="en-GB" dirty="0"/>
              <a:t>2. BT-131 Invoice line net amount = price × quantity: it is not rounded per unit — but the rounded price is in every unit. The quantity multiplies the one price error: 10,000 units × €0.000049 = €0.49 (WG1 issue #148: €1,234.00 instead of €1,234.49). At most Q × €0.00005.</a:t>
            </a:r>
          </a:p>
          <a:p>
            <a:r>
              <a:rPr lang="en-GB" dirty="0"/>
              <a:t>3. In addition BT-131 is rounded to the Minor Unit (EUR: cent): once more up to €0.005. So per line up to Q × €0.00005 + €0.005 — that is what the first table row shows (100 units: €0.005 + €0.005 = €0.01; 10,000 units: €0.50 + €0.005 = €0.505; 1,000,000 units: €50.00 + €0.005 = €50.005).</a:t>
            </a:r>
          </a:p>
          <a:p>
            <a:r>
              <a:rPr lang="en-GB" dirty="0"/>
              <a:t>4. BT-106 Sum of invoice line net amount and BT-116 VAT category taxable amount (factor 2) add up n lines. In the worst case in the same direction: n × (Q × €0.00005 + €0.005). The first table row shows the error per line as the sum of both parts (price × quantity + cent rounding); every further row is the number of lines × this value.</a:t>
            </a:r>
          </a:p>
          <a:p>
            <a:r>
              <a:rPr lang="en-GB" dirty="0"/>
              <a:t>To recalculate: 100 lines of 10,000 units → per line 10,000 × €0.00005 + €0.005 = €0.505 → × 100 lines = €50.50 net. VAT: 19% × €50.50 = €9.595 → up to €9.60.</a:t>
            </a:r>
          </a:p>
          <a:p>
            <a:r>
              <a:rPr lang="en-GB" dirty="0"/>
              <a:t>The corner of the table: 10,000 lines of 1,000,000 units → per line 1,000,000 × €0.00005 + €0.005 = €50.005 → × 10,000 lines = €500,050. Extreme, but it shows: open-ended. Large quantities occur e.g. in energy (kWh), small parts or data volume.</a:t>
            </a:r>
          </a:p>
          <a:p>
            <a:r>
              <a:rPr lang="en-GB" dirty="0"/>
              <a:t>Why the price weighs more than the lines: the price error never cancels out within a line, it is multiplied in full by the quantity. Across many lines, however, roundings partly cancel out; the table shows the upper limit.</a:t>
            </a:r>
          </a:p>
          <a:p>
            <a:r>
              <a:rPr lang="en-GB" dirty="0"/>
              <a:t>Likewise BT-129 Invoiced quantity is limited to 4 decimal places: for expensive items up to 0.00005 × price is missing per line (e.g. 0.00005 kg × €20,000/kg = €1.00).</a:t>
            </a:r>
          </a:p>
          <a:p>
            <a:r>
              <a:rPr lang="en-GB" dirty="0"/>
              <a:t>The tolerances of the 2026 rules (up to EUR 1, e.g. BR-S-9) only absorb small deviations — and hide the cause. With #163 the same tolerances separate warning from error: the deviation becomes visible instead of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the deviation stays at zero — step by step (proposal #163):</a:t>
            </a:r>
          </a:p>
          <a:p>
            <a:r>
              <a:rPr lang="en-GB" dirty="0"/>
              <a:t>1. BT-146 Item net price and BT-129 Invoiced quantity stay exact, their decimal places are not limited. Factor 1 (price rounding × quantity) does not apply.</a:t>
            </a:r>
          </a:p>
          <a:p>
            <a:r>
              <a:rPr lang="en-GB" dirty="0"/>
              <a:t>2. BT-131 Invoice line net amount and BT-106 Sum of invoice line net amount are not rounded but carried forward exactly. Factor 2 (number of lines) does not apply — no matter how many lines.</a:t>
            </a:r>
          </a:p>
          <a:p>
            <a:r>
              <a:rPr lang="en-GB" dirty="0"/>
              <a:t>3. Only what is paid gets rounded: BT-115 Amount due for payment, once from the exact total to the currency's Minor Unit (EUR: cent); BT-114 Rounding amount shows this one rounding. BT-117 VAT category tax amount and BT-116 VAT category taxable amount stay as precise as calculated. If national law requires the VAT in cents (UStAE 14.5 (20)), a national CIUS restricts it — validation reports this as a warning, not as an error.</a:t>
            </a:r>
          </a:p>
          <a:p>
            <a:r>
              <a:rPr lang="en-GB" dirty="0"/>
              <a:t>Result: ± 0 deviation from intermediate rounding, for any quantity and any number of lines. The prerequisite is exact decimal arithmetic — see the slides on exact invoice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github.com/ConnectingEurope/CEN-TC434-WG1/issues/164 — 'Gross price model: use Item net price plus VAT as the leading price and extract the VAT once per VAT category'.</a:t>
            </a:r>
          </a:p>
          <a:p>
            <a:r>
              <a:rPr lang="en-GB" dirty="0"/>
              <a:t>EN 16931 only knows the net model: add up net prices, add VAT on top. But many prices are fixed including VAT: fixed book prices (§ 5 BuchPrG), receipts above the small-amount threshold, retailers and marketplaces, statutory prices.</a:t>
            </a:r>
          </a:p>
          <a:p>
            <a:r>
              <a:rPr lang="en-GB" dirty="0"/>
              <a:t>Proposal: two calculation models, each invoice uses exactly one. In the gross model the VAT is extracted once per category: BT-117 = BT-116V × BT-119 ÷ (100 + BT-119), not rounded by the standard (cents only where national law requires it — a warning under #163); BT-116 = BT-116V − BT-117. New business terms with the suffix V ('plus VAT'), e.g. BT-146V, BT-131V, BT-116V — 'gross' is already taken in EN 16931 for the price before discount (BT-148).</a:t>
            </a:r>
          </a:p>
          <a:p>
            <a:r>
              <a:rPr lang="en-GB" dirty="0"/>
              <a:t>Example: 1,000 books at €24.95 incl. 7% VAT = €24,950.00 with €1,632.24 VAT. The net model of EN 16931-1:2026 (BT-146 with 4 decimal places: 23.3178) gives €24,950.05 and €1,632.25 VAT. There is no value within the tolerance of BR-CO-32 that gives €24,950.00 with correctly rounded VAT.</a:t>
            </a:r>
          </a:p>
          <a:p>
            <a:r>
              <a:rPr lang="en-GB" dirty="0"/>
              <a:t>Complements #163: in both models only the paid amounts are rounded, such as BT-115 Amount due for payment; the extracted BT-117 VAT category tax amount is stated as calculated, in cents only under national law (warning). In the example that is the only rounding: €1,632.24299… becomes €1,632.24 because UStAE 14.5 (20) requires cents. In the gross model BT-146 is checked as a derived information price with half a unit of its last digit — without a warning, because it does not enter any calculation. In the discussion Paul Simons alternatively proposes category N with an exemption reason; Cyrille Sautereau supports gross prices in the model, with an indicator.</a:t>
            </a:r>
          </a:p>
          <a:p>
            <a:r>
              <a:rPr lang="en-GB" dirty="0"/>
              <a:t>Often impossible today (#163, section 'Gross prices'): with net and VAT in the Minor Unit (EUR: cent), an invoice at 19% VAT reaches only 100 of 119 gross amounts; 19 of 119 (16%) are lost, e.g. €9.99 (8.39 + 1.59 = 9.98; 8.40 + 1.60 = 10.00). At 7% VAT it is 7/107 (7%), at 20% 20/120 (17%), at 21% 21/121 (17%). Simulation with decimal arithmetic, random gross amounts: 1 line 16%, 2 lines 34%, 5 lines 52%, 10 lines 66%, 35 lines 81% miss the receipt total without a workaround.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Thanks and an invitation to follow and discuss the issues. Links: WG1 #163/#164, WG3 issue tracker, Svanton, XSLT 4.0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svanteschubert.github.io/testy/ZUGFeRD_Entwicklertage_2026_SvanteSchubert_Syntax-Binding_EN.pdf" TargetMode="Externa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8" Type="http://schemas.openxmlformats.org/officeDocument/2006/relationships/hyperlink" Target="https://github.com/qt4cg/qtspecs/issues/2935" TargetMode="External"/><Relationship Id="rId3" Type="http://schemas.openxmlformats.org/officeDocument/2006/relationships/image" Target="../media/image37.jpg"/><Relationship Id="rId7" Type="http://schemas.openxmlformats.org/officeDocument/2006/relationships/hyperlink" Target="https://github.com/svanteschubert/Saxon-HE-enhanced-accuracy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vanteschubert/CEN-TC434-WG3/issues" TargetMode="External"/><Relationship Id="rId11" Type="http://schemas.openxmlformats.org/officeDocument/2006/relationships/image" Target="../media/image38.png"/><Relationship Id="rId5" Type="http://schemas.openxmlformats.org/officeDocument/2006/relationships/hyperlink" Target="https://github.com/ConnectingEurope/CEN-TC434-WG1/issues/163" TargetMode="External"/><Relationship Id="rId10" Type="http://schemas.openxmlformats.org/officeDocument/2006/relationships/hyperlink" Target="https://svanteschubert.github.io/testy/ZUGFeRD_Entwicklertage_2026_SvanteSchubert_Syntax-Binding_EN.pptx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linkedin.com/in/svante-schubert-291323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GB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en-GB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 Binding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400" spc="4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ZUGFERD-ENTWICKLERTAGE 2026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95528" y="22402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GB" sz="6000" dirty="0">
                <a:solidFill>
                  <a:srgbClr val="DCE6FF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Syntax Binding of</a:t>
            </a:r>
          </a:p>
          <a:p>
            <a:pPr marL="0" indent="0" algn="l">
              <a:lnSpc>
                <a:spcPct val="98000"/>
              </a:lnSpc>
              <a:buNone/>
            </a:pPr>
            <a:r>
              <a:rPr lang="en-GB" sz="66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4343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GB" sz="1600" dirty="0">
                <a:solidFill>
                  <a:srgbClr val="C4D2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Semantics is the cargo, syntax the carrier — what the new standard means for UBL, CII and ZUGFeRD.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5532120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50992"/>
            <a:ext cx="219456" cy="219456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1463040" y="54864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Svante Schubert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GB" sz="1200" dirty="0">
                <a:solidFill>
                  <a:srgbClr val="C4D2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Editor of the syntax bindings · CEN/TC 434 WG3 · for DIN</a:t>
            </a:r>
          </a:p>
        </p:txBody>
      </p:sp>
      <p:sp>
        <p:nvSpPr>
          <p:cNvPr id="11" name="QR Card pdf"/>
          <p:cNvSpPr/>
          <p:nvPr/>
        </p:nvSpPr>
        <p:spPr>
          <a:xfrm>
            <a:off x="9537192" y="2359152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A123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QR Slides pdf" descr="QR code: slides as PDF (https://svanteschubert.github.io/testy/ZUGFeRD_Entwicklertage_2026_SvanteSchubert_Syntax-Binding_EN.pdf)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0344" y="2432304"/>
            <a:ext cx="1682496" cy="1682496"/>
          </a:xfrm>
          <a:prstGeom prst="rect">
            <a:avLst/>
          </a:prstGeom>
        </p:spPr>
      </p:pic>
      <p:sp>
        <p:nvSpPr>
          <p:cNvPr id="13" name="QR Caption pdf">
            <a:hlinkClick r:id="rId5"/>
          </p:cNvPr>
          <p:cNvSpPr txBox="1"/>
          <p:nvPr/>
        </p:nvSpPr>
        <p:spPr>
          <a:xfrm>
            <a:off x="9171432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000" spc="100" dirty="0">
                <a:solidFill>
                  <a:srgbClr val="C4D2F4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Slides as PDF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GB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en-GB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 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AMENDMENT · MY PROPOSAL 1/2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Round only once (#163)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Only what is paid gets rounded — nothing else.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7D73E2F-A595-473C-9F0C-80BA506D5B08}" type="slidenum">
              <a:rPr lang="en-GB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24</a:t>
            </a:fld>
            <a:endParaRPr lang="en-GB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Card 8"/>
          <p:cNvSpPr/>
          <p:nvPr/>
        </p:nvSpPr>
        <p:spPr>
          <a:xfrm>
            <a:off x="822960" y="23317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IconCircle 9"/>
          <p:cNvSpPr/>
          <p:nvPr/>
        </p:nvSpPr>
        <p:spPr>
          <a:xfrm>
            <a:off x="1060704" y="2532888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co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46" y="2643530"/>
            <a:ext cx="181051" cy="181051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600200" y="25146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Paid amounts — rounded once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33856" y="299008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en-GB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BT-115 Amount due for payment, in the Minor Unit (EUR: cent)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en-GB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BT-114 Rounding amount carries the one rounding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en-GB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BT-113, BT-172, BT-179, BT-183 likewise — they change the amount due</a:t>
            </a:r>
          </a:p>
        </p:txBody>
      </p:sp>
      <p:sp>
        <p:nvSpPr>
          <p:cNvPr id="13" name="Card 13"/>
          <p:cNvSpPr/>
          <p:nvPr/>
        </p:nvSpPr>
        <p:spPr>
          <a:xfrm>
            <a:off x="822960" y="416052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IconCircle 14"/>
          <p:cNvSpPr/>
          <p:nvPr/>
        </p:nvSpPr>
        <p:spPr>
          <a:xfrm>
            <a:off x="1060704" y="4361688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co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4472330"/>
            <a:ext cx="181051" cy="181051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1600200" y="43434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Everything else, VAT included: as calculated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81888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en-GB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Prices, lines, totals, taxable amount and VAT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en-GB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Cent VAT only via a national CIUS (e.g. UStAE 14.5 (20))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en-GB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Rounding to the Minor Unit today stays valid (warning)</a:t>
            </a:r>
          </a:p>
        </p:txBody>
      </p:sp>
      <p:sp>
        <p:nvSpPr>
          <p:cNvPr id="18" name="Panel 18"/>
          <p:cNvSpPr/>
          <p:nvPr/>
        </p:nvSpPr>
        <p:spPr>
          <a:xfrm>
            <a:off x="6172200" y="2331720"/>
            <a:ext cx="5193792" cy="3474720"/>
          </a:xfrm>
          <a:prstGeom prst="roundRect">
            <a:avLst>
              <a:gd name="adj" fmla="val 2631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9"/>
          <p:cNvSpPr txBox="1"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WHAT CHANGES</a:t>
            </a:r>
          </a:p>
        </p:txBody>
      </p:sp>
      <p:sp>
        <p:nvSpPr>
          <p:cNvPr id="20" name="Shape 20"/>
          <p:cNvSpPr/>
          <p:nvPr/>
        </p:nvSpPr>
        <p:spPr>
          <a:xfrm>
            <a:off x="6492240" y="2944368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21"/>
          <p:cNvSpPr txBox="1"/>
          <p:nvPr/>
        </p:nvSpPr>
        <p:spPr>
          <a:xfrm>
            <a:off x="649224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949440" y="288036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6.5.14 applies to the whole chain, not just per rule</a:t>
            </a:r>
          </a:p>
        </p:txBody>
      </p:sp>
      <p:sp>
        <p:nvSpPr>
          <p:cNvPr id="23" name="Shape 23"/>
          <p:cNvSpPr/>
          <p:nvPr/>
        </p:nvSpPr>
        <p:spPr>
          <a:xfrm>
            <a:off x="6492240" y="3511296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4"/>
          <p:cNvSpPr txBox="1"/>
          <p:nvPr/>
        </p:nvSpPr>
        <p:spPr>
          <a:xfrm>
            <a:off x="649224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949440" y="344728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Exact validation (decimal128): equal → valid, within tolerance → warning, otherwise error</a:t>
            </a:r>
          </a:p>
        </p:txBody>
      </p:sp>
      <p:sp>
        <p:nvSpPr>
          <p:cNvPr id="26" name="Shape 26"/>
          <p:cNvSpPr/>
          <p:nvPr/>
        </p:nvSpPr>
        <p:spPr>
          <a:xfrm>
            <a:off x="6492240" y="4078224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7"/>
          <p:cNvSpPr txBox="1"/>
          <p:nvPr/>
        </p:nvSpPr>
        <p:spPr>
          <a:xfrm>
            <a:off x="649224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949440" y="401421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Today's tolerances remain — they now separate warning from error</a:t>
            </a:r>
          </a:p>
        </p:txBody>
      </p:sp>
      <p:sp>
        <p:nvSpPr>
          <p:cNvPr id="29" name="Shape 29"/>
          <p:cNvSpPr/>
          <p:nvPr/>
        </p:nvSpPr>
        <p:spPr>
          <a:xfrm>
            <a:off x="6492240" y="4645152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30"/>
          <p:cNvSpPr txBox="1"/>
          <p:nvPr/>
        </p:nvSpPr>
        <p:spPr>
          <a:xfrm>
            <a:off x="649224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949440" y="458114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No requirement on software: neither a maximum nor a minimum of decimal places</a:t>
            </a:r>
          </a:p>
        </p:txBody>
      </p:sp>
      <p:sp>
        <p:nvSpPr>
          <p:cNvPr id="32" name="Shape 32"/>
          <p:cNvSpPr/>
          <p:nvPr/>
        </p:nvSpPr>
        <p:spPr>
          <a:xfrm>
            <a:off x="6492240" y="5212080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3"/>
          <p:cNvSpPr txBox="1"/>
          <p:nvPr/>
        </p:nvSpPr>
        <p:spPr>
          <a:xfrm>
            <a:off x="6492240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949440" y="514807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Syntax unchanged: amounts in UBL and CII are xsd:decimal</a:t>
            </a:r>
          </a:p>
        </p:txBody>
      </p:sp>
      <p:sp>
        <p:nvSpPr>
          <p:cNvPr id="35" name="Pill 35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Status 14 Oct 2026: Update 3 in WG1  ·  </a:t>
            </a:r>
            <a:r>
              <a:rPr lang="en-GB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warning/error following Cyrille Sautereau's 3rd option · open: DRR with cent lines (FR), backward compatibility</a:t>
            </a:r>
          </a:p>
        </p:txBody>
      </p:sp>
      <p:sp>
        <p:nvSpPr>
          <p:cNvPr id="36" name="Speaker 36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GB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en-GB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 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CALCULATION CHAIN · EN 16931-1:2017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From gross price via net price to VAT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CF4905E-37B2-437C-A529-BB0811F32B64}" type="slidenum">
              <a:rPr lang="en-GB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25</a:t>
            </a:fld>
            <a:endParaRPr lang="en-GB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822960" y="1847088"/>
            <a:ext cx="217718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One intermediate rounding:</a:t>
            </a:r>
          </a:p>
        </p:txBody>
      </p:sp>
      <p:sp>
        <p:nvSpPr>
          <p:cNvPr id="9" name="Pill 9"/>
          <p:cNvSpPr/>
          <p:nvPr/>
        </p:nvSpPr>
        <p:spPr>
          <a:xfrm>
            <a:off x="3109874" y="1856232"/>
            <a:ext cx="2368296" cy="310896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200" dirty="0">
                <a:solidFill>
                  <a:srgbClr val="C257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 to 2 decimal places</a:t>
            </a:r>
          </a:p>
        </p:txBody>
      </p:sp>
      <p:sp>
        <p:nvSpPr>
          <p:cNvPr id="10" name="Frame 10"/>
          <p:cNvSpPr/>
          <p:nvPr/>
        </p:nvSpPr>
        <p:spPr>
          <a:xfrm>
            <a:off x="694944" y="2240280"/>
            <a:ext cx="7022592" cy="1709928"/>
          </a:xfrm>
          <a:prstGeom prst="roundRect">
            <a:avLst>
              <a:gd name="adj" fmla="val 5529"/>
            </a:avLst>
          </a:prstGeom>
          <a:solidFill>
            <a:srgbClr val="EEF4FC"/>
          </a:solidFill>
          <a:ln w="19050">
            <a:solidFill>
              <a:srgbClr val="2F7F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11"/>
          <p:cNvSpPr txBox="1"/>
          <p:nvPr/>
        </p:nvSpPr>
        <p:spPr>
          <a:xfrm>
            <a:off x="86868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850" spc="150" dirty="0">
                <a:solidFill>
                  <a:srgbClr val="2F7F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INPUT &amp; INTERMEDIATE VALUES</a:t>
            </a:r>
          </a:p>
        </p:txBody>
      </p:sp>
      <p:sp>
        <p:nvSpPr>
          <p:cNvPr id="12" name="Frame 12"/>
          <p:cNvSpPr/>
          <p:nvPr/>
        </p:nvSpPr>
        <p:spPr>
          <a:xfrm>
            <a:off x="694944" y="4023360"/>
            <a:ext cx="7022592" cy="2203704"/>
          </a:xfrm>
          <a:prstGeom prst="roundRect">
            <a:avLst>
              <a:gd name="adj" fmla="val 5529"/>
            </a:avLst>
          </a:prstGeom>
          <a:solidFill>
            <a:srgbClr val="F4F0FC"/>
          </a:solidFill>
          <a:ln w="19050">
            <a:solidFill>
              <a:srgbClr val="7B57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3"/>
          <p:cNvSpPr txBox="1"/>
          <p:nvPr/>
        </p:nvSpPr>
        <p:spPr>
          <a:xfrm>
            <a:off x="868680" y="4050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850" spc="150" dirty="0">
                <a:solidFill>
                  <a:srgbClr val="7B57D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FINAL RESULTS</a:t>
            </a:r>
          </a:p>
        </p:txBody>
      </p:sp>
      <p:sp>
        <p:nvSpPr>
          <p:cNvPr id="14" name="Card 14"/>
          <p:cNvSpPr/>
          <p:nvPr/>
        </p:nvSpPr>
        <p:spPr>
          <a:xfrm>
            <a:off x="822960" y="245059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Pill 15"/>
          <p:cNvSpPr/>
          <p:nvPr/>
        </p:nvSpPr>
        <p:spPr>
          <a:xfrm>
            <a:off x="960120" y="254965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965960" y="246583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Item net price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965960" y="265633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−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18" name="Pill 18"/>
          <p:cNvSpPr/>
          <p:nvPr/>
        </p:nvSpPr>
        <p:spPr>
          <a:xfrm>
            <a:off x="4773168" y="250393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unlimited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unrounded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989320" y="248107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77840" y="271729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stated exactly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1303020" y="290779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22" name="Card 22"/>
          <p:cNvSpPr/>
          <p:nvPr/>
        </p:nvSpPr>
        <p:spPr>
          <a:xfrm>
            <a:off x="822960" y="294436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Pill 23"/>
          <p:cNvSpPr/>
          <p:nvPr/>
        </p:nvSpPr>
        <p:spPr>
          <a:xfrm>
            <a:off x="960120" y="304342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EF6C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965960" y="295960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Invoice line net amount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965960" y="315010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×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÷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+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−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26" name="Pill 26"/>
          <p:cNvSpPr/>
          <p:nvPr/>
        </p:nvSpPr>
        <p:spPr>
          <a:xfrm>
            <a:off x="4773168" y="299770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interim rounding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5989320" y="297484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€0.005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577840" y="321106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per line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1303020" y="340156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30" name="Card 30"/>
          <p:cNvSpPr/>
          <p:nvPr/>
        </p:nvSpPr>
        <p:spPr>
          <a:xfrm>
            <a:off x="822960" y="343814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Pill 31"/>
          <p:cNvSpPr/>
          <p:nvPr/>
        </p:nvSpPr>
        <p:spPr>
          <a:xfrm>
            <a:off x="960120" y="353720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C791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965960" y="345338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Sum of invoice line net amount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65960" y="364388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en-GB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34" name="Pill 34"/>
          <p:cNvSpPr/>
          <p:nvPr/>
        </p:nvSpPr>
        <p:spPr>
          <a:xfrm>
            <a:off x="4773168" y="349148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of rounded values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989320" y="346862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€0.50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577840" y="3704844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× 100 lines</a:t>
            </a:r>
          </a:p>
        </p:txBody>
      </p:sp>
      <p:sp>
        <p:nvSpPr>
          <p:cNvPr id="37" name="Card 37"/>
          <p:cNvSpPr/>
          <p:nvPr/>
        </p:nvSpPr>
        <p:spPr>
          <a:xfrm>
            <a:off x="822960" y="423367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Pill 38"/>
          <p:cNvSpPr/>
          <p:nvPr/>
        </p:nvSpPr>
        <p:spPr>
          <a:xfrm>
            <a:off x="960120" y="433273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965960" y="424891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VAT category taxable amount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965960" y="443941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en-GB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+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−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41" name="Pill 41"/>
          <p:cNvSpPr/>
          <p:nvPr/>
        </p:nvSpPr>
        <p:spPr>
          <a:xfrm>
            <a:off x="4773168" y="428701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interim rounding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989320" y="426415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€0.50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577840" y="450037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of rounded lines</a:t>
            </a:r>
          </a:p>
        </p:txBody>
      </p:sp>
      <p:cxnSp>
        <p:nvCxnSpPr>
          <p:cNvPr id="44" name="Connector 44"/>
          <p:cNvCxnSpPr/>
          <p:nvPr/>
        </p:nvCxnSpPr>
        <p:spPr>
          <a:xfrm>
            <a:off x="1303020" y="469087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45" name="Card 45"/>
          <p:cNvSpPr/>
          <p:nvPr/>
        </p:nvSpPr>
        <p:spPr>
          <a:xfrm>
            <a:off x="822960" y="472744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Pill 46"/>
          <p:cNvSpPr/>
          <p:nvPr/>
        </p:nvSpPr>
        <p:spPr>
          <a:xfrm>
            <a:off x="960120" y="482650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1965960" y="474268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VAT category tax amount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965960" y="493318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×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÷ 100</a:t>
            </a:r>
          </a:p>
        </p:txBody>
      </p:sp>
      <p:sp>
        <p:nvSpPr>
          <p:cNvPr id="49" name="Pill 49"/>
          <p:cNvSpPr/>
          <p:nvPr/>
        </p:nvSpPr>
        <p:spPr>
          <a:xfrm>
            <a:off x="4773168" y="478078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interim rounding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989320" y="475792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€0.10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5577840" y="499414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€0.50 × 19%</a:t>
            </a:r>
          </a:p>
        </p:txBody>
      </p:sp>
      <p:cxnSp>
        <p:nvCxnSpPr>
          <p:cNvPr id="52" name="Connector 52"/>
          <p:cNvCxnSpPr/>
          <p:nvPr/>
        </p:nvCxnSpPr>
        <p:spPr>
          <a:xfrm>
            <a:off x="1303020" y="518464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53" name="Card 53"/>
          <p:cNvSpPr/>
          <p:nvPr/>
        </p:nvSpPr>
        <p:spPr>
          <a:xfrm>
            <a:off x="822960" y="522122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Pill 54"/>
          <p:cNvSpPr/>
          <p:nvPr/>
        </p:nvSpPr>
        <p:spPr>
          <a:xfrm>
            <a:off x="960120" y="532028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965960" y="523646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Invoice total VAT amount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965960" y="542696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en-GB" sz="800" b="1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57" name="Pill 57"/>
          <p:cNvSpPr/>
          <p:nvPr/>
        </p:nvSpPr>
        <p:spPr>
          <a:xfrm>
            <a:off x="4773168" y="527456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of rounded values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5989320" y="525170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€0.10</a:t>
            </a:r>
          </a:p>
        </p:txBody>
      </p:sp>
      <p:sp>
        <p:nvSpPr>
          <p:cNvPr id="59" name="Panel 59"/>
          <p:cNvSpPr/>
          <p:nvPr/>
        </p:nvSpPr>
        <p:spPr>
          <a:xfrm>
            <a:off x="7845552" y="2240280"/>
            <a:ext cx="3520440" cy="1709928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7DB3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0" name="Text 60"/>
          <p:cNvSpPr txBox="1"/>
          <p:nvPr/>
        </p:nvSpPr>
        <p:spPr>
          <a:xfrm>
            <a:off x="8065008" y="22951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20" dirty="0">
                <a:solidFill>
                  <a:srgbClr val="7DB3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ALLOWED DECIMAL PLACES</a:t>
            </a:r>
          </a:p>
        </p:txBody>
      </p:sp>
      <p:sp>
        <p:nvSpPr>
          <p:cNvPr id="79" name="Panel 79"/>
          <p:cNvSpPr/>
          <p:nvPr/>
        </p:nvSpPr>
        <p:spPr>
          <a:xfrm>
            <a:off x="7845552" y="4023360"/>
            <a:ext cx="3520440" cy="2203704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B9A2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0" name="Text 80"/>
          <p:cNvSpPr txBox="1"/>
          <p:nvPr/>
        </p:nvSpPr>
        <p:spPr>
          <a:xfrm>
            <a:off x="8065008" y="407822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2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DECIMAL PLACES · FINAL VALUES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8065008" y="435254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 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 category taxable amount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10515600" y="435254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8065008" y="462686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82B1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 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 category tax amount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10515600" y="462686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8065008" y="490118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CE93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 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total VAT amount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10515600" y="49011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8065008" y="5669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</a:t>
            </a:r>
            <a:r>
              <a:rPr lang="en-GB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with number of lines and quantity:</a:t>
            </a:r>
          </a:p>
          <a:p>
            <a:pPr marL="0" indent="0" algn="l">
              <a:buNone/>
            </a:pPr>
            <a:r>
              <a:rPr lang="en-GB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 “How large does the deviation get?”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822960" y="63093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8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Red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rounded intermediate value   </a:t>
            </a:r>
            <a:r>
              <a:rPr lang="en-GB" sz="8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Green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paid amount, rounded once (bank)   </a:t>
            </a:r>
            <a:r>
              <a:rPr lang="en-GB" sz="850" dirty="0">
                <a:solidFill>
                  <a:srgbClr val="D98A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Orange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rounded input value</a:t>
            </a:r>
          </a:p>
          <a:p>
            <a:pPr marL="0" indent="0" algn="l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dp = decimal places · 2017 (Tab. 26): all amounts fixed 2 dp, regardless of the currency · ± for 100 lines of 100 units, 19% VAT</a:t>
            </a:r>
          </a:p>
          <a:p>
            <a:pPr marL="0" indent="0" algn="l">
              <a:buNone/>
            </a:pPr>
            <a:r>
              <a:rPr lang="en-GB" sz="850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Rain</a:t>
            </a:r>
            <a:r>
              <a:rPr lang="en-GB" sz="850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bo</a:t>
            </a:r>
            <a:r>
              <a:rPr lang="en-GB" sz="850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order of the calculation steps; a BT keeps its colour where it is reused further down</a:t>
            </a:r>
          </a:p>
        </p:txBody>
      </p:sp>
      <p:sp>
        <p:nvSpPr>
          <p:cNvPr id="89" name="Card 89"/>
          <p:cNvSpPr/>
          <p:nvPr/>
        </p:nvSpPr>
        <p:spPr>
          <a:xfrm>
            <a:off x="822960" y="5715000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0" name="Pill 90"/>
          <p:cNvSpPr/>
          <p:nvPr/>
        </p:nvSpPr>
        <p:spPr>
          <a:xfrm>
            <a:off x="960120" y="5814060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1965960" y="5730240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Amount due for payment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965960" y="5920740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b="1" dirty="0">
                <a:solidFill>
                  <a:srgbClr val="6A1B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+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Invoice total amount without VAT</a:t>
            </a:r>
            <a:b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BT-113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Paid amount +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BT-114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Rounding amount</a:t>
            </a:r>
          </a:p>
        </p:txBody>
      </p:sp>
      <p:sp>
        <p:nvSpPr>
          <p:cNvPr id="93" name="Pill 93"/>
          <p:cNvSpPr/>
          <p:nvPr/>
        </p:nvSpPr>
        <p:spPr>
          <a:xfrm>
            <a:off x="4773168" y="5768340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1E8A4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final value · bank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5989320" y="5745480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€0.60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577840" y="5981700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€0.50 + €0.10</a:t>
            </a:r>
          </a:p>
        </p:txBody>
      </p:sp>
      <p:cxnSp>
        <p:nvCxnSpPr>
          <p:cNvPr id="96" name="Connector 96"/>
          <p:cNvCxnSpPr/>
          <p:nvPr/>
        </p:nvCxnSpPr>
        <p:spPr>
          <a:xfrm>
            <a:off x="1303020" y="5678424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97" name="Text 97"/>
          <p:cNvSpPr txBox="1"/>
          <p:nvPr/>
        </p:nvSpPr>
        <p:spPr>
          <a:xfrm>
            <a:off x="8065008" y="517550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F48FB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 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Amount due for payment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9994392" y="517550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99" name="Reuse 99"/>
          <p:cNvSpPr/>
          <p:nvPr/>
        </p:nvSpPr>
        <p:spPr>
          <a:xfrm>
            <a:off x="1645920" y="2679192"/>
            <a:ext cx="309067" cy="530351"/>
          </a:xfrm>
          <a:custGeom>
            <a:avLst/>
            <a:gdLst/>
            <a:ahLst/>
            <a:cxnLst/>
            <a:rect l="l" t="t" r="r" b="b"/>
            <a:pathLst>
              <a:path w="309067" h="530351" fill="none">
                <a:moveTo>
                  <a:pt x="0" y="0"/>
                </a:moveTo>
                <a:lnTo>
                  <a:pt x="256032" y="0"/>
                </a:lnTo>
                <a:lnTo>
                  <a:pt x="256032" y="530351"/>
                </a:lnTo>
                <a:lnTo>
                  <a:pt x="309067" y="530351"/>
                </a:lnTo>
              </a:path>
            </a:pathLst>
          </a:custGeom>
          <a:noFill/>
          <a:ln w="15875">
            <a:solidFill>
              <a:srgbClr val="D32F2F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0" name="Reuse 100"/>
          <p:cNvSpPr/>
          <p:nvPr/>
        </p:nvSpPr>
        <p:spPr>
          <a:xfrm>
            <a:off x="1645920" y="317296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210311" y="0"/>
                </a:lnTo>
                <a:lnTo>
                  <a:pt x="21031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1" name="Reuse 101"/>
          <p:cNvSpPr/>
          <p:nvPr/>
        </p:nvSpPr>
        <p:spPr>
          <a:xfrm>
            <a:off x="1645920" y="3172968"/>
            <a:ext cx="309067" cy="1325880"/>
          </a:xfrm>
          <a:custGeom>
            <a:avLst/>
            <a:gdLst/>
            <a:ahLst/>
            <a:cxnLst/>
            <a:rect l="l" t="t" r="r" b="b"/>
            <a:pathLst>
              <a:path w="309067" h="1325880" fill="none">
                <a:moveTo>
                  <a:pt x="0" y="0"/>
                </a:moveTo>
                <a:lnTo>
                  <a:pt x="210311" y="0"/>
                </a:lnTo>
                <a:lnTo>
                  <a:pt x="210311" y="1325880"/>
                </a:lnTo>
                <a:lnTo>
                  <a:pt x="309067" y="1325880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2" name="Reuse 102"/>
          <p:cNvSpPr/>
          <p:nvPr/>
        </p:nvSpPr>
        <p:spPr>
          <a:xfrm>
            <a:off x="1645920" y="4462272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64591" y="0"/>
                </a:lnTo>
                <a:lnTo>
                  <a:pt x="16459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2E7D32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3" name="Reuse 103"/>
          <p:cNvSpPr/>
          <p:nvPr/>
        </p:nvSpPr>
        <p:spPr>
          <a:xfrm>
            <a:off x="1645920" y="495604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18871" y="0"/>
                </a:lnTo>
                <a:lnTo>
                  <a:pt x="11887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1565C0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4" name="Reuse 104"/>
          <p:cNvSpPr/>
          <p:nvPr/>
        </p:nvSpPr>
        <p:spPr>
          <a:xfrm>
            <a:off x="1645920" y="5449824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73151" y="0"/>
                </a:lnTo>
                <a:lnTo>
                  <a:pt x="7315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6A1B9A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105"/>
          <p:cNvSpPr txBox="1"/>
          <p:nvPr/>
        </p:nvSpPr>
        <p:spPr>
          <a:xfrm>
            <a:off x="8065008" y="2542032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gross price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10515600" y="2542032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unlimited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8065008" y="2655875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price discount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10515600" y="2655875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unlimited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8065008" y="2769718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b="1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net price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10515600" y="2769718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unlimited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8065008" y="2883560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Invoiced quantity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10515600" y="2883560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unlimited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065008" y="2997403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price base quantity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10515600" y="2997403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unlimited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8065008" y="3111246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line charge or tax amount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10515600" y="3111246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8065008" y="3225089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line allowance amount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10515600" y="3225089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8065008" y="3338932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b="1" dirty="0">
                <a:solidFill>
                  <a:srgbClr val="FFB74D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line net amount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10515600" y="3338932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065008" y="3452774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b="1" dirty="0">
                <a:solidFill>
                  <a:srgbClr val="FFE066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 of invoice line net amount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10515600" y="3452774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8065008" y="3566617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Document level charge or tax amount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10515600" y="3566617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8065008" y="3680460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Document level allowance amount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10515600" y="3680460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065008" y="3794303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 category rate (law)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10515600" y="3794303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unlimited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GB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en-GB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 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CALCULATION CHAIN · EN 16931-1:2026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From gross price via net price to VAT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3E2CDAE-2F23-4283-8153-FFAA4570C66A}" type="slidenum">
              <a:rPr lang="en-GB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26</a:t>
            </a:fld>
            <a:endParaRPr lang="en-GB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822960" y="1847088"/>
            <a:ext cx="228508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Two intermediate roundings:</a:t>
            </a:r>
          </a:p>
        </p:txBody>
      </p:sp>
      <p:sp>
        <p:nvSpPr>
          <p:cNvPr id="9" name="Pill 9"/>
          <p:cNvSpPr/>
          <p:nvPr/>
        </p:nvSpPr>
        <p:spPr>
          <a:xfrm>
            <a:off x="3217774" y="1856232"/>
            <a:ext cx="2209190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9525">
            <a:solidFill>
              <a:srgbClr val="F5C2BF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200" dirty="0">
                <a:solidFill>
                  <a:srgbClr val="C6282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 to Minor Unit + 2</a:t>
            </a:r>
          </a:p>
        </p:txBody>
      </p:sp>
      <p:sp>
        <p:nvSpPr>
          <p:cNvPr id="10" name="Pill 10"/>
          <p:cNvSpPr/>
          <p:nvPr/>
        </p:nvSpPr>
        <p:spPr>
          <a:xfrm>
            <a:off x="5554980" y="1856232"/>
            <a:ext cx="2209190" cy="310896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200" dirty="0">
                <a:solidFill>
                  <a:srgbClr val="C257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 to the Minor Unit</a:t>
            </a:r>
          </a:p>
        </p:txBody>
      </p:sp>
      <p:sp>
        <p:nvSpPr>
          <p:cNvPr id="11" name="Frame 11"/>
          <p:cNvSpPr/>
          <p:nvPr/>
        </p:nvSpPr>
        <p:spPr>
          <a:xfrm>
            <a:off x="694944" y="2240280"/>
            <a:ext cx="7022592" cy="1709928"/>
          </a:xfrm>
          <a:prstGeom prst="roundRect">
            <a:avLst>
              <a:gd name="adj" fmla="val 5529"/>
            </a:avLst>
          </a:prstGeom>
          <a:solidFill>
            <a:srgbClr val="EEF4FC"/>
          </a:solidFill>
          <a:ln w="19050">
            <a:solidFill>
              <a:srgbClr val="2F7F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2"/>
          <p:cNvSpPr txBox="1"/>
          <p:nvPr/>
        </p:nvSpPr>
        <p:spPr>
          <a:xfrm>
            <a:off x="86868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850" spc="150" dirty="0">
                <a:solidFill>
                  <a:srgbClr val="2F7F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INPUT &amp; INTERMEDIATE VALUES</a:t>
            </a:r>
          </a:p>
        </p:txBody>
      </p:sp>
      <p:sp>
        <p:nvSpPr>
          <p:cNvPr id="13" name="Frame 13"/>
          <p:cNvSpPr/>
          <p:nvPr/>
        </p:nvSpPr>
        <p:spPr>
          <a:xfrm>
            <a:off x="694944" y="4023360"/>
            <a:ext cx="7022592" cy="2203704"/>
          </a:xfrm>
          <a:prstGeom prst="roundRect">
            <a:avLst>
              <a:gd name="adj" fmla="val 5529"/>
            </a:avLst>
          </a:prstGeom>
          <a:solidFill>
            <a:srgbClr val="F4F0FC"/>
          </a:solidFill>
          <a:ln w="19050">
            <a:solidFill>
              <a:srgbClr val="7B57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4"/>
          <p:cNvSpPr txBox="1"/>
          <p:nvPr/>
        </p:nvSpPr>
        <p:spPr>
          <a:xfrm>
            <a:off x="868680" y="4050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850" spc="150" dirty="0">
                <a:solidFill>
                  <a:srgbClr val="7B57D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FINAL RESULTS</a:t>
            </a:r>
          </a:p>
        </p:txBody>
      </p:sp>
      <p:sp>
        <p:nvSpPr>
          <p:cNvPr id="15" name="Card 15"/>
          <p:cNvSpPr/>
          <p:nvPr/>
        </p:nvSpPr>
        <p:spPr>
          <a:xfrm>
            <a:off x="822960" y="245059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Pill 16"/>
          <p:cNvSpPr/>
          <p:nvPr/>
        </p:nvSpPr>
        <p:spPr>
          <a:xfrm>
            <a:off x="960120" y="254965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965960" y="246583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Item net price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965960" y="265633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−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19" name="Pill 19"/>
          <p:cNvSpPr/>
          <p:nvPr/>
        </p:nvSpPr>
        <p:spPr>
          <a:xfrm>
            <a:off x="4773168" y="250393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00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 + 2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interim rounding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989320" y="248107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€0.00005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577840" y="271729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price rounded once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1303020" y="290779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23" name="Card 23"/>
          <p:cNvSpPr/>
          <p:nvPr/>
        </p:nvSpPr>
        <p:spPr>
          <a:xfrm>
            <a:off x="822960" y="294436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Pill 24"/>
          <p:cNvSpPr/>
          <p:nvPr/>
        </p:nvSpPr>
        <p:spPr>
          <a:xfrm>
            <a:off x="960120" y="304342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EF6C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965960" y="295960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Invoice line net amount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965960" y="315010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×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÷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+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−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27" name="Pill 27"/>
          <p:cNvSpPr/>
          <p:nvPr/>
        </p:nvSpPr>
        <p:spPr>
          <a:xfrm>
            <a:off x="4773168" y="299770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interim rounding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989320" y="297484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€0.01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577840" y="321106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€0.005 + 100 × €0.00005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1303020" y="340156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31" name="Card 31"/>
          <p:cNvSpPr/>
          <p:nvPr/>
        </p:nvSpPr>
        <p:spPr>
          <a:xfrm>
            <a:off x="822960" y="343814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Pill 32"/>
          <p:cNvSpPr/>
          <p:nvPr/>
        </p:nvSpPr>
        <p:spPr>
          <a:xfrm>
            <a:off x="960120" y="353720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C791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65960" y="345338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Sum of invoice line net amount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1965960" y="364388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en-GB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35" name="Pill 35"/>
          <p:cNvSpPr/>
          <p:nvPr/>
        </p:nvSpPr>
        <p:spPr>
          <a:xfrm>
            <a:off x="4773168" y="349148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of rounded values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989320" y="346862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€1.00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577840" y="3704844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× 100 lines</a:t>
            </a:r>
          </a:p>
        </p:txBody>
      </p:sp>
      <p:sp>
        <p:nvSpPr>
          <p:cNvPr id="38" name="Card 38"/>
          <p:cNvSpPr/>
          <p:nvPr/>
        </p:nvSpPr>
        <p:spPr>
          <a:xfrm>
            <a:off x="822960" y="423367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Pill 39"/>
          <p:cNvSpPr/>
          <p:nvPr/>
        </p:nvSpPr>
        <p:spPr>
          <a:xfrm>
            <a:off x="960120" y="433273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965960" y="424891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VAT category taxable amount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965960" y="443941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en-GB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+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−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42" name="Pill 42"/>
          <p:cNvSpPr/>
          <p:nvPr/>
        </p:nvSpPr>
        <p:spPr>
          <a:xfrm>
            <a:off x="4773168" y="428701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interim rounding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989320" y="426415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€1.00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5577840" y="450037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of rounded lines</a:t>
            </a:r>
          </a:p>
        </p:txBody>
      </p:sp>
      <p:cxnSp>
        <p:nvCxnSpPr>
          <p:cNvPr id="45" name="Connector 45"/>
          <p:cNvCxnSpPr/>
          <p:nvPr/>
        </p:nvCxnSpPr>
        <p:spPr>
          <a:xfrm>
            <a:off x="1303020" y="469087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46" name="Card 46"/>
          <p:cNvSpPr/>
          <p:nvPr/>
        </p:nvSpPr>
        <p:spPr>
          <a:xfrm>
            <a:off x="822960" y="472744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Pill 47"/>
          <p:cNvSpPr/>
          <p:nvPr/>
        </p:nvSpPr>
        <p:spPr>
          <a:xfrm>
            <a:off x="960120" y="482650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965960" y="474268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VAT category tax amount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1965960" y="493318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×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÷ 100</a:t>
            </a:r>
          </a:p>
        </p:txBody>
      </p:sp>
      <p:sp>
        <p:nvSpPr>
          <p:cNvPr id="50" name="Pill 50"/>
          <p:cNvSpPr/>
          <p:nvPr/>
        </p:nvSpPr>
        <p:spPr>
          <a:xfrm>
            <a:off x="4773168" y="478078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interim rounding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5989320" y="475792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€0.19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5577840" y="499414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€1.00 × 19%</a:t>
            </a:r>
          </a:p>
        </p:txBody>
      </p:sp>
      <p:cxnSp>
        <p:nvCxnSpPr>
          <p:cNvPr id="53" name="Connector 53"/>
          <p:cNvCxnSpPr/>
          <p:nvPr/>
        </p:nvCxnSpPr>
        <p:spPr>
          <a:xfrm>
            <a:off x="1303020" y="518464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54" name="Card 54"/>
          <p:cNvSpPr/>
          <p:nvPr/>
        </p:nvSpPr>
        <p:spPr>
          <a:xfrm>
            <a:off x="822960" y="522122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Pill 55"/>
          <p:cNvSpPr/>
          <p:nvPr/>
        </p:nvSpPr>
        <p:spPr>
          <a:xfrm>
            <a:off x="960120" y="532028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965960" y="523646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Invoice total VAT amount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1965960" y="542696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en-GB" sz="800" b="1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58" name="Pill 58"/>
          <p:cNvSpPr/>
          <p:nvPr/>
        </p:nvSpPr>
        <p:spPr>
          <a:xfrm>
            <a:off x="4773168" y="527456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of rounded values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5989320" y="525170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€0.19</a:t>
            </a:r>
          </a:p>
        </p:txBody>
      </p:sp>
      <p:sp>
        <p:nvSpPr>
          <p:cNvPr id="60" name="Panel 60"/>
          <p:cNvSpPr/>
          <p:nvPr/>
        </p:nvSpPr>
        <p:spPr>
          <a:xfrm>
            <a:off x="7845552" y="2240280"/>
            <a:ext cx="3520440" cy="1709928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7DB3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1" name="Text 61"/>
          <p:cNvSpPr txBox="1"/>
          <p:nvPr/>
        </p:nvSpPr>
        <p:spPr>
          <a:xfrm>
            <a:off x="8065008" y="22951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20" dirty="0">
                <a:solidFill>
                  <a:srgbClr val="7DB3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ALLOWED DECIMAL PLACES</a:t>
            </a:r>
          </a:p>
        </p:txBody>
      </p:sp>
      <p:sp>
        <p:nvSpPr>
          <p:cNvPr id="80" name="Panel 80"/>
          <p:cNvSpPr/>
          <p:nvPr/>
        </p:nvSpPr>
        <p:spPr>
          <a:xfrm>
            <a:off x="7845552" y="4023360"/>
            <a:ext cx="3520440" cy="2203704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B9A2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1" name="Text 81"/>
          <p:cNvSpPr txBox="1"/>
          <p:nvPr/>
        </p:nvSpPr>
        <p:spPr>
          <a:xfrm>
            <a:off x="8065008" y="407822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2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DECIMAL PLACES · FINAL VALUES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8065008" y="435254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 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 category taxable amount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9994392" y="435254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8065008" y="462686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82B1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 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 category tax amount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9994392" y="462686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8065008" y="490118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CE93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 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total VAT amount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9994392" y="490118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8065008" y="5669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</a:t>
            </a:r>
            <a:r>
              <a:rPr lang="en-GB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with number of lines and quantity:</a:t>
            </a:r>
          </a:p>
          <a:p>
            <a:pPr marL="0" indent="0" algn="l">
              <a:buNone/>
            </a:pPr>
            <a:r>
              <a:rPr lang="en-GB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 “How large does the deviation get?”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822960" y="63093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8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Red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rounded intermediate value   </a:t>
            </a:r>
            <a:r>
              <a:rPr lang="en-GB" sz="8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Green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paid amount, rounded once (bank)   </a:t>
            </a:r>
            <a:r>
              <a:rPr lang="en-GB" sz="850" dirty="0">
                <a:solidFill>
                  <a:srgbClr val="D98A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Orange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rounded input value</a:t>
            </a:r>
          </a:p>
          <a:p>
            <a:pPr marL="0" indent="0" algn="l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dp = decimal places · Minor Unit = smallest currency unit, ISO 4217 (EUR: 2 dp) · ± for 100 lines of 100 units, 19% VAT</a:t>
            </a:r>
          </a:p>
          <a:p>
            <a:pPr marL="0" indent="0" algn="l">
              <a:buNone/>
            </a:pPr>
            <a:r>
              <a:rPr lang="en-GB" sz="850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Rain</a:t>
            </a:r>
            <a:r>
              <a:rPr lang="en-GB" sz="850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bo</a:t>
            </a:r>
            <a:r>
              <a:rPr lang="en-GB" sz="850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order of the calculation steps; a BT keeps its colour where it is reused further down</a:t>
            </a:r>
          </a:p>
        </p:txBody>
      </p:sp>
      <p:sp>
        <p:nvSpPr>
          <p:cNvPr id="90" name="Card 90"/>
          <p:cNvSpPr/>
          <p:nvPr/>
        </p:nvSpPr>
        <p:spPr>
          <a:xfrm>
            <a:off x="822960" y="5715000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1" name="Pill 91"/>
          <p:cNvSpPr/>
          <p:nvPr/>
        </p:nvSpPr>
        <p:spPr>
          <a:xfrm>
            <a:off x="960120" y="5814060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965960" y="5730240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Amount due for payment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1965960" y="5920740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b="1" dirty="0">
                <a:solidFill>
                  <a:srgbClr val="6A1B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+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Invoice total amount without VAT</a:t>
            </a:r>
            <a:b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BT-113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Paid amount +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BT-114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Rounding amount</a:t>
            </a:r>
          </a:p>
        </p:txBody>
      </p:sp>
      <p:sp>
        <p:nvSpPr>
          <p:cNvPr id="94" name="Pill 94"/>
          <p:cNvSpPr/>
          <p:nvPr/>
        </p:nvSpPr>
        <p:spPr>
          <a:xfrm>
            <a:off x="4773168" y="5768340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1E8A4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final value · bank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989320" y="5745480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€1.19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5577840" y="5981700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€1.00 + €0.19</a:t>
            </a:r>
          </a:p>
        </p:txBody>
      </p:sp>
      <p:cxnSp>
        <p:nvCxnSpPr>
          <p:cNvPr id="97" name="Connector 97"/>
          <p:cNvCxnSpPr/>
          <p:nvPr/>
        </p:nvCxnSpPr>
        <p:spPr>
          <a:xfrm>
            <a:off x="1303020" y="5678424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98" name="Text 98"/>
          <p:cNvSpPr txBox="1"/>
          <p:nvPr/>
        </p:nvSpPr>
        <p:spPr>
          <a:xfrm>
            <a:off x="8065008" y="517550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F48FB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 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Amount due for payment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9994392" y="517550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100" name="Reuse 100"/>
          <p:cNvSpPr/>
          <p:nvPr/>
        </p:nvSpPr>
        <p:spPr>
          <a:xfrm>
            <a:off x="1645920" y="2679192"/>
            <a:ext cx="309067" cy="530351"/>
          </a:xfrm>
          <a:custGeom>
            <a:avLst/>
            <a:gdLst/>
            <a:ahLst/>
            <a:cxnLst/>
            <a:rect l="l" t="t" r="r" b="b"/>
            <a:pathLst>
              <a:path w="309067" h="530351" fill="none">
                <a:moveTo>
                  <a:pt x="0" y="0"/>
                </a:moveTo>
                <a:lnTo>
                  <a:pt x="256032" y="0"/>
                </a:lnTo>
                <a:lnTo>
                  <a:pt x="256032" y="530351"/>
                </a:lnTo>
                <a:lnTo>
                  <a:pt x="309067" y="530351"/>
                </a:lnTo>
              </a:path>
            </a:pathLst>
          </a:custGeom>
          <a:noFill/>
          <a:ln w="15875">
            <a:solidFill>
              <a:srgbClr val="D32F2F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1" name="Reuse 101"/>
          <p:cNvSpPr/>
          <p:nvPr/>
        </p:nvSpPr>
        <p:spPr>
          <a:xfrm>
            <a:off x="1645920" y="317296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210311" y="0"/>
                </a:lnTo>
                <a:lnTo>
                  <a:pt x="21031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2" name="Reuse 102"/>
          <p:cNvSpPr/>
          <p:nvPr/>
        </p:nvSpPr>
        <p:spPr>
          <a:xfrm>
            <a:off x="1645920" y="3172968"/>
            <a:ext cx="309067" cy="1325880"/>
          </a:xfrm>
          <a:custGeom>
            <a:avLst/>
            <a:gdLst/>
            <a:ahLst/>
            <a:cxnLst/>
            <a:rect l="l" t="t" r="r" b="b"/>
            <a:pathLst>
              <a:path w="309067" h="1325880" fill="none">
                <a:moveTo>
                  <a:pt x="0" y="0"/>
                </a:moveTo>
                <a:lnTo>
                  <a:pt x="210311" y="0"/>
                </a:lnTo>
                <a:lnTo>
                  <a:pt x="210311" y="1325880"/>
                </a:lnTo>
                <a:lnTo>
                  <a:pt x="309067" y="1325880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3" name="Reuse 103"/>
          <p:cNvSpPr/>
          <p:nvPr/>
        </p:nvSpPr>
        <p:spPr>
          <a:xfrm>
            <a:off x="1645920" y="4462272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64591" y="0"/>
                </a:lnTo>
                <a:lnTo>
                  <a:pt x="16459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2E7D32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4" name="Reuse 104"/>
          <p:cNvSpPr/>
          <p:nvPr/>
        </p:nvSpPr>
        <p:spPr>
          <a:xfrm>
            <a:off x="1645920" y="495604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18871" y="0"/>
                </a:lnTo>
                <a:lnTo>
                  <a:pt x="11887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1565C0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5" name="Reuse 105"/>
          <p:cNvSpPr/>
          <p:nvPr/>
        </p:nvSpPr>
        <p:spPr>
          <a:xfrm>
            <a:off x="1645920" y="5449824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73151" y="0"/>
                </a:lnTo>
                <a:lnTo>
                  <a:pt x="7315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6A1B9A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6"/>
          <p:cNvSpPr txBox="1"/>
          <p:nvPr/>
        </p:nvSpPr>
        <p:spPr>
          <a:xfrm>
            <a:off x="8065008" y="2542032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gross price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9994392" y="2542032"/>
            <a:ext cx="118872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 + 2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8065008" y="2655875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price discount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9994392" y="2655875"/>
            <a:ext cx="118872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 + 2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8065008" y="2769718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b="1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net price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9994392" y="2769718"/>
            <a:ext cx="118872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 + 2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8065008" y="2883560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Invoiced quantity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10515600" y="2883560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4 dp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065008" y="2997403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price base quantity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10515600" y="2997403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8065008" y="3111246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line charge or tax amount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9994392" y="3111246"/>
            <a:ext cx="118872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8065008" y="3225089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line allowance amount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9994392" y="3225089"/>
            <a:ext cx="118872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065008" y="3338932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b="1" dirty="0">
                <a:solidFill>
                  <a:srgbClr val="FFB74D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line net amount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9994392" y="3338932"/>
            <a:ext cx="118872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8065008" y="3452774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b="1" dirty="0">
                <a:solidFill>
                  <a:srgbClr val="FFE066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 of invoice line net amount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9994392" y="3452774"/>
            <a:ext cx="118872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8065008" y="3566617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Document level charge or tax amount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9994392" y="3566617"/>
            <a:ext cx="118872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8065008" y="3680460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Document level allowance amount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9994392" y="3680460"/>
            <a:ext cx="118872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065008" y="3794303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 category rate (law)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10515600" y="3794303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GB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en-GB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 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CALCULATION CHAIN · PROPOSED EN 16931-1:2026 AMENDMENT (#163)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From gross price via net price to VAT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4055174-2971-41F0-AAA2-FCF21F98D99D}" type="slidenum">
              <a:rPr lang="en-GB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27</a:t>
            </a:fld>
            <a:endParaRPr lang="en-GB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Pill 8"/>
          <p:cNvSpPr/>
          <p:nvPr/>
        </p:nvSpPr>
        <p:spPr>
          <a:xfrm>
            <a:off x="822960" y="1856232"/>
            <a:ext cx="2291486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20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No intermediate rounding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242462" y="1847088"/>
            <a:ext cx="727313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— only BT-115 Amount due for payment is rounded; BT-114 Rounding amount shows it.</a:t>
            </a:r>
          </a:p>
        </p:txBody>
      </p:sp>
      <p:sp>
        <p:nvSpPr>
          <p:cNvPr id="10" name="Frame 10"/>
          <p:cNvSpPr/>
          <p:nvPr/>
        </p:nvSpPr>
        <p:spPr>
          <a:xfrm>
            <a:off x="694944" y="2240280"/>
            <a:ext cx="7022592" cy="1709928"/>
          </a:xfrm>
          <a:prstGeom prst="roundRect">
            <a:avLst>
              <a:gd name="adj" fmla="val 5529"/>
            </a:avLst>
          </a:prstGeom>
          <a:solidFill>
            <a:srgbClr val="EEF4FC"/>
          </a:solidFill>
          <a:ln w="19050">
            <a:solidFill>
              <a:srgbClr val="2F7F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11"/>
          <p:cNvSpPr txBox="1"/>
          <p:nvPr/>
        </p:nvSpPr>
        <p:spPr>
          <a:xfrm>
            <a:off x="86868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850" spc="150" dirty="0">
                <a:solidFill>
                  <a:srgbClr val="2F7F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INPUT &amp; INTERMEDIATE VALUES</a:t>
            </a:r>
          </a:p>
        </p:txBody>
      </p:sp>
      <p:sp>
        <p:nvSpPr>
          <p:cNvPr id="12" name="Frame 12"/>
          <p:cNvSpPr/>
          <p:nvPr/>
        </p:nvSpPr>
        <p:spPr>
          <a:xfrm>
            <a:off x="694944" y="4023360"/>
            <a:ext cx="7022592" cy="2203704"/>
          </a:xfrm>
          <a:prstGeom prst="roundRect">
            <a:avLst>
              <a:gd name="adj" fmla="val 5529"/>
            </a:avLst>
          </a:prstGeom>
          <a:solidFill>
            <a:srgbClr val="F4F0FC"/>
          </a:solidFill>
          <a:ln w="19050">
            <a:solidFill>
              <a:srgbClr val="7B57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3"/>
          <p:cNvSpPr txBox="1"/>
          <p:nvPr/>
        </p:nvSpPr>
        <p:spPr>
          <a:xfrm>
            <a:off x="868680" y="4050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850" spc="150" dirty="0">
                <a:solidFill>
                  <a:srgbClr val="7B57D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FINAL RESULTS</a:t>
            </a:r>
          </a:p>
        </p:txBody>
      </p:sp>
      <p:sp>
        <p:nvSpPr>
          <p:cNvPr id="14" name="Card 14"/>
          <p:cNvSpPr/>
          <p:nvPr/>
        </p:nvSpPr>
        <p:spPr>
          <a:xfrm>
            <a:off x="822960" y="245059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Pill 15"/>
          <p:cNvSpPr/>
          <p:nvPr/>
        </p:nvSpPr>
        <p:spPr>
          <a:xfrm>
            <a:off x="960120" y="254965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965960" y="246583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Item net price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965960" y="265633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−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18" name="Pill 18"/>
          <p:cNvSpPr/>
          <p:nvPr/>
        </p:nvSpPr>
        <p:spPr>
          <a:xfrm>
            <a:off x="4773168" y="250393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unrounded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989320" y="248107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77840" y="271729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as agreed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1303020" y="290779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22" name="Card 22"/>
          <p:cNvSpPr/>
          <p:nvPr/>
        </p:nvSpPr>
        <p:spPr>
          <a:xfrm>
            <a:off x="822960" y="294436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Pill 23"/>
          <p:cNvSpPr/>
          <p:nvPr/>
        </p:nvSpPr>
        <p:spPr>
          <a:xfrm>
            <a:off x="960120" y="304342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EF6C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965960" y="295960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Invoice line net amount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965960" y="315010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×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÷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+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−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26" name="Pill 26"/>
          <p:cNvSpPr/>
          <p:nvPr/>
        </p:nvSpPr>
        <p:spPr>
          <a:xfrm>
            <a:off x="4773168" y="299770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unrounded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5989320" y="297484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577840" y="321106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exact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1303020" y="340156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30" name="Card 30"/>
          <p:cNvSpPr/>
          <p:nvPr/>
        </p:nvSpPr>
        <p:spPr>
          <a:xfrm>
            <a:off x="822960" y="343814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Pill 31"/>
          <p:cNvSpPr/>
          <p:nvPr/>
        </p:nvSpPr>
        <p:spPr>
          <a:xfrm>
            <a:off x="960120" y="353720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C791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965960" y="345338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Sum of invoice line net amount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65960" y="364388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en-GB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34" name="Pill 34"/>
          <p:cNvSpPr/>
          <p:nvPr/>
        </p:nvSpPr>
        <p:spPr>
          <a:xfrm>
            <a:off x="4773168" y="349148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unrounded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989320" y="346862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577840" y="3704844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exact sum</a:t>
            </a:r>
          </a:p>
        </p:txBody>
      </p:sp>
      <p:sp>
        <p:nvSpPr>
          <p:cNvPr id="37" name="Card 37"/>
          <p:cNvSpPr/>
          <p:nvPr/>
        </p:nvSpPr>
        <p:spPr>
          <a:xfrm>
            <a:off x="822960" y="423367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Pill 38"/>
          <p:cNvSpPr/>
          <p:nvPr/>
        </p:nvSpPr>
        <p:spPr>
          <a:xfrm>
            <a:off x="960120" y="433273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965960" y="424891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VAT category taxable amount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965960" y="443941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en-GB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+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− Σ 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41" name="Pill 41"/>
          <p:cNvSpPr/>
          <p:nvPr/>
        </p:nvSpPr>
        <p:spPr>
          <a:xfrm>
            <a:off x="4773168" y="428701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unrounded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989320" y="426415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577840" y="450037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exact</a:t>
            </a:r>
          </a:p>
        </p:txBody>
      </p:sp>
      <p:cxnSp>
        <p:nvCxnSpPr>
          <p:cNvPr id="44" name="Connector 44"/>
          <p:cNvCxnSpPr/>
          <p:nvPr/>
        </p:nvCxnSpPr>
        <p:spPr>
          <a:xfrm>
            <a:off x="1303020" y="469087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45" name="Card 45"/>
          <p:cNvSpPr/>
          <p:nvPr/>
        </p:nvSpPr>
        <p:spPr>
          <a:xfrm>
            <a:off x="822960" y="472744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Pill 46"/>
          <p:cNvSpPr/>
          <p:nvPr/>
        </p:nvSpPr>
        <p:spPr>
          <a:xfrm>
            <a:off x="960120" y="482650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1965960" y="474268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VAT category tax amount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965960" y="493318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×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÷ 100</a:t>
            </a:r>
          </a:p>
        </p:txBody>
      </p:sp>
      <p:sp>
        <p:nvSpPr>
          <p:cNvPr id="49" name="Pill 49"/>
          <p:cNvSpPr/>
          <p:nvPr/>
        </p:nvSpPr>
        <p:spPr>
          <a:xfrm>
            <a:off x="4773168" y="478078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unrounded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989320" y="475792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5577840" y="499414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Minor Unit only via CIUS → warning</a:t>
            </a:r>
          </a:p>
        </p:txBody>
      </p:sp>
      <p:cxnSp>
        <p:nvCxnSpPr>
          <p:cNvPr id="52" name="Connector 52"/>
          <p:cNvCxnSpPr/>
          <p:nvPr/>
        </p:nvCxnSpPr>
        <p:spPr>
          <a:xfrm>
            <a:off x="1303020" y="518464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53" name="Card 53"/>
          <p:cNvSpPr/>
          <p:nvPr/>
        </p:nvSpPr>
        <p:spPr>
          <a:xfrm>
            <a:off x="822960" y="522122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Pill 54"/>
          <p:cNvSpPr/>
          <p:nvPr/>
        </p:nvSpPr>
        <p:spPr>
          <a:xfrm>
            <a:off x="960120" y="532028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965960" y="523646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Invoice total VAT amount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965960" y="542696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en-GB" sz="800" b="1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/>
            </a:r>
          </a:p>
        </p:txBody>
      </p:sp>
      <p:sp>
        <p:nvSpPr>
          <p:cNvPr id="57" name="Pill 57"/>
          <p:cNvSpPr/>
          <p:nvPr/>
        </p:nvSpPr>
        <p:spPr>
          <a:xfrm>
            <a:off x="4773168" y="527456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unrounded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5989320" y="525170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59" name="Panel 59"/>
          <p:cNvSpPr/>
          <p:nvPr/>
        </p:nvSpPr>
        <p:spPr>
          <a:xfrm>
            <a:off x="7845552" y="2240280"/>
            <a:ext cx="3520440" cy="1709928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7DB3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0" name="Text 60"/>
          <p:cNvSpPr txBox="1"/>
          <p:nvPr/>
        </p:nvSpPr>
        <p:spPr>
          <a:xfrm>
            <a:off x="8065008" y="22951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20" dirty="0">
                <a:solidFill>
                  <a:srgbClr val="7DB3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ALLOWED DECIMAL PLACES</a:t>
            </a:r>
          </a:p>
        </p:txBody>
      </p:sp>
      <p:sp>
        <p:nvSpPr>
          <p:cNvPr id="79" name="Panel 79"/>
          <p:cNvSpPr/>
          <p:nvPr/>
        </p:nvSpPr>
        <p:spPr>
          <a:xfrm>
            <a:off x="7845552" y="4023360"/>
            <a:ext cx="3520440" cy="2203704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B9A2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0" name="Text 80"/>
          <p:cNvSpPr txBox="1"/>
          <p:nvPr/>
        </p:nvSpPr>
        <p:spPr>
          <a:xfrm>
            <a:off x="8065008" y="407822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2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DECIMAL PLACES · FINAL VALUES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8065008" y="435254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 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 category taxable amount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10515600" y="435254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8065008" y="462686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82B1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 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 category tax amount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10515600" y="462686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8065008" y="490118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CE93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 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total VAT amount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10515600" y="49011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8065008" y="5669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</a:t>
            </a:r>
            <a:r>
              <a:rPr lang="en-GB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with number of lines and quantity:</a:t>
            </a:r>
          </a:p>
          <a:p>
            <a:pPr marL="0" indent="0" algn="l">
              <a:buNone/>
            </a:pPr>
            <a:r>
              <a:rPr lang="en-GB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 “How large does the deviation get?”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822960" y="63093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8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Red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rounded intermediate value   </a:t>
            </a:r>
            <a:r>
              <a:rPr lang="en-GB" sz="8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Green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paid amount, rounded once (bank)   </a:t>
            </a:r>
            <a:r>
              <a:rPr lang="en-GB" sz="850" dirty="0">
                <a:solidFill>
                  <a:srgbClr val="D98A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Orange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rounded input value</a:t>
            </a:r>
          </a:p>
          <a:p>
            <a:pPr marL="0" indent="0" algn="l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dp = decimal places · Minor Unit = smallest currency unit, ISO 4217 (EUR: 2 dp) · ± for 100 lines of 100 units, 19% VAT</a:t>
            </a:r>
          </a:p>
          <a:p>
            <a:pPr marL="0" indent="0" algn="l">
              <a:buNone/>
            </a:pPr>
            <a:r>
              <a:rPr lang="en-GB" sz="850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Rain</a:t>
            </a:r>
            <a:r>
              <a:rPr lang="en-GB" sz="850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bo</a:t>
            </a:r>
            <a:r>
              <a:rPr lang="en-GB" sz="850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</a:t>
            </a: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order of the calculation steps; a BT keeps its colour where it is reused further down</a:t>
            </a:r>
          </a:p>
        </p:txBody>
      </p:sp>
      <p:sp>
        <p:nvSpPr>
          <p:cNvPr id="89" name="Card 89"/>
          <p:cNvSpPr/>
          <p:nvPr/>
        </p:nvSpPr>
        <p:spPr>
          <a:xfrm>
            <a:off x="822960" y="5715000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0" name="Pill 90"/>
          <p:cNvSpPr/>
          <p:nvPr/>
        </p:nvSpPr>
        <p:spPr>
          <a:xfrm>
            <a:off x="960120" y="5814060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1965960" y="5730240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Amount due for payment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965960" y="5920740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en-GB" sz="800" b="1" dirty="0">
                <a:solidFill>
                  <a:srgbClr val="6A1B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+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BT-109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Invoice total amount without VAT</a:t>
            </a:r>
            <a:b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BT-113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Paid amount + </a:t>
            </a:r>
            <a:r>
              <a:rPr lang="en-GB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BT-114</a:t>
            </a:r>
            <a:r>
              <a:rPr lang="en-GB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Rounding amount</a:t>
            </a:r>
          </a:p>
        </p:txBody>
      </p:sp>
      <p:sp>
        <p:nvSpPr>
          <p:cNvPr id="93" name="Pill 93"/>
          <p:cNvSpPr/>
          <p:nvPr/>
        </p:nvSpPr>
        <p:spPr>
          <a:xfrm>
            <a:off x="4773168" y="5768340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en-GB" sz="11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en-GB" sz="800" dirty="0">
                <a:solidFill>
                  <a:srgbClr val="1E8A4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rounded once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5989320" y="5745480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577840" y="5981700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BT-114 shows the rounding</a:t>
            </a:r>
          </a:p>
        </p:txBody>
      </p:sp>
      <p:cxnSp>
        <p:nvCxnSpPr>
          <p:cNvPr id="96" name="Connector 96"/>
          <p:cNvCxnSpPr/>
          <p:nvPr/>
        </p:nvCxnSpPr>
        <p:spPr>
          <a:xfrm>
            <a:off x="1303020" y="5678424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97" name="Text 97"/>
          <p:cNvSpPr txBox="1"/>
          <p:nvPr/>
        </p:nvSpPr>
        <p:spPr>
          <a:xfrm>
            <a:off x="8065008" y="517550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000" b="1" dirty="0">
                <a:solidFill>
                  <a:srgbClr val="F48FB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 </a:t>
            </a:r>
            <a:r>
              <a:rPr lang="en-GB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Amount due for payment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9994392" y="517550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99" name="Reuse 99"/>
          <p:cNvSpPr/>
          <p:nvPr/>
        </p:nvSpPr>
        <p:spPr>
          <a:xfrm>
            <a:off x="1645920" y="2679192"/>
            <a:ext cx="309067" cy="530351"/>
          </a:xfrm>
          <a:custGeom>
            <a:avLst/>
            <a:gdLst/>
            <a:ahLst/>
            <a:cxnLst/>
            <a:rect l="l" t="t" r="r" b="b"/>
            <a:pathLst>
              <a:path w="309067" h="530351" fill="none">
                <a:moveTo>
                  <a:pt x="0" y="0"/>
                </a:moveTo>
                <a:lnTo>
                  <a:pt x="256032" y="0"/>
                </a:lnTo>
                <a:lnTo>
                  <a:pt x="256032" y="530351"/>
                </a:lnTo>
                <a:lnTo>
                  <a:pt x="309067" y="530351"/>
                </a:lnTo>
              </a:path>
            </a:pathLst>
          </a:custGeom>
          <a:noFill/>
          <a:ln w="15875">
            <a:solidFill>
              <a:srgbClr val="D32F2F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0" name="Reuse 100"/>
          <p:cNvSpPr/>
          <p:nvPr/>
        </p:nvSpPr>
        <p:spPr>
          <a:xfrm>
            <a:off x="1645920" y="317296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210311" y="0"/>
                </a:lnTo>
                <a:lnTo>
                  <a:pt x="21031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1" name="Reuse 101"/>
          <p:cNvSpPr/>
          <p:nvPr/>
        </p:nvSpPr>
        <p:spPr>
          <a:xfrm>
            <a:off x="1645920" y="3172968"/>
            <a:ext cx="309067" cy="1325880"/>
          </a:xfrm>
          <a:custGeom>
            <a:avLst/>
            <a:gdLst/>
            <a:ahLst/>
            <a:cxnLst/>
            <a:rect l="l" t="t" r="r" b="b"/>
            <a:pathLst>
              <a:path w="309067" h="1325880" fill="none">
                <a:moveTo>
                  <a:pt x="0" y="0"/>
                </a:moveTo>
                <a:lnTo>
                  <a:pt x="210311" y="0"/>
                </a:lnTo>
                <a:lnTo>
                  <a:pt x="210311" y="1325880"/>
                </a:lnTo>
                <a:lnTo>
                  <a:pt x="309067" y="1325880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2" name="Reuse 102"/>
          <p:cNvSpPr/>
          <p:nvPr/>
        </p:nvSpPr>
        <p:spPr>
          <a:xfrm>
            <a:off x="1645920" y="4462272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64591" y="0"/>
                </a:lnTo>
                <a:lnTo>
                  <a:pt x="16459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2E7D32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3" name="Reuse 103"/>
          <p:cNvSpPr/>
          <p:nvPr/>
        </p:nvSpPr>
        <p:spPr>
          <a:xfrm>
            <a:off x="1645920" y="495604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18871" y="0"/>
                </a:lnTo>
                <a:lnTo>
                  <a:pt x="11887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1565C0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4" name="Reuse 104"/>
          <p:cNvSpPr/>
          <p:nvPr/>
        </p:nvSpPr>
        <p:spPr>
          <a:xfrm>
            <a:off x="1645920" y="5449824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73151" y="0"/>
                </a:lnTo>
                <a:lnTo>
                  <a:pt x="7315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6A1B9A"/>
            </a:solidFill>
            <a:round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105"/>
          <p:cNvSpPr txBox="1"/>
          <p:nvPr/>
        </p:nvSpPr>
        <p:spPr>
          <a:xfrm>
            <a:off x="8065008" y="2542032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gross price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10515600" y="2542032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8065008" y="2655875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price discount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10515600" y="2655875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8065008" y="2769718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b="1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net price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10515600" y="2769718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8065008" y="2883560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Invoiced quantity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10515600" y="2883560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065008" y="2997403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Item price base quantity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10515600" y="2997403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8065008" y="3111246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line charge or tax amount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10515600" y="3111246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8065008" y="3225089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line allowance amount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10515600" y="3225089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8065008" y="3338932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b="1" dirty="0">
                <a:solidFill>
                  <a:srgbClr val="FFB74D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Invoice line net amount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10515600" y="3338932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065008" y="3452774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b="1" dirty="0">
                <a:solidFill>
                  <a:srgbClr val="FFE066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 of invoice line net amount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10515600" y="3452774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8065008" y="3566617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Document level charge or tax amount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10515600" y="3566617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8065008" y="3680460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Document level allowance amount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10515600" y="3680460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free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065008" y="3794303"/>
            <a:ext cx="2514600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 </a:t>
            </a:r>
            <a:r>
              <a:rPr lang="en-GB" sz="7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 category rate (law)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10515600" y="3794303"/>
            <a:ext cx="667512" cy="1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7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dp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GB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en-GB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 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· EN 16931-1:2017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How large does the deviation get?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FF8C59E-DB43-45C8-AAB1-F463E6DDD355}" type="slidenum">
              <a:rPr lang="en-GB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28</a:t>
            </a:fld>
            <a:endParaRPr lang="en-GB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agline 8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One factor: the number of lines n — each line rounds </a:t>
            </a:r>
            <a:r>
              <a:rPr lang="en-GB" sz="13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130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Invoice line net amount</a:t>
            </a:r>
            <a:r>
              <a:rPr lang="en-GB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and loses up to ± €0.005.</a:t>
            </a:r>
          </a:p>
        </p:txBody>
      </p:sp>
      <p:sp>
        <p:nvSpPr>
          <p:cNvPr id="9" name="Card 9"/>
          <p:cNvSpPr/>
          <p:nvPr/>
        </p:nvSpPr>
        <p:spPr>
          <a:xfrm>
            <a:off x="822960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IconCircle 10"/>
          <p:cNvSpPr/>
          <p:nvPr/>
        </p:nvSpPr>
        <p:spPr>
          <a:xfrm>
            <a:off x="1060704" y="2423160"/>
            <a:ext cx="402336" cy="402336"/>
          </a:xfrm>
          <a:prstGeom prst="ellipse">
            <a:avLst/>
          </a:prstGeom>
          <a:solidFill>
            <a:srgbClr val="C2CAD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2533802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Factor 1 · price rounding × quantity Q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97280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GB" sz="105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en-GB" sz="105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Item net price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is unlimited in 2017 — the price is not rounded, so the quantity magnifies no error.</a:t>
            </a:r>
          </a:p>
        </p:txBody>
      </p:sp>
      <p:sp>
        <p:nvSpPr>
          <p:cNvPr id="14" name="Pill 14"/>
          <p:cNvSpPr/>
          <p:nvPr/>
        </p:nvSpPr>
        <p:spPr>
          <a:xfrm>
            <a:off x="1097280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</a:p>
        </p:txBody>
      </p:sp>
      <p:sp>
        <p:nvSpPr>
          <p:cNvPr id="15" name="Card 15"/>
          <p:cNvSpPr/>
          <p:nvPr/>
        </p:nvSpPr>
        <p:spPr>
          <a:xfrm>
            <a:off x="6199632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IconCircle 16"/>
          <p:cNvSpPr/>
          <p:nvPr/>
        </p:nvSpPr>
        <p:spPr>
          <a:xfrm>
            <a:off x="6437376" y="242316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co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18" y="2533802"/>
            <a:ext cx="181051" cy="181051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6976872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Factor 2 · number of lines 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73952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Each line rounds </a:t>
            </a:r>
            <a:r>
              <a:rPr lang="en-GB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Invoice line net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to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2 decimal places: up to ± €0.005. </a:t>
            </a:r>
            <a:r>
              <a:rPr lang="en-GB" sz="10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en-GB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 of invoice</a:t>
            </a:r>
            <a:r>
              <a:rPr lang="en-GB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line net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and </a:t>
            </a:r>
            <a:r>
              <a:rPr lang="en-GB" sz="10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en-GB" sz="10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VAT category taxable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add up all n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lines — and with them the errors of all lines.</a:t>
            </a:r>
          </a:p>
        </p:txBody>
      </p:sp>
      <p:sp>
        <p:nvSpPr>
          <p:cNvPr id="20" name="Pill 20"/>
          <p:cNvSpPr/>
          <p:nvPr/>
        </p:nvSpPr>
        <p:spPr>
          <a:xfrm>
            <a:off x="6473952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n × €0.005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42062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2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NET DEVIATION  </a:t>
            </a:r>
            <a:r>
              <a:rPr lang="en-GB" sz="9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en-GB" sz="9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 of invoice line net amount</a:t>
            </a:r>
            <a:r>
              <a:rPr lang="en-GB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/ </a:t>
            </a:r>
            <a:r>
              <a:rPr lang="en-GB" sz="9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en-GB" sz="9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VAT category taxable amount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822960" y="4480560"/>
          <a:ext cx="6766560" cy="1609344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Units per line (Q) 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GB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↓ Lines (n)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2435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units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10,000 units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1,000,000 units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 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Price × quantity  </a:t>
                      </a:r>
                      <a:r>
                        <a:rPr lang="en-GB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rounding BT-131  </a:t>
                      </a:r>
                      <a:r>
                        <a:rPr lang="en-GB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€0.005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€0.005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Price × quantity  </a:t>
                      </a:r>
                      <a:r>
                        <a:rPr lang="en-GB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rounding BT-131  </a:t>
                      </a:r>
                      <a:r>
                        <a:rPr lang="en-GB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€0.005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€0.005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Price × quantity  </a:t>
                      </a:r>
                      <a:r>
                        <a:rPr lang="en-GB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rounding BT-131  </a:t>
                      </a:r>
                      <a:r>
                        <a:rPr lang="en-GB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€0.005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€0.005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10,000 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€50.00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€50.00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€50.00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Panel 23"/>
          <p:cNvSpPr/>
          <p:nvPr/>
        </p:nvSpPr>
        <p:spPr>
          <a:xfrm>
            <a:off x="7818120" y="4224528"/>
            <a:ext cx="3547872" cy="1883664"/>
          </a:xfrm>
          <a:prstGeom prst="roundRect">
            <a:avLst>
              <a:gd name="adj" fmla="val 4854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4"/>
          <p:cNvSpPr txBox="1"/>
          <p:nvPr/>
        </p:nvSpPr>
        <p:spPr>
          <a:xfrm>
            <a:off x="809244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0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TOTAL · NET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4608576"/>
            <a:ext cx="3108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€0.005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924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VAT: 19% of that. Open-ended — the more lines, the larger the deviation.</a:t>
            </a:r>
          </a:p>
        </p:txBody>
      </p:sp>
      <p:sp>
        <p:nvSpPr>
          <p:cNvPr id="27" name="Shape 27"/>
          <p:cNvSpPr/>
          <p:nvPr/>
        </p:nvSpPr>
        <p:spPr>
          <a:xfrm>
            <a:off x="8092440" y="5541264"/>
            <a:ext cx="301752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8"/>
          <p:cNvSpPr txBox="1"/>
          <p:nvPr/>
        </p:nvSpPr>
        <p:spPr>
          <a:xfrm>
            <a:off x="8092440" y="55961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100 lines of 10,000 units</a:t>
            </a:r>
          </a:p>
          <a:p>
            <a:pPr marL="0" indent="0" algn="l">
              <a:buNone/>
            </a:pPr>
            <a:r>
              <a:rPr lang="en-GB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 </a:t>
            </a:r>
            <a:r>
              <a:rPr lang="en-GB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€0.50</a:t>
            </a:r>
            <a:r>
              <a:rPr lang="en-GB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VAT </a:t>
            </a:r>
            <a:r>
              <a:rPr lang="en-GB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€0.10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" y="6126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Assumption: all roundings go in the same direction, BT-149 Item price base quantity = 1, 19% VAT.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GB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en-GB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 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· EN 16931-1:2026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How large does the deviation get?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E655C58-AB39-491B-9C9F-468B34428247}" type="slidenum">
              <a:rPr lang="en-GB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29</a:t>
            </a:fld>
            <a:endParaRPr lang="en-GB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agline 8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Two factors: first the quantity Q × rounded </a:t>
            </a:r>
            <a:r>
              <a:rPr lang="en-GB" sz="13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en-GB" sz="130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Item net price</a:t>
            </a:r>
            <a:r>
              <a:rPr lang="en-GB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, then the number of lines n — open-ended.</a:t>
            </a:r>
          </a:p>
        </p:txBody>
      </p:sp>
      <p:sp>
        <p:nvSpPr>
          <p:cNvPr id="9" name="Card 9"/>
          <p:cNvSpPr/>
          <p:nvPr/>
        </p:nvSpPr>
        <p:spPr>
          <a:xfrm>
            <a:off x="822960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IconCircle 10"/>
          <p:cNvSpPr/>
          <p:nvPr/>
        </p:nvSpPr>
        <p:spPr>
          <a:xfrm>
            <a:off x="1060704" y="242316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2533802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Factor 1 · price rounding × quantity Q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97280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GB" sz="105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en-GB" sz="105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Item net price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is “squeezed” once into Minor Unit + 2 (EUR: 4 dp): up to ± €0.00005. </a:t>
            </a:r>
            <a:r>
              <a:rPr lang="en-GB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Invoice line net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multiplies this one error by </a:t>
            </a:r>
            <a:r>
              <a:rPr lang="en-GB" sz="10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Invoiced quantity. #148: €0.123449 → €0.1234; with 10,000 units €0.49 is missing.</a:t>
            </a:r>
          </a:p>
        </p:txBody>
      </p:sp>
      <p:sp>
        <p:nvSpPr>
          <p:cNvPr id="14" name="Pill 14"/>
          <p:cNvSpPr/>
          <p:nvPr/>
        </p:nvSpPr>
        <p:spPr>
          <a:xfrm>
            <a:off x="1097280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Q × €0.00005 per line</a:t>
            </a:r>
          </a:p>
        </p:txBody>
      </p:sp>
      <p:sp>
        <p:nvSpPr>
          <p:cNvPr id="15" name="Card 15"/>
          <p:cNvSpPr/>
          <p:nvPr/>
        </p:nvSpPr>
        <p:spPr>
          <a:xfrm>
            <a:off x="6199632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IconCircle 16"/>
          <p:cNvSpPr/>
          <p:nvPr/>
        </p:nvSpPr>
        <p:spPr>
          <a:xfrm>
            <a:off x="6437376" y="242316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co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18" y="2533802"/>
            <a:ext cx="181051" cy="181051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6976872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Factor 2 · number of lines 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73952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Each line rounds </a:t>
            </a:r>
            <a:r>
              <a:rPr lang="en-GB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Invoice line net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additionally to the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Minor Unit: up to ± €0.005. </a:t>
            </a:r>
            <a:r>
              <a:rPr lang="en-GB" sz="10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en-GB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 of invoice line net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and</a:t>
            </a:r>
            <a:r>
              <a:rPr lang="en-GB" sz="10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 BT-116</a:t>
            </a:r>
            <a:r>
              <a:rPr lang="en-GB" sz="10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VAT category taxable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add up all n lines — and with them the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errors of all lines.</a:t>
            </a:r>
          </a:p>
        </p:txBody>
      </p:sp>
      <p:sp>
        <p:nvSpPr>
          <p:cNvPr id="20" name="Pill 20"/>
          <p:cNvSpPr/>
          <p:nvPr/>
        </p:nvSpPr>
        <p:spPr>
          <a:xfrm>
            <a:off x="6473952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algn="ctr"/>
            <a:r>
              <a:rPr lang="en-GB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</a:t>
            </a:r>
            <a:r>
              <a:rPr lang="en-GB" sz="1150" b="1" dirty="0" err="1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GB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€0.005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42062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2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NET DEVIATION  </a:t>
            </a:r>
            <a:r>
              <a:rPr lang="en-GB" sz="9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en-GB" sz="9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 of invoice line net amount</a:t>
            </a:r>
            <a:r>
              <a:rPr lang="en-GB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/ </a:t>
            </a:r>
            <a:r>
              <a:rPr lang="en-GB" sz="9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en-GB" sz="9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VAT category taxable amount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822960" y="4480560"/>
          <a:ext cx="6766560" cy="1609344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Units per line (Q) 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GB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↓ Lines (n)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2435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units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10,000 units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1,000,000 units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 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Price × quantity  </a:t>
                      </a:r>
                      <a:r>
                        <a:rPr lang="en-GB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€0.005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rounding BT-131  </a:t>
                      </a:r>
                      <a:r>
                        <a:rPr lang="en-GB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€0.005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€0.01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Price × quantity  </a:t>
                      </a:r>
                      <a:r>
                        <a:rPr lang="en-GB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€0.50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rounding BT-131  </a:t>
                      </a:r>
                      <a:r>
                        <a:rPr lang="en-GB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€0.005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€0.505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Price × quantity  </a:t>
                      </a:r>
                      <a:r>
                        <a:rPr lang="en-GB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€50.00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rounding BT-131  </a:t>
                      </a:r>
                      <a:r>
                        <a:rPr lang="en-GB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€0.005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€50.005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€1.00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€50.50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€5,000.50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10,000 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€100.00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€5,050.00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€500,050.00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Panel 23"/>
          <p:cNvSpPr/>
          <p:nvPr/>
        </p:nvSpPr>
        <p:spPr>
          <a:xfrm>
            <a:off x="7818120" y="4224528"/>
            <a:ext cx="3547872" cy="1883664"/>
          </a:xfrm>
          <a:prstGeom prst="roundRect">
            <a:avLst>
              <a:gd name="adj" fmla="val 4854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4"/>
          <p:cNvSpPr txBox="1"/>
          <p:nvPr/>
        </p:nvSpPr>
        <p:spPr>
          <a:xfrm>
            <a:off x="809244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0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TOTAL · NET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4608576"/>
            <a:ext cx="3108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(Q × €0.00005 + €0.005)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924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VAT: 19% of that. Open-ended — more lines or larger quantities, more deviation.</a:t>
            </a:r>
          </a:p>
        </p:txBody>
      </p:sp>
      <p:sp>
        <p:nvSpPr>
          <p:cNvPr id="27" name="Shape 27"/>
          <p:cNvSpPr/>
          <p:nvPr/>
        </p:nvSpPr>
        <p:spPr>
          <a:xfrm>
            <a:off x="8092440" y="5541264"/>
            <a:ext cx="301752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8"/>
          <p:cNvSpPr txBox="1"/>
          <p:nvPr/>
        </p:nvSpPr>
        <p:spPr>
          <a:xfrm>
            <a:off x="8092440" y="55961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100 lines of 10,000 units</a:t>
            </a:r>
          </a:p>
          <a:p>
            <a:pPr marL="0" indent="0" algn="l">
              <a:buNone/>
            </a:pPr>
            <a:r>
              <a:rPr lang="en-GB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 </a:t>
            </a:r>
            <a:r>
              <a:rPr lang="en-GB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€50.50</a:t>
            </a:r>
            <a:r>
              <a:rPr lang="en-GB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VAT </a:t>
            </a:r>
            <a:r>
              <a:rPr lang="en-GB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€9.60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" y="6126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Assumption: all roundings go in the same direction, BT-149 Item price base quantity = 1, 19% VAT. Likewise: BT-129 Invoiced quantity only 4 dp — up to ± 0.00005 × price per line for expensive items.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GB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en-GB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 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· PROPOSED AMENDMENT (#163)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How large does the deviation get?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4244B92-B2BD-4779-B150-313396024C5D}" type="slidenum">
              <a:rPr lang="en-GB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30</a:t>
            </a:fld>
            <a:endParaRPr lang="en-GB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agline 8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No factor: without intermediate rounding it stays at ± 0 — for any quantity and any number of lines.</a:t>
            </a:r>
          </a:p>
        </p:txBody>
      </p:sp>
      <p:sp>
        <p:nvSpPr>
          <p:cNvPr id="9" name="Card 9"/>
          <p:cNvSpPr/>
          <p:nvPr/>
        </p:nvSpPr>
        <p:spPr>
          <a:xfrm>
            <a:off x="822960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IconCircle 10"/>
          <p:cNvSpPr/>
          <p:nvPr/>
        </p:nvSpPr>
        <p:spPr>
          <a:xfrm>
            <a:off x="1060704" y="2423160"/>
            <a:ext cx="402336" cy="402336"/>
          </a:xfrm>
          <a:prstGeom prst="ellipse">
            <a:avLst/>
          </a:prstGeom>
          <a:solidFill>
            <a:srgbClr val="C2CAD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2533802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Factor 1 · price rounding × quantity Q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97280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GB" sz="105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en-GB" sz="105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Item net price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and </a:t>
            </a:r>
            <a:r>
              <a:rPr lang="en-GB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Invoice line net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stay exact — the quantity magnifies no error.</a:t>
            </a:r>
          </a:p>
        </p:txBody>
      </p:sp>
      <p:sp>
        <p:nvSpPr>
          <p:cNvPr id="14" name="Pill 14"/>
          <p:cNvSpPr/>
          <p:nvPr/>
        </p:nvSpPr>
        <p:spPr>
          <a:xfrm>
            <a:off x="1097280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</a:p>
        </p:txBody>
      </p:sp>
      <p:sp>
        <p:nvSpPr>
          <p:cNvPr id="15" name="Card 15"/>
          <p:cNvSpPr/>
          <p:nvPr/>
        </p:nvSpPr>
        <p:spPr>
          <a:xfrm>
            <a:off x="6199632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IconCircle 16"/>
          <p:cNvSpPr/>
          <p:nvPr/>
        </p:nvSpPr>
        <p:spPr>
          <a:xfrm>
            <a:off x="6437376" y="2423160"/>
            <a:ext cx="402336" cy="402336"/>
          </a:xfrm>
          <a:prstGeom prst="ellipse">
            <a:avLst/>
          </a:prstGeom>
          <a:solidFill>
            <a:srgbClr val="C2CAD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co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18" y="2533802"/>
            <a:ext cx="181051" cy="181051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6976872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Factor 2 · number of lines 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73952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GB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en-GB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Invoice line net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stays exact — it does not matter how many lines</a:t>
            </a:r>
            <a:r>
              <a:rPr lang="en-GB" sz="10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 BT-106</a:t>
            </a:r>
            <a:r>
              <a:rPr lang="en-GB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 of invoice line net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and </a:t>
            </a:r>
            <a:r>
              <a:rPr lang="en-GB" sz="10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en-GB" sz="10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VAT category taxable amount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add up.</a:t>
            </a:r>
          </a:p>
        </p:txBody>
      </p:sp>
      <p:sp>
        <p:nvSpPr>
          <p:cNvPr id="20" name="Pill 20"/>
          <p:cNvSpPr/>
          <p:nvPr/>
        </p:nvSpPr>
        <p:spPr>
          <a:xfrm>
            <a:off x="6473952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15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42062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2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NET DEVIATION  </a:t>
            </a:r>
            <a:r>
              <a:rPr lang="en-GB" sz="9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en-GB" sz="9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 of invoice line net amount</a:t>
            </a:r>
            <a:r>
              <a:rPr lang="en-GB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/ </a:t>
            </a:r>
            <a:r>
              <a:rPr lang="en-GB" sz="9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en-GB" sz="9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VAT category taxable amount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822960" y="4480560"/>
          <a:ext cx="6766560" cy="1609344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Units per line (Q) 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GB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↓ Lines (n)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2435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units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10,000 units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1,000,000 units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 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Price × quantity  </a:t>
                      </a:r>
                      <a:r>
                        <a:rPr lang="en-GB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rounding BT-131  </a:t>
                      </a:r>
                      <a:r>
                        <a:rPr lang="en-GB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Price × quantity  </a:t>
                      </a:r>
                      <a:r>
                        <a:rPr lang="en-GB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rounding BT-131  </a:t>
                      </a:r>
                      <a:r>
                        <a:rPr lang="en-GB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Price × quantity  </a:t>
                      </a:r>
                      <a:r>
                        <a:rPr lang="en-GB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rounding BT-131  </a:t>
                      </a:r>
                      <a:r>
                        <a:rPr lang="en-GB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10,000 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Panel 23"/>
          <p:cNvSpPr/>
          <p:nvPr/>
        </p:nvSpPr>
        <p:spPr>
          <a:xfrm>
            <a:off x="7818120" y="4224528"/>
            <a:ext cx="3547872" cy="1883664"/>
          </a:xfrm>
          <a:prstGeom prst="roundRect">
            <a:avLst>
              <a:gd name="adj" fmla="val 4854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4"/>
          <p:cNvSpPr txBox="1"/>
          <p:nvPr/>
        </p:nvSpPr>
        <p:spPr>
          <a:xfrm>
            <a:off x="809244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0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TOTAL · NET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4608576"/>
            <a:ext cx="3108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924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Only BT-115 Amount due for payment is rounded once; BT-114 Rounding amount shows it.</a:t>
            </a:r>
          </a:p>
        </p:txBody>
      </p:sp>
      <p:sp>
        <p:nvSpPr>
          <p:cNvPr id="27" name="Shape 27"/>
          <p:cNvSpPr/>
          <p:nvPr/>
        </p:nvSpPr>
        <p:spPr>
          <a:xfrm>
            <a:off x="8092440" y="5541264"/>
            <a:ext cx="301752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8"/>
          <p:cNvSpPr txBox="1"/>
          <p:nvPr/>
        </p:nvSpPr>
        <p:spPr>
          <a:xfrm>
            <a:off x="8092440" y="55961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100 lines of 10,000 units</a:t>
            </a:r>
          </a:p>
          <a:p>
            <a:pPr marL="0" indent="0" algn="l">
              <a:buNone/>
            </a:pPr>
            <a:r>
              <a:rPr lang="en-GB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 </a:t>
            </a:r>
            <a:r>
              <a:rPr lang="en-GB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  <a:r>
              <a:rPr lang="en-GB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VAT </a:t>
            </a:r>
            <a:r>
              <a:rPr lang="en-GB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" y="6126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Assumption: all roundings go in the same direction, BT-149 Item price base quantity = 1, 19% VAT.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GB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en-GB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 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AMENDMENT · MY PROPOSAL 2/2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Gross prices for the EN core (#164)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If the price is fixed including VAT, it should lead the invoice.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34489CF-F034-4AFD-9989-E9C20810832A}" type="slidenum">
              <a:rPr lang="en-GB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31</a:t>
            </a:fld>
            <a:endParaRPr lang="en-GB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2331720"/>
          <a:ext cx="6537960" cy="2487168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Net model (today)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Gross model (new)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Price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BT-146 Item net price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BT-146V Item net price plus VAT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BT-131 = price × quantity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BT-131V = price plus VAT × quantity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Per category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 = Σ BT-131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BT-116V = Σ BT-131V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VAT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BT-117 = BT-116 × rate</a:t>
                      </a:r>
                      <a:r>
                        <a:rPr lang="en-GB" sz="1000" dirty="0">
                          <a:solidFill>
                            <a:srgbClr val="9AA4C2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  added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BT-117 = BT-116V × rate ÷ (100 + rate)</a:t>
                      </a:r>
                      <a:r>
                        <a:rPr lang="en-GB" sz="1000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  extracted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Net per category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(given)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 = BT-116V − BT-117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9"/>
          <p:cNvSpPr txBox="1"/>
          <p:nvPr/>
        </p:nvSpPr>
        <p:spPr>
          <a:xfrm>
            <a:off x="822960" y="4937760"/>
            <a:ext cx="6537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GB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The model is selected via BT-146V on each line — no indicator needed. BT-146 remains mandatory (Art. 226(8) VAT Directive), in the gross model for information only. Not for categories N, D, F, I, J.</a:t>
            </a:r>
          </a:p>
        </p:txBody>
      </p:sp>
      <p:sp>
        <p:nvSpPr>
          <p:cNvPr id="10" name="Panel 10"/>
          <p:cNvSpPr/>
          <p:nvPr/>
        </p:nvSpPr>
        <p:spPr>
          <a:xfrm>
            <a:off x="7589520" y="2331720"/>
            <a:ext cx="3776472" cy="3520440"/>
          </a:xfrm>
          <a:prstGeom prst="roundRect">
            <a:avLst>
              <a:gd name="adj" fmla="val 2597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11"/>
          <p:cNvSpPr txBox="1"/>
          <p:nvPr/>
        </p:nvSpPr>
        <p:spPr>
          <a:xfrm>
            <a:off x="79095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05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EXAMPLE: FIXED BOOK PRICES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909560" y="2816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3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1,000 books at €24.95 incl. 7% VAT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90956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/>
          </a:p>
        </p:txBody>
      </p:sp>
      <p:sp>
        <p:nvSpPr>
          <p:cNvPr id="14" name="Text 14"/>
          <p:cNvSpPr txBox="1"/>
          <p:nvPr/>
        </p:nvSpPr>
        <p:spPr>
          <a:xfrm>
            <a:off x="905256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Total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19556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VAT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909560" y="3611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Target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052560" y="3611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24,950.00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19556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1,632.24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909560" y="4087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 2026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052560" y="4087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24,950.05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0195560" y="4087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1,632.25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909560" y="45628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Gross model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9052560" y="45628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200" b="1" dirty="0">
                <a:solidFill>
                  <a:srgbClr val="58D6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24,950.00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0195560" y="45628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200" b="1" dirty="0">
                <a:solidFill>
                  <a:srgbClr val="58D6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1,632.24</a:t>
            </a:r>
          </a:p>
        </p:txBody>
      </p:sp>
      <p:sp>
        <p:nvSpPr>
          <p:cNvPr id="25" name="Shape 25"/>
          <p:cNvSpPr/>
          <p:nvPr/>
        </p:nvSpPr>
        <p:spPr>
          <a:xfrm>
            <a:off x="7909560" y="5120640"/>
            <a:ext cx="315468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6"/>
          <p:cNvSpPr txBox="1"/>
          <p:nvPr/>
        </p:nvSpPr>
        <p:spPr>
          <a:xfrm>
            <a:off x="7909560" y="5193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10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 model: 5 cents too much, VAT 1 cent too high. Gross model: VAT €1,632.24299… → €1,632.24 only due to the cent rule (UStAE) — #163: warning.</a:t>
            </a:r>
          </a:p>
        </p:txBody>
      </p:sp>
      <p:sp>
        <p:nvSpPr>
          <p:cNvPr id="27" name="Pill 27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E7F8F8"/>
          </a:solidFill>
          <a:ln w="9525">
            <a:solidFill>
              <a:srgbClr val="B5E9E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en-GB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Use cases:  </a:t>
            </a:r>
            <a:r>
              <a:rPr lang="en-GB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fixed book prices · receipt → invoice · retail and marketplaces · statutory gross prices</a:t>
            </a:r>
          </a:p>
        </p:txBody>
      </p:sp>
      <p:sp>
        <p:nvSpPr>
          <p:cNvPr id="28" name="Speaker 28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29" name="Callout 29"/>
          <p:cNvSpPr/>
          <p:nvPr/>
        </p:nvSpPr>
        <p:spPr>
          <a:xfrm>
            <a:off x="822960" y="5422392"/>
            <a:ext cx="6537960" cy="457200"/>
          </a:xfrm>
          <a:prstGeom prst="roundRect">
            <a:avLst>
              <a:gd name="adj" fmla="val 18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pPr marL="0" indent="0" algn="l">
              <a:buNone/>
            </a:pPr>
            <a:r>
              <a:rPr lang="en-GB" sz="1050" dirty="0">
                <a:solidFill>
                  <a:srgbClr val="B85C0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Often impossible today: </a:t>
            </a:r>
            <a:r>
              <a:rPr lang="en-GB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At 19% VAT, 16% of all gross amounts cannot be reached with net and VAT in the Minor Unit — €9.99 = 8.39 + 1.59 → 9.98. With 5 lines 52%, with 35 lines 81% miss the receipt total.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en-GB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en-GB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 Binding</a:t>
            </a:r>
          </a:p>
        </p:txBody>
      </p:sp>
      <p:sp>
        <p:nvSpPr>
          <p:cNvPr id="5" name="SectionLabel 5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CONTACT</a:t>
            </a:r>
          </a:p>
        </p:txBody>
      </p:sp>
      <p:sp>
        <p:nvSpPr>
          <p:cNvPr id="6" name="Title 6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38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Talk to me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7DA7C0F-D619-4F2F-88AE-3AFCE6D46308}" type="slidenum">
              <a:rPr lang="en-GB" sz="1000" spc="200" dirty="0">
                <a:solidFill>
                  <a:srgbClr val="8EA0C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37</a:t>
            </a:fld>
            <a:endParaRPr lang="en-GB" sz="1000" spc="200" dirty="0">
              <a:solidFill>
                <a:srgbClr val="8EA0CC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Shape 8"/>
          <p:cNvSpPr/>
          <p:nvPr/>
        </p:nvSpPr>
        <p:spPr>
          <a:xfrm>
            <a:off x="822960" y="2743200"/>
            <a:ext cx="5074920" cy="1920240"/>
          </a:xfrm>
          <a:prstGeom prst="roundRect">
            <a:avLst>
              <a:gd name="adj" fmla="val 476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9"/>
          <p:cNvSpPr/>
          <p:nvPr/>
        </p:nvSpPr>
        <p:spPr>
          <a:xfrm>
            <a:off x="1133856" y="3054096"/>
            <a:ext cx="640080" cy="64008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3227832"/>
            <a:ext cx="292608" cy="29260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965960" y="3063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Svante Schubert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GB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Syntax bindings · validation · tooling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GB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Editor of the syntax bindings, CEN/TC 434 WG3</a:t>
            </a:r>
          </a:p>
        </p:txBody>
      </p:sp>
      <p:sp>
        <p:nvSpPr>
          <p:cNvPr id="12" name="Shape 12"/>
          <p:cNvSpPr/>
          <p:nvPr/>
        </p:nvSpPr>
        <p:spPr>
          <a:xfrm>
            <a:off x="6263640" y="2743200"/>
            <a:ext cx="5074920" cy="1920240"/>
          </a:xfrm>
          <a:prstGeom prst="roundRect">
            <a:avLst>
              <a:gd name="adj" fmla="val 476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3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5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Follow &amp; join in</a:t>
            </a:r>
          </a:p>
        </p:txBody>
      </p:sp>
      <p:sp>
        <p:nvSpPr>
          <p:cNvPr id="14" name="Text 14">
            <a:hlinkClick r:id="rId5"/>
          </p:cNvPr>
          <p:cNvSpPr txBox="1"/>
          <p:nvPr/>
        </p:nvSpPr>
        <p:spPr>
          <a:xfrm>
            <a:off x="658368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en-GB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WG1 issues #163 and #164</a:t>
            </a:r>
          </a:p>
        </p:txBody>
      </p:sp>
      <p:sp>
        <p:nvSpPr>
          <p:cNvPr id="15" name="Text 15">
            <a:hlinkClick r:id="rId6"/>
          </p:cNvPr>
          <p:cNvSpPr txBox="1"/>
          <p:nvPr/>
        </p:nvSpPr>
        <p:spPr>
          <a:xfrm>
            <a:off x="65836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en-GB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Issues on the syntax bindings (WG3)</a:t>
            </a:r>
          </a:p>
        </p:txBody>
      </p:sp>
      <p:sp>
        <p:nvSpPr>
          <p:cNvPr id="16" name="Text 16">
            <a:hlinkClick r:id="rId7"/>
          </p:cNvPr>
          <p:cNvSpPr txBox="1"/>
          <p:nvPr/>
        </p:nvSpPr>
        <p:spPr>
          <a:xfrm>
            <a:off x="658368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en-GB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Svanton: exact arithmetic for Saxon</a:t>
            </a:r>
          </a:p>
        </p:txBody>
      </p:sp>
      <p:sp>
        <p:nvSpPr>
          <p:cNvPr id="17" name="Text 17">
            <a:hlinkClick r:id="rId8"/>
          </p:cNvPr>
          <p:cNvSpPr txBox="1"/>
          <p:nvPr/>
        </p:nvSpPr>
        <p:spPr>
          <a:xfrm>
            <a:off x="6583680" y="4215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en-GB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XSLT 4.0 proposal (qt4cg #2935)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GB" sz="15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Thank you </a:t>
            </a:r>
            <a:r>
              <a:rPr lang="en-GB" sz="1500" dirty="0">
                <a:solidFill>
                  <a:srgbClr val="AFC0E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for your attention — I look forward to the exchange at the ZUGFeRD-Entwicklertage.</a:t>
            </a:r>
          </a:p>
        </p:txBody>
      </p:sp>
      <p:sp>
        <p:nvSpPr>
          <p:cNvPr id="19" name="Speaker 19">
            <a:hlinkClick r:id="rId9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spc="100" dirty="0">
                <a:solidFill>
                  <a:srgbClr val="8EA0CC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20" name="QR Card pptx"/>
          <p:cNvSpPr/>
          <p:nvPr/>
        </p:nvSpPr>
        <p:spPr>
          <a:xfrm>
            <a:off x="9902952" y="82296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A123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1" name="QR Slides pptx" descr="QR code: slides as PPTX (https://svanteschubert.github.io/testy/ZUGFeRD_Entwicklertage_2026_SvanteSchubert_Syntax-Binding_EN.pptx)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6104" y="896112"/>
            <a:ext cx="1316736" cy="1316736"/>
          </a:xfrm>
          <a:prstGeom prst="rect">
            <a:avLst/>
          </a:prstGeom>
        </p:spPr>
      </p:pic>
      <p:sp>
        <p:nvSpPr>
          <p:cNvPr id="22" name="QR Caption pptx">
            <a:hlinkClick r:id="rId10"/>
          </p:cNvPr>
          <p:cNvSpPr txBox="1"/>
          <p:nvPr/>
        </p:nvSpPr>
        <p:spPr>
          <a:xfrm>
            <a:off x="9537192" y="2340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000" spc="100" dirty="0">
                <a:solidFill>
                  <a:srgbClr val="C4D2F4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Slides as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13885</Words>
  <Application>Microsoft Macintosh PowerPoint</Application>
  <PresentationFormat>Widescreen</PresentationFormat>
  <Paragraphs>1503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Consolas</vt:lpstr>
      <vt:lpstr>Inter Text</vt:lpstr>
      <vt:lpstr>Arial</vt:lpstr>
      <vt:lpstr>Inter SemiBold Text SemiBold</vt:lpstr>
      <vt:lpstr>Inter Medium Text Medium</vt:lpstr>
      <vt:lpstr>Inter Light Text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Schubert Consulting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Rounding and gross prices in EN 16931 (excerpt)</dc:title>
  <dc:subject>Update on the syntax binding (EN)</dc:subject>
  <dc:creator>Svante Schubert</dc:creator>
  <cp:keywords/>
  <dc:description>ZUGFeRD Entwicklertage 2026</dc:description>
  <cp:lastModifiedBy>Svante Schubert</cp:lastModifiedBy>
  <cp:revision>58</cp:revision>
  <dcterms:created xsi:type="dcterms:W3CDTF">2026-06-19T07:48:12Z</dcterms:created>
  <dcterms:modified xsi:type="dcterms:W3CDTF">2026-10-15T08:47:41Z</dcterms:modified>
  <cp:category/>
</cp:coreProperties>
</file>