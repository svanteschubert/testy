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jpg" ContentType="image/jpg"/>
  <Override PartName="/ppt/media/image37.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39"/>
  </p:notesMasterIdLst>
  <p:sldIdLst>
    <p:sldId id="301" r:id="rId2"/>
    <p:sldId id="338" r:id="rId53"/>
    <p:sldId id="339" r:id="rId54"/>
    <p:sldId id="340" r:id="rId55"/>
    <p:sldId id="328" r:id="rId26"/>
    <p:sldId id="329" r:id="rId27"/>
    <p:sldId id="337" r:id="rId29"/>
    <p:sldId id="336" r:id="rId30"/>
    <p:sldId id="345" r:id="rId60"/>
    <p:sldId id="341" r:id="rId56"/>
    <p:sldId id="332" r:id="rId32"/>
    <p:sldId id="344" r:id="rId59"/>
    <p:sldId id="346" r:id="rId61"/>
    <p:sldId id="331" r:id="rId25"/>
    <p:sldId id="330" r:id="rId28"/>
    <p:sldId id="335" r:id="rId31"/>
    <p:sldId id="347" r:id="rId62"/>
    <p:sldId id="342" r:id="rId57"/>
    <p:sldId id="348" r:id="rId36"/>
    <p:sldId id="343" r:id="rId58"/>
    <p:sldId id="334" r:id="rId38"/>
  </p:sldIdLst>
  <p:sldSz cx="12192000" cy="6858000"/>
  <p:notesSz cx="6858000" cy="12192000"/>
  <p:embeddedFontLst>
    <p:embeddedFont>
      <p:font typeface="Consolas" panose="020B0609020204030204" pitchFamily="49" charset="0"/>
      <p:regular r:id="rId40"/>
      <p:bold r:id="rId41"/>
      <p:italic r:id="rId42"/>
      <p:boldItalic r:id="rId43"/>
    </p:embeddedFont>
    <p:embeddedFont>
      <p:font typeface="Inter Light Text Light" panose="02000503000000020004" pitchFamily="2" charset="0"/>
      <p:regular r:id="rId44"/>
    </p:embeddedFont>
    <p:embeddedFont>
      <p:font typeface="Inter Medium Text Medium" panose="02000503000000020004" pitchFamily="2" charset="0"/>
      <p:regular r:id="rId45"/>
    </p:embeddedFont>
    <p:embeddedFont>
      <p:font typeface="Inter SemiBold Text SemiBold" panose="02000503000000020004" pitchFamily="2" charset="0"/>
      <p:regular r:id="rId46"/>
    </p:embeddedFont>
    <p:embeddedFont>
      <p:font typeface="Inter Text" panose="02000503000000020004" pitchFamily="2" charset="0"/>
      <p:regular r:id="rId47"/>
      <p:bold r:id="rId48"/>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3166"/>
    <p:restoredTop sz="94610"/>
  </p:normalViewPr>
  <p:slideViewPr>
    <p:cSldViewPr snapToGrid="0" snapToObjects="1">
      <p:cViewPr varScale="1">
        <p:scale>
          <a:sx n="114" d="100"/>
          <a:sy n="114" d="100"/>
        </p:scale>
        <p:origin x="176" y="48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25" Type="http://schemas.openxmlformats.org/officeDocument/2006/relationships/slide" Target="slides/slide14.xml"/><Relationship Id="rId26" Type="http://schemas.openxmlformats.org/officeDocument/2006/relationships/slide" Target="slides/slide5.xml"/><Relationship Id="rId27" Type="http://schemas.openxmlformats.org/officeDocument/2006/relationships/slide" Target="slides/slide6.xml"/><Relationship Id="rId28" Type="http://schemas.openxmlformats.org/officeDocument/2006/relationships/slide" Target="slides/slide15.xml"/><Relationship Id="rId29" Type="http://schemas.openxmlformats.org/officeDocument/2006/relationships/slide" Target="slides/slide7.xml"/><Relationship Id="rId30" Type="http://schemas.openxmlformats.org/officeDocument/2006/relationships/slide" Target="slides/slide8.xml"/><Relationship Id="rId31" Type="http://schemas.openxmlformats.org/officeDocument/2006/relationships/slide" Target="slides/slide16.xml"/><Relationship Id="rId32" Type="http://schemas.openxmlformats.org/officeDocument/2006/relationships/slide" Target="slides/slide11.xml"/><Relationship Id="rId36" Type="http://schemas.openxmlformats.org/officeDocument/2006/relationships/slide" Target="slides/slide21.xml"/><Relationship Id="rId38" Type="http://schemas.openxmlformats.org/officeDocument/2006/relationships/slide" Target="slides/slide20.xml"/><Relationship Id="rId39" Type="http://schemas.openxmlformats.org/officeDocument/2006/relationships/notesMaster" Target="notesMasters/notesMaster1.xml"/><Relationship Id="rId40" Type="http://schemas.openxmlformats.org/officeDocument/2006/relationships/font" Target="fonts/font1.fntdata"/><Relationship Id="rId41" Type="http://schemas.openxmlformats.org/officeDocument/2006/relationships/font" Target="fonts/font2.fntdata"/><Relationship Id="rId42" Type="http://schemas.openxmlformats.org/officeDocument/2006/relationships/font" Target="fonts/font3.fntdata"/><Relationship Id="rId43" Type="http://schemas.openxmlformats.org/officeDocument/2006/relationships/font" Target="fonts/font4.fntdata"/><Relationship Id="rId44" Type="http://schemas.openxmlformats.org/officeDocument/2006/relationships/font" Target="fonts/font5.fntdata"/><Relationship Id="rId45" Type="http://schemas.openxmlformats.org/officeDocument/2006/relationships/font" Target="fonts/font6.fntdata"/><Relationship Id="rId46" Type="http://schemas.openxmlformats.org/officeDocument/2006/relationships/font" Target="fonts/font7.fntdata"/><Relationship Id="rId47" Type="http://schemas.openxmlformats.org/officeDocument/2006/relationships/font" Target="fonts/font8.fntdata"/><Relationship Id="rId48" Type="http://schemas.openxmlformats.org/officeDocument/2006/relationships/font" Target="fonts/font9.fntdata"/><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 Id="rId53" Type="http://schemas.openxmlformats.org/officeDocument/2006/relationships/slide" Target="slides/slide2.xml"/><Relationship Id="rId54" Type="http://schemas.openxmlformats.org/officeDocument/2006/relationships/slide" Target="slides/slide3.xml"/><Relationship Id="rId55" Type="http://schemas.openxmlformats.org/officeDocument/2006/relationships/slide" Target="slides/slide4.xml"/><Relationship Id="rId56" Type="http://schemas.openxmlformats.org/officeDocument/2006/relationships/slide" Target="slides/slide10.xml"/><Relationship Id="rId57" Type="http://schemas.openxmlformats.org/officeDocument/2006/relationships/slide" Target="slides/slide18.xml"/><Relationship Id="rId58" Type="http://schemas.openxmlformats.org/officeDocument/2006/relationships/slide" Target="slides/slide19.xml"/><Relationship Id="rId59" Type="http://schemas.openxmlformats.org/officeDocument/2006/relationships/slide" Target="slides/slide12.xml"/><Relationship Id="rId60" Type="http://schemas.openxmlformats.org/officeDocument/2006/relationships/slide" Target="slides/slide9.xml"/><Relationship Id="rId61" Type="http://schemas.openxmlformats.org/officeDocument/2006/relationships/slide" Target="slides/slide13.xml"/><Relationship Id="rId62"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829000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WG1 session on the two amendment proposals: #164 'Gross price model' and #163 'Round only once'. Goal: two decisions — the gross model in the core, and no forced rounding of intermediate values. The deck starts with what we agree on — in the end, accurate data — and with the legal requirements, shows why today's specification cannot meet them for gross prices, and ends with the impact on existing implementations, where the discussion stands and the decisions.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Start with the common ground: in the end, we all want accurate data that the seller, the buyer and the tax authority can trust. Paul Simons (#163): 'Accounting is 100% correct or it is not.' Cyrille Sautereau (#164): his point is 'not to force companies' to give up revenue because of rounding; he cites more than 5 million companies exchanging e-invoices in France and 1.2 million in Belgium. Both goals — correct VAT and working software — are compatible: removing a maximum is not a new minimum, so every invoice that is conformant today stays conformant, and the gross model is an additional, optional path.</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BMF letter of 15 October 2026, section 2.5, para. 17: the invoice states the net amount per rate and the tax amount (§ 14 (4) sentence 1 no. 7 and 8 UStG); the net amount is the consideration minus the VAT (§ 10 (1) UStG); the tax amount is calculated to the cent and rounded commercially (UStAE 14.5 (20)). CJEU Ahold (C-484/06): Member States decide on rounding, within neutrality and proportionality; VAT is exactly proportional to the price (para. 38); where rounding is necessary, as closely as possible to the VAT of the rate (para. 39). VAT Directive: Art. 226(8) taxable amount per rate and unit price exclusive of VAT; Art. 206: the seller pays the VAT with the VAT return; Art. 168: the buyer deducts it as input VAT. ViDA: new Art. 232 (no acceptance needed), new Art. 263(3) (DRR).</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Clause 6.5.14 of EN 16931-1:2026 requires rounding on the final calculation results and not on intermediate results; the 2017 edition said the same. Table 28 however sets maximum decimal places for intermediate values: BT-146 to BT-148 Minor Unit + 2, BT-131 and all sums to the Minor Unit, BT-129 to 4 and BT-149 to 2 decimal places. The limits for prices and quantities are new in 2026; in 2017 only amounts were limited. The BMF letter of 15 October 2026 (para. 18) states that the requirements of the standard or of the tax rounding rule cannot be met in certain constellations.</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Root cause of the rounding problems: the conversion between net and gross. 9.99 / 1.19 never ends, 8.40 × 1.19 = 9.996 is not a cent amount. Any fixed maximum of decimal places fails at some quantity: a price cut at the d-th decimal moves the line by up to quantity × 0.5 × 10^-d (8 dp and 10,000,000 units: €0.05). Cyrille Sautereau's spreadsheet shows the same: with 1,000 units, 6 instead of 4 decimal places remove a deviation of €0.05. Therefore: the original price leads, there is no conversion per line, and the VAT is extracted only once per VAT rate, VAT first (VAT rounded, net amount the remainder).</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Only the core is what every receiver has to accept: from 1 July 2030 an EN 16931 compliant invoice needs no acceptance (new Art. 232, ViDA), the DRR accepts EN-compliant data (new Art. 263(3)), and a CIUS can only restrict the core (EN 16931-1, 7.1 and Table 29). An advanced profile, like an extension, is only processed by receivers that agreed to it. Simplified invoices are limited to small amounts (Art. 220a; Germany up to €250, § 33 UStDV); above that a full invoice with the details of Art. 226 is required. The BMF accepts one line per rate with an attachment only until 31 December 2027.</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Decision 1 (#164): add the gross model to the core — the 'plus VAT' business terms (BT-146V, BT-131V, BT-116V and the others), VAT first (BT-117 = BT-116V × rate ÷ (100 + rate), rounded once; BT-116 = BT-116V − BT-117), no net intermediate values in the gross model, BT-146 Item net price for information (Art. 226(8)). Decision 2 (#163): no maximum decimal places for prices, quantities and intermediate values; only the paid amounts and the VAT amounts in the Minor Unit, rounded once (BT-117 once per VAT category), BT-114 shows the rounding of BT-115; exact validation, each rule keeps today's tolerance and is an error only outside it, a warning only where a rounding changes BT-117 or BT-112. Next steps: TAXUD on VAT first and on making the unit price exclusive of VAT optional for gross-price invoices; test documents; an impact test as Cyrille Sautereau requests. The open points of the previous slide — one line amount or two, a maximum or none, BT-116 exact or in cents, VAT first as a rule or as guidance — can be settled within these two decisions.</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With net amounts and VAT in cents, an invoice at 19% VAT reaches only 100 of every 119 gross amounts: each cent of net amount adds 1.19 cents of gross amount on average, so 19 of 119 (16%) are skipped. €9.99 is one of them: 8.39 + 1.59 = 9.98 and 8.40 + 1.60 = 10.00. At 7% the share is 7/107, at 20% 20/120, at 21% 21/121. Simulation with decimal arithmetic and random gross line amounts (0.01 to 100.00 EUR): 1 line 16%, 2 lines 34%, 5 lines 52%, 10 lines 66%, 35 lines 81% miss the receipt total when each line is converted to a net amount in cents. Only the tolerance of BR-S-9 lets an issuer state 8.39 + 1.60, whose VAT is not 19% of the net amount. BMF letter of 15 October 2026: para. 17 VAT to the cent, para. 18 the core and the tax rounding rule cannot both be met, para. 19 no gross format yet; until 31 December 2027 only totals per rate in the structured part and the line items in an embedded attachment.</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Fuel shows that the amounts of the gross model stay in cents: the tenth of a cent is in the price (1.799 EUR per litre), not in the amount. 45.37 litres × 1.799 = 81.62063, charged and paid at the pump as 81.62. That is the Invoice line net amount plus VAT (BT-131V). VAT first: 81.62 × 19 ÷ 119 = 13.0317 → 13.03 (BT-117); the net amount is the remainder, 68.59 (BT-116). BT-116V, BT-112 and BT-115 are 81.62. The informational BT-146 Item net price is 1.799 ÷ 1.19 = 1.51176470…; it is not used in any calculation. A validator can still use it to confirm the VAT, but only with enough decimal places: in the book example of #164, 23.3178 × 1,000 gives 1,632.25 VAT, while 23.317757 × 1,000 gives the correct 1,632.24. How many decimal places are enough depends on the quantity, so the standard must not fix a maximum.</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Impact on existing implementations. Issuers with net prices and 2 decimal places: nothing changes. Receivers with 2 decimal places: they round a received value once to their own precision when importing it — only for invoices that use more decimals, which are not conformant today. Gross-price invoices: the new 'plus VAT' terms of #164 are a new core feature, like any amendment; a correct gross-price invoice was not possible before (BMF letter, para. 18; workaround until 31 December 2027, para. 19). Validators: exact decimal arithmetic at decimal128, test documents exist in Svanton. Syntaxes: no change, amounts are xsd:decimal. Every invoice that is conformant today stays conformant, at most with a warning (#163): each rule keeps today's tolerance, and a warning appears only where a rounding changes the VAT or the total. For the impact study Cyrille Sautereau asks for, the precise question is whether a system rounds a precise value on import or rejects it.</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Data flow of both models side by side. Left the net model of EN 16931-1, right the gross model of #164, in the middle the business terms both models share. The steps are the same: price, line, allowances and charges, sums, VAT category. Every net term has a 'plus VAT' counterpart with the suffix V (teal). The models differ only where the VAT enters (orange): the net model adds the VAT to the taxable amount, the gross model extracts it from the gross amount per VAT rate, VAT first (the VAT is rounded once, the net amount BT-116 is the remainder, as § 10 (1) UStG defines it), and derives BT-109 from BT-112 instead of the other way round. BT-115 is the same in both models. Footnotes: which business terms the law requires — Art. 226(6), (8), (9), (10) of the VAT Directive, and in Germany § 14 (4) no. 7 and 8 UStG with the tax amount calculated to the cent and rounded commercially, half up (UStAE 14.5 (20); BMF letter of 15 October 2026, para. 17). In the gross model BT-146 Item net price remains for information only (Art. 226(8)).</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Status 20 October 2026, after the comments of Paul Simons and Cyrille Sautereau of 16 to 19 October in #163 and #164. Paul Simons: 'We need to find a solution. At least something we agree upon.'</a:t>
            </a:r>
          </a:p>
          <a:p>
            <a:r>
              <a:t>Where the proposals meet: the VAT amounts in the Minor Unit, rounded once per VAT category, because national VAT law requires the tax amount to the cent (Paul Simons, 16 Oct; Update 4 of #163). The 'plus VAT' terms such as BT-146V Item net price plus VAT and BT-131V Invoice line net amount plus VAT, and an indicator for prices including VAT, in the core (Cyrille Sautereau, 16 Oct; #164). Precise line values next to today's rounded ones and more decimals for prices than today: Cyrille Sautereau proposes BT-131NR, BT-92NR and BT-99NR with 8 decimals and the Item net price with 8 decimals, Paul Simons a shadow BT-131 with 8 decimals and a rounding amount per VAT breakdown. Today's invoices stay conformant, with a tolerance on sums: 0.005 × number of summed amounts (Cyrille Sautereau) or 0.005 × (1 + number of summed amounts) (#163).</a:t>
            </a:r>
          </a:p>
          <a:p>
            <a:r>
              <a:t>Still open, each with the reason of #163: one line amount or two — one exact BT-131 Invoice line net amount carries both values, because the rounded value follows from it. A maximum of 8 decimals or none — any maximum fails at some quantity (8 decimals and 10,000,000 units: up to €0.05), and decimal128 counts its 34 significant digits before and after the decimal point together. BT-116 exact or in cents — rounding it per VAT category adds up again; a Member State can restrict it in its CIUS (Table 29). VAT first as a rule in the core or as guidance with national CIUS rules — #164 keeps today's tolerance of BR-S-9, so that rounding the base first stays conformant too.</a:t>
            </a:r>
          </a:p>
          <a:p>
            <a:r>
              <a:t>In the end: accurate data that the seller, the buyer and the tax authority can trust. Conformant is not compliant: in the example of Paul Simons (#163, 19 Oct), the same supply gives €1.20 or €1.21; the EN tolerates the difference, while German law asks for the consideration and the tax amount (§ 14 (4) no. 7 and 8 UStG) without a tolerance. Nobody is forced to calculate more accurately than needed. Receivers round on import instead of rejecting, because from 1 July 2030 an invoice that complies with the EN needs no acceptance (new Art. 232, ViDA). Each software states its precision, and the market chooses.</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github.com/ConnectingEurope/CEN-TC434-WG1/issues/163 — 'Round only once: no rounding of intermediate values, only of the amounts that are paid are being rounded' (Update 4 of 16 Oct 2026).</a:t>
            </a:r>
          </a:p>
          <a:p>
            <a:r>
              <a:t>EN 16931-1:2026 already says the right thing in 6.5.14: the final result is rounded, not intermediate results. But that only applies per rule; Table 28 and the first indent of 6.5.14 force every result back to cents before it enters the next rule. That is why tolerances of up to EUR 1 are needed (BR-S-9, BR-IG-9, BR-IP-9).</a:t>
            </a:r>
          </a:p>
          <a:p>
            <a:r>
              <a:t>Update 4: only what is paid gets rounded, once. BT-115 Amount due for payment and the amounts that change it — BT-113 Paid amount, BT-172 Discount amount, BT-179 Charge amount collected on behalf of a third party, BT-183 Penalty amount — are in the currency's Minor Unit (ISO 4217; EUR: cent), because the bank transfers no smaller amounts. BT-114 Rounding amount carries the rounding of BT-115. The VAT is paid, too: the seller pays it with the VAT return (Art. 206 VAT Directive), the buyer deducts it (Art. 168). So BT-117 VAT category tax amount is rounded once per VAT category from the exact BT-116, because national VAT law requires the tax amount to the cent (UStAE 14.5 (20)); BT-110 Invoice total VAT amount is their sum, BT-111 is in the Minor Unit of the VAT accounting currency. BT-116 VAT category taxable amount stays exact, because rounding it per category adds up again: three categories that each lose 0.4 cents make the invoice one cent off. A Member State that requires it in cents can restrict it in its CIUS (Table 29).</a:t>
            </a:r>
          </a:p>
          <a:p>
            <a:r>
              <a:t>Validation: exact from the stated values, with 34 significant digits for non-terminating divisions (IEEE 754 decimal128). Each rule accepts today's tolerance; outside it, the invoice is in error. For sums 0.005 × (1 + number of summed amounts), because each rounded amount is off by at most half a cent. A warning appears only where a rounding changes BT-117 or BT-112 Invoice total amount with VAT, compared with the exact calculation from the stated prices, quantities and rates — never an error, because a rounding that national law asks for should not warn by itself (Paul Simons). Whether a warned deviation is accepted is up to the tax authority; a warning does not protect against a penalty. No transition period: every invoice that is conformant today stays conformant, at most with a warning.</a:t>
            </a:r>
          </a:p>
          <a:p>
            <a:r>
              <a:t>Recipients validate with this precision, book BT-115 and the VAT amounts and may round all other values internally; the original invoice remains stored (Art. 233 and 244 VAT Directive). From 1 July 2030 an EN 16931 compliant e-invoice no longer needs the recipient's acceptance (new Art. 232, ViDA).</a:t>
            </a:r>
          </a:p>
          <a:p>
            <a:r>
              <a:t>Example receipt → invoice (#148): 1,000 × €9.99 incl. 19% VAT = €9,990.00 with €1,595.04 VAT. Today (BT-146 Item net price with 4 decimals: 8.3950) the invoice gives €9,990.05 — 5 cents too much, VAT 1 cent too high. With #163 and 10 decimals (8.3949579832): BT-116 8,394.9579832, BT-117 €1,595.04 (rounded once), BT-112 9,989.9979832, BT-114 0.0020168, BT-115 €9,990.00. Six decimals would also do here (BT-114 = 0.002); the precision needed depends on the quantity.</a:t>
            </a:r>
          </a:p>
          <a:p>
            <a:r>
              <a:t>In 2020 WG1 already decided to lift the limitation of BT-131 (issue #7).</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Three slide pairs with identical layout — when paging through you only see the differences.</a:t>
            </a:r>
          </a:p>
          <a:p>
            <a:r>
              <a:t>Rainbow: the seven calculated BTs run through the rainbow from top to bottom — BT-146 red, BT-131 orange, BT-106 yellow, BT-116 green, BT-117 blue, BT-110 violet, BT-115 magenta. Where a later line reuses one of them, it appears there in bold in the same colour (BT-146 in BT-131, BT-131 in BT-106 and BT-116, BT-116 in BT-117, BT-117 in BT-110, BT-110 in BT-115). Input values stay dark blue.</a:t>
            </a:r>
          </a:p>
          <a:p>
            <a:r>
              <a:t>Frames: blue = input and intermediate values, violet = final results. The formulas show only the BT identifiers; the card titles and the panel on the right give the names from EN 16931-1. The panel lists every BT of the chain with its allowed decimal places, the calculated ones in their rainbow colour. All input values — including document level allowances and charges and the VAT rate — are in the upper box, below are the final results BT-116, BT-117, BT-110 and BT-115 Amount due for payment.</a:t>
            </a:r>
          </a:p>
          <a:p>
            <a:r>
              <a:t>The ± values on the left apply to 100 lines of 100 units, 19% VAT, all roundings in the same direction. How far this can grow is shown on the slides 'How large does the deviation get?' (worst case with number of lines and quantity).</a:t>
            </a:r>
          </a:p>
          <a:p>
            <a:r>
              <a:t>Colours of the decimal places: red = rounding forced by the standard on a value that is not paid (2017/2026: BT-131, BT-106, BT-116, BT-117, BT-110; 2026 also BT-146); green = paid amount, rounded once: BT-115 Amount due for payment — in 2017 fixed to 2 decimal places (Table 26), since 2026 to the currency's Minor Unit (ISO 4217; EUR: cent, JPY: whole yen, KWD: 3 decimal places); orange = input value that has to be rounded because of a limitation; 'free' = no limitation (#163). The VAT rate is a statutory constant and is not rounded.</a:t>
            </a:r>
          </a:p>
          <a:p>
            <a:r>
              <a:t>What #163 changes (Update 4, 16 Oct 2026): only what is paid gets rounded, once — BT-115 Amount due for payment and the VAT, which the seller pays with the VAT return (Art. 206 VAT Directive) and the buyer deducts (Art. 168). BT-117 VAT category tax amount is rounded once per VAT category from the exact BT-116 VAT category taxable amount, because national VAT law requires the tax amount to the cent (UStAE 14.5 (20)); BT-110 Invoice total VAT amount is their sum. BT-116 stays exact, because rounding it per category adds up again; a Member State that requires it in cents can restrict it in its CIUS (Table 29).</a:t>
            </a:r>
          </a:p>
          <a:p>
            <a:r>
              <a:t>BT-115 Amount due for payment = BT-112 Invoice total amount with VAT (BT-109 Invoice total amount without VAT + BT-110 Invoice total VAT amount) − BT-113 Paid amount + Σ BT-179 Charge amount collected on behalf of a third party + BT-114 Rounding amount (BR-CO-16). In 2017 and 2026 the errors of all intermediate roundings end up in BT-115 (± €0.60 and ± €1.19 respectively for 100 lines of 100 units); with #163 it is rounded once, and BT-114 shows this rounding.</a:t>
            </a:r>
          </a:p>
          <a:p>
            <a:r>
              <a:t>2017 (Table 26): only amounts are limited — fixed to 2 decimal places, regardless of the currency; prices, quantities, base quantities and rates are unlimited. One intermediate rounding: BT-131 deviates by up to €0.005 per line, over 100 lines by up to €0.50; the VAT on it by up to €0.10 (9.5 cents, rounded).</a:t>
            </a:r>
          </a:p>
          <a:p>
            <a:r>
              <a:t>Already in 2017 the table contradicts the text of the standard: 'Rounding shall be done on the final calculation results not on any intermediate results'.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Rainbow: the seven calculated BTs run through the rainbow from top to bottom — BT-146 red, BT-131 orange, BT-106 yellow, BT-116 green, BT-117 blue, BT-110 violet, BT-115 magenta. Where a later line reuses one of them, it appears there in bold in the same colour (BT-146 in BT-131, BT-131 in BT-106 and BT-116, BT-116 in BT-117, BT-117 in BT-110, BT-110 in BT-115). Input values stay dark blue.</a:t>
            </a:r>
          </a:p>
          <a:p>
            <a:r>
              <a:t>Frames: blue = input and intermediate values, violet = final results. The formulas show only the BT identifiers; the card titles and the panel on the right give the names from EN 16931-1. The panel lists every BT of the chain with its allowed decimal places, the calculated ones in their rainbow colour. All input values — including document level allowances and charges and the VAT rate — are in the upper box, below are the final results BT-116, BT-117, BT-110 and BT-115 Amount due for payment.</a:t>
            </a:r>
          </a:p>
          <a:p>
            <a:r>
              <a:t>The ± values on the left apply to 100 lines of 100 units, 19% VAT, all roundings in the same direction. How far this can grow is shown on the slides 'How large does the deviation get?' (worst case with number of lines and quantity).</a:t>
            </a:r>
          </a:p>
          <a:p>
            <a:r>
              <a:t>Colours of the decimal places: red = rounding forced by the standard on a value that is not paid (2017/2026: BT-131, BT-106, BT-116, BT-117, BT-110; 2026 also BT-146); green = paid amount, rounded once: BT-115 Amount due for payment, to the currency's Minor Unit (ISO 4217; EUR: cent, JPY: whole yen, KWD: 3 decimal places); orange = input value that has to be rounded because of a limitation; 'free' = no limitation (#163). The VAT rate is a statutory constant and is not rounded.</a:t>
            </a:r>
          </a:p>
          <a:p>
            <a:r>
              <a:t>What #163 changes (Update 4, 16 Oct 2026): only what is paid gets rounded, once — BT-115 Amount due for payment and the VAT, which the seller pays with the VAT return (Art. 206 VAT Directive) and the buyer deducts (Art. 168). BT-117 VAT category tax amount is rounded once per VAT category from the exact BT-116 VAT category taxable amount, because national VAT law requires the tax amount to the cent (UStAE 14.5 (20)); BT-110 Invoice total VAT amount is their sum. BT-116 stays exact, because rounding it per category adds up again; a Member State that requires it in cents can restrict it in its CIUS (Table 29).</a:t>
            </a:r>
          </a:p>
          <a:p>
            <a:r>
              <a:t>BT-115 Amount due for payment = BT-112 Invoice total amount with VAT (BT-109 Invoice total amount without VAT + BT-110 Invoice total VAT amount) − BT-113 Paid amount + Σ BT-179 Charge amount collected on behalf of a third party + BT-114 Rounding amount (BR-CO-16). In 2017 and 2026 the errors of all intermediate roundings end up in BT-115 (± €0.60 and ± €1.19 respectively for 100 lines of 100 units); with #163 it is rounded once, and BT-114 shows this rounding.</a:t>
            </a:r>
          </a:p>
          <a:p>
            <a:r>
              <a:t>2026 (Table 28): BT-146 to BT-148 to 'minor unit + 2' (EUR: 4), BT-129 to 4, BT-149 to 2, rates to 2, all amounts to the minor unit (EUR: 2). Two intermediate roundings: BT-146 (up to €0.00005 per unit) and BT-131.</a:t>
            </a:r>
          </a:p>
          <a:p>
            <a:r>
              <a:t>Per line: 100 × €0.00005 from the price + €0.005 from the line rounding = €0.01. Over 100 lines: €1.00 net; VAT €1.00 × 19% = €0.19 (the offset of exactly 19 cents survives the rounding); total €1.19.</a:t>
            </a:r>
          </a:p>
          <a:p>
            <a:r>
              <a:t>The tolerances of the 2026 rules absorb such differences (up to EUR 1 for BR-S-9) — but they also hide them. With #163 each rule keeps them, and a warning shows where a rounding changes the VAT or the total: the deviation becomes visible. A concrete example with figures (receipt 1,000 × €9.99): see the notes on #163.</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Rainbow: the seven calculated BTs run through the rainbow from top to bottom — BT-146 red, BT-131 orange, BT-106 yellow, BT-116 green, BT-117 blue, BT-110 violet, BT-115 magenta. Where a later line reuses one of them, it appears there in bold in the same colour (BT-146 in BT-131, BT-131 in BT-106 and BT-116, BT-116 in BT-117, BT-117 in BT-110, BT-110 in BT-115). Input values stay dark blue.</a:t>
            </a:r>
          </a:p>
          <a:p>
            <a:r>
              <a:t>Frames: blue = input and intermediate values, violet = final results. The formulas show only the BT identifiers; the card titles and the panel on the right give the names from EN 16931-1. The panel lists every BT of the chain with its allowed decimal places, the calculated ones in their rainbow colour. All input values — including document level allowances and charges and the VAT rate — are in the upper box, below are the final results BT-116, BT-117, BT-110 and BT-115 Amount due for payment.</a:t>
            </a:r>
          </a:p>
          <a:p>
            <a:r>
              <a:t>The ± values on the left apply to 100 lines of 100 units, 19% VAT, all roundings in the same direction. How far this can grow is shown on the slides 'How large does the deviation get?' (worst case with number of lines and quantity).</a:t>
            </a:r>
          </a:p>
          <a:p>
            <a:r>
              <a:t>Colours of the decimal places: red = rounding forced by the standard on a value that is not paid (2017/2026: BT-131, BT-106, BT-116, BT-117, BT-110; 2026 also BT-146); green = rounded once: BT-115 Amount due for payment and the VAT amounts BT-117 and BT-110, to the currency's Minor Unit (ISO 4217; EUR: cent, JPY: whole yen, KWD: 3 decimal places); orange = input value that has to be rounded because of a limitation; 'free' = no limitation (#163). The VAT rate is a statutory constant and is not rounded.</a:t>
            </a:r>
          </a:p>
          <a:p>
            <a:r>
              <a:t>Update 4 of #163 (16 Oct 2026): only what is paid gets rounded, once. The VAT is paid, too: the seller pays it with the VAT return (Art. 206 VAT Directive) and the buyer deducts it (Art. 168). Because national VAT law requires the tax amount to the cent (UStAE 14.5 (20)), BT-117 VAT category tax amount is rounded once per VAT category from the exact BT-116, and BT-110 Invoice total VAT amount is the sum of BT-117. BT-116 VAT category taxable amount stays exact, because rounding it per category adds up again; a Member State that requires it in cents can restrict it in its CIUS (Table 29). The ± 0 of BT-117 means: it equals the VAT rounded once from the exact taxable amount, which is what the law asks for.</a:t>
            </a:r>
          </a:p>
          <a:p>
            <a:r>
              <a:t>BT-115 Amount due for payment = BT-112 Invoice total amount with VAT (BT-109 Invoice total amount without VAT + BT-110 Invoice total VAT amount) − BT-113 Paid amount + Σ BT-179 Charge amount collected on behalf of a third party + BT-114 Rounding amount (BR-CO-16). In 2017 and 2026 the errors of all intermediate roundings end up in BT-115 (± €0.60 and ± €1.19 respectively for 100 lines of 100 units); with #163 it is rounded once, and BT-114 shows this rounding.</a:t>
            </a:r>
          </a:p>
          <a:p>
            <a:r>
              <a:t>Proposal #163: intermediate values are no longer rounded by force, input values (quantities, prices, percentages) no longer limited; the VAT rate stays at 2 decimal places as a statutory constant.</a:t>
            </a:r>
          </a:p>
          <a:p>
            <a:r>
              <a:t>Rounded once: BT-115 Amount due for payment (plus BT-113, BT-172, BT-179 and BT-183, which change it) and the VAT amounts BT-117 and BT-110; BT-114 Rounding amount makes the rounding of BT-115 visible. So there is no deviation from intermediate rounding — for any number of lines.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How the deviation arises — step by step (EN 16931-1:2017):</a:t>
            </a:r>
          </a:p>
          <a:p>
            <a:r>
              <a:rPr lang="en-GB" dirty="0"/>
              <a:t>1. BT-146 Item net price: unlimited in 2017. The price stays exact, e.g. €0.123449. Factor 1 (price rounding × quantity) does not apply.</a:t>
            </a:r>
          </a:p>
          <a:p>
            <a:r>
              <a:rPr lang="en-GB" dirty="0"/>
              <a:t>2. BT-131 Invoice line net amount = price × quantity: must be rounded to 2 decimal places — fixed in 2017, regardless of the currency (Table 26). Worst case: the exact amount ends exactly on half a cent, e.g. €12.345 → €12.35. That is €0.005 deviation — in every line.</a:t>
            </a:r>
          </a:p>
          <a:p>
            <a:r>
              <a:rPr lang="en-GB" dirty="0"/>
              <a:t>3. BT-106 Sum of invoice line net amount and BT-116 VAT category taxable amount add up n rounded lines. If all lines round in the same direction, the half cents add up: n × €0.005. 100 lines: €0.50; 10,000 lines: €50.00.</a:t>
            </a:r>
          </a:p>
          <a:p>
            <a:r>
              <a:rPr lang="en-GB" dirty="0"/>
              <a:t>4. BT-117 VAT category tax amount = 19% of BT-116: 19% × €0.50 = €0.095 → up to €0.10 after rounding to 2 decimal places.</a:t>
            </a:r>
          </a:p>
          <a:p>
            <a:r>
              <a:rPr lang="en-GB" dirty="0"/>
              <a:t>Result: the deviation grows linearly with the number of lines, without an upper limit. In 2017 the quantity per line plays no role — that is why all columns of the table are the same.</a:t>
            </a:r>
          </a:p>
          <a:p>
            <a:r>
              <a:rPr lang="en-GB" dirty="0"/>
              <a:t>The table shows the upper limit. In practice lines round sometimes up, sometimes down and partly cancel each other out.</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How the deviation arises — step by step (EN 16931-1:2026):</a:t>
            </a:r>
          </a:p>
          <a:p>
            <a:r>
              <a:t>1. BT-146 Item net price (factor 1): may only have Minor Unit + 2 decimal places (Table 28; EUR: 4). The exact price — e.g. €0.123449 from gross price minus discount or from a gross receipt — is 'squeezed' once into 4 digits: €0.1234. Error €0.000049, at most €0.00005 (half a unit of the 4th digit).</a:t>
            </a:r>
          </a:p>
          <a:p>
            <a:r>
              <a:t>2. BT-131 Invoice line net amount = price × quantity: it is not rounded per unit — but the rounded price is in every unit. The quantity multiplies the one price error: 10,000 units × €0.000049 = €0.49 (WG1 issue #148: €1,234.00 instead of €1,234.49). At most Q × €0.00005.</a:t>
            </a:r>
          </a:p>
          <a:p>
            <a:r>
              <a:t>3. In addition BT-131 is rounded to the Minor Unit (EUR: cent): once more up to €0.005. So per line up to Q × €0.00005 + €0.005 — that is what the first table row shows (100 units: €0.005 + €0.005 = €0.01; 10,000 units: €0.50 + €0.005 = €0.505; 1,000,000 units: €50.00 + €0.005 = €50.005).</a:t>
            </a:r>
          </a:p>
          <a:p>
            <a:r>
              <a:t>4. BT-106 Sum of invoice line net amount and BT-116 VAT category taxable amount (factor 2) add up n lines. In the worst case in the same direction: n × (Q × €0.00005 + €0.005). The first table row shows the error per line as the sum of both parts (price × quantity + cent rounding); every further row is the number of lines × this value.</a:t>
            </a:r>
          </a:p>
          <a:p>
            <a:r>
              <a:t>To recalculate: 100 lines of 10,000 units → per line 10,000 × €0.00005 + €0.005 = €0.505 → × 100 lines = €50.50 net. VAT: 19% × €50.50 = €9.595 → up to €9.60.</a:t>
            </a:r>
          </a:p>
          <a:p>
            <a:r>
              <a:t>The corner of the table: 10,000 lines of 1,000,000 units → per line 1,000,000 × €0.00005 + €0.005 = €50.005 → × 10,000 lines = €500,050. Extreme, but it shows: open-ended. Large quantities occur e.g. in energy (kWh), small parts or data volume.</a:t>
            </a:r>
          </a:p>
          <a:p>
            <a:r>
              <a:t>Why the price weighs more than the lines: the price error never cancels out within a line, it is multiplied in full by the quantity. Across many lines, however, roundings partly cancel out; the table shows the upper limit.</a:t>
            </a:r>
          </a:p>
          <a:p>
            <a:r>
              <a:t>Likewise BT-129 Invoiced quantity is limited to 4 decimal places: for expensive items up to 0.00005 × price is missing per line (e.g. 0.00005 kg × €20,000/kg = €1.00).</a:t>
            </a:r>
          </a:p>
          <a:p>
            <a:r>
              <a:t>The tolerances of the 2026 rules (up to EUR 1, e.g. BR-S-9) only absorb small deviations — and hide the cause. With #163 each rule keeps the same tolerances, and a warning shows where a rounding changes the VAT or the total: the deviation becomes visible instead of hidden.</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How the deviation stays at zero — step by step (proposal #163):</a:t>
            </a:r>
          </a:p>
          <a:p>
            <a:r>
              <a:t>1. BT-146 Item net price and BT-129 Invoiced quantity stay exact, their decimal places are not limited. Factor 1 (price rounding × quantity) does not apply.</a:t>
            </a:r>
          </a:p>
          <a:p>
            <a:r>
              <a:t>2. BT-131 Invoice line net amount and BT-106 Sum of invoice line net amount are not rounded but carried forward exactly. Factor 2 (number of lines) does not apply — no matter how many lines.</a:t>
            </a:r>
          </a:p>
          <a:p>
            <a:r>
              <a:t>3. Only what is paid gets rounded, once: BT-115 Amount due for payment, from the exact total to the currency's Minor Unit (EUR: cent), and BT-117 VAT category tax amount, once per VAT category from the exact BT-116 VAT category taxable amount, because national VAT law requires the tax amount to the cent (UStAE 14.5 (20)). BT-114 Rounding amount shows the rounding of BT-115. BT-116 stays as precise as calculated.</a:t>
            </a:r>
          </a:p>
          <a:p>
            <a:r>
              <a:t>Result: ± 0 deviation from intermediate rounding, for any quantity and any number of lines; the VAT equals the VAT rounded once from the exact taxable amount. The prerequisite is exact decimal arithmetic — see the slides on exact invoice arithmetic.</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github.com/ConnectingEurope/CEN-TC434-WG1/issues/164 — 'Gross price model: use Item net price plus VAT as the leading price and extract the VAT once per VAT category'.</a:t>
            </a:r>
          </a:p>
          <a:p>
            <a:r>
              <a:t>EN 16931 only knows the net model: add up net prices, add VAT on top. But many prices are fixed including VAT: fixed book prices (§ 5 BuchPrG), receipts above the small-amount threshold, retailers and marketplaces, statutory prices.</a:t>
            </a:r>
          </a:p>
          <a:p>
            <a:r>
              <a:t>Proposal: two calculation models, each invoice uses exactly one. In the gross model the VAT is extracted once per category: BT-117 = BT-116V × BT-119 ÷ (100 + BT-119), rounded once to the cent, VAT first, as German law requires (BMF letter of 15 October 2026, para. 17); BT-116 = BT-116V − BT-117. New business terms with the suffix V ('plus VAT'), e.g. BT-146V, BT-131V, BT-116V — 'gross' is already taken in EN 16931 for the price before discount (BT-148).</a:t>
            </a:r>
          </a:p>
          <a:p>
            <a:r>
              <a:t>Example: 1,000 books at €24.95 incl. 7% VAT = €24,950.00 with €1,632.24 VAT. The net model of EN 16931-1:2026 (BT-146 with 4 decimal places: 23.3178) gives €24,950.05 and €1,632.25 VAT. There is no value within the tolerance of BR-CO-32 that gives €24,950.00 with correctly rounded VAT.</a:t>
            </a:r>
          </a:p>
          <a:p>
            <a:r>
              <a:t>Complements #163: in both models only what is paid gets rounded, once: BT-115 Amount due for payment and the VAT; the extracted BT-117 VAT category tax amount is rounded once per VAT category to the cent. Today's tolerance of BR-S-9 stays, so that rounding the base first, as in France, stays conformant too. In the example that is the only rounding: VAT first, €1,632.24299… becomes €1,632.24, the net amount is the remainder. In the gross model BT-146 is checked as a derived information price with half a unit of its last digit — without a warning, because it does not enter any calculation. In the discussion Paul Simons alternatively proposes category N with an exemption reason; Cyrille Sautereau now proposes the 'plus VAT' terms and an indicator for prices including VAT in the core (#163, 16 Oct 2026); the presence of BT-146V on each line selects the model, an indicator may state it as well.</a:t>
            </a:r>
          </a:p>
          <a:p>
            <a:r>
              <a:t>Often impossible today (#163, section 'Gross prices'): with net and VAT in the Minor Unit (EUR: cent), an invoice at 19% VAT reaches only 100 of 119 gross amounts; 19 of 119 (16%) are lost, e.g. €9.99 (8.39 + 1.59 = 9.98; 8.40 + 1.60 = 10.00). At 7% VAT it is 7/107 (7%), at 20% 20/120 (17%), at 21% 21/121 (17%). Simulation with decimal arithmetic, random gross amounts: 1 line 16%, 2 lines 34%, 5 lines 52%, 10 lines 66%, 35 lines 81% miss the receipt total without a workaround.</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Thanks and an invitation to follow and discuss the issues #164 and #163 on GitHub.</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g"/><Relationship Id="rId4" Type="http://schemas.openxmlformats.org/officeDocument/2006/relationships/image" Target="../media/image2.png"/><Relationship Id="rId5" Type="http://schemas.openxmlformats.org/officeDocument/2006/relationships/hyperlink" Target="https://github.com/ConnectingEurope/CEN-TC434-WG1/issues/164" TargetMode="External"/><Relationship Id="rId6" Type="http://schemas.openxmlformats.org/officeDocument/2006/relationships/image" Target="../media/image3.png"/><Relationship Id="rId7" Type="http://schemas.openxmlformats.org/officeDocument/2006/relationships/image" Target="../media/image4.png"/><Relationship Id="rId8" Type="http://schemas.openxmlformats.org/officeDocument/2006/relationships/image" Target="../media/image6.png"/><Relationship Id="rId9" Type="http://schemas.openxmlformats.org/officeDocument/2006/relationships/hyperlink" Target="https://svanteschubert.github.io/testy/CEN-TC434-WG1_2026_SvanteSchubert_Gross-Prices_EN.pdf" TargetMode="External"/><Relationship Id="rId10" Type="http://schemas.openxmlformats.org/officeDocument/2006/relationships/hyperlink" Target="https://github.com/ConnectingEurope/CEN-TC434-WG1/issues/163"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9.png"/><Relationship Id="rId4" Type="http://schemas.openxmlformats.org/officeDocument/2006/relationships/image" Target="../media/image32.png"/><Relationship Id="rId5" Type="http://schemas.openxmlformats.org/officeDocument/2006/relationships/hyperlink" Target="https://www.linkedin.com/in/svante-schubert-2913232/" TargetMode="External"/><Relationship Id="rId6" Type="http://schemas.openxmlformats.org/officeDocument/2006/relationships/hyperlink" Target="https://github.com/ConnectingEurope/CEN-TC434-WG1/issues/163#issuecomment-6194501602" TargetMode="External"/><Relationship Id="rId7" Type="http://schemas.openxmlformats.org/officeDocument/2006/relationships/hyperlink" Target="https://github.com/ConnectingEurope/CEN-TC434-WG1/issues/164#issuecomment-6172327671" TargetMode="External"/><Relationship Id="rId8" Type="http://schemas.openxmlformats.org/officeDocument/2006/relationships/hyperlink" Target="https://github.com/ConnectingEurope/CEN-TC434-WG1/issues/163#issuecomment-6211803475" TargetMode="External"/><Relationship Id="rId9" Type="http://schemas.openxmlformats.org/officeDocument/2006/relationships/hyperlink" Target="https://github.com/ConnectingEurope/CEN-TC434-WG1/issues/164" TargetMode="External"/><Relationship Id="rId10" Type="http://schemas.openxmlformats.org/officeDocument/2006/relationships/hyperlink" Target="https://github.com/ConnectingEurope/CEN-TC434-WG1/issues/163"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9.png"/><Relationship Id="rId4" Type="http://schemas.openxmlformats.org/officeDocument/2006/relationships/image" Target="../media/image32.png"/><Relationship Id="rId5" Type="http://schemas.openxmlformats.org/officeDocument/2006/relationships/hyperlink" Target="https://www.linkedin.com/in/svante-schubert-2913232/" TargetMode="External"/><Relationship Id="rId6" Type="http://schemas.openxmlformats.org/officeDocument/2006/relationships/hyperlink" Target="https://www.bundesfinanzministerium.de/Content/DE/Downloads/BMF_Schreiben/Steuerarten/Umsatzsteuer/Umsatzsteuer-Anwendungserlass/2026-10-15-obligatorische-elektronische-rechnung.pdf?__blob=publicationFile&amp;v=1" TargetMode="External"/><Relationship Id="rId7" Type="http://schemas.openxmlformats.org/officeDocument/2006/relationships/hyperlink" Target="https://usth.bundesfinanzministerium.de/usth/2024/A-Umsatzsteuergesetz/IV-Steuer-und-Vorsteuer/Paragraf-14/inhalt.html" TargetMode="External"/><Relationship Id="rId8" Type="http://schemas.openxmlformats.org/officeDocument/2006/relationships/hyperlink" Target="https://www.gesetze-im-internet.de/ustg_1980/__10.html" TargetMode="External"/><Relationship Id="rId9" Type="http://schemas.openxmlformats.org/officeDocument/2006/relationships/hyperlink" Target="https://eur-lex.europa.eu/legal-content/EN/TXT/?uri=CELEX:62006CJ0484" TargetMode="External"/><Relationship Id="rId10" Type="http://schemas.openxmlformats.org/officeDocument/2006/relationships/hyperlink" Target="https://eur-lex.europa.eu/eli/dir/2006/112/2025-04-14/eng#art_226" TargetMode="External"/><Relationship Id="rId11" Type="http://schemas.openxmlformats.org/officeDocument/2006/relationships/hyperlink" Target="https://eur-lex.europa.eu/eli/dir/2006/112/2025-04-14/eng#art_206" TargetMode="External"/><Relationship Id="rId12" Type="http://schemas.openxmlformats.org/officeDocument/2006/relationships/hyperlink" Target="https://eur-lex.europa.eu/eli/dir/2025/516/oj/eng#art_5" TargetMode="External"/><Relationship Id="rId13" Type="http://schemas.openxmlformats.org/officeDocument/2006/relationships/hyperlink" Target="https://eur-lex.europa.eu/eli/dir/2006/112/2025-04-14/eng" TargetMode="External"/><Relationship Id="rId14" Type="http://schemas.openxmlformats.org/officeDocument/2006/relationships/hyperlink" Target="https://eur-lex.europa.eu/eli/dir/2006/112/2025-04-14/eng#art_168"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9.png"/><Relationship Id="rId4" Type="http://schemas.openxmlformats.org/officeDocument/2006/relationships/image" Target="../media/image32.png"/><Relationship Id="rId5" Type="http://schemas.openxmlformats.org/officeDocument/2006/relationships/hyperlink" Target="https://www.linkedin.com/in/svante-schubert-2913232/" TargetMode="External"/><Relationship Id="rId6" Type="http://schemas.openxmlformats.org/officeDocument/2006/relationships/hyperlink" Target="https://www.bundesfinanzministerium.de/Content/DE/Downloads/BMF_Schreiben/Steuerarten/Umsatzsteuer/Umsatzsteuer-Anwendungserlass/2026-10-15-obligatorische-elektronische-rechnung.pdf?__blob=publicationFile&amp;v=1"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hyperlink" Target="https://www.linkedin.com/in/svante-schubert-2913232/"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www.linkedin.com/in/svante-schubert-2913232/"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hyperlink" Target="https://www.linkedin.com/in/svante-schubert-2913232/" TargetMode="External"/><Relationship Id="rId4" Type="http://schemas.openxmlformats.org/officeDocument/2006/relationships/image" Target="../media/image30.png"/><Relationship Id="rId5" Type="http://schemas.openxmlformats.org/officeDocument/2006/relationships/image" Target="../media/image3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hyperlink" Target="https://www.linkedin.com/in/svante-schubert-2913232/" TargetMode="External"/><Relationship Id="rId4" Type="http://schemas.openxmlformats.org/officeDocument/2006/relationships/image" Target="../media/image30.png"/><Relationship Id="rId5" Type="http://schemas.openxmlformats.org/officeDocument/2006/relationships/image" Target="../media/image33.png"/><Relationship Id="rId6" Type="http://schemas.openxmlformats.org/officeDocument/2006/relationships/hyperlink" Target="https://github.com/ConnectingEurope/CEN-TC434-WG1/issues/148"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hyperlink" Target="https://www.linkedin.com/in/svante-schubert-2913232/" TargetMode="External"/><Relationship Id="rId4" Type="http://schemas.openxmlformats.org/officeDocument/2006/relationships/hyperlink" Target="https://www.bundesfinanzministerium.de/Content/DE/Downloads/BMF_Schreiben/Steuerarten/Umsatzsteuer/Umsatzsteuer-Anwendungserlass/2026-10-15-obligatorische-elektronische-rechnung.pdf?__blob=publicationFile&amp;v=1"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9.png"/><Relationship Id="rId4" Type="http://schemas.openxmlformats.org/officeDocument/2006/relationships/image" Target="../media/image32.png"/><Relationship Id="rId5" Type="http://schemas.openxmlformats.org/officeDocument/2006/relationships/hyperlink" Target="https://www.linkedin.com/in/svante-schubert-2913232/" TargetMode="External"/><Relationship Id="rId6" Type="http://schemas.openxmlformats.org/officeDocument/2006/relationships/hyperlink" Target="https://github.com/ConnectingEurope/CEN-TC434-WG1/issues/164#issuecomment-6197881434"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hyperlink" Target="https://www.linkedin.com/in/svante-schubert-2913232/" TargetMode="External"/><Relationship Id="rId4" Type="http://schemas.openxmlformats.org/officeDocument/2006/relationships/hyperlink" Target="https://github.com/ConnectingEurope/CEN-TC434-WG1/issues/164" TargetMode="External"/><Relationship Id="rId5" Type="http://schemas.openxmlformats.org/officeDocument/2006/relationships/hyperlink" Target="https://eur-lex.europa.eu/eli/dir/2006/112/2025-04-14/eng#art_226"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9.png"/><Relationship Id="rId4" Type="http://schemas.openxmlformats.org/officeDocument/2006/relationships/image" Target="../media/image32.png"/><Relationship Id="rId5" Type="http://schemas.openxmlformats.org/officeDocument/2006/relationships/hyperlink" Target="https://www.linkedin.com/in/svante-schubert-2913232/" TargetMode="External"/><Relationship Id="rId6" Type="http://schemas.openxmlformats.org/officeDocument/2006/relationships/hyperlink" Target="https://github.com/ConnectingEurope/CEN-TC434-WG1/issues/164" TargetMode="External"/><Relationship Id="rId7" Type="http://schemas.openxmlformats.org/officeDocument/2006/relationships/hyperlink" Target="https://eur-lex.europa.eu/eli/dir/2006/112/2025-04-14/eng#art_226" TargetMode="External"/><Relationship Id="rId8" Type="http://schemas.openxmlformats.org/officeDocument/2006/relationships/hyperlink" Target="https://www.gesetze-im-internet.de/ustg_1980/__14.html" TargetMode="External"/><Relationship Id="rId9" Type="http://schemas.openxmlformats.org/officeDocument/2006/relationships/hyperlink" Target="https://usth.bundesfinanzministerium.de/usth/2024/A-Umsatzsteuergesetz/IV-Steuer-und-Vorsteuer/Paragraf-14/inhalt.html" TargetMode="External"/><Relationship Id="rId10" Type="http://schemas.openxmlformats.org/officeDocument/2006/relationships/hyperlink" Target="https://www.bundesfinanzministerium.de/Content/DE/Downloads/BMF_Schreiben/Steuerarten/Umsatzsteuer/Umsatzsteuer-Anwendungserlass/2026-10-15-obligatorische-elektronische-rechnung.pdf?__blob=publicationFile&amp;v=1" TargetMode="External"/><Relationship Id="rId11" Type="http://schemas.openxmlformats.org/officeDocument/2006/relationships/hyperlink" Target="https://www.gesetze-im-internet.de/ustg_1980/__10.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hyperlink" Target="https://www.linkedin.com/in/svante-schubert-2913232/" TargetMode="External"/><Relationship Id="rId4" Type="http://schemas.openxmlformats.org/officeDocument/2006/relationships/hyperlink" Target="https://github.com/ConnectingEurope/CEN-TC434-WG1/issues/164"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9.png"/><Relationship Id="rId4" Type="http://schemas.openxmlformats.org/officeDocument/2006/relationships/image" Target="../media/image32.png"/><Relationship Id="rId5" Type="http://schemas.openxmlformats.org/officeDocument/2006/relationships/hyperlink" Target="https://www.linkedin.com/in/svante-schubert-2913232/" TargetMode="External"/><Relationship Id="rId6" Type="http://schemas.openxmlformats.org/officeDocument/2006/relationships/hyperlink" Target="https://github.com/ConnectingEurope/CEN-TC434-WG1/issues/163" TargetMode="External"/><Relationship Id="rId7" Type="http://schemas.openxmlformats.org/officeDocument/2006/relationships/hyperlink" Target="https://github.com/ConnectingEurope/CEN-TC434-WG1/issues/164#issuecomment-6143641292" TargetMode="External"/><Relationship Id="rId8" Type="http://schemas.openxmlformats.org/officeDocument/2006/relationships/hyperlink" Target="https://github.com/ConnectingEurope/CEN-TC434-WG1/issues/163#issuecomment-6214062803"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hyperlink" Target="https://www.linkedin.com/in/svante-schubert-2913232/" TargetMode="External"/><Relationship Id="rId4" Type="http://schemas.openxmlformats.org/officeDocument/2006/relationships/hyperlink" Target="https://github.com/ConnectingEurope/CEN-TC434-WG1/issues/163"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hyperlink" Target="https://www.linkedin.com/in/svante-schubert-2913232/" TargetMode="External"/><Relationship Id="rId4" Type="http://schemas.openxmlformats.org/officeDocument/2006/relationships/image" Target="../media/image30.png"/><Relationship Id="rId5" Type="http://schemas.openxmlformats.org/officeDocument/2006/relationships/image" Target="../media/image33.png"/><Relationship Id="rId6" Type="http://schemas.openxmlformats.org/officeDocument/2006/relationships/hyperlink" Target="https://github.com/ConnectingEurope/CEN-TC434-WG1/issues/163"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hyperlink" Target="https://www.linkedin.com/in/svante-schubert-2913232/" TargetMode="External"/><Relationship Id="rId4" Type="http://schemas.openxmlformats.org/officeDocument/2006/relationships/hyperlink" Target="https://github.com/ConnectingEurope/CEN-TC434-WG1/issues/164" TargetMode="External"/><Relationship Id="rId5" Type="http://schemas.openxmlformats.org/officeDocument/2006/relationships/hyperlink" Target="https://github.com/ConnectingEurope/CEN-TC434-WG1/issues/163" TargetMode="External"/><Relationship Id="rId6" Type="http://schemas.openxmlformats.org/officeDocument/2006/relationships/hyperlink" Target="https://github.com/svanteschubert/Saxon-HE-enhanced-accuracy" TargetMode="External"/><Relationship Id="rId7" Type="http://schemas.openxmlformats.org/officeDocument/2006/relationships/hyperlink" Target="https://github.com/ConnectingEurope/CEN-TC434-WG1/issues/163#issuecomment-6193758851"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9.png"/><Relationship Id="rId4" Type="http://schemas.openxmlformats.org/officeDocument/2006/relationships/image" Target="../media/image32.png"/><Relationship Id="rId5" Type="http://schemas.openxmlformats.org/officeDocument/2006/relationships/hyperlink" Target="https://www.linkedin.com/in/svante-schubert-2913232/" TargetMode="External"/><Relationship Id="rId6" Type="http://schemas.openxmlformats.org/officeDocument/2006/relationships/hyperlink" Target="https://eur-lex.europa.eu/eli/dir/2025/516/oj/eng#art_5" TargetMode="External"/><Relationship Id="rId7" Type="http://schemas.openxmlformats.org/officeDocument/2006/relationships/hyperlink" Target="https://eur-lex.europa.eu/eli/dir/2006/112/2025-04-14/eng#art_220a" TargetMode="External"/><Relationship Id="rId8" Type="http://schemas.openxmlformats.org/officeDocument/2006/relationships/hyperlink" Target="https://www.gesetze-im-internet.de/ustdv_1980/__33.html" TargetMode="External"/><Relationship Id="rId9" Type="http://schemas.openxmlformats.org/officeDocument/2006/relationships/hyperlink" Target="https://www.bundesfinanzministerium.de/Content/DE/Downloads/BMF_Schreiben/Steuerarten/Umsatzsteuer/Umsatzsteuer-Anwendungserlass/2026-10-15-obligatorische-elektronische-rechnung.pdf?__blob=publicationFile&amp;v=1"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9.png"/><Relationship Id="rId4" Type="http://schemas.openxmlformats.org/officeDocument/2006/relationships/image" Target="../media/image32.png"/><Relationship Id="rId5" Type="http://schemas.openxmlformats.org/officeDocument/2006/relationships/hyperlink" Target="https://www.linkedin.com/in/svante-schubert-2913232/" TargetMode="External"/><Relationship Id="rId6" Type="http://schemas.openxmlformats.org/officeDocument/2006/relationships/hyperlink" Target="https://github.com/ConnectingEurope/CEN-TC434-WG1/issues/164" TargetMode="External"/><Relationship Id="rId7" Type="http://schemas.openxmlformats.org/officeDocument/2006/relationships/hyperlink" Target="https://github.com/ConnectingEurope/CEN-TC434-WG1/issues/163"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37.jpg"/><Relationship Id="rId4" Type="http://schemas.openxmlformats.org/officeDocument/2006/relationships/image" Target="../media/image2.png"/><Relationship Id="rId5" Type="http://schemas.openxmlformats.org/officeDocument/2006/relationships/hyperlink" Target="https://github.com/ConnectingEurope/CEN-TC434-WG1/issues/163" TargetMode="External"/><Relationship Id="rId6" Type="http://schemas.openxmlformats.org/officeDocument/2006/relationships/hyperlink" Target="https://github.com/svanteschubert/CEN-TC434-WG3/issues" TargetMode="External"/><Relationship Id="rId7" Type="http://schemas.openxmlformats.org/officeDocument/2006/relationships/hyperlink" Target="https://github.com/svanteschubert/Saxon-HE-enhanced-accuracy" TargetMode="External"/><Relationship Id="rId8" Type="http://schemas.openxmlformats.org/officeDocument/2006/relationships/hyperlink" Target="https://github.com/qt4cg/qtspecs/issues/2935" TargetMode="External"/><Relationship Id="rId9" Type="http://schemas.openxmlformats.org/officeDocument/2006/relationships/hyperlink" Target="https://www.linkedin.com/in/svante-schubert-2913232/" TargetMode="External"/><Relationship Id="rId10" Type="http://schemas.openxmlformats.org/officeDocument/2006/relationships/hyperlink" Target="https://github.com/ConnectingEurope/CEN-TC434-WG1/issues/163" TargetMode="External"/><Relationship Id="rId11" Type="http://schemas.openxmlformats.org/officeDocument/2006/relationships/image" Target="../media/image38.png"/><Relationship Id="rId12" Type="http://schemas.openxmlformats.org/officeDocument/2006/relationships/image" Target="../media/image5.png"/><Relationship Id="rId13" Type="http://schemas.openxmlformats.org/officeDocument/2006/relationships/hyperlink" Target="https://github.com/ConnectingEurope/CEN-TC434-WG1/issues/164" TargetMode="External"/><Relationship Id="rId14" Type="http://schemas.openxmlformats.org/officeDocument/2006/relationships/hyperlink" Target="https://www.bundesfinanzministerium.de/Content/DE/Downloads/BMF_Schreiben/Steuerarten/Umsatzsteuer/Umsatzsteuer-Anwendungserlass/2026-10-15-obligatorische-elektronische-rechnung.pdf?__blob=publicationFile&amp;v=1" TargetMode="External"/><Relationship Id="rId15" Type="http://schemas.openxmlformats.org/officeDocument/2006/relationships/image" Target="../media/image7.png"/><Relationship Id="rId16" Type="http://schemas.openxmlformats.org/officeDocument/2006/relationships/hyperlink" Target="https://svanteschubert.github.io/testy/CEN-TC434-WG1_2026_SvanteSchubert_Gross-Prices_EN.pptx"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32.png"/><Relationship Id="rId4" Type="http://schemas.openxmlformats.org/officeDocument/2006/relationships/hyperlink" Target="https://www.linkedin.com/in/svante-schubert-2913232/" TargetMode="External"/><Relationship Id="rId5" Type="http://schemas.openxmlformats.org/officeDocument/2006/relationships/hyperlink" Target="https://github.com/ConnectingEurope/CEN-TC434-WG1/issues/163#issuecomment-6194501602" TargetMode="External"/><Relationship Id="rId6" Type="http://schemas.openxmlformats.org/officeDocument/2006/relationships/hyperlink" Target="https://github.com/ConnectingEurope/CEN-TC434-WG1/issues/164#issuecomment-6172327671" TargetMode="External"/><Relationship Id="rId7" Type="http://schemas.openxmlformats.org/officeDocument/2006/relationships/hyperlink" Target="https://github.com/ConnectingEurope/CEN-TC434-WG1/issues/163#issuecomment-6211803475" TargetMode="External"/><Relationship Id="rId8" Type="http://schemas.openxmlformats.org/officeDocument/2006/relationships/hyperlink" Target="https://github.com/ConnectingEurope/CEN-TC434-WG1/issues/164" TargetMode="External"/><Relationship Id="rId9" Type="http://schemas.openxmlformats.org/officeDocument/2006/relationships/hyperlink" Target="https://github.com/ConnectingEurope/CEN-TC434-WG1/issues/163" TargetMode="External"/><Relationship Id="rId10" Type="http://schemas.openxmlformats.org/officeDocument/2006/relationships/notesSlide" Target="../notesSlides/notesSlide21.xml"/><Relationship Id="rId11" Type="http://schemas.openxmlformats.org/officeDocument/2006/relationships/hyperlink" Target="https://github.com/ConnectingEurope/CEN-TC434-WG1/issues/163#issuecomment-6214062803" TargetMode="External"/><Relationship Id="rId12" Type="http://schemas.openxmlformats.org/officeDocument/2006/relationships/hyperlink" Target="https://github.com/ConnectingEurope/CEN-TC434-WG1/issues/163#issuecomment-6222613541" TargetMode="External"/><Relationship Id="rId13" Type="http://schemas.openxmlformats.org/officeDocument/2006/relationships/hyperlink" Target="https://eur-lex.europa.eu/eli/dir/2025/516/oj/eng#art_5" TargetMode="External"/><Relationship Id="rId14" Type="http://schemas.openxmlformats.org/officeDocument/2006/relationships/hyperlink" Target="https://github.com/ConnectingEurope/CEN-TC434-WG1/issues/163#issuecomment-6263362779"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Folie 1">
    <p:bg>
      <p:bgPr>
        <a:solidFill>
          <a:srgbClr val="0F1B3D"/>
        </a:solidFill>
        <a:effectLst/>
      </p:bgPr>
    </p:bg>
    <p:spTree>
      <p:nvGrpSpPr>
        <p:cNvPr id="1" name=""/>
        <p:cNvGrpSpPr/>
        <p:nvPr/>
      </p:nvGrpSpPr>
      <p:grpSpPr>
        <a:xfrm>
          <a:off x="0" y="0"/>
          <a:ext cx="0" cy="0"/>
          <a:chOff x="0" y="0"/>
          <a:chExt cx="0" cy="0"/>
        </a:xfrm>
      </p:grpSpPr>
      <p:pic>
        <p:nvPicPr>
          <p:cNvPr id="3" name="Background 3"/>
          <p:cNvPicPr>
            <a:picLocks noChangeAspect="1"/>
          </p:cNvPicPr>
          <p:nvPr/>
        </p:nvPicPr>
        <p:blipFill>
          <a:blip r:embed="rId3"/>
          <a:stretch>
            <a:fillRect/>
          </a:stretch>
        </p:blipFill>
        <p:spPr>
          <a:xfrm>
            <a:off x="0" y="0"/>
            <a:ext cx="12191695" cy="6858000"/>
          </a:xfrm>
          <a:prstGeom prst="rect">
            <a:avLst/>
          </a:prstGeom>
        </p:spPr>
      </p:pic>
      <p:sp>
        <p:nvSpPr>
          <p:cNvPr id="4" name="Header 4"/>
          <p:cNvSpPr txBox="1"/>
          <p:nvPr/>
        </p:nvSpPr>
        <p:spPr>
          <a:xfrm>
            <a:off x="822960" y="384048"/>
            <a:ext cx="7315200" cy="274320"/>
          </a:xfrm>
          <a:prstGeom prst="rect">
            <a:avLst/>
          </a:prstGeom>
          <a:noFill/>
          <a:ln/>
        </p:spPr>
        <p:txBody>
          <a:bodyPr wrap="square" lIns="0" tIns="0" rIns="0" bIns="0" rtlCol="0" anchor="ctr"/>
          <a:lstStyle/>
          <a:p>
            <a:pPr marL="0" indent="0" algn="l">
              <a:buNone/>
            </a:pPr>
            <a:r>
              <a:rPr lang="en-GB" sz="950" spc="100" dirty="0">
                <a:solidFill>
                  <a:srgbClr val="9FB0D8"/>
                </a:solidFill>
                <a:latin typeface="Inter Medium Text Medium" pitchFamily="34" charset="0"/>
                <a:ea typeface="Inter Medium Text Medium" pitchFamily="34" charset="-122"/>
                <a:cs typeface="Inter Medium Text Medium" pitchFamily="34" charset="-120"/>
              </a:rPr>
              <a:t>CEN/TC 434 WG1</a:t>
            </a:r>
            <a:r>
              <a:rPr lang="en-GB" sz="950" spc="100" dirty="0">
                <a:solidFill>
                  <a:srgbClr val="44598F"/>
                </a:solidFill>
                <a:latin typeface="Inter Text" pitchFamily="34" charset="0"/>
                <a:ea typeface="Inter Text" pitchFamily="34" charset="-122"/>
                <a:cs typeface="Inter Text" pitchFamily="34" charset="-120"/>
              </a:rPr>
              <a:t>   ·   </a:t>
            </a:r>
            <a:r>
              <a:rPr lang="en-GB" sz="950" spc="100" dirty="0">
                <a:solidFill>
                  <a:srgbClr val="7E91C4"/>
                </a:solidFill>
                <a:latin typeface="Inter Text" pitchFamily="34" charset="0"/>
                <a:ea typeface="Inter Text" pitchFamily="34" charset="-122"/>
                <a:cs typeface="Inter Text" pitchFamily="34" charset="-120"/>
              </a:rPr>
              <a:t>EN 16931-1:2026 amendment · Gross prices and rounding</a:t>
            </a:r>
          </a:p>
        </p:txBody>
      </p:sp>
      <p:sp>
        <p:nvSpPr>
          <p:cNvPr id="5" name="Text 5"/>
          <p:cNvSpPr txBox="1"/>
          <p:nvPr/>
        </p:nvSpPr>
        <p:spPr>
          <a:xfrm>
            <a:off x="822960" y="1783080"/>
            <a:ext cx="8229600" cy="365760"/>
          </a:xfrm>
          <a:prstGeom prst="rect">
            <a:avLst/>
          </a:prstGeom>
          <a:noFill/>
          <a:ln/>
        </p:spPr>
        <p:txBody>
          <a:bodyPr wrap="square" lIns="0" tIns="0" rIns="0" bIns="0" rtlCol="0" anchor="ctr"/>
          <a:lstStyle/>
          <a:p>
            <a:pPr marL="0" indent="0" algn="l">
              <a:buNone/>
            </a:pPr>
            <a:r>
              <a:rPr lang="en-GB" sz="1400" spc="400" dirty="0">
                <a:solidFill>
                  <a:srgbClr val="19C3C8"/>
                </a:solidFill>
                <a:latin typeface="Inter SemiBold Text SemiBold" pitchFamily="34" charset="0"/>
                <a:ea typeface="Inter SemiBold Text SemiBold" pitchFamily="34" charset="-122"/>
                <a:cs typeface="Inter SemiBold Text SemiBold" pitchFamily="34" charset="-120"/>
              </a:rPr>
              <a:t>CEN/TC 434 WG1 · EN 16931-1:2026 AMENDMENT</a:t>
            </a:r>
          </a:p>
        </p:txBody>
      </p:sp>
      <p:sp>
        <p:nvSpPr>
          <p:cNvPr id="6" name="Text 6"/>
          <p:cNvSpPr txBox="1"/>
          <p:nvPr/>
        </p:nvSpPr>
        <p:spPr>
          <a:xfrm>
            <a:off x="795528" y="2240280"/>
            <a:ext cx="10515600" cy="2011680"/>
          </a:xfrm>
          <a:prstGeom prst="rect">
            <a:avLst/>
          </a:prstGeom>
          <a:noFill/>
          <a:ln/>
        </p:spPr>
        <p:txBody>
          <a:bodyPr wrap="square" lIns="0" tIns="0" rIns="0" bIns="0" rtlCol="0" anchor="t"/>
          <a:lstStyle/>
          <a:p>
            <a:pPr marL="0" indent="0" algn="l">
              <a:lnSpc>
                <a:spcPct val="98000"/>
              </a:lnSpc>
              <a:buNone/>
            </a:pPr>
            <a:r>
              <a:rPr lang="en-GB" sz="6000" dirty="0">
                <a:solidFill>
                  <a:srgbClr val="DCE6FF"/>
                </a:solidFill>
                <a:latin typeface="Inter Light Text Light" pitchFamily="34" charset="0"/>
                <a:ea typeface="Inter Light Text Light" pitchFamily="34" charset="-122"/>
                <a:cs typeface="Inter Light Text Light" pitchFamily="34" charset="-120"/>
              </a:rPr>
              <a:t>Gross prices in</a:t>
            </a:r>
          </a:p>
          <a:p>
            <a:pPr marL="0" indent="0" algn="l">
              <a:lnSpc>
                <a:spcPct val="98000"/>
              </a:lnSpc>
              <a:buNone/>
            </a:pPr>
            <a:r>
              <a:rPr lang="en-GB" sz="6600" b="1" dirty="0">
                <a:solidFill>
                  <a:srgbClr val="FFFFFF"/>
                </a:solidFill>
                <a:latin typeface="Inter Text" pitchFamily="34" charset="0"/>
                <a:ea typeface="Inter Text" pitchFamily="34" charset="-122"/>
                <a:cs typeface="Inter Text" pitchFamily="34" charset="-120"/>
              </a:rPr>
              <a:t>EN 16931-1:2026</a:t>
            </a:r>
          </a:p>
        </p:txBody>
      </p:sp>
      <p:sp>
        <p:nvSpPr>
          <p:cNvPr id="7" name="Text 7"/>
          <p:cNvSpPr txBox="1"/>
          <p:nvPr/>
        </p:nvSpPr>
        <p:spPr>
          <a:xfrm>
            <a:off x="822960" y="4343400"/>
            <a:ext cx="8412480" cy="685800"/>
          </a:xfrm>
          <a:prstGeom prst="rect">
            <a:avLst/>
          </a:prstGeom>
          <a:noFill/>
          <a:ln/>
        </p:spPr>
        <p:txBody>
          <a:bodyPr wrap="square" lIns="0" tIns="0" rIns="0" bIns="0" rtlCol="0" anchor="t"/>
          <a:lstStyle/>
          <a:p>
            <a:pPr marL="0" indent="0" algn="l">
              <a:lnSpc>
                <a:spcPct val="115000"/>
              </a:lnSpc>
              <a:buNone/>
            </a:pPr>
            <a:r>
              <a:rPr lang="en-GB" sz="1600" dirty="0">
                <a:solidFill>
                  <a:srgbClr val="C4D2F4"/>
                </a:solidFill>
                <a:latin typeface="Inter Text" pitchFamily="34" charset="0"/>
                <a:ea typeface="Inter Text" pitchFamily="34" charset="-122"/>
                <a:cs typeface="Inter Text" pitchFamily="34" charset="-120"/>
              </a:rPr>
              <a:t>Calculate from the agreed price, round only once — issues </a:t>
            </a:r>
            <a:r>
              <a:rPr lang="en-GB" sz="1600" dirty="0">
                <a:solidFill>
                  <a:srgbClr val="C4D2F4"/>
                </a:solidFill>
                <a:latin typeface="Inter Text" pitchFamily="34" charset="0"/>
                <a:ea typeface="Inter Text" pitchFamily="34" charset="-122"/>
                <a:cs typeface="Inter Text" pitchFamily="34" charset="-120"/>
                <a:hlinkClick r:id="rId5">
                  <a:extLst>
                    <a:ext uri="{A12FA001-AC4F-418D-AE19-62706E023703}">
                      <ahyp:hlinkClr xmlns:ahyp="http://schemas.microsoft.com/office/drawing/2018/hyperlinkcolor" val="tx"/>
                    </a:ext>
                  </a:extLst>
                </a:hlinkClick>
              </a:rPr>
              <a:t>#164</a:t>
            </a:r>
            <a:r>
              <a:rPr lang="en-GB" sz="1600" dirty="0">
                <a:solidFill>
                  <a:srgbClr val="C4D2F4"/>
                </a:solidFill>
                <a:latin typeface="Inter Text" pitchFamily="34" charset="0"/>
                <a:ea typeface="Inter Text" pitchFamily="34" charset="-122"/>
                <a:cs typeface="Inter Text" pitchFamily="34" charset="-120"/>
              </a:rPr>
              <a:t> and </a:t>
            </a:r>
            <a:r>
              <a:rPr lang="en-GB" sz="1600" dirty="0">
                <a:solidFill>
                  <a:srgbClr val="C4D2F4"/>
                </a:solidFill>
                <a:latin typeface="Inter Text" pitchFamily="34" charset="0"/>
                <a:ea typeface="Inter Text" pitchFamily="34" charset="-122"/>
                <a:cs typeface="Inter Text" pitchFamily="34" charset="-120"/>
                <a:hlinkClick r:id="rId10">
                  <a:extLst>
                    <a:ext uri="{A12FA001-AC4F-418D-AE19-62706E023703}">
                      <ahyp:hlinkClr xmlns:ahyp="http://schemas.microsoft.com/office/drawing/2018/hyperlinkcolor" val="tx"/>
                    </a:ext>
                  </a:extLst>
                </a:hlinkClick>
              </a:rPr>
              <a:t>#163</a:t>
            </a:r>
            <a:r>
              <a:rPr lang="en-GB" sz="1600" dirty="0">
                <a:solidFill>
                  <a:srgbClr val="C4D2F4"/>
                </a:solidFill>
                <a:latin typeface="Inter Text" pitchFamily="34" charset="0"/>
                <a:ea typeface="Inter Text" pitchFamily="34" charset="-122"/>
                <a:cs typeface="Inter Text" pitchFamily="34" charset="-120"/>
              </a:rPr>
              <a:t>.</a:t>
            </a:r>
          </a:p>
        </p:txBody>
      </p:sp>
      <p:sp>
        <p:nvSpPr>
          <p:cNvPr id="8" name="Shape 8"/>
          <p:cNvSpPr/>
          <p:nvPr/>
        </p:nvSpPr>
        <p:spPr>
          <a:xfrm>
            <a:off x="822960" y="5532120"/>
            <a:ext cx="457200" cy="457200"/>
          </a:xfrm>
          <a:prstGeom prst="ellipse">
            <a:avLst/>
          </a:prstGeom>
          <a:solidFill>
            <a:srgbClr val="19C3C8"/>
          </a:solidFill>
          <a:ln>
            <a:noFill/>
          </a:ln>
          <a:effectLst>
            <a:outerShdw blurRad="88900" dist="38100" dir="5400000" algn="bl" rotWithShape="0">
              <a:srgbClr val="0A1230">
                <a:alpha val="18000"/>
              </a:srgbClr>
            </a:outerShdw>
          </a:effectLst>
        </p:spPr>
        <p:txBody>
          <a:bodyPr/>
          <a:lstStyle/>
          <a:p>
            <a:endParaRPr lang="en-GB"/>
          </a:p>
        </p:txBody>
      </p:sp>
      <p:pic>
        <p:nvPicPr>
          <p:cNvPr id="9" name="Image 9"/>
          <p:cNvPicPr>
            <a:picLocks noChangeAspect="1"/>
          </p:cNvPicPr>
          <p:nvPr/>
        </p:nvPicPr>
        <p:blipFill>
          <a:blip r:embed="rId4"/>
          <a:stretch>
            <a:fillRect/>
          </a:stretch>
        </p:blipFill>
        <p:spPr>
          <a:xfrm>
            <a:off x="941832" y="5650992"/>
            <a:ext cx="219456" cy="219456"/>
          </a:xfrm>
          <a:prstGeom prst="rect">
            <a:avLst/>
          </a:prstGeom>
        </p:spPr>
      </p:pic>
      <p:sp>
        <p:nvSpPr>
          <p:cNvPr id="10" name="Text 10"/>
          <p:cNvSpPr txBox="1"/>
          <p:nvPr/>
        </p:nvSpPr>
        <p:spPr>
          <a:xfrm>
            <a:off x="1463040" y="5486400"/>
            <a:ext cx="7315200" cy="566928"/>
          </a:xfrm>
          <a:prstGeom prst="rect">
            <a:avLst/>
          </a:prstGeom>
          <a:noFill/>
          <a:ln/>
        </p:spPr>
        <p:txBody>
          <a:bodyPr wrap="square" lIns="0" tIns="0" rIns="0" bIns="0" rtlCol="0" anchor="ctr"/>
          <a:lstStyle/>
          <a:p>
            <a:pPr marL="0" indent="0" algn="l">
              <a:lnSpc>
                <a:spcPct val="105000"/>
              </a:lnSpc>
              <a:buNone/>
            </a:pPr>
            <a:r>
              <a:rPr lang="en-GB" sz="1400" dirty="0">
                <a:solidFill>
                  <a:srgbClr val="FFFFFF"/>
                </a:solidFill>
                <a:latin typeface="Inter SemiBold Text SemiBold" pitchFamily="34" charset="0"/>
                <a:ea typeface="Inter SemiBold Text SemiBold" pitchFamily="34" charset="-122"/>
                <a:cs typeface="Inter SemiBold Text SemiBold" pitchFamily="34" charset="-120"/>
              </a:rPr>
              <a:t>Svante Schubert</a:t>
            </a:r>
          </a:p>
          <a:p>
            <a:pPr marL="0" indent="0" algn="l">
              <a:lnSpc>
                <a:spcPct val="105000"/>
              </a:lnSpc>
              <a:buNone/>
            </a:pPr>
            <a:r>
              <a:rPr lang="en-GB" sz="1200" dirty="0">
                <a:solidFill>
                  <a:srgbClr val="C4D2F4"/>
                </a:solidFill>
                <a:latin typeface="Inter Text" pitchFamily="34" charset="0"/>
                <a:ea typeface="Inter Text" pitchFamily="34" charset="-122"/>
                <a:cs typeface="Inter Text" pitchFamily="34" charset="-120"/>
              </a:rPr>
              <a:t>Editor of the syntax bindings · CEN/TC 434 WG3 · for DIN</a:t>
            </a:r>
          </a:p>
        </p:txBody>
      </p:sp>
      <p:sp>
        <p:nvSpPr>
          <p:cNvPr id="11" name="QR Card pdf"/>
          <p:cNvSpPr/>
          <p:nvPr/>
        </p:nvSpPr>
        <p:spPr>
          <a:xfrm>
            <a:off x="9537192" y="2359152"/>
            <a:ext cx="1828800" cy="1828800"/>
          </a:xfrm>
          <a:prstGeom prst="roundRect">
            <a:avLst>
              <a:gd name="adj" fmla="val 6000"/>
            </a:avLst>
          </a:prstGeom>
          <a:solidFill>
            <a:srgbClr val="FFFFFF"/>
          </a:solidFill>
          <a:ln>
            <a:noFill/>
          </a:ln>
          <a:effectLst>
            <a:outerShdw blurRad="101600" dist="38100" dir="5400000" algn="bl" rotWithShape="0">
              <a:srgbClr val="0A1230">
                <a:alpha val="30000"/>
              </a:srgbClr>
            </a:outerShdw>
          </a:effectLst>
        </p:spPr>
        <p:txBody>
          <a:bodyPr/>
          <a:lstStyle/>
          <a:p>
            <a:endParaRPr lang="en-GB"/>
          </a:p>
        </p:txBody>
      </p:sp>
      <p:pic>
        <p:nvPicPr>
          <p:cNvPr id="12" name="QR Slides pdf" descr="QR code: slides as PDF (https://svanteschubert.github.io/testy/ZUGFeRD_Entwicklertage_2026_SvanteSchubert_Syntax-Binding_EN.pdf)">
            <a:hlinkClick r:id="rId9"/>
          </p:cNvPr>
          <p:cNvPicPr>
            <a:picLocks noChangeAspect="1"/>
          </p:cNvPicPr>
          <p:nvPr/>
        </p:nvPicPr>
        <p:blipFill>
          <a:blip r:embed="rId8"/>
          <a:stretch>
            <a:fillRect/>
          </a:stretch>
        </p:blipFill>
        <p:spPr>
          <a:xfrm>
            <a:off x="9610344" y="2432304"/>
            <a:ext cx="1682496" cy="1682496"/>
          </a:xfrm>
          <a:prstGeom prst="rect">
            <a:avLst/>
          </a:prstGeom>
        </p:spPr>
      </p:pic>
      <p:sp>
        <p:nvSpPr>
          <p:cNvPr id="13" name="QR Caption pdf">
            <a:hlinkClick r:id="rId9"/>
          </p:cNvPr>
          <p:cNvSpPr txBox="1"/>
          <p:nvPr/>
        </p:nvSpPr>
        <p:spPr>
          <a:xfrm>
            <a:off x="9171432" y="4242816"/>
            <a:ext cx="2560320" cy="256032"/>
          </a:xfrm>
          <a:prstGeom prst="rect">
            <a:avLst/>
          </a:prstGeom>
          <a:noFill/>
          <a:ln/>
        </p:spPr>
        <p:txBody>
          <a:bodyPr wrap="square" lIns="0" tIns="0" rIns="0" bIns="0" rtlCol="0" anchor="ctr"/>
          <a:lstStyle/>
          <a:p>
            <a:pPr marL="0" indent="0" algn="ctr">
              <a:buNone/>
            </a:pPr>
            <a:r>
              <a:rPr lang="en-GB" sz="1000" spc="100" dirty="0">
                <a:solidFill>
                  <a:srgbClr val="C4D2F4"/>
                </a:solidFill>
                <a:latin typeface="Inter Medium Text Medium" pitchFamily="34" charset="0"/>
                <a:ea typeface="Inter Medium Text Medium" pitchFamily="34" charset="-122"/>
                <a:cs typeface="Inter Medium Text Medium" pitchFamily="34" charset="-120"/>
              </a:rPr>
              <a:t>Slides as PDF</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Folie 31">
    <p:bg>
      <p:bgPr>
        <a:solidFill>
          <a:srgbClr val="F4F6FB"/>
        </a:solidFill>
        <a:effectLst/>
      </p:bgPr>
    </p:bg>
    <p:spTree>
      <p:nvGrpSpPr>
        <p:cNvPr id="1" name=""/>
        <p:cNvGrpSpPr/>
        <p:nvPr/>
      </p:nvGrpSpPr>
      <p:grpSpPr>
        <a:xfrm>
          <a:off x="0" y="0"/>
          <a:ext cx="0" cy="0"/>
          <a:chOff x="0" y="0"/>
          <a:chExt cx="0" cy="0"/>
        </a:xfrm>
      </p:grpSpPr>
      <p:sp>
        <p:nvSpPr>
          <p:cNvPr id="3" name="Header 3"/>
          <p:cNvSpPr txBox="1"/>
          <p:nvPr/>
        </p:nvSpPr>
        <p:spPr>
          <a:xfrm>
            <a:off x="822960" y="384048"/>
            <a:ext cx="7315200" cy="274320"/>
          </a:xfrm>
          <a:prstGeom prst="rect">
            <a:avLst/>
          </a:prstGeom>
          <a:noFill/>
          <a:ln/>
        </p:spPr>
        <p:txBody>
          <a:bodyPr wrap="square" lIns="0" tIns="0" rIns="0" bIns="0" rtlCol="0" anchor="ctr"/>
          <a:lstStyle/>
          <a:p>
            <a:pPr marL="0" indent="0" algn="l">
              <a:buNone/>
            </a:pPr>
            <a:r>
              <a:rPr lang="en-GB" sz="950" spc="100" dirty="0">
                <a:solidFill>
                  <a:srgbClr val="5B6890"/>
                </a:solidFill>
                <a:latin typeface="Inter Medium Text Medium" pitchFamily="34" charset="0"/>
                <a:ea typeface="Inter Medium Text Medium" pitchFamily="34" charset="-122"/>
                <a:cs typeface="Inter Medium Text Medium" pitchFamily="34" charset="-120"/>
              </a:rPr>
              <a:t>CEN/TC 434 WG1</a:t>
            </a:r>
            <a:r>
              <a:rPr lang="en-GB" sz="950" spc="100" dirty="0">
                <a:solidFill>
                  <a:srgbClr val="C2CADE"/>
                </a:solidFill>
                <a:latin typeface="Inter Text" pitchFamily="34" charset="0"/>
                <a:ea typeface="Inter Text" pitchFamily="34" charset="-122"/>
                <a:cs typeface="Inter Text" pitchFamily="34" charset="-120"/>
              </a:rPr>
              <a:t>   ·   </a:t>
            </a:r>
            <a:r>
              <a:rPr lang="en-GB" sz="950" spc="100" dirty="0">
                <a:solidFill>
                  <a:srgbClr val="9AA4C2"/>
                </a:solidFill>
                <a:latin typeface="Inter Text" pitchFamily="34" charset="0"/>
                <a:ea typeface="Inter Text" pitchFamily="34" charset="-122"/>
                <a:cs typeface="Inter Text" pitchFamily="34" charset="-120"/>
              </a:rPr>
              <a:t>EN 16931-1:2026 amendment · Gross prices and rounding</a:t>
            </a:r>
          </a:p>
        </p:txBody>
      </p:sp>
      <p:sp>
        <p:nvSpPr>
          <p:cNvPr id="4" name="SectionLabel 4"/>
          <p:cNvSpPr txBox="1"/>
          <p:nvPr/>
        </p:nvSpPr>
        <p:spPr>
          <a:xfrm>
            <a:off x="822960" y="868680"/>
            <a:ext cx="8229600" cy="274320"/>
          </a:xfrm>
          <a:prstGeom prst="rect">
            <a:avLst/>
          </a:prstGeom>
          <a:noFill/>
          <a:ln/>
        </p:spPr>
        <p:txBody>
          <a:bodyPr wrap="square" lIns="0" tIns="0" rIns="0" bIns="0" rtlCol="0" anchor="ctr"/>
          <a:lstStyle/>
          <a:p>
            <a:pPr marL="0" indent="0" algn="l">
              <a:buNone/>
            </a:pPr>
            <a:r>
              <a:rPr lang="en-GB" sz="1100" spc="300" dirty="0">
                <a:solidFill>
                  <a:srgbClr val="19C3C8"/>
                </a:solidFill>
                <a:latin typeface="Inter SemiBold Text SemiBold" pitchFamily="34" charset="0"/>
                <a:ea typeface="Inter SemiBold Text SemiBold" pitchFamily="34" charset="-122"/>
                <a:cs typeface="Inter SemiBold Text SemiBold" pitchFamily="34" charset="-120"/>
              </a:rPr>
              <a:t>COMMON GROUND</a:t>
            </a:r>
          </a:p>
        </p:txBody>
      </p:sp>
      <p:sp>
        <p:nvSpPr>
          <p:cNvPr id="5" name="Title 5"/>
          <p:cNvSpPr txBox="1"/>
          <p:nvPr/>
        </p:nvSpPr>
        <p:spPr>
          <a:xfrm>
            <a:off x="804672" y="1115568"/>
            <a:ext cx="10424160" cy="822960"/>
          </a:xfrm>
          <a:prstGeom prst="rect">
            <a:avLst/>
          </a:prstGeom>
          <a:noFill/>
          <a:ln/>
        </p:spPr>
        <p:txBody>
          <a:bodyPr wrap="square" lIns="0" tIns="0" rIns="0" bIns="0" rtlCol="0" anchor="t"/>
          <a:lstStyle/>
          <a:p>
            <a:pPr marL="0" indent="0" algn="l">
              <a:buNone/>
            </a:pPr>
            <a:r>
              <a:rPr lang="en-GB" sz="3800" b="1" dirty="0">
                <a:solidFill>
                  <a:srgbClr val="1A2B5E"/>
                </a:solidFill>
                <a:latin typeface="Inter Text" pitchFamily="34" charset="0"/>
                <a:ea typeface="Inter Text" pitchFamily="34" charset="-122"/>
                <a:cs typeface="Inter Text" pitchFamily="34" charset="-120"/>
              </a:rPr>
              <a:t>What we all want</a:t>
            </a:r>
          </a:p>
        </p:txBody>
      </p:sp>
      <p:sp>
        <p:nvSpPr>
          <p:cNvPr id="6" name="Tagline 6"/>
          <p:cNvSpPr txBox="1"/>
          <p:nvPr/>
        </p:nvSpPr>
        <p:spPr>
          <a:xfrm>
            <a:off x="822960" y="1865376"/>
            <a:ext cx="10424160" cy="320040"/>
          </a:xfrm>
          <a:prstGeom prst="rect">
            <a:avLst/>
          </a:prstGeom>
          <a:noFill/>
          <a:ln/>
        </p:spPr>
        <p:txBody>
          <a:bodyPr wrap="square" lIns="0" tIns="0" rIns="0" bIns="0" rtlCol="0" anchor="ctr"/>
          <a:lstStyle/>
          <a:p>
            <a:pPr marL="0" indent="0" algn="l">
              <a:buNone/>
            </a:pPr>
            <a:r>
              <a:rPr lang="en-GB" sz="1300" dirty="0">
                <a:solidFill>
                  <a:srgbClr val="5B6890"/>
                </a:solidFill>
                <a:latin typeface="Inter Text" pitchFamily="34" charset="0"/>
                <a:ea typeface="Inter Text" pitchFamily="34" charset="-122"/>
                <a:cs typeface="Inter Text" pitchFamily="34" charset="-120"/>
              </a:rPr>
              <a:t>In the end, we all want accurate data — and these goals do not exclude each other.</a:t>
            </a:r>
          </a:p>
        </p:txBody>
      </p:sp>
      <p:sp>
        <p:nvSpPr>
          <p:cNvPr id="7" name="PageNum 7"/>
          <p:cNvSpPr txBox="1"/>
          <p:nvPr/>
        </p:nvSpPr>
        <p:spPr>
          <a:xfrm>
            <a:off x="10908792" y="6514592"/>
            <a:ext cx="822960" cy="292608"/>
          </a:xfrm>
          <a:prstGeom prst="rect">
            <a:avLst/>
          </a:prstGeom>
          <a:noFill/>
          <a:ln/>
        </p:spPr>
        <p:txBody>
          <a:bodyPr wrap="square" lIns="0" tIns="0" rIns="0" bIns="0" rtlCol="0" anchor="ctr"/>
          <a:lstStyle/>
          <a:p>
            <a:pPr marL="0" indent="0" algn="r">
              <a:buNone/>
            </a:pPr>
            <a:fld id="{67D73E2F-A595-473C-9F0C-80BA506D5B08}" type="slidenum">
              <a:rPr lang="en-GB" sz="1000" spc="200" dirty="0">
                <a:solidFill>
                  <a:srgbClr val="5B6890"/>
                </a:solidFill>
                <a:latin typeface="Inter SemiBold Text SemiBold" pitchFamily="34" charset="0"/>
                <a:ea typeface="Inter SemiBold Text SemiBold" pitchFamily="34" charset="-122"/>
                <a:cs typeface="Inter SemiBold Text SemiBold" pitchFamily="34" charset="-120"/>
              </a:rPr>
              <a:t>2</a:t>
            </a:fld>
            <a:endParaRPr lang="en-GB" sz="1000" spc="200" dirty="0">
              <a:solidFill>
                <a:srgbClr val="5B6890"/>
              </a:solidFill>
              <a:latin typeface="Inter SemiBold Text SemiBold" pitchFamily="34" charset="0"/>
              <a:ea typeface="Inter SemiBold Text SemiBold" pitchFamily="34" charset="-122"/>
              <a:cs typeface="Inter SemiBold Text SemiBold" pitchFamily="34" charset="-120"/>
            </a:endParaRPr>
          </a:p>
        </p:txBody>
      </p:sp>
      <p:sp>
        <p:nvSpPr>
          <p:cNvPr id="8" name="Card 8"/>
          <p:cNvSpPr/>
          <p:nvPr/>
        </p:nvSpPr>
        <p:spPr>
          <a:xfrm>
            <a:off x="822960" y="2331720"/>
            <a:ext cx="5166360" cy="1691640"/>
          </a:xfrm>
          <a:prstGeom prst="roundRect">
            <a:avLst>
              <a:gd name="adj" fmla="val 4324"/>
            </a:avLst>
          </a:prstGeom>
          <a:solidFill>
            <a:srgbClr val="FFFFFF"/>
          </a:solidFill>
          <a:ln w="12700">
            <a:solidFill>
              <a:srgbClr val="E2E7F2"/>
            </a:solidFill>
            <a:prstDash val="solid"/>
          </a:ln>
          <a:effectLst>
            <a:outerShdw blurRad="101600" dist="38100" dir="5400000" algn="bl" rotWithShape="0">
              <a:srgbClr val="0A1230">
                <a:alpha val="8000"/>
              </a:srgbClr>
            </a:outerShdw>
          </a:effectLst>
        </p:spPr>
        <p:txBody>
          <a:bodyPr/>
          <a:lstStyle/>
          <a:p>
            <a:endParaRPr lang="en-GB"/>
          </a:p>
        </p:txBody>
      </p:sp>
      <p:sp>
        <p:nvSpPr>
          <p:cNvPr id="9" name="IconCircle 9"/>
          <p:cNvSpPr/>
          <p:nvPr/>
        </p:nvSpPr>
        <p:spPr>
          <a:xfrm>
            <a:off x="1060704" y="2532888"/>
            <a:ext cx="402336" cy="402336"/>
          </a:xfrm>
          <a:prstGeom prst="ellipse">
            <a:avLst/>
          </a:prstGeom>
          <a:solidFill>
            <a:srgbClr val="19C3C8"/>
          </a:solidFill>
          <a:ln>
            <a:noFill/>
          </a:ln>
          <a:effectLst>
            <a:outerShdw blurRad="88900" dist="38100" dir="5400000" algn="bl" rotWithShape="0">
              <a:srgbClr val="0A1230">
                <a:alpha val="18000"/>
              </a:srgbClr>
            </a:outerShdw>
          </a:effectLst>
        </p:spPr>
        <p:txBody>
          <a:bodyPr/>
          <a:lstStyle/>
          <a:p>
            <a:endParaRPr lang="en-GB"/>
          </a:p>
        </p:txBody>
      </p:sp>
      <p:pic>
        <p:nvPicPr>
          <p:cNvPr id="10" name="Icon 10"/>
          <p:cNvPicPr>
            <a:picLocks noChangeAspect="1"/>
          </p:cNvPicPr>
          <p:nvPr/>
        </p:nvPicPr>
        <p:blipFill>
          <a:blip r:embed="rId3"/>
          <a:stretch>
            <a:fillRect/>
          </a:stretch>
        </p:blipFill>
        <p:spPr>
          <a:xfrm>
            <a:off x="1171346" y="2643530"/>
            <a:ext cx="181051" cy="181051"/>
          </a:xfrm>
          <a:prstGeom prst="rect">
            <a:avLst/>
          </a:prstGeom>
        </p:spPr>
      </p:pic>
      <p:sp>
        <p:nvSpPr>
          <p:cNvPr id="11" name="Text 11"/>
          <p:cNvSpPr txBox="1"/>
          <p:nvPr/>
        </p:nvSpPr>
        <p:spPr>
          <a:xfrm>
            <a:off x="1600200" y="2514600"/>
            <a:ext cx="4206240" cy="438912"/>
          </a:xfrm>
          <a:prstGeom prst="rect">
            <a:avLst/>
          </a:prstGeom>
          <a:noFill/>
          <a:ln/>
        </p:spPr>
        <p:txBody>
          <a:bodyPr wrap="square" lIns="0" tIns="0" rIns="0" bIns="0" rtlCol="0" anchor="ctr"/>
          <a:lstStyle/>
          <a:p>
            <a:pPr marL="0" indent="0" algn="l">
              <a:buNone/>
            </a:pPr>
            <a:r>
              <a:rPr lang="en-GB" sz="1500" dirty="0">
                <a:solidFill>
                  <a:srgbClr val="1A2B5E"/>
                </a:solidFill>
                <a:latin typeface="Inter SemiBold Text SemiBold" pitchFamily="34" charset="0"/>
                <a:ea typeface="Inter SemiBold Text SemiBold" pitchFamily="34" charset="-122"/>
                <a:cs typeface="Inter SemiBold Text SemiBold" pitchFamily="34" charset="-120"/>
              </a:rPr>
              <a:t>Correct VAT, to the cent</a:t>
            </a:r>
          </a:p>
        </p:txBody>
      </p:sp>
      <p:sp>
        <p:nvSpPr>
          <p:cNvPr id="12" name="Text 12"/>
          <p:cNvSpPr txBox="1"/>
          <p:nvPr/>
        </p:nvSpPr>
        <p:spPr>
          <a:xfrm>
            <a:off x="1133856" y="2990088"/>
            <a:ext cx="4663440" cy="1005840"/>
          </a:xfrm>
          <a:prstGeom prst="rect">
            <a:avLst/>
          </a:prstGeom>
          <a:noFill/>
          <a:ln/>
        </p:spPr>
        <p:txBody>
          <a:bodyPr wrap="square" lIns="0" tIns="0" rIns="0" bIns="0" rtlCol="0" anchor="t"/>
          <a:lstStyle/>
          <a:p>
            <a:pPr marL="164592" indent="-164592" algn="l">
              <a:spcAft>
                <a:spcPts val="200"/>
              </a:spcAft>
              <a:buSzPct val="100000"/>
              <a:buChar char="•"/>
            </a:pPr>
            <a:r>
              <a:rPr lang="en-GB" sz="1200" dirty="0">
                <a:solidFill>
                  <a:srgbClr val="5B6890"/>
                </a:solidFill>
                <a:latin typeface="Inter Text" pitchFamily="34" charset="0"/>
                <a:ea typeface="Inter Text" pitchFamily="34" charset="-122"/>
                <a:cs typeface="Inter Text" pitchFamily="34" charset="-120"/>
              </a:rPr>
              <a:t>Every invoice reproduces the agreed price</a:t>
            </a:r>
          </a:p>
          <a:p>
            <a:pPr marL="164592" indent="-164592" algn="l">
              <a:spcAft>
                <a:spcPts val="200"/>
              </a:spcAft>
              <a:buSzPct val="100000"/>
              <a:buChar char="•"/>
            </a:pPr>
            <a:r>
              <a:rPr lang="en-GB" sz="1200" dirty="0">
                <a:solidFill>
                  <a:srgbClr val="5B6890"/>
                </a:solidFill>
                <a:latin typeface="Inter Text" pitchFamily="34" charset="0"/>
                <a:ea typeface="Inter Text" pitchFamily="34" charset="-122"/>
                <a:cs typeface="Inter Text" pitchFamily="34" charset="-120"/>
              </a:rPr>
              <a:t>VAT exact to the cent, as tax law requires</a:t>
            </a:r>
          </a:p>
          <a:p>
            <a:pPr marL="164592" indent="-164592" algn="l">
              <a:spcAft>
                <a:spcPts val="200"/>
              </a:spcAft>
              <a:buSzPct val="100000"/>
              <a:buChar char="•"/>
            </a:pPr>
            <a:r>
              <a:rPr lang="en-GB" sz="1200" dirty="0">
                <a:solidFill>
                  <a:srgbClr val="5B6890"/>
                </a:solidFill>
                <a:latin typeface="Inter Text" pitchFamily="34" charset="0"/>
                <a:ea typeface="Inter Text" pitchFamily="34" charset="-122"/>
                <a:cs typeface="Inter Text" pitchFamily="34" charset="-120"/>
              </a:rPr>
              <a:t>“Accounting is 100% correct or it is not” (</a:t>
            </a:r>
            <a:r>
              <a:rPr lang="en-GB" sz="1200" dirty="0">
                <a:solidFill>
                  <a:srgbClr val="5B6890"/>
                </a:solidFill>
                <a:latin typeface="Inter Text" pitchFamily="34" charset="0"/>
                <a:ea typeface="Inter Text" pitchFamily="34" charset="-122"/>
                <a:cs typeface="Inter Text" pitchFamily="34" charset="-120"/>
                <a:hlinkClick r:id="rId6">
                  <a:extLst>
                    <a:ext uri="{A12FA001-AC4F-418D-AE19-62706E023703}">
                      <ahyp:hlinkClr xmlns:ahyp="http://schemas.microsoft.com/office/drawing/2018/hyperlinkcolor" val="tx"/>
                    </a:ext>
                  </a:extLst>
                </a:hlinkClick>
              </a:rPr>
              <a:t>Paul Simons</a:t>
            </a:r>
            <a:r>
              <a:rPr lang="en-GB" sz="1200" dirty="0">
                <a:solidFill>
                  <a:srgbClr val="5B6890"/>
                </a:solidFill>
                <a:latin typeface="Inter Text" pitchFamily="34" charset="0"/>
                <a:ea typeface="Inter Text" pitchFamily="34" charset="-122"/>
                <a:cs typeface="Inter Text" pitchFamily="34" charset="-120"/>
              </a:rPr>
              <a:t>)</a:t>
            </a:r>
          </a:p>
        </p:txBody>
      </p:sp>
      <p:sp>
        <p:nvSpPr>
          <p:cNvPr id="13" name="Card 13"/>
          <p:cNvSpPr/>
          <p:nvPr/>
        </p:nvSpPr>
        <p:spPr>
          <a:xfrm>
            <a:off x="822960" y="4160520"/>
            <a:ext cx="5166360" cy="1645920"/>
          </a:xfrm>
          <a:prstGeom prst="roundRect">
            <a:avLst>
              <a:gd name="adj" fmla="val 4444"/>
            </a:avLst>
          </a:prstGeom>
          <a:solidFill>
            <a:srgbClr val="FFFFFF"/>
          </a:solidFill>
          <a:ln w="12700">
            <a:solidFill>
              <a:srgbClr val="E2E7F2"/>
            </a:solidFill>
            <a:prstDash val="solid"/>
          </a:ln>
          <a:effectLst>
            <a:outerShdw blurRad="101600" dist="38100" dir="5400000" algn="bl" rotWithShape="0">
              <a:srgbClr val="0A1230">
                <a:alpha val="8000"/>
              </a:srgbClr>
            </a:outerShdw>
          </a:effectLst>
        </p:spPr>
        <p:txBody>
          <a:bodyPr/>
          <a:lstStyle/>
          <a:p>
            <a:endParaRPr lang="en-GB"/>
          </a:p>
        </p:txBody>
      </p:sp>
      <p:sp>
        <p:nvSpPr>
          <p:cNvPr id="14" name="IconCircle 14"/>
          <p:cNvSpPr/>
          <p:nvPr/>
        </p:nvSpPr>
        <p:spPr>
          <a:xfrm>
            <a:off x="1060704" y="4361688"/>
            <a:ext cx="402336" cy="402336"/>
          </a:xfrm>
          <a:prstGeom prst="ellipse">
            <a:avLst/>
          </a:prstGeom>
          <a:solidFill>
            <a:srgbClr val="1A2B5E"/>
          </a:solidFill>
          <a:ln>
            <a:noFill/>
          </a:ln>
          <a:effectLst>
            <a:outerShdw blurRad="88900" dist="38100" dir="5400000" algn="bl" rotWithShape="0">
              <a:srgbClr val="0A1230">
                <a:alpha val="18000"/>
              </a:srgbClr>
            </a:outerShdw>
          </a:effectLst>
        </p:spPr>
        <p:txBody>
          <a:bodyPr/>
          <a:lstStyle/>
          <a:p>
            <a:endParaRPr lang="en-GB"/>
          </a:p>
        </p:txBody>
      </p:sp>
      <p:pic>
        <p:nvPicPr>
          <p:cNvPr id="15" name="Icon 15"/>
          <p:cNvPicPr>
            <a:picLocks noChangeAspect="1"/>
          </p:cNvPicPr>
          <p:nvPr/>
        </p:nvPicPr>
        <p:blipFill>
          <a:blip r:embed="rId4"/>
          <a:stretch>
            <a:fillRect/>
          </a:stretch>
        </p:blipFill>
        <p:spPr>
          <a:xfrm>
            <a:off x="1171346" y="4472330"/>
            <a:ext cx="181051" cy="181051"/>
          </a:xfrm>
          <a:prstGeom prst="rect">
            <a:avLst/>
          </a:prstGeom>
        </p:spPr>
      </p:pic>
      <p:sp>
        <p:nvSpPr>
          <p:cNvPr id="16" name="Text 16"/>
          <p:cNvSpPr txBox="1"/>
          <p:nvPr/>
        </p:nvSpPr>
        <p:spPr>
          <a:xfrm>
            <a:off x="1600200" y="4343400"/>
            <a:ext cx="4206240" cy="438912"/>
          </a:xfrm>
          <a:prstGeom prst="rect">
            <a:avLst/>
          </a:prstGeom>
          <a:noFill/>
          <a:ln/>
        </p:spPr>
        <p:txBody>
          <a:bodyPr wrap="square" lIns="0" tIns="0" rIns="0" bIns="0" rtlCol="0" anchor="ctr"/>
          <a:lstStyle/>
          <a:p>
            <a:pPr marL="0" indent="0" algn="l">
              <a:buNone/>
            </a:pPr>
            <a:r>
              <a:rPr lang="en-GB" sz="1500" dirty="0">
                <a:solidFill>
                  <a:srgbClr val="1A2B5E"/>
                </a:solidFill>
                <a:latin typeface="Inter SemiBold Text SemiBold" pitchFamily="34" charset="0"/>
                <a:ea typeface="Inter SemiBold Text SemiBold" pitchFamily="34" charset="-122"/>
                <a:cs typeface="Inter SemiBold Text SemiBold" pitchFamily="34" charset="-120"/>
              </a:rPr>
              <a:t>Working software keeps working</a:t>
            </a:r>
          </a:p>
        </p:txBody>
      </p:sp>
      <p:sp>
        <p:nvSpPr>
          <p:cNvPr id="17" name="Text 17"/>
          <p:cNvSpPr txBox="1"/>
          <p:nvPr/>
        </p:nvSpPr>
        <p:spPr>
          <a:xfrm>
            <a:off x="1133856" y="4818888"/>
            <a:ext cx="4663440" cy="960120"/>
          </a:xfrm>
          <a:prstGeom prst="rect">
            <a:avLst/>
          </a:prstGeom>
          <a:noFill/>
          <a:ln/>
        </p:spPr>
        <p:txBody>
          <a:bodyPr wrap="square" lIns="0" tIns="0" rIns="0" bIns="0" rtlCol="0" anchor="t"/>
          <a:lstStyle/>
          <a:p>
            <a:pPr marL="164592" indent="-164592" algn="l">
              <a:spcAft>
                <a:spcPts val="200"/>
              </a:spcAft>
              <a:buSzPct val="100000"/>
              <a:buChar char="•"/>
            </a:pPr>
            <a:r>
              <a:rPr lang="en-GB" sz="1200" dirty="0">
                <a:solidFill>
                  <a:srgbClr val="5B6890"/>
                </a:solidFill>
                <a:latin typeface="Inter Text" pitchFamily="34" charset="0"/>
                <a:ea typeface="Inter Text" pitchFamily="34" charset="-122"/>
                <a:cs typeface="Inter Text" pitchFamily="34" charset="-120"/>
              </a:rPr>
              <a:t>Invoices with 2 decimal places stay conformant</a:t>
            </a:r>
          </a:p>
          <a:p>
            <a:pPr marL="164592" indent="-164592" algn="l">
              <a:spcAft>
                <a:spcPts val="200"/>
              </a:spcAft>
              <a:buSzPct val="100000"/>
              <a:buChar char="•"/>
            </a:pPr>
            <a:r>
              <a:rPr lang="en-GB" sz="1200" dirty="0">
                <a:solidFill>
                  <a:srgbClr val="5B6890"/>
                </a:solidFill>
                <a:latin typeface="Inter Text" pitchFamily="34" charset="0"/>
                <a:ea typeface="Inter Text" pitchFamily="34" charset="-122"/>
                <a:cs typeface="Inter Text" pitchFamily="34" charset="-120"/>
              </a:rPr>
              <a:t>“Not to force companies” (</a:t>
            </a:r>
            <a:r>
              <a:rPr lang="en-GB" sz="1200" dirty="0">
                <a:solidFill>
                  <a:srgbClr val="5B6890"/>
                </a:solidFill>
                <a:latin typeface="Inter Text" pitchFamily="34" charset="0"/>
                <a:ea typeface="Inter Text" pitchFamily="34" charset="-122"/>
                <a:cs typeface="Inter Text" pitchFamily="34" charset="-120"/>
                <a:hlinkClick r:id="rId7">
                  <a:extLst>
                    <a:ext uri="{A12FA001-AC4F-418D-AE19-62706E023703}">
                      <ahyp:hlinkClr xmlns:ahyp="http://schemas.microsoft.com/office/drawing/2018/hyperlinkcolor" val="tx"/>
                    </a:ext>
                  </a:extLst>
                </a:hlinkClick>
              </a:rPr>
              <a:t>Cyrille Sautereau</a:t>
            </a:r>
            <a:r>
              <a:rPr lang="en-GB" sz="1200" dirty="0">
                <a:solidFill>
                  <a:srgbClr val="5B6890"/>
                </a:solidFill>
                <a:latin typeface="Inter Text" pitchFamily="34" charset="0"/>
                <a:ea typeface="Inter Text" pitchFamily="34" charset="-122"/>
                <a:cs typeface="Inter Text" pitchFamily="34" charset="-120"/>
              </a:rPr>
              <a:t>)</a:t>
            </a:r>
          </a:p>
          <a:p>
            <a:pPr marL="164592" indent="-164592" algn="l">
              <a:spcAft>
                <a:spcPts val="200"/>
              </a:spcAft>
              <a:buSzPct val="100000"/>
              <a:buChar char="•"/>
            </a:pPr>
            <a:r>
              <a:rPr lang="en-GB" sz="1200" dirty="0">
                <a:solidFill>
                  <a:srgbClr val="5B6890"/>
                </a:solidFill>
                <a:latin typeface="Inter Text" pitchFamily="34" charset="0"/>
                <a:ea typeface="Inter Text" pitchFamily="34" charset="-122"/>
                <a:cs typeface="Inter Text" pitchFamily="34" charset="-120"/>
                <a:hlinkClick r:id="rId8">
                  <a:extLst>
                    <a:ext uri="{A12FA001-AC4F-418D-AE19-62706E023703}">
                      <ahyp:hlinkClr xmlns:ahyp="http://schemas.microsoft.com/office/drawing/2018/hyperlinkcolor" val="tx"/>
                    </a:ext>
                  </a:extLst>
                </a:hlinkClick>
              </a:rPr>
              <a:t>5 million companies in France, 1.2 million in Belgium</a:t>
            </a:r>
          </a:p>
        </p:txBody>
      </p:sp>
      <p:sp>
        <p:nvSpPr>
          <p:cNvPr id="18" name="Panel 18"/>
          <p:cNvSpPr/>
          <p:nvPr/>
        </p:nvSpPr>
        <p:spPr>
          <a:xfrm>
            <a:off x="6172200" y="2331720"/>
            <a:ext cx="5193792" cy="3474720"/>
          </a:xfrm>
          <a:prstGeom prst="roundRect">
            <a:avLst>
              <a:gd name="adj" fmla="val 2631"/>
            </a:avLst>
          </a:prstGeom>
          <a:solidFill>
            <a:srgbClr val="1A2B5E"/>
          </a:solidFill>
          <a:ln>
            <a:noFill/>
          </a:ln>
          <a:effectLst>
            <a:outerShdw blurRad="101600" dist="38100" dir="5400000" algn="bl" rotWithShape="0">
              <a:srgbClr val="0A1230">
                <a:alpha val="18000"/>
              </a:srgbClr>
            </a:outerShdw>
          </a:effectLst>
        </p:spPr>
        <p:txBody>
          <a:bodyPr/>
          <a:lstStyle/>
          <a:p>
            <a:endParaRPr lang="en-GB"/>
          </a:p>
        </p:txBody>
      </p:sp>
      <p:sp>
        <p:nvSpPr>
          <p:cNvPr id="19" name="Text 19"/>
          <p:cNvSpPr txBox="1"/>
          <p:nvPr/>
        </p:nvSpPr>
        <p:spPr>
          <a:xfrm>
            <a:off x="6492240" y="2514600"/>
            <a:ext cx="4572000" cy="274320"/>
          </a:xfrm>
          <a:prstGeom prst="rect">
            <a:avLst/>
          </a:prstGeom>
          <a:noFill/>
          <a:ln/>
        </p:spPr>
        <p:txBody>
          <a:bodyPr wrap="square" lIns="0" tIns="0" rIns="0" bIns="0" rtlCol="0" anchor="ctr"/>
          <a:lstStyle/>
          <a:p>
            <a:pPr marL="0" indent="0" algn="l">
              <a:buNone/>
            </a:pPr>
            <a:r>
              <a:rPr lang="en-GB" sz="1100" spc="300" dirty="0">
                <a:solidFill>
                  <a:srgbClr val="19C3C8"/>
                </a:solidFill>
                <a:latin typeface="Inter SemiBold Text SemiBold" pitchFamily="34" charset="0"/>
                <a:ea typeface="Inter SemiBold Text SemiBold" pitchFamily="34" charset="-122"/>
                <a:cs typeface="Inter SemiBold Text SemiBold" pitchFamily="34" charset="-120"/>
              </a:rPr>
              <a:t>A STABLE STANDARD</a:t>
            </a:r>
          </a:p>
        </p:txBody>
      </p:sp>
      <p:sp>
        <p:nvSpPr>
          <p:cNvPr id="20" name="Shape 20"/>
          <p:cNvSpPr/>
          <p:nvPr/>
        </p:nvSpPr>
        <p:spPr>
          <a:xfrm>
            <a:off x="6492240" y="2944368"/>
            <a:ext cx="292608" cy="292608"/>
          </a:xfrm>
          <a:prstGeom prst="ellipse">
            <a:avLst/>
          </a:prstGeom>
          <a:solidFill>
            <a:srgbClr val="19C3C8"/>
          </a:solidFill>
          <a:ln>
            <a:noFill/>
          </a:ln>
        </p:spPr>
        <p:txBody>
          <a:bodyPr/>
          <a:lstStyle/>
          <a:p>
            <a:endParaRPr lang="en-GB"/>
          </a:p>
        </p:txBody>
      </p:sp>
      <p:sp>
        <p:nvSpPr>
          <p:cNvPr id="21" name="Text 21"/>
          <p:cNvSpPr txBox="1"/>
          <p:nvPr/>
        </p:nvSpPr>
        <p:spPr>
          <a:xfrm>
            <a:off x="6492240" y="2944368"/>
            <a:ext cx="292608" cy="292608"/>
          </a:xfrm>
          <a:prstGeom prst="rect">
            <a:avLst/>
          </a:prstGeom>
          <a:noFill/>
          <a:ln/>
        </p:spPr>
        <p:txBody>
          <a:bodyPr wrap="square" lIns="0" tIns="0" rIns="0" bIns="0" rtlCol="0" anchor="ctr"/>
          <a:lstStyle/>
          <a:p>
            <a:pPr marL="0" indent="0" algn="ctr">
              <a:buNone/>
            </a:pPr>
            <a:r>
              <a:rPr lang="en-GB" sz="1200" dirty="0">
                <a:solidFill>
                  <a:srgbClr val="1A2B5E"/>
                </a:solidFill>
                <a:latin typeface="Inter SemiBold Text SemiBold" pitchFamily="34" charset="0"/>
                <a:ea typeface="Inter SemiBold Text SemiBold" pitchFamily="34" charset="-122"/>
                <a:cs typeface="Inter SemiBold Text SemiBold" pitchFamily="34" charset="-120"/>
              </a:rPr>
              <a:t>✓</a:t>
            </a:r>
          </a:p>
        </p:txBody>
      </p:sp>
      <p:sp>
        <p:nvSpPr>
          <p:cNvPr id="22" name="Text 22"/>
          <p:cNvSpPr txBox="1"/>
          <p:nvPr/>
        </p:nvSpPr>
        <p:spPr>
          <a:xfrm>
            <a:off x="6949440" y="2880360"/>
            <a:ext cx="4251960" cy="420624"/>
          </a:xfrm>
          <a:prstGeom prst="rect">
            <a:avLst/>
          </a:prstGeom>
          <a:noFill/>
          <a:ln/>
        </p:spPr>
        <p:txBody>
          <a:bodyPr wrap="square" lIns="0" tIns="0" rIns="0" bIns="0" rtlCol="0" anchor="ctr"/>
          <a:lstStyle/>
          <a:p>
            <a:pPr marL="0" indent="0" algn="l">
              <a:lnSpc>
                <a:spcPct val="105000"/>
              </a:lnSpc>
              <a:buNone/>
            </a:pPr>
            <a:r>
              <a:rPr lang="en-GB" sz="1250" dirty="0">
                <a:solidFill>
                  <a:srgbClr val="FFFFFF"/>
                </a:solidFill>
                <a:latin typeface="Inter Text" pitchFamily="34" charset="0"/>
                <a:ea typeface="Inter Text" pitchFamily="34" charset="-122"/>
                <a:cs typeface="Inter Text" pitchFamily="34" charset="-120"/>
              </a:rPr>
              <a:t>The core is what every receiver accepts</a:t>
            </a:r>
          </a:p>
        </p:txBody>
      </p:sp>
      <p:sp>
        <p:nvSpPr>
          <p:cNvPr id="23" name="Shape 23"/>
          <p:cNvSpPr/>
          <p:nvPr/>
        </p:nvSpPr>
        <p:spPr>
          <a:xfrm>
            <a:off x="6492240" y="3511296"/>
            <a:ext cx="292608" cy="292608"/>
          </a:xfrm>
          <a:prstGeom prst="ellipse">
            <a:avLst/>
          </a:prstGeom>
          <a:solidFill>
            <a:srgbClr val="19C3C8"/>
          </a:solidFill>
          <a:ln>
            <a:noFill/>
          </a:ln>
        </p:spPr>
        <p:txBody>
          <a:bodyPr/>
          <a:lstStyle/>
          <a:p>
            <a:endParaRPr lang="en-GB"/>
          </a:p>
        </p:txBody>
      </p:sp>
      <p:sp>
        <p:nvSpPr>
          <p:cNvPr id="24" name="Text 24"/>
          <p:cNvSpPr txBox="1"/>
          <p:nvPr/>
        </p:nvSpPr>
        <p:spPr>
          <a:xfrm>
            <a:off x="6492240" y="3511296"/>
            <a:ext cx="292608" cy="292608"/>
          </a:xfrm>
          <a:prstGeom prst="rect">
            <a:avLst/>
          </a:prstGeom>
          <a:noFill/>
          <a:ln/>
        </p:spPr>
        <p:txBody>
          <a:bodyPr wrap="square" lIns="0" tIns="0" rIns="0" bIns="0" rtlCol="0" anchor="ctr"/>
          <a:lstStyle/>
          <a:p>
            <a:pPr marL="0" indent="0" algn="ctr">
              <a:buNone/>
            </a:pPr>
            <a:r>
              <a:rPr lang="en-GB" sz="1200" dirty="0">
                <a:solidFill>
                  <a:srgbClr val="1A2B5E"/>
                </a:solidFill>
                <a:latin typeface="Inter SemiBold Text SemiBold" pitchFamily="34" charset="0"/>
                <a:ea typeface="Inter SemiBold Text SemiBold" pitchFamily="34" charset="-122"/>
                <a:cs typeface="Inter SemiBold Text SemiBold" pitchFamily="34" charset="-120"/>
              </a:rPr>
              <a:t>✓</a:t>
            </a:r>
          </a:p>
        </p:txBody>
      </p:sp>
      <p:sp>
        <p:nvSpPr>
          <p:cNvPr id="25" name="Text 25"/>
          <p:cNvSpPr txBox="1"/>
          <p:nvPr/>
        </p:nvSpPr>
        <p:spPr>
          <a:xfrm>
            <a:off x="6949440" y="3447288"/>
            <a:ext cx="4251960" cy="420624"/>
          </a:xfrm>
          <a:prstGeom prst="rect">
            <a:avLst/>
          </a:prstGeom>
          <a:noFill/>
          <a:ln/>
        </p:spPr>
        <p:txBody>
          <a:bodyPr wrap="square" lIns="0" tIns="0" rIns="0" bIns="0" rtlCol="0" anchor="ctr"/>
          <a:lstStyle/>
          <a:p>
            <a:pPr marL="0" indent="0" algn="l">
              <a:lnSpc>
                <a:spcPct val="105000"/>
              </a:lnSpc>
              <a:buNone/>
            </a:pPr>
            <a:r>
              <a:rPr lang="en-GB" sz="1250" dirty="0">
                <a:solidFill>
                  <a:srgbClr val="FFFFFF"/>
                </a:solidFill>
                <a:latin typeface="Inter Text" pitchFamily="34" charset="0"/>
                <a:ea typeface="Inter Text" pitchFamily="34" charset="-122"/>
                <a:cs typeface="Inter Text" pitchFamily="34" charset="-120"/>
              </a:rPr>
              <a:t>No requirement on software: no new minimum of decimal places</a:t>
            </a:r>
          </a:p>
        </p:txBody>
      </p:sp>
      <p:sp>
        <p:nvSpPr>
          <p:cNvPr id="26" name="Shape 26"/>
          <p:cNvSpPr/>
          <p:nvPr/>
        </p:nvSpPr>
        <p:spPr>
          <a:xfrm>
            <a:off x="6492240" y="4078224"/>
            <a:ext cx="292608" cy="292608"/>
          </a:xfrm>
          <a:prstGeom prst="ellipse">
            <a:avLst/>
          </a:prstGeom>
          <a:solidFill>
            <a:srgbClr val="19C3C8"/>
          </a:solidFill>
          <a:ln>
            <a:noFill/>
          </a:ln>
        </p:spPr>
        <p:txBody>
          <a:bodyPr/>
          <a:lstStyle/>
          <a:p>
            <a:endParaRPr lang="en-GB"/>
          </a:p>
        </p:txBody>
      </p:sp>
      <p:sp>
        <p:nvSpPr>
          <p:cNvPr id="27" name="Text 27"/>
          <p:cNvSpPr txBox="1"/>
          <p:nvPr/>
        </p:nvSpPr>
        <p:spPr>
          <a:xfrm>
            <a:off x="6492240" y="4078224"/>
            <a:ext cx="292608" cy="292608"/>
          </a:xfrm>
          <a:prstGeom prst="rect">
            <a:avLst/>
          </a:prstGeom>
          <a:noFill/>
          <a:ln/>
        </p:spPr>
        <p:txBody>
          <a:bodyPr wrap="square" lIns="0" tIns="0" rIns="0" bIns="0" rtlCol="0" anchor="ctr"/>
          <a:lstStyle/>
          <a:p>
            <a:pPr marL="0" indent="0" algn="ctr">
              <a:buNone/>
            </a:pPr>
            <a:r>
              <a:rPr lang="en-GB" sz="1200" dirty="0">
                <a:solidFill>
                  <a:srgbClr val="1A2B5E"/>
                </a:solidFill>
                <a:latin typeface="Inter SemiBold Text SemiBold" pitchFamily="34" charset="0"/>
                <a:ea typeface="Inter SemiBold Text SemiBold" pitchFamily="34" charset="-122"/>
                <a:cs typeface="Inter SemiBold Text SemiBold" pitchFamily="34" charset="-120"/>
              </a:rPr>
              <a:t>✓</a:t>
            </a:r>
          </a:p>
        </p:txBody>
      </p:sp>
      <p:sp>
        <p:nvSpPr>
          <p:cNvPr id="28" name="Text 28"/>
          <p:cNvSpPr txBox="1"/>
          <p:nvPr/>
        </p:nvSpPr>
        <p:spPr>
          <a:xfrm>
            <a:off x="6949440" y="4014216"/>
            <a:ext cx="4251960" cy="420624"/>
          </a:xfrm>
          <a:prstGeom prst="rect">
            <a:avLst/>
          </a:prstGeom>
          <a:noFill/>
          <a:ln/>
        </p:spPr>
        <p:txBody>
          <a:bodyPr wrap="square" lIns="0" tIns="0" rIns="0" bIns="0" rtlCol="0" anchor="ctr"/>
          <a:lstStyle/>
          <a:p>
            <a:pPr marL="0" indent="0" algn="l">
              <a:lnSpc>
                <a:spcPct val="105000"/>
              </a:lnSpc>
              <a:buNone/>
            </a:pPr>
            <a:r>
              <a:rPr lang="en-GB" sz="1250" dirty="0">
                <a:solidFill>
                  <a:srgbClr val="FFFFFF"/>
                </a:solidFill>
                <a:latin typeface="Inter Text" pitchFamily="34" charset="0"/>
                <a:ea typeface="Inter Text" pitchFamily="34" charset="-122"/>
                <a:cs typeface="Inter Text" pitchFamily="34" charset="-120"/>
              </a:rPr>
              <a:t>Additions are optional paths; the net model stays as it is</a:t>
            </a:r>
          </a:p>
        </p:txBody>
      </p:sp>
      <p:sp>
        <p:nvSpPr>
          <p:cNvPr id="29" name="Shape 29"/>
          <p:cNvSpPr/>
          <p:nvPr/>
        </p:nvSpPr>
        <p:spPr>
          <a:xfrm>
            <a:off x="6492240" y="4645152"/>
            <a:ext cx="292608" cy="292608"/>
          </a:xfrm>
          <a:prstGeom prst="ellipse">
            <a:avLst/>
          </a:prstGeom>
          <a:solidFill>
            <a:srgbClr val="19C3C8"/>
          </a:solidFill>
          <a:ln>
            <a:noFill/>
          </a:ln>
        </p:spPr>
        <p:txBody>
          <a:bodyPr/>
          <a:lstStyle/>
          <a:p>
            <a:endParaRPr lang="en-GB"/>
          </a:p>
        </p:txBody>
      </p:sp>
      <p:sp>
        <p:nvSpPr>
          <p:cNvPr id="30" name="Text 30"/>
          <p:cNvSpPr txBox="1"/>
          <p:nvPr/>
        </p:nvSpPr>
        <p:spPr>
          <a:xfrm>
            <a:off x="6492240" y="4645152"/>
            <a:ext cx="292608" cy="292608"/>
          </a:xfrm>
          <a:prstGeom prst="rect">
            <a:avLst/>
          </a:prstGeom>
          <a:noFill/>
          <a:ln/>
        </p:spPr>
        <p:txBody>
          <a:bodyPr wrap="square" lIns="0" tIns="0" rIns="0" bIns="0" rtlCol="0" anchor="ctr"/>
          <a:lstStyle/>
          <a:p>
            <a:pPr marL="0" indent="0" algn="ctr">
              <a:buNone/>
            </a:pPr>
            <a:r>
              <a:rPr lang="en-GB" sz="1200" dirty="0">
                <a:solidFill>
                  <a:srgbClr val="1A2B5E"/>
                </a:solidFill>
                <a:latin typeface="Inter SemiBold Text SemiBold" pitchFamily="34" charset="0"/>
                <a:ea typeface="Inter SemiBold Text SemiBold" pitchFamily="34" charset="-122"/>
                <a:cs typeface="Inter SemiBold Text SemiBold" pitchFamily="34" charset="-120"/>
              </a:rPr>
              <a:t>✓</a:t>
            </a:r>
          </a:p>
        </p:txBody>
      </p:sp>
      <p:sp>
        <p:nvSpPr>
          <p:cNvPr id="31" name="Text 31"/>
          <p:cNvSpPr txBox="1"/>
          <p:nvPr/>
        </p:nvSpPr>
        <p:spPr>
          <a:xfrm>
            <a:off x="6949440" y="4581144"/>
            <a:ext cx="4251960" cy="420624"/>
          </a:xfrm>
          <a:prstGeom prst="rect">
            <a:avLst/>
          </a:prstGeom>
          <a:noFill/>
          <a:ln/>
        </p:spPr>
        <p:txBody>
          <a:bodyPr wrap="square" lIns="0" tIns="0" rIns="0" bIns="0" rtlCol="0" anchor="ctr"/>
          <a:lstStyle/>
          <a:p>
            <a:pPr marL="0" indent="0" algn="l">
              <a:lnSpc>
                <a:spcPct val="105000"/>
              </a:lnSpc>
              <a:buNone/>
            </a:pPr>
            <a:r>
              <a:rPr lang="en-GB" sz="1250" dirty="0">
                <a:solidFill>
                  <a:srgbClr val="FFFFFF"/>
                </a:solidFill>
                <a:latin typeface="Inter Text" pitchFamily="34" charset="0"/>
                <a:ea typeface="Inter Text" pitchFamily="34" charset="-122"/>
                <a:cs typeface="Inter Text" pitchFamily="34" charset="-120"/>
              </a:rPr>
              <a:t>Syntax unchanged: amounts are xsd:decimal in UBL and CII</a:t>
            </a:r>
          </a:p>
        </p:txBody>
      </p:sp>
      <p:sp>
        <p:nvSpPr>
          <p:cNvPr id="35" name="Pill 35"/>
          <p:cNvSpPr/>
          <p:nvPr/>
        </p:nvSpPr>
        <p:spPr>
          <a:xfrm>
            <a:off x="822960" y="5943600"/>
            <a:ext cx="10543032" cy="411480"/>
          </a:xfrm>
          <a:prstGeom prst="roundRect">
            <a:avLst>
              <a:gd name="adj" fmla="val 50000"/>
            </a:avLst>
          </a:prstGeom>
          <a:solidFill>
            <a:srgbClr val="F4F6FB"/>
          </a:solidFill>
          <a:ln w="9525">
            <a:solidFill>
              <a:srgbClr val="E2E7F2"/>
            </a:solidFill>
            <a:prstDash val="solid"/>
          </a:ln>
        </p:spPr>
        <p:txBody>
          <a:bodyPr wrap="square" lIns="36576" tIns="36576" rIns="36576" bIns="36576" rtlCol="0" anchor="ctr"/>
          <a:lstStyle/>
          <a:p>
            <a:pPr marL="0" indent="0" algn="ctr">
              <a:buNone/>
            </a:pPr>
            <a:r>
              <a:rPr lang="en-GB" sz="1100" dirty="0">
                <a:solidFill>
                  <a:srgbClr val="5B6890"/>
                </a:solidFill>
                <a:latin typeface="Inter SemiBold Text SemiBold" pitchFamily="34" charset="0"/>
                <a:ea typeface="Inter SemiBold Text SemiBold" pitchFamily="34" charset="-122"/>
                <a:cs typeface="Inter SemiBold Text SemiBold" pitchFamily="34" charset="-120"/>
              </a:rPr>
              <a:t>Goal of this session:  </a:t>
            </a:r>
            <a:r>
              <a:rPr lang="en-GB" sz="1100" dirty="0">
                <a:solidFill>
                  <a:srgbClr val="5B6890"/>
                </a:solidFill>
                <a:latin typeface="Inter Text" pitchFamily="34" charset="0"/>
                <a:ea typeface="Inter Text" pitchFamily="34" charset="-122"/>
                <a:cs typeface="Inter Text" pitchFamily="34" charset="-120"/>
              </a:rPr>
              <a:t>two decisions for WG1 — gross prices in the core </a:t>
            </a:r>
            <a:r>
              <a:rPr lang="en-GB" sz="1100" dirty="0">
                <a:solidFill>
                  <a:srgbClr val="5B6890"/>
                </a:solidFill>
                <a:latin typeface="Inter Text" pitchFamily="34" charset="0"/>
                <a:ea typeface="Inter Text" pitchFamily="34" charset="-122"/>
                <a:cs typeface="Inter Text" pitchFamily="34" charset="-120"/>
                <a:hlinkClick r:id="rId9">
                  <a:extLst>
                    <a:ext uri="{A12FA001-AC4F-418D-AE19-62706E023703}">
                      <ahyp:hlinkClr xmlns:ahyp="http://schemas.microsoft.com/office/drawing/2018/hyperlinkcolor" val="tx"/>
                    </a:ext>
                  </a:extLst>
                </a:hlinkClick>
              </a:rPr>
              <a:t>(#164)</a:t>
            </a:r>
            <a:r>
              <a:rPr lang="en-GB" sz="1100" dirty="0">
                <a:solidFill>
                  <a:srgbClr val="5B6890"/>
                </a:solidFill>
                <a:latin typeface="Inter Text" pitchFamily="34" charset="0"/>
                <a:ea typeface="Inter Text" pitchFamily="34" charset="-122"/>
                <a:cs typeface="Inter Text" pitchFamily="34" charset="-120"/>
              </a:rPr>
              <a:t> and no forced rounding </a:t>
            </a:r>
            <a:r>
              <a:rPr lang="en-GB" sz="1100" dirty="0">
                <a:solidFill>
                  <a:srgbClr val="5B6890"/>
                </a:solidFill>
                <a:latin typeface="Inter Text" pitchFamily="34" charset="0"/>
                <a:ea typeface="Inter Text" pitchFamily="34" charset="-122"/>
                <a:cs typeface="Inter Text" pitchFamily="34" charset="-120"/>
                <a:hlinkClick r:id="rId10">
                  <a:extLst>
                    <a:ext uri="{A12FA001-AC4F-418D-AE19-62706E023703}">
                      <ahyp:hlinkClr xmlns:ahyp="http://schemas.microsoft.com/office/drawing/2018/hyperlinkcolor" val="tx"/>
                    </a:ext>
                  </a:extLst>
                </a:hlinkClick>
              </a:rPr>
              <a:t>(#163)</a:t>
            </a:r>
          </a:p>
        </p:txBody>
      </p:sp>
      <p:sp>
        <p:nvSpPr>
          <p:cNvPr id="36" name="Speaker 36">
            <a:hlinkClick r:id="rId5"/>
          </p:cNvPr>
          <p:cNvSpPr txBox="1"/>
          <p:nvPr/>
        </p:nvSpPr>
        <p:spPr>
          <a:xfrm>
            <a:off x="7680960" y="6514592"/>
            <a:ext cx="3154680" cy="292608"/>
          </a:xfrm>
          <a:prstGeom prst="rect">
            <a:avLst/>
          </a:prstGeom>
          <a:noFill/>
          <a:ln/>
        </p:spPr>
        <p:txBody>
          <a:bodyPr wrap="square" lIns="0" tIns="0" rIns="0" bIns="0" rtlCol="0" anchor="ctr"/>
          <a:lstStyle/>
          <a:p>
            <a:pPr marL="0" indent="0" algn="r">
              <a:buNone/>
            </a:pPr>
            <a:r>
              <a:rPr lang="en-GB" sz="1000" spc="100" dirty="0">
                <a:solidFill>
                  <a:srgbClr val="9AA4C2"/>
                </a:solidFill>
                <a:latin typeface="Inter Medium Text Medium" pitchFamily="34" charset="0"/>
                <a:ea typeface="Inter Medium Text Medium" pitchFamily="34" charset="-122"/>
                <a:cs typeface="Inter Medium Text Medium" pitchFamily="34" charset="-120"/>
              </a:rPr>
              <a:t>© Svante Schubert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Folie 31">
    <p:bg>
      <p:bgPr>
        <a:solidFill>
          <a:srgbClr val="F4F6FB"/>
        </a:solidFill>
        <a:effectLst/>
      </p:bgPr>
    </p:bg>
    <p:spTree>
      <p:nvGrpSpPr>
        <p:cNvPr id="1" name=""/>
        <p:cNvGrpSpPr/>
        <p:nvPr/>
      </p:nvGrpSpPr>
      <p:grpSpPr>
        <a:xfrm>
          <a:off x="0" y="0"/>
          <a:ext cx="0" cy="0"/>
          <a:chOff x="0" y="0"/>
          <a:chExt cx="0" cy="0"/>
        </a:xfrm>
      </p:grpSpPr>
      <p:sp>
        <p:nvSpPr>
          <p:cNvPr id="3" name="Header 3"/>
          <p:cNvSpPr txBox="1"/>
          <p:nvPr/>
        </p:nvSpPr>
        <p:spPr>
          <a:xfrm>
            <a:off x="822960" y="384048"/>
            <a:ext cx="7315200" cy="274320"/>
          </a:xfrm>
          <a:prstGeom prst="rect">
            <a:avLst/>
          </a:prstGeom>
          <a:noFill/>
          <a:ln/>
        </p:spPr>
        <p:txBody>
          <a:bodyPr wrap="square" lIns="0" tIns="0" rIns="0" bIns="0" rtlCol="0" anchor="ctr"/>
          <a:lstStyle/>
          <a:p>
            <a:pPr marL="0" indent="0" algn="l">
              <a:buNone/>
            </a:pPr>
            <a:r>
              <a:rPr lang="en-GB" sz="950" spc="100" dirty="0">
                <a:solidFill>
                  <a:srgbClr val="5B6890"/>
                </a:solidFill>
                <a:latin typeface="Inter Medium Text Medium" pitchFamily="34" charset="0"/>
                <a:ea typeface="Inter Medium Text Medium" pitchFamily="34" charset="-122"/>
                <a:cs typeface="Inter Medium Text Medium" pitchFamily="34" charset="-120"/>
              </a:rPr>
              <a:t>CEN/TC 434 WG1</a:t>
            </a:r>
            <a:r>
              <a:rPr lang="en-GB" sz="950" spc="100" dirty="0">
                <a:solidFill>
                  <a:srgbClr val="C2CADE"/>
                </a:solidFill>
                <a:latin typeface="Inter Text" pitchFamily="34" charset="0"/>
                <a:ea typeface="Inter Text" pitchFamily="34" charset="-122"/>
                <a:cs typeface="Inter Text" pitchFamily="34" charset="-120"/>
              </a:rPr>
              <a:t>   ·   </a:t>
            </a:r>
            <a:r>
              <a:rPr lang="en-GB" sz="950" spc="100" dirty="0">
                <a:solidFill>
                  <a:srgbClr val="9AA4C2"/>
                </a:solidFill>
                <a:latin typeface="Inter Text" pitchFamily="34" charset="0"/>
                <a:ea typeface="Inter Text" pitchFamily="34" charset="-122"/>
                <a:cs typeface="Inter Text" pitchFamily="34" charset="-120"/>
              </a:rPr>
              <a:t>EN 16931-1:2026 amendment · Gross prices and rounding</a:t>
            </a:r>
          </a:p>
        </p:txBody>
      </p:sp>
      <p:sp>
        <p:nvSpPr>
          <p:cNvPr id="4" name="SectionLabel 4"/>
          <p:cNvSpPr txBox="1"/>
          <p:nvPr/>
        </p:nvSpPr>
        <p:spPr>
          <a:xfrm>
            <a:off x="822960" y="868680"/>
            <a:ext cx="8229600" cy="274320"/>
          </a:xfrm>
          <a:prstGeom prst="rect">
            <a:avLst/>
          </a:prstGeom>
          <a:noFill/>
          <a:ln/>
        </p:spPr>
        <p:txBody>
          <a:bodyPr wrap="square" lIns="0" tIns="0" rIns="0" bIns="0" rtlCol="0" anchor="ctr"/>
          <a:lstStyle/>
          <a:p>
            <a:pPr marL="0" indent="0" algn="l">
              <a:buNone/>
            </a:pPr>
            <a:r>
              <a:rPr lang="en-GB" sz="1100" spc="300" dirty="0">
                <a:solidFill>
                  <a:srgbClr val="19C3C8"/>
                </a:solidFill>
                <a:latin typeface="Inter SemiBold Text SemiBold" pitchFamily="34" charset="0"/>
                <a:ea typeface="Inter SemiBold Text SemiBold" pitchFamily="34" charset="-122"/>
                <a:cs typeface="Inter SemiBold Text SemiBold" pitchFamily="34" charset="-120"/>
              </a:rPr>
              <a:t>LEGAL BASIS</a:t>
            </a:r>
          </a:p>
        </p:txBody>
      </p:sp>
      <p:sp>
        <p:nvSpPr>
          <p:cNvPr id="5" name="Title 5"/>
          <p:cNvSpPr txBox="1"/>
          <p:nvPr/>
        </p:nvSpPr>
        <p:spPr>
          <a:xfrm>
            <a:off x="804672" y="1115568"/>
            <a:ext cx="10424160" cy="822960"/>
          </a:xfrm>
          <a:prstGeom prst="rect">
            <a:avLst/>
          </a:prstGeom>
          <a:noFill/>
          <a:ln/>
        </p:spPr>
        <p:txBody>
          <a:bodyPr wrap="square" lIns="0" tIns="0" rIns="0" bIns="0" rtlCol="0" anchor="t"/>
          <a:lstStyle/>
          <a:p>
            <a:pPr marL="0" indent="0" algn="l">
              <a:buNone/>
            </a:pPr>
            <a:r>
              <a:rPr lang="en-GB" sz="3800" b="1" dirty="0">
                <a:solidFill>
                  <a:srgbClr val="1A2B5E"/>
                </a:solidFill>
                <a:latin typeface="Inter Text" pitchFamily="34" charset="0"/>
                <a:ea typeface="Inter Text" pitchFamily="34" charset="-122"/>
                <a:cs typeface="Inter Text" pitchFamily="34" charset="-120"/>
              </a:rPr>
              <a:t>What the law requires</a:t>
            </a:r>
          </a:p>
        </p:txBody>
      </p:sp>
      <p:sp>
        <p:nvSpPr>
          <p:cNvPr id="6" name="Tagline 6"/>
          <p:cNvSpPr txBox="1"/>
          <p:nvPr/>
        </p:nvSpPr>
        <p:spPr>
          <a:xfrm>
            <a:off x="822960" y="1865376"/>
            <a:ext cx="10424160" cy="320040"/>
          </a:xfrm>
          <a:prstGeom prst="rect">
            <a:avLst/>
          </a:prstGeom>
          <a:noFill/>
          <a:ln/>
        </p:spPr>
        <p:txBody>
          <a:bodyPr wrap="square" lIns="0" tIns="0" rIns="0" bIns="0" rtlCol="0" anchor="ctr"/>
          <a:lstStyle/>
          <a:p>
            <a:pPr marL="0" indent="0" algn="l">
              <a:buNone/>
            </a:pPr>
            <a:r>
              <a:rPr lang="en-GB" sz="1300" dirty="0">
                <a:solidFill>
                  <a:srgbClr val="5B6890"/>
                </a:solidFill>
                <a:latin typeface="Inter Text" pitchFamily="34" charset="0"/>
                <a:ea typeface="Inter Text" pitchFamily="34" charset="-122"/>
                <a:cs typeface="Inter Text" pitchFamily="34" charset="-120"/>
              </a:rPr>
              <a:t>The invoice must reproduce the consideration and the VAT exactly.</a:t>
            </a:r>
          </a:p>
        </p:txBody>
      </p:sp>
      <p:sp>
        <p:nvSpPr>
          <p:cNvPr id="7" name="PageNum 7"/>
          <p:cNvSpPr txBox="1"/>
          <p:nvPr/>
        </p:nvSpPr>
        <p:spPr>
          <a:xfrm>
            <a:off x="10908792" y="6514592"/>
            <a:ext cx="822960" cy="292608"/>
          </a:xfrm>
          <a:prstGeom prst="rect">
            <a:avLst/>
          </a:prstGeom>
          <a:noFill/>
          <a:ln/>
        </p:spPr>
        <p:txBody>
          <a:bodyPr wrap="square" lIns="0" tIns="0" rIns="0" bIns="0" rtlCol="0" anchor="ctr"/>
          <a:lstStyle/>
          <a:p>
            <a:pPr marL="0" indent="0" algn="r">
              <a:buNone/>
            </a:pPr>
            <a:fld id="{67D73E2F-A595-473C-9F0C-80BA506D5B08}" type="slidenum">
              <a:rPr lang="en-GB" sz="1000" spc="200" dirty="0">
                <a:solidFill>
                  <a:srgbClr val="5B6890"/>
                </a:solidFill>
                <a:latin typeface="Inter SemiBold Text SemiBold" pitchFamily="34" charset="0"/>
                <a:ea typeface="Inter SemiBold Text SemiBold" pitchFamily="34" charset="-122"/>
                <a:cs typeface="Inter SemiBold Text SemiBold" pitchFamily="34" charset="-120"/>
              </a:rPr>
              <a:t>3</a:t>
            </a:fld>
            <a:endParaRPr lang="en-GB" sz="1000" spc="200" dirty="0">
              <a:solidFill>
                <a:srgbClr val="5B6890"/>
              </a:solidFill>
              <a:latin typeface="Inter SemiBold Text SemiBold" pitchFamily="34" charset="0"/>
              <a:ea typeface="Inter SemiBold Text SemiBold" pitchFamily="34" charset="-122"/>
              <a:cs typeface="Inter SemiBold Text SemiBold" pitchFamily="34" charset="-120"/>
            </a:endParaRPr>
          </a:p>
        </p:txBody>
      </p:sp>
      <p:sp>
        <p:nvSpPr>
          <p:cNvPr id="8" name="Card 8"/>
          <p:cNvSpPr/>
          <p:nvPr/>
        </p:nvSpPr>
        <p:spPr>
          <a:xfrm>
            <a:off x="822960" y="2331720"/>
            <a:ext cx="5166360" cy="1691640"/>
          </a:xfrm>
          <a:prstGeom prst="roundRect">
            <a:avLst>
              <a:gd name="adj" fmla="val 4324"/>
            </a:avLst>
          </a:prstGeom>
          <a:solidFill>
            <a:srgbClr val="FFFFFF"/>
          </a:solidFill>
          <a:ln w="12700">
            <a:solidFill>
              <a:srgbClr val="E2E7F2"/>
            </a:solidFill>
            <a:prstDash val="solid"/>
          </a:ln>
          <a:effectLst>
            <a:outerShdw blurRad="101600" dist="38100" dir="5400000" algn="bl" rotWithShape="0">
              <a:srgbClr val="0A1230">
                <a:alpha val="8000"/>
              </a:srgbClr>
            </a:outerShdw>
          </a:effectLst>
        </p:spPr>
        <p:txBody>
          <a:bodyPr/>
          <a:lstStyle/>
          <a:p>
            <a:endParaRPr lang="en-GB"/>
          </a:p>
        </p:txBody>
      </p:sp>
      <p:sp>
        <p:nvSpPr>
          <p:cNvPr id="9" name="IconCircle 9"/>
          <p:cNvSpPr/>
          <p:nvPr/>
        </p:nvSpPr>
        <p:spPr>
          <a:xfrm>
            <a:off x="1060704" y="2532888"/>
            <a:ext cx="402336" cy="402336"/>
          </a:xfrm>
          <a:prstGeom prst="ellipse">
            <a:avLst/>
          </a:prstGeom>
          <a:solidFill>
            <a:srgbClr val="19C3C8"/>
          </a:solidFill>
          <a:ln>
            <a:noFill/>
          </a:ln>
          <a:effectLst>
            <a:outerShdw blurRad="88900" dist="38100" dir="5400000" algn="bl" rotWithShape="0">
              <a:srgbClr val="0A1230">
                <a:alpha val="18000"/>
              </a:srgbClr>
            </a:outerShdw>
          </a:effectLst>
        </p:spPr>
        <p:txBody>
          <a:bodyPr/>
          <a:lstStyle/>
          <a:p>
            <a:endParaRPr lang="en-GB"/>
          </a:p>
        </p:txBody>
      </p:sp>
      <p:pic>
        <p:nvPicPr>
          <p:cNvPr id="10" name="Icon 10"/>
          <p:cNvPicPr>
            <a:picLocks noChangeAspect="1"/>
          </p:cNvPicPr>
          <p:nvPr/>
        </p:nvPicPr>
        <p:blipFill>
          <a:blip r:embed="rId3"/>
          <a:stretch>
            <a:fillRect/>
          </a:stretch>
        </p:blipFill>
        <p:spPr>
          <a:xfrm>
            <a:off x="1171346" y="2643530"/>
            <a:ext cx="181051" cy="181051"/>
          </a:xfrm>
          <a:prstGeom prst="rect">
            <a:avLst/>
          </a:prstGeom>
        </p:spPr>
      </p:pic>
      <p:sp>
        <p:nvSpPr>
          <p:cNvPr id="11" name="Text 11"/>
          <p:cNvSpPr txBox="1"/>
          <p:nvPr/>
        </p:nvSpPr>
        <p:spPr>
          <a:xfrm>
            <a:off x="1600200" y="2514600"/>
            <a:ext cx="4206240" cy="438912"/>
          </a:xfrm>
          <a:prstGeom prst="rect">
            <a:avLst/>
          </a:prstGeom>
          <a:noFill/>
          <a:ln/>
        </p:spPr>
        <p:txBody>
          <a:bodyPr wrap="square" lIns="0" tIns="0" rIns="0" bIns="0" rtlCol="0" anchor="ctr"/>
          <a:lstStyle/>
          <a:p>
            <a:pPr marL="0" indent="0" algn="l">
              <a:buNone/>
            </a:pPr>
            <a:r>
              <a:rPr lang="en-GB" sz="1500" dirty="0">
                <a:solidFill>
                  <a:srgbClr val="1A2B5E"/>
                </a:solidFill>
                <a:latin typeface="Inter SemiBold Text SemiBold" pitchFamily="34" charset="0"/>
                <a:ea typeface="Inter SemiBold Text SemiBold" pitchFamily="34" charset="-122"/>
                <a:cs typeface="Inter SemiBold Text SemiBold" pitchFamily="34" charset="-120"/>
              </a:rPr>
              <a:t>VAT to the cent</a:t>
            </a:r>
          </a:p>
        </p:txBody>
      </p:sp>
      <p:sp>
        <p:nvSpPr>
          <p:cNvPr id="12" name="Text 12"/>
          <p:cNvSpPr txBox="1"/>
          <p:nvPr/>
        </p:nvSpPr>
        <p:spPr>
          <a:xfrm>
            <a:off x="1133856" y="2990088"/>
            <a:ext cx="4663440" cy="1005840"/>
          </a:xfrm>
          <a:prstGeom prst="rect">
            <a:avLst/>
          </a:prstGeom>
          <a:noFill/>
          <a:ln/>
        </p:spPr>
        <p:txBody>
          <a:bodyPr wrap="square" lIns="0" tIns="0" rIns="0" bIns="0" rtlCol="0" anchor="t"/>
          <a:lstStyle/>
          <a:p>
            <a:pPr marL="164592" indent="-164592" algn="l">
              <a:spcAft>
                <a:spcPts val="200"/>
              </a:spcAft>
              <a:buSzPct val="100000"/>
              <a:buChar char="•"/>
            </a:pPr>
            <a:r>
              <a:rPr lang="en-GB" sz="1200" dirty="0">
                <a:solidFill>
                  <a:srgbClr val="5B6890"/>
                </a:solidFill>
                <a:latin typeface="Inter Text" pitchFamily="34" charset="0"/>
                <a:ea typeface="Inter Text" pitchFamily="34" charset="-122"/>
                <a:cs typeface="Inter Text" pitchFamily="34" charset="-120"/>
              </a:rPr>
              <a:t>Calculated to the cent, rounded commercially (</a:t>
            </a:r>
            <a:r>
              <a:rPr lang="en-GB" sz="1200" dirty="0">
                <a:solidFill>
                  <a:srgbClr val="5B6890"/>
                </a:solidFill>
                <a:latin typeface="Inter Text" pitchFamily="34" charset="0"/>
                <a:ea typeface="Inter Text" pitchFamily="34" charset="-122"/>
                <a:cs typeface="Inter Text" pitchFamily="34" charset="-120"/>
                <a:hlinkClick r:id="rId6">
                  <a:extLst>
                    <a:ext uri="{A12FA001-AC4F-418D-AE19-62706E023703}">
                      <ahyp:hlinkClr xmlns:ahyp="http://schemas.microsoft.com/office/drawing/2018/hyperlinkcolor" val="tx"/>
                    </a:ext>
                  </a:extLst>
                </a:hlinkClick>
              </a:rPr>
              <a:t>BMF letter of 15 Oct 2026</a:t>
            </a:r>
            <a:r>
              <a:rPr lang="en-GB" sz="1200" dirty="0">
                <a:solidFill>
                  <a:srgbClr val="5B6890"/>
                </a:solidFill>
                <a:latin typeface="Inter Text" pitchFamily="34" charset="0"/>
                <a:ea typeface="Inter Text" pitchFamily="34" charset="-122"/>
                <a:cs typeface="Inter Text" pitchFamily="34" charset="-120"/>
              </a:rPr>
              <a:t>, para. 17; </a:t>
            </a:r>
            <a:r>
              <a:rPr lang="en-GB" sz="1200" dirty="0">
                <a:solidFill>
                  <a:srgbClr val="5B6890"/>
                </a:solidFill>
                <a:latin typeface="Inter Text" pitchFamily="34" charset="0"/>
                <a:ea typeface="Inter Text" pitchFamily="34" charset="-122"/>
                <a:cs typeface="Inter Text" pitchFamily="34" charset="-120"/>
                <a:hlinkClick r:id="rId7">
                  <a:extLst>
                    <a:ext uri="{A12FA001-AC4F-418D-AE19-62706E023703}">
                      <ahyp:hlinkClr xmlns:ahyp="http://schemas.microsoft.com/office/drawing/2018/hyperlinkcolor" val="tx"/>
                    </a:ext>
                  </a:extLst>
                </a:hlinkClick>
              </a:rPr>
              <a:t>UStAE 14.5 (20)</a:t>
            </a:r>
            <a:r>
              <a:rPr lang="en-GB" sz="1200" dirty="0">
                <a:solidFill>
                  <a:srgbClr val="5B6890"/>
                </a:solidFill>
                <a:latin typeface="Inter Text" pitchFamily="34" charset="0"/>
                <a:ea typeface="Inter Text" pitchFamily="34" charset="-122"/>
                <a:cs typeface="Inter Text" pitchFamily="34" charset="-120"/>
              </a:rPr>
              <a:t>)</a:t>
            </a:r>
          </a:p>
          <a:p>
            <a:pPr marL="164592" indent="-164592" algn="l">
              <a:spcAft>
                <a:spcPts val="200"/>
              </a:spcAft>
              <a:buSzPct val="100000"/>
              <a:buChar char="•"/>
            </a:pPr>
            <a:r>
              <a:rPr lang="en-GB" sz="1200" dirty="0">
                <a:solidFill>
                  <a:srgbClr val="5B6890"/>
                </a:solidFill>
                <a:latin typeface="Inter Text" pitchFamily="34" charset="0"/>
                <a:ea typeface="Inter Text" pitchFamily="34" charset="-122"/>
                <a:cs typeface="Inter Text" pitchFamily="34" charset="-120"/>
              </a:rPr>
              <a:t>Net amount = consideration minus VAT (</a:t>
            </a:r>
            <a:r>
              <a:rPr lang="en-GB" sz="1200" dirty="0">
                <a:solidFill>
                  <a:srgbClr val="5B6890"/>
                </a:solidFill>
                <a:latin typeface="Inter Text" pitchFamily="34" charset="0"/>
                <a:ea typeface="Inter Text" pitchFamily="34" charset="-122"/>
                <a:cs typeface="Inter Text" pitchFamily="34" charset="-120"/>
                <a:hlinkClick r:id="rId8">
                  <a:extLst>
                    <a:ext uri="{A12FA001-AC4F-418D-AE19-62706E023703}">
                      <ahyp:hlinkClr xmlns:ahyp="http://schemas.microsoft.com/office/drawing/2018/hyperlinkcolor" val="tx"/>
                    </a:ext>
                  </a:extLst>
                </a:hlinkClick>
              </a:rPr>
              <a:t>§ 10 (1) UStG</a:t>
            </a:r>
            <a:r>
              <a:rPr lang="en-GB" sz="1200" dirty="0">
                <a:solidFill>
                  <a:srgbClr val="5B6890"/>
                </a:solidFill>
                <a:latin typeface="Inter Text" pitchFamily="34" charset="0"/>
                <a:ea typeface="Inter Text" pitchFamily="34" charset="-122"/>
                <a:cs typeface="Inter Text" pitchFamily="34" charset="-120"/>
              </a:rPr>
              <a:t>)</a:t>
            </a:r>
          </a:p>
        </p:txBody>
      </p:sp>
      <p:sp>
        <p:nvSpPr>
          <p:cNvPr id="13" name="Card 13"/>
          <p:cNvSpPr/>
          <p:nvPr/>
        </p:nvSpPr>
        <p:spPr>
          <a:xfrm>
            <a:off x="822960" y="4160520"/>
            <a:ext cx="5166360" cy="1645920"/>
          </a:xfrm>
          <a:prstGeom prst="roundRect">
            <a:avLst>
              <a:gd name="adj" fmla="val 4444"/>
            </a:avLst>
          </a:prstGeom>
          <a:solidFill>
            <a:srgbClr val="FFFFFF"/>
          </a:solidFill>
          <a:ln w="12700">
            <a:solidFill>
              <a:srgbClr val="E2E7F2"/>
            </a:solidFill>
            <a:prstDash val="solid"/>
          </a:ln>
          <a:effectLst>
            <a:outerShdw blurRad="101600" dist="38100" dir="5400000" algn="bl" rotWithShape="0">
              <a:srgbClr val="0A1230">
                <a:alpha val="8000"/>
              </a:srgbClr>
            </a:outerShdw>
          </a:effectLst>
        </p:spPr>
        <p:txBody>
          <a:bodyPr/>
          <a:lstStyle/>
          <a:p>
            <a:endParaRPr lang="en-GB"/>
          </a:p>
        </p:txBody>
      </p:sp>
      <p:sp>
        <p:nvSpPr>
          <p:cNvPr id="14" name="IconCircle 14"/>
          <p:cNvSpPr/>
          <p:nvPr/>
        </p:nvSpPr>
        <p:spPr>
          <a:xfrm>
            <a:off x="1060704" y="4361688"/>
            <a:ext cx="402336" cy="402336"/>
          </a:xfrm>
          <a:prstGeom prst="ellipse">
            <a:avLst/>
          </a:prstGeom>
          <a:solidFill>
            <a:srgbClr val="1A2B5E"/>
          </a:solidFill>
          <a:ln>
            <a:noFill/>
          </a:ln>
          <a:effectLst>
            <a:outerShdw blurRad="88900" dist="38100" dir="5400000" algn="bl" rotWithShape="0">
              <a:srgbClr val="0A1230">
                <a:alpha val="18000"/>
              </a:srgbClr>
            </a:outerShdw>
          </a:effectLst>
        </p:spPr>
        <p:txBody>
          <a:bodyPr/>
          <a:lstStyle/>
          <a:p>
            <a:endParaRPr lang="en-GB"/>
          </a:p>
        </p:txBody>
      </p:sp>
      <p:pic>
        <p:nvPicPr>
          <p:cNvPr id="15" name="Icon 15"/>
          <p:cNvPicPr>
            <a:picLocks noChangeAspect="1"/>
          </p:cNvPicPr>
          <p:nvPr/>
        </p:nvPicPr>
        <p:blipFill>
          <a:blip r:embed="rId4"/>
          <a:stretch>
            <a:fillRect/>
          </a:stretch>
        </p:blipFill>
        <p:spPr>
          <a:xfrm>
            <a:off x="1171346" y="4472330"/>
            <a:ext cx="181051" cy="181051"/>
          </a:xfrm>
          <a:prstGeom prst="rect">
            <a:avLst/>
          </a:prstGeom>
        </p:spPr>
      </p:pic>
      <p:sp>
        <p:nvSpPr>
          <p:cNvPr id="16" name="Text 16"/>
          <p:cNvSpPr txBox="1"/>
          <p:nvPr/>
        </p:nvSpPr>
        <p:spPr>
          <a:xfrm>
            <a:off x="1600200" y="4343400"/>
            <a:ext cx="4206240" cy="438912"/>
          </a:xfrm>
          <a:prstGeom prst="rect">
            <a:avLst/>
          </a:prstGeom>
          <a:noFill/>
          <a:ln/>
        </p:spPr>
        <p:txBody>
          <a:bodyPr wrap="square" lIns="0" tIns="0" rIns="0" bIns="0" rtlCol="0" anchor="ctr"/>
          <a:lstStyle/>
          <a:p>
            <a:pPr marL="0" indent="0" algn="l">
              <a:buNone/>
            </a:pPr>
            <a:r>
              <a:rPr lang="en-GB" sz="1500" dirty="0">
                <a:solidFill>
                  <a:srgbClr val="1A2B5E"/>
                </a:solidFill>
                <a:latin typeface="Inter SemiBold Text SemiBold" pitchFamily="34" charset="0"/>
                <a:ea typeface="Inter SemiBold Text SemiBold" pitchFamily="34" charset="-122"/>
                <a:cs typeface="Inter SemiBold Text SemiBold" pitchFamily="34" charset="-120"/>
              </a:rPr>
              <a:t>Proportional and exact</a:t>
            </a:r>
          </a:p>
        </p:txBody>
      </p:sp>
      <p:sp>
        <p:nvSpPr>
          <p:cNvPr id="17" name="Text 17"/>
          <p:cNvSpPr txBox="1"/>
          <p:nvPr/>
        </p:nvSpPr>
        <p:spPr>
          <a:xfrm>
            <a:off x="1133856" y="4818888"/>
            <a:ext cx="4663440" cy="960120"/>
          </a:xfrm>
          <a:prstGeom prst="rect">
            <a:avLst/>
          </a:prstGeom>
          <a:noFill/>
          <a:ln/>
        </p:spPr>
        <p:txBody>
          <a:bodyPr wrap="square" lIns="0" tIns="0" rIns="0" bIns="0" rtlCol="0" anchor="t"/>
          <a:lstStyle/>
          <a:p>
            <a:pPr marL="164592" indent="-164592" algn="l">
              <a:spcAft>
                <a:spcPts val="200"/>
              </a:spcAft>
              <a:buSzPct val="100000"/>
              <a:buChar char="•"/>
            </a:pPr>
            <a:r>
              <a:rPr lang="en-GB" sz="1200" dirty="0">
                <a:solidFill>
                  <a:srgbClr val="5B6890"/>
                </a:solidFill>
                <a:latin typeface="Inter Text" pitchFamily="34" charset="0"/>
                <a:ea typeface="Inter Text" pitchFamily="34" charset="-122"/>
                <a:cs typeface="Inter Text" pitchFamily="34" charset="-120"/>
              </a:rPr>
              <a:t>VAT “exactly proportional to the price” (</a:t>
            </a:r>
            <a:r>
              <a:rPr lang="en-GB" sz="1200" dirty="0">
                <a:solidFill>
                  <a:srgbClr val="5B6890"/>
                </a:solidFill>
                <a:latin typeface="Inter Text" pitchFamily="34" charset="0"/>
                <a:ea typeface="Inter Text" pitchFamily="34" charset="-122"/>
                <a:cs typeface="Inter Text" pitchFamily="34" charset="-120"/>
                <a:hlinkClick r:id="rId9">
                  <a:extLst>
                    <a:ext uri="{A12FA001-AC4F-418D-AE19-62706E023703}">
                      <ahyp:hlinkClr xmlns:ahyp="http://schemas.microsoft.com/office/drawing/2018/hyperlinkcolor" val="tx"/>
                    </a:ext>
                  </a:extLst>
                </a:hlinkClick>
              </a:rPr>
              <a:t>CJEU Ahold, C-484/06</a:t>
            </a:r>
            <a:r>
              <a:rPr lang="en-GB" sz="1200" dirty="0">
                <a:solidFill>
                  <a:srgbClr val="5B6890"/>
                </a:solidFill>
                <a:latin typeface="Inter Text" pitchFamily="34" charset="0"/>
                <a:ea typeface="Inter Text" pitchFamily="34" charset="-122"/>
                <a:cs typeface="Inter Text" pitchFamily="34" charset="-120"/>
              </a:rPr>
              <a:t>, para. 38)</a:t>
            </a:r>
          </a:p>
          <a:p>
            <a:pPr marL="164592" indent="-164592" algn="l">
              <a:spcAft>
                <a:spcPts val="200"/>
              </a:spcAft>
              <a:buSzPct val="100000"/>
              <a:buChar char="•"/>
            </a:pPr>
            <a:r>
              <a:rPr lang="en-GB" sz="1200" dirty="0">
                <a:solidFill>
                  <a:srgbClr val="5B6890"/>
                </a:solidFill>
                <a:latin typeface="Inter Text" pitchFamily="34" charset="0"/>
                <a:ea typeface="Inter Text" pitchFamily="34" charset="-122"/>
                <a:cs typeface="Inter Text" pitchFamily="34" charset="-120"/>
              </a:rPr>
              <a:t>Rounding only where necessary, “as closely as possible” (para. 39)</a:t>
            </a:r>
          </a:p>
        </p:txBody>
      </p:sp>
      <p:sp>
        <p:nvSpPr>
          <p:cNvPr id="18" name="Panel 18"/>
          <p:cNvSpPr/>
          <p:nvPr/>
        </p:nvSpPr>
        <p:spPr>
          <a:xfrm>
            <a:off x="6172200" y="2331720"/>
            <a:ext cx="5193792" cy="3474720"/>
          </a:xfrm>
          <a:prstGeom prst="roundRect">
            <a:avLst>
              <a:gd name="adj" fmla="val 2631"/>
            </a:avLst>
          </a:prstGeom>
          <a:solidFill>
            <a:srgbClr val="1A2B5E"/>
          </a:solidFill>
          <a:ln>
            <a:noFill/>
          </a:ln>
          <a:effectLst>
            <a:outerShdw blurRad="101600" dist="38100" dir="5400000" algn="bl" rotWithShape="0">
              <a:srgbClr val="0A1230">
                <a:alpha val="18000"/>
              </a:srgbClr>
            </a:outerShdw>
          </a:effectLst>
        </p:spPr>
        <p:txBody>
          <a:bodyPr/>
          <a:lstStyle/>
          <a:p>
            <a:endParaRPr lang="en-GB"/>
          </a:p>
        </p:txBody>
      </p:sp>
      <p:sp>
        <p:nvSpPr>
          <p:cNvPr id="19" name="Text 19"/>
          <p:cNvSpPr txBox="1"/>
          <p:nvPr/>
        </p:nvSpPr>
        <p:spPr>
          <a:xfrm>
            <a:off x="6492240" y="2514600"/>
            <a:ext cx="4572000" cy="274320"/>
          </a:xfrm>
          <a:prstGeom prst="rect">
            <a:avLst/>
          </a:prstGeom>
          <a:noFill/>
          <a:ln/>
        </p:spPr>
        <p:txBody>
          <a:bodyPr wrap="square" lIns="0" tIns="0" rIns="0" bIns="0" rtlCol="0" anchor="ctr"/>
          <a:lstStyle/>
          <a:p>
            <a:pPr marL="0" indent="0" algn="l">
              <a:buNone/>
            </a:pPr>
            <a:r>
              <a:rPr lang="en-GB" sz="1100" spc="300" dirty="0">
                <a:solidFill>
                  <a:srgbClr val="19C3C8"/>
                </a:solidFill>
                <a:latin typeface="Inter SemiBold Text SemiBold" pitchFamily="34" charset="0"/>
                <a:ea typeface="Inter SemiBold Text SemiBold" pitchFamily="34" charset="-122"/>
                <a:cs typeface="Inter SemiBold Text SemiBold" pitchFamily="34" charset="-120"/>
              </a:rPr>
              <a:t>INVOICE CONTENT AND REPORTING</a:t>
            </a:r>
          </a:p>
        </p:txBody>
      </p:sp>
      <p:sp>
        <p:nvSpPr>
          <p:cNvPr id="20" name="Shape 20"/>
          <p:cNvSpPr/>
          <p:nvPr/>
        </p:nvSpPr>
        <p:spPr>
          <a:xfrm>
            <a:off x="6492240" y="2944368"/>
            <a:ext cx="292608" cy="292608"/>
          </a:xfrm>
          <a:prstGeom prst="ellipse">
            <a:avLst/>
          </a:prstGeom>
          <a:solidFill>
            <a:srgbClr val="19C3C8"/>
          </a:solidFill>
          <a:ln>
            <a:noFill/>
          </a:ln>
        </p:spPr>
        <p:txBody>
          <a:bodyPr/>
          <a:lstStyle/>
          <a:p>
            <a:endParaRPr lang="en-GB"/>
          </a:p>
        </p:txBody>
      </p:sp>
      <p:sp>
        <p:nvSpPr>
          <p:cNvPr id="21" name="Text 21"/>
          <p:cNvSpPr txBox="1"/>
          <p:nvPr/>
        </p:nvSpPr>
        <p:spPr>
          <a:xfrm>
            <a:off x="6492240" y="2944368"/>
            <a:ext cx="292608" cy="292608"/>
          </a:xfrm>
          <a:prstGeom prst="rect">
            <a:avLst/>
          </a:prstGeom>
          <a:noFill/>
          <a:ln/>
        </p:spPr>
        <p:txBody>
          <a:bodyPr wrap="square" lIns="0" tIns="0" rIns="0" bIns="0" rtlCol="0" anchor="ctr"/>
          <a:lstStyle/>
          <a:p>
            <a:pPr marL="0" indent="0" algn="ctr">
              <a:buNone/>
            </a:pPr>
            <a:r>
              <a:rPr lang="en-GB" sz="1200" dirty="0">
                <a:solidFill>
                  <a:srgbClr val="1A2B5E"/>
                </a:solidFill>
                <a:latin typeface="Inter SemiBold Text SemiBold" pitchFamily="34" charset="0"/>
                <a:ea typeface="Inter SemiBold Text SemiBold" pitchFamily="34" charset="-122"/>
                <a:cs typeface="Inter SemiBold Text SemiBold" pitchFamily="34" charset="-120"/>
              </a:rPr>
              <a:t>✓</a:t>
            </a:r>
          </a:p>
        </p:txBody>
      </p:sp>
      <p:sp>
        <p:nvSpPr>
          <p:cNvPr id="22" name="Text 22"/>
          <p:cNvSpPr txBox="1"/>
          <p:nvPr/>
        </p:nvSpPr>
        <p:spPr>
          <a:xfrm>
            <a:off x="6949440" y="2880360"/>
            <a:ext cx="4251960" cy="420624"/>
          </a:xfrm>
          <a:prstGeom prst="rect">
            <a:avLst/>
          </a:prstGeom>
          <a:noFill/>
          <a:ln/>
        </p:spPr>
        <p:txBody>
          <a:bodyPr wrap="square" lIns="0" tIns="0" rIns="0" bIns="0" rtlCol="0" anchor="ctr"/>
          <a:lstStyle/>
          <a:p>
            <a:pPr marL="0" indent="0" algn="l">
              <a:lnSpc>
                <a:spcPct val="105000"/>
              </a:lnSpc>
              <a:buNone/>
            </a:pPr>
            <a:r>
              <a:rPr lang="en-GB" sz="1250" dirty="0">
                <a:solidFill>
                  <a:srgbClr val="FFFFFF"/>
                </a:solidFill>
                <a:latin typeface="Inter Text" pitchFamily="34" charset="0"/>
                <a:ea typeface="Inter Text" pitchFamily="34" charset="-122"/>
                <a:cs typeface="Inter Text" pitchFamily="34" charset="-120"/>
                <a:hlinkClick r:id="rId10">
                  <a:extLst>
                    <a:ext uri="{A12FA001-AC4F-418D-AE19-62706E023703}">
                      <ahyp:hlinkClr xmlns:ahyp="http://schemas.microsoft.com/office/drawing/2018/hyperlinkcolor" val="tx"/>
                    </a:ext>
                  </a:extLst>
                </a:hlinkClick>
              </a:rPr>
              <a:t>Art. 226(8)</a:t>
            </a:r>
            <a:r>
              <a:rPr lang="en-GB" sz="1250" dirty="0">
                <a:solidFill>
                  <a:srgbClr val="FFFFFF"/>
                </a:solidFill>
                <a:latin typeface="Inter Text" pitchFamily="34" charset="0"/>
                <a:ea typeface="Inter Text" pitchFamily="34" charset="-122"/>
                <a:cs typeface="Inter Text" pitchFamily="34" charset="-120"/>
              </a:rPr>
              <a:t>: taxable amount per rate, unit price exclusive of VAT</a:t>
            </a:r>
          </a:p>
        </p:txBody>
      </p:sp>
      <p:sp>
        <p:nvSpPr>
          <p:cNvPr id="23" name="Shape 23"/>
          <p:cNvSpPr/>
          <p:nvPr/>
        </p:nvSpPr>
        <p:spPr>
          <a:xfrm>
            <a:off x="6492240" y="3511296"/>
            <a:ext cx="292608" cy="292608"/>
          </a:xfrm>
          <a:prstGeom prst="ellipse">
            <a:avLst/>
          </a:prstGeom>
          <a:solidFill>
            <a:srgbClr val="19C3C8"/>
          </a:solidFill>
          <a:ln>
            <a:noFill/>
          </a:ln>
        </p:spPr>
        <p:txBody>
          <a:bodyPr/>
          <a:lstStyle/>
          <a:p>
            <a:endParaRPr lang="en-GB"/>
          </a:p>
        </p:txBody>
      </p:sp>
      <p:sp>
        <p:nvSpPr>
          <p:cNvPr id="24" name="Text 24"/>
          <p:cNvSpPr txBox="1"/>
          <p:nvPr/>
        </p:nvSpPr>
        <p:spPr>
          <a:xfrm>
            <a:off x="6492240" y="3511296"/>
            <a:ext cx="292608" cy="292608"/>
          </a:xfrm>
          <a:prstGeom prst="rect">
            <a:avLst/>
          </a:prstGeom>
          <a:noFill/>
          <a:ln/>
        </p:spPr>
        <p:txBody>
          <a:bodyPr wrap="square" lIns="0" tIns="0" rIns="0" bIns="0" rtlCol="0" anchor="ctr"/>
          <a:lstStyle/>
          <a:p>
            <a:pPr marL="0" indent="0" algn="ctr">
              <a:buNone/>
            </a:pPr>
            <a:r>
              <a:rPr lang="en-GB" sz="1200" dirty="0">
                <a:solidFill>
                  <a:srgbClr val="1A2B5E"/>
                </a:solidFill>
                <a:latin typeface="Inter SemiBold Text SemiBold" pitchFamily="34" charset="0"/>
                <a:ea typeface="Inter SemiBold Text SemiBold" pitchFamily="34" charset="-122"/>
                <a:cs typeface="Inter SemiBold Text SemiBold" pitchFamily="34" charset="-120"/>
              </a:rPr>
              <a:t>✓</a:t>
            </a:r>
          </a:p>
        </p:txBody>
      </p:sp>
      <p:sp>
        <p:nvSpPr>
          <p:cNvPr id="25" name="Text 25"/>
          <p:cNvSpPr txBox="1"/>
          <p:nvPr/>
        </p:nvSpPr>
        <p:spPr>
          <a:xfrm>
            <a:off x="6949440" y="3447288"/>
            <a:ext cx="4251960" cy="420624"/>
          </a:xfrm>
          <a:prstGeom prst="rect">
            <a:avLst/>
          </a:prstGeom>
          <a:noFill/>
          <a:ln/>
        </p:spPr>
        <p:txBody>
          <a:bodyPr wrap="square" lIns="0" tIns="0" rIns="0" bIns="0" rtlCol="0" anchor="ctr"/>
          <a:lstStyle/>
          <a:p>
            <a:pPr marL="0" indent="0" algn="l">
              <a:lnSpc>
                <a:spcPct val="105000"/>
              </a:lnSpc>
              <a:buNone/>
            </a:pPr>
            <a:r>
              <a:rPr lang="en-GB" sz="1250" dirty="0">
                <a:solidFill>
                  <a:srgbClr val="FFFFFF"/>
                </a:solidFill>
                <a:latin typeface="Inter Text" pitchFamily="34" charset="0"/>
                <a:ea typeface="Inter Text" pitchFamily="34" charset="-122"/>
                <a:cs typeface="Inter Text" pitchFamily="34" charset="-120"/>
                <a:hlinkClick r:id="rId11">
                  <a:extLst>
                    <a:ext uri="{A12FA001-AC4F-418D-AE19-62706E023703}">
                      <ahyp:hlinkClr xmlns:ahyp="http://schemas.microsoft.com/office/drawing/2018/hyperlinkcolor" val="tx"/>
                    </a:ext>
                  </a:extLst>
                </a:hlinkClick>
              </a:rPr>
              <a:t>Art. 206</a:t>
            </a:r>
            <a:r>
              <a:rPr lang="en-GB" sz="1250" dirty="0">
                <a:solidFill>
                  <a:srgbClr val="FFFFFF"/>
                </a:solidFill>
                <a:latin typeface="Inter Text" pitchFamily="34" charset="0"/>
                <a:ea typeface="Inter Text" pitchFamily="34" charset="-122"/>
                <a:cs typeface="Inter Text" pitchFamily="34" charset="-120"/>
              </a:rPr>
              <a:t>, </a:t>
            </a:r>
            <a:r>
              <a:rPr lang="en-GB" sz="1250" dirty="0">
                <a:solidFill>
                  <a:srgbClr val="FFFFFF"/>
                </a:solidFill>
                <a:latin typeface="Inter Text" pitchFamily="34" charset="0"/>
                <a:ea typeface="Inter Text" pitchFamily="34" charset="-122"/>
                <a:cs typeface="Inter Text" pitchFamily="34" charset="-120"/>
                <a:hlinkClick r:id="rId14">
                  <a:extLst>
                    <a:ext uri="{A12FA001-AC4F-418D-AE19-62706E023703}">
                      <ahyp:hlinkClr xmlns:ahyp="http://schemas.microsoft.com/office/drawing/2018/hyperlinkcolor" val="tx"/>
                    </a:ext>
                  </a:extLst>
                </a:hlinkClick>
              </a:rPr>
              <a:t>168</a:t>
            </a:r>
            <a:r>
              <a:rPr lang="en-GB" sz="1250" dirty="0">
                <a:solidFill>
                  <a:srgbClr val="FFFFFF"/>
                </a:solidFill>
                <a:latin typeface="Inter Text" pitchFamily="34" charset="0"/>
                <a:ea typeface="Inter Text" pitchFamily="34" charset="-122"/>
                <a:cs typeface="Inter Text" pitchFamily="34" charset="-120"/>
              </a:rPr>
              <a:t>: the seller pays the VAT, the buyer deducts it</a:t>
            </a:r>
          </a:p>
        </p:txBody>
      </p:sp>
      <p:sp>
        <p:nvSpPr>
          <p:cNvPr id="26" name="Shape 26"/>
          <p:cNvSpPr/>
          <p:nvPr/>
        </p:nvSpPr>
        <p:spPr>
          <a:xfrm>
            <a:off x="6492240" y="4078224"/>
            <a:ext cx="292608" cy="292608"/>
          </a:xfrm>
          <a:prstGeom prst="ellipse">
            <a:avLst/>
          </a:prstGeom>
          <a:solidFill>
            <a:srgbClr val="19C3C8"/>
          </a:solidFill>
          <a:ln>
            <a:noFill/>
          </a:ln>
        </p:spPr>
        <p:txBody>
          <a:bodyPr/>
          <a:lstStyle/>
          <a:p>
            <a:endParaRPr lang="en-GB"/>
          </a:p>
        </p:txBody>
      </p:sp>
      <p:sp>
        <p:nvSpPr>
          <p:cNvPr id="27" name="Text 27"/>
          <p:cNvSpPr txBox="1"/>
          <p:nvPr/>
        </p:nvSpPr>
        <p:spPr>
          <a:xfrm>
            <a:off x="6492240" y="4078224"/>
            <a:ext cx="292608" cy="292608"/>
          </a:xfrm>
          <a:prstGeom prst="rect">
            <a:avLst/>
          </a:prstGeom>
          <a:noFill/>
          <a:ln/>
        </p:spPr>
        <p:txBody>
          <a:bodyPr wrap="square" lIns="0" tIns="0" rIns="0" bIns="0" rtlCol="0" anchor="ctr"/>
          <a:lstStyle/>
          <a:p>
            <a:pPr marL="0" indent="0" algn="ctr">
              <a:buNone/>
            </a:pPr>
            <a:r>
              <a:rPr lang="en-GB" sz="1200" dirty="0">
                <a:solidFill>
                  <a:srgbClr val="1A2B5E"/>
                </a:solidFill>
                <a:latin typeface="Inter SemiBold Text SemiBold" pitchFamily="34" charset="0"/>
                <a:ea typeface="Inter SemiBold Text SemiBold" pitchFamily="34" charset="-122"/>
                <a:cs typeface="Inter SemiBold Text SemiBold" pitchFamily="34" charset="-120"/>
              </a:rPr>
              <a:t>✓</a:t>
            </a:r>
          </a:p>
        </p:txBody>
      </p:sp>
      <p:sp>
        <p:nvSpPr>
          <p:cNvPr id="28" name="Text 28"/>
          <p:cNvSpPr txBox="1"/>
          <p:nvPr/>
        </p:nvSpPr>
        <p:spPr>
          <a:xfrm>
            <a:off x="6949440" y="4014216"/>
            <a:ext cx="4251960" cy="420624"/>
          </a:xfrm>
          <a:prstGeom prst="rect">
            <a:avLst/>
          </a:prstGeom>
          <a:noFill/>
          <a:ln/>
        </p:spPr>
        <p:txBody>
          <a:bodyPr wrap="square" lIns="0" tIns="0" rIns="0" bIns="0" rtlCol="0" anchor="ctr"/>
          <a:lstStyle/>
          <a:p>
            <a:pPr marL="0" indent="0" algn="l">
              <a:lnSpc>
                <a:spcPct val="105000"/>
              </a:lnSpc>
              <a:buNone/>
            </a:pPr>
            <a:r>
              <a:rPr lang="en-GB" sz="1250" dirty="0">
                <a:solidFill>
                  <a:srgbClr val="FFFFFF"/>
                </a:solidFill>
                <a:latin typeface="Inter Text" pitchFamily="34" charset="0"/>
                <a:ea typeface="Inter Text" pitchFamily="34" charset="-122"/>
                <a:cs typeface="Inter Text" pitchFamily="34" charset="-120"/>
                <a:hlinkClick r:id="rId12">
                  <a:extLst>
                    <a:ext uri="{A12FA001-AC4F-418D-AE19-62706E023703}">
                      <ahyp:hlinkClr xmlns:ahyp="http://schemas.microsoft.com/office/drawing/2018/hyperlinkcolor" val="tx"/>
                    </a:ext>
                  </a:extLst>
                </a:hlinkClick>
              </a:rPr>
              <a:t>New Art. 232 (ViDA)</a:t>
            </a:r>
            <a:r>
              <a:rPr lang="en-GB" sz="1250" dirty="0">
                <a:solidFill>
                  <a:srgbClr val="FFFFFF"/>
                </a:solidFill>
                <a:latin typeface="Inter Text" pitchFamily="34" charset="0"/>
                <a:ea typeface="Inter Text" pitchFamily="34" charset="-122"/>
                <a:cs typeface="Inter Text" pitchFamily="34" charset="-120"/>
              </a:rPr>
              <a:t>: an EN 16931 invoice needs no acceptance</a:t>
            </a:r>
          </a:p>
        </p:txBody>
      </p:sp>
      <p:sp>
        <p:nvSpPr>
          <p:cNvPr id="29" name="Shape 29"/>
          <p:cNvSpPr/>
          <p:nvPr/>
        </p:nvSpPr>
        <p:spPr>
          <a:xfrm>
            <a:off x="6492240" y="4645152"/>
            <a:ext cx="292608" cy="292608"/>
          </a:xfrm>
          <a:prstGeom prst="ellipse">
            <a:avLst/>
          </a:prstGeom>
          <a:solidFill>
            <a:srgbClr val="19C3C8"/>
          </a:solidFill>
          <a:ln>
            <a:noFill/>
          </a:ln>
        </p:spPr>
        <p:txBody>
          <a:bodyPr/>
          <a:lstStyle/>
          <a:p>
            <a:endParaRPr lang="en-GB"/>
          </a:p>
        </p:txBody>
      </p:sp>
      <p:sp>
        <p:nvSpPr>
          <p:cNvPr id="30" name="Text 30"/>
          <p:cNvSpPr txBox="1"/>
          <p:nvPr/>
        </p:nvSpPr>
        <p:spPr>
          <a:xfrm>
            <a:off x="6492240" y="4645152"/>
            <a:ext cx="292608" cy="292608"/>
          </a:xfrm>
          <a:prstGeom prst="rect">
            <a:avLst/>
          </a:prstGeom>
          <a:noFill/>
          <a:ln/>
        </p:spPr>
        <p:txBody>
          <a:bodyPr wrap="square" lIns="0" tIns="0" rIns="0" bIns="0" rtlCol="0" anchor="ctr"/>
          <a:lstStyle/>
          <a:p>
            <a:pPr marL="0" indent="0" algn="ctr">
              <a:buNone/>
            </a:pPr>
            <a:r>
              <a:rPr lang="en-GB" sz="1200" dirty="0">
                <a:solidFill>
                  <a:srgbClr val="1A2B5E"/>
                </a:solidFill>
                <a:latin typeface="Inter SemiBold Text SemiBold" pitchFamily="34" charset="0"/>
                <a:ea typeface="Inter SemiBold Text SemiBold" pitchFamily="34" charset="-122"/>
                <a:cs typeface="Inter SemiBold Text SemiBold" pitchFamily="34" charset="-120"/>
              </a:rPr>
              <a:t>✓</a:t>
            </a:r>
          </a:p>
        </p:txBody>
      </p:sp>
      <p:sp>
        <p:nvSpPr>
          <p:cNvPr id="31" name="Text 31"/>
          <p:cNvSpPr txBox="1"/>
          <p:nvPr/>
        </p:nvSpPr>
        <p:spPr>
          <a:xfrm>
            <a:off x="6949440" y="4581144"/>
            <a:ext cx="4251960" cy="420624"/>
          </a:xfrm>
          <a:prstGeom prst="rect">
            <a:avLst/>
          </a:prstGeom>
          <a:noFill/>
          <a:ln/>
        </p:spPr>
        <p:txBody>
          <a:bodyPr wrap="square" lIns="0" tIns="0" rIns="0" bIns="0" rtlCol="0" anchor="ctr"/>
          <a:lstStyle/>
          <a:p>
            <a:pPr marL="0" indent="0" algn="l">
              <a:lnSpc>
                <a:spcPct val="105000"/>
              </a:lnSpc>
              <a:buNone/>
            </a:pPr>
            <a:r>
              <a:rPr lang="en-GB" sz="1250" dirty="0">
                <a:solidFill>
                  <a:srgbClr val="FFFFFF"/>
                </a:solidFill>
                <a:latin typeface="Inter Text" pitchFamily="34" charset="0"/>
                <a:ea typeface="Inter Text" pitchFamily="34" charset="-122"/>
                <a:cs typeface="Inter Text" pitchFamily="34" charset="-120"/>
                <a:hlinkClick r:id="rId12">
                  <a:extLst>
                    <a:ext uri="{A12FA001-AC4F-418D-AE19-62706E023703}">
                      <ahyp:hlinkClr xmlns:ahyp="http://schemas.microsoft.com/office/drawing/2018/hyperlinkcolor" val="tx"/>
                    </a:ext>
                  </a:extLst>
                </a:hlinkClick>
              </a:rPr>
              <a:t>New Art. 263(3) (ViDA)</a:t>
            </a:r>
            <a:r>
              <a:rPr lang="en-GB" sz="1250" dirty="0">
                <a:solidFill>
                  <a:srgbClr val="FFFFFF"/>
                </a:solidFill>
                <a:latin typeface="Inter Text" pitchFamily="34" charset="0"/>
                <a:ea typeface="Inter Text" pitchFamily="34" charset="-122"/>
                <a:cs typeface="Inter Text" pitchFamily="34" charset="-120"/>
              </a:rPr>
              <a:t>: DRR accepts data that complies with the EN</a:t>
            </a:r>
          </a:p>
        </p:txBody>
      </p:sp>
      <p:sp>
        <p:nvSpPr>
          <p:cNvPr id="35" name="Pill 35"/>
          <p:cNvSpPr/>
          <p:nvPr/>
        </p:nvSpPr>
        <p:spPr>
          <a:xfrm>
            <a:off x="822960" y="5943600"/>
            <a:ext cx="10543032" cy="411480"/>
          </a:xfrm>
          <a:prstGeom prst="roundRect">
            <a:avLst>
              <a:gd name="adj" fmla="val 50000"/>
            </a:avLst>
          </a:prstGeom>
          <a:solidFill>
            <a:srgbClr val="F4F6FB"/>
          </a:solidFill>
          <a:ln w="9525">
            <a:solidFill>
              <a:srgbClr val="E2E7F2"/>
            </a:solidFill>
            <a:prstDash val="solid"/>
          </a:ln>
        </p:spPr>
        <p:txBody>
          <a:bodyPr wrap="square" lIns="36576" tIns="36576" rIns="36576" bIns="36576" rtlCol="0" anchor="ctr"/>
          <a:lstStyle/>
          <a:p>
            <a:pPr marL="0" indent="0" algn="ctr">
              <a:buNone/>
            </a:pPr>
            <a:r>
              <a:rPr lang="en-GB" sz="1100" dirty="0">
                <a:solidFill>
                  <a:srgbClr val="5B6890"/>
                </a:solidFill>
                <a:latin typeface="Inter SemiBold Text SemiBold" pitchFamily="34" charset="0"/>
                <a:ea typeface="Inter SemiBold Text SemiBold" pitchFamily="34" charset="-122"/>
                <a:cs typeface="Inter SemiBold Text SemiBold" pitchFamily="34" charset="-120"/>
              </a:rPr>
              <a:t>Sources:  </a:t>
            </a:r>
            <a:r>
              <a:rPr lang="en-GB" sz="1100" dirty="0">
                <a:solidFill>
                  <a:srgbClr val="5B6890"/>
                </a:solidFill>
                <a:latin typeface="Inter Text" pitchFamily="34" charset="0"/>
                <a:ea typeface="Inter Text" pitchFamily="34" charset="-122"/>
                <a:cs typeface="Inter Text" pitchFamily="34" charset="-120"/>
                <a:hlinkClick r:id="rId13">
                  <a:extLst>
                    <a:ext uri="{A12FA001-AC4F-418D-AE19-62706E023703}">
                      <ahyp:hlinkClr xmlns:ahyp="http://schemas.microsoft.com/office/drawing/2018/hyperlinkcolor" val="tx"/>
                    </a:ext>
                  </a:extLst>
                </a:hlinkClick>
              </a:rPr>
              <a:t>VAT Directive 2006/112/EC</a:t>
            </a:r>
            <a:r>
              <a:rPr lang="en-GB" sz="1100" dirty="0">
                <a:solidFill>
                  <a:srgbClr val="5B6890"/>
                </a:solidFill>
                <a:latin typeface="Inter Text" pitchFamily="34" charset="0"/>
                <a:ea typeface="Inter Text" pitchFamily="34" charset="-122"/>
                <a:cs typeface="Inter Text" pitchFamily="34" charset="-120"/>
              </a:rPr>
              <a:t> · ViDA, </a:t>
            </a:r>
            <a:r>
              <a:rPr lang="en-GB" sz="1100" dirty="0">
                <a:solidFill>
                  <a:srgbClr val="5B6890"/>
                </a:solidFill>
                <a:latin typeface="Inter Text" pitchFamily="34" charset="0"/>
                <a:ea typeface="Inter Text" pitchFamily="34" charset="-122"/>
                <a:cs typeface="Inter Text" pitchFamily="34" charset="-120"/>
                <a:hlinkClick r:id="rId12">
                  <a:extLst>
                    <a:ext uri="{A12FA001-AC4F-418D-AE19-62706E023703}">
                      <ahyp:hlinkClr xmlns:ahyp="http://schemas.microsoft.com/office/drawing/2018/hyperlinkcolor" val="tx"/>
                    </a:ext>
                  </a:extLst>
                </a:hlinkClick>
              </a:rPr>
              <a:t>Directive (EU) 2025/516</a:t>
            </a:r>
            <a:r>
              <a:rPr lang="en-GB" sz="1100" dirty="0">
                <a:solidFill>
                  <a:srgbClr val="5B6890"/>
                </a:solidFill>
                <a:latin typeface="Inter Text" pitchFamily="34" charset="0"/>
                <a:ea typeface="Inter Text" pitchFamily="34" charset="-122"/>
                <a:cs typeface="Inter Text" pitchFamily="34" charset="-120"/>
              </a:rPr>
              <a:t> · </a:t>
            </a:r>
            <a:r>
              <a:rPr lang="en-GB" sz="1100" dirty="0">
                <a:solidFill>
                  <a:srgbClr val="5B6890"/>
                </a:solidFill>
                <a:latin typeface="Inter Text" pitchFamily="34" charset="0"/>
                <a:ea typeface="Inter Text" pitchFamily="34" charset="-122"/>
                <a:cs typeface="Inter Text" pitchFamily="34" charset="-120"/>
                <a:hlinkClick r:id="rId9">
                  <a:extLst>
                    <a:ext uri="{A12FA001-AC4F-418D-AE19-62706E023703}">
                      <ahyp:hlinkClr xmlns:ahyp="http://schemas.microsoft.com/office/drawing/2018/hyperlinkcolor" val="tx"/>
                    </a:ext>
                  </a:extLst>
                </a:hlinkClick>
              </a:rPr>
              <a:t>CJEU C-484/06</a:t>
            </a:r>
            <a:r>
              <a:rPr lang="en-GB" sz="1100" dirty="0">
                <a:solidFill>
                  <a:srgbClr val="5B6890"/>
                </a:solidFill>
                <a:latin typeface="Inter Text" pitchFamily="34" charset="0"/>
                <a:ea typeface="Inter Text" pitchFamily="34" charset="-122"/>
                <a:cs typeface="Inter Text" pitchFamily="34" charset="-120"/>
              </a:rPr>
              <a:t> · </a:t>
            </a:r>
            <a:r>
              <a:rPr lang="en-GB" sz="1100" dirty="0">
                <a:solidFill>
                  <a:srgbClr val="5B6890"/>
                </a:solidFill>
                <a:latin typeface="Inter Text" pitchFamily="34" charset="0"/>
                <a:ea typeface="Inter Text" pitchFamily="34" charset="-122"/>
                <a:cs typeface="Inter Text" pitchFamily="34" charset="-120"/>
                <a:hlinkClick r:id="rId6">
                  <a:extLst>
                    <a:ext uri="{A12FA001-AC4F-418D-AE19-62706E023703}">
                      <ahyp:hlinkClr xmlns:ahyp="http://schemas.microsoft.com/office/drawing/2018/hyperlinkcolor" val="tx"/>
                    </a:ext>
                  </a:extLst>
                </a:hlinkClick>
              </a:rPr>
              <a:t>BMF letter of 15 Oct 2026</a:t>
            </a:r>
          </a:p>
        </p:txBody>
      </p:sp>
      <p:sp>
        <p:nvSpPr>
          <p:cNvPr id="36" name="Speaker 36">
            <a:hlinkClick r:id="rId5"/>
          </p:cNvPr>
          <p:cNvSpPr txBox="1"/>
          <p:nvPr/>
        </p:nvSpPr>
        <p:spPr>
          <a:xfrm>
            <a:off x="7680960" y="6514592"/>
            <a:ext cx="3154680" cy="292608"/>
          </a:xfrm>
          <a:prstGeom prst="rect">
            <a:avLst/>
          </a:prstGeom>
          <a:noFill/>
          <a:ln/>
        </p:spPr>
        <p:txBody>
          <a:bodyPr wrap="square" lIns="0" tIns="0" rIns="0" bIns="0" rtlCol="0" anchor="ctr"/>
          <a:lstStyle/>
          <a:p>
            <a:pPr marL="0" indent="0" algn="r">
              <a:buNone/>
            </a:pPr>
            <a:r>
              <a:rPr lang="en-GB" sz="1000" spc="100" dirty="0">
                <a:solidFill>
                  <a:srgbClr val="9AA4C2"/>
                </a:solidFill>
                <a:latin typeface="Inter Medium Text Medium" pitchFamily="34" charset="0"/>
                <a:ea typeface="Inter Medium Text Medium" pitchFamily="34" charset="-122"/>
                <a:cs typeface="Inter Medium Text Medium" pitchFamily="34" charset="-120"/>
              </a:rPr>
              <a:t>© Svante Schubert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Folie 31">
    <p:bg>
      <p:bgPr>
        <a:solidFill>
          <a:srgbClr val="F4F6FB"/>
        </a:solidFill>
        <a:effectLst/>
      </p:bgPr>
    </p:bg>
    <p:spTree>
      <p:nvGrpSpPr>
        <p:cNvPr id="1" name=""/>
        <p:cNvGrpSpPr/>
        <p:nvPr/>
      </p:nvGrpSpPr>
      <p:grpSpPr>
        <a:xfrm>
          <a:off x="0" y="0"/>
          <a:ext cx="0" cy="0"/>
          <a:chOff x="0" y="0"/>
          <a:chExt cx="0" cy="0"/>
        </a:xfrm>
      </p:grpSpPr>
      <p:sp>
        <p:nvSpPr>
          <p:cNvPr id="3" name="Header 3"/>
          <p:cNvSpPr txBox="1"/>
          <p:nvPr/>
        </p:nvSpPr>
        <p:spPr>
          <a:xfrm>
            <a:off x="822960" y="384048"/>
            <a:ext cx="7315200" cy="274320"/>
          </a:xfrm>
          <a:prstGeom prst="rect">
            <a:avLst/>
          </a:prstGeom>
          <a:noFill/>
          <a:ln/>
        </p:spPr>
        <p:txBody>
          <a:bodyPr wrap="square" lIns="0" tIns="0" rIns="0" bIns="0" rtlCol="0" anchor="ctr"/>
          <a:lstStyle/>
          <a:p>
            <a:pPr marL="0" indent="0" algn="l">
              <a:buNone/>
            </a:pPr>
            <a:r>
              <a:rPr lang="en-GB" sz="950" spc="100" dirty="0">
                <a:solidFill>
                  <a:srgbClr val="5B6890"/>
                </a:solidFill>
                <a:latin typeface="Inter Medium Text Medium" pitchFamily="34" charset="0"/>
                <a:ea typeface="Inter Medium Text Medium" pitchFamily="34" charset="-122"/>
                <a:cs typeface="Inter Medium Text Medium" pitchFamily="34" charset="-120"/>
              </a:rPr>
              <a:t>CEN/TC 434 WG1</a:t>
            </a:r>
            <a:r>
              <a:rPr lang="en-GB" sz="950" spc="100" dirty="0">
                <a:solidFill>
                  <a:srgbClr val="C2CADE"/>
                </a:solidFill>
                <a:latin typeface="Inter Text" pitchFamily="34" charset="0"/>
                <a:ea typeface="Inter Text" pitchFamily="34" charset="-122"/>
                <a:cs typeface="Inter Text" pitchFamily="34" charset="-120"/>
              </a:rPr>
              <a:t>   ·   </a:t>
            </a:r>
            <a:r>
              <a:rPr lang="en-GB" sz="950" spc="100" dirty="0">
                <a:solidFill>
                  <a:srgbClr val="9AA4C2"/>
                </a:solidFill>
                <a:latin typeface="Inter Text" pitchFamily="34" charset="0"/>
                <a:ea typeface="Inter Text" pitchFamily="34" charset="-122"/>
                <a:cs typeface="Inter Text" pitchFamily="34" charset="-120"/>
              </a:rPr>
              <a:t>EN 16931-1:2026 amendment · Gross prices and rounding</a:t>
            </a:r>
          </a:p>
        </p:txBody>
      </p:sp>
      <p:sp>
        <p:nvSpPr>
          <p:cNvPr id="4" name="SectionLabel 4"/>
          <p:cNvSpPr txBox="1"/>
          <p:nvPr/>
        </p:nvSpPr>
        <p:spPr>
          <a:xfrm>
            <a:off x="822960" y="868680"/>
            <a:ext cx="8229600" cy="274320"/>
          </a:xfrm>
          <a:prstGeom prst="rect">
            <a:avLst/>
          </a:prstGeom>
          <a:noFill/>
          <a:ln/>
        </p:spPr>
        <p:txBody>
          <a:bodyPr wrap="square" lIns="0" tIns="0" rIns="0" bIns="0" rtlCol="0" anchor="ctr"/>
          <a:lstStyle/>
          <a:p>
            <a:pPr marL="0" indent="0" algn="l">
              <a:buNone/>
            </a:pPr>
            <a:r>
              <a:rPr lang="en-GB" sz="1100" spc="300" dirty="0">
                <a:solidFill>
                  <a:srgbClr val="19C3C8"/>
                </a:solidFill>
                <a:latin typeface="Inter SemiBold Text SemiBold" pitchFamily="34" charset="0"/>
                <a:ea typeface="Inter SemiBold Text SemiBold" pitchFamily="34" charset="-122"/>
                <a:cs typeface="Inter SemiBold Text SemiBold" pitchFamily="34" charset="-120"/>
              </a:rPr>
              <a:t>EN 16931-1:2026 · TODAY</a:t>
            </a:r>
          </a:p>
        </p:txBody>
      </p:sp>
      <p:sp>
        <p:nvSpPr>
          <p:cNvPr id="5" name="Title 5"/>
          <p:cNvSpPr txBox="1"/>
          <p:nvPr/>
        </p:nvSpPr>
        <p:spPr>
          <a:xfrm>
            <a:off x="804672" y="1115568"/>
            <a:ext cx="10424160" cy="822960"/>
          </a:xfrm>
          <a:prstGeom prst="rect">
            <a:avLst/>
          </a:prstGeom>
          <a:noFill/>
          <a:ln/>
        </p:spPr>
        <p:txBody>
          <a:bodyPr wrap="square" lIns="0" tIns="0" rIns="0" bIns="0" rtlCol="0" anchor="t"/>
          <a:lstStyle/>
          <a:p>
            <a:pPr marL="0" indent="0" algn="l">
              <a:buNone/>
            </a:pPr>
            <a:r>
              <a:rPr lang="en-GB" sz="3800" b="1" dirty="0">
                <a:solidFill>
                  <a:srgbClr val="1A2B5E"/>
                </a:solidFill>
                <a:latin typeface="Inter Text" pitchFamily="34" charset="0"/>
                <a:ea typeface="Inter Text" pitchFamily="34" charset="-122"/>
                <a:cs typeface="Inter Text" pitchFamily="34" charset="-120"/>
              </a:rPr>
              <a:t>The specification contradicts itself</a:t>
            </a:r>
          </a:p>
        </p:txBody>
      </p:sp>
      <p:sp>
        <p:nvSpPr>
          <p:cNvPr id="6" name="Tagline 6"/>
          <p:cNvSpPr txBox="1"/>
          <p:nvPr/>
        </p:nvSpPr>
        <p:spPr>
          <a:xfrm>
            <a:off x="822960" y="1865376"/>
            <a:ext cx="10424160" cy="320040"/>
          </a:xfrm>
          <a:prstGeom prst="rect">
            <a:avLst/>
          </a:prstGeom>
          <a:noFill/>
          <a:ln/>
        </p:spPr>
        <p:txBody>
          <a:bodyPr wrap="square" lIns="0" tIns="0" rIns="0" bIns="0" rtlCol="0" anchor="ctr"/>
          <a:lstStyle/>
          <a:p>
            <a:pPr marL="0" indent="0" algn="l">
              <a:buNone/>
            </a:pPr>
            <a:r>
              <a:rPr lang="en-GB" sz="1300" dirty="0">
                <a:solidFill>
                  <a:srgbClr val="5B6890"/>
                </a:solidFill>
                <a:latin typeface="Inter Text" pitchFamily="34" charset="0"/>
                <a:ea typeface="Inter Text" pitchFamily="34" charset="-122"/>
                <a:cs typeface="Inter Text" pitchFamily="34" charset="-120"/>
              </a:rPr>
              <a:t>6.5.14 forbids intermediate rounding — Table 28 forces it.</a:t>
            </a:r>
          </a:p>
        </p:txBody>
      </p:sp>
      <p:sp>
        <p:nvSpPr>
          <p:cNvPr id="7" name="PageNum 7"/>
          <p:cNvSpPr txBox="1"/>
          <p:nvPr/>
        </p:nvSpPr>
        <p:spPr>
          <a:xfrm>
            <a:off x="10908792" y="6514592"/>
            <a:ext cx="822960" cy="292608"/>
          </a:xfrm>
          <a:prstGeom prst="rect">
            <a:avLst/>
          </a:prstGeom>
          <a:noFill/>
          <a:ln/>
        </p:spPr>
        <p:txBody>
          <a:bodyPr wrap="square" lIns="0" tIns="0" rIns="0" bIns="0" rtlCol="0" anchor="ctr"/>
          <a:lstStyle/>
          <a:p>
            <a:pPr marL="0" indent="0" algn="r">
              <a:buNone/>
            </a:pPr>
            <a:fld id="{67D73E2F-A595-473C-9F0C-80BA506D5B08}" type="slidenum">
              <a:rPr lang="en-GB" sz="1000" spc="200" dirty="0">
                <a:solidFill>
                  <a:srgbClr val="5B6890"/>
                </a:solidFill>
                <a:latin typeface="Inter SemiBold Text SemiBold" pitchFamily="34" charset="0"/>
                <a:ea typeface="Inter SemiBold Text SemiBold" pitchFamily="34" charset="-122"/>
                <a:cs typeface="Inter SemiBold Text SemiBold" pitchFamily="34" charset="-120"/>
              </a:rPr>
              <a:t>4</a:t>
            </a:fld>
            <a:endParaRPr lang="en-GB" sz="1000" spc="200" dirty="0">
              <a:solidFill>
                <a:srgbClr val="5B6890"/>
              </a:solidFill>
              <a:latin typeface="Inter SemiBold Text SemiBold" pitchFamily="34" charset="0"/>
              <a:ea typeface="Inter SemiBold Text SemiBold" pitchFamily="34" charset="-122"/>
              <a:cs typeface="Inter SemiBold Text SemiBold" pitchFamily="34" charset="-120"/>
            </a:endParaRPr>
          </a:p>
        </p:txBody>
      </p:sp>
      <p:sp>
        <p:nvSpPr>
          <p:cNvPr id="8" name="Card 8"/>
          <p:cNvSpPr/>
          <p:nvPr/>
        </p:nvSpPr>
        <p:spPr>
          <a:xfrm>
            <a:off x="822960" y="2331720"/>
            <a:ext cx="5166360" cy="1691640"/>
          </a:xfrm>
          <a:prstGeom prst="roundRect">
            <a:avLst>
              <a:gd name="adj" fmla="val 4324"/>
            </a:avLst>
          </a:prstGeom>
          <a:solidFill>
            <a:srgbClr val="FFFFFF"/>
          </a:solidFill>
          <a:ln w="12700">
            <a:solidFill>
              <a:srgbClr val="E2E7F2"/>
            </a:solidFill>
            <a:prstDash val="solid"/>
          </a:ln>
          <a:effectLst>
            <a:outerShdw blurRad="101600" dist="38100" dir="5400000" algn="bl" rotWithShape="0">
              <a:srgbClr val="0A1230">
                <a:alpha val="8000"/>
              </a:srgbClr>
            </a:outerShdw>
          </a:effectLst>
        </p:spPr>
        <p:txBody>
          <a:bodyPr/>
          <a:lstStyle/>
          <a:p>
            <a:endParaRPr lang="en-GB"/>
          </a:p>
        </p:txBody>
      </p:sp>
      <p:sp>
        <p:nvSpPr>
          <p:cNvPr id="9" name="IconCircle 9"/>
          <p:cNvSpPr/>
          <p:nvPr/>
        </p:nvSpPr>
        <p:spPr>
          <a:xfrm>
            <a:off x="1060704" y="2532888"/>
            <a:ext cx="402336" cy="402336"/>
          </a:xfrm>
          <a:prstGeom prst="ellipse">
            <a:avLst/>
          </a:prstGeom>
          <a:solidFill>
            <a:srgbClr val="19C3C8"/>
          </a:solidFill>
          <a:ln>
            <a:noFill/>
          </a:ln>
          <a:effectLst>
            <a:outerShdw blurRad="88900" dist="38100" dir="5400000" algn="bl" rotWithShape="0">
              <a:srgbClr val="0A1230">
                <a:alpha val="18000"/>
              </a:srgbClr>
            </a:outerShdw>
          </a:effectLst>
        </p:spPr>
        <p:txBody>
          <a:bodyPr/>
          <a:lstStyle/>
          <a:p>
            <a:endParaRPr lang="en-GB"/>
          </a:p>
        </p:txBody>
      </p:sp>
      <p:pic>
        <p:nvPicPr>
          <p:cNvPr id="10" name="Icon 10"/>
          <p:cNvPicPr>
            <a:picLocks noChangeAspect="1"/>
          </p:cNvPicPr>
          <p:nvPr/>
        </p:nvPicPr>
        <p:blipFill>
          <a:blip r:embed="rId3"/>
          <a:stretch>
            <a:fillRect/>
          </a:stretch>
        </p:blipFill>
        <p:spPr>
          <a:xfrm>
            <a:off x="1171346" y="2643530"/>
            <a:ext cx="181051" cy="181051"/>
          </a:xfrm>
          <a:prstGeom prst="rect">
            <a:avLst/>
          </a:prstGeom>
        </p:spPr>
      </p:pic>
      <p:sp>
        <p:nvSpPr>
          <p:cNvPr id="11" name="Text 11"/>
          <p:cNvSpPr txBox="1"/>
          <p:nvPr/>
        </p:nvSpPr>
        <p:spPr>
          <a:xfrm>
            <a:off x="1600200" y="2514600"/>
            <a:ext cx="4206240" cy="438912"/>
          </a:xfrm>
          <a:prstGeom prst="rect">
            <a:avLst/>
          </a:prstGeom>
          <a:noFill/>
          <a:ln/>
        </p:spPr>
        <p:txBody>
          <a:bodyPr wrap="square" lIns="0" tIns="0" rIns="0" bIns="0" rtlCol="0" anchor="ctr"/>
          <a:lstStyle/>
          <a:p>
            <a:pPr marL="0" indent="0" algn="l">
              <a:buNone/>
            </a:pPr>
            <a:r>
              <a:rPr lang="en-GB" sz="1500" dirty="0">
                <a:solidFill>
                  <a:srgbClr val="1A2B5E"/>
                </a:solidFill>
                <a:latin typeface="Inter SemiBold Text SemiBold" pitchFamily="34" charset="0"/>
                <a:ea typeface="Inter SemiBold Text SemiBold" pitchFamily="34" charset="-122"/>
                <a:cs typeface="Inter SemiBold Text SemiBold" pitchFamily="34" charset="-120"/>
              </a:rPr>
              <a:t>6.5.14: round final results only</a:t>
            </a:r>
          </a:p>
        </p:txBody>
      </p:sp>
      <p:sp>
        <p:nvSpPr>
          <p:cNvPr id="12" name="Text 12"/>
          <p:cNvSpPr txBox="1"/>
          <p:nvPr/>
        </p:nvSpPr>
        <p:spPr>
          <a:xfrm>
            <a:off x="1133856" y="2990088"/>
            <a:ext cx="4663440" cy="1005840"/>
          </a:xfrm>
          <a:prstGeom prst="rect">
            <a:avLst/>
          </a:prstGeom>
          <a:noFill/>
          <a:ln/>
        </p:spPr>
        <p:txBody>
          <a:bodyPr wrap="square" lIns="0" tIns="0" rIns="0" bIns="0" rtlCol="0" anchor="t"/>
          <a:lstStyle/>
          <a:p>
            <a:pPr marL="164592" indent="-164592" algn="l">
              <a:spcAft>
                <a:spcPts val="200"/>
              </a:spcAft>
              <a:buSzPct val="100000"/>
              <a:buChar char="•"/>
            </a:pPr>
            <a:r>
              <a:rPr lang="en-GB" sz="1200" dirty="0">
                <a:solidFill>
                  <a:srgbClr val="5B6890"/>
                </a:solidFill>
                <a:latin typeface="Inter Text" pitchFamily="34" charset="0"/>
                <a:ea typeface="Inter Text" pitchFamily="34" charset="-122"/>
                <a:cs typeface="Inter Text" pitchFamily="34" charset="-120"/>
              </a:rPr>
              <a:t>“… on the final calculation results and not on any intermediate results”</a:t>
            </a:r>
          </a:p>
          <a:p>
            <a:pPr marL="164592" indent="-164592" algn="l">
              <a:spcAft>
                <a:spcPts val="200"/>
              </a:spcAft>
              <a:buSzPct val="100000"/>
              <a:buChar char="•"/>
            </a:pPr>
            <a:r>
              <a:rPr lang="en-GB" sz="1200" dirty="0">
                <a:solidFill>
                  <a:srgbClr val="5B6890"/>
                </a:solidFill>
                <a:latin typeface="Inter Text" pitchFamily="34" charset="0"/>
                <a:ea typeface="Inter Text" pitchFamily="34" charset="-122"/>
                <a:cs typeface="Inter Text" pitchFamily="34" charset="-120"/>
              </a:rPr>
              <a:t>The same principle was already in the 2017 edition</a:t>
            </a:r>
          </a:p>
        </p:txBody>
      </p:sp>
      <p:sp>
        <p:nvSpPr>
          <p:cNvPr id="13" name="Card 13"/>
          <p:cNvSpPr/>
          <p:nvPr/>
        </p:nvSpPr>
        <p:spPr>
          <a:xfrm>
            <a:off x="822960" y="4160520"/>
            <a:ext cx="5166360" cy="1645920"/>
          </a:xfrm>
          <a:prstGeom prst="roundRect">
            <a:avLst>
              <a:gd name="adj" fmla="val 4444"/>
            </a:avLst>
          </a:prstGeom>
          <a:solidFill>
            <a:srgbClr val="FFFFFF"/>
          </a:solidFill>
          <a:ln w="12700">
            <a:solidFill>
              <a:srgbClr val="E2E7F2"/>
            </a:solidFill>
            <a:prstDash val="solid"/>
          </a:ln>
          <a:effectLst>
            <a:outerShdw blurRad="101600" dist="38100" dir="5400000" algn="bl" rotWithShape="0">
              <a:srgbClr val="0A1230">
                <a:alpha val="8000"/>
              </a:srgbClr>
            </a:outerShdw>
          </a:effectLst>
        </p:spPr>
        <p:txBody>
          <a:bodyPr/>
          <a:lstStyle/>
          <a:p>
            <a:endParaRPr lang="en-GB"/>
          </a:p>
        </p:txBody>
      </p:sp>
      <p:sp>
        <p:nvSpPr>
          <p:cNvPr id="14" name="IconCircle 14"/>
          <p:cNvSpPr/>
          <p:nvPr/>
        </p:nvSpPr>
        <p:spPr>
          <a:xfrm>
            <a:off x="1060704" y="4361688"/>
            <a:ext cx="402336" cy="402336"/>
          </a:xfrm>
          <a:prstGeom prst="ellipse">
            <a:avLst/>
          </a:prstGeom>
          <a:solidFill>
            <a:srgbClr val="1A2B5E"/>
          </a:solidFill>
          <a:ln>
            <a:noFill/>
          </a:ln>
          <a:effectLst>
            <a:outerShdw blurRad="88900" dist="38100" dir="5400000" algn="bl" rotWithShape="0">
              <a:srgbClr val="0A1230">
                <a:alpha val="18000"/>
              </a:srgbClr>
            </a:outerShdw>
          </a:effectLst>
        </p:spPr>
        <p:txBody>
          <a:bodyPr/>
          <a:lstStyle/>
          <a:p>
            <a:endParaRPr lang="en-GB"/>
          </a:p>
        </p:txBody>
      </p:sp>
      <p:pic>
        <p:nvPicPr>
          <p:cNvPr id="15" name="Icon 15"/>
          <p:cNvPicPr>
            <a:picLocks noChangeAspect="1"/>
          </p:cNvPicPr>
          <p:nvPr/>
        </p:nvPicPr>
        <p:blipFill>
          <a:blip r:embed="rId4"/>
          <a:stretch>
            <a:fillRect/>
          </a:stretch>
        </p:blipFill>
        <p:spPr>
          <a:xfrm>
            <a:off x="1171346" y="4472330"/>
            <a:ext cx="181051" cy="181051"/>
          </a:xfrm>
          <a:prstGeom prst="rect">
            <a:avLst/>
          </a:prstGeom>
        </p:spPr>
      </p:pic>
      <p:sp>
        <p:nvSpPr>
          <p:cNvPr id="16" name="Text 16"/>
          <p:cNvSpPr txBox="1"/>
          <p:nvPr/>
        </p:nvSpPr>
        <p:spPr>
          <a:xfrm>
            <a:off x="1600200" y="4343400"/>
            <a:ext cx="4206240" cy="438912"/>
          </a:xfrm>
          <a:prstGeom prst="rect">
            <a:avLst/>
          </a:prstGeom>
          <a:noFill/>
          <a:ln/>
        </p:spPr>
        <p:txBody>
          <a:bodyPr wrap="square" lIns="0" tIns="0" rIns="0" bIns="0" rtlCol="0" anchor="ctr"/>
          <a:lstStyle/>
          <a:p>
            <a:pPr marL="0" indent="0" algn="l">
              <a:buNone/>
            </a:pPr>
            <a:r>
              <a:rPr lang="en-GB" sz="1500" dirty="0">
                <a:solidFill>
                  <a:srgbClr val="1A2B5E"/>
                </a:solidFill>
                <a:latin typeface="Inter SemiBold Text SemiBold" pitchFamily="34" charset="0"/>
                <a:ea typeface="Inter SemiBold Text SemiBold" pitchFamily="34" charset="-122"/>
                <a:cs typeface="Inter SemiBold Text SemiBold" pitchFamily="34" charset="-120"/>
              </a:rPr>
              <a:t>Table 28: maximum decimal places</a:t>
            </a:r>
          </a:p>
        </p:txBody>
      </p:sp>
      <p:sp>
        <p:nvSpPr>
          <p:cNvPr id="17" name="Text 17"/>
          <p:cNvSpPr txBox="1"/>
          <p:nvPr/>
        </p:nvSpPr>
        <p:spPr>
          <a:xfrm>
            <a:off x="1133856" y="4818888"/>
            <a:ext cx="4663440" cy="960120"/>
          </a:xfrm>
          <a:prstGeom prst="rect">
            <a:avLst/>
          </a:prstGeom>
          <a:noFill/>
          <a:ln/>
        </p:spPr>
        <p:txBody>
          <a:bodyPr wrap="square" lIns="0" tIns="0" rIns="0" bIns="0" rtlCol="0" anchor="t"/>
          <a:lstStyle/>
          <a:p>
            <a:pPr marL="164592" indent="-164592" algn="l">
              <a:spcAft>
                <a:spcPts val="200"/>
              </a:spcAft>
              <a:buSzPct val="100000"/>
              <a:buChar char="•"/>
            </a:pPr>
            <a:r>
              <a:rPr lang="en-GB" sz="1200" dirty="0">
                <a:solidFill>
                  <a:srgbClr val="5B6890"/>
                </a:solidFill>
                <a:latin typeface="Inter Text" pitchFamily="34" charset="0"/>
                <a:ea typeface="Inter Text" pitchFamily="34" charset="-122"/>
                <a:cs typeface="Inter Text" pitchFamily="34" charset="-120"/>
              </a:rPr>
              <a:t>BT-146 Item net price: Minor Unit + 2 (new in 2026)</a:t>
            </a:r>
          </a:p>
          <a:p>
            <a:pPr marL="164592" indent="-164592" algn="l">
              <a:spcAft>
                <a:spcPts val="200"/>
              </a:spcAft>
              <a:buSzPct val="100000"/>
              <a:buChar char="•"/>
            </a:pPr>
            <a:r>
              <a:rPr lang="en-GB" sz="1200" dirty="0">
                <a:solidFill>
                  <a:srgbClr val="5B6890"/>
                </a:solidFill>
                <a:latin typeface="Inter Text" pitchFamily="34" charset="0"/>
                <a:ea typeface="Inter Text" pitchFamily="34" charset="-122"/>
                <a:cs typeface="Inter Text" pitchFamily="34" charset="-120"/>
              </a:rPr>
              <a:t>BT-131 Invoice line net amount and all sums: Minor Unit</a:t>
            </a:r>
          </a:p>
          <a:p>
            <a:pPr marL="164592" indent="-164592" algn="l">
              <a:spcAft>
                <a:spcPts val="200"/>
              </a:spcAft>
              <a:buSzPct val="100000"/>
              <a:buChar char="•"/>
            </a:pPr>
            <a:r>
              <a:rPr lang="en-GB" sz="1200" dirty="0">
                <a:solidFill>
                  <a:srgbClr val="5B6890"/>
                </a:solidFill>
                <a:latin typeface="Inter Text" pitchFamily="34" charset="0"/>
                <a:ea typeface="Inter Text" pitchFamily="34" charset="-122"/>
                <a:cs typeface="Inter Text" pitchFamily="34" charset="-120"/>
              </a:rPr>
              <a:t>BT-129 Invoiced quantity: 4 dp, BT-149: 2 dp (new in 2026)</a:t>
            </a:r>
          </a:p>
        </p:txBody>
      </p:sp>
      <p:sp>
        <p:nvSpPr>
          <p:cNvPr id="18" name="Panel 18"/>
          <p:cNvSpPr/>
          <p:nvPr/>
        </p:nvSpPr>
        <p:spPr>
          <a:xfrm>
            <a:off x="6172200" y="2331720"/>
            <a:ext cx="5193792" cy="3474720"/>
          </a:xfrm>
          <a:prstGeom prst="roundRect">
            <a:avLst>
              <a:gd name="adj" fmla="val 2631"/>
            </a:avLst>
          </a:prstGeom>
          <a:solidFill>
            <a:srgbClr val="1A2B5E"/>
          </a:solidFill>
          <a:ln>
            <a:noFill/>
          </a:ln>
          <a:effectLst>
            <a:outerShdw blurRad="101600" dist="38100" dir="5400000" algn="bl" rotWithShape="0">
              <a:srgbClr val="0A1230">
                <a:alpha val="18000"/>
              </a:srgbClr>
            </a:outerShdw>
          </a:effectLst>
        </p:spPr>
        <p:txBody>
          <a:bodyPr/>
          <a:lstStyle/>
          <a:p>
            <a:endParaRPr lang="en-GB"/>
          </a:p>
        </p:txBody>
      </p:sp>
      <p:sp>
        <p:nvSpPr>
          <p:cNvPr id="19" name="Text 19"/>
          <p:cNvSpPr txBox="1"/>
          <p:nvPr/>
        </p:nvSpPr>
        <p:spPr>
          <a:xfrm>
            <a:off x="6492240" y="2514600"/>
            <a:ext cx="4572000" cy="274320"/>
          </a:xfrm>
          <a:prstGeom prst="rect">
            <a:avLst/>
          </a:prstGeom>
          <a:noFill/>
          <a:ln/>
        </p:spPr>
        <p:txBody>
          <a:bodyPr wrap="square" lIns="0" tIns="0" rIns="0" bIns="0" rtlCol="0" anchor="ctr"/>
          <a:lstStyle/>
          <a:p>
            <a:pPr marL="0" indent="0" algn="l">
              <a:buNone/>
            </a:pPr>
            <a:r>
              <a:rPr lang="en-GB" sz="1100" spc="300" dirty="0">
                <a:solidFill>
                  <a:srgbClr val="19C3C8"/>
                </a:solidFill>
                <a:latin typeface="Inter SemiBold Text SemiBold" pitchFamily="34" charset="0"/>
                <a:ea typeface="Inter SemiBold Text SemiBold" pitchFamily="34" charset="-122"/>
                <a:cs typeface="Inter SemiBold Text SemiBold" pitchFamily="34" charset="-120"/>
              </a:rPr>
              <a:t>CONSEQUENCES</a:t>
            </a:r>
          </a:p>
        </p:txBody>
      </p:sp>
      <p:sp>
        <p:nvSpPr>
          <p:cNvPr id="20" name="Shape 20"/>
          <p:cNvSpPr/>
          <p:nvPr/>
        </p:nvSpPr>
        <p:spPr>
          <a:xfrm>
            <a:off x="6492240" y="2944368"/>
            <a:ext cx="292608" cy="292608"/>
          </a:xfrm>
          <a:prstGeom prst="ellipse">
            <a:avLst/>
          </a:prstGeom>
          <a:solidFill>
            <a:srgbClr val="19C3C8"/>
          </a:solidFill>
          <a:ln>
            <a:noFill/>
          </a:ln>
        </p:spPr>
        <p:txBody>
          <a:bodyPr/>
          <a:lstStyle/>
          <a:p>
            <a:endParaRPr lang="en-GB"/>
          </a:p>
        </p:txBody>
      </p:sp>
      <p:sp>
        <p:nvSpPr>
          <p:cNvPr id="21" name="Text 21"/>
          <p:cNvSpPr txBox="1"/>
          <p:nvPr/>
        </p:nvSpPr>
        <p:spPr>
          <a:xfrm>
            <a:off x="6492240" y="2944368"/>
            <a:ext cx="292608" cy="292608"/>
          </a:xfrm>
          <a:prstGeom prst="rect">
            <a:avLst/>
          </a:prstGeom>
          <a:noFill/>
          <a:ln/>
        </p:spPr>
        <p:txBody>
          <a:bodyPr wrap="square" lIns="0" tIns="0" rIns="0" bIns="0" rtlCol="0" anchor="ctr"/>
          <a:lstStyle/>
          <a:p>
            <a:pPr marL="0" indent="0" algn="ctr">
              <a:buNone/>
            </a:pPr>
            <a:r>
              <a:rPr lang="en-GB" sz="1200" dirty="0">
                <a:solidFill>
                  <a:srgbClr val="1A2B5E"/>
                </a:solidFill>
                <a:latin typeface="Inter SemiBold Text SemiBold" pitchFamily="34" charset="0"/>
                <a:ea typeface="Inter SemiBold Text SemiBold" pitchFamily="34" charset="-122"/>
                <a:cs typeface="Inter SemiBold Text SemiBold" pitchFamily="34" charset="-120"/>
              </a:rPr>
              <a:t>✓</a:t>
            </a:r>
          </a:p>
        </p:txBody>
      </p:sp>
      <p:sp>
        <p:nvSpPr>
          <p:cNvPr id="22" name="Text 22"/>
          <p:cNvSpPr txBox="1"/>
          <p:nvPr/>
        </p:nvSpPr>
        <p:spPr>
          <a:xfrm>
            <a:off x="6949440" y="2880360"/>
            <a:ext cx="4251960" cy="420624"/>
          </a:xfrm>
          <a:prstGeom prst="rect">
            <a:avLst/>
          </a:prstGeom>
          <a:noFill/>
          <a:ln/>
        </p:spPr>
        <p:txBody>
          <a:bodyPr wrap="square" lIns="0" tIns="0" rIns="0" bIns="0" rtlCol="0" anchor="ctr"/>
          <a:lstStyle/>
          <a:p>
            <a:pPr marL="0" indent="0" algn="l">
              <a:lnSpc>
                <a:spcPct val="105000"/>
              </a:lnSpc>
              <a:buNone/>
            </a:pPr>
            <a:r>
              <a:rPr lang="en-GB" sz="1250" dirty="0">
                <a:solidFill>
                  <a:srgbClr val="FFFFFF"/>
                </a:solidFill>
                <a:latin typeface="Inter Text" pitchFamily="34" charset="0"/>
                <a:ea typeface="Inter Text" pitchFamily="34" charset="-122"/>
                <a:cs typeface="Inter Text" pitchFamily="34" charset="-120"/>
              </a:rPr>
              <a:t>Every rule starts from rounded values — the errors add up</a:t>
            </a:r>
          </a:p>
        </p:txBody>
      </p:sp>
      <p:sp>
        <p:nvSpPr>
          <p:cNvPr id="23" name="Shape 23"/>
          <p:cNvSpPr/>
          <p:nvPr/>
        </p:nvSpPr>
        <p:spPr>
          <a:xfrm>
            <a:off x="6492240" y="3511296"/>
            <a:ext cx="292608" cy="292608"/>
          </a:xfrm>
          <a:prstGeom prst="ellipse">
            <a:avLst/>
          </a:prstGeom>
          <a:solidFill>
            <a:srgbClr val="19C3C8"/>
          </a:solidFill>
          <a:ln>
            <a:noFill/>
          </a:ln>
        </p:spPr>
        <p:txBody>
          <a:bodyPr/>
          <a:lstStyle/>
          <a:p>
            <a:endParaRPr lang="en-GB"/>
          </a:p>
        </p:txBody>
      </p:sp>
      <p:sp>
        <p:nvSpPr>
          <p:cNvPr id="24" name="Text 24"/>
          <p:cNvSpPr txBox="1"/>
          <p:nvPr/>
        </p:nvSpPr>
        <p:spPr>
          <a:xfrm>
            <a:off x="6492240" y="3511296"/>
            <a:ext cx="292608" cy="292608"/>
          </a:xfrm>
          <a:prstGeom prst="rect">
            <a:avLst/>
          </a:prstGeom>
          <a:noFill/>
          <a:ln/>
        </p:spPr>
        <p:txBody>
          <a:bodyPr wrap="square" lIns="0" tIns="0" rIns="0" bIns="0" rtlCol="0" anchor="ctr"/>
          <a:lstStyle/>
          <a:p>
            <a:pPr marL="0" indent="0" algn="ctr">
              <a:buNone/>
            </a:pPr>
            <a:r>
              <a:rPr lang="en-GB" sz="1200" dirty="0">
                <a:solidFill>
                  <a:srgbClr val="1A2B5E"/>
                </a:solidFill>
                <a:latin typeface="Inter SemiBold Text SemiBold" pitchFamily="34" charset="0"/>
                <a:ea typeface="Inter SemiBold Text SemiBold" pitchFamily="34" charset="-122"/>
                <a:cs typeface="Inter SemiBold Text SemiBold" pitchFamily="34" charset="-120"/>
              </a:rPr>
              <a:t>✓</a:t>
            </a:r>
          </a:p>
        </p:txBody>
      </p:sp>
      <p:sp>
        <p:nvSpPr>
          <p:cNvPr id="25" name="Text 25"/>
          <p:cNvSpPr txBox="1"/>
          <p:nvPr/>
        </p:nvSpPr>
        <p:spPr>
          <a:xfrm>
            <a:off x="6949440" y="3447288"/>
            <a:ext cx="4251960" cy="420624"/>
          </a:xfrm>
          <a:prstGeom prst="rect">
            <a:avLst/>
          </a:prstGeom>
          <a:noFill/>
          <a:ln/>
        </p:spPr>
        <p:txBody>
          <a:bodyPr wrap="square" lIns="0" tIns="0" rIns="0" bIns="0" rtlCol="0" anchor="ctr"/>
          <a:lstStyle/>
          <a:p>
            <a:pPr marL="0" indent="0" algn="l">
              <a:lnSpc>
                <a:spcPct val="105000"/>
              </a:lnSpc>
              <a:buNone/>
            </a:pPr>
            <a:r>
              <a:rPr lang="en-GB" sz="1250" dirty="0">
                <a:solidFill>
                  <a:srgbClr val="FFFFFF"/>
                </a:solidFill>
                <a:latin typeface="Inter Text" pitchFamily="34" charset="0"/>
                <a:ea typeface="Inter Text" pitchFamily="34" charset="-122"/>
                <a:cs typeface="Inter Text" pitchFamily="34" charset="-120"/>
              </a:rPr>
              <a:t>Tolerances of up to €1 (BR-S-9) hide the deviation</a:t>
            </a:r>
          </a:p>
        </p:txBody>
      </p:sp>
      <p:sp>
        <p:nvSpPr>
          <p:cNvPr id="26" name="Shape 26"/>
          <p:cNvSpPr/>
          <p:nvPr/>
        </p:nvSpPr>
        <p:spPr>
          <a:xfrm>
            <a:off x="6492240" y="4078224"/>
            <a:ext cx="292608" cy="292608"/>
          </a:xfrm>
          <a:prstGeom prst="ellipse">
            <a:avLst/>
          </a:prstGeom>
          <a:solidFill>
            <a:srgbClr val="19C3C8"/>
          </a:solidFill>
          <a:ln>
            <a:noFill/>
          </a:ln>
        </p:spPr>
        <p:txBody>
          <a:bodyPr/>
          <a:lstStyle/>
          <a:p>
            <a:endParaRPr lang="en-GB"/>
          </a:p>
        </p:txBody>
      </p:sp>
      <p:sp>
        <p:nvSpPr>
          <p:cNvPr id="27" name="Text 27"/>
          <p:cNvSpPr txBox="1"/>
          <p:nvPr/>
        </p:nvSpPr>
        <p:spPr>
          <a:xfrm>
            <a:off x="6492240" y="4078224"/>
            <a:ext cx="292608" cy="292608"/>
          </a:xfrm>
          <a:prstGeom prst="rect">
            <a:avLst/>
          </a:prstGeom>
          <a:noFill/>
          <a:ln/>
        </p:spPr>
        <p:txBody>
          <a:bodyPr wrap="square" lIns="0" tIns="0" rIns="0" bIns="0" rtlCol="0" anchor="ctr"/>
          <a:lstStyle/>
          <a:p>
            <a:pPr marL="0" indent="0" algn="ctr">
              <a:buNone/>
            </a:pPr>
            <a:r>
              <a:rPr lang="en-GB" sz="1200" dirty="0">
                <a:solidFill>
                  <a:srgbClr val="1A2B5E"/>
                </a:solidFill>
                <a:latin typeface="Inter SemiBold Text SemiBold" pitchFamily="34" charset="0"/>
                <a:ea typeface="Inter SemiBold Text SemiBold" pitchFamily="34" charset="-122"/>
                <a:cs typeface="Inter SemiBold Text SemiBold" pitchFamily="34" charset="-120"/>
              </a:rPr>
              <a:t>✓</a:t>
            </a:r>
          </a:p>
        </p:txBody>
      </p:sp>
      <p:sp>
        <p:nvSpPr>
          <p:cNvPr id="28" name="Text 28"/>
          <p:cNvSpPr txBox="1"/>
          <p:nvPr/>
        </p:nvSpPr>
        <p:spPr>
          <a:xfrm>
            <a:off x="6949440" y="4014216"/>
            <a:ext cx="4251960" cy="420624"/>
          </a:xfrm>
          <a:prstGeom prst="rect">
            <a:avLst/>
          </a:prstGeom>
          <a:noFill/>
          <a:ln/>
        </p:spPr>
        <p:txBody>
          <a:bodyPr wrap="square" lIns="0" tIns="0" rIns="0" bIns="0" rtlCol="0" anchor="ctr"/>
          <a:lstStyle/>
          <a:p>
            <a:pPr marL="0" indent="0" algn="l">
              <a:lnSpc>
                <a:spcPct val="105000"/>
              </a:lnSpc>
              <a:buNone/>
            </a:pPr>
            <a:r>
              <a:rPr lang="en-GB" sz="1250" dirty="0">
                <a:solidFill>
                  <a:srgbClr val="FFFFFF"/>
                </a:solidFill>
                <a:latin typeface="Inter Text" pitchFamily="34" charset="0"/>
                <a:ea typeface="Inter Text" pitchFamily="34" charset="-122"/>
                <a:cs typeface="Inter Text" pitchFamily="34" charset="-120"/>
                <a:hlinkClick r:id="rId6">
                  <a:extLst>
                    <a:ext uri="{A12FA001-AC4F-418D-AE19-62706E023703}">
                      <ahyp:hlinkClr xmlns:ahyp="http://schemas.microsoft.com/office/drawing/2018/hyperlinkcolor" val="tx"/>
                    </a:ext>
                  </a:extLst>
                </a:hlinkClick>
              </a:rPr>
              <a:t>BMF</a:t>
            </a:r>
            <a:r>
              <a:rPr lang="en-GB" sz="1250" dirty="0">
                <a:solidFill>
                  <a:srgbClr val="FFFFFF"/>
                </a:solidFill>
                <a:latin typeface="Inter Text" pitchFamily="34" charset="0"/>
                <a:ea typeface="Inter Text" pitchFamily="34" charset="-122"/>
                <a:cs typeface="Inter Text" pitchFamily="34" charset="-120"/>
              </a:rPr>
              <a:t>: the standard and the tax rounding rule cannot both be met (para. 18)</a:t>
            </a:r>
          </a:p>
        </p:txBody>
      </p:sp>
      <p:sp>
        <p:nvSpPr>
          <p:cNvPr id="29" name="Shape 29"/>
          <p:cNvSpPr/>
          <p:nvPr/>
        </p:nvSpPr>
        <p:spPr>
          <a:xfrm>
            <a:off x="6492240" y="4645152"/>
            <a:ext cx="292608" cy="292608"/>
          </a:xfrm>
          <a:prstGeom prst="ellipse">
            <a:avLst/>
          </a:prstGeom>
          <a:solidFill>
            <a:srgbClr val="19C3C8"/>
          </a:solidFill>
          <a:ln>
            <a:noFill/>
          </a:ln>
        </p:spPr>
        <p:txBody>
          <a:bodyPr/>
          <a:lstStyle/>
          <a:p>
            <a:endParaRPr lang="en-GB"/>
          </a:p>
        </p:txBody>
      </p:sp>
      <p:sp>
        <p:nvSpPr>
          <p:cNvPr id="30" name="Text 30"/>
          <p:cNvSpPr txBox="1"/>
          <p:nvPr/>
        </p:nvSpPr>
        <p:spPr>
          <a:xfrm>
            <a:off x="6492240" y="4645152"/>
            <a:ext cx="292608" cy="292608"/>
          </a:xfrm>
          <a:prstGeom prst="rect">
            <a:avLst/>
          </a:prstGeom>
          <a:noFill/>
          <a:ln/>
        </p:spPr>
        <p:txBody>
          <a:bodyPr wrap="square" lIns="0" tIns="0" rIns="0" bIns="0" rtlCol="0" anchor="ctr"/>
          <a:lstStyle/>
          <a:p>
            <a:pPr marL="0" indent="0" algn="ctr">
              <a:buNone/>
            </a:pPr>
            <a:r>
              <a:rPr lang="en-GB" sz="1200" dirty="0">
                <a:solidFill>
                  <a:srgbClr val="1A2B5E"/>
                </a:solidFill>
                <a:latin typeface="Inter SemiBold Text SemiBold" pitchFamily="34" charset="0"/>
                <a:ea typeface="Inter SemiBold Text SemiBold" pitchFamily="34" charset="-122"/>
                <a:cs typeface="Inter SemiBold Text SemiBold" pitchFamily="34" charset="-120"/>
              </a:rPr>
              <a:t>✓</a:t>
            </a:r>
          </a:p>
        </p:txBody>
      </p:sp>
      <p:sp>
        <p:nvSpPr>
          <p:cNvPr id="31" name="Text 31"/>
          <p:cNvSpPr txBox="1"/>
          <p:nvPr/>
        </p:nvSpPr>
        <p:spPr>
          <a:xfrm>
            <a:off x="6949440" y="4581144"/>
            <a:ext cx="4251960" cy="420624"/>
          </a:xfrm>
          <a:prstGeom prst="rect">
            <a:avLst/>
          </a:prstGeom>
          <a:noFill/>
          <a:ln/>
        </p:spPr>
        <p:txBody>
          <a:bodyPr wrap="square" lIns="0" tIns="0" rIns="0" bIns="0" rtlCol="0" anchor="ctr"/>
          <a:lstStyle/>
          <a:p>
            <a:pPr marL="0" indent="0" algn="l">
              <a:lnSpc>
                <a:spcPct val="105000"/>
              </a:lnSpc>
              <a:buNone/>
            </a:pPr>
            <a:r>
              <a:rPr lang="en-GB" sz="1250" dirty="0">
                <a:solidFill>
                  <a:srgbClr val="FFFFFF"/>
                </a:solidFill>
                <a:latin typeface="Inter Text" pitchFamily="34" charset="0"/>
                <a:ea typeface="Inter Text" pitchFamily="34" charset="-122"/>
                <a:cs typeface="Inter Text" pitchFamily="34" charset="-120"/>
              </a:rPr>
              <a:t>Next: the calculation chains of 2017 and 2026 and their worst case</a:t>
            </a:r>
          </a:p>
        </p:txBody>
      </p:sp>
      <p:sp>
        <p:nvSpPr>
          <p:cNvPr id="35" name="Pill 35"/>
          <p:cNvSpPr/>
          <p:nvPr/>
        </p:nvSpPr>
        <p:spPr>
          <a:xfrm>
            <a:off x="822960" y="5943600"/>
            <a:ext cx="10543032" cy="411480"/>
          </a:xfrm>
          <a:prstGeom prst="roundRect">
            <a:avLst>
              <a:gd name="adj" fmla="val 50000"/>
            </a:avLst>
          </a:prstGeom>
          <a:solidFill>
            <a:srgbClr val="F4F6FB"/>
          </a:solidFill>
          <a:ln w="9525">
            <a:solidFill>
              <a:srgbClr val="E2E7F2"/>
            </a:solidFill>
            <a:prstDash val="solid"/>
          </a:ln>
        </p:spPr>
        <p:txBody>
          <a:bodyPr wrap="square" lIns="36576" tIns="36576" rIns="36576" bIns="36576" rtlCol="0" anchor="ctr"/>
          <a:lstStyle/>
          <a:p>
            <a:pPr marL="0" indent="0" algn="ctr">
              <a:buNone/>
            </a:pPr>
            <a:r>
              <a:rPr lang="en-GB" sz="1100" dirty="0">
                <a:solidFill>
                  <a:srgbClr val="5B6890"/>
                </a:solidFill>
                <a:latin typeface="Inter SemiBold Text SemiBold" pitchFamily="34" charset="0"/>
                <a:ea typeface="Inter SemiBold Text SemiBold" pitchFamily="34" charset="-122"/>
                <a:cs typeface="Inter SemiBold Text SemiBold" pitchFamily="34" charset="-120"/>
              </a:rPr>
              <a:t>2017:  </a:t>
            </a:r>
            <a:r>
              <a:rPr lang="en-GB" sz="1100" dirty="0">
                <a:solidFill>
                  <a:srgbClr val="5B6890"/>
                </a:solidFill>
                <a:latin typeface="Inter Text" pitchFamily="34" charset="0"/>
                <a:ea typeface="Inter Text" pitchFamily="34" charset="-122"/>
                <a:cs typeface="Inter Text" pitchFamily="34" charset="-120"/>
              </a:rPr>
              <a:t>only amounts were limited — prices and quantities had no maximum (Table 26)</a:t>
            </a:r>
          </a:p>
        </p:txBody>
      </p:sp>
      <p:sp>
        <p:nvSpPr>
          <p:cNvPr id="36" name="Speaker 36">
            <a:hlinkClick r:id="rId5"/>
          </p:cNvPr>
          <p:cNvSpPr txBox="1"/>
          <p:nvPr/>
        </p:nvSpPr>
        <p:spPr>
          <a:xfrm>
            <a:off x="7680960" y="6514592"/>
            <a:ext cx="3154680" cy="292608"/>
          </a:xfrm>
          <a:prstGeom prst="rect">
            <a:avLst/>
          </a:prstGeom>
          <a:noFill/>
          <a:ln/>
        </p:spPr>
        <p:txBody>
          <a:bodyPr wrap="square" lIns="0" tIns="0" rIns="0" bIns="0" rtlCol="0" anchor="ctr"/>
          <a:lstStyle/>
          <a:p>
            <a:pPr marL="0" indent="0" algn="r">
              <a:buNone/>
            </a:pPr>
            <a:r>
              <a:rPr lang="en-GB" sz="1000" spc="100" dirty="0">
                <a:solidFill>
                  <a:srgbClr val="9AA4C2"/>
                </a:solidFill>
                <a:latin typeface="Inter Medium Text Medium" pitchFamily="34" charset="0"/>
                <a:ea typeface="Inter Medium Text Medium" pitchFamily="34" charset="-122"/>
                <a:cs typeface="Inter Medium Text Medium" pitchFamily="34" charset="-120"/>
              </a:rPr>
              <a:t>© Svante Schubert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Folie 28">
    <p:bg>
      <p:bgPr>
        <a:solidFill>
          <a:srgbClr val="F4F6FB"/>
        </a:solidFill>
        <a:effectLst/>
      </p:bgPr>
    </p:bg>
    <p:spTree>
      <p:nvGrpSpPr>
        <p:cNvPr id="1" name=""/>
        <p:cNvGrpSpPr/>
        <p:nvPr/>
      </p:nvGrpSpPr>
      <p:grpSpPr>
        <a:xfrm>
          <a:off x="0" y="0"/>
          <a:ext cx="0" cy="0"/>
          <a:chOff x="0" y="0"/>
          <a:chExt cx="0" cy="0"/>
        </a:xfrm>
      </p:grpSpPr>
      <p:sp>
        <p:nvSpPr>
          <p:cNvPr id="3" name="Header 3"/>
          <p:cNvSpPr txBox="1"/>
          <p:nvPr/>
        </p:nvSpPr>
        <p:spPr>
          <a:xfrm>
            <a:off x="822960" y="384048"/>
            <a:ext cx="7315200" cy="274320"/>
          </a:xfrm>
          <a:prstGeom prst="rect">
            <a:avLst/>
          </a:prstGeom>
          <a:noFill/>
          <a:ln/>
        </p:spPr>
        <p:txBody>
          <a:bodyPr wrap="square" lIns="0" tIns="0" rIns="0" bIns="0" rtlCol="0" anchor="ctr"/>
          <a:lstStyle/>
          <a:p>
            <a:pPr marL="0" indent="0" algn="l">
              <a:buNone/>
            </a:pPr>
            <a:r>
              <a:rPr lang="en-GB" sz="950" spc="100" dirty="0">
                <a:solidFill>
                  <a:srgbClr val="5B6890"/>
                </a:solidFill>
                <a:latin typeface="Inter Medium Text Medium" pitchFamily="34" charset="0"/>
                <a:ea typeface="Inter Medium Text Medium" pitchFamily="34" charset="-122"/>
                <a:cs typeface="Inter Medium Text Medium" pitchFamily="34" charset="-120"/>
              </a:rPr>
              <a:t>CEN/TC 434 WG1</a:t>
            </a:r>
            <a:r>
              <a:rPr lang="en-GB" sz="950" spc="100" dirty="0">
                <a:solidFill>
                  <a:srgbClr val="C2CADE"/>
                </a:solidFill>
                <a:latin typeface="Inter Text" pitchFamily="34" charset="0"/>
                <a:ea typeface="Inter Text" pitchFamily="34" charset="-122"/>
                <a:cs typeface="Inter Text" pitchFamily="34" charset="-120"/>
              </a:rPr>
              <a:t>   ·   </a:t>
            </a:r>
            <a:r>
              <a:rPr lang="en-GB" sz="950" spc="100" dirty="0">
                <a:solidFill>
                  <a:srgbClr val="9AA4C2"/>
                </a:solidFill>
                <a:latin typeface="Inter Text" pitchFamily="34" charset="0"/>
                <a:ea typeface="Inter Text" pitchFamily="34" charset="-122"/>
                <a:cs typeface="Inter Text" pitchFamily="34" charset="-120"/>
              </a:rPr>
              <a:t>EN 16931-1:2026 amendment · Gross prices and rounding</a:t>
            </a:r>
          </a:p>
        </p:txBody>
      </p:sp>
      <p:sp>
        <p:nvSpPr>
          <p:cNvPr id="4" name="SectionLabel 4"/>
          <p:cNvSpPr txBox="1"/>
          <p:nvPr/>
        </p:nvSpPr>
        <p:spPr>
          <a:xfrm>
            <a:off x="822960" y="868680"/>
            <a:ext cx="8229600" cy="274320"/>
          </a:xfrm>
          <a:prstGeom prst="rect">
            <a:avLst/>
          </a:prstGeom>
          <a:noFill/>
          <a:ln/>
        </p:spPr>
        <p:txBody>
          <a:bodyPr wrap="square" lIns="0" tIns="0" rIns="0" bIns="0" rtlCol="0" anchor="ctr"/>
          <a:lstStyle/>
          <a:p>
            <a:pPr marL="0" indent="0" algn="l">
              <a:buNone/>
            </a:pPr>
            <a:r>
              <a:rPr lang="en-GB" sz="1100" spc="300" dirty="0">
                <a:solidFill>
                  <a:srgbClr val="19C3C8"/>
                </a:solidFill>
                <a:latin typeface="Inter SemiBold Text SemiBold" pitchFamily="34" charset="0"/>
                <a:ea typeface="Inter SemiBold Text SemiBold" pitchFamily="34" charset="-122"/>
                <a:cs typeface="Inter SemiBold Text SemiBold" pitchFamily="34" charset="-120"/>
              </a:rPr>
              <a:t>CALCULATION CHAIN · EN 16931-1:2017</a:t>
            </a:r>
          </a:p>
        </p:txBody>
      </p:sp>
      <p:sp>
        <p:nvSpPr>
          <p:cNvPr id="5" name="Title 5"/>
          <p:cNvSpPr txBox="1"/>
          <p:nvPr/>
        </p:nvSpPr>
        <p:spPr>
          <a:xfrm>
            <a:off x="804672" y="1115568"/>
            <a:ext cx="10424160" cy="822960"/>
          </a:xfrm>
          <a:prstGeom prst="rect">
            <a:avLst/>
          </a:prstGeom>
          <a:noFill/>
          <a:ln/>
        </p:spPr>
        <p:txBody>
          <a:bodyPr wrap="square" lIns="0" tIns="0" rIns="0" bIns="0" rtlCol="0" anchor="t"/>
          <a:lstStyle/>
          <a:p>
            <a:pPr marL="0" indent="0" algn="l">
              <a:buNone/>
            </a:pPr>
            <a:r>
              <a:rPr lang="en-GB" sz="3800" b="1" dirty="0">
                <a:solidFill>
                  <a:srgbClr val="1A2B5E"/>
                </a:solidFill>
                <a:latin typeface="Inter Text" pitchFamily="34" charset="0"/>
                <a:ea typeface="Inter Text" pitchFamily="34" charset="-122"/>
                <a:cs typeface="Inter Text" pitchFamily="34" charset="-120"/>
              </a:rPr>
              <a:t>From gross price via net price to VAT</a:t>
            </a:r>
          </a:p>
        </p:txBody>
      </p:sp>
      <p:sp>
        <p:nvSpPr>
          <p:cNvPr id="6" name="Speaker 6">
            <a:hlinkClick r:id="rId3"/>
          </p:cNvPr>
          <p:cNvSpPr txBox="1"/>
          <p:nvPr/>
        </p:nvSpPr>
        <p:spPr>
          <a:xfrm>
            <a:off x="7680960" y="6514592"/>
            <a:ext cx="3154680" cy="292608"/>
          </a:xfrm>
          <a:prstGeom prst="rect">
            <a:avLst/>
          </a:prstGeom>
          <a:noFill/>
          <a:ln/>
        </p:spPr>
        <p:txBody>
          <a:bodyPr wrap="square" lIns="0" tIns="0" rIns="0" bIns="0" rtlCol="0" anchor="ctr"/>
          <a:lstStyle/>
          <a:p>
            <a:pPr marL="0" indent="0" algn="r">
              <a:buNone/>
            </a:pPr>
            <a:r>
              <a:rPr lang="en-GB" sz="1000" spc="100" dirty="0">
                <a:solidFill>
                  <a:srgbClr val="9AA4C2"/>
                </a:solidFill>
                <a:latin typeface="Inter Medium Text Medium" pitchFamily="34" charset="0"/>
                <a:ea typeface="Inter Medium Text Medium" pitchFamily="34" charset="-122"/>
                <a:cs typeface="Inter Medium Text Medium" pitchFamily="34" charset="-120"/>
              </a:rPr>
              <a:t>© Svante Schubert</a:t>
            </a:r>
          </a:p>
        </p:txBody>
      </p:sp>
      <p:sp>
        <p:nvSpPr>
          <p:cNvPr id="7" name="PageNum 7"/>
          <p:cNvSpPr txBox="1"/>
          <p:nvPr/>
        </p:nvSpPr>
        <p:spPr>
          <a:xfrm>
            <a:off x="10908792" y="6514592"/>
            <a:ext cx="822960" cy="292608"/>
          </a:xfrm>
          <a:prstGeom prst="rect">
            <a:avLst/>
          </a:prstGeom>
          <a:noFill/>
          <a:ln/>
        </p:spPr>
        <p:txBody>
          <a:bodyPr wrap="square" lIns="0" tIns="0" rIns="0" bIns="0" rtlCol="0" anchor="ctr"/>
          <a:lstStyle/>
          <a:p>
            <a:pPr marL="0" indent="0" algn="r">
              <a:buNone/>
            </a:pPr>
            <a:fld id="{DCF4905E-37B2-437C-A529-BB0811F32B64}" type="slidenum">
              <a:rPr lang="en-GB" sz="1000" spc="200" dirty="0">
                <a:solidFill>
                  <a:srgbClr val="5B6890"/>
                </a:solidFill>
                <a:latin typeface="Inter SemiBold Text SemiBold" pitchFamily="34" charset="0"/>
                <a:ea typeface="Inter SemiBold Text SemiBold" pitchFamily="34" charset="-122"/>
                <a:cs typeface="Inter SemiBold Text SemiBold" pitchFamily="34" charset="-120"/>
              </a:rPr>
              <a:t>5</a:t>
            </a:fld>
            <a:endParaRPr lang="en-GB" sz="1000" spc="200" dirty="0">
              <a:solidFill>
                <a:srgbClr val="5B6890"/>
              </a:solidFill>
              <a:latin typeface="Inter SemiBold Text SemiBold" pitchFamily="34" charset="0"/>
              <a:ea typeface="Inter SemiBold Text SemiBold" pitchFamily="34" charset="-122"/>
              <a:cs typeface="Inter SemiBold Text SemiBold" pitchFamily="34" charset="-120"/>
            </a:endParaRPr>
          </a:p>
        </p:txBody>
      </p:sp>
      <p:sp>
        <p:nvSpPr>
          <p:cNvPr id="8" name="Text 8"/>
          <p:cNvSpPr txBox="1"/>
          <p:nvPr/>
        </p:nvSpPr>
        <p:spPr>
          <a:xfrm>
            <a:off x="822960" y="1847088"/>
            <a:ext cx="2177186" cy="329184"/>
          </a:xfrm>
          <a:prstGeom prst="rect">
            <a:avLst/>
          </a:prstGeom>
          <a:noFill/>
          <a:ln/>
        </p:spPr>
        <p:txBody>
          <a:bodyPr wrap="none" lIns="0" tIns="0" rIns="0" bIns="0" rtlCol="0" anchor="ctr"/>
          <a:lstStyle/>
          <a:p>
            <a:pPr marL="0" indent="0" algn="l">
              <a:buNone/>
            </a:pPr>
            <a:r>
              <a:rPr lang="en-GB" sz="1300" dirty="0">
                <a:solidFill>
                  <a:srgbClr val="5B6890"/>
                </a:solidFill>
                <a:latin typeface="Inter Text" pitchFamily="34" charset="0"/>
                <a:ea typeface="Inter Text" pitchFamily="34" charset="-122"/>
                <a:cs typeface="Inter Text" pitchFamily="34" charset="-120"/>
              </a:rPr>
              <a:t>One intermediate rounding:</a:t>
            </a:r>
          </a:p>
        </p:txBody>
      </p:sp>
      <p:sp>
        <p:nvSpPr>
          <p:cNvPr id="9" name="Pill 9"/>
          <p:cNvSpPr/>
          <p:nvPr/>
        </p:nvSpPr>
        <p:spPr>
          <a:xfrm>
            <a:off x="3109874" y="1856232"/>
            <a:ext cx="2368296" cy="310896"/>
          </a:xfrm>
          <a:prstGeom prst="roundRect">
            <a:avLst>
              <a:gd name="adj" fmla="val 50000"/>
            </a:avLst>
          </a:prstGeom>
          <a:solidFill>
            <a:srgbClr val="FFF3E6"/>
          </a:solidFill>
          <a:ln w="9525">
            <a:solidFill>
              <a:srgbClr val="F5CFA3"/>
            </a:solidFill>
            <a:prstDash val="solid"/>
          </a:ln>
        </p:spPr>
        <p:txBody>
          <a:bodyPr wrap="square" lIns="36576" tIns="36576" rIns="36576" bIns="36576" rtlCol="0" anchor="ctr"/>
          <a:lstStyle/>
          <a:p>
            <a:pPr marL="0" indent="0" algn="ctr">
              <a:buNone/>
            </a:pPr>
            <a:r>
              <a:rPr lang="en-GB" sz="1200" dirty="0">
                <a:solidFill>
                  <a:srgbClr val="C25700"/>
                </a:solidFill>
                <a:latin typeface="Inter SemiBold Text SemiBold" pitchFamily="34" charset="0"/>
                <a:ea typeface="Inter SemiBold Text SemiBold" pitchFamily="34" charset="-122"/>
                <a:cs typeface="Inter SemiBold Text SemiBold" pitchFamily="34" charset="-120"/>
              </a:rPr>
              <a:t>BT-131 to 2 decimal places</a:t>
            </a:r>
          </a:p>
        </p:txBody>
      </p:sp>
      <p:sp>
        <p:nvSpPr>
          <p:cNvPr id="10" name="Frame 10"/>
          <p:cNvSpPr/>
          <p:nvPr/>
        </p:nvSpPr>
        <p:spPr>
          <a:xfrm>
            <a:off x="694944" y="2240280"/>
            <a:ext cx="7022592" cy="1709928"/>
          </a:xfrm>
          <a:prstGeom prst="roundRect">
            <a:avLst>
              <a:gd name="adj" fmla="val 5529"/>
            </a:avLst>
          </a:prstGeom>
          <a:solidFill>
            <a:srgbClr val="EEF4FC"/>
          </a:solidFill>
          <a:ln w="19050">
            <a:solidFill>
              <a:srgbClr val="2F7FD8"/>
            </a:solidFill>
            <a:prstDash val="solid"/>
          </a:ln>
        </p:spPr>
        <p:txBody>
          <a:bodyPr/>
          <a:lstStyle/>
          <a:p>
            <a:endParaRPr lang="en-GB"/>
          </a:p>
        </p:txBody>
      </p:sp>
      <p:sp>
        <p:nvSpPr>
          <p:cNvPr id="11" name="Text 11"/>
          <p:cNvSpPr txBox="1"/>
          <p:nvPr/>
        </p:nvSpPr>
        <p:spPr>
          <a:xfrm>
            <a:off x="868680" y="2267712"/>
            <a:ext cx="4572000" cy="182880"/>
          </a:xfrm>
          <a:prstGeom prst="rect">
            <a:avLst/>
          </a:prstGeom>
          <a:noFill/>
          <a:ln/>
        </p:spPr>
        <p:txBody>
          <a:bodyPr wrap="square" lIns="0" tIns="0" rIns="0" bIns="0" rtlCol="0" anchor="ctr"/>
          <a:lstStyle/>
          <a:p>
            <a:pPr marL="0" indent="0" algn="l">
              <a:buNone/>
            </a:pPr>
            <a:r>
              <a:rPr lang="en-GB" sz="850" spc="150" dirty="0">
                <a:solidFill>
                  <a:srgbClr val="2F7FD8"/>
                </a:solidFill>
                <a:latin typeface="Inter SemiBold Text SemiBold" pitchFamily="34" charset="0"/>
                <a:ea typeface="Inter SemiBold Text SemiBold" pitchFamily="34" charset="-122"/>
                <a:cs typeface="Inter SemiBold Text SemiBold" pitchFamily="34" charset="-120"/>
              </a:rPr>
              <a:t>INPUT &amp; INTERMEDIATE VALUES</a:t>
            </a:r>
          </a:p>
        </p:txBody>
      </p:sp>
      <p:sp>
        <p:nvSpPr>
          <p:cNvPr id="12" name="Frame 12"/>
          <p:cNvSpPr/>
          <p:nvPr/>
        </p:nvSpPr>
        <p:spPr>
          <a:xfrm>
            <a:off x="694944" y="4023360"/>
            <a:ext cx="7022592" cy="2203704"/>
          </a:xfrm>
          <a:prstGeom prst="roundRect">
            <a:avLst>
              <a:gd name="adj" fmla="val 5529"/>
            </a:avLst>
          </a:prstGeom>
          <a:solidFill>
            <a:srgbClr val="F4F0FC"/>
          </a:solidFill>
          <a:ln w="19050">
            <a:solidFill>
              <a:srgbClr val="7B57D1"/>
            </a:solidFill>
            <a:prstDash val="solid"/>
          </a:ln>
        </p:spPr>
        <p:txBody>
          <a:bodyPr/>
          <a:lstStyle/>
          <a:p>
            <a:endParaRPr lang="en-GB"/>
          </a:p>
        </p:txBody>
      </p:sp>
      <p:sp>
        <p:nvSpPr>
          <p:cNvPr id="13" name="Text 13"/>
          <p:cNvSpPr txBox="1"/>
          <p:nvPr/>
        </p:nvSpPr>
        <p:spPr>
          <a:xfrm>
            <a:off x="868680" y="4050792"/>
            <a:ext cx="4572000" cy="182880"/>
          </a:xfrm>
          <a:prstGeom prst="rect">
            <a:avLst/>
          </a:prstGeom>
          <a:noFill/>
          <a:ln/>
        </p:spPr>
        <p:txBody>
          <a:bodyPr wrap="square" lIns="0" tIns="0" rIns="0" bIns="0" rtlCol="0" anchor="ctr"/>
          <a:lstStyle/>
          <a:p>
            <a:pPr marL="0" indent="0" algn="l">
              <a:buNone/>
            </a:pPr>
            <a:r>
              <a:rPr lang="en-GB" sz="850" spc="150" dirty="0">
                <a:solidFill>
                  <a:srgbClr val="7B57D1"/>
                </a:solidFill>
                <a:latin typeface="Inter SemiBold Text SemiBold" pitchFamily="34" charset="0"/>
                <a:ea typeface="Inter SemiBold Text SemiBold" pitchFamily="34" charset="-122"/>
                <a:cs typeface="Inter SemiBold Text SemiBold" pitchFamily="34" charset="-120"/>
              </a:rPr>
              <a:t>FINAL RESULTS</a:t>
            </a:r>
          </a:p>
        </p:txBody>
      </p:sp>
      <p:sp>
        <p:nvSpPr>
          <p:cNvPr id="14" name="Card 14"/>
          <p:cNvSpPr/>
          <p:nvPr/>
        </p:nvSpPr>
        <p:spPr>
          <a:xfrm>
            <a:off x="822960" y="2450592"/>
            <a:ext cx="6766560" cy="457200"/>
          </a:xfrm>
          <a:prstGeom prst="roundRect">
            <a:avLst>
              <a:gd name="adj" fmla="val 11666"/>
            </a:avLst>
          </a:prstGeom>
          <a:solidFill>
            <a:srgbClr val="FFFFFF"/>
          </a:solidFill>
          <a:ln w="12700">
            <a:solidFill>
              <a:srgbClr val="E2E7F2"/>
            </a:solidFill>
            <a:prstDash val="solid"/>
          </a:ln>
          <a:effectLst>
            <a:outerShdw blurRad="101600" dist="38100" dir="5400000" algn="bl" rotWithShape="0">
              <a:srgbClr val="0A1230">
                <a:alpha val="8000"/>
              </a:srgbClr>
            </a:outerShdw>
          </a:effectLst>
        </p:spPr>
        <p:txBody>
          <a:bodyPr/>
          <a:lstStyle/>
          <a:p>
            <a:endParaRPr lang="en-GB"/>
          </a:p>
        </p:txBody>
      </p:sp>
      <p:sp>
        <p:nvSpPr>
          <p:cNvPr id="15" name="Pill 15"/>
          <p:cNvSpPr/>
          <p:nvPr/>
        </p:nvSpPr>
        <p:spPr>
          <a:xfrm>
            <a:off x="960120" y="2549652"/>
            <a:ext cx="685800" cy="259080"/>
          </a:xfrm>
          <a:prstGeom prst="roundRect">
            <a:avLst>
              <a:gd name="adj" fmla="val 50000"/>
            </a:avLst>
          </a:prstGeom>
          <a:solidFill>
            <a:srgbClr val="D32F2F"/>
          </a:solidFill>
          <a:ln>
            <a:noFill/>
          </a:ln>
        </p:spPr>
        <p:txBody>
          <a:bodyPr wrap="square" lIns="36576" tIns="36576" rIns="36576" bIns="36576" rtlCol="0" anchor="ctr"/>
          <a:lstStyle/>
          <a:p>
            <a:pPr marL="0" indent="0" algn="ctr">
              <a:buNone/>
            </a:pPr>
            <a:r>
              <a:rPr lang="en-GB" sz="1150" dirty="0">
                <a:solidFill>
                  <a:srgbClr val="FFFFFF"/>
                </a:solidFill>
                <a:latin typeface="Inter SemiBold Text SemiBold" pitchFamily="34" charset="0"/>
                <a:ea typeface="Inter SemiBold Text SemiBold" pitchFamily="34" charset="-122"/>
                <a:cs typeface="Inter SemiBold Text SemiBold" pitchFamily="34" charset="-120"/>
              </a:rPr>
              <a:t>BT-146</a:t>
            </a:r>
          </a:p>
        </p:txBody>
      </p:sp>
      <p:sp>
        <p:nvSpPr>
          <p:cNvPr id="16" name="Text 16"/>
          <p:cNvSpPr txBox="1"/>
          <p:nvPr/>
        </p:nvSpPr>
        <p:spPr>
          <a:xfrm>
            <a:off x="1965960" y="2465832"/>
            <a:ext cx="2788920" cy="198120"/>
          </a:xfrm>
          <a:prstGeom prst="rect">
            <a:avLst/>
          </a:prstGeom>
          <a:noFill/>
          <a:ln/>
        </p:spPr>
        <p:txBody>
          <a:bodyPr wrap="none" lIns="0" tIns="0" rIns="0" bIns="0" rtlCol="0" anchor="ctr"/>
          <a:lstStyle/>
          <a:p>
            <a:pPr marL="0" indent="0" algn="l">
              <a:buNone/>
            </a:pPr>
            <a:r>
              <a:rPr lang="en-GB" sz="1150" dirty="0">
                <a:solidFill>
                  <a:srgbClr val="1A2B5E"/>
                </a:solidFill>
                <a:latin typeface="Inter SemiBold Text SemiBold" pitchFamily="34" charset="0"/>
                <a:ea typeface="Inter SemiBold Text SemiBold" pitchFamily="34" charset="-122"/>
                <a:cs typeface="Inter SemiBold Text SemiBold" pitchFamily="34" charset="-120"/>
              </a:rPr>
              <a:t>Item net price</a:t>
            </a:r>
          </a:p>
        </p:txBody>
      </p:sp>
      <p:sp>
        <p:nvSpPr>
          <p:cNvPr id="17" name="Text 17"/>
          <p:cNvSpPr txBox="1"/>
          <p:nvPr/>
        </p:nvSpPr>
        <p:spPr>
          <a:xfrm>
            <a:off x="1965960" y="2656332"/>
            <a:ext cx="2788920" cy="243840"/>
          </a:xfrm>
          <a:prstGeom prst="rect">
            <a:avLst/>
          </a:prstGeom>
          <a:noFill/>
          <a:ln/>
        </p:spPr>
        <p:txBody>
          <a:bodyPr wrap="square" lIns="0" tIns="0" rIns="0" bIns="0" rtlCol="0" anchor="t"/>
          <a:lstStyle/>
          <a:p>
            <a:pPr marL="0" indent="0" algn="l">
              <a:lnSpc>
                <a:spcPct val="95000"/>
              </a:lnSpc>
              <a:buNone/>
            </a:pPr>
            <a:r>
              <a:rPr lang="en-GB" sz="800" dirty="0">
                <a:solidFill>
                  <a:srgbClr val="5B6890"/>
                </a:solidFill>
                <a:latin typeface="Inter Text" pitchFamily="34" charset="0"/>
                <a:ea typeface="Inter Text" pitchFamily="34" charset="-122"/>
                <a:cs typeface="Inter Text" pitchFamily="34" charset="-120"/>
              </a:rPr>
              <a:t>= </a:t>
            </a:r>
            <a:r>
              <a:rPr lang="en-GB" sz="800" dirty="0">
                <a:solidFill>
                  <a:srgbClr val="1A2B5E"/>
                </a:solidFill>
                <a:latin typeface="Inter SemiBold Text SemiBold" pitchFamily="34" charset="0"/>
                <a:ea typeface="Inter SemiBold Text SemiBold" pitchFamily="34" charset="-122"/>
                <a:cs typeface="Inter SemiBold Text SemiBold" pitchFamily="34" charset="-120"/>
              </a:rPr>
              <a:t>BT-148</a:t>
            </a:r>
            <a:r>
              <a:rPr lang="en-GB" sz="800" dirty="0">
                <a:solidFill>
                  <a:srgbClr val="5B6890"/>
                </a:solidFill>
                <a:latin typeface="Inter Text" pitchFamily="34" charset="0"/>
                <a:ea typeface="Inter Text" pitchFamily="34" charset="-122"/>
                <a:cs typeface="Inter Text" pitchFamily="34" charset="-120"/>
              </a:rPr>
              <a:t> − </a:t>
            </a:r>
            <a:r>
              <a:rPr lang="en-GB" sz="800" dirty="0">
                <a:solidFill>
                  <a:srgbClr val="1A2B5E"/>
                </a:solidFill>
                <a:latin typeface="Inter SemiBold Text SemiBold" pitchFamily="34" charset="0"/>
                <a:ea typeface="Inter SemiBold Text SemiBold" pitchFamily="34" charset="-122"/>
                <a:cs typeface="Inter SemiBold Text SemiBold" pitchFamily="34" charset="-120"/>
              </a:rPr>
              <a:t>BT-147</a:t>
            </a:r>
            <a:r>
              <a:rPr lang="en-GB" sz="800" dirty="0">
                <a:solidFill>
                  <a:srgbClr val="5B6890"/>
                </a:solidFill>
                <a:latin typeface="Inter Text" pitchFamily="34" charset="0"/>
                <a:ea typeface="Inter Text" pitchFamily="34" charset="-122"/>
                <a:cs typeface="Inter Text" pitchFamily="34" charset="-120"/>
              </a:rPr>
              <a:t/>
            </a:r>
          </a:p>
        </p:txBody>
      </p:sp>
      <p:sp>
        <p:nvSpPr>
          <p:cNvPr id="18" name="Pill 18"/>
          <p:cNvSpPr/>
          <p:nvPr/>
        </p:nvSpPr>
        <p:spPr>
          <a:xfrm>
            <a:off x="4773168" y="2503932"/>
            <a:ext cx="1207008" cy="350520"/>
          </a:xfrm>
          <a:prstGeom prst="roundRect">
            <a:avLst>
              <a:gd name="adj" fmla="val 50000"/>
            </a:avLst>
          </a:prstGeom>
          <a:solidFill>
            <a:srgbClr val="F4F6FB"/>
          </a:solidFill>
          <a:ln w="9525">
            <a:solidFill>
              <a:srgbClr val="E2E7F2"/>
            </a:solidFill>
            <a:prstDash val="solid"/>
          </a:ln>
        </p:spPr>
        <p:txBody>
          <a:bodyPr wrap="square" lIns="18288" tIns="18288" rIns="18288" bIns="18288" rtlCol="0" anchor="ctr"/>
          <a:lstStyle/>
          <a:p>
            <a:pPr marL="0" indent="0" algn="ctr">
              <a:buNone/>
            </a:pPr>
            <a:r>
              <a:rPr lang="en-GB" sz="1150" dirty="0">
                <a:solidFill>
                  <a:srgbClr val="5B6890"/>
                </a:solidFill>
                <a:latin typeface="Inter SemiBold Text SemiBold" pitchFamily="34" charset="0"/>
                <a:ea typeface="Inter SemiBold Text SemiBold" pitchFamily="34" charset="-122"/>
                <a:cs typeface="Inter SemiBold Text SemiBold" pitchFamily="34" charset="-120"/>
              </a:rPr>
              <a:t>unlimited</a:t>
            </a:r>
          </a:p>
          <a:p>
            <a:pPr marL="0" indent="0" algn="ctr">
              <a:buNone/>
            </a:pPr>
            <a:r>
              <a:rPr lang="en-GB" sz="800" dirty="0">
                <a:solidFill>
                  <a:srgbClr val="5B6890"/>
                </a:solidFill>
                <a:latin typeface="Inter Text" pitchFamily="34" charset="0"/>
                <a:ea typeface="Inter Text" pitchFamily="34" charset="-122"/>
                <a:cs typeface="Inter Text" pitchFamily="34" charset="-120"/>
              </a:rPr>
              <a:t>unrounded</a:t>
            </a:r>
          </a:p>
        </p:txBody>
      </p:sp>
      <p:sp>
        <p:nvSpPr>
          <p:cNvPr id="19" name="Text 19"/>
          <p:cNvSpPr txBox="1"/>
          <p:nvPr/>
        </p:nvSpPr>
        <p:spPr>
          <a:xfrm>
            <a:off x="5989320" y="2481072"/>
            <a:ext cx="1508760" cy="243840"/>
          </a:xfrm>
          <a:prstGeom prst="rect">
            <a:avLst/>
          </a:prstGeom>
          <a:noFill/>
          <a:ln/>
        </p:spPr>
        <p:txBody>
          <a:bodyPr wrap="square" lIns="0" tIns="0" rIns="0" bIns="0" rtlCol="0" anchor="ctr"/>
          <a:lstStyle/>
          <a:p>
            <a:pPr marL="0" indent="0" algn="r">
              <a:buNone/>
            </a:pPr>
            <a:r>
              <a:rPr lang="en-GB" sz="1300" b="1" dirty="0">
                <a:solidFill>
                  <a:srgbClr val="1A2B5E"/>
                </a:solidFill>
                <a:latin typeface="Consolas" pitchFamily="34" charset="0"/>
                <a:ea typeface="Consolas" pitchFamily="34" charset="-122"/>
                <a:cs typeface="Consolas" pitchFamily="34" charset="-120"/>
              </a:rPr>
              <a:t>± 0</a:t>
            </a:r>
          </a:p>
        </p:txBody>
      </p:sp>
      <p:sp>
        <p:nvSpPr>
          <p:cNvPr id="20" name="Text 20"/>
          <p:cNvSpPr txBox="1"/>
          <p:nvPr/>
        </p:nvSpPr>
        <p:spPr>
          <a:xfrm>
            <a:off x="5577840" y="2717292"/>
            <a:ext cx="1920240" cy="167640"/>
          </a:xfrm>
          <a:prstGeom prst="rect">
            <a:avLst/>
          </a:prstGeom>
          <a:noFill/>
          <a:ln/>
        </p:spPr>
        <p:txBody>
          <a:bodyPr wrap="square" lIns="0" tIns="0" rIns="0" bIns="0" rtlCol="0" anchor="ctr"/>
          <a:lstStyle/>
          <a:p>
            <a:pPr marL="0" indent="0" algn="r">
              <a:buNone/>
            </a:pPr>
            <a:r>
              <a:rPr lang="en-GB" sz="850" dirty="0">
                <a:solidFill>
                  <a:srgbClr val="9AA4C2"/>
                </a:solidFill>
                <a:latin typeface="Inter Text" pitchFamily="34" charset="0"/>
                <a:ea typeface="Inter Text" pitchFamily="34" charset="-122"/>
                <a:cs typeface="Inter Text" pitchFamily="34" charset="-120"/>
              </a:rPr>
              <a:t>stated exactly</a:t>
            </a:r>
          </a:p>
        </p:txBody>
      </p:sp>
      <p:cxnSp>
        <p:nvCxnSpPr>
          <p:cNvPr id="21" name="Connector 21"/>
          <p:cNvCxnSpPr/>
          <p:nvPr/>
        </p:nvCxnSpPr>
        <p:spPr>
          <a:xfrm>
            <a:off x="1303020" y="2907792"/>
            <a:ext cx="0" cy="36576"/>
          </a:xfrm>
          <a:prstGeom prst="line">
            <a:avLst/>
          </a:prstGeom>
          <a:ln w="15875">
            <a:solidFill>
              <a:srgbClr val="9AA4C2"/>
            </a:solidFill>
          </a:ln>
        </p:spPr>
      </p:cxnSp>
      <p:sp>
        <p:nvSpPr>
          <p:cNvPr id="22" name="Card 22"/>
          <p:cNvSpPr/>
          <p:nvPr/>
        </p:nvSpPr>
        <p:spPr>
          <a:xfrm>
            <a:off x="822960" y="2944368"/>
            <a:ext cx="6766560" cy="457200"/>
          </a:xfrm>
          <a:prstGeom prst="roundRect">
            <a:avLst>
              <a:gd name="adj" fmla="val 11666"/>
            </a:avLst>
          </a:prstGeom>
          <a:solidFill>
            <a:srgbClr val="FFFFFF"/>
          </a:solidFill>
          <a:ln w="12700">
            <a:solidFill>
              <a:srgbClr val="E2E7F2"/>
            </a:solidFill>
            <a:prstDash val="solid"/>
          </a:ln>
          <a:effectLst>
            <a:outerShdw blurRad="101600" dist="38100" dir="5400000" algn="bl" rotWithShape="0">
              <a:srgbClr val="0A1230">
                <a:alpha val="8000"/>
              </a:srgbClr>
            </a:outerShdw>
          </a:effectLst>
        </p:spPr>
        <p:txBody>
          <a:bodyPr/>
          <a:lstStyle/>
          <a:p>
            <a:endParaRPr lang="en-GB"/>
          </a:p>
        </p:txBody>
      </p:sp>
      <p:sp>
        <p:nvSpPr>
          <p:cNvPr id="23" name="Pill 23"/>
          <p:cNvSpPr/>
          <p:nvPr/>
        </p:nvSpPr>
        <p:spPr>
          <a:xfrm>
            <a:off x="960120" y="3043428"/>
            <a:ext cx="685800" cy="259080"/>
          </a:xfrm>
          <a:prstGeom prst="roundRect">
            <a:avLst>
              <a:gd name="adj" fmla="val 50000"/>
            </a:avLst>
          </a:prstGeom>
          <a:solidFill>
            <a:srgbClr val="EF6C00"/>
          </a:solidFill>
          <a:ln>
            <a:noFill/>
          </a:ln>
        </p:spPr>
        <p:txBody>
          <a:bodyPr wrap="square" lIns="36576" tIns="36576" rIns="36576" bIns="36576" rtlCol="0" anchor="ctr"/>
          <a:lstStyle/>
          <a:p>
            <a:pPr marL="0" indent="0" algn="ctr">
              <a:buNone/>
            </a:pPr>
            <a:r>
              <a:rPr lang="en-GB" sz="1150" dirty="0">
                <a:solidFill>
                  <a:srgbClr val="FFFFFF"/>
                </a:solidFill>
                <a:latin typeface="Inter SemiBold Text SemiBold" pitchFamily="34" charset="0"/>
                <a:ea typeface="Inter SemiBold Text SemiBold" pitchFamily="34" charset="-122"/>
                <a:cs typeface="Inter SemiBold Text SemiBold" pitchFamily="34" charset="-120"/>
              </a:rPr>
              <a:t>BT-131</a:t>
            </a:r>
          </a:p>
        </p:txBody>
      </p:sp>
      <p:sp>
        <p:nvSpPr>
          <p:cNvPr id="24" name="Text 24"/>
          <p:cNvSpPr txBox="1"/>
          <p:nvPr/>
        </p:nvSpPr>
        <p:spPr>
          <a:xfrm>
            <a:off x="1965960" y="2959608"/>
            <a:ext cx="2788920" cy="198120"/>
          </a:xfrm>
          <a:prstGeom prst="rect">
            <a:avLst/>
          </a:prstGeom>
          <a:noFill/>
          <a:ln/>
        </p:spPr>
        <p:txBody>
          <a:bodyPr wrap="none" lIns="0" tIns="0" rIns="0" bIns="0" rtlCol="0" anchor="ctr"/>
          <a:lstStyle/>
          <a:p>
            <a:pPr marL="0" indent="0" algn="l">
              <a:buNone/>
            </a:pPr>
            <a:r>
              <a:rPr lang="en-GB" sz="1150" dirty="0">
                <a:solidFill>
                  <a:srgbClr val="1A2B5E"/>
                </a:solidFill>
                <a:latin typeface="Inter SemiBold Text SemiBold" pitchFamily="34" charset="0"/>
                <a:ea typeface="Inter SemiBold Text SemiBold" pitchFamily="34" charset="-122"/>
                <a:cs typeface="Inter SemiBold Text SemiBold" pitchFamily="34" charset="-120"/>
              </a:rPr>
              <a:t>Invoice line net amount</a:t>
            </a:r>
          </a:p>
        </p:txBody>
      </p:sp>
      <p:sp>
        <p:nvSpPr>
          <p:cNvPr id="25" name="Text 25"/>
          <p:cNvSpPr txBox="1"/>
          <p:nvPr/>
        </p:nvSpPr>
        <p:spPr>
          <a:xfrm>
            <a:off x="1965960" y="3150108"/>
            <a:ext cx="2788920" cy="243840"/>
          </a:xfrm>
          <a:prstGeom prst="rect">
            <a:avLst/>
          </a:prstGeom>
          <a:noFill/>
          <a:ln/>
        </p:spPr>
        <p:txBody>
          <a:bodyPr wrap="square" lIns="0" tIns="0" rIns="0" bIns="0" rtlCol="0" anchor="t"/>
          <a:lstStyle/>
          <a:p>
            <a:pPr marL="0" indent="0" algn="l">
              <a:lnSpc>
                <a:spcPct val="95000"/>
              </a:lnSpc>
              <a:buNone/>
            </a:pPr>
            <a:r>
              <a:rPr lang="en-GB" sz="800" dirty="0">
                <a:solidFill>
                  <a:srgbClr val="5B6890"/>
                </a:solidFill>
                <a:latin typeface="Inter Text" pitchFamily="34" charset="0"/>
                <a:ea typeface="Inter Text" pitchFamily="34" charset="-122"/>
                <a:cs typeface="Inter Text" pitchFamily="34" charset="-120"/>
              </a:rPr>
              <a:t>= </a:t>
            </a:r>
            <a:r>
              <a:rPr lang="en-GB" sz="800" b="1" dirty="0">
                <a:solidFill>
                  <a:srgbClr val="D32F2F"/>
                </a:solidFill>
                <a:latin typeface="Inter SemiBold Text SemiBold" pitchFamily="34" charset="0"/>
                <a:ea typeface="Inter SemiBold Text SemiBold" pitchFamily="34" charset="-122"/>
                <a:cs typeface="Inter SemiBold Text SemiBold" pitchFamily="34" charset="-120"/>
              </a:rPr>
              <a:t>BT-146</a:t>
            </a:r>
            <a:r>
              <a:rPr lang="en-GB" sz="800" dirty="0">
                <a:solidFill>
                  <a:srgbClr val="5B6890"/>
                </a:solidFill>
                <a:latin typeface="Inter Text" pitchFamily="34" charset="0"/>
                <a:ea typeface="Inter Text" pitchFamily="34" charset="-122"/>
                <a:cs typeface="Inter Text" pitchFamily="34" charset="-120"/>
              </a:rPr>
              <a:t> × </a:t>
            </a:r>
            <a:r>
              <a:rPr lang="en-GB" sz="800" dirty="0">
                <a:solidFill>
                  <a:srgbClr val="1A2B5E"/>
                </a:solidFill>
                <a:latin typeface="Inter SemiBold Text SemiBold" pitchFamily="34" charset="0"/>
                <a:ea typeface="Inter SemiBold Text SemiBold" pitchFamily="34" charset="-122"/>
                <a:cs typeface="Inter SemiBold Text SemiBold" pitchFamily="34" charset="-120"/>
              </a:rPr>
              <a:t>BT-129</a:t>
            </a:r>
            <a:r>
              <a:rPr lang="en-GB" sz="800" dirty="0">
                <a:solidFill>
                  <a:srgbClr val="5B6890"/>
                </a:solidFill>
                <a:latin typeface="Inter Text" pitchFamily="34" charset="0"/>
                <a:ea typeface="Inter Text" pitchFamily="34" charset="-122"/>
                <a:cs typeface="Inter Text" pitchFamily="34" charset="-120"/>
              </a:rPr>
              <a:t> ÷ </a:t>
            </a:r>
            <a:r>
              <a:rPr lang="en-GB" sz="800" dirty="0">
                <a:solidFill>
                  <a:srgbClr val="1A2B5E"/>
                </a:solidFill>
                <a:latin typeface="Inter SemiBold Text SemiBold" pitchFamily="34" charset="0"/>
                <a:ea typeface="Inter SemiBold Text SemiBold" pitchFamily="34" charset="-122"/>
                <a:cs typeface="Inter SemiBold Text SemiBold" pitchFamily="34" charset="-120"/>
              </a:rPr>
              <a:t>BT-149</a:t>
            </a:r>
            <a:r>
              <a:rPr lang="en-GB" sz="800" dirty="0">
                <a:solidFill>
                  <a:srgbClr val="5B6890"/>
                </a:solidFill>
                <a:latin typeface="Inter Text" pitchFamily="34" charset="0"/>
                <a:ea typeface="Inter Text" pitchFamily="34" charset="-122"/>
                <a:cs typeface="Inter Text" pitchFamily="34" charset="-120"/>
              </a:rPr>
              <a:t> + Σ </a:t>
            </a:r>
            <a:r>
              <a:rPr lang="en-GB" sz="800" dirty="0">
                <a:solidFill>
                  <a:srgbClr val="1A2B5E"/>
                </a:solidFill>
                <a:latin typeface="Inter SemiBold Text SemiBold" pitchFamily="34" charset="0"/>
                <a:ea typeface="Inter SemiBold Text SemiBold" pitchFamily="34" charset="-122"/>
                <a:cs typeface="Inter SemiBold Text SemiBold" pitchFamily="34" charset="-120"/>
              </a:rPr>
              <a:t>BT-141</a:t>
            </a:r>
            <a:r>
              <a:rPr lang="en-GB" sz="800" dirty="0">
                <a:solidFill>
                  <a:srgbClr val="5B6890"/>
                </a:solidFill>
                <a:latin typeface="Inter Text" pitchFamily="34" charset="0"/>
                <a:ea typeface="Inter Text" pitchFamily="34" charset="-122"/>
                <a:cs typeface="Inter Text" pitchFamily="34" charset="-120"/>
              </a:rPr>
              <a:t> − Σ </a:t>
            </a:r>
            <a:r>
              <a:rPr lang="en-GB" sz="800" dirty="0">
                <a:solidFill>
                  <a:srgbClr val="1A2B5E"/>
                </a:solidFill>
                <a:latin typeface="Inter SemiBold Text SemiBold" pitchFamily="34" charset="0"/>
                <a:ea typeface="Inter SemiBold Text SemiBold" pitchFamily="34" charset="-122"/>
                <a:cs typeface="Inter SemiBold Text SemiBold" pitchFamily="34" charset="-120"/>
              </a:rPr>
              <a:t>BT-136</a:t>
            </a:r>
            <a:r>
              <a:rPr lang="en-GB" sz="800" dirty="0">
                <a:solidFill>
                  <a:srgbClr val="5B6890"/>
                </a:solidFill>
                <a:latin typeface="Inter Text" pitchFamily="34" charset="0"/>
                <a:ea typeface="Inter Text" pitchFamily="34" charset="-122"/>
                <a:cs typeface="Inter Text" pitchFamily="34" charset="-120"/>
              </a:rPr>
              <a:t/>
            </a:r>
          </a:p>
        </p:txBody>
      </p:sp>
      <p:sp>
        <p:nvSpPr>
          <p:cNvPr id="26" name="Pill 26"/>
          <p:cNvSpPr/>
          <p:nvPr/>
        </p:nvSpPr>
        <p:spPr>
          <a:xfrm>
            <a:off x="4773168" y="2997708"/>
            <a:ext cx="1207008" cy="350520"/>
          </a:xfrm>
          <a:prstGeom prst="roundRect">
            <a:avLst>
              <a:gd name="adj" fmla="val 50000"/>
            </a:avLst>
          </a:prstGeom>
          <a:solidFill>
            <a:srgbClr val="FCEDEB"/>
          </a:solidFill>
          <a:ln w="9525">
            <a:solidFill>
              <a:srgbClr val="F2C4BE"/>
            </a:solidFill>
            <a:prstDash val="solid"/>
          </a:ln>
        </p:spPr>
        <p:txBody>
          <a:bodyPr wrap="square" lIns="18288" tIns="18288" rIns="18288" bIns="18288" rtlCol="0" anchor="ctr"/>
          <a:lstStyle/>
          <a:p>
            <a:pPr marL="0" indent="0" algn="ctr">
              <a:buNone/>
            </a:pPr>
            <a:r>
              <a:rPr lang="en-GB" sz="1150" dirty="0">
                <a:solidFill>
                  <a:srgbClr val="C0392B"/>
                </a:solidFill>
                <a:latin typeface="Inter SemiBold Text SemiBold" pitchFamily="34" charset="0"/>
                <a:ea typeface="Inter SemiBold Text SemiBold" pitchFamily="34" charset="-122"/>
                <a:cs typeface="Inter SemiBold Text SemiBold" pitchFamily="34" charset="-120"/>
              </a:rPr>
              <a:t>2 dp</a:t>
            </a:r>
          </a:p>
          <a:p>
            <a:pPr marL="0" indent="0" algn="ctr">
              <a:buNone/>
            </a:pPr>
            <a:r>
              <a:rPr lang="en-GB" sz="800" dirty="0">
                <a:solidFill>
                  <a:srgbClr val="C0392B"/>
                </a:solidFill>
                <a:latin typeface="Inter Text" pitchFamily="34" charset="0"/>
                <a:ea typeface="Inter Text" pitchFamily="34" charset="-122"/>
                <a:cs typeface="Inter Text" pitchFamily="34" charset="-120"/>
              </a:rPr>
              <a:t>interim rounding</a:t>
            </a:r>
          </a:p>
        </p:txBody>
      </p:sp>
      <p:sp>
        <p:nvSpPr>
          <p:cNvPr id="27" name="Text 27"/>
          <p:cNvSpPr txBox="1"/>
          <p:nvPr/>
        </p:nvSpPr>
        <p:spPr>
          <a:xfrm>
            <a:off x="5989320" y="2974848"/>
            <a:ext cx="1508760" cy="243840"/>
          </a:xfrm>
          <a:prstGeom prst="rect">
            <a:avLst/>
          </a:prstGeom>
          <a:noFill/>
          <a:ln/>
        </p:spPr>
        <p:txBody>
          <a:bodyPr wrap="square" lIns="0" tIns="0" rIns="0" bIns="0" rtlCol="0" anchor="ctr"/>
          <a:lstStyle/>
          <a:p>
            <a:pPr marL="0" indent="0" algn="r">
              <a:buNone/>
            </a:pPr>
            <a:r>
              <a:rPr lang="en-GB" sz="1300" b="1" dirty="0">
                <a:solidFill>
                  <a:srgbClr val="C0392B"/>
                </a:solidFill>
                <a:latin typeface="Consolas" pitchFamily="34" charset="0"/>
                <a:ea typeface="Consolas" pitchFamily="34" charset="-122"/>
                <a:cs typeface="Consolas" pitchFamily="34" charset="-120"/>
              </a:rPr>
              <a:t>± €0.005</a:t>
            </a:r>
          </a:p>
        </p:txBody>
      </p:sp>
      <p:sp>
        <p:nvSpPr>
          <p:cNvPr id="28" name="Text 28"/>
          <p:cNvSpPr txBox="1"/>
          <p:nvPr/>
        </p:nvSpPr>
        <p:spPr>
          <a:xfrm>
            <a:off x="5577840" y="3211068"/>
            <a:ext cx="1920240" cy="167640"/>
          </a:xfrm>
          <a:prstGeom prst="rect">
            <a:avLst/>
          </a:prstGeom>
          <a:noFill/>
          <a:ln/>
        </p:spPr>
        <p:txBody>
          <a:bodyPr wrap="square" lIns="0" tIns="0" rIns="0" bIns="0" rtlCol="0" anchor="ctr"/>
          <a:lstStyle/>
          <a:p>
            <a:pPr marL="0" indent="0" algn="r">
              <a:buNone/>
            </a:pPr>
            <a:r>
              <a:rPr lang="en-GB" sz="850" dirty="0">
                <a:solidFill>
                  <a:srgbClr val="9AA4C2"/>
                </a:solidFill>
                <a:latin typeface="Inter Text" pitchFamily="34" charset="0"/>
                <a:ea typeface="Inter Text" pitchFamily="34" charset="-122"/>
                <a:cs typeface="Inter Text" pitchFamily="34" charset="-120"/>
              </a:rPr>
              <a:t>per line</a:t>
            </a:r>
          </a:p>
        </p:txBody>
      </p:sp>
      <p:cxnSp>
        <p:nvCxnSpPr>
          <p:cNvPr id="29" name="Connector 29"/>
          <p:cNvCxnSpPr/>
          <p:nvPr/>
        </p:nvCxnSpPr>
        <p:spPr>
          <a:xfrm>
            <a:off x="1303020" y="3401568"/>
            <a:ext cx="0" cy="36576"/>
          </a:xfrm>
          <a:prstGeom prst="line">
            <a:avLst/>
          </a:prstGeom>
          <a:ln w="15875">
            <a:solidFill>
              <a:srgbClr val="9AA4C2"/>
            </a:solidFill>
          </a:ln>
        </p:spPr>
      </p:cxnSp>
      <p:sp>
        <p:nvSpPr>
          <p:cNvPr id="30" name="Card 30"/>
          <p:cNvSpPr/>
          <p:nvPr/>
        </p:nvSpPr>
        <p:spPr>
          <a:xfrm>
            <a:off x="822960" y="3438144"/>
            <a:ext cx="6766560" cy="457200"/>
          </a:xfrm>
          <a:prstGeom prst="roundRect">
            <a:avLst>
              <a:gd name="adj" fmla="val 11666"/>
            </a:avLst>
          </a:prstGeom>
          <a:solidFill>
            <a:srgbClr val="FFFFFF"/>
          </a:solidFill>
          <a:ln w="12700">
            <a:solidFill>
              <a:srgbClr val="E2E7F2"/>
            </a:solidFill>
            <a:prstDash val="solid"/>
          </a:ln>
          <a:effectLst>
            <a:outerShdw blurRad="101600" dist="38100" dir="5400000" algn="bl" rotWithShape="0">
              <a:srgbClr val="0A1230">
                <a:alpha val="8000"/>
              </a:srgbClr>
            </a:outerShdw>
          </a:effectLst>
        </p:spPr>
        <p:txBody>
          <a:bodyPr/>
          <a:lstStyle/>
          <a:p>
            <a:endParaRPr lang="en-GB"/>
          </a:p>
        </p:txBody>
      </p:sp>
      <p:sp>
        <p:nvSpPr>
          <p:cNvPr id="31" name="Pill 31"/>
          <p:cNvSpPr/>
          <p:nvPr/>
        </p:nvSpPr>
        <p:spPr>
          <a:xfrm>
            <a:off x="960120" y="3537204"/>
            <a:ext cx="685800" cy="259080"/>
          </a:xfrm>
          <a:prstGeom prst="roundRect">
            <a:avLst>
              <a:gd name="adj" fmla="val 50000"/>
            </a:avLst>
          </a:prstGeom>
          <a:solidFill>
            <a:srgbClr val="C79100"/>
          </a:solidFill>
          <a:ln>
            <a:noFill/>
          </a:ln>
        </p:spPr>
        <p:txBody>
          <a:bodyPr wrap="square" lIns="36576" tIns="36576" rIns="36576" bIns="36576" rtlCol="0" anchor="ctr"/>
          <a:lstStyle/>
          <a:p>
            <a:pPr marL="0" indent="0" algn="ctr">
              <a:buNone/>
            </a:pPr>
            <a:r>
              <a:rPr lang="en-GB" sz="1150" dirty="0">
                <a:solidFill>
                  <a:srgbClr val="FFFFFF"/>
                </a:solidFill>
                <a:latin typeface="Inter SemiBold Text SemiBold" pitchFamily="34" charset="0"/>
                <a:ea typeface="Inter SemiBold Text SemiBold" pitchFamily="34" charset="-122"/>
                <a:cs typeface="Inter SemiBold Text SemiBold" pitchFamily="34" charset="-120"/>
              </a:rPr>
              <a:t>BT-106</a:t>
            </a:r>
          </a:p>
        </p:txBody>
      </p:sp>
      <p:sp>
        <p:nvSpPr>
          <p:cNvPr id="32" name="Text 32"/>
          <p:cNvSpPr txBox="1"/>
          <p:nvPr/>
        </p:nvSpPr>
        <p:spPr>
          <a:xfrm>
            <a:off x="1965960" y="3453384"/>
            <a:ext cx="2788920" cy="198120"/>
          </a:xfrm>
          <a:prstGeom prst="rect">
            <a:avLst/>
          </a:prstGeom>
          <a:noFill/>
          <a:ln/>
        </p:spPr>
        <p:txBody>
          <a:bodyPr wrap="none" lIns="0" tIns="0" rIns="0" bIns="0" rtlCol="0" anchor="ctr"/>
          <a:lstStyle/>
          <a:p>
            <a:pPr marL="0" indent="0" algn="l">
              <a:buNone/>
            </a:pPr>
            <a:r>
              <a:rPr lang="en-GB" sz="1150" dirty="0">
                <a:solidFill>
                  <a:srgbClr val="1A2B5E"/>
                </a:solidFill>
                <a:latin typeface="Inter SemiBold Text SemiBold" pitchFamily="34" charset="0"/>
                <a:ea typeface="Inter SemiBold Text SemiBold" pitchFamily="34" charset="-122"/>
                <a:cs typeface="Inter SemiBold Text SemiBold" pitchFamily="34" charset="-120"/>
              </a:rPr>
              <a:t>Sum of invoice line net amount</a:t>
            </a:r>
          </a:p>
        </p:txBody>
      </p:sp>
      <p:sp>
        <p:nvSpPr>
          <p:cNvPr id="33" name="Text 33"/>
          <p:cNvSpPr txBox="1"/>
          <p:nvPr/>
        </p:nvSpPr>
        <p:spPr>
          <a:xfrm>
            <a:off x="1965960" y="3643884"/>
            <a:ext cx="2788920" cy="243840"/>
          </a:xfrm>
          <a:prstGeom prst="rect">
            <a:avLst/>
          </a:prstGeom>
          <a:noFill/>
          <a:ln/>
        </p:spPr>
        <p:txBody>
          <a:bodyPr wrap="square" lIns="0" tIns="0" rIns="0" bIns="0" rtlCol="0" anchor="t"/>
          <a:lstStyle/>
          <a:p>
            <a:pPr marL="0" indent="0" algn="l">
              <a:lnSpc>
                <a:spcPct val="95000"/>
              </a:lnSpc>
              <a:buNone/>
            </a:pPr>
            <a:r>
              <a:rPr lang="en-GB" sz="800" dirty="0">
                <a:solidFill>
                  <a:srgbClr val="5B6890"/>
                </a:solidFill>
                <a:latin typeface="Inter Text" pitchFamily="34" charset="0"/>
                <a:ea typeface="Inter Text" pitchFamily="34" charset="-122"/>
                <a:cs typeface="Inter Text" pitchFamily="34" charset="-120"/>
              </a:rPr>
              <a:t>= Σ </a:t>
            </a:r>
            <a:r>
              <a:rPr lang="en-GB" sz="800" b="1" dirty="0">
                <a:solidFill>
                  <a:srgbClr val="EF6C00"/>
                </a:solidFill>
                <a:latin typeface="Inter SemiBold Text SemiBold" pitchFamily="34" charset="0"/>
                <a:ea typeface="Inter SemiBold Text SemiBold" pitchFamily="34" charset="-122"/>
                <a:cs typeface="Inter SemiBold Text SemiBold" pitchFamily="34" charset="-120"/>
              </a:rPr>
              <a:t>BT-131</a:t>
            </a:r>
            <a:r>
              <a:rPr lang="en-GB" sz="800" dirty="0">
                <a:solidFill>
                  <a:srgbClr val="5B6890"/>
                </a:solidFill>
                <a:latin typeface="Inter Text" pitchFamily="34" charset="0"/>
                <a:ea typeface="Inter Text" pitchFamily="34" charset="-122"/>
                <a:cs typeface="Inter Text" pitchFamily="34" charset="-120"/>
              </a:rPr>
              <a:t/>
            </a:r>
          </a:p>
        </p:txBody>
      </p:sp>
      <p:sp>
        <p:nvSpPr>
          <p:cNvPr id="34" name="Pill 34"/>
          <p:cNvSpPr/>
          <p:nvPr/>
        </p:nvSpPr>
        <p:spPr>
          <a:xfrm>
            <a:off x="4773168" y="3491484"/>
            <a:ext cx="1207008" cy="350520"/>
          </a:xfrm>
          <a:prstGeom prst="roundRect">
            <a:avLst>
              <a:gd name="adj" fmla="val 50000"/>
            </a:avLst>
          </a:prstGeom>
          <a:solidFill>
            <a:srgbClr val="FCEDEB"/>
          </a:solidFill>
          <a:ln w="9525">
            <a:solidFill>
              <a:srgbClr val="F2C4BE"/>
            </a:solidFill>
            <a:prstDash val="solid"/>
          </a:ln>
        </p:spPr>
        <p:txBody>
          <a:bodyPr wrap="square" lIns="18288" tIns="18288" rIns="18288" bIns="18288" rtlCol="0" anchor="ctr"/>
          <a:lstStyle/>
          <a:p>
            <a:pPr marL="0" indent="0" algn="ctr">
              <a:buNone/>
            </a:pPr>
            <a:r>
              <a:rPr lang="en-GB" sz="1150" dirty="0">
                <a:solidFill>
                  <a:srgbClr val="C0392B"/>
                </a:solidFill>
                <a:latin typeface="Inter SemiBold Text SemiBold" pitchFamily="34" charset="0"/>
                <a:ea typeface="Inter SemiBold Text SemiBold" pitchFamily="34" charset="-122"/>
                <a:cs typeface="Inter SemiBold Text SemiBold" pitchFamily="34" charset="-120"/>
              </a:rPr>
              <a:t>2 dp</a:t>
            </a:r>
          </a:p>
          <a:p>
            <a:pPr marL="0" indent="0" algn="ctr">
              <a:buNone/>
            </a:pPr>
            <a:r>
              <a:rPr lang="en-GB" sz="800" dirty="0">
                <a:solidFill>
                  <a:srgbClr val="C0392B"/>
                </a:solidFill>
                <a:latin typeface="Inter Text" pitchFamily="34" charset="0"/>
                <a:ea typeface="Inter Text" pitchFamily="34" charset="-122"/>
                <a:cs typeface="Inter Text" pitchFamily="34" charset="-120"/>
              </a:rPr>
              <a:t>Σ of rounded values</a:t>
            </a:r>
          </a:p>
        </p:txBody>
      </p:sp>
      <p:sp>
        <p:nvSpPr>
          <p:cNvPr id="35" name="Text 35"/>
          <p:cNvSpPr txBox="1"/>
          <p:nvPr/>
        </p:nvSpPr>
        <p:spPr>
          <a:xfrm>
            <a:off x="5989320" y="3468624"/>
            <a:ext cx="1508760" cy="243840"/>
          </a:xfrm>
          <a:prstGeom prst="rect">
            <a:avLst/>
          </a:prstGeom>
          <a:noFill/>
          <a:ln/>
        </p:spPr>
        <p:txBody>
          <a:bodyPr wrap="square" lIns="0" tIns="0" rIns="0" bIns="0" rtlCol="0" anchor="ctr"/>
          <a:lstStyle/>
          <a:p>
            <a:pPr marL="0" indent="0" algn="r">
              <a:buNone/>
            </a:pPr>
            <a:r>
              <a:rPr lang="en-GB" sz="1300" b="1" dirty="0">
                <a:solidFill>
                  <a:srgbClr val="C0392B"/>
                </a:solidFill>
                <a:latin typeface="Consolas" pitchFamily="34" charset="0"/>
                <a:ea typeface="Consolas" pitchFamily="34" charset="-122"/>
                <a:cs typeface="Consolas" pitchFamily="34" charset="-120"/>
              </a:rPr>
              <a:t>± €0.50</a:t>
            </a:r>
          </a:p>
        </p:txBody>
      </p:sp>
      <p:sp>
        <p:nvSpPr>
          <p:cNvPr id="36" name="Text 36"/>
          <p:cNvSpPr txBox="1"/>
          <p:nvPr/>
        </p:nvSpPr>
        <p:spPr>
          <a:xfrm>
            <a:off x="5577840" y="3704844"/>
            <a:ext cx="1920240" cy="167640"/>
          </a:xfrm>
          <a:prstGeom prst="rect">
            <a:avLst/>
          </a:prstGeom>
          <a:noFill/>
          <a:ln/>
        </p:spPr>
        <p:txBody>
          <a:bodyPr wrap="square" lIns="0" tIns="0" rIns="0" bIns="0" rtlCol="0" anchor="ctr"/>
          <a:lstStyle/>
          <a:p>
            <a:pPr marL="0" indent="0" algn="r">
              <a:buNone/>
            </a:pPr>
            <a:r>
              <a:rPr lang="en-GB" sz="850" dirty="0">
                <a:solidFill>
                  <a:srgbClr val="9AA4C2"/>
                </a:solidFill>
                <a:latin typeface="Inter Text" pitchFamily="34" charset="0"/>
                <a:ea typeface="Inter Text" pitchFamily="34" charset="-122"/>
                <a:cs typeface="Inter Text" pitchFamily="34" charset="-120"/>
              </a:rPr>
              <a:t>× 100 lines</a:t>
            </a:r>
          </a:p>
        </p:txBody>
      </p:sp>
      <p:sp>
        <p:nvSpPr>
          <p:cNvPr id="37" name="Card 37"/>
          <p:cNvSpPr/>
          <p:nvPr/>
        </p:nvSpPr>
        <p:spPr>
          <a:xfrm>
            <a:off x="822960" y="4233672"/>
            <a:ext cx="6766560" cy="457200"/>
          </a:xfrm>
          <a:prstGeom prst="roundRect">
            <a:avLst>
              <a:gd name="adj" fmla="val 11666"/>
            </a:avLst>
          </a:prstGeom>
          <a:solidFill>
            <a:srgbClr val="FFFFFF"/>
          </a:solidFill>
          <a:ln w="12700">
            <a:solidFill>
              <a:srgbClr val="E2E7F2"/>
            </a:solidFill>
            <a:prstDash val="solid"/>
          </a:ln>
          <a:effectLst>
            <a:outerShdw blurRad="101600" dist="38100" dir="5400000" algn="bl" rotWithShape="0">
              <a:srgbClr val="0A1230">
                <a:alpha val="8000"/>
              </a:srgbClr>
            </a:outerShdw>
          </a:effectLst>
        </p:spPr>
        <p:txBody>
          <a:bodyPr/>
          <a:lstStyle/>
          <a:p>
            <a:endParaRPr lang="en-GB"/>
          </a:p>
        </p:txBody>
      </p:sp>
      <p:sp>
        <p:nvSpPr>
          <p:cNvPr id="38" name="Pill 38"/>
          <p:cNvSpPr/>
          <p:nvPr/>
        </p:nvSpPr>
        <p:spPr>
          <a:xfrm>
            <a:off x="960120" y="4332732"/>
            <a:ext cx="685800" cy="259080"/>
          </a:xfrm>
          <a:prstGeom prst="roundRect">
            <a:avLst>
              <a:gd name="adj" fmla="val 50000"/>
            </a:avLst>
          </a:prstGeom>
          <a:solidFill>
            <a:srgbClr val="2E7D32"/>
          </a:solidFill>
          <a:ln>
            <a:noFill/>
          </a:ln>
        </p:spPr>
        <p:txBody>
          <a:bodyPr wrap="square" lIns="36576" tIns="36576" rIns="36576" bIns="36576" rtlCol="0" anchor="ctr"/>
          <a:lstStyle/>
          <a:p>
            <a:pPr marL="0" indent="0" algn="ctr">
              <a:buNone/>
            </a:pPr>
            <a:r>
              <a:rPr lang="en-GB" sz="1150" dirty="0">
                <a:solidFill>
                  <a:srgbClr val="FFFFFF"/>
                </a:solidFill>
                <a:latin typeface="Inter SemiBold Text SemiBold" pitchFamily="34" charset="0"/>
                <a:ea typeface="Inter SemiBold Text SemiBold" pitchFamily="34" charset="-122"/>
                <a:cs typeface="Inter SemiBold Text SemiBold" pitchFamily="34" charset="-120"/>
              </a:rPr>
              <a:t>BT-116</a:t>
            </a:r>
          </a:p>
        </p:txBody>
      </p:sp>
      <p:sp>
        <p:nvSpPr>
          <p:cNvPr id="39" name="Text 39"/>
          <p:cNvSpPr txBox="1"/>
          <p:nvPr/>
        </p:nvSpPr>
        <p:spPr>
          <a:xfrm>
            <a:off x="1965960" y="4248912"/>
            <a:ext cx="2788920" cy="198120"/>
          </a:xfrm>
          <a:prstGeom prst="rect">
            <a:avLst/>
          </a:prstGeom>
          <a:noFill/>
          <a:ln/>
        </p:spPr>
        <p:txBody>
          <a:bodyPr wrap="none" lIns="0" tIns="0" rIns="0" bIns="0" rtlCol="0" anchor="ctr"/>
          <a:lstStyle/>
          <a:p>
            <a:pPr marL="0" indent="0" algn="l">
              <a:buNone/>
            </a:pPr>
            <a:r>
              <a:rPr lang="en-GB" sz="1150" dirty="0">
                <a:solidFill>
                  <a:srgbClr val="1A2B5E"/>
                </a:solidFill>
                <a:latin typeface="Inter SemiBold Text SemiBold" pitchFamily="34" charset="0"/>
                <a:ea typeface="Inter SemiBold Text SemiBold" pitchFamily="34" charset="-122"/>
                <a:cs typeface="Inter SemiBold Text SemiBold" pitchFamily="34" charset="-120"/>
              </a:rPr>
              <a:t>VAT category taxable amount</a:t>
            </a:r>
          </a:p>
        </p:txBody>
      </p:sp>
      <p:sp>
        <p:nvSpPr>
          <p:cNvPr id="40" name="Text 40"/>
          <p:cNvSpPr txBox="1"/>
          <p:nvPr/>
        </p:nvSpPr>
        <p:spPr>
          <a:xfrm>
            <a:off x="1965960" y="4439412"/>
            <a:ext cx="2788920" cy="243840"/>
          </a:xfrm>
          <a:prstGeom prst="rect">
            <a:avLst/>
          </a:prstGeom>
          <a:noFill/>
          <a:ln/>
        </p:spPr>
        <p:txBody>
          <a:bodyPr wrap="square" lIns="0" tIns="0" rIns="0" bIns="0" rtlCol="0" anchor="t"/>
          <a:lstStyle/>
          <a:p>
            <a:pPr marL="0" indent="0" algn="l">
              <a:lnSpc>
                <a:spcPct val="95000"/>
              </a:lnSpc>
              <a:buNone/>
            </a:pPr>
            <a:r>
              <a:rPr lang="en-GB" sz="800" dirty="0">
                <a:solidFill>
                  <a:srgbClr val="5B6890"/>
                </a:solidFill>
                <a:latin typeface="Inter Text" pitchFamily="34" charset="0"/>
                <a:ea typeface="Inter Text" pitchFamily="34" charset="-122"/>
                <a:cs typeface="Inter Text" pitchFamily="34" charset="-120"/>
              </a:rPr>
              <a:t>= Σ </a:t>
            </a:r>
            <a:r>
              <a:rPr lang="en-GB" sz="800" b="1" dirty="0">
                <a:solidFill>
                  <a:srgbClr val="EF6C00"/>
                </a:solidFill>
                <a:latin typeface="Inter SemiBold Text SemiBold" pitchFamily="34" charset="0"/>
                <a:ea typeface="Inter SemiBold Text SemiBold" pitchFamily="34" charset="-122"/>
                <a:cs typeface="Inter SemiBold Text SemiBold" pitchFamily="34" charset="-120"/>
              </a:rPr>
              <a:t>BT-131</a:t>
            </a:r>
            <a:r>
              <a:rPr lang="en-GB" sz="800" dirty="0">
                <a:solidFill>
                  <a:srgbClr val="5B6890"/>
                </a:solidFill>
                <a:latin typeface="Inter Text" pitchFamily="34" charset="0"/>
                <a:ea typeface="Inter Text" pitchFamily="34" charset="-122"/>
                <a:cs typeface="Inter Text" pitchFamily="34" charset="-120"/>
              </a:rPr>
              <a:t> + Σ </a:t>
            </a:r>
            <a:r>
              <a:rPr lang="en-GB" sz="800" dirty="0">
                <a:solidFill>
                  <a:srgbClr val="1A2B5E"/>
                </a:solidFill>
                <a:latin typeface="Inter SemiBold Text SemiBold" pitchFamily="34" charset="0"/>
                <a:ea typeface="Inter SemiBold Text SemiBold" pitchFamily="34" charset="-122"/>
                <a:cs typeface="Inter SemiBold Text SemiBold" pitchFamily="34" charset="-120"/>
              </a:rPr>
              <a:t>BT-99</a:t>
            </a:r>
            <a:r>
              <a:rPr lang="en-GB" sz="800" dirty="0">
                <a:solidFill>
                  <a:srgbClr val="5B6890"/>
                </a:solidFill>
                <a:latin typeface="Inter Text" pitchFamily="34" charset="0"/>
                <a:ea typeface="Inter Text" pitchFamily="34" charset="-122"/>
                <a:cs typeface="Inter Text" pitchFamily="34" charset="-120"/>
              </a:rPr>
              <a:t/>
            </a:r>
            <a:r>
              <a:rPr lang="en-GB" sz="800" dirty="0">
                <a:solidFill>
                  <a:srgbClr val="5B6890"/>
                </a:solidFill>
                <a:latin typeface="Inter Text" pitchFamily="34" charset="0"/>
                <a:ea typeface="Inter Text" pitchFamily="34" charset="-122"/>
                <a:cs typeface="Inter Text" pitchFamily="34" charset="-120"/>
              </a:rPr>
              <a:t> − Σ </a:t>
            </a:r>
            <a:r>
              <a:rPr lang="en-GB" sz="800" dirty="0">
                <a:solidFill>
                  <a:srgbClr val="1A2B5E"/>
                </a:solidFill>
                <a:latin typeface="Inter SemiBold Text SemiBold" pitchFamily="34" charset="0"/>
                <a:ea typeface="Inter SemiBold Text SemiBold" pitchFamily="34" charset="-122"/>
                <a:cs typeface="Inter SemiBold Text SemiBold" pitchFamily="34" charset="-120"/>
              </a:rPr>
              <a:t>BT-92</a:t>
            </a:r>
            <a:r>
              <a:rPr lang="en-GB" sz="800" dirty="0">
                <a:solidFill>
                  <a:srgbClr val="5B6890"/>
                </a:solidFill>
                <a:latin typeface="Inter Text" pitchFamily="34" charset="0"/>
                <a:ea typeface="Inter Text" pitchFamily="34" charset="-122"/>
                <a:cs typeface="Inter Text" pitchFamily="34" charset="-120"/>
              </a:rPr>
              <a:t/>
            </a:r>
          </a:p>
        </p:txBody>
      </p:sp>
      <p:sp>
        <p:nvSpPr>
          <p:cNvPr id="41" name="Pill 41"/>
          <p:cNvSpPr/>
          <p:nvPr/>
        </p:nvSpPr>
        <p:spPr>
          <a:xfrm>
            <a:off x="4773168" y="4287012"/>
            <a:ext cx="1207008" cy="350520"/>
          </a:xfrm>
          <a:prstGeom prst="roundRect">
            <a:avLst>
              <a:gd name="adj" fmla="val 50000"/>
            </a:avLst>
          </a:prstGeom>
          <a:solidFill>
            <a:srgbClr val="FCEDEB"/>
          </a:solidFill>
          <a:ln w="9525">
            <a:solidFill>
              <a:srgbClr val="F2C4BE"/>
            </a:solidFill>
            <a:prstDash val="solid"/>
          </a:ln>
        </p:spPr>
        <p:txBody>
          <a:bodyPr wrap="square" lIns="18288" tIns="18288" rIns="18288" bIns="18288" rtlCol="0" anchor="ctr"/>
          <a:lstStyle/>
          <a:p>
            <a:pPr marL="0" indent="0" algn="ctr">
              <a:buNone/>
            </a:pPr>
            <a:r>
              <a:rPr lang="en-GB" sz="1150" dirty="0">
                <a:solidFill>
                  <a:srgbClr val="C0392B"/>
                </a:solidFill>
                <a:latin typeface="Inter SemiBold Text SemiBold" pitchFamily="34" charset="0"/>
                <a:ea typeface="Inter SemiBold Text SemiBold" pitchFamily="34" charset="-122"/>
                <a:cs typeface="Inter SemiBold Text SemiBold" pitchFamily="34" charset="-120"/>
              </a:rPr>
              <a:t>2 dp</a:t>
            </a:r>
          </a:p>
          <a:p>
            <a:pPr marL="0" indent="0" algn="ctr">
              <a:buNone/>
            </a:pPr>
            <a:r>
              <a:rPr lang="en-GB" sz="800" dirty="0">
                <a:solidFill>
                  <a:srgbClr val="C0392B"/>
                </a:solidFill>
                <a:latin typeface="Inter Text" pitchFamily="34" charset="0"/>
                <a:ea typeface="Inter Text" pitchFamily="34" charset="-122"/>
                <a:cs typeface="Inter Text" pitchFamily="34" charset="-120"/>
              </a:rPr>
              <a:t>interim rounding</a:t>
            </a:r>
          </a:p>
        </p:txBody>
      </p:sp>
      <p:sp>
        <p:nvSpPr>
          <p:cNvPr id="42" name="Text 42"/>
          <p:cNvSpPr txBox="1"/>
          <p:nvPr/>
        </p:nvSpPr>
        <p:spPr>
          <a:xfrm>
            <a:off x="5989320" y="4264152"/>
            <a:ext cx="1508760" cy="243840"/>
          </a:xfrm>
          <a:prstGeom prst="rect">
            <a:avLst/>
          </a:prstGeom>
          <a:noFill/>
          <a:ln/>
        </p:spPr>
        <p:txBody>
          <a:bodyPr wrap="square" lIns="0" tIns="0" rIns="0" bIns="0" rtlCol="0" anchor="ctr"/>
          <a:lstStyle/>
          <a:p>
            <a:pPr marL="0" indent="0" algn="r">
              <a:buNone/>
            </a:pPr>
            <a:r>
              <a:rPr lang="en-GB" sz="1300" b="1" dirty="0">
                <a:solidFill>
                  <a:srgbClr val="C0392B"/>
                </a:solidFill>
                <a:latin typeface="Consolas" pitchFamily="34" charset="0"/>
                <a:ea typeface="Consolas" pitchFamily="34" charset="-122"/>
                <a:cs typeface="Consolas" pitchFamily="34" charset="-120"/>
              </a:rPr>
              <a:t>± €0.50</a:t>
            </a:r>
          </a:p>
        </p:txBody>
      </p:sp>
      <p:sp>
        <p:nvSpPr>
          <p:cNvPr id="43" name="Text 43"/>
          <p:cNvSpPr txBox="1"/>
          <p:nvPr/>
        </p:nvSpPr>
        <p:spPr>
          <a:xfrm>
            <a:off x="5577840" y="4500372"/>
            <a:ext cx="1920240" cy="167640"/>
          </a:xfrm>
          <a:prstGeom prst="rect">
            <a:avLst/>
          </a:prstGeom>
          <a:noFill/>
          <a:ln/>
        </p:spPr>
        <p:txBody>
          <a:bodyPr wrap="square" lIns="0" tIns="0" rIns="0" bIns="0" rtlCol="0" anchor="ctr"/>
          <a:lstStyle/>
          <a:p>
            <a:pPr marL="0" indent="0" algn="r">
              <a:buNone/>
            </a:pPr>
            <a:r>
              <a:rPr lang="en-GB" sz="850" dirty="0">
                <a:solidFill>
                  <a:srgbClr val="9AA4C2"/>
                </a:solidFill>
                <a:latin typeface="Inter Text" pitchFamily="34" charset="0"/>
                <a:ea typeface="Inter Text" pitchFamily="34" charset="-122"/>
                <a:cs typeface="Inter Text" pitchFamily="34" charset="-120"/>
              </a:rPr>
              <a:t>Σ of rounded lines</a:t>
            </a:r>
          </a:p>
        </p:txBody>
      </p:sp>
      <p:cxnSp>
        <p:nvCxnSpPr>
          <p:cNvPr id="44" name="Connector 44"/>
          <p:cNvCxnSpPr/>
          <p:nvPr/>
        </p:nvCxnSpPr>
        <p:spPr>
          <a:xfrm>
            <a:off x="1303020" y="4690872"/>
            <a:ext cx="0" cy="36576"/>
          </a:xfrm>
          <a:prstGeom prst="line">
            <a:avLst/>
          </a:prstGeom>
          <a:ln w="15875">
            <a:solidFill>
              <a:srgbClr val="9AA4C2"/>
            </a:solidFill>
          </a:ln>
        </p:spPr>
      </p:cxnSp>
      <p:sp>
        <p:nvSpPr>
          <p:cNvPr id="45" name="Card 45"/>
          <p:cNvSpPr/>
          <p:nvPr/>
        </p:nvSpPr>
        <p:spPr>
          <a:xfrm>
            <a:off x="822960" y="4727448"/>
            <a:ext cx="6766560" cy="457200"/>
          </a:xfrm>
          <a:prstGeom prst="roundRect">
            <a:avLst>
              <a:gd name="adj" fmla="val 11666"/>
            </a:avLst>
          </a:prstGeom>
          <a:solidFill>
            <a:srgbClr val="FFFFFF"/>
          </a:solidFill>
          <a:ln w="12700">
            <a:solidFill>
              <a:srgbClr val="E2E7F2"/>
            </a:solidFill>
            <a:prstDash val="solid"/>
          </a:ln>
          <a:effectLst>
            <a:outerShdw blurRad="101600" dist="38100" dir="5400000" algn="bl" rotWithShape="0">
              <a:srgbClr val="0A1230">
                <a:alpha val="8000"/>
              </a:srgbClr>
            </a:outerShdw>
          </a:effectLst>
        </p:spPr>
        <p:txBody>
          <a:bodyPr/>
          <a:lstStyle/>
          <a:p>
            <a:endParaRPr lang="en-GB"/>
          </a:p>
        </p:txBody>
      </p:sp>
      <p:sp>
        <p:nvSpPr>
          <p:cNvPr id="46" name="Pill 46"/>
          <p:cNvSpPr/>
          <p:nvPr/>
        </p:nvSpPr>
        <p:spPr>
          <a:xfrm>
            <a:off x="960120" y="4826508"/>
            <a:ext cx="685800" cy="259080"/>
          </a:xfrm>
          <a:prstGeom prst="roundRect">
            <a:avLst>
              <a:gd name="adj" fmla="val 50000"/>
            </a:avLst>
          </a:prstGeom>
          <a:solidFill>
            <a:srgbClr val="1565C0"/>
          </a:solidFill>
          <a:ln>
            <a:noFill/>
          </a:ln>
        </p:spPr>
        <p:txBody>
          <a:bodyPr wrap="square" lIns="36576" tIns="36576" rIns="36576" bIns="36576" rtlCol="0" anchor="ctr"/>
          <a:lstStyle/>
          <a:p>
            <a:pPr marL="0" indent="0" algn="ctr">
              <a:buNone/>
            </a:pPr>
            <a:r>
              <a:rPr lang="en-GB" sz="1150" dirty="0">
                <a:solidFill>
                  <a:srgbClr val="FFFFFF"/>
                </a:solidFill>
                <a:latin typeface="Inter SemiBold Text SemiBold" pitchFamily="34" charset="0"/>
                <a:ea typeface="Inter SemiBold Text SemiBold" pitchFamily="34" charset="-122"/>
                <a:cs typeface="Inter SemiBold Text SemiBold" pitchFamily="34" charset="-120"/>
              </a:rPr>
              <a:t>BT-117</a:t>
            </a:r>
          </a:p>
        </p:txBody>
      </p:sp>
      <p:sp>
        <p:nvSpPr>
          <p:cNvPr id="47" name="Text 47"/>
          <p:cNvSpPr txBox="1"/>
          <p:nvPr/>
        </p:nvSpPr>
        <p:spPr>
          <a:xfrm>
            <a:off x="1965960" y="4742688"/>
            <a:ext cx="2788920" cy="198120"/>
          </a:xfrm>
          <a:prstGeom prst="rect">
            <a:avLst/>
          </a:prstGeom>
          <a:noFill/>
          <a:ln/>
        </p:spPr>
        <p:txBody>
          <a:bodyPr wrap="none" lIns="0" tIns="0" rIns="0" bIns="0" rtlCol="0" anchor="ctr"/>
          <a:lstStyle/>
          <a:p>
            <a:pPr marL="0" indent="0" algn="l">
              <a:buNone/>
            </a:pPr>
            <a:r>
              <a:rPr lang="en-GB" sz="1150" dirty="0">
                <a:solidFill>
                  <a:srgbClr val="1A2B5E"/>
                </a:solidFill>
                <a:latin typeface="Inter SemiBold Text SemiBold" pitchFamily="34" charset="0"/>
                <a:ea typeface="Inter SemiBold Text SemiBold" pitchFamily="34" charset="-122"/>
                <a:cs typeface="Inter SemiBold Text SemiBold" pitchFamily="34" charset="-120"/>
              </a:rPr>
              <a:t>VAT category tax amount</a:t>
            </a:r>
          </a:p>
        </p:txBody>
      </p:sp>
      <p:sp>
        <p:nvSpPr>
          <p:cNvPr id="48" name="Text 48"/>
          <p:cNvSpPr txBox="1"/>
          <p:nvPr/>
        </p:nvSpPr>
        <p:spPr>
          <a:xfrm>
            <a:off x="1965960" y="4933188"/>
            <a:ext cx="2788920" cy="243840"/>
          </a:xfrm>
          <a:prstGeom prst="rect">
            <a:avLst/>
          </a:prstGeom>
          <a:noFill/>
          <a:ln/>
        </p:spPr>
        <p:txBody>
          <a:bodyPr wrap="square" lIns="0" tIns="0" rIns="0" bIns="0" rtlCol="0" anchor="t"/>
          <a:lstStyle/>
          <a:p>
            <a:pPr marL="0" indent="0" algn="l">
              <a:lnSpc>
                <a:spcPct val="95000"/>
              </a:lnSpc>
              <a:buNone/>
            </a:pPr>
            <a:r>
              <a:rPr lang="en-GB" sz="800" dirty="0">
                <a:solidFill>
                  <a:srgbClr val="5B6890"/>
                </a:solidFill>
                <a:latin typeface="Inter Text" pitchFamily="34" charset="0"/>
                <a:ea typeface="Inter Text" pitchFamily="34" charset="-122"/>
                <a:cs typeface="Inter Text" pitchFamily="34" charset="-120"/>
              </a:rPr>
              <a:t>= </a:t>
            </a:r>
            <a:r>
              <a:rPr lang="en-GB" sz="800" b="1" dirty="0">
                <a:solidFill>
                  <a:srgbClr val="2E7D32"/>
                </a:solidFill>
                <a:latin typeface="Inter SemiBold Text SemiBold" pitchFamily="34" charset="0"/>
                <a:ea typeface="Inter SemiBold Text SemiBold" pitchFamily="34" charset="-122"/>
                <a:cs typeface="Inter SemiBold Text SemiBold" pitchFamily="34" charset="-120"/>
              </a:rPr>
              <a:t>BT-116</a:t>
            </a:r>
            <a:r>
              <a:rPr lang="en-GB" sz="800" dirty="0">
                <a:solidFill>
                  <a:srgbClr val="5B6890"/>
                </a:solidFill>
                <a:latin typeface="Inter Text" pitchFamily="34" charset="0"/>
                <a:ea typeface="Inter Text" pitchFamily="34" charset="-122"/>
                <a:cs typeface="Inter Text" pitchFamily="34" charset="-120"/>
              </a:rPr>
              <a:t> × </a:t>
            </a:r>
            <a:r>
              <a:rPr lang="en-GB" sz="800" dirty="0">
                <a:solidFill>
                  <a:srgbClr val="1A2B5E"/>
                </a:solidFill>
                <a:latin typeface="Inter SemiBold Text SemiBold" pitchFamily="34" charset="0"/>
                <a:ea typeface="Inter SemiBold Text SemiBold" pitchFamily="34" charset="-122"/>
                <a:cs typeface="Inter SemiBold Text SemiBold" pitchFamily="34" charset="-120"/>
              </a:rPr>
              <a:t>BT-119</a:t>
            </a:r>
            <a:r>
              <a:rPr lang="en-GB" sz="800" dirty="0">
                <a:solidFill>
                  <a:srgbClr val="5B6890"/>
                </a:solidFill>
                <a:latin typeface="Inter Text" pitchFamily="34" charset="0"/>
                <a:ea typeface="Inter Text" pitchFamily="34" charset="-122"/>
                <a:cs typeface="Inter Text" pitchFamily="34" charset="-120"/>
              </a:rPr>
              <a:t> ÷ 100</a:t>
            </a:r>
          </a:p>
        </p:txBody>
      </p:sp>
      <p:sp>
        <p:nvSpPr>
          <p:cNvPr id="49" name="Pill 49"/>
          <p:cNvSpPr/>
          <p:nvPr/>
        </p:nvSpPr>
        <p:spPr>
          <a:xfrm>
            <a:off x="4773168" y="4780788"/>
            <a:ext cx="1207008" cy="350520"/>
          </a:xfrm>
          <a:prstGeom prst="roundRect">
            <a:avLst>
              <a:gd name="adj" fmla="val 50000"/>
            </a:avLst>
          </a:prstGeom>
          <a:solidFill>
            <a:srgbClr val="FCEDEB"/>
          </a:solidFill>
          <a:ln w="9525">
            <a:solidFill>
              <a:srgbClr val="F2C4BE"/>
            </a:solidFill>
            <a:prstDash val="solid"/>
          </a:ln>
        </p:spPr>
        <p:txBody>
          <a:bodyPr wrap="square" lIns="18288" tIns="18288" rIns="18288" bIns="18288" rtlCol="0" anchor="ctr"/>
          <a:lstStyle/>
          <a:p>
            <a:pPr marL="0" indent="0" algn="ctr">
              <a:buNone/>
            </a:pPr>
            <a:r>
              <a:rPr lang="en-GB" sz="1150" dirty="0">
                <a:solidFill>
                  <a:srgbClr val="C0392B"/>
                </a:solidFill>
                <a:latin typeface="Inter SemiBold Text SemiBold" pitchFamily="34" charset="0"/>
                <a:ea typeface="Inter SemiBold Text SemiBold" pitchFamily="34" charset="-122"/>
                <a:cs typeface="Inter SemiBold Text SemiBold" pitchFamily="34" charset="-120"/>
              </a:rPr>
              <a:t>2 dp</a:t>
            </a:r>
          </a:p>
          <a:p>
            <a:pPr marL="0" indent="0" algn="ctr">
              <a:buNone/>
            </a:pPr>
            <a:r>
              <a:rPr lang="en-GB" sz="800" dirty="0">
                <a:solidFill>
                  <a:srgbClr val="C0392B"/>
                </a:solidFill>
                <a:latin typeface="Inter Text" pitchFamily="34" charset="0"/>
                <a:ea typeface="Inter Text" pitchFamily="34" charset="-122"/>
                <a:cs typeface="Inter Text" pitchFamily="34" charset="-120"/>
              </a:rPr>
              <a:t>interim rounding</a:t>
            </a:r>
          </a:p>
        </p:txBody>
      </p:sp>
      <p:sp>
        <p:nvSpPr>
          <p:cNvPr id="50" name="Text 50"/>
          <p:cNvSpPr txBox="1"/>
          <p:nvPr/>
        </p:nvSpPr>
        <p:spPr>
          <a:xfrm>
            <a:off x="5989320" y="4757928"/>
            <a:ext cx="1508760" cy="243840"/>
          </a:xfrm>
          <a:prstGeom prst="rect">
            <a:avLst/>
          </a:prstGeom>
          <a:noFill/>
          <a:ln/>
        </p:spPr>
        <p:txBody>
          <a:bodyPr wrap="square" lIns="0" tIns="0" rIns="0" bIns="0" rtlCol="0" anchor="ctr"/>
          <a:lstStyle/>
          <a:p>
            <a:pPr marL="0" indent="0" algn="r">
              <a:buNone/>
            </a:pPr>
            <a:r>
              <a:rPr lang="en-GB" sz="1300" b="1" dirty="0">
                <a:solidFill>
                  <a:srgbClr val="C0392B"/>
                </a:solidFill>
                <a:latin typeface="Consolas" pitchFamily="34" charset="0"/>
                <a:ea typeface="Consolas" pitchFamily="34" charset="-122"/>
                <a:cs typeface="Consolas" pitchFamily="34" charset="-120"/>
              </a:rPr>
              <a:t>± €0.10</a:t>
            </a:r>
          </a:p>
        </p:txBody>
      </p:sp>
      <p:sp>
        <p:nvSpPr>
          <p:cNvPr id="51" name="Text 51"/>
          <p:cNvSpPr txBox="1"/>
          <p:nvPr/>
        </p:nvSpPr>
        <p:spPr>
          <a:xfrm>
            <a:off x="5577840" y="4994148"/>
            <a:ext cx="1920240" cy="167640"/>
          </a:xfrm>
          <a:prstGeom prst="rect">
            <a:avLst/>
          </a:prstGeom>
          <a:noFill/>
          <a:ln/>
        </p:spPr>
        <p:txBody>
          <a:bodyPr wrap="square" lIns="0" tIns="0" rIns="0" bIns="0" rtlCol="0" anchor="ctr"/>
          <a:lstStyle/>
          <a:p>
            <a:pPr marL="0" indent="0" algn="r">
              <a:buNone/>
            </a:pPr>
            <a:r>
              <a:rPr lang="en-GB" sz="850" dirty="0">
                <a:solidFill>
                  <a:srgbClr val="9AA4C2"/>
                </a:solidFill>
                <a:latin typeface="Inter Text" pitchFamily="34" charset="0"/>
                <a:ea typeface="Inter Text" pitchFamily="34" charset="-122"/>
                <a:cs typeface="Inter Text" pitchFamily="34" charset="-120"/>
              </a:rPr>
              <a:t>€0.50 × 19%</a:t>
            </a:r>
          </a:p>
        </p:txBody>
      </p:sp>
      <p:cxnSp>
        <p:nvCxnSpPr>
          <p:cNvPr id="52" name="Connector 52"/>
          <p:cNvCxnSpPr/>
          <p:nvPr/>
        </p:nvCxnSpPr>
        <p:spPr>
          <a:xfrm>
            <a:off x="1303020" y="5184648"/>
            <a:ext cx="0" cy="36576"/>
          </a:xfrm>
          <a:prstGeom prst="line">
            <a:avLst/>
          </a:prstGeom>
          <a:ln w="15875">
            <a:solidFill>
              <a:srgbClr val="9AA4C2"/>
            </a:solidFill>
          </a:ln>
        </p:spPr>
      </p:cxnSp>
      <p:sp>
        <p:nvSpPr>
          <p:cNvPr id="53" name="Card 53"/>
          <p:cNvSpPr/>
          <p:nvPr/>
        </p:nvSpPr>
        <p:spPr>
          <a:xfrm>
            <a:off x="822960" y="5221224"/>
            <a:ext cx="6766560" cy="457200"/>
          </a:xfrm>
          <a:prstGeom prst="roundRect">
            <a:avLst>
              <a:gd name="adj" fmla="val 11666"/>
            </a:avLst>
          </a:prstGeom>
          <a:solidFill>
            <a:srgbClr val="FFFFFF"/>
          </a:solidFill>
          <a:ln w="12700">
            <a:solidFill>
              <a:srgbClr val="E2E7F2"/>
            </a:solidFill>
            <a:prstDash val="solid"/>
          </a:ln>
          <a:effectLst>
            <a:outerShdw blurRad="101600" dist="38100" dir="5400000" algn="bl" rotWithShape="0">
              <a:srgbClr val="0A1230">
                <a:alpha val="8000"/>
              </a:srgbClr>
            </a:outerShdw>
          </a:effectLst>
        </p:spPr>
        <p:txBody>
          <a:bodyPr/>
          <a:lstStyle/>
          <a:p>
            <a:endParaRPr lang="en-GB"/>
          </a:p>
        </p:txBody>
      </p:sp>
      <p:sp>
        <p:nvSpPr>
          <p:cNvPr id="54" name="Pill 54"/>
          <p:cNvSpPr/>
          <p:nvPr/>
        </p:nvSpPr>
        <p:spPr>
          <a:xfrm>
            <a:off x="960120" y="5320284"/>
            <a:ext cx="685800" cy="259080"/>
          </a:xfrm>
          <a:prstGeom prst="roundRect">
            <a:avLst>
              <a:gd name="adj" fmla="val 50000"/>
            </a:avLst>
          </a:prstGeom>
          <a:solidFill>
            <a:srgbClr val="6A1B9A"/>
          </a:solidFill>
          <a:ln>
            <a:noFill/>
          </a:ln>
        </p:spPr>
        <p:txBody>
          <a:bodyPr wrap="square" lIns="36576" tIns="36576" rIns="36576" bIns="36576" rtlCol="0" anchor="ctr"/>
          <a:lstStyle/>
          <a:p>
            <a:pPr marL="0" indent="0" algn="ctr">
              <a:buNone/>
            </a:pPr>
            <a:r>
              <a:rPr lang="en-GB" sz="1150" dirty="0">
                <a:solidFill>
                  <a:srgbClr val="FFFFFF"/>
                </a:solidFill>
                <a:latin typeface="Inter SemiBold Text SemiBold" pitchFamily="34" charset="0"/>
                <a:ea typeface="Inter SemiBold Text SemiBold" pitchFamily="34" charset="-122"/>
                <a:cs typeface="Inter SemiBold Text SemiBold" pitchFamily="34" charset="-120"/>
              </a:rPr>
              <a:t>BT-110</a:t>
            </a:r>
          </a:p>
        </p:txBody>
      </p:sp>
      <p:sp>
        <p:nvSpPr>
          <p:cNvPr id="55" name="Text 55"/>
          <p:cNvSpPr txBox="1"/>
          <p:nvPr/>
        </p:nvSpPr>
        <p:spPr>
          <a:xfrm>
            <a:off x="1965960" y="5236464"/>
            <a:ext cx="2788920" cy="198120"/>
          </a:xfrm>
          <a:prstGeom prst="rect">
            <a:avLst/>
          </a:prstGeom>
          <a:noFill/>
          <a:ln/>
        </p:spPr>
        <p:txBody>
          <a:bodyPr wrap="none" lIns="0" tIns="0" rIns="0" bIns="0" rtlCol="0" anchor="ctr"/>
          <a:lstStyle/>
          <a:p>
            <a:pPr marL="0" indent="0" algn="l">
              <a:buNone/>
            </a:pPr>
            <a:r>
              <a:rPr lang="en-GB" sz="1150" dirty="0">
                <a:solidFill>
                  <a:srgbClr val="1A2B5E"/>
                </a:solidFill>
                <a:latin typeface="Inter SemiBold Text SemiBold" pitchFamily="34" charset="0"/>
                <a:ea typeface="Inter SemiBold Text SemiBold" pitchFamily="34" charset="-122"/>
                <a:cs typeface="Inter SemiBold Text SemiBold" pitchFamily="34" charset="-120"/>
              </a:rPr>
              <a:t>Invoice total VAT amount</a:t>
            </a:r>
          </a:p>
        </p:txBody>
      </p:sp>
      <p:sp>
        <p:nvSpPr>
          <p:cNvPr id="56" name="Text 56"/>
          <p:cNvSpPr txBox="1"/>
          <p:nvPr/>
        </p:nvSpPr>
        <p:spPr>
          <a:xfrm>
            <a:off x="1965960" y="5426964"/>
            <a:ext cx="2788920" cy="243840"/>
          </a:xfrm>
          <a:prstGeom prst="rect">
            <a:avLst/>
          </a:prstGeom>
          <a:noFill/>
          <a:ln/>
        </p:spPr>
        <p:txBody>
          <a:bodyPr wrap="square" lIns="0" tIns="0" rIns="0" bIns="0" rtlCol="0" anchor="t"/>
          <a:lstStyle/>
          <a:p>
            <a:pPr marL="0" indent="0" algn="l">
              <a:lnSpc>
                <a:spcPct val="95000"/>
              </a:lnSpc>
              <a:buNone/>
            </a:pPr>
            <a:r>
              <a:rPr lang="en-GB" sz="800" dirty="0">
                <a:solidFill>
                  <a:srgbClr val="5B6890"/>
                </a:solidFill>
                <a:latin typeface="Inter Text" pitchFamily="34" charset="0"/>
                <a:ea typeface="Inter Text" pitchFamily="34" charset="-122"/>
                <a:cs typeface="Inter Text" pitchFamily="34" charset="-120"/>
              </a:rPr>
              <a:t>= Σ </a:t>
            </a:r>
            <a:r>
              <a:rPr lang="en-GB" sz="800" b="1" dirty="0">
                <a:solidFill>
                  <a:srgbClr val="1565C0"/>
                </a:solidFill>
                <a:latin typeface="Inter SemiBold Text SemiBold" pitchFamily="34" charset="0"/>
                <a:ea typeface="Inter SemiBold Text SemiBold" pitchFamily="34" charset="-122"/>
                <a:cs typeface="Inter SemiBold Text SemiBold" pitchFamily="34" charset="-120"/>
              </a:rPr>
              <a:t>BT-117</a:t>
            </a:r>
            <a:r>
              <a:rPr lang="en-GB" sz="800" dirty="0">
                <a:solidFill>
                  <a:srgbClr val="5B6890"/>
                </a:solidFill>
                <a:latin typeface="Inter Text" pitchFamily="34" charset="0"/>
                <a:ea typeface="Inter Text" pitchFamily="34" charset="-122"/>
                <a:cs typeface="Inter Text" pitchFamily="34" charset="-120"/>
              </a:rPr>
              <a:t/>
            </a:r>
          </a:p>
        </p:txBody>
      </p:sp>
      <p:sp>
        <p:nvSpPr>
          <p:cNvPr id="57" name="Pill 57"/>
          <p:cNvSpPr/>
          <p:nvPr/>
        </p:nvSpPr>
        <p:spPr>
          <a:xfrm>
            <a:off x="4773168" y="5274564"/>
            <a:ext cx="1207008" cy="350520"/>
          </a:xfrm>
          <a:prstGeom prst="roundRect">
            <a:avLst>
              <a:gd name="adj" fmla="val 50000"/>
            </a:avLst>
          </a:prstGeom>
          <a:solidFill>
            <a:srgbClr val="FCEDEB"/>
          </a:solidFill>
          <a:ln w="9525">
            <a:solidFill>
              <a:srgbClr val="F2C4BE"/>
            </a:solidFill>
            <a:prstDash val="solid"/>
          </a:ln>
        </p:spPr>
        <p:txBody>
          <a:bodyPr wrap="square" lIns="18288" tIns="18288" rIns="18288" bIns="18288" rtlCol="0" anchor="ctr"/>
          <a:lstStyle/>
          <a:p>
            <a:pPr marL="0" indent="0" algn="ctr">
              <a:buNone/>
            </a:pPr>
            <a:r>
              <a:rPr lang="en-GB" sz="1150" dirty="0">
                <a:solidFill>
                  <a:srgbClr val="C0392B"/>
                </a:solidFill>
                <a:latin typeface="Inter SemiBold Text SemiBold" pitchFamily="34" charset="0"/>
                <a:ea typeface="Inter SemiBold Text SemiBold" pitchFamily="34" charset="-122"/>
                <a:cs typeface="Inter SemiBold Text SemiBold" pitchFamily="34" charset="-120"/>
              </a:rPr>
              <a:t>2 dp</a:t>
            </a:r>
          </a:p>
          <a:p>
            <a:pPr marL="0" indent="0" algn="ctr">
              <a:buNone/>
            </a:pPr>
            <a:r>
              <a:rPr lang="en-GB" sz="800" dirty="0">
                <a:solidFill>
                  <a:srgbClr val="C0392B"/>
                </a:solidFill>
                <a:latin typeface="Inter Text" pitchFamily="34" charset="0"/>
                <a:ea typeface="Inter Text" pitchFamily="34" charset="-122"/>
                <a:cs typeface="Inter Text" pitchFamily="34" charset="-120"/>
              </a:rPr>
              <a:t>Σ of rounded values</a:t>
            </a:r>
          </a:p>
        </p:txBody>
      </p:sp>
      <p:sp>
        <p:nvSpPr>
          <p:cNvPr id="58" name="Text 58"/>
          <p:cNvSpPr txBox="1"/>
          <p:nvPr/>
        </p:nvSpPr>
        <p:spPr>
          <a:xfrm>
            <a:off x="5989320" y="5251704"/>
            <a:ext cx="1508760" cy="243840"/>
          </a:xfrm>
          <a:prstGeom prst="rect">
            <a:avLst/>
          </a:prstGeom>
          <a:noFill/>
          <a:ln/>
        </p:spPr>
        <p:txBody>
          <a:bodyPr wrap="square" lIns="0" tIns="0" rIns="0" bIns="0" rtlCol="0" anchor="ctr"/>
          <a:lstStyle/>
          <a:p>
            <a:pPr marL="0" indent="0" algn="r">
              <a:buNone/>
            </a:pPr>
            <a:r>
              <a:rPr lang="en-GB" sz="1300" b="1" dirty="0">
                <a:solidFill>
                  <a:srgbClr val="C0392B"/>
                </a:solidFill>
                <a:latin typeface="Consolas" pitchFamily="34" charset="0"/>
                <a:ea typeface="Consolas" pitchFamily="34" charset="-122"/>
                <a:cs typeface="Consolas" pitchFamily="34" charset="-120"/>
              </a:rPr>
              <a:t>± €0.10</a:t>
            </a:r>
          </a:p>
        </p:txBody>
      </p:sp>
      <p:sp>
        <p:nvSpPr>
          <p:cNvPr id="59" name="Panel 59"/>
          <p:cNvSpPr/>
          <p:nvPr/>
        </p:nvSpPr>
        <p:spPr>
          <a:xfrm>
            <a:off x="7845552" y="2240280"/>
            <a:ext cx="3520440" cy="1709928"/>
          </a:xfrm>
          <a:prstGeom prst="roundRect">
            <a:avLst>
              <a:gd name="adj" fmla="val 5529"/>
            </a:avLst>
          </a:prstGeom>
          <a:solidFill>
            <a:srgbClr val="1A2B5E"/>
          </a:solidFill>
          <a:ln w="19050">
            <a:solidFill>
              <a:srgbClr val="7DB3FF"/>
            </a:solidFill>
            <a:prstDash val="solid"/>
          </a:ln>
          <a:effectLst>
            <a:outerShdw blurRad="101600" dist="38100" dir="5400000" algn="bl" rotWithShape="0">
              <a:srgbClr val="0A1230">
                <a:alpha val="18000"/>
              </a:srgbClr>
            </a:outerShdw>
          </a:effectLst>
        </p:spPr>
        <p:txBody>
          <a:bodyPr/>
          <a:lstStyle/>
          <a:p>
            <a:endParaRPr lang="en-GB"/>
          </a:p>
        </p:txBody>
      </p:sp>
      <p:sp>
        <p:nvSpPr>
          <p:cNvPr id="60" name="Text 60"/>
          <p:cNvSpPr txBox="1"/>
          <p:nvPr/>
        </p:nvSpPr>
        <p:spPr>
          <a:xfrm>
            <a:off x="8065008" y="2295144"/>
            <a:ext cx="3154680" cy="237744"/>
          </a:xfrm>
          <a:prstGeom prst="rect">
            <a:avLst/>
          </a:prstGeom>
          <a:noFill/>
          <a:ln/>
        </p:spPr>
        <p:txBody>
          <a:bodyPr wrap="square" lIns="0" tIns="0" rIns="0" bIns="0" rtlCol="0" anchor="ctr"/>
          <a:lstStyle/>
          <a:p>
            <a:pPr marL="0" indent="0" algn="l">
              <a:buNone/>
            </a:pPr>
            <a:r>
              <a:rPr lang="en-GB" sz="950" spc="120" dirty="0">
                <a:solidFill>
                  <a:srgbClr val="7DB3FF"/>
                </a:solidFill>
                <a:latin typeface="Inter SemiBold Text SemiBold" pitchFamily="34" charset="0"/>
                <a:ea typeface="Inter SemiBold Text SemiBold" pitchFamily="34" charset="-122"/>
                <a:cs typeface="Inter SemiBold Text SemiBold" pitchFamily="34" charset="-120"/>
              </a:rPr>
              <a:t>ALLOWED DECIMAL PLACES</a:t>
            </a:r>
          </a:p>
        </p:txBody>
      </p:sp>
      <p:sp>
        <p:nvSpPr>
          <p:cNvPr id="79" name="Panel 79"/>
          <p:cNvSpPr/>
          <p:nvPr/>
        </p:nvSpPr>
        <p:spPr>
          <a:xfrm>
            <a:off x="7845552" y="4023360"/>
            <a:ext cx="3520440" cy="2203704"/>
          </a:xfrm>
          <a:prstGeom prst="roundRect">
            <a:avLst>
              <a:gd name="adj" fmla="val 5529"/>
            </a:avLst>
          </a:prstGeom>
          <a:solidFill>
            <a:srgbClr val="1A2B5E"/>
          </a:solidFill>
          <a:ln w="19050">
            <a:solidFill>
              <a:srgbClr val="B9A2FF"/>
            </a:solidFill>
            <a:prstDash val="solid"/>
          </a:ln>
          <a:effectLst>
            <a:outerShdw blurRad="101600" dist="38100" dir="5400000" algn="bl" rotWithShape="0">
              <a:srgbClr val="0A1230">
                <a:alpha val="18000"/>
              </a:srgbClr>
            </a:outerShdw>
          </a:effectLst>
        </p:spPr>
        <p:txBody>
          <a:bodyPr/>
          <a:lstStyle/>
          <a:p>
            <a:endParaRPr lang="en-GB"/>
          </a:p>
        </p:txBody>
      </p:sp>
      <p:sp>
        <p:nvSpPr>
          <p:cNvPr id="80" name="Text 80"/>
          <p:cNvSpPr txBox="1"/>
          <p:nvPr/>
        </p:nvSpPr>
        <p:spPr>
          <a:xfrm>
            <a:off x="8065008" y="4078224"/>
            <a:ext cx="3154680" cy="237744"/>
          </a:xfrm>
          <a:prstGeom prst="rect">
            <a:avLst/>
          </a:prstGeom>
          <a:noFill/>
          <a:ln/>
        </p:spPr>
        <p:txBody>
          <a:bodyPr wrap="square" lIns="0" tIns="0" rIns="0" bIns="0" rtlCol="0" anchor="ctr"/>
          <a:lstStyle/>
          <a:p>
            <a:pPr marL="0" indent="0" algn="l">
              <a:buNone/>
            </a:pPr>
            <a:r>
              <a:rPr lang="en-GB" sz="950" spc="120" dirty="0">
                <a:solidFill>
                  <a:srgbClr val="B9A2FF"/>
                </a:solidFill>
                <a:latin typeface="Inter SemiBold Text SemiBold" pitchFamily="34" charset="0"/>
                <a:ea typeface="Inter SemiBold Text SemiBold" pitchFamily="34" charset="-122"/>
                <a:cs typeface="Inter SemiBold Text SemiBold" pitchFamily="34" charset="-120"/>
              </a:rPr>
              <a:t>DECIMAL PLACES · FINAL VALUES</a:t>
            </a:r>
          </a:p>
        </p:txBody>
      </p:sp>
      <p:sp>
        <p:nvSpPr>
          <p:cNvPr id="81" name="Text 81"/>
          <p:cNvSpPr txBox="1"/>
          <p:nvPr/>
        </p:nvSpPr>
        <p:spPr>
          <a:xfrm>
            <a:off x="8065008" y="4352544"/>
            <a:ext cx="2514600" cy="274320"/>
          </a:xfrm>
          <a:prstGeom prst="rect">
            <a:avLst/>
          </a:prstGeom>
          <a:noFill/>
          <a:ln/>
        </p:spPr>
        <p:txBody>
          <a:bodyPr wrap="none" lIns="0" tIns="0" rIns="0" bIns="0" rtlCol="0" anchor="ctr"/>
          <a:lstStyle/>
          <a:p>
            <a:pPr marL="0" indent="0" algn="l">
              <a:buNone/>
            </a:pPr>
            <a:r>
              <a:rPr lang="en-GB" sz="1000" b="1" dirty="0">
                <a:solidFill>
                  <a:srgbClr val="81C784"/>
                </a:solidFill>
                <a:latin typeface="Inter SemiBold Text SemiBold" pitchFamily="34" charset="0"/>
                <a:ea typeface="Inter SemiBold Text SemiBold" pitchFamily="34" charset="-122"/>
                <a:cs typeface="Inter SemiBold Text SemiBold" pitchFamily="34" charset="-120"/>
              </a:rPr>
              <a:t>BT-116 </a:t>
            </a:r>
            <a:r>
              <a:rPr lang="en-GB" sz="1000" dirty="0">
                <a:solidFill>
                  <a:srgbClr val="9AA4C2"/>
                </a:solidFill>
                <a:latin typeface="Inter Text" pitchFamily="34" charset="0"/>
                <a:ea typeface="Inter Text" pitchFamily="34" charset="-122"/>
                <a:cs typeface="Inter Text" pitchFamily="34" charset="-120"/>
              </a:rPr>
              <a:t>VAT category taxable amount</a:t>
            </a:r>
          </a:p>
        </p:txBody>
      </p:sp>
      <p:sp>
        <p:nvSpPr>
          <p:cNvPr id="82" name="Text 82"/>
          <p:cNvSpPr txBox="1"/>
          <p:nvPr/>
        </p:nvSpPr>
        <p:spPr>
          <a:xfrm>
            <a:off x="10515600" y="4352544"/>
            <a:ext cx="667512" cy="274320"/>
          </a:xfrm>
          <a:prstGeom prst="rect">
            <a:avLst/>
          </a:prstGeom>
          <a:noFill/>
          <a:ln/>
        </p:spPr>
        <p:txBody>
          <a:bodyPr wrap="square" lIns="0" tIns="0" rIns="0" bIns="0" rtlCol="0" anchor="ctr"/>
          <a:lstStyle/>
          <a:p>
            <a:pPr marL="0" indent="0" algn="r">
              <a:buNone/>
            </a:pPr>
            <a:r>
              <a:rPr lang="en-GB" sz="1000" dirty="0">
                <a:solidFill>
                  <a:srgbClr val="FF8A80"/>
                </a:solidFill>
                <a:latin typeface="Inter SemiBold Text SemiBold" pitchFamily="34" charset="0"/>
                <a:ea typeface="Inter SemiBold Text SemiBold" pitchFamily="34" charset="-122"/>
                <a:cs typeface="Inter SemiBold Text SemiBold" pitchFamily="34" charset="-120"/>
              </a:rPr>
              <a:t>2 dp</a:t>
            </a:r>
          </a:p>
        </p:txBody>
      </p:sp>
      <p:sp>
        <p:nvSpPr>
          <p:cNvPr id="83" name="Text 83"/>
          <p:cNvSpPr txBox="1"/>
          <p:nvPr/>
        </p:nvSpPr>
        <p:spPr>
          <a:xfrm>
            <a:off x="8065008" y="4626864"/>
            <a:ext cx="2514600" cy="274320"/>
          </a:xfrm>
          <a:prstGeom prst="rect">
            <a:avLst/>
          </a:prstGeom>
          <a:noFill/>
          <a:ln/>
        </p:spPr>
        <p:txBody>
          <a:bodyPr wrap="none" lIns="0" tIns="0" rIns="0" bIns="0" rtlCol="0" anchor="ctr"/>
          <a:lstStyle/>
          <a:p>
            <a:pPr marL="0" indent="0" algn="l">
              <a:buNone/>
            </a:pPr>
            <a:r>
              <a:rPr lang="en-GB" sz="1000" b="1" dirty="0">
                <a:solidFill>
                  <a:srgbClr val="82B1FF"/>
                </a:solidFill>
                <a:latin typeface="Inter SemiBold Text SemiBold" pitchFamily="34" charset="0"/>
                <a:ea typeface="Inter SemiBold Text SemiBold" pitchFamily="34" charset="-122"/>
                <a:cs typeface="Inter SemiBold Text SemiBold" pitchFamily="34" charset="-120"/>
              </a:rPr>
              <a:t>BT-117 </a:t>
            </a:r>
            <a:r>
              <a:rPr lang="en-GB" sz="1000" dirty="0">
                <a:solidFill>
                  <a:srgbClr val="9AA4C2"/>
                </a:solidFill>
                <a:latin typeface="Inter Text" pitchFamily="34" charset="0"/>
                <a:ea typeface="Inter Text" pitchFamily="34" charset="-122"/>
                <a:cs typeface="Inter Text" pitchFamily="34" charset="-120"/>
              </a:rPr>
              <a:t>VAT category tax amount</a:t>
            </a:r>
          </a:p>
        </p:txBody>
      </p:sp>
      <p:sp>
        <p:nvSpPr>
          <p:cNvPr id="84" name="Text 84"/>
          <p:cNvSpPr txBox="1"/>
          <p:nvPr/>
        </p:nvSpPr>
        <p:spPr>
          <a:xfrm>
            <a:off x="10515600" y="4626864"/>
            <a:ext cx="667512" cy="274320"/>
          </a:xfrm>
          <a:prstGeom prst="rect">
            <a:avLst/>
          </a:prstGeom>
          <a:noFill/>
          <a:ln/>
        </p:spPr>
        <p:txBody>
          <a:bodyPr wrap="square" lIns="0" tIns="0" rIns="0" bIns="0" rtlCol="0" anchor="ctr"/>
          <a:lstStyle/>
          <a:p>
            <a:pPr marL="0" indent="0" algn="r">
              <a:buNone/>
            </a:pPr>
            <a:r>
              <a:rPr lang="en-GB" sz="1000" dirty="0">
                <a:solidFill>
                  <a:srgbClr val="FF8A80"/>
                </a:solidFill>
                <a:latin typeface="Inter SemiBold Text SemiBold" pitchFamily="34" charset="0"/>
                <a:ea typeface="Inter SemiBold Text SemiBold" pitchFamily="34" charset="-122"/>
                <a:cs typeface="Inter SemiBold Text SemiBold" pitchFamily="34" charset="-120"/>
              </a:rPr>
              <a:t>2 dp</a:t>
            </a:r>
          </a:p>
        </p:txBody>
      </p:sp>
      <p:sp>
        <p:nvSpPr>
          <p:cNvPr id="85" name="Text 85"/>
          <p:cNvSpPr txBox="1"/>
          <p:nvPr/>
        </p:nvSpPr>
        <p:spPr>
          <a:xfrm>
            <a:off x="8065008" y="4901184"/>
            <a:ext cx="2514600" cy="274320"/>
          </a:xfrm>
          <a:prstGeom prst="rect">
            <a:avLst/>
          </a:prstGeom>
          <a:noFill/>
          <a:ln/>
        </p:spPr>
        <p:txBody>
          <a:bodyPr wrap="none" lIns="0" tIns="0" rIns="0" bIns="0" rtlCol="0" anchor="ctr"/>
          <a:lstStyle/>
          <a:p>
            <a:pPr marL="0" indent="0" algn="l">
              <a:buNone/>
            </a:pPr>
            <a:r>
              <a:rPr lang="en-GB" sz="1000" b="1" dirty="0">
                <a:solidFill>
                  <a:srgbClr val="CE93D8"/>
                </a:solidFill>
                <a:latin typeface="Inter SemiBold Text SemiBold" pitchFamily="34" charset="0"/>
                <a:ea typeface="Inter SemiBold Text SemiBold" pitchFamily="34" charset="-122"/>
                <a:cs typeface="Inter SemiBold Text SemiBold" pitchFamily="34" charset="-120"/>
              </a:rPr>
              <a:t>BT-110 </a:t>
            </a:r>
            <a:r>
              <a:rPr lang="en-GB" sz="1000" dirty="0">
                <a:solidFill>
                  <a:srgbClr val="9AA4C2"/>
                </a:solidFill>
                <a:latin typeface="Inter Text" pitchFamily="34" charset="0"/>
                <a:ea typeface="Inter Text" pitchFamily="34" charset="-122"/>
                <a:cs typeface="Inter Text" pitchFamily="34" charset="-120"/>
              </a:rPr>
              <a:t>Invoice total VAT amount</a:t>
            </a:r>
          </a:p>
        </p:txBody>
      </p:sp>
      <p:sp>
        <p:nvSpPr>
          <p:cNvPr id="86" name="Text 86"/>
          <p:cNvSpPr txBox="1"/>
          <p:nvPr/>
        </p:nvSpPr>
        <p:spPr>
          <a:xfrm>
            <a:off x="10515600" y="4901184"/>
            <a:ext cx="667512" cy="274320"/>
          </a:xfrm>
          <a:prstGeom prst="rect">
            <a:avLst/>
          </a:prstGeom>
          <a:noFill/>
          <a:ln/>
        </p:spPr>
        <p:txBody>
          <a:bodyPr wrap="square" lIns="0" tIns="0" rIns="0" bIns="0" rtlCol="0" anchor="ctr"/>
          <a:lstStyle/>
          <a:p>
            <a:pPr marL="0" indent="0" algn="r">
              <a:buNone/>
            </a:pPr>
            <a:r>
              <a:rPr lang="en-GB" sz="1000" dirty="0">
                <a:solidFill>
                  <a:srgbClr val="FF8A80"/>
                </a:solidFill>
                <a:latin typeface="Inter SemiBold Text SemiBold" pitchFamily="34" charset="0"/>
                <a:ea typeface="Inter SemiBold Text SemiBold" pitchFamily="34" charset="-122"/>
                <a:cs typeface="Inter SemiBold Text SemiBold" pitchFamily="34" charset="-120"/>
              </a:rPr>
              <a:t>2 dp</a:t>
            </a:r>
          </a:p>
        </p:txBody>
      </p:sp>
      <p:sp>
        <p:nvSpPr>
          <p:cNvPr id="87" name="Text 87"/>
          <p:cNvSpPr txBox="1"/>
          <p:nvPr/>
        </p:nvSpPr>
        <p:spPr>
          <a:xfrm>
            <a:off x="8065008" y="5669280"/>
            <a:ext cx="3108960" cy="457200"/>
          </a:xfrm>
          <a:prstGeom prst="rect">
            <a:avLst/>
          </a:prstGeom>
          <a:noFill/>
          <a:ln/>
        </p:spPr>
        <p:txBody>
          <a:bodyPr wrap="square" lIns="0" tIns="0" rIns="0" bIns="0" rtlCol="0" anchor="ctr"/>
          <a:lstStyle/>
          <a:p>
            <a:pPr marL="0" indent="0" algn="l">
              <a:buNone/>
            </a:pPr>
            <a:r>
              <a:rPr lang="en-GB" sz="950" dirty="0">
                <a:solidFill>
                  <a:srgbClr val="B9A2FF"/>
                </a:solidFill>
                <a:latin typeface="Inter SemiBold Text SemiBold" pitchFamily="34" charset="0"/>
                <a:ea typeface="Inter SemiBold Text SemiBold" pitchFamily="34" charset="-122"/>
                <a:cs typeface="Inter SemiBold Text SemiBold" pitchFamily="34" charset="-120"/>
              </a:rPr>
              <a:t>Worst case </a:t>
            </a:r>
            <a:r>
              <a:rPr lang="en-GB" sz="950" dirty="0">
                <a:solidFill>
                  <a:srgbClr val="9AA4C2"/>
                </a:solidFill>
                <a:latin typeface="Inter Text" pitchFamily="34" charset="0"/>
                <a:ea typeface="Inter Text" pitchFamily="34" charset="-122"/>
                <a:cs typeface="Inter Text" pitchFamily="34" charset="-120"/>
              </a:rPr>
              <a:t>with number of lines and quantity:</a:t>
            </a:r>
          </a:p>
          <a:p>
            <a:pPr marL="0" indent="0" algn="l">
              <a:buNone/>
            </a:pPr>
            <a:r>
              <a:rPr lang="en-GB" sz="950" dirty="0">
                <a:solidFill>
                  <a:srgbClr val="9AA4C2"/>
                </a:solidFill>
                <a:latin typeface="Inter Text" pitchFamily="34" charset="0"/>
                <a:ea typeface="Inter Text" pitchFamily="34" charset="-122"/>
                <a:cs typeface="Inter Text" pitchFamily="34" charset="-120"/>
              </a:rPr>
              <a:t>→ “How large does the deviation get?”</a:t>
            </a:r>
          </a:p>
        </p:txBody>
      </p:sp>
      <p:sp>
        <p:nvSpPr>
          <p:cNvPr id="88" name="Text 88"/>
          <p:cNvSpPr txBox="1"/>
          <p:nvPr/>
        </p:nvSpPr>
        <p:spPr>
          <a:xfrm>
            <a:off x="822960" y="6309360"/>
            <a:ext cx="6766560" cy="402336"/>
          </a:xfrm>
          <a:prstGeom prst="rect">
            <a:avLst/>
          </a:prstGeom>
          <a:noFill/>
          <a:ln/>
        </p:spPr>
        <p:txBody>
          <a:bodyPr wrap="square" lIns="0" tIns="0" rIns="0" bIns="0" rtlCol="0" anchor="ctr"/>
          <a:lstStyle/>
          <a:p>
            <a:pPr marL="0" indent="0" algn="l">
              <a:buNone/>
            </a:pPr>
            <a:r>
              <a:rPr lang="en-GB" sz="850" dirty="0">
                <a:solidFill>
                  <a:srgbClr val="C0392B"/>
                </a:solidFill>
                <a:latin typeface="Inter SemiBold Text SemiBold" pitchFamily="34" charset="0"/>
                <a:ea typeface="Inter SemiBold Text SemiBold" pitchFamily="34" charset="-122"/>
                <a:cs typeface="Inter SemiBold Text SemiBold" pitchFamily="34" charset="-120"/>
              </a:rPr>
              <a:t>Red</a:t>
            </a:r>
            <a:r>
              <a:rPr lang="en-GB" sz="850" dirty="0">
                <a:solidFill>
                  <a:srgbClr val="9AA4C2"/>
                </a:solidFill>
                <a:latin typeface="Inter Text" pitchFamily="34" charset="0"/>
                <a:ea typeface="Inter Text" pitchFamily="34" charset="-122"/>
                <a:cs typeface="Inter Text" pitchFamily="34" charset="-120"/>
              </a:rPr>
              <a:t> = rounded intermediate value   </a:t>
            </a:r>
            <a:r>
              <a:rPr lang="en-GB" sz="850" dirty="0">
                <a:solidFill>
                  <a:srgbClr val="1E8A4C"/>
                </a:solidFill>
                <a:latin typeface="Inter SemiBold Text SemiBold" pitchFamily="34" charset="0"/>
                <a:ea typeface="Inter SemiBold Text SemiBold" pitchFamily="34" charset="-122"/>
                <a:cs typeface="Inter SemiBold Text SemiBold" pitchFamily="34" charset="-120"/>
              </a:rPr>
              <a:t>Green</a:t>
            </a:r>
            <a:r>
              <a:rPr lang="en-GB" sz="850" dirty="0">
                <a:solidFill>
                  <a:srgbClr val="9AA4C2"/>
                </a:solidFill>
                <a:latin typeface="Inter Text" pitchFamily="34" charset="0"/>
                <a:ea typeface="Inter Text" pitchFamily="34" charset="-122"/>
                <a:cs typeface="Inter Text" pitchFamily="34" charset="-120"/>
              </a:rPr>
              <a:t> = paid amount, rounded once (bank)   </a:t>
            </a:r>
            <a:r>
              <a:rPr lang="en-GB" sz="850" dirty="0">
                <a:solidFill>
                  <a:srgbClr val="D98A00"/>
                </a:solidFill>
                <a:latin typeface="Inter SemiBold Text SemiBold" pitchFamily="34" charset="0"/>
                <a:ea typeface="Inter SemiBold Text SemiBold" pitchFamily="34" charset="-122"/>
                <a:cs typeface="Inter SemiBold Text SemiBold" pitchFamily="34" charset="-120"/>
              </a:rPr>
              <a:t>Orange</a:t>
            </a:r>
            <a:r>
              <a:rPr lang="en-GB" sz="850" dirty="0">
                <a:solidFill>
                  <a:srgbClr val="9AA4C2"/>
                </a:solidFill>
                <a:latin typeface="Inter Text" pitchFamily="34" charset="0"/>
                <a:ea typeface="Inter Text" pitchFamily="34" charset="-122"/>
                <a:cs typeface="Inter Text" pitchFamily="34" charset="-120"/>
              </a:rPr>
              <a:t> = rounded input value</a:t>
            </a:r>
          </a:p>
          <a:p>
            <a:pPr marL="0" indent="0" algn="l">
              <a:buNone/>
            </a:pPr>
            <a:r>
              <a:rPr lang="en-GB" sz="850" dirty="0">
                <a:solidFill>
                  <a:srgbClr val="9AA4C2"/>
                </a:solidFill>
                <a:latin typeface="Inter Text" pitchFamily="34" charset="0"/>
                <a:ea typeface="Inter Text" pitchFamily="34" charset="-122"/>
                <a:cs typeface="Inter Text" pitchFamily="34" charset="-120"/>
              </a:rPr>
              <a:t>dp = decimal places · 2017 (Tab. 26): all amounts fixed 2 dp, regardless of the currency · ± for 100 lines of 100 units, 19% VAT</a:t>
            </a:r>
          </a:p>
          <a:p>
            <a:pPr marL="0" indent="0" algn="l">
              <a:buNone/>
            </a:pPr>
            <a:r>
              <a:rPr lang="en-GB" sz="850" dirty="0">
                <a:solidFill>
                  <a:srgbClr val="D32F2F"/>
                </a:solidFill>
                <a:latin typeface="Inter SemiBold Text SemiBold" pitchFamily="34" charset="0"/>
                <a:ea typeface="Inter SemiBold Text SemiBold" pitchFamily="34" charset="-122"/>
                <a:cs typeface="Inter SemiBold Text SemiBold" pitchFamily="34" charset="-120"/>
              </a:rPr>
              <a:t>Rain</a:t>
            </a:r>
            <a:r>
              <a:rPr lang="en-GB" sz="850" dirty="0">
                <a:solidFill>
                  <a:srgbClr val="C79100"/>
                </a:solidFill>
                <a:latin typeface="Inter SemiBold Text SemiBold" pitchFamily="34" charset="0"/>
                <a:ea typeface="Inter SemiBold Text SemiBold" pitchFamily="34" charset="-122"/>
                <a:cs typeface="Inter SemiBold Text SemiBold" pitchFamily="34" charset="-120"/>
              </a:rPr>
              <a:t>bo</a:t>
            </a:r>
            <a:r>
              <a:rPr lang="en-GB" sz="850" dirty="0">
                <a:solidFill>
                  <a:srgbClr val="1565C0"/>
                </a:solidFill>
                <a:latin typeface="Inter SemiBold Text SemiBold" pitchFamily="34" charset="0"/>
                <a:ea typeface="Inter SemiBold Text SemiBold" pitchFamily="34" charset="-122"/>
                <a:cs typeface="Inter SemiBold Text SemiBold" pitchFamily="34" charset="-120"/>
              </a:rPr>
              <a:t>w</a:t>
            </a:r>
            <a:r>
              <a:rPr lang="en-GB" sz="850" dirty="0">
                <a:solidFill>
                  <a:srgbClr val="9AA4C2"/>
                </a:solidFill>
                <a:latin typeface="Inter Text" pitchFamily="34" charset="0"/>
                <a:ea typeface="Inter Text" pitchFamily="34" charset="-122"/>
                <a:cs typeface="Inter Text" pitchFamily="34" charset="-120"/>
              </a:rPr>
              <a:t> = order of the calculation steps; a BT keeps its colour where it is reused further down</a:t>
            </a:r>
          </a:p>
        </p:txBody>
      </p:sp>
      <p:sp>
        <p:nvSpPr>
          <p:cNvPr id="89" name="Card 89"/>
          <p:cNvSpPr/>
          <p:nvPr/>
        </p:nvSpPr>
        <p:spPr>
          <a:xfrm>
            <a:off x="822960" y="5715000"/>
            <a:ext cx="6766560" cy="457200"/>
          </a:xfrm>
          <a:prstGeom prst="roundRect">
            <a:avLst>
              <a:gd name="adj" fmla="val 11666"/>
            </a:avLst>
          </a:prstGeom>
          <a:solidFill>
            <a:srgbClr val="FFFFFF"/>
          </a:solidFill>
          <a:ln w="12700">
            <a:solidFill>
              <a:srgbClr val="E2E7F2"/>
            </a:solidFill>
            <a:prstDash val="solid"/>
          </a:ln>
          <a:effectLst>
            <a:outerShdw blurRad="101600" dist="38100" dir="5400000" algn="bl" rotWithShape="0">
              <a:srgbClr val="0A1230">
                <a:alpha val="8000"/>
              </a:srgbClr>
            </a:outerShdw>
          </a:effectLst>
        </p:spPr>
        <p:txBody>
          <a:bodyPr/>
          <a:lstStyle/>
          <a:p>
            <a:endParaRPr lang="en-GB"/>
          </a:p>
        </p:txBody>
      </p:sp>
      <p:sp>
        <p:nvSpPr>
          <p:cNvPr id="90" name="Pill 90"/>
          <p:cNvSpPr/>
          <p:nvPr/>
        </p:nvSpPr>
        <p:spPr>
          <a:xfrm>
            <a:off x="960120" y="5814060"/>
            <a:ext cx="685800" cy="259080"/>
          </a:xfrm>
          <a:prstGeom prst="roundRect">
            <a:avLst>
              <a:gd name="adj" fmla="val 50000"/>
            </a:avLst>
          </a:prstGeom>
          <a:solidFill>
            <a:srgbClr val="AD1457"/>
          </a:solidFill>
          <a:ln>
            <a:noFill/>
          </a:ln>
        </p:spPr>
        <p:txBody>
          <a:bodyPr wrap="square" lIns="36576" tIns="36576" rIns="36576" bIns="36576" rtlCol="0" anchor="ctr"/>
          <a:lstStyle/>
          <a:p>
            <a:pPr marL="0" indent="0" algn="ctr">
              <a:buNone/>
            </a:pPr>
            <a:r>
              <a:rPr lang="en-GB" sz="1150" dirty="0">
                <a:solidFill>
                  <a:srgbClr val="FFFFFF"/>
                </a:solidFill>
                <a:latin typeface="Inter SemiBold Text SemiBold" pitchFamily="34" charset="0"/>
                <a:ea typeface="Inter SemiBold Text SemiBold" pitchFamily="34" charset="-122"/>
                <a:cs typeface="Inter SemiBold Text SemiBold" pitchFamily="34" charset="-120"/>
              </a:rPr>
              <a:t>BT-115</a:t>
            </a:r>
          </a:p>
        </p:txBody>
      </p:sp>
      <p:sp>
        <p:nvSpPr>
          <p:cNvPr id="91" name="Text 91"/>
          <p:cNvSpPr txBox="1"/>
          <p:nvPr/>
        </p:nvSpPr>
        <p:spPr>
          <a:xfrm>
            <a:off x="1965960" y="5730240"/>
            <a:ext cx="2788920" cy="198120"/>
          </a:xfrm>
          <a:prstGeom prst="rect">
            <a:avLst/>
          </a:prstGeom>
          <a:noFill/>
          <a:ln/>
        </p:spPr>
        <p:txBody>
          <a:bodyPr wrap="none" lIns="0" tIns="0" rIns="0" bIns="0" rtlCol="0" anchor="ctr"/>
          <a:lstStyle/>
          <a:p>
            <a:pPr marL="0" indent="0" algn="l">
              <a:buNone/>
            </a:pPr>
            <a:r>
              <a:rPr lang="en-GB" sz="1150" dirty="0">
                <a:solidFill>
                  <a:srgbClr val="1A2B5E"/>
                </a:solidFill>
                <a:latin typeface="Inter SemiBold Text SemiBold" pitchFamily="34" charset="0"/>
                <a:ea typeface="Inter SemiBold Text SemiBold" pitchFamily="34" charset="-122"/>
                <a:cs typeface="Inter SemiBold Text SemiBold" pitchFamily="34" charset="-120"/>
              </a:rPr>
              <a:t>Amount due for payment</a:t>
            </a:r>
          </a:p>
        </p:txBody>
      </p:sp>
      <p:sp>
        <p:nvSpPr>
          <p:cNvPr id="92" name="Text 92"/>
          <p:cNvSpPr txBox="1"/>
          <p:nvPr/>
        </p:nvSpPr>
        <p:spPr>
          <a:xfrm>
            <a:off x="1965960" y="5920740"/>
            <a:ext cx="2788920" cy="243840"/>
          </a:xfrm>
          <a:prstGeom prst="rect">
            <a:avLst/>
          </a:prstGeom>
          <a:noFill/>
          <a:ln/>
        </p:spPr>
        <p:txBody>
          <a:bodyPr wrap="square" lIns="0" tIns="0" rIns="0" bIns="0" rtlCol="0" anchor="t"/>
          <a:lstStyle/>
          <a:p>
            <a:pPr marL="0" indent="0" algn="l">
              <a:lnSpc>
                <a:spcPct val="95000"/>
              </a:lnSpc>
              <a:buNone/>
            </a:pPr>
            <a:r>
              <a:rPr lang="en-GB" sz="800" dirty="0">
                <a:solidFill>
                  <a:srgbClr val="5B6890"/>
                </a:solidFill>
                <a:latin typeface="Inter Text" pitchFamily="34" charset="0"/>
                <a:ea typeface="Inter Text" pitchFamily="34" charset="-122"/>
                <a:cs typeface="Inter Text" pitchFamily="34" charset="-120"/>
              </a:rPr>
              <a:t>= </a:t>
            </a:r>
            <a:r>
              <a:rPr lang="en-GB" sz="800" b="1" dirty="0">
                <a:solidFill>
                  <a:srgbClr val="6A1B9A"/>
                </a:solidFill>
                <a:latin typeface="Inter SemiBold Text SemiBold" pitchFamily="34" charset="0"/>
                <a:ea typeface="Inter SemiBold Text SemiBold" pitchFamily="34" charset="-122"/>
                <a:cs typeface="Inter SemiBold Text SemiBold" pitchFamily="34" charset="-120"/>
              </a:rPr>
              <a:t>BT-110</a:t>
            </a:r>
            <a:r>
              <a:rPr lang="en-GB" sz="800" dirty="0">
                <a:solidFill>
                  <a:srgbClr val="5B6890"/>
                </a:solidFill>
                <a:latin typeface="Inter Text" pitchFamily="34" charset="0"/>
                <a:ea typeface="Inter Text" pitchFamily="34" charset="-122"/>
                <a:cs typeface="Inter Text" pitchFamily="34" charset="-120"/>
              </a:rPr>
              <a:t> + </a:t>
            </a:r>
            <a:r>
              <a:rPr lang="en-GB" sz="800" dirty="0">
                <a:solidFill>
                  <a:srgbClr val="1A2B5E"/>
                </a:solidFill>
                <a:latin typeface="Inter SemiBold Text SemiBold" pitchFamily="34" charset="0"/>
                <a:ea typeface="Inter SemiBold Text SemiBold" pitchFamily="34" charset="-122"/>
                <a:cs typeface="Inter SemiBold Text SemiBold" pitchFamily="34" charset="-120"/>
              </a:rPr>
              <a:t>BT-109</a:t>
            </a:r>
            <a:r>
              <a:rPr lang="en-GB" sz="800" dirty="0">
                <a:solidFill>
                  <a:srgbClr val="5B6890"/>
                </a:solidFill>
                <a:latin typeface="Inter Text" pitchFamily="34" charset="0"/>
                <a:ea typeface="Inter Text" pitchFamily="34" charset="-122"/>
                <a:cs typeface="Inter Text" pitchFamily="34" charset="-120"/>
              </a:rPr>
              <a:t> Invoice total amount without VAT</a:t>
            </a:r>
            <a:br>
              <a:rPr lang="en-GB" sz="800" dirty="0">
                <a:solidFill>
                  <a:srgbClr val="5B6890"/>
                </a:solidFill>
                <a:latin typeface="Inter Text" pitchFamily="34" charset="0"/>
                <a:ea typeface="Inter Text" pitchFamily="34" charset="-122"/>
                <a:cs typeface="Inter Text" pitchFamily="34" charset="-120"/>
              </a:rPr>
            </a:br>
            <a:r>
              <a:rPr lang="en-GB" sz="800" dirty="0">
                <a:solidFill>
                  <a:srgbClr val="5B6890"/>
                </a:solidFill>
                <a:latin typeface="Inter Text" pitchFamily="34" charset="0"/>
                <a:ea typeface="Inter Text" pitchFamily="34" charset="-122"/>
                <a:cs typeface="Inter Text" pitchFamily="34" charset="-120"/>
              </a:rPr>
              <a:t>− </a:t>
            </a:r>
            <a:r>
              <a:rPr lang="en-GB" sz="800" dirty="0">
                <a:solidFill>
                  <a:srgbClr val="1A2B5E"/>
                </a:solidFill>
                <a:latin typeface="Inter SemiBold Text SemiBold" pitchFamily="34" charset="0"/>
                <a:ea typeface="Inter SemiBold Text SemiBold" pitchFamily="34" charset="-122"/>
                <a:cs typeface="Inter SemiBold Text SemiBold" pitchFamily="34" charset="-120"/>
              </a:rPr>
              <a:t>BT-113</a:t>
            </a:r>
            <a:r>
              <a:rPr lang="en-GB" sz="800" dirty="0">
                <a:solidFill>
                  <a:srgbClr val="5B6890"/>
                </a:solidFill>
                <a:latin typeface="Inter Text" pitchFamily="34" charset="0"/>
                <a:ea typeface="Inter Text" pitchFamily="34" charset="-122"/>
                <a:cs typeface="Inter Text" pitchFamily="34" charset="-120"/>
              </a:rPr>
              <a:t> Paid amount + </a:t>
            </a:r>
            <a:r>
              <a:rPr lang="en-GB" sz="800" dirty="0">
                <a:solidFill>
                  <a:srgbClr val="1A2B5E"/>
                </a:solidFill>
                <a:latin typeface="Inter SemiBold Text SemiBold" pitchFamily="34" charset="0"/>
                <a:ea typeface="Inter SemiBold Text SemiBold" pitchFamily="34" charset="-122"/>
                <a:cs typeface="Inter SemiBold Text SemiBold" pitchFamily="34" charset="-120"/>
              </a:rPr>
              <a:t>BT-114</a:t>
            </a:r>
            <a:r>
              <a:rPr lang="en-GB" sz="800" dirty="0">
                <a:solidFill>
                  <a:srgbClr val="5B6890"/>
                </a:solidFill>
                <a:latin typeface="Inter Text" pitchFamily="34" charset="0"/>
                <a:ea typeface="Inter Text" pitchFamily="34" charset="-122"/>
                <a:cs typeface="Inter Text" pitchFamily="34" charset="-120"/>
              </a:rPr>
              <a:t> Rounding amount</a:t>
            </a:r>
          </a:p>
        </p:txBody>
      </p:sp>
      <p:sp>
        <p:nvSpPr>
          <p:cNvPr id="93" name="Pill 93"/>
          <p:cNvSpPr/>
          <p:nvPr/>
        </p:nvSpPr>
        <p:spPr>
          <a:xfrm>
            <a:off x="4773168" y="5768340"/>
            <a:ext cx="1207008" cy="350520"/>
          </a:xfrm>
          <a:prstGeom prst="roundRect">
            <a:avLst>
              <a:gd name="adj" fmla="val 50000"/>
            </a:avLst>
          </a:prstGeom>
          <a:solidFill>
            <a:srgbClr val="E8F6EE"/>
          </a:solidFill>
          <a:ln w="9525">
            <a:solidFill>
              <a:srgbClr val="B7E1C7"/>
            </a:solidFill>
            <a:prstDash val="solid"/>
          </a:ln>
        </p:spPr>
        <p:txBody>
          <a:bodyPr wrap="square" lIns="18288" tIns="18288" rIns="18288" bIns="18288" rtlCol="0" anchor="ctr"/>
          <a:lstStyle/>
          <a:p>
            <a:pPr marL="0" indent="0" algn="ctr">
              <a:buNone/>
            </a:pPr>
            <a:r>
              <a:rPr lang="en-GB" sz="1150" dirty="0">
                <a:solidFill>
                  <a:srgbClr val="1E8A4C"/>
                </a:solidFill>
                <a:latin typeface="Inter SemiBold Text SemiBold" pitchFamily="34" charset="0"/>
                <a:ea typeface="Inter SemiBold Text SemiBold" pitchFamily="34" charset="-122"/>
                <a:cs typeface="Inter SemiBold Text SemiBold" pitchFamily="34" charset="-120"/>
              </a:rPr>
              <a:t>2 dp</a:t>
            </a:r>
          </a:p>
          <a:p>
            <a:pPr marL="0" indent="0" algn="ctr">
              <a:buNone/>
            </a:pPr>
            <a:r>
              <a:rPr lang="en-GB" sz="800" dirty="0">
                <a:solidFill>
                  <a:srgbClr val="1E8A4C"/>
                </a:solidFill>
                <a:latin typeface="Inter Text" pitchFamily="34" charset="0"/>
                <a:ea typeface="Inter Text" pitchFamily="34" charset="-122"/>
                <a:cs typeface="Inter Text" pitchFamily="34" charset="-120"/>
              </a:rPr>
              <a:t>final value · bank</a:t>
            </a:r>
          </a:p>
        </p:txBody>
      </p:sp>
      <p:sp>
        <p:nvSpPr>
          <p:cNvPr id="94" name="Text 94"/>
          <p:cNvSpPr txBox="1"/>
          <p:nvPr/>
        </p:nvSpPr>
        <p:spPr>
          <a:xfrm>
            <a:off x="5989320" y="5745480"/>
            <a:ext cx="1508760" cy="243840"/>
          </a:xfrm>
          <a:prstGeom prst="rect">
            <a:avLst/>
          </a:prstGeom>
          <a:noFill/>
          <a:ln/>
        </p:spPr>
        <p:txBody>
          <a:bodyPr wrap="square" lIns="0" tIns="0" rIns="0" bIns="0" rtlCol="0" anchor="ctr"/>
          <a:lstStyle/>
          <a:p>
            <a:pPr marL="0" indent="0" algn="r">
              <a:buNone/>
            </a:pPr>
            <a:r>
              <a:rPr lang="en-GB" sz="1300" b="1" dirty="0">
                <a:solidFill>
                  <a:srgbClr val="C0392B"/>
                </a:solidFill>
                <a:latin typeface="Consolas" pitchFamily="34" charset="0"/>
                <a:ea typeface="Consolas" pitchFamily="34" charset="-122"/>
                <a:cs typeface="Consolas" pitchFamily="34" charset="-120"/>
              </a:rPr>
              <a:t>± €0.60</a:t>
            </a:r>
          </a:p>
        </p:txBody>
      </p:sp>
      <p:sp>
        <p:nvSpPr>
          <p:cNvPr id="95" name="Text 95"/>
          <p:cNvSpPr txBox="1"/>
          <p:nvPr/>
        </p:nvSpPr>
        <p:spPr>
          <a:xfrm>
            <a:off x="5577840" y="5981700"/>
            <a:ext cx="1920240" cy="167640"/>
          </a:xfrm>
          <a:prstGeom prst="rect">
            <a:avLst/>
          </a:prstGeom>
          <a:noFill/>
          <a:ln/>
        </p:spPr>
        <p:txBody>
          <a:bodyPr wrap="square" lIns="0" tIns="0" rIns="0" bIns="0" rtlCol="0" anchor="ctr"/>
          <a:lstStyle/>
          <a:p>
            <a:pPr marL="0" indent="0" algn="r">
              <a:buNone/>
            </a:pPr>
            <a:r>
              <a:rPr lang="en-GB" sz="850" dirty="0">
                <a:solidFill>
                  <a:srgbClr val="9AA4C2"/>
                </a:solidFill>
                <a:latin typeface="Inter Text" pitchFamily="34" charset="0"/>
                <a:ea typeface="Inter Text" pitchFamily="34" charset="-122"/>
                <a:cs typeface="Inter Text" pitchFamily="34" charset="-120"/>
              </a:rPr>
              <a:t>€0.50 + €0.10</a:t>
            </a:r>
          </a:p>
        </p:txBody>
      </p:sp>
      <p:cxnSp>
        <p:nvCxnSpPr>
          <p:cNvPr id="96" name="Connector 96"/>
          <p:cNvCxnSpPr/>
          <p:nvPr/>
        </p:nvCxnSpPr>
        <p:spPr>
          <a:xfrm>
            <a:off x="1303020" y="5678424"/>
            <a:ext cx="0" cy="36576"/>
          </a:xfrm>
          <a:prstGeom prst="line">
            <a:avLst/>
          </a:prstGeom>
          <a:ln w="15875">
            <a:solidFill>
              <a:srgbClr val="9AA4C2"/>
            </a:solidFill>
          </a:ln>
        </p:spPr>
      </p:cxnSp>
      <p:sp>
        <p:nvSpPr>
          <p:cNvPr id="97" name="Text 97"/>
          <p:cNvSpPr txBox="1"/>
          <p:nvPr/>
        </p:nvSpPr>
        <p:spPr>
          <a:xfrm>
            <a:off x="8065008" y="5175504"/>
            <a:ext cx="2514600" cy="274320"/>
          </a:xfrm>
          <a:prstGeom prst="rect">
            <a:avLst/>
          </a:prstGeom>
          <a:noFill/>
          <a:ln/>
        </p:spPr>
        <p:txBody>
          <a:bodyPr wrap="none" lIns="0" tIns="0" rIns="0" bIns="0" rtlCol="0" anchor="ctr"/>
          <a:lstStyle/>
          <a:p>
            <a:pPr marL="0" indent="0" algn="l">
              <a:buNone/>
            </a:pPr>
            <a:r>
              <a:rPr lang="en-GB" sz="1000" b="1" dirty="0">
                <a:solidFill>
                  <a:srgbClr val="F48FB1"/>
                </a:solidFill>
                <a:latin typeface="Inter SemiBold Text SemiBold" pitchFamily="34" charset="0"/>
                <a:ea typeface="Inter SemiBold Text SemiBold" pitchFamily="34" charset="-122"/>
                <a:cs typeface="Inter SemiBold Text SemiBold" pitchFamily="34" charset="-120"/>
              </a:rPr>
              <a:t>BT-115 </a:t>
            </a:r>
            <a:r>
              <a:rPr lang="en-GB" sz="1000" dirty="0">
                <a:solidFill>
                  <a:srgbClr val="9AA4C2"/>
                </a:solidFill>
                <a:latin typeface="Inter Text" pitchFamily="34" charset="0"/>
                <a:ea typeface="Inter Text" pitchFamily="34" charset="-122"/>
                <a:cs typeface="Inter Text" pitchFamily="34" charset="-120"/>
              </a:rPr>
              <a:t>Amount due for payment</a:t>
            </a:r>
          </a:p>
        </p:txBody>
      </p:sp>
      <p:sp>
        <p:nvSpPr>
          <p:cNvPr id="98" name="Text 98"/>
          <p:cNvSpPr txBox="1"/>
          <p:nvPr/>
        </p:nvSpPr>
        <p:spPr>
          <a:xfrm>
            <a:off x="9994392" y="5175504"/>
            <a:ext cx="1188720" cy="274320"/>
          </a:xfrm>
          <a:prstGeom prst="rect">
            <a:avLst/>
          </a:prstGeom>
          <a:noFill/>
          <a:ln/>
        </p:spPr>
        <p:txBody>
          <a:bodyPr wrap="none" lIns="0" tIns="0" rIns="0" bIns="0" rtlCol="0" anchor="ctr"/>
          <a:lstStyle/>
          <a:p>
            <a:pPr marL="0" indent="0" algn="r">
              <a:buNone/>
            </a:pPr>
            <a:r>
              <a:rPr lang="en-GB" sz="1000" dirty="0">
                <a:solidFill>
                  <a:srgbClr val="81C784"/>
                </a:solidFill>
                <a:latin typeface="Inter SemiBold Text SemiBold" pitchFamily="34" charset="0"/>
                <a:ea typeface="Inter SemiBold Text SemiBold" pitchFamily="34" charset="-122"/>
                <a:cs typeface="Inter SemiBold Text SemiBold" pitchFamily="34" charset="-120"/>
              </a:rPr>
              <a:t>2 dp</a:t>
            </a:r>
          </a:p>
        </p:txBody>
      </p:sp>
      <p:sp>
        <p:nvSpPr>
          <p:cNvPr id="99" name="Reuse 99"/>
          <p:cNvSpPr/>
          <p:nvPr/>
        </p:nvSpPr>
        <p:spPr>
          <a:xfrm>
            <a:off x="1645920" y="2679192"/>
            <a:ext cx="309067" cy="530351"/>
          </a:xfrm>
          <a:custGeom>
            <a:avLst/>
            <a:gdLst/>
            <a:ahLst/>
            <a:cxnLst/>
            <a:rect l="l" t="t" r="r" b="b"/>
            <a:pathLst>
              <a:path w="309067" h="530351" fill="none">
                <a:moveTo>
                  <a:pt x="0" y="0"/>
                </a:moveTo>
                <a:lnTo>
                  <a:pt x="256032" y="0"/>
                </a:lnTo>
                <a:lnTo>
                  <a:pt x="256032" y="530351"/>
                </a:lnTo>
                <a:lnTo>
                  <a:pt x="309067" y="530351"/>
                </a:lnTo>
              </a:path>
            </a:pathLst>
          </a:custGeom>
          <a:noFill/>
          <a:ln w="15875">
            <a:solidFill>
              <a:srgbClr val="D32F2F"/>
            </a:solidFill>
            <a:round/>
            <a:tailEnd type="triangle" w="sm" len="sm"/>
          </a:ln>
        </p:spPr>
        <p:txBody>
          <a:bodyPr/>
          <a:lstStyle/>
          <a:p>
            <a:endParaRPr lang="en-GB"/>
          </a:p>
        </p:txBody>
      </p:sp>
      <p:sp>
        <p:nvSpPr>
          <p:cNvPr id="100" name="Reuse 100"/>
          <p:cNvSpPr/>
          <p:nvPr/>
        </p:nvSpPr>
        <p:spPr>
          <a:xfrm>
            <a:off x="1645920" y="3172968"/>
            <a:ext cx="309067" cy="530352"/>
          </a:xfrm>
          <a:custGeom>
            <a:avLst/>
            <a:gdLst/>
            <a:ahLst/>
            <a:cxnLst/>
            <a:rect l="l" t="t" r="r" b="b"/>
            <a:pathLst>
              <a:path w="309067" h="530352" fill="none">
                <a:moveTo>
                  <a:pt x="0" y="0"/>
                </a:moveTo>
                <a:lnTo>
                  <a:pt x="210311" y="0"/>
                </a:lnTo>
                <a:lnTo>
                  <a:pt x="210311" y="530352"/>
                </a:lnTo>
                <a:lnTo>
                  <a:pt x="309067" y="530352"/>
                </a:lnTo>
              </a:path>
            </a:pathLst>
          </a:custGeom>
          <a:noFill/>
          <a:ln w="15875">
            <a:solidFill>
              <a:srgbClr val="EF6C00"/>
            </a:solidFill>
            <a:round/>
            <a:tailEnd type="triangle" w="sm" len="sm"/>
          </a:ln>
        </p:spPr>
        <p:txBody>
          <a:bodyPr/>
          <a:lstStyle/>
          <a:p>
            <a:endParaRPr lang="en-GB"/>
          </a:p>
        </p:txBody>
      </p:sp>
      <p:sp>
        <p:nvSpPr>
          <p:cNvPr id="101" name="Reuse 101"/>
          <p:cNvSpPr/>
          <p:nvPr/>
        </p:nvSpPr>
        <p:spPr>
          <a:xfrm>
            <a:off x="1645920" y="3172968"/>
            <a:ext cx="309067" cy="1325880"/>
          </a:xfrm>
          <a:custGeom>
            <a:avLst/>
            <a:gdLst/>
            <a:ahLst/>
            <a:cxnLst/>
            <a:rect l="l" t="t" r="r" b="b"/>
            <a:pathLst>
              <a:path w="309067" h="1325880" fill="none">
                <a:moveTo>
                  <a:pt x="0" y="0"/>
                </a:moveTo>
                <a:lnTo>
                  <a:pt x="210311" y="0"/>
                </a:lnTo>
                <a:lnTo>
                  <a:pt x="210311" y="1325880"/>
                </a:lnTo>
                <a:lnTo>
                  <a:pt x="309067" y="1325880"/>
                </a:lnTo>
              </a:path>
            </a:pathLst>
          </a:custGeom>
          <a:noFill/>
          <a:ln w="15875">
            <a:solidFill>
              <a:srgbClr val="EF6C00"/>
            </a:solidFill>
            <a:round/>
            <a:tailEnd type="triangle" w="sm" len="sm"/>
          </a:ln>
        </p:spPr>
        <p:txBody>
          <a:bodyPr/>
          <a:lstStyle/>
          <a:p>
            <a:endParaRPr lang="en-GB"/>
          </a:p>
        </p:txBody>
      </p:sp>
      <p:sp>
        <p:nvSpPr>
          <p:cNvPr id="102" name="Reuse 102"/>
          <p:cNvSpPr/>
          <p:nvPr/>
        </p:nvSpPr>
        <p:spPr>
          <a:xfrm>
            <a:off x="1645920" y="4462272"/>
            <a:ext cx="309067" cy="530352"/>
          </a:xfrm>
          <a:custGeom>
            <a:avLst/>
            <a:gdLst/>
            <a:ahLst/>
            <a:cxnLst/>
            <a:rect l="l" t="t" r="r" b="b"/>
            <a:pathLst>
              <a:path w="309067" h="530352" fill="none">
                <a:moveTo>
                  <a:pt x="0" y="0"/>
                </a:moveTo>
                <a:lnTo>
                  <a:pt x="164591" y="0"/>
                </a:lnTo>
                <a:lnTo>
                  <a:pt x="164591" y="530352"/>
                </a:lnTo>
                <a:lnTo>
                  <a:pt x="309067" y="530352"/>
                </a:lnTo>
              </a:path>
            </a:pathLst>
          </a:custGeom>
          <a:noFill/>
          <a:ln w="15875">
            <a:solidFill>
              <a:srgbClr val="2E7D32"/>
            </a:solidFill>
            <a:round/>
            <a:tailEnd type="triangle" w="sm" len="sm"/>
          </a:ln>
        </p:spPr>
        <p:txBody>
          <a:bodyPr/>
          <a:lstStyle/>
          <a:p>
            <a:endParaRPr lang="en-GB"/>
          </a:p>
        </p:txBody>
      </p:sp>
      <p:sp>
        <p:nvSpPr>
          <p:cNvPr id="103" name="Reuse 103"/>
          <p:cNvSpPr/>
          <p:nvPr/>
        </p:nvSpPr>
        <p:spPr>
          <a:xfrm>
            <a:off x="1645920" y="4956048"/>
            <a:ext cx="309067" cy="530352"/>
          </a:xfrm>
          <a:custGeom>
            <a:avLst/>
            <a:gdLst/>
            <a:ahLst/>
            <a:cxnLst/>
            <a:rect l="l" t="t" r="r" b="b"/>
            <a:pathLst>
              <a:path w="309067" h="530352" fill="none">
                <a:moveTo>
                  <a:pt x="0" y="0"/>
                </a:moveTo>
                <a:lnTo>
                  <a:pt x="118871" y="0"/>
                </a:lnTo>
                <a:lnTo>
                  <a:pt x="118871" y="530352"/>
                </a:lnTo>
                <a:lnTo>
                  <a:pt x="309067" y="530352"/>
                </a:lnTo>
              </a:path>
            </a:pathLst>
          </a:custGeom>
          <a:noFill/>
          <a:ln w="15875">
            <a:solidFill>
              <a:srgbClr val="1565C0"/>
            </a:solidFill>
            <a:round/>
            <a:tailEnd type="triangle" w="sm" len="sm"/>
          </a:ln>
        </p:spPr>
        <p:txBody>
          <a:bodyPr/>
          <a:lstStyle/>
          <a:p>
            <a:endParaRPr lang="en-GB"/>
          </a:p>
        </p:txBody>
      </p:sp>
      <p:sp>
        <p:nvSpPr>
          <p:cNvPr id="104" name="Reuse 104"/>
          <p:cNvSpPr/>
          <p:nvPr/>
        </p:nvSpPr>
        <p:spPr>
          <a:xfrm>
            <a:off x="1645920" y="5449824"/>
            <a:ext cx="309067" cy="530352"/>
          </a:xfrm>
          <a:custGeom>
            <a:avLst/>
            <a:gdLst/>
            <a:ahLst/>
            <a:cxnLst/>
            <a:rect l="l" t="t" r="r" b="b"/>
            <a:pathLst>
              <a:path w="309067" h="530352" fill="none">
                <a:moveTo>
                  <a:pt x="0" y="0"/>
                </a:moveTo>
                <a:lnTo>
                  <a:pt x="73151" y="0"/>
                </a:lnTo>
                <a:lnTo>
                  <a:pt x="73151" y="530352"/>
                </a:lnTo>
                <a:lnTo>
                  <a:pt x="309067" y="530352"/>
                </a:lnTo>
              </a:path>
            </a:pathLst>
          </a:custGeom>
          <a:noFill/>
          <a:ln w="15875">
            <a:solidFill>
              <a:srgbClr val="6A1B9A"/>
            </a:solidFill>
            <a:round/>
            <a:tailEnd type="triangle" w="sm" len="sm"/>
          </a:ln>
        </p:spPr>
        <p:txBody>
          <a:bodyPr/>
          <a:lstStyle/>
          <a:p>
            <a:endParaRPr lang="en-GB"/>
          </a:p>
        </p:txBody>
      </p:sp>
      <p:sp>
        <p:nvSpPr>
          <p:cNvPr id="105" name="Text 105"/>
          <p:cNvSpPr txBox="1"/>
          <p:nvPr/>
        </p:nvSpPr>
        <p:spPr>
          <a:xfrm>
            <a:off x="8065008" y="2542032"/>
            <a:ext cx="2514600" cy="113843"/>
          </a:xfrm>
          <a:prstGeom prst="rect">
            <a:avLst/>
          </a:prstGeom>
          <a:noFill/>
          <a:ln/>
        </p:spPr>
        <p:txBody>
          <a:bodyPr wrap="none" lIns="0" tIns="0" rIns="0" bIns="0" rtlCol="0" anchor="ctr"/>
          <a:lstStyle/>
          <a:p>
            <a:pPr marL="0" indent="0" algn="l">
              <a:buNone/>
            </a:pPr>
            <a:r>
              <a:rPr lang="en-GB" sz="700" dirty="0">
                <a:solidFill>
                  <a:srgbClr val="FFFFFF"/>
                </a:solidFill>
                <a:latin typeface="Inter SemiBold Text SemiBold" pitchFamily="34" charset="0"/>
                <a:ea typeface="Inter SemiBold Text SemiBold" pitchFamily="34" charset="-122"/>
                <a:cs typeface="Inter SemiBold Text SemiBold" pitchFamily="34" charset="-120"/>
              </a:rPr>
              <a:t>BT-148 </a:t>
            </a:r>
            <a:r>
              <a:rPr lang="en-GB" sz="700" dirty="0">
                <a:solidFill>
                  <a:srgbClr val="9AA4C2"/>
                </a:solidFill>
                <a:latin typeface="Inter Text" pitchFamily="34" charset="0"/>
                <a:ea typeface="Inter Text" pitchFamily="34" charset="-122"/>
                <a:cs typeface="Inter Text" pitchFamily="34" charset="-120"/>
              </a:rPr>
              <a:t>Item gross price</a:t>
            </a:r>
          </a:p>
        </p:txBody>
      </p:sp>
      <p:sp>
        <p:nvSpPr>
          <p:cNvPr id="106" name="Text 106"/>
          <p:cNvSpPr txBox="1"/>
          <p:nvPr/>
        </p:nvSpPr>
        <p:spPr>
          <a:xfrm>
            <a:off x="10515600" y="2542032"/>
            <a:ext cx="667512" cy="113843"/>
          </a:xfrm>
          <a:prstGeom prst="rect">
            <a:avLst/>
          </a:prstGeom>
          <a:noFill/>
          <a:ln/>
        </p:spPr>
        <p:txBody>
          <a:bodyPr wrap="square" lIns="0" tIns="0" rIns="0" bIns="0" rtlCol="0" anchor="ctr"/>
          <a:lstStyle/>
          <a:p>
            <a:pPr marL="0" indent="0" algn="r">
              <a:buNone/>
            </a:pPr>
            <a:r>
              <a:rPr lang="en-GB" sz="700" dirty="0">
                <a:solidFill>
                  <a:srgbClr val="FFFFFF"/>
                </a:solidFill>
                <a:latin typeface="Inter SemiBold Text SemiBold" pitchFamily="34" charset="0"/>
                <a:ea typeface="Inter SemiBold Text SemiBold" pitchFamily="34" charset="-122"/>
                <a:cs typeface="Inter SemiBold Text SemiBold" pitchFamily="34" charset="-120"/>
              </a:rPr>
              <a:t>unlimited</a:t>
            </a:r>
          </a:p>
        </p:txBody>
      </p:sp>
      <p:sp>
        <p:nvSpPr>
          <p:cNvPr id="107" name="Text 107"/>
          <p:cNvSpPr txBox="1"/>
          <p:nvPr/>
        </p:nvSpPr>
        <p:spPr>
          <a:xfrm>
            <a:off x="8065008" y="2655875"/>
            <a:ext cx="2514600" cy="113843"/>
          </a:xfrm>
          <a:prstGeom prst="rect">
            <a:avLst/>
          </a:prstGeom>
          <a:noFill/>
          <a:ln/>
        </p:spPr>
        <p:txBody>
          <a:bodyPr wrap="none" lIns="0" tIns="0" rIns="0" bIns="0" rtlCol="0" anchor="ctr"/>
          <a:lstStyle/>
          <a:p>
            <a:pPr marL="0" indent="0" algn="l">
              <a:buNone/>
            </a:pPr>
            <a:r>
              <a:rPr lang="en-GB" sz="700" dirty="0">
                <a:solidFill>
                  <a:srgbClr val="FFFFFF"/>
                </a:solidFill>
                <a:latin typeface="Inter SemiBold Text SemiBold" pitchFamily="34" charset="0"/>
                <a:ea typeface="Inter SemiBold Text SemiBold" pitchFamily="34" charset="-122"/>
                <a:cs typeface="Inter SemiBold Text SemiBold" pitchFamily="34" charset="-120"/>
              </a:rPr>
              <a:t>BT-147 </a:t>
            </a:r>
            <a:r>
              <a:rPr lang="en-GB" sz="700" dirty="0">
                <a:solidFill>
                  <a:srgbClr val="9AA4C2"/>
                </a:solidFill>
                <a:latin typeface="Inter Text" pitchFamily="34" charset="0"/>
                <a:ea typeface="Inter Text" pitchFamily="34" charset="-122"/>
                <a:cs typeface="Inter Text" pitchFamily="34" charset="-120"/>
              </a:rPr>
              <a:t>Item price discount</a:t>
            </a:r>
          </a:p>
        </p:txBody>
      </p:sp>
      <p:sp>
        <p:nvSpPr>
          <p:cNvPr id="108" name="Text 108"/>
          <p:cNvSpPr txBox="1"/>
          <p:nvPr/>
        </p:nvSpPr>
        <p:spPr>
          <a:xfrm>
            <a:off x="10515600" y="2655875"/>
            <a:ext cx="667512" cy="113843"/>
          </a:xfrm>
          <a:prstGeom prst="rect">
            <a:avLst/>
          </a:prstGeom>
          <a:noFill/>
          <a:ln/>
        </p:spPr>
        <p:txBody>
          <a:bodyPr wrap="square" lIns="0" tIns="0" rIns="0" bIns="0" rtlCol="0" anchor="ctr"/>
          <a:lstStyle/>
          <a:p>
            <a:pPr marL="0" indent="0" algn="r">
              <a:buNone/>
            </a:pPr>
            <a:r>
              <a:rPr lang="en-GB" sz="700" dirty="0">
                <a:solidFill>
                  <a:srgbClr val="FFFFFF"/>
                </a:solidFill>
                <a:latin typeface="Inter SemiBold Text SemiBold" pitchFamily="34" charset="0"/>
                <a:ea typeface="Inter SemiBold Text SemiBold" pitchFamily="34" charset="-122"/>
                <a:cs typeface="Inter SemiBold Text SemiBold" pitchFamily="34" charset="-120"/>
              </a:rPr>
              <a:t>unlimited</a:t>
            </a:r>
          </a:p>
        </p:txBody>
      </p:sp>
      <p:sp>
        <p:nvSpPr>
          <p:cNvPr id="109" name="Text 109"/>
          <p:cNvSpPr txBox="1"/>
          <p:nvPr/>
        </p:nvSpPr>
        <p:spPr>
          <a:xfrm>
            <a:off x="8065008" y="2769718"/>
            <a:ext cx="2514600" cy="113843"/>
          </a:xfrm>
          <a:prstGeom prst="rect">
            <a:avLst/>
          </a:prstGeom>
          <a:noFill/>
          <a:ln/>
        </p:spPr>
        <p:txBody>
          <a:bodyPr wrap="none" lIns="0" tIns="0" rIns="0" bIns="0" rtlCol="0" anchor="ctr"/>
          <a:lstStyle/>
          <a:p>
            <a:pPr marL="0" indent="0" algn="l">
              <a:buNone/>
            </a:pPr>
            <a:r>
              <a:rPr lang="en-GB" sz="700" b="1" dirty="0">
                <a:solidFill>
                  <a:srgbClr val="FF8A80"/>
                </a:solidFill>
                <a:latin typeface="Inter SemiBold Text SemiBold" pitchFamily="34" charset="0"/>
                <a:ea typeface="Inter SemiBold Text SemiBold" pitchFamily="34" charset="-122"/>
                <a:cs typeface="Inter SemiBold Text SemiBold" pitchFamily="34" charset="-120"/>
              </a:rPr>
              <a:t>BT-146 </a:t>
            </a:r>
            <a:r>
              <a:rPr lang="en-GB" sz="700" dirty="0">
                <a:solidFill>
                  <a:srgbClr val="9AA4C2"/>
                </a:solidFill>
                <a:latin typeface="Inter Text" pitchFamily="34" charset="0"/>
                <a:ea typeface="Inter Text" pitchFamily="34" charset="-122"/>
                <a:cs typeface="Inter Text" pitchFamily="34" charset="-120"/>
              </a:rPr>
              <a:t>Item net price</a:t>
            </a:r>
          </a:p>
        </p:txBody>
      </p:sp>
      <p:sp>
        <p:nvSpPr>
          <p:cNvPr id="110" name="Text 110"/>
          <p:cNvSpPr txBox="1"/>
          <p:nvPr/>
        </p:nvSpPr>
        <p:spPr>
          <a:xfrm>
            <a:off x="10515600" y="2769718"/>
            <a:ext cx="667512" cy="113843"/>
          </a:xfrm>
          <a:prstGeom prst="rect">
            <a:avLst/>
          </a:prstGeom>
          <a:noFill/>
          <a:ln/>
        </p:spPr>
        <p:txBody>
          <a:bodyPr wrap="square" lIns="0" tIns="0" rIns="0" bIns="0" rtlCol="0" anchor="ctr"/>
          <a:lstStyle/>
          <a:p>
            <a:pPr marL="0" indent="0" algn="r">
              <a:buNone/>
            </a:pPr>
            <a:r>
              <a:rPr lang="en-GB" sz="700" dirty="0">
                <a:solidFill>
                  <a:srgbClr val="FFFFFF"/>
                </a:solidFill>
                <a:latin typeface="Inter SemiBold Text SemiBold" pitchFamily="34" charset="0"/>
                <a:ea typeface="Inter SemiBold Text SemiBold" pitchFamily="34" charset="-122"/>
                <a:cs typeface="Inter SemiBold Text SemiBold" pitchFamily="34" charset="-120"/>
              </a:rPr>
              <a:t>unlimited</a:t>
            </a:r>
          </a:p>
        </p:txBody>
      </p:sp>
      <p:sp>
        <p:nvSpPr>
          <p:cNvPr id="111" name="Text 111"/>
          <p:cNvSpPr txBox="1"/>
          <p:nvPr/>
        </p:nvSpPr>
        <p:spPr>
          <a:xfrm>
            <a:off x="8065008" y="2883560"/>
            <a:ext cx="2514600" cy="113843"/>
          </a:xfrm>
          <a:prstGeom prst="rect">
            <a:avLst/>
          </a:prstGeom>
          <a:noFill/>
          <a:ln/>
        </p:spPr>
        <p:txBody>
          <a:bodyPr wrap="none" lIns="0" tIns="0" rIns="0" bIns="0" rtlCol="0" anchor="ctr"/>
          <a:lstStyle/>
          <a:p>
            <a:pPr marL="0" indent="0" algn="l">
              <a:buNone/>
            </a:pPr>
            <a:r>
              <a:rPr lang="en-GB" sz="700" dirty="0">
                <a:solidFill>
                  <a:srgbClr val="FFFFFF"/>
                </a:solidFill>
                <a:latin typeface="Inter SemiBold Text SemiBold" pitchFamily="34" charset="0"/>
                <a:ea typeface="Inter SemiBold Text SemiBold" pitchFamily="34" charset="-122"/>
                <a:cs typeface="Inter SemiBold Text SemiBold" pitchFamily="34" charset="-120"/>
              </a:rPr>
              <a:t>BT-129 </a:t>
            </a:r>
            <a:r>
              <a:rPr lang="en-GB" sz="700" dirty="0">
                <a:solidFill>
                  <a:srgbClr val="9AA4C2"/>
                </a:solidFill>
                <a:latin typeface="Inter Text" pitchFamily="34" charset="0"/>
                <a:ea typeface="Inter Text" pitchFamily="34" charset="-122"/>
                <a:cs typeface="Inter Text" pitchFamily="34" charset="-120"/>
              </a:rPr>
              <a:t>Invoiced quantity</a:t>
            </a:r>
          </a:p>
        </p:txBody>
      </p:sp>
      <p:sp>
        <p:nvSpPr>
          <p:cNvPr id="112" name="Text 112"/>
          <p:cNvSpPr txBox="1"/>
          <p:nvPr/>
        </p:nvSpPr>
        <p:spPr>
          <a:xfrm>
            <a:off x="10515600" y="2883560"/>
            <a:ext cx="667512" cy="113843"/>
          </a:xfrm>
          <a:prstGeom prst="rect">
            <a:avLst/>
          </a:prstGeom>
          <a:noFill/>
          <a:ln/>
        </p:spPr>
        <p:txBody>
          <a:bodyPr wrap="square" lIns="0" tIns="0" rIns="0" bIns="0" rtlCol="0" anchor="ctr"/>
          <a:lstStyle/>
          <a:p>
            <a:pPr marL="0" indent="0" algn="r">
              <a:buNone/>
            </a:pPr>
            <a:r>
              <a:rPr lang="en-GB" sz="700" dirty="0">
                <a:solidFill>
                  <a:srgbClr val="FFFFFF"/>
                </a:solidFill>
                <a:latin typeface="Inter SemiBold Text SemiBold" pitchFamily="34" charset="0"/>
                <a:ea typeface="Inter SemiBold Text SemiBold" pitchFamily="34" charset="-122"/>
                <a:cs typeface="Inter SemiBold Text SemiBold" pitchFamily="34" charset="-120"/>
              </a:rPr>
              <a:t>unlimited</a:t>
            </a:r>
          </a:p>
        </p:txBody>
      </p:sp>
      <p:sp>
        <p:nvSpPr>
          <p:cNvPr id="113" name="Text 113"/>
          <p:cNvSpPr txBox="1"/>
          <p:nvPr/>
        </p:nvSpPr>
        <p:spPr>
          <a:xfrm>
            <a:off x="8065008" y="2997403"/>
            <a:ext cx="2514600" cy="113843"/>
          </a:xfrm>
          <a:prstGeom prst="rect">
            <a:avLst/>
          </a:prstGeom>
          <a:noFill/>
          <a:ln/>
        </p:spPr>
        <p:txBody>
          <a:bodyPr wrap="none" lIns="0" tIns="0" rIns="0" bIns="0" rtlCol="0" anchor="ctr"/>
          <a:lstStyle/>
          <a:p>
            <a:pPr marL="0" indent="0" algn="l">
              <a:buNone/>
            </a:pPr>
            <a:r>
              <a:rPr lang="en-GB" sz="700" dirty="0">
                <a:solidFill>
                  <a:srgbClr val="FFFFFF"/>
                </a:solidFill>
                <a:latin typeface="Inter SemiBold Text SemiBold" pitchFamily="34" charset="0"/>
                <a:ea typeface="Inter SemiBold Text SemiBold" pitchFamily="34" charset="-122"/>
                <a:cs typeface="Inter SemiBold Text SemiBold" pitchFamily="34" charset="-120"/>
              </a:rPr>
              <a:t>BT-149 </a:t>
            </a:r>
            <a:r>
              <a:rPr lang="en-GB" sz="700" dirty="0">
                <a:solidFill>
                  <a:srgbClr val="9AA4C2"/>
                </a:solidFill>
                <a:latin typeface="Inter Text" pitchFamily="34" charset="0"/>
                <a:ea typeface="Inter Text" pitchFamily="34" charset="-122"/>
                <a:cs typeface="Inter Text" pitchFamily="34" charset="-120"/>
              </a:rPr>
              <a:t>Item price base quantity</a:t>
            </a:r>
          </a:p>
        </p:txBody>
      </p:sp>
      <p:sp>
        <p:nvSpPr>
          <p:cNvPr id="114" name="Text 114"/>
          <p:cNvSpPr txBox="1"/>
          <p:nvPr/>
        </p:nvSpPr>
        <p:spPr>
          <a:xfrm>
            <a:off x="10515600" y="2997403"/>
            <a:ext cx="667512" cy="113843"/>
          </a:xfrm>
          <a:prstGeom prst="rect">
            <a:avLst/>
          </a:prstGeom>
          <a:noFill/>
          <a:ln/>
        </p:spPr>
        <p:txBody>
          <a:bodyPr wrap="square" lIns="0" tIns="0" rIns="0" bIns="0" rtlCol="0" anchor="ctr"/>
          <a:lstStyle/>
          <a:p>
            <a:pPr marL="0" indent="0" algn="r">
              <a:buNone/>
            </a:pPr>
            <a:r>
              <a:rPr lang="en-GB" sz="700" dirty="0">
                <a:solidFill>
                  <a:srgbClr val="FFFFFF"/>
                </a:solidFill>
                <a:latin typeface="Inter SemiBold Text SemiBold" pitchFamily="34" charset="0"/>
                <a:ea typeface="Inter SemiBold Text SemiBold" pitchFamily="34" charset="-122"/>
                <a:cs typeface="Inter SemiBold Text SemiBold" pitchFamily="34" charset="-120"/>
              </a:rPr>
              <a:t>unlimited</a:t>
            </a:r>
          </a:p>
        </p:txBody>
      </p:sp>
      <p:sp>
        <p:nvSpPr>
          <p:cNvPr id="115" name="Text 115"/>
          <p:cNvSpPr txBox="1"/>
          <p:nvPr/>
        </p:nvSpPr>
        <p:spPr>
          <a:xfrm>
            <a:off x="8065008" y="3111246"/>
            <a:ext cx="2514600" cy="113843"/>
          </a:xfrm>
          <a:prstGeom prst="rect">
            <a:avLst/>
          </a:prstGeom>
          <a:noFill/>
          <a:ln/>
        </p:spPr>
        <p:txBody>
          <a:bodyPr wrap="none" lIns="0" tIns="0" rIns="0" bIns="0" rtlCol="0" anchor="ctr"/>
          <a:lstStyle/>
          <a:p>
            <a:pPr marL="0" indent="0" algn="l">
              <a:buNone/>
            </a:pPr>
            <a:r>
              <a:rPr lang="en-GB" sz="700" dirty="0">
                <a:solidFill>
                  <a:srgbClr val="FFFFFF"/>
                </a:solidFill>
                <a:latin typeface="Inter SemiBold Text SemiBold" pitchFamily="34" charset="0"/>
                <a:ea typeface="Inter SemiBold Text SemiBold" pitchFamily="34" charset="-122"/>
                <a:cs typeface="Inter SemiBold Text SemiBold" pitchFamily="34" charset="-120"/>
              </a:rPr>
              <a:t>BT-141 </a:t>
            </a:r>
            <a:r>
              <a:rPr lang="en-GB" sz="700" dirty="0">
                <a:solidFill>
                  <a:srgbClr val="9AA4C2"/>
                </a:solidFill>
                <a:latin typeface="Inter Text" pitchFamily="34" charset="0"/>
                <a:ea typeface="Inter Text" pitchFamily="34" charset="-122"/>
                <a:cs typeface="Inter Text" pitchFamily="34" charset="-120"/>
              </a:rPr>
              <a:t>Invoice line charge or tax amount</a:t>
            </a:r>
          </a:p>
        </p:txBody>
      </p:sp>
      <p:sp>
        <p:nvSpPr>
          <p:cNvPr id="116" name="Text 116"/>
          <p:cNvSpPr txBox="1"/>
          <p:nvPr/>
        </p:nvSpPr>
        <p:spPr>
          <a:xfrm>
            <a:off x="10515600" y="3111246"/>
            <a:ext cx="667512" cy="113843"/>
          </a:xfrm>
          <a:prstGeom prst="rect">
            <a:avLst/>
          </a:prstGeom>
          <a:noFill/>
          <a:ln/>
        </p:spPr>
        <p:txBody>
          <a:bodyPr wrap="square" lIns="0" tIns="0" rIns="0" bIns="0" rtlCol="0" anchor="ctr"/>
          <a:lstStyle/>
          <a:p>
            <a:pPr marL="0" indent="0" algn="r">
              <a:buNone/>
            </a:pPr>
            <a:r>
              <a:rPr lang="en-GB" sz="700" dirty="0">
                <a:solidFill>
                  <a:srgbClr val="FFB547"/>
                </a:solidFill>
                <a:latin typeface="Inter SemiBold Text SemiBold" pitchFamily="34" charset="0"/>
                <a:ea typeface="Inter SemiBold Text SemiBold" pitchFamily="34" charset="-122"/>
                <a:cs typeface="Inter SemiBold Text SemiBold" pitchFamily="34" charset="-120"/>
              </a:rPr>
              <a:t>2 dp</a:t>
            </a:r>
          </a:p>
        </p:txBody>
      </p:sp>
      <p:sp>
        <p:nvSpPr>
          <p:cNvPr id="117" name="Text 117"/>
          <p:cNvSpPr txBox="1"/>
          <p:nvPr/>
        </p:nvSpPr>
        <p:spPr>
          <a:xfrm>
            <a:off x="8065008" y="3225089"/>
            <a:ext cx="2514600" cy="113843"/>
          </a:xfrm>
          <a:prstGeom prst="rect">
            <a:avLst/>
          </a:prstGeom>
          <a:noFill/>
          <a:ln/>
        </p:spPr>
        <p:txBody>
          <a:bodyPr wrap="none" lIns="0" tIns="0" rIns="0" bIns="0" rtlCol="0" anchor="ctr"/>
          <a:lstStyle/>
          <a:p>
            <a:pPr marL="0" indent="0" algn="l">
              <a:buNone/>
            </a:pPr>
            <a:r>
              <a:rPr lang="en-GB" sz="700" dirty="0">
                <a:solidFill>
                  <a:srgbClr val="FFFFFF"/>
                </a:solidFill>
                <a:latin typeface="Inter SemiBold Text SemiBold" pitchFamily="34" charset="0"/>
                <a:ea typeface="Inter SemiBold Text SemiBold" pitchFamily="34" charset="-122"/>
                <a:cs typeface="Inter SemiBold Text SemiBold" pitchFamily="34" charset="-120"/>
              </a:rPr>
              <a:t>BT-136 </a:t>
            </a:r>
            <a:r>
              <a:rPr lang="en-GB" sz="700" dirty="0">
                <a:solidFill>
                  <a:srgbClr val="9AA4C2"/>
                </a:solidFill>
                <a:latin typeface="Inter Text" pitchFamily="34" charset="0"/>
                <a:ea typeface="Inter Text" pitchFamily="34" charset="-122"/>
                <a:cs typeface="Inter Text" pitchFamily="34" charset="-120"/>
              </a:rPr>
              <a:t>Invoice line allowance amount</a:t>
            </a:r>
          </a:p>
        </p:txBody>
      </p:sp>
      <p:sp>
        <p:nvSpPr>
          <p:cNvPr id="118" name="Text 118"/>
          <p:cNvSpPr txBox="1"/>
          <p:nvPr/>
        </p:nvSpPr>
        <p:spPr>
          <a:xfrm>
            <a:off x="10515600" y="3225089"/>
            <a:ext cx="667512" cy="113843"/>
          </a:xfrm>
          <a:prstGeom prst="rect">
            <a:avLst/>
          </a:prstGeom>
          <a:noFill/>
          <a:ln/>
        </p:spPr>
        <p:txBody>
          <a:bodyPr wrap="square" lIns="0" tIns="0" rIns="0" bIns="0" rtlCol="0" anchor="ctr"/>
          <a:lstStyle/>
          <a:p>
            <a:pPr marL="0" indent="0" algn="r">
              <a:buNone/>
            </a:pPr>
            <a:r>
              <a:rPr lang="en-GB" sz="700" dirty="0">
                <a:solidFill>
                  <a:srgbClr val="FFB547"/>
                </a:solidFill>
                <a:latin typeface="Inter SemiBold Text SemiBold" pitchFamily="34" charset="0"/>
                <a:ea typeface="Inter SemiBold Text SemiBold" pitchFamily="34" charset="-122"/>
                <a:cs typeface="Inter SemiBold Text SemiBold" pitchFamily="34" charset="-120"/>
              </a:rPr>
              <a:t>2 dp</a:t>
            </a:r>
          </a:p>
        </p:txBody>
      </p:sp>
      <p:sp>
        <p:nvSpPr>
          <p:cNvPr id="119" name="Text 119"/>
          <p:cNvSpPr txBox="1"/>
          <p:nvPr/>
        </p:nvSpPr>
        <p:spPr>
          <a:xfrm>
            <a:off x="8065008" y="3338932"/>
            <a:ext cx="2514600" cy="113843"/>
          </a:xfrm>
          <a:prstGeom prst="rect">
            <a:avLst/>
          </a:prstGeom>
          <a:noFill/>
          <a:ln/>
        </p:spPr>
        <p:txBody>
          <a:bodyPr wrap="none" lIns="0" tIns="0" rIns="0" bIns="0" rtlCol="0" anchor="ctr"/>
          <a:lstStyle/>
          <a:p>
            <a:pPr marL="0" indent="0" algn="l">
              <a:buNone/>
            </a:pPr>
            <a:r>
              <a:rPr lang="en-GB" sz="700" b="1" dirty="0">
                <a:solidFill>
                  <a:srgbClr val="FFB74D"/>
                </a:solidFill>
                <a:latin typeface="Inter SemiBold Text SemiBold" pitchFamily="34" charset="0"/>
                <a:ea typeface="Inter SemiBold Text SemiBold" pitchFamily="34" charset="-122"/>
                <a:cs typeface="Inter SemiBold Text SemiBold" pitchFamily="34" charset="-120"/>
              </a:rPr>
              <a:t>BT-131 </a:t>
            </a:r>
            <a:r>
              <a:rPr lang="en-GB" sz="700" dirty="0">
                <a:solidFill>
                  <a:srgbClr val="9AA4C2"/>
                </a:solidFill>
                <a:latin typeface="Inter Text" pitchFamily="34" charset="0"/>
                <a:ea typeface="Inter Text" pitchFamily="34" charset="-122"/>
                <a:cs typeface="Inter Text" pitchFamily="34" charset="-120"/>
              </a:rPr>
              <a:t>Invoice line net amount</a:t>
            </a:r>
          </a:p>
        </p:txBody>
      </p:sp>
      <p:sp>
        <p:nvSpPr>
          <p:cNvPr id="120" name="Text 120"/>
          <p:cNvSpPr txBox="1"/>
          <p:nvPr/>
        </p:nvSpPr>
        <p:spPr>
          <a:xfrm>
            <a:off x="10515600" y="3338932"/>
            <a:ext cx="667512" cy="113843"/>
          </a:xfrm>
          <a:prstGeom prst="rect">
            <a:avLst/>
          </a:prstGeom>
          <a:noFill/>
          <a:ln/>
        </p:spPr>
        <p:txBody>
          <a:bodyPr wrap="square" lIns="0" tIns="0" rIns="0" bIns="0" rtlCol="0" anchor="ctr"/>
          <a:lstStyle/>
          <a:p>
            <a:pPr marL="0" indent="0" algn="r">
              <a:buNone/>
            </a:pPr>
            <a:r>
              <a:rPr lang="en-GB" sz="700" dirty="0">
                <a:solidFill>
                  <a:srgbClr val="FF8A80"/>
                </a:solidFill>
                <a:latin typeface="Inter SemiBold Text SemiBold" pitchFamily="34" charset="0"/>
                <a:ea typeface="Inter SemiBold Text SemiBold" pitchFamily="34" charset="-122"/>
                <a:cs typeface="Inter SemiBold Text SemiBold" pitchFamily="34" charset="-120"/>
              </a:rPr>
              <a:t>2 dp</a:t>
            </a:r>
          </a:p>
        </p:txBody>
      </p:sp>
      <p:sp>
        <p:nvSpPr>
          <p:cNvPr id="121" name="Text 121"/>
          <p:cNvSpPr txBox="1"/>
          <p:nvPr/>
        </p:nvSpPr>
        <p:spPr>
          <a:xfrm>
            <a:off x="8065008" y="3452774"/>
            <a:ext cx="2514600" cy="113843"/>
          </a:xfrm>
          <a:prstGeom prst="rect">
            <a:avLst/>
          </a:prstGeom>
          <a:noFill/>
          <a:ln/>
        </p:spPr>
        <p:txBody>
          <a:bodyPr wrap="none" lIns="0" tIns="0" rIns="0" bIns="0" rtlCol="0" anchor="ctr"/>
          <a:lstStyle/>
          <a:p>
            <a:pPr marL="0" indent="0" algn="l">
              <a:buNone/>
            </a:pPr>
            <a:r>
              <a:rPr lang="en-GB" sz="700" b="1" dirty="0">
                <a:solidFill>
                  <a:srgbClr val="FFE066"/>
                </a:solidFill>
                <a:latin typeface="Inter SemiBold Text SemiBold" pitchFamily="34" charset="0"/>
                <a:ea typeface="Inter SemiBold Text SemiBold" pitchFamily="34" charset="-122"/>
                <a:cs typeface="Inter SemiBold Text SemiBold" pitchFamily="34" charset="-120"/>
              </a:rPr>
              <a:t>BT-106 </a:t>
            </a:r>
            <a:r>
              <a:rPr lang="en-GB" sz="700" dirty="0">
                <a:solidFill>
                  <a:srgbClr val="9AA4C2"/>
                </a:solidFill>
                <a:latin typeface="Inter Text" pitchFamily="34" charset="0"/>
                <a:ea typeface="Inter Text" pitchFamily="34" charset="-122"/>
                <a:cs typeface="Inter Text" pitchFamily="34" charset="-120"/>
              </a:rPr>
              <a:t>Sum of invoice line net amount</a:t>
            </a:r>
          </a:p>
        </p:txBody>
      </p:sp>
      <p:sp>
        <p:nvSpPr>
          <p:cNvPr id="122" name="Text 122"/>
          <p:cNvSpPr txBox="1"/>
          <p:nvPr/>
        </p:nvSpPr>
        <p:spPr>
          <a:xfrm>
            <a:off x="10515600" y="3452774"/>
            <a:ext cx="667512" cy="113843"/>
          </a:xfrm>
          <a:prstGeom prst="rect">
            <a:avLst/>
          </a:prstGeom>
          <a:noFill/>
          <a:ln/>
        </p:spPr>
        <p:txBody>
          <a:bodyPr wrap="square" lIns="0" tIns="0" rIns="0" bIns="0" rtlCol="0" anchor="ctr"/>
          <a:lstStyle/>
          <a:p>
            <a:pPr marL="0" indent="0" algn="r">
              <a:buNone/>
            </a:pPr>
            <a:r>
              <a:rPr lang="en-GB" sz="700" dirty="0">
                <a:solidFill>
                  <a:srgbClr val="FF8A80"/>
                </a:solidFill>
                <a:latin typeface="Inter SemiBold Text SemiBold" pitchFamily="34" charset="0"/>
                <a:ea typeface="Inter SemiBold Text SemiBold" pitchFamily="34" charset="-122"/>
                <a:cs typeface="Inter SemiBold Text SemiBold" pitchFamily="34" charset="-120"/>
              </a:rPr>
              <a:t>2 dp</a:t>
            </a:r>
          </a:p>
        </p:txBody>
      </p:sp>
      <p:sp>
        <p:nvSpPr>
          <p:cNvPr id="123" name="Text 123"/>
          <p:cNvSpPr txBox="1"/>
          <p:nvPr/>
        </p:nvSpPr>
        <p:spPr>
          <a:xfrm>
            <a:off x="8065008" y="3566617"/>
            <a:ext cx="2514600" cy="113843"/>
          </a:xfrm>
          <a:prstGeom prst="rect">
            <a:avLst/>
          </a:prstGeom>
          <a:noFill/>
          <a:ln/>
        </p:spPr>
        <p:txBody>
          <a:bodyPr wrap="none" lIns="0" tIns="0" rIns="0" bIns="0" rtlCol="0" anchor="ctr"/>
          <a:lstStyle/>
          <a:p>
            <a:pPr marL="0" indent="0" algn="l">
              <a:buNone/>
            </a:pPr>
            <a:r>
              <a:rPr lang="en-GB" sz="700" dirty="0">
                <a:solidFill>
                  <a:srgbClr val="FFFFFF"/>
                </a:solidFill>
                <a:latin typeface="Inter SemiBold Text SemiBold" pitchFamily="34" charset="0"/>
                <a:ea typeface="Inter SemiBold Text SemiBold" pitchFamily="34" charset="-122"/>
                <a:cs typeface="Inter SemiBold Text SemiBold" pitchFamily="34" charset="-120"/>
              </a:rPr>
              <a:t>BT-99 </a:t>
            </a:r>
            <a:r>
              <a:rPr lang="en-GB" sz="700" dirty="0">
                <a:solidFill>
                  <a:srgbClr val="9AA4C2"/>
                </a:solidFill>
                <a:latin typeface="Inter Text" pitchFamily="34" charset="0"/>
                <a:ea typeface="Inter Text" pitchFamily="34" charset="-122"/>
                <a:cs typeface="Inter Text" pitchFamily="34" charset="-120"/>
              </a:rPr>
              <a:t>Document level charge or tax amount</a:t>
            </a:r>
          </a:p>
        </p:txBody>
      </p:sp>
      <p:sp>
        <p:nvSpPr>
          <p:cNvPr id="124" name="Text 124"/>
          <p:cNvSpPr txBox="1"/>
          <p:nvPr/>
        </p:nvSpPr>
        <p:spPr>
          <a:xfrm>
            <a:off x="10515600" y="3566617"/>
            <a:ext cx="667512" cy="113843"/>
          </a:xfrm>
          <a:prstGeom prst="rect">
            <a:avLst/>
          </a:prstGeom>
          <a:noFill/>
          <a:ln/>
        </p:spPr>
        <p:txBody>
          <a:bodyPr wrap="square" lIns="0" tIns="0" rIns="0" bIns="0" rtlCol="0" anchor="ctr"/>
          <a:lstStyle/>
          <a:p>
            <a:pPr marL="0" indent="0" algn="r">
              <a:buNone/>
            </a:pPr>
            <a:r>
              <a:rPr lang="en-GB" sz="700" dirty="0">
                <a:solidFill>
                  <a:srgbClr val="FFB547"/>
                </a:solidFill>
                <a:latin typeface="Inter SemiBold Text SemiBold" pitchFamily="34" charset="0"/>
                <a:ea typeface="Inter SemiBold Text SemiBold" pitchFamily="34" charset="-122"/>
                <a:cs typeface="Inter SemiBold Text SemiBold" pitchFamily="34" charset="-120"/>
              </a:rPr>
              <a:t>2 dp</a:t>
            </a:r>
          </a:p>
        </p:txBody>
      </p:sp>
      <p:sp>
        <p:nvSpPr>
          <p:cNvPr id="125" name="Text 125"/>
          <p:cNvSpPr txBox="1"/>
          <p:nvPr/>
        </p:nvSpPr>
        <p:spPr>
          <a:xfrm>
            <a:off x="8065008" y="3680460"/>
            <a:ext cx="2514600" cy="113843"/>
          </a:xfrm>
          <a:prstGeom prst="rect">
            <a:avLst/>
          </a:prstGeom>
          <a:noFill/>
          <a:ln/>
        </p:spPr>
        <p:txBody>
          <a:bodyPr wrap="none" lIns="0" tIns="0" rIns="0" bIns="0" rtlCol="0" anchor="ctr"/>
          <a:lstStyle/>
          <a:p>
            <a:pPr marL="0" indent="0" algn="l">
              <a:buNone/>
            </a:pPr>
            <a:r>
              <a:rPr lang="en-GB" sz="700" dirty="0">
                <a:solidFill>
                  <a:srgbClr val="FFFFFF"/>
                </a:solidFill>
                <a:latin typeface="Inter SemiBold Text SemiBold" pitchFamily="34" charset="0"/>
                <a:ea typeface="Inter SemiBold Text SemiBold" pitchFamily="34" charset="-122"/>
                <a:cs typeface="Inter SemiBold Text SemiBold" pitchFamily="34" charset="-120"/>
              </a:rPr>
              <a:t>BT-92 </a:t>
            </a:r>
            <a:r>
              <a:rPr lang="en-GB" sz="700" dirty="0">
                <a:solidFill>
                  <a:srgbClr val="9AA4C2"/>
                </a:solidFill>
                <a:latin typeface="Inter Text" pitchFamily="34" charset="0"/>
                <a:ea typeface="Inter Text" pitchFamily="34" charset="-122"/>
                <a:cs typeface="Inter Text" pitchFamily="34" charset="-120"/>
              </a:rPr>
              <a:t>Document level allowance amount</a:t>
            </a:r>
          </a:p>
        </p:txBody>
      </p:sp>
      <p:sp>
        <p:nvSpPr>
          <p:cNvPr id="126" name="Text 126"/>
          <p:cNvSpPr txBox="1"/>
          <p:nvPr/>
        </p:nvSpPr>
        <p:spPr>
          <a:xfrm>
            <a:off x="10515600" y="3680460"/>
            <a:ext cx="667512" cy="113843"/>
          </a:xfrm>
          <a:prstGeom prst="rect">
            <a:avLst/>
          </a:prstGeom>
          <a:noFill/>
          <a:ln/>
        </p:spPr>
        <p:txBody>
          <a:bodyPr wrap="square" lIns="0" tIns="0" rIns="0" bIns="0" rtlCol="0" anchor="ctr"/>
          <a:lstStyle/>
          <a:p>
            <a:pPr marL="0" indent="0" algn="r">
              <a:buNone/>
            </a:pPr>
            <a:r>
              <a:rPr lang="en-GB" sz="700" dirty="0">
                <a:solidFill>
                  <a:srgbClr val="FFB547"/>
                </a:solidFill>
                <a:latin typeface="Inter SemiBold Text SemiBold" pitchFamily="34" charset="0"/>
                <a:ea typeface="Inter SemiBold Text SemiBold" pitchFamily="34" charset="-122"/>
                <a:cs typeface="Inter SemiBold Text SemiBold" pitchFamily="34" charset="-120"/>
              </a:rPr>
              <a:t>2 dp</a:t>
            </a:r>
          </a:p>
        </p:txBody>
      </p:sp>
      <p:sp>
        <p:nvSpPr>
          <p:cNvPr id="127" name="Text 127"/>
          <p:cNvSpPr txBox="1"/>
          <p:nvPr/>
        </p:nvSpPr>
        <p:spPr>
          <a:xfrm>
            <a:off x="8065008" y="3794303"/>
            <a:ext cx="2514600" cy="113843"/>
          </a:xfrm>
          <a:prstGeom prst="rect">
            <a:avLst/>
          </a:prstGeom>
          <a:noFill/>
          <a:ln/>
        </p:spPr>
        <p:txBody>
          <a:bodyPr wrap="none" lIns="0" tIns="0" rIns="0" bIns="0" rtlCol="0" anchor="ctr"/>
          <a:lstStyle/>
          <a:p>
            <a:pPr marL="0" indent="0" algn="l">
              <a:buNone/>
            </a:pPr>
            <a:r>
              <a:rPr lang="en-GB" sz="700" dirty="0">
                <a:solidFill>
                  <a:srgbClr val="FFFFFF"/>
                </a:solidFill>
                <a:latin typeface="Inter SemiBold Text SemiBold" pitchFamily="34" charset="0"/>
                <a:ea typeface="Inter SemiBold Text SemiBold" pitchFamily="34" charset="-122"/>
                <a:cs typeface="Inter SemiBold Text SemiBold" pitchFamily="34" charset="-120"/>
              </a:rPr>
              <a:t>BT-119 </a:t>
            </a:r>
            <a:r>
              <a:rPr lang="en-GB" sz="700" dirty="0">
                <a:solidFill>
                  <a:srgbClr val="9AA4C2"/>
                </a:solidFill>
                <a:latin typeface="Inter Text" pitchFamily="34" charset="0"/>
                <a:ea typeface="Inter Text" pitchFamily="34" charset="-122"/>
                <a:cs typeface="Inter Text" pitchFamily="34" charset="-120"/>
              </a:rPr>
              <a:t>VAT category rate (law)</a:t>
            </a:r>
          </a:p>
        </p:txBody>
      </p:sp>
      <p:sp>
        <p:nvSpPr>
          <p:cNvPr id="128" name="Text 128"/>
          <p:cNvSpPr txBox="1"/>
          <p:nvPr/>
        </p:nvSpPr>
        <p:spPr>
          <a:xfrm>
            <a:off x="10515600" y="3794303"/>
            <a:ext cx="667512" cy="113843"/>
          </a:xfrm>
          <a:prstGeom prst="rect">
            <a:avLst/>
          </a:prstGeom>
          <a:noFill/>
          <a:ln/>
        </p:spPr>
        <p:txBody>
          <a:bodyPr wrap="square" lIns="0" tIns="0" rIns="0" bIns="0" rtlCol="0" anchor="ctr"/>
          <a:lstStyle/>
          <a:p>
            <a:pPr marL="0" indent="0" algn="r">
              <a:buNone/>
            </a:pPr>
            <a:r>
              <a:rPr lang="en-GB" sz="700" dirty="0">
                <a:solidFill>
                  <a:srgbClr val="FFFFFF"/>
                </a:solidFill>
                <a:latin typeface="Inter SemiBold Text SemiBold" pitchFamily="34" charset="0"/>
                <a:ea typeface="Inter SemiBold Text SemiBold" pitchFamily="34" charset="-122"/>
                <a:cs typeface="Inter SemiBold Text SemiBold" pitchFamily="34" charset="-120"/>
              </a:rPr>
              <a:t>unlimited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Folie 30">
    <p:bg>
      <p:bgPr>
        <a:solidFill>
          <a:srgbClr val="F4F6FB"/>
        </a:solidFill>
        <a:effectLst/>
      </p:bgPr>
    </p:bg>
    <p:spTree>
      <p:nvGrpSpPr>
        <p:cNvPr id="1" name=""/>
        <p:cNvGrpSpPr/>
        <p:nvPr/>
      </p:nvGrpSpPr>
      <p:grpSpPr>
        <a:xfrm>
          <a:off x="0" y="0"/>
          <a:ext cx="0" cy="0"/>
          <a:chOff x="0" y="0"/>
          <a:chExt cx="0" cy="0"/>
        </a:xfrm>
      </p:grpSpPr>
      <p:sp>
        <p:nvSpPr>
          <p:cNvPr id="3" name="Header 3"/>
          <p:cNvSpPr txBox="1"/>
          <p:nvPr/>
        </p:nvSpPr>
        <p:spPr>
          <a:xfrm>
            <a:off x="822960" y="384048"/>
            <a:ext cx="7315200" cy="274320"/>
          </a:xfrm>
          <a:prstGeom prst="rect">
            <a:avLst/>
          </a:prstGeom>
          <a:noFill/>
          <a:ln/>
        </p:spPr>
        <p:txBody>
          <a:bodyPr wrap="square" lIns="0" tIns="0" rIns="0" bIns="0" rtlCol="0" anchor="ctr"/>
          <a:lstStyle/>
          <a:p>
            <a:pPr marL="0" indent="0" algn="l">
              <a:buNone/>
            </a:pPr>
            <a:r>
              <a:rPr lang="en-GB" sz="950" spc="100" dirty="0">
                <a:solidFill>
                  <a:srgbClr val="5B6890"/>
                </a:solidFill>
                <a:latin typeface="Inter Medium Text Medium" pitchFamily="34" charset="0"/>
                <a:ea typeface="Inter Medium Text Medium" pitchFamily="34" charset="-122"/>
                <a:cs typeface="Inter Medium Text Medium" pitchFamily="34" charset="-120"/>
              </a:rPr>
              <a:t>CEN/TC 434 WG1</a:t>
            </a:r>
            <a:r>
              <a:rPr lang="en-GB" sz="950" spc="100" dirty="0">
                <a:solidFill>
                  <a:srgbClr val="C2CADE"/>
                </a:solidFill>
                <a:latin typeface="Inter Text" pitchFamily="34" charset="0"/>
                <a:ea typeface="Inter Text" pitchFamily="34" charset="-122"/>
                <a:cs typeface="Inter Text" pitchFamily="34" charset="-120"/>
              </a:rPr>
              <a:t>   ·   </a:t>
            </a:r>
            <a:r>
              <a:rPr lang="en-GB" sz="950" spc="100" dirty="0">
                <a:solidFill>
                  <a:srgbClr val="9AA4C2"/>
                </a:solidFill>
                <a:latin typeface="Inter Text" pitchFamily="34" charset="0"/>
                <a:ea typeface="Inter Text" pitchFamily="34" charset="-122"/>
                <a:cs typeface="Inter Text" pitchFamily="34" charset="-120"/>
              </a:rPr>
              <a:t>EN 16931-1:2026 amendment · Gross prices and rounding</a:t>
            </a:r>
          </a:p>
        </p:txBody>
      </p:sp>
      <p:sp>
        <p:nvSpPr>
          <p:cNvPr id="4" name="SectionLabel 4"/>
          <p:cNvSpPr txBox="1"/>
          <p:nvPr/>
        </p:nvSpPr>
        <p:spPr>
          <a:xfrm>
            <a:off x="822960" y="868680"/>
            <a:ext cx="8229600" cy="274320"/>
          </a:xfrm>
          <a:prstGeom prst="rect">
            <a:avLst/>
          </a:prstGeom>
          <a:noFill/>
          <a:ln/>
        </p:spPr>
        <p:txBody>
          <a:bodyPr wrap="square" lIns="0" tIns="0" rIns="0" bIns="0" rtlCol="0" anchor="ctr"/>
          <a:lstStyle/>
          <a:p>
            <a:pPr marL="0" indent="0" algn="l">
              <a:buNone/>
            </a:pPr>
            <a:r>
              <a:rPr lang="en-GB" sz="1100" spc="300" dirty="0">
                <a:solidFill>
                  <a:srgbClr val="19C3C8"/>
                </a:solidFill>
                <a:latin typeface="Inter SemiBold Text SemiBold" pitchFamily="34" charset="0"/>
                <a:ea typeface="Inter SemiBold Text SemiBold" pitchFamily="34" charset="-122"/>
                <a:cs typeface="Inter SemiBold Text SemiBold" pitchFamily="34" charset="-120"/>
              </a:rPr>
              <a:t>CALCULATION CHAIN · EN 16931-1:2026</a:t>
            </a:r>
          </a:p>
        </p:txBody>
      </p:sp>
      <p:sp>
        <p:nvSpPr>
          <p:cNvPr id="5" name="Title 5"/>
          <p:cNvSpPr txBox="1"/>
          <p:nvPr/>
        </p:nvSpPr>
        <p:spPr>
          <a:xfrm>
            <a:off x="804672" y="1115568"/>
            <a:ext cx="10424160" cy="822960"/>
          </a:xfrm>
          <a:prstGeom prst="rect">
            <a:avLst/>
          </a:prstGeom>
          <a:noFill/>
          <a:ln/>
        </p:spPr>
        <p:txBody>
          <a:bodyPr wrap="square" lIns="0" tIns="0" rIns="0" bIns="0" rtlCol="0" anchor="t"/>
          <a:lstStyle/>
          <a:p>
            <a:pPr marL="0" indent="0" algn="l">
              <a:buNone/>
            </a:pPr>
            <a:r>
              <a:rPr lang="en-GB" sz="3800" b="1" dirty="0">
                <a:solidFill>
                  <a:srgbClr val="1A2B5E"/>
                </a:solidFill>
                <a:latin typeface="Inter Text" pitchFamily="34" charset="0"/>
                <a:ea typeface="Inter Text" pitchFamily="34" charset="-122"/>
                <a:cs typeface="Inter Text" pitchFamily="34" charset="-120"/>
              </a:rPr>
              <a:t>From gross price via net price to VAT</a:t>
            </a:r>
          </a:p>
        </p:txBody>
      </p:sp>
      <p:sp>
        <p:nvSpPr>
          <p:cNvPr id="6" name="Speaker 6">
            <a:hlinkClick r:id="rId3"/>
          </p:cNvPr>
          <p:cNvSpPr txBox="1"/>
          <p:nvPr/>
        </p:nvSpPr>
        <p:spPr>
          <a:xfrm>
            <a:off x="7680960" y="6514592"/>
            <a:ext cx="3154680" cy="292608"/>
          </a:xfrm>
          <a:prstGeom prst="rect">
            <a:avLst/>
          </a:prstGeom>
          <a:noFill/>
          <a:ln/>
        </p:spPr>
        <p:txBody>
          <a:bodyPr wrap="square" lIns="0" tIns="0" rIns="0" bIns="0" rtlCol="0" anchor="ctr"/>
          <a:lstStyle/>
          <a:p>
            <a:pPr marL="0" indent="0" algn="r">
              <a:buNone/>
            </a:pPr>
            <a:r>
              <a:rPr lang="en-GB" sz="1000" spc="100" dirty="0">
                <a:solidFill>
                  <a:srgbClr val="9AA4C2"/>
                </a:solidFill>
                <a:latin typeface="Inter Medium Text Medium" pitchFamily="34" charset="0"/>
                <a:ea typeface="Inter Medium Text Medium" pitchFamily="34" charset="-122"/>
                <a:cs typeface="Inter Medium Text Medium" pitchFamily="34" charset="-120"/>
              </a:rPr>
              <a:t>© Svante Schubert</a:t>
            </a:r>
          </a:p>
        </p:txBody>
      </p:sp>
      <p:sp>
        <p:nvSpPr>
          <p:cNvPr id="7" name="PageNum 7"/>
          <p:cNvSpPr txBox="1"/>
          <p:nvPr/>
        </p:nvSpPr>
        <p:spPr>
          <a:xfrm>
            <a:off x="10908792" y="6514592"/>
            <a:ext cx="822960" cy="292608"/>
          </a:xfrm>
          <a:prstGeom prst="rect">
            <a:avLst/>
          </a:prstGeom>
          <a:noFill/>
          <a:ln/>
        </p:spPr>
        <p:txBody>
          <a:bodyPr wrap="square" lIns="0" tIns="0" rIns="0" bIns="0" rtlCol="0" anchor="ctr"/>
          <a:lstStyle/>
          <a:p>
            <a:pPr marL="0" indent="0" algn="r">
              <a:buNone/>
            </a:pPr>
            <a:fld id="{D3E2CDAE-2F23-4283-8153-FFAA4570C66A}" type="slidenum">
              <a:rPr lang="en-GB" sz="1000" spc="200" dirty="0">
                <a:solidFill>
                  <a:srgbClr val="5B6890"/>
                </a:solidFill>
                <a:latin typeface="Inter SemiBold Text SemiBold" pitchFamily="34" charset="0"/>
                <a:ea typeface="Inter SemiBold Text SemiBold" pitchFamily="34" charset="-122"/>
                <a:cs typeface="Inter SemiBold Text SemiBold" pitchFamily="34" charset="-120"/>
              </a:rPr>
              <a:t>6</a:t>
            </a:fld>
            <a:endParaRPr lang="en-GB" sz="1000" spc="200" dirty="0">
              <a:solidFill>
                <a:srgbClr val="5B6890"/>
              </a:solidFill>
              <a:latin typeface="Inter SemiBold Text SemiBold" pitchFamily="34" charset="0"/>
              <a:ea typeface="Inter SemiBold Text SemiBold" pitchFamily="34" charset="-122"/>
              <a:cs typeface="Inter SemiBold Text SemiBold" pitchFamily="34" charset="-120"/>
            </a:endParaRPr>
          </a:p>
        </p:txBody>
      </p:sp>
      <p:sp>
        <p:nvSpPr>
          <p:cNvPr id="8" name="Text 8"/>
          <p:cNvSpPr txBox="1"/>
          <p:nvPr/>
        </p:nvSpPr>
        <p:spPr>
          <a:xfrm>
            <a:off x="822960" y="1847088"/>
            <a:ext cx="2285086" cy="329184"/>
          </a:xfrm>
          <a:prstGeom prst="rect">
            <a:avLst/>
          </a:prstGeom>
          <a:noFill/>
          <a:ln/>
        </p:spPr>
        <p:txBody>
          <a:bodyPr wrap="none" lIns="0" tIns="0" rIns="0" bIns="0" rtlCol="0" anchor="ctr"/>
          <a:lstStyle/>
          <a:p>
            <a:pPr marL="0" indent="0" algn="l">
              <a:buNone/>
            </a:pPr>
            <a:r>
              <a:rPr lang="en-GB" sz="1300" dirty="0">
                <a:solidFill>
                  <a:srgbClr val="5B6890"/>
                </a:solidFill>
                <a:latin typeface="Inter Text" pitchFamily="34" charset="0"/>
                <a:ea typeface="Inter Text" pitchFamily="34" charset="-122"/>
                <a:cs typeface="Inter Text" pitchFamily="34" charset="-120"/>
              </a:rPr>
              <a:t>Two intermediate roundings:</a:t>
            </a:r>
          </a:p>
        </p:txBody>
      </p:sp>
      <p:sp>
        <p:nvSpPr>
          <p:cNvPr id="9" name="Pill 9"/>
          <p:cNvSpPr/>
          <p:nvPr/>
        </p:nvSpPr>
        <p:spPr>
          <a:xfrm>
            <a:off x="3217774" y="1856232"/>
            <a:ext cx="2209190" cy="310896"/>
          </a:xfrm>
          <a:prstGeom prst="roundRect">
            <a:avLst>
              <a:gd name="adj" fmla="val 50000"/>
            </a:avLst>
          </a:prstGeom>
          <a:solidFill>
            <a:srgbClr val="FDECEA"/>
          </a:solidFill>
          <a:ln w="9525">
            <a:solidFill>
              <a:srgbClr val="F5C2BF"/>
            </a:solidFill>
            <a:prstDash val="solid"/>
          </a:ln>
        </p:spPr>
        <p:txBody>
          <a:bodyPr wrap="square" lIns="36576" tIns="36576" rIns="36576" bIns="36576" rtlCol="0" anchor="ctr"/>
          <a:lstStyle/>
          <a:p>
            <a:pPr marL="0" indent="0" algn="ctr">
              <a:buNone/>
            </a:pPr>
            <a:r>
              <a:rPr lang="en-GB" sz="1200" dirty="0">
                <a:solidFill>
                  <a:srgbClr val="C62828"/>
                </a:solidFill>
                <a:latin typeface="Inter SemiBold Text SemiBold" pitchFamily="34" charset="0"/>
                <a:ea typeface="Inter SemiBold Text SemiBold" pitchFamily="34" charset="-122"/>
                <a:cs typeface="Inter SemiBold Text SemiBold" pitchFamily="34" charset="-120"/>
              </a:rPr>
              <a:t>BT-146 to Minor Unit + 2</a:t>
            </a:r>
          </a:p>
        </p:txBody>
      </p:sp>
      <p:sp>
        <p:nvSpPr>
          <p:cNvPr id="10" name="Pill 10"/>
          <p:cNvSpPr/>
          <p:nvPr/>
        </p:nvSpPr>
        <p:spPr>
          <a:xfrm>
            <a:off x="5554980" y="1856232"/>
            <a:ext cx="2209190" cy="310896"/>
          </a:xfrm>
          <a:prstGeom prst="roundRect">
            <a:avLst>
              <a:gd name="adj" fmla="val 50000"/>
            </a:avLst>
          </a:prstGeom>
          <a:solidFill>
            <a:srgbClr val="FFF3E6"/>
          </a:solidFill>
          <a:ln w="9525">
            <a:solidFill>
              <a:srgbClr val="F5CFA3"/>
            </a:solidFill>
            <a:prstDash val="solid"/>
          </a:ln>
        </p:spPr>
        <p:txBody>
          <a:bodyPr wrap="square" lIns="36576" tIns="36576" rIns="36576" bIns="36576" rtlCol="0" anchor="ctr"/>
          <a:lstStyle/>
          <a:p>
            <a:pPr marL="0" indent="0" algn="ctr">
              <a:buNone/>
            </a:pPr>
            <a:r>
              <a:rPr lang="en-GB" sz="1200" dirty="0">
                <a:solidFill>
                  <a:srgbClr val="C25700"/>
                </a:solidFill>
                <a:latin typeface="Inter SemiBold Text SemiBold" pitchFamily="34" charset="0"/>
                <a:ea typeface="Inter SemiBold Text SemiBold" pitchFamily="34" charset="-122"/>
                <a:cs typeface="Inter SemiBold Text SemiBold" pitchFamily="34" charset="-120"/>
              </a:rPr>
              <a:t>BT-131 to the Minor Unit</a:t>
            </a:r>
          </a:p>
        </p:txBody>
      </p:sp>
      <p:sp>
        <p:nvSpPr>
          <p:cNvPr id="11" name="Frame 11"/>
          <p:cNvSpPr/>
          <p:nvPr/>
        </p:nvSpPr>
        <p:spPr>
          <a:xfrm>
            <a:off x="694944" y="2240280"/>
            <a:ext cx="7022592" cy="1709928"/>
          </a:xfrm>
          <a:prstGeom prst="roundRect">
            <a:avLst>
              <a:gd name="adj" fmla="val 5529"/>
            </a:avLst>
          </a:prstGeom>
          <a:solidFill>
            <a:srgbClr val="EEF4FC"/>
          </a:solidFill>
          <a:ln w="19050">
            <a:solidFill>
              <a:srgbClr val="2F7FD8"/>
            </a:solidFill>
            <a:prstDash val="solid"/>
          </a:ln>
        </p:spPr>
        <p:txBody>
          <a:bodyPr/>
          <a:lstStyle/>
          <a:p>
            <a:endParaRPr lang="en-GB"/>
          </a:p>
        </p:txBody>
      </p:sp>
      <p:sp>
        <p:nvSpPr>
          <p:cNvPr id="12" name="Text 12"/>
          <p:cNvSpPr txBox="1"/>
          <p:nvPr/>
        </p:nvSpPr>
        <p:spPr>
          <a:xfrm>
            <a:off x="868680" y="2267712"/>
            <a:ext cx="4572000" cy="182880"/>
          </a:xfrm>
          <a:prstGeom prst="rect">
            <a:avLst/>
          </a:prstGeom>
          <a:noFill/>
          <a:ln/>
        </p:spPr>
        <p:txBody>
          <a:bodyPr wrap="square" lIns="0" tIns="0" rIns="0" bIns="0" rtlCol="0" anchor="ctr"/>
          <a:lstStyle/>
          <a:p>
            <a:pPr marL="0" indent="0" algn="l">
              <a:buNone/>
            </a:pPr>
            <a:r>
              <a:rPr lang="en-GB" sz="850" spc="150" dirty="0">
                <a:solidFill>
                  <a:srgbClr val="2F7FD8"/>
                </a:solidFill>
                <a:latin typeface="Inter SemiBold Text SemiBold" pitchFamily="34" charset="0"/>
                <a:ea typeface="Inter SemiBold Text SemiBold" pitchFamily="34" charset="-122"/>
                <a:cs typeface="Inter SemiBold Text SemiBold" pitchFamily="34" charset="-120"/>
              </a:rPr>
              <a:t>INPUT &amp; INTERMEDIATE VALUES</a:t>
            </a:r>
          </a:p>
        </p:txBody>
      </p:sp>
      <p:sp>
        <p:nvSpPr>
          <p:cNvPr id="13" name="Frame 13"/>
          <p:cNvSpPr/>
          <p:nvPr/>
        </p:nvSpPr>
        <p:spPr>
          <a:xfrm>
            <a:off x="694944" y="4023360"/>
            <a:ext cx="7022592" cy="2203704"/>
          </a:xfrm>
          <a:prstGeom prst="roundRect">
            <a:avLst>
              <a:gd name="adj" fmla="val 5529"/>
            </a:avLst>
          </a:prstGeom>
          <a:solidFill>
            <a:srgbClr val="F4F0FC"/>
          </a:solidFill>
          <a:ln w="19050">
            <a:solidFill>
              <a:srgbClr val="7B57D1"/>
            </a:solidFill>
            <a:prstDash val="solid"/>
          </a:ln>
        </p:spPr>
        <p:txBody>
          <a:bodyPr/>
          <a:lstStyle/>
          <a:p>
            <a:endParaRPr lang="en-GB"/>
          </a:p>
        </p:txBody>
      </p:sp>
      <p:sp>
        <p:nvSpPr>
          <p:cNvPr id="14" name="Text 14"/>
          <p:cNvSpPr txBox="1"/>
          <p:nvPr/>
        </p:nvSpPr>
        <p:spPr>
          <a:xfrm>
            <a:off x="868680" y="4050792"/>
            <a:ext cx="4572000" cy="182880"/>
          </a:xfrm>
          <a:prstGeom prst="rect">
            <a:avLst/>
          </a:prstGeom>
          <a:noFill/>
          <a:ln/>
        </p:spPr>
        <p:txBody>
          <a:bodyPr wrap="square" lIns="0" tIns="0" rIns="0" bIns="0" rtlCol="0" anchor="ctr"/>
          <a:lstStyle/>
          <a:p>
            <a:pPr marL="0" indent="0" algn="l">
              <a:buNone/>
            </a:pPr>
            <a:r>
              <a:rPr lang="en-GB" sz="850" spc="150" dirty="0">
                <a:solidFill>
                  <a:srgbClr val="7B57D1"/>
                </a:solidFill>
                <a:latin typeface="Inter SemiBold Text SemiBold" pitchFamily="34" charset="0"/>
                <a:ea typeface="Inter SemiBold Text SemiBold" pitchFamily="34" charset="-122"/>
                <a:cs typeface="Inter SemiBold Text SemiBold" pitchFamily="34" charset="-120"/>
              </a:rPr>
              <a:t>FINAL RESULTS</a:t>
            </a:r>
          </a:p>
        </p:txBody>
      </p:sp>
      <p:sp>
        <p:nvSpPr>
          <p:cNvPr id="15" name="Card 15"/>
          <p:cNvSpPr/>
          <p:nvPr/>
        </p:nvSpPr>
        <p:spPr>
          <a:xfrm>
            <a:off x="822960" y="2450592"/>
            <a:ext cx="6766560" cy="457200"/>
          </a:xfrm>
          <a:prstGeom prst="roundRect">
            <a:avLst>
              <a:gd name="adj" fmla="val 11666"/>
            </a:avLst>
          </a:prstGeom>
          <a:solidFill>
            <a:srgbClr val="FFFFFF"/>
          </a:solidFill>
          <a:ln w="12700">
            <a:solidFill>
              <a:srgbClr val="E2E7F2"/>
            </a:solidFill>
            <a:prstDash val="solid"/>
          </a:ln>
          <a:effectLst>
            <a:outerShdw blurRad="101600" dist="38100" dir="5400000" algn="bl" rotWithShape="0">
              <a:srgbClr val="0A1230">
                <a:alpha val="8000"/>
              </a:srgbClr>
            </a:outerShdw>
          </a:effectLst>
        </p:spPr>
        <p:txBody>
          <a:bodyPr/>
          <a:lstStyle/>
          <a:p>
            <a:endParaRPr lang="en-GB"/>
          </a:p>
        </p:txBody>
      </p:sp>
      <p:sp>
        <p:nvSpPr>
          <p:cNvPr id="16" name="Pill 16"/>
          <p:cNvSpPr/>
          <p:nvPr/>
        </p:nvSpPr>
        <p:spPr>
          <a:xfrm>
            <a:off x="960120" y="2549652"/>
            <a:ext cx="685800" cy="259080"/>
          </a:xfrm>
          <a:prstGeom prst="roundRect">
            <a:avLst>
              <a:gd name="adj" fmla="val 50000"/>
            </a:avLst>
          </a:prstGeom>
          <a:solidFill>
            <a:srgbClr val="D32F2F"/>
          </a:solidFill>
          <a:ln>
            <a:noFill/>
          </a:ln>
        </p:spPr>
        <p:txBody>
          <a:bodyPr wrap="square" lIns="36576" tIns="36576" rIns="36576" bIns="36576" rtlCol="0" anchor="ctr"/>
          <a:lstStyle/>
          <a:p>
            <a:pPr marL="0" indent="0" algn="ctr">
              <a:buNone/>
            </a:pPr>
            <a:r>
              <a:rPr lang="en-GB" sz="1150" dirty="0">
                <a:solidFill>
                  <a:srgbClr val="FFFFFF"/>
                </a:solidFill>
                <a:latin typeface="Inter SemiBold Text SemiBold" pitchFamily="34" charset="0"/>
                <a:ea typeface="Inter SemiBold Text SemiBold" pitchFamily="34" charset="-122"/>
                <a:cs typeface="Inter SemiBold Text SemiBold" pitchFamily="34" charset="-120"/>
              </a:rPr>
              <a:t>BT-146</a:t>
            </a:r>
          </a:p>
        </p:txBody>
      </p:sp>
      <p:sp>
        <p:nvSpPr>
          <p:cNvPr id="17" name="Text 17"/>
          <p:cNvSpPr txBox="1"/>
          <p:nvPr/>
        </p:nvSpPr>
        <p:spPr>
          <a:xfrm>
            <a:off x="1965960" y="2465832"/>
            <a:ext cx="2788920" cy="198120"/>
          </a:xfrm>
          <a:prstGeom prst="rect">
            <a:avLst/>
          </a:prstGeom>
          <a:noFill/>
          <a:ln/>
        </p:spPr>
        <p:txBody>
          <a:bodyPr wrap="none" lIns="0" tIns="0" rIns="0" bIns="0" rtlCol="0" anchor="ctr"/>
          <a:lstStyle/>
          <a:p>
            <a:pPr marL="0" indent="0" algn="l">
              <a:buNone/>
            </a:pPr>
            <a:r>
              <a:rPr lang="en-GB" sz="1150" dirty="0">
                <a:solidFill>
                  <a:srgbClr val="1A2B5E"/>
                </a:solidFill>
                <a:latin typeface="Inter SemiBold Text SemiBold" pitchFamily="34" charset="0"/>
                <a:ea typeface="Inter SemiBold Text SemiBold" pitchFamily="34" charset="-122"/>
                <a:cs typeface="Inter SemiBold Text SemiBold" pitchFamily="34" charset="-120"/>
              </a:rPr>
              <a:t>Item net price</a:t>
            </a:r>
          </a:p>
        </p:txBody>
      </p:sp>
      <p:sp>
        <p:nvSpPr>
          <p:cNvPr id="18" name="Text 18"/>
          <p:cNvSpPr txBox="1"/>
          <p:nvPr/>
        </p:nvSpPr>
        <p:spPr>
          <a:xfrm>
            <a:off x="1965960" y="2656332"/>
            <a:ext cx="2788920" cy="243840"/>
          </a:xfrm>
          <a:prstGeom prst="rect">
            <a:avLst/>
          </a:prstGeom>
          <a:noFill/>
          <a:ln/>
        </p:spPr>
        <p:txBody>
          <a:bodyPr wrap="square" lIns="0" tIns="0" rIns="0" bIns="0" rtlCol="0" anchor="t"/>
          <a:lstStyle/>
          <a:p>
            <a:pPr marL="0" indent="0" algn="l">
              <a:lnSpc>
                <a:spcPct val="95000"/>
              </a:lnSpc>
              <a:buNone/>
            </a:pPr>
            <a:r>
              <a:rPr lang="en-GB" sz="800" dirty="0">
                <a:solidFill>
                  <a:srgbClr val="5B6890"/>
                </a:solidFill>
                <a:latin typeface="Inter Text" pitchFamily="34" charset="0"/>
                <a:ea typeface="Inter Text" pitchFamily="34" charset="-122"/>
                <a:cs typeface="Inter Text" pitchFamily="34" charset="-120"/>
              </a:rPr>
              <a:t>= </a:t>
            </a:r>
            <a:r>
              <a:rPr lang="en-GB" sz="800" dirty="0">
                <a:solidFill>
                  <a:srgbClr val="1A2B5E"/>
                </a:solidFill>
                <a:latin typeface="Inter SemiBold Text SemiBold" pitchFamily="34" charset="0"/>
                <a:ea typeface="Inter SemiBold Text SemiBold" pitchFamily="34" charset="-122"/>
                <a:cs typeface="Inter SemiBold Text SemiBold" pitchFamily="34" charset="-120"/>
              </a:rPr>
              <a:t>BT-148</a:t>
            </a:r>
            <a:r>
              <a:rPr lang="en-GB" sz="800" dirty="0">
                <a:solidFill>
                  <a:srgbClr val="5B6890"/>
                </a:solidFill>
                <a:latin typeface="Inter Text" pitchFamily="34" charset="0"/>
                <a:ea typeface="Inter Text" pitchFamily="34" charset="-122"/>
                <a:cs typeface="Inter Text" pitchFamily="34" charset="-120"/>
              </a:rPr>
              <a:t> − </a:t>
            </a:r>
            <a:r>
              <a:rPr lang="en-GB" sz="800" dirty="0">
                <a:solidFill>
                  <a:srgbClr val="1A2B5E"/>
                </a:solidFill>
                <a:latin typeface="Inter SemiBold Text SemiBold" pitchFamily="34" charset="0"/>
                <a:ea typeface="Inter SemiBold Text SemiBold" pitchFamily="34" charset="-122"/>
                <a:cs typeface="Inter SemiBold Text SemiBold" pitchFamily="34" charset="-120"/>
              </a:rPr>
              <a:t>BT-147</a:t>
            </a:r>
            <a:r>
              <a:rPr lang="en-GB" sz="800" dirty="0">
                <a:solidFill>
                  <a:srgbClr val="5B6890"/>
                </a:solidFill>
                <a:latin typeface="Inter Text" pitchFamily="34" charset="0"/>
                <a:ea typeface="Inter Text" pitchFamily="34" charset="-122"/>
                <a:cs typeface="Inter Text" pitchFamily="34" charset="-120"/>
              </a:rPr>
              <a:t/>
            </a:r>
          </a:p>
        </p:txBody>
      </p:sp>
      <p:sp>
        <p:nvSpPr>
          <p:cNvPr id="19" name="Pill 19"/>
          <p:cNvSpPr/>
          <p:nvPr/>
        </p:nvSpPr>
        <p:spPr>
          <a:xfrm>
            <a:off x="4773168" y="2503932"/>
            <a:ext cx="1207008" cy="350520"/>
          </a:xfrm>
          <a:prstGeom prst="roundRect">
            <a:avLst>
              <a:gd name="adj" fmla="val 50000"/>
            </a:avLst>
          </a:prstGeom>
          <a:solidFill>
            <a:srgbClr val="FCEDEB"/>
          </a:solidFill>
          <a:ln w="9525">
            <a:solidFill>
              <a:srgbClr val="F2C4BE"/>
            </a:solidFill>
            <a:prstDash val="solid"/>
          </a:ln>
        </p:spPr>
        <p:txBody>
          <a:bodyPr wrap="square" lIns="18288" tIns="18288" rIns="18288" bIns="18288" rtlCol="0" anchor="ctr"/>
          <a:lstStyle/>
          <a:p>
            <a:pPr marL="0" indent="0" algn="ctr">
              <a:buNone/>
            </a:pPr>
            <a:r>
              <a:rPr lang="en-GB" sz="1000" dirty="0">
                <a:solidFill>
                  <a:srgbClr val="C0392B"/>
                </a:solidFill>
                <a:latin typeface="Inter SemiBold Text SemiBold" pitchFamily="34" charset="0"/>
                <a:ea typeface="Inter SemiBold Text SemiBold" pitchFamily="34" charset="-122"/>
                <a:cs typeface="Inter SemiBold Text SemiBold" pitchFamily="34" charset="-120"/>
              </a:rPr>
              <a:t>Minor Unit + 2</a:t>
            </a:r>
          </a:p>
          <a:p>
            <a:pPr marL="0" indent="0" algn="ctr">
              <a:buNone/>
            </a:pPr>
            <a:r>
              <a:rPr lang="en-GB" sz="800" dirty="0">
                <a:solidFill>
                  <a:srgbClr val="C0392B"/>
                </a:solidFill>
                <a:latin typeface="Inter Text" pitchFamily="34" charset="0"/>
                <a:ea typeface="Inter Text" pitchFamily="34" charset="-122"/>
                <a:cs typeface="Inter Text" pitchFamily="34" charset="-120"/>
              </a:rPr>
              <a:t>interim rounding</a:t>
            </a:r>
          </a:p>
        </p:txBody>
      </p:sp>
      <p:sp>
        <p:nvSpPr>
          <p:cNvPr id="20" name="Text 20"/>
          <p:cNvSpPr txBox="1"/>
          <p:nvPr/>
        </p:nvSpPr>
        <p:spPr>
          <a:xfrm>
            <a:off x="5989320" y="2481072"/>
            <a:ext cx="1508760" cy="243840"/>
          </a:xfrm>
          <a:prstGeom prst="rect">
            <a:avLst/>
          </a:prstGeom>
          <a:noFill/>
          <a:ln/>
        </p:spPr>
        <p:txBody>
          <a:bodyPr wrap="square" lIns="0" tIns="0" rIns="0" bIns="0" rtlCol="0" anchor="ctr"/>
          <a:lstStyle/>
          <a:p>
            <a:pPr marL="0" indent="0" algn="r">
              <a:buNone/>
            </a:pPr>
            <a:r>
              <a:rPr lang="en-GB" sz="1300" b="1" dirty="0">
                <a:solidFill>
                  <a:srgbClr val="C0392B"/>
                </a:solidFill>
                <a:latin typeface="Consolas" pitchFamily="34" charset="0"/>
                <a:ea typeface="Consolas" pitchFamily="34" charset="-122"/>
                <a:cs typeface="Consolas" pitchFamily="34" charset="-120"/>
              </a:rPr>
              <a:t>± €0.00005</a:t>
            </a:r>
          </a:p>
        </p:txBody>
      </p:sp>
      <p:sp>
        <p:nvSpPr>
          <p:cNvPr id="21" name="Text 21"/>
          <p:cNvSpPr txBox="1"/>
          <p:nvPr/>
        </p:nvSpPr>
        <p:spPr>
          <a:xfrm>
            <a:off x="5577840" y="2717292"/>
            <a:ext cx="1920240" cy="167640"/>
          </a:xfrm>
          <a:prstGeom prst="rect">
            <a:avLst/>
          </a:prstGeom>
          <a:noFill/>
          <a:ln/>
        </p:spPr>
        <p:txBody>
          <a:bodyPr wrap="square" lIns="0" tIns="0" rIns="0" bIns="0" rtlCol="0" anchor="ctr"/>
          <a:lstStyle/>
          <a:p>
            <a:pPr marL="0" indent="0" algn="r">
              <a:buNone/>
            </a:pPr>
            <a:r>
              <a:rPr lang="en-GB" sz="850" dirty="0">
                <a:solidFill>
                  <a:srgbClr val="9AA4C2"/>
                </a:solidFill>
                <a:latin typeface="Inter Text" pitchFamily="34" charset="0"/>
                <a:ea typeface="Inter Text" pitchFamily="34" charset="-122"/>
                <a:cs typeface="Inter Text" pitchFamily="34" charset="-120"/>
              </a:rPr>
              <a:t>price rounded once</a:t>
            </a:r>
          </a:p>
        </p:txBody>
      </p:sp>
      <p:cxnSp>
        <p:nvCxnSpPr>
          <p:cNvPr id="22" name="Connector 22"/>
          <p:cNvCxnSpPr/>
          <p:nvPr/>
        </p:nvCxnSpPr>
        <p:spPr>
          <a:xfrm>
            <a:off x="1303020" y="2907792"/>
            <a:ext cx="0" cy="36576"/>
          </a:xfrm>
          <a:prstGeom prst="line">
            <a:avLst/>
          </a:prstGeom>
          <a:ln w="15875">
            <a:solidFill>
              <a:srgbClr val="9AA4C2"/>
            </a:solidFill>
          </a:ln>
        </p:spPr>
      </p:cxnSp>
      <p:sp>
        <p:nvSpPr>
          <p:cNvPr id="23" name="Card 23"/>
          <p:cNvSpPr/>
          <p:nvPr/>
        </p:nvSpPr>
        <p:spPr>
          <a:xfrm>
            <a:off x="822960" y="2944368"/>
            <a:ext cx="6766560" cy="457200"/>
          </a:xfrm>
          <a:prstGeom prst="roundRect">
            <a:avLst>
              <a:gd name="adj" fmla="val 11666"/>
            </a:avLst>
          </a:prstGeom>
          <a:solidFill>
            <a:srgbClr val="FFFFFF"/>
          </a:solidFill>
          <a:ln w="12700">
            <a:solidFill>
              <a:srgbClr val="E2E7F2"/>
            </a:solidFill>
            <a:prstDash val="solid"/>
          </a:ln>
          <a:effectLst>
            <a:outerShdw blurRad="101600" dist="38100" dir="5400000" algn="bl" rotWithShape="0">
              <a:srgbClr val="0A1230">
                <a:alpha val="8000"/>
              </a:srgbClr>
            </a:outerShdw>
          </a:effectLst>
        </p:spPr>
        <p:txBody>
          <a:bodyPr/>
          <a:lstStyle/>
          <a:p>
            <a:endParaRPr lang="en-GB"/>
          </a:p>
        </p:txBody>
      </p:sp>
      <p:sp>
        <p:nvSpPr>
          <p:cNvPr id="24" name="Pill 24"/>
          <p:cNvSpPr/>
          <p:nvPr/>
        </p:nvSpPr>
        <p:spPr>
          <a:xfrm>
            <a:off x="960120" y="3043428"/>
            <a:ext cx="685800" cy="259080"/>
          </a:xfrm>
          <a:prstGeom prst="roundRect">
            <a:avLst>
              <a:gd name="adj" fmla="val 50000"/>
            </a:avLst>
          </a:prstGeom>
          <a:solidFill>
            <a:srgbClr val="EF6C00"/>
          </a:solidFill>
          <a:ln>
            <a:noFill/>
          </a:ln>
        </p:spPr>
        <p:txBody>
          <a:bodyPr wrap="square" lIns="36576" tIns="36576" rIns="36576" bIns="36576" rtlCol="0" anchor="ctr"/>
          <a:lstStyle/>
          <a:p>
            <a:pPr marL="0" indent="0" algn="ctr">
              <a:buNone/>
            </a:pPr>
            <a:r>
              <a:rPr lang="en-GB" sz="1150" dirty="0">
                <a:solidFill>
                  <a:srgbClr val="FFFFFF"/>
                </a:solidFill>
                <a:latin typeface="Inter SemiBold Text SemiBold" pitchFamily="34" charset="0"/>
                <a:ea typeface="Inter SemiBold Text SemiBold" pitchFamily="34" charset="-122"/>
                <a:cs typeface="Inter SemiBold Text SemiBold" pitchFamily="34" charset="-120"/>
              </a:rPr>
              <a:t>BT-131</a:t>
            </a:r>
          </a:p>
        </p:txBody>
      </p:sp>
      <p:sp>
        <p:nvSpPr>
          <p:cNvPr id="25" name="Text 25"/>
          <p:cNvSpPr txBox="1"/>
          <p:nvPr/>
        </p:nvSpPr>
        <p:spPr>
          <a:xfrm>
            <a:off x="1965960" y="2959608"/>
            <a:ext cx="2788920" cy="198120"/>
          </a:xfrm>
          <a:prstGeom prst="rect">
            <a:avLst/>
          </a:prstGeom>
          <a:noFill/>
          <a:ln/>
        </p:spPr>
        <p:txBody>
          <a:bodyPr wrap="none" lIns="0" tIns="0" rIns="0" bIns="0" rtlCol="0" anchor="ctr"/>
          <a:lstStyle/>
          <a:p>
            <a:pPr marL="0" indent="0" algn="l">
              <a:buNone/>
            </a:pPr>
            <a:r>
              <a:rPr lang="en-GB" sz="1150" dirty="0">
                <a:solidFill>
                  <a:srgbClr val="1A2B5E"/>
                </a:solidFill>
                <a:latin typeface="Inter SemiBold Text SemiBold" pitchFamily="34" charset="0"/>
                <a:ea typeface="Inter SemiBold Text SemiBold" pitchFamily="34" charset="-122"/>
                <a:cs typeface="Inter SemiBold Text SemiBold" pitchFamily="34" charset="-120"/>
              </a:rPr>
              <a:t>Invoice line net amount</a:t>
            </a:r>
          </a:p>
        </p:txBody>
      </p:sp>
      <p:sp>
        <p:nvSpPr>
          <p:cNvPr id="26" name="Text 26"/>
          <p:cNvSpPr txBox="1"/>
          <p:nvPr/>
        </p:nvSpPr>
        <p:spPr>
          <a:xfrm>
            <a:off x="1965960" y="3150108"/>
            <a:ext cx="2788920" cy="243840"/>
          </a:xfrm>
          <a:prstGeom prst="rect">
            <a:avLst/>
          </a:prstGeom>
          <a:noFill/>
          <a:ln/>
        </p:spPr>
        <p:txBody>
          <a:bodyPr wrap="square" lIns="0" tIns="0" rIns="0" bIns="0" rtlCol="0" anchor="t"/>
          <a:lstStyle/>
          <a:p>
            <a:pPr marL="0" indent="0" algn="l">
              <a:lnSpc>
                <a:spcPct val="95000"/>
              </a:lnSpc>
              <a:buNone/>
            </a:pPr>
            <a:r>
              <a:rPr lang="en-GB" sz="800" dirty="0">
                <a:solidFill>
                  <a:srgbClr val="5B6890"/>
                </a:solidFill>
                <a:latin typeface="Inter Text" pitchFamily="34" charset="0"/>
                <a:ea typeface="Inter Text" pitchFamily="34" charset="-122"/>
                <a:cs typeface="Inter Text" pitchFamily="34" charset="-120"/>
              </a:rPr>
              <a:t>= </a:t>
            </a:r>
            <a:r>
              <a:rPr lang="en-GB" sz="800" b="1" dirty="0">
                <a:solidFill>
                  <a:srgbClr val="D32F2F"/>
                </a:solidFill>
                <a:latin typeface="Inter SemiBold Text SemiBold" pitchFamily="34" charset="0"/>
                <a:ea typeface="Inter SemiBold Text SemiBold" pitchFamily="34" charset="-122"/>
                <a:cs typeface="Inter SemiBold Text SemiBold" pitchFamily="34" charset="-120"/>
              </a:rPr>
              <a:t>BT-146</a:t>
            </a:r>
            <a:r>
              <a:rPr lang="en-GB" sz="800" dirty="0">
                <a:solidFill>
                  <a:srgbClr val="5B6890"/>
                </a:solidFill>
                <a:latin typeface="Inter Text" pitchFamily="34" charset="0"/>
                <a:ea typeface="Inter Text" pitchFamily="34" charset="-122"/>
                <a:cs typeface="Inter Text" pitchFamily="34" charset="-120"/>
              </a:rPr>
              <a:t> × </a:t>
            </a:r>
            <a:r>
              <a:rPr lang="en-GB" sz="800" dirty="0">
                <a:solidFill>
                  <a:srgbClr val="1A2B5E"/>
                </a:solidFill>
                <a:latin typeface="Inter SemiBold Text SemiBold" pitchFamily="34" charset="0"/>
                <a:ea typeface="Inter SemiBold Text SemiBold" pitchFamily="34" charset="-122"/>
                <a:cs typeface="Inter SemiBold Text SemiBold" pitchFamily="34" charset="-120"/>
              </a:rPr>
              <a:t>BT-129</a:t>
            </a:r>
            <a:r>
              <a:rPr lang="en-GB" sz="800" dirty="0">
                <a:solidFill>
                  <a:srgbClr val="5B6890"/>
                </a:solidFill>
                <a:latin typeface="Inter Text" pitchFamily="34" charset="0"/>
                <a:ea typeface="Inter Text" pitchFamily="34" charset="-122"/>
                <a:cs typeface="Inter Text" pitchFamily="34" charset="-120"/>
              </a:rPr>
              <a:t> ÷ </a:t>
            </a:r>
            <a:r>
              <a:rPr lang="en-GB" sz="800" dirty="0">
                <a:solidFill>
                  <a:srgbClr val="1A2B5E"/>
                </a:solidFill>
                <a:latin typeface="Inter SemiBold Text SemiBold" pitchFamily="34" charset="0"/>
                <a:ea typeface="Inter SemiBold Text SemiBold" pitchFamily="34" charset="-122"/>
                <a:cs typeface="Inter SemiBold Text SemiBold" pitchFamily="34" charset="-120"/>
              </a:rPr>
              <a:t>BT-149</a:t>
            </a:r>
            <a:r>
              <a:rPr lang="en-GB" sz="800" dirty="0">
                <a:solidFill>
                  <a:srgbClr val="5B6890"/>
                </a:solidFill>
                <a:latin typeface="Inter Text" pitchFamily="34" charset="0"/>
                <a:ea typeface="Inter Text" pitchFamily="34" charset="-122"/>
                <a:cs typeface="Inter Text" pitchFamily="34" charset="-120"/>
              </a:rPr>
              <a:t> + Σ </a:t>
            </a:r>
            <a:r>
              <a:rPr lang="en-GB" sz="800" dirty="0">
                <a:solidFill>
                  <a:srgbClr val="1A2B5E"/>
                </a:solidFill>
                <a:latin typeface="Inter SemiBold Text SemiBold" pitchFamily="34" charset="0"/>
                <a:ea typeface="Inter SemiBold Text SemiBold" pitchFamily="34" charset="-122"/>
                <a:cs typeface="Inter SemiBold Text SemiBold" pitchFamily="34" charset="-120"/>
              </a:rPr>
              <a:t>BT-141</a:t>
            </a:r>
            <a:r>
              <a:rPr lang="en-GB" sz="800" dirty="0">
                <a:solidFill>
                  <a:srgbClr val="5B6890"/>
                </a:solidFill>
                <a:latin typeface="Inter Text" pitchFamily="34" charset="0"/>
                <a:ea typeface="Inter Text" pitchFamily="34" charset="-122"/>
                <a:cs typeface="Inter Text" pitchFamily="34" charset="-120"/>
              </a:rPr>
              <a:t> − Σ </a:t>
            </a:r>
            <a:r>
              <a:rPr lang="en-GB" sz="800" dirty="0">
                <a:solidFill>
                  <a:srgbClr val="1A2B5E"/>
                </a:solidFill>
                <a:latin typeface="Inter SemiBold Text SemiBold" pitchFamily="34" charset="0"/>
                <a:ea typeface="Inter SemiBold Text SemiBold" pitchFamily="34" charset="-122"/>
                <a:cs typeface="Inter SemiBold Text SemiBold" pitchFamily="34" charset="-120"/>
              </a:rPr>
              <a:t>BT-136</a:t>
            </a:r>
            <a:r>
              <a:rPr lang="en-GB" sz="800" dirty="0">
                <a:solidFill>
                  <a:srgbClr val="5B6890"/>
                </a:solidFill>
                <a:latin typeface="Inter Text" pitchFamily="34" charset="0"/>
                <a:ea typeface="Inter Text" pitchFamily="34" charset="-122"/>
                <a:cs typeface="Inter Text" pitchFamily="34" charset="-120"/>
              </a:rPr>
              <a:t/>
            </a:r>
          </a:p>
        </p:txBody>
      </p:sp>
      <p:sp>
        <p:nvSpPr>
          <p:cNvPr id="27" name="Pill 27"/>
          <p:cNvSpPr/>
          <p:nvPr/>
        </p:nvSpPr>
        <p:spPr>
          <a:xfrm>
            <a:off x="4773168" y="2997708"/>
            <a:ext cx="1207008" cy="350520"/>
          </a:xfrm>
          <a:prstGeom prst="roundRect">
            <a:avLst>
              <a:gd name="adj" fmla="val 50000"/>
            </a:avLst>
          </a:prstGeom>
          <a:solidFill>
            <a:srgbClr val="FCEDEB"/>
          </a:solidFill>
          <a:ln w="9525">
            <a:solidFill>
              <a:srgbClr val="F2C4BE"/>
            </a:solidFill>
            <a:prstDash val="solid"/>
          </a:ln>
        </p:spPr>
        <p:txBody>
          <a:bodyPr wrap="square" lIns="18288" tIns="18288" rIns="18288" bIns="18288" rtlCol="0" anchor="ctr"/>
          <a:lstStyle/>
          <a:p>
            <a:pPr marL="0" indent="0" algn="ctr">
              <a:buNone/>
            </a:pPr>
            <a:r>
              <a:rPr lang="en-GB" sz="1150" dirty="0">
                <a:solidFill>
                  <a:srgbClr val="C0392B"/>
                </a:solidFill>
                <a:latin typeface="Inter SemiBold Text SemiBold" pitchFamily="34" charset="0"/>
                <a:ea typeface="Inter SemiBold Text SemiBold" pitchFamily="34" charset="-122"/>
                <a:cs typeface="Inter SemiBold Text SemiBold" pitchFamily="34" charset="-120"/>
              </a:rPr>
              <a:t>Minor Unit</a:t>
            </a:r>
          </a:p>
          <a:p>
            <a:pPr marL="0" indent="0" algn="ctr">
              <a:buNone/>
            </a:pPr>
            <a:r>
              <a:rPr lang="en-GB" sz="800" dirty="0">
                <a:solidFill>
                  <a:srgbClr val="C0392B"/>
                </a:solidFill>
                <a:latin typeface="Inter Text" pitchFamily="34" charset="0"/>
                <a:ea typeface="Inter Text" pitchFamily="34" charset="-122"/>
                <a:cs typeface="Inter Text" pitchFamily="34" charset="-120"/>
              </a:rPr>
              <a:t>interim rounding</a:t>
            </a:r>
          </a:p>
        </p:txBody>
      </p:sp>
      <p:sp>
        <p:nvSpPr>
          <p:cNvPr id="28" name="Text 28"/>
          <p:cNvSpPr txBox="1"/>
          <p:nvPr/>
        </p:nvSpPr>
        <p:spPr>
          <a:xfrm>
            <a:off x="5989320" y="2974848"/>
            <a:ext cx="1508760" cy="243840"/>
          </a:xfrm>
          <a:prstGeom prst="rect">
            <a:avLst/>
          </a:prstGeom>
          <a:noFill/>
          <a:ln/>
        </p:spPr>
        <p:txBody>
          <a:bodyPr wrap="square" lIns="0" tIns="0" rIns="0" bIns="0" rtlCol="0" anchor="ctr"/>
          <a:lstStyle/>
          <a:p>
            <a:pPr marL="0" indent="0" algn="r">
              <a:buNone/>
            </a:pPr>
            <a:r>
              <a:rPr lang="en-GB" sz="1300" b="1" dirty="0">
                <a:solidFill>
                  <a:srgbClr val="C0392B"/>
                </a:solidFill>
                <a:latin typeface="Consolas" pitchFamily="34" charset="0"/>
                <a:ea typeface="Consolas" pitchFamily="34" charset="-122"/>
                <a:cs typeface="Consolas" pitchFamily="34" charset="-120"/>
              </a:rPr>
              <a:t>± €0.01</a:t>
            </a:r>
          </a:p>
        </p:txBody>
      </p:sp>
      <p:sp>
        <p:nvSpPr>
          <p:cNvPr id="29" name="Text 29"/>
          <p:cNvSpPr txBox="1"/>
          <p:nvPr/>
        </p:nvSpPr>
        <p:spPr>
          <a:xfrm>
            <a:off x="5577840" y="3211068"/>
            <a:ext cx="1920240" cy="167640"/>
          </a:xfrm>
          <a:prstGeom prst="rect">
            <a:avLst/>
          </a:prstGeom>
          <a:noFill/>
          <a:ln/>
        </p:spPr>
        <p:txBody>
          <a:bodyPr wrap="square" lIns="0" tIns="0" rIns="0" bIns="0" rtlCol="0" anchor="ctr"/>
          <a:lstStyle/>
          <a:p>
            <a:pPr marL="0" indent="0" algn="r">
              <a:buNone/>
            </a:pPr>
            <a:r>
              <a:rPr lang="en-GB" sz="850" dirty="0">
                <a:solidFill>
                  <a:srgbClr val="9AA4C2"/>
                </a:solidFill>
                <a:latin typeface="Inter Text" pitchFamily="34" charset="0"/>
                <a:ea typeface="Inter Text" pitchFamily="34" charset="-122"/>
                <a:cs typeface="Inter Text" pitchFamily="34" charset="-120"/>
              </a:rPr>
              <a:t>€0.005 + 100 × €0.00005</a:t>
            </a:r>
          </a:p>
        </p:txBody>
      </p:sp>
      <p:cxnSp>
        <p:nvCxnSpPr>
          <p:cNvPr id="30" name="Connector 30"/>
          <p:cNvCxnSpPr/>
          <p:nvPr/>
        </p:nvCxnSpPr>
        <p:spPr>
          <a:xfrm>
            <a:off x="1303020" y="3401568"/>
            <a:ext cx="0" cy="36576"/>
          </a:xfrm>
          <a:prstGeom prst="line">
            <a:avLst/>
          </a:prstGeom>
          <a:ln w="15875">
            <a:solidFill>
              <a:srgbClr val="9AA4C2"/>
            </a:solidFill>
          </a:ln>
        </p:spPr>
      </p:cxnSp>
      <p:sp>
        <p:nvSpPr>
          <p:cNvPr id="31" name="Card 31"/>
          <p:cNvSpPr/>
          <p:nvPr/>
        </p:nvSpPr>
        <p:spPr>
          <a:xfrm>
            <a:off x="822960" y="3438144"/>
            <a:ext cx="6766560" cy="457200"/>
          </a:xfrm>
          <a:prstGeom prst="roundRect">
            <a:avLst>
              <a:gd name="adj" fmla="val 11666"/>
            </a:avLst>
          </a:prstGeom>
          <a:solidFill>
            <a:srgbClr val="FFFFFF"/>
          </a:solidFill>
          <a:ln w="12700">
            <a:solidFill>
              <a:srgbClr val="E2E7F2"/>
            </a:solidFill>
            <a:prstDash val="solid"/>
          </a:ln>
          <a:effectLst>
            <a:outerShdw blurRad="101600" dist="38100" dir="5400000" algn="bl" rotWithShape="0">
              <a:srgbClr val="0A1230">
                <a:alpha val="8000"/>
              </a:srgbClr>
            </a:outerShdw>
          </a:effectLst>
        </p:spPr>
        <p:txBody>
          <a:bodyPr/>
          <a:lstStyle/>
          <a:p>
            <a:endParaRPr lang="en-GB"/>
          </a:p>
        </p:txBody>
      </p:sp>
      <p:sp>
        <p:nvSpPr>
          <p:cNvPr id="32" name="Pill 32"/>
          <p:cNvSpPr/>
          <p:nvPr/>
        </p:nvSpPr>
        <p:spPr>
          <a:xfrm>
            <a:off x="960120" y="3537204"/>
            <a:ext cx="685800" cy="259080"/>
          </a:xfrm>
          <a:prstGeom prst="roundRect">
            <a:avLst>
              <a:gd name="adj" fmla="val 50000"/>
            </a:avLst>
          </a:prstGeom>
          <a:solidFill>
            <a:srgbClr val="C79100"/>
          </a:solidFill>
          <a:ln>
            <a:noFill/>
          </a:ln>
        </p:spPr>
        <p:txBody>
          <a:bodyPr wrap="square" lIns="36576" tIns="36576" rIns="36576" bIns="36576" rtlCol="0" anchor="ctr"/>
          <a:lstStyle/>
          <a:p>
            <a:pPr marL="0" indent="0" algn="ctr">
              <a:buNone/>
            </a:pPr>
            <a:r>
              <a:rPr lang="en-GB" sz="1150" dirty="0">
                <a:solidFill>
                  <a:srgbClr val="FFFFFF"/>
                </a:solidFill>
                <a:latin typeface="Inter SemiBold Text SemiBold" pitchFamily="34" charset="0"/>
                <a:ea typeface="Inter SemiBold Text SemiBold" pitchFamily="34" charset="-122"/>
                <a:cs typeface="Inter SemiBold Text SemiBold" pitchFamily="34" charset="-120"/>
              </a:rPr>
              <a:t>BT-106</a:t>
            </a:r>
          </a:p>
        </p:txBody>
      </p:sp>
      <p:sp>
        <p:nvSpPr>
          <p:cNvPr id="33" name="Text 33"/>
          <p:cNvSpPr txBox="1"/>
          <p:nvPr/>
        </p:nvSpPr>
        <p:spPr>
          <a:xfrm>
            <a:off x="1965960" y="3453384"/>
            <a:ext cx="2788920" cy="198120"/>
          </a:xfrm>
          <a:prstGeom prst="rect">
            <a:avLst/>
          </a:prstGeom>
          <a:noFill/>
          <a:ln/>
        </p:spPr>
        <p:txBody>
          <a:bodyPr wrap="none" lIns="0" tIns="0" rIns="0" bIns="0" rtlCol="0" anchor="ctr"/>
          <a:lstStyle/>
          <a:p>
            <a:pPr marL="0" indent="0" algn="l">
              <a:buNone/>
            </a:pPr>
            <a:r>
              <a:rPr lang="en-GB" sz="1150" dirty="0">
                <a:solidFill>
                  <a:srgbClr val="1A2B5E"/>
                </a:solidFill>
                <a:latin typeface="Inter SemiBold Text SemiBold" pitchFamily="34" charset="0"/>
                <a:ea typeface="Inter SemiBold Text SemiBold" pitchFamily="34" charset="-122"/>
                <a:cs typeface="Inter SemiBold Text SemiBold" pitchFamily="34" charset="-120"/>
              </a:rPr>
              <a:t>Sum of invoice line net amount</a:t>
            </a:r>
          </a:p>
        </p:txBody>
      </p:sp>
      <p:sp>
        <p:nvSpPr>
          <p:cNvPr id="34" name="Text 34"/>
          <p:cNvSpPr txBox="1"/>
          <p:nvPr/>
        </p:nvSpPr>
        <p:spPr>
          <a:xfrm>
            <a:off x="1965960" y="3643884"/>
            <a:ext cx="2788920" cy="243840"/>
          </a:xfrm>
          <a:prstGeom prst="rect">
            <a:avLst/>
          </a:prstGeom>
          <a:noFill/>
          <a:ln/>
        </p:spPr>
        <p:txBody>
          <a:bodyPr wrap="square" lIns="0" tIns="0" rIns="0" bIns="0" rtlCol="0" anchor="t"/>
          <a:lstStyle/>
          <a:p>
            <a:pPr marL="0" indent="0" algn="l">
              <a:lnSpc>
                <a:spcPct val="95000"/>
              </a:lnSpc>
              <a:buNone/>
            </a:pPr>
            <a:r>
              <a:rPr lang="en-GB" sz="800" dirty="0">
                <a:solidFill>
                  <a:srgbClr val="5B6890"/>
                </a:solidFill>
                <a:latin typeface="Inter Text" pitchFamily="34" charset="0"/>
                <a:ea typeface="Inter Text" pitchFamily="34" charset="-122"/>
                <a:cs typeface="Inter Text" pitchFamily="34" charset="-120"/>
              </a:rPr>
              <a:t>= Σ </a:t>
            </a:r>
            <a:r>
              <a:rPr lang="en-GB" sz="800" b="1" dirty="0">
                <a:solidFill>
                  <a:srgbClr val="EF6C00"/>
                </a:solidFill>
                <a:latin typeface="Inter SemiBold Text SemiBold" pitchFamily="34" charset="0"/>
                <a:ea typeface="Inter SemiBold Text SemiBold" pitchFamily="34" charset="-122"/>
                <a:cs typeface="Inter SemiBold Text SemiBold" pitchFamily="34" charset="-120"/>
              </a:rPr>
              <a:t>BT-131</a:t>
            </a:r>
            <a:r>
              <a:rPr lang="en-GB" sz="800" dirty="0">
                <a:solidFill>
                  <a:srgbClr val="5B6890"/>
                </a:solidFill>
                <a:latin typeface="Inter Text" pitchFamily="34" charset="0"/>
                <a:ea typeface="Inter Text" pitchFamily="34" charset="-122"/>
                <a:cs typeface="Inter Text" pitchFamily="34" charset="-120"/>
              </a:rPr>
              <a:t/>
            </a:r>
          </a:p>
        </p:txBody>
      </p:sp>
      <p:sp>
        <p:nvSpPr>
          <p:cNvPr id="35" name="Pill 35"/>
          <p:cNvSpPr/>
          <p:nvPr/>
        </p:nvSpPr>
        <p:spPr>
          <a:xfrm>
            <a:off x="4773168" y="3491484"/>
            <a:ext cx="1207008" cy="350520"/>
          </a:xfrm>
          <a:prstGeom prst="roundRect">
            <a:avLst>
              <a:gd name="adj" fmla="val 50000"/>
            </a:avLst>
          </a:prstGeom>
          <a:solidFill>
            <a:srgbClr val="FCEDEB"/>
          </a:solidFill>
          <a:ln w="9525">
            <a:solidFill>
              <a:srgbClr val="F2C4BE"/>
            </a:solidFill>
            <a:prstDash val="solid"/>
          </a:ln>
        </p:spPr>
        <p:txBody>
          <a:bodyPr wrap="square" lIns="18288" tIns="18288" rIns="18288" bIns="18288" rtlCol="0" anchor="ctr"/>
          <a:lstStyle/>
          <a:p>
            <a:pPr marL="0" indent="0" algn="ctr">
              <a:buNone/>
            </a:pPr>
            <a:r>
              <a:rPr lang="en-GB" sz="1150" dirty="0">
                <a:solidFill>
                  <a:srgbClr val="C0392B"/>
                </a:solidFill>
                <a:latin typeface="Inter SemiBold Text SemiBold" pitchFamily="34" charset="0"/>
                <a:ea typeface="Inter SemiBold Text SemiBold" pitchFamily="34" charset="-122"/>
                <a:cs typeface="Inter SemiBold Text SemiBold" pitchFamily="34" charset="-120"/>
              </a:rPr>
              <a:t>Minor Unit</a:t>
            </a:r>
          </a:p>
          <a:p>
            <a:pPr marL="0" indent="0" algn="ctr">
              <a:buNone/>
            </a:pPr>
            <a:r>
              <a:rPr lang="en-GB" sz="800" dirty="0">
                <a:solidFill>
                  <a:srgbClr val="C0392B"/>
                </a:solidFill>
                <a:latin typeface="Inter Text" pitchFamily="34" charset="0"/>
                <a:ea typeface="Inter Text" pitchFamily="34" charset="-122"/>
                <a:cs typeface="Inter Text" pitchFamily="34" charset="-120"/>
              </a:rPr>
              <a:t>Σ of rounded values</a:t>
            </a:r>
          </a:p>
        </p:txBody>
      </p:sp>
      <p:sp>
        <p:nvSpPr>
          <p:cNvPr id="36" name="Text 36"/>
          <p:cNvSpPr txBox="1"/>
          <p:nvPr/>
        </p:nvSpPr>
        <p:spPr>
          <a:xfrm>
            <a:off x="5989320" y="3468624"/>
            <a:ext cx="1508760" cy="243840"/>
          </a:xfrm>
          <a:prstGeom prst="rect">
            <a:avLst/>
          </a:prstGeom>
          <a:noFill/>
          <a:ln/>
        </p:spPr>
        <p:txBody>
          <a:bodyPr wrap="square" lIns="0" tIns="0" rIns="0" bIns="0" rtlCol="0" anchor="ctr"/>
          <a:lstStyle/>
          <a:p>
            <a:pPr marL="0" indent="0" algn="r">
              <a:buNone/>
            </a:pPr>
            <a:r>
              <a:rPr lang="en-GB" sz="1300" b="1" dirty="0">
                <a:solidFill>
                  <a:srgbClr val="C0392B"/>
                </a:solidFill>
                <a:latin typeface="Consolas" pitchFamily="34" charset="0"/>
                <a:ea typeface="Consolas" pitchFamily="34" charset="-122"/>
                <a:cs typeface="Consolas" pitchFamily="34" charset="-120"/>
              </a:rPr>
              <a:t>± €1.00</a:t>
            </a:r>
          </a:p>
        </p:txBody>
      </p:sp>
      <p:sp>
        <p:nvSpPr>
          <p:cNvPr id="37" name="Text 37"/>
          <p:cNvSpPr txBox="1"/>
          <p:nvPr/>
        </p:nvSpPr>
        <p:spPr>
          <a:xfrm>
            <a:off x="5577840" y="3704844"/>
            <a:ext cx="1920240" cy="167640"/>
          </a:xfrm>
          <a:prstGeom prst="rect">
            <a:avLst/>
          </a:prstGeom>
          <a:noFill/>
          <a:ln/>
        </p:spPr>
        <p:txBody>
          <a:bodyPr wrap="square" lIns="0" tIns="0" rIns="0" bIns="0" rtlCol="0" anchor="ctr"/>
          <a:lstStyle/>
          <a:p>
            <a:pPr marL="0" indent="0" algn="r">
              <a:buNone/>
            </a:pPr>
            <a:r>
              <a:rPr lang="en-GB" sz="850" dirty="0">
                <a:solidFill>
                  <a:srgbClr val="9AA4C2"/>
                </a:solidFill>
                <a:latin typeface="Inter Text" pitchFamily="34" charset="0"/>
                <a:ea typeface="Inter Text" pitchFamily="34" charset="-122"/>
                <a:cs typeface="Inter Text" pitchFamily="34" charset="-120"/>
              </a:rPr>
              <a:t>× 100 lines</a:t>
            </a:r>
          </a:p>
        </p:txBody>
      </p:sp>
      <p:sp>
        <p:nvSpPr>
          <p:cNvPr id="38" name="Card 38"/>
          <p:cNvSpPr/>
          <p:nvPr/>
        </p:nvSpPr>
        <p:spPr>
          <a:xfrm>
            <a:off x="822960" y="4233672"/>
            <a:ext cx="6766560" cy="457200"/>
          </a:xfrm>
          <a:prstGeom prst="roundRect">
            <a:avLst>
              <a:gd name="adj" fmla="val 11666"/>
            </a:avLst>
          </a:prstGeom>
          <a:solidFill>
            <a:srgbClr val="FFFFFF"/>
          </a:solidFill>
          <a:ln w="12700">
            <a:solidFill>
              <a:srgbClr val="E2E7F2"/>
            </a:solidFill>
            <a:prstDash val="solid"/>
          </a:ln>
          <a:effectLst>
            <a:outerShdw blurRad="101600" dist="38100" dir="5400000" algn="bl" rotWithShape="0">
              <a:srgbClr val="0A1230">
                <a:alpha val="8000"/>
              </a:srgbClr>
            </a:outerShdw>
          </a:effectLst>
        </p:spPr>
        <p:txBody>
          <a:bodyPr/>
          <a:lstStyle/>
          <a:p>
            <a:endParaRPr lang="en-GB"/>
          </a:p>
        </p:txBody>
      </p:sp>
      <p:sp>
        <p:nvSpPr>
          <p:cNvPr id="39" name="Pill 39"/>
          <p:cNvSpPr/>
          <p:nvPr/>
        </p:nvSpPr>
        <p:spPr>
          <a:xfrm>
            <a:off x="960120" y="4332732"/>
            <a:ext cx="685800" cy="259080"/>
          </a:xfrm>
          <a:prstGeom prst="roundRect">
            <a:avLst>
              <a:gd name="adj" fmla="val 50000"/>
            </a:avLst>
          </a:prstGeom>
          <a:solidFill>
            <a:srgbClr val="2E7D32"/>
          </a:solidFill>
          <a:ln>
            <a:noFill/>
          </a:ln>
        </p:spPr>
        <p:txBody>
          <a:bodyPr wrap="square" lIns="36576" tIns="36576" rIns="36576" bIns="36576" rtlCol="0" anchor="ctr"/>
          <a:lstStyle/>
          <a:p>
            <a:pPr marL="0" indent="0" algn="ctr">
              <a:buNone/>
            </a:pPr>
            <a:r>
              <a:rPr lang="en-GB" sz="1150" dirty="0">
                <a:solidFill>
                  <a:srgbClr val="FFFFFF"/>
                </a:solidFill>
                <a:latin typeface="Inter SemiBold Text SemiBold" pitchFamily="34" charset="0"/>
                <a:ea typeface="Inter SemiBold Text SemiBold" pitchFamily="34" charset="-122"/>
                <a:cs typeface="Inter SemiBold Text SemiBold" pitchFamily="34" charset="-120"/>
              </a:rPr>
              <a:t>BT-116</a:t>
            </a:r>
          </a:p>
        </p:txBody>
      </p:sp>
      <p:sp>
        <p:nvSpPr>
          <p:cNvPr id="40" name="Text 40"/>
          <p:cNvSpPr txBox="1"/>
          <p:nvPr/>
        </p:nvSpPr>
        <p:spPr>
          <a:xfrm>
            <a:off x="1965960" y="4248912"/>
            <a:ext cx="2788920" cy="198120"/>
          </a:xfrm>
          <a:prstGeom prst="rect">
            <a:avLst/>
          </a:prstGeom>
          <a:noFill/>
          <a:ln/>
        </p:spPr>
        <p:txBody>
          <a:bodyPr wrap="none" lIns="0" tIns="0" rIns="0" bIns="0" rtlCol="0" anchor="ctr"/>
          <a:lstStyle/>
          <a:p>
            <a:pPr marL="0" indent="0" algn="l">
              <a:buNone/>
            </a:pPr>
            <a:r>
              <a:rPr lang="en-GB" sz="1150" dirty="0">
                <a:solidFill>
                  <a:srgbClr val="1A2B5E"/>
                </a:solidFill>
                <a:latin typeface="Inter SemiBold Text SemiBold" pitchFamily="34" charset="0"/>
                <a:ea typeface="Inter SemiBold Text SemiBold" pitchFamily="34" charset="-122"/>
                <a:cs typeface="Inter SemiBold Text SemiBold" pitchFamily="34" charset="-120"/>
              </a:rPr>
              <a:t>VAT category taxable amount</a:t>
            </a:r>
          </a:p>
        </p:txBody>
      </p:sp>
      <p:sp>
        <p:nvSpPr>
          <p:cNvPr id="41" name="Text 41"/>
          <p:cNvSpPr txBox="1"/>
          <p:nvPr/>
        </p:nvSpPr>
        <p:spPr>
          <a:xfrm>
            <a:off x="1965960" y="4439412"/>
            <a:ext cx="2788920" cy="243840"/>
          </a:xfrm>
          <a:prstGeom prst="rect">
            <a:avLst/>
          </a:prstGeom>
          <a:noFill/>
          <a:ln/>
        </p:spPr>
        <p:txBody>
          <a:bodyPr wrap="square" lIns="0" tIns="0" rIns="0" bIns="0" rtlCol="0" anchor="t"/>
          <a:lstStyle/>
          <a:p>
            <a:pPr marL="0" indent="0" algn="l">
              <a:lnSpc>
                <a:spcPct val="95000"/>
              </a:lnSpc>
              <a:buNone/>
            </a:pPr>
            <a:r>
              <a:rPr lang="en-GB" sz="800" dirty="0">
                <a:solidFill>
                  <a:srgbClr val="5B6890"/>
                </a:solidFill>
                <a:latin typeface="Inter Text" pitchFamily="34" charset="0"/>
                <a:ea typeface="Inter Text" pitchFamily="34" charset="-122"/>
                <a:cs typeface="Inter Text" pitchFamily="34" charset="-120"/>
              </a:rPr>
              <a:t>= Σ </a:t>
            </a:r>
            <a:r>
              <a:rPr lang="en-GB" sz="800" b="1" dirty="0">
                <a:solidFill>
                  <a:srgbClr val="EF6C00"/>
                </a:solidFill>
                <a:latin typeface="Inter SemiBold Text SemiBold" pitchFamily="34" charset="0"/>
                <a:ea typeface="Inter SemiBold Text SemiBold" pitchFamily="34" charset="-122"/>
                <a:cs typeface="Inter SemiBold Text SemiBold" pitchFamily="34" charset="-120"/>
              </a:rPr>
              <a:t>BT-131</a:t>
            </a:r>
            <a:r>
              <a:rPr lang="en-GB" sz="800" dirty="0">
                <a:solidFill>
                  <a:srgbClr val="5B6890"/>
                </a:solidFill>
                <a:latin typeface="Inter Text" pitchFamily="34" charset="0"/>
                <a:ea typeface="Inter Text" pitchFamily="34" charset="-122"/>
                <a:cs typeface="Inter Text" pitchFamily="34" charset="-120"/>
              </a:rPr>
              <a:t> + Σ </a:t>
            </a:r>
            <a:r>
              <a:rPr lang="en-GB" sz="800" dirty="0">
                <a:solidFill>
                  <a:srgbClr val="1A2B5E"/>
                </a:solidFill>
                <a:latin typeface="Inter SemiBold Text SemiBold" pitchFamily="34" charset="0"/>
                <a:ea typeface="Inter SemiBold Text SemiBold" pitchFamily="34" charset="-122"/>
                <a:cs typeface="Inter SemiBold Text SemiBold" pitchFamily="34" charset="-120"/>
              </a:rPr>
              <a:t>BT-99</a:t>
            </a:r>
            <a:r>
              <a:rPr lang="en-GB" sz="800" dirty="0">
                <a:solidFill>
                  <a:srgbClr val="5B6890"/>
                </a:solidFill>
                <a:latin typeface="Inter Text" pitchFamily="34" charset="0"/>
                <a:ea typeface="Inter Text" pitchFamily="34" charset="-122"/>
                <a:cs typeface="Inter Text" pitchFamily="34" charset="-120"/>
              </a:rPr>
              <a:t/>
            </a:r>
            <a:r>
              <a:rPr lang="en-GB" sz="800" dirty="0">
                <a:solidFill>
                  <a:srgbClr val="5B6890"/>
                </a:solidFill>
                <a:latin typeface="Inter Text" pitchFamily="34" charset="0"/>
                <a:ea typeface="Inter Text" pitchFamily="34" charset="-122"/>
                <a:cs typeface="Inter Text" pitchFamily="34" charset="-120"/>
              </a:rPr>
              <a:t> − Σ </a:t>
            </a:r>
            <a:r>
              <a:rPr lang="en-GB" sz="800" dirty="0">
                <a:solidFill>
                  <a:srgbClr val="1A2B5E"/>
                </a:solidFill>
                <a:latin typeface="Inter SemiBold Text SemiBold" pitchFamily="34" charset="0"/>
                <a:ea typeface="Inter SemiBold Text SemiBold" pitchFamily="34" charset="-122"/>
                <a:cs typeface="Inter SemiBold Text SemiBold" pitchFamily="34" charset="-120"/>
              </a:rPr>
              <a:t>BT-92</a:t>
            </a:r>
            <a:r>
              <a:rPr lang="en-GB" sz="800" dirty="0">
                <a:solidFill>
                  <a:srgbClr val="5B6890"/>
                </a:solidFill>
                <a:latin typeface="Inter Text" pitchFamily="34" charset="0"/>
                <a:ea typeface="Inter Text" pitchFamily="34" charset="-122"/>
                <a:cs typeface="Inter Text" pitchFamily="34" charset="-120"/>
              </a:rPr>
              <a:t/>
            </a:r>
          </a:p>
        </p:txBody>
      </p:sp>
      <p:sp>
        <p:nvSpPr>
          <p:cNvPr id="42" name="Pill 42"/>
          <p:cNvSpPr/>
          <p:nvPr/>
        </p:nvSpPr>
        <p:spPr>
          <a:xfrm>
            <a:off x="4773168" y="4287012"/>
            <a:ext cx="1207008" cy="350520"/>
          </a:xfrm>
          <a:prstGeom prst="roundRect">
            <a:avLst>
              <a:gd name="adj" fmla="val 50000"/>
            </a:avLst>
          </a:prstGeom>
          <a:solidFill>
            <a:srgbClr val="FCEDEB"/>
          </a:solidFill>
          <a:ln w="9525">
            <a:solidFill>
              <a:srgbClr val="F2C4BE"/>
            </a:solidFill>
            <a:prstDash val="solid"/>
          </a:ln>
        </p:spPr>
        <p:txBody>
          <a:bodyPr wrap="square" lIns="18288" tIns="18288" rIns="18288" bIns="18288" rtlCol="0" anchor="ctr"/>
          <a:lstStyle/>
          <a:p>
            <a:pPr marL="0" indent="0" algn="ctr">
              <a:buNone/>
            </a:pPr>
            <a:r>
              <a:rPr lang="en-GB" sz="1150" dirty="0">
                <a:solidFill>
                  <a:srgbClr val="C0392B"/>
                </a:solidFill>
                <a:latin typeface="Inter SemiBold Text SemiBold" pitchFamily="34" charset="0"/>
                <a:ea typeface="Inter SemiBold Text SemiBold" pitchFamily="34" charset="-122"/>
                <a:cs typeface="Inter SemiBold Text SemiBold" pitchFamily="34" charset="-120"/>
              </a:rPr>
              <a:t>Minor Unit</a:t>
            </a:r>
          </a:p>
          <a:p>
            <a:pPr marL="0" indent="0" algn="ctr">
              <a:buNone/>
            </a:pPr>
            <a:r>
              <a:rPr lang="en-GB" sz="800" dirty="0">
                <a:solidFill>
                  <a:srgbClr val="C0392B"/>
                </a:solidFill>
                <a:latin typeface="Inter Text" pitchFamily="34" charset="0"/>
                <a:ea typeface="Inter Text" pitchFamily="34" charset="-122"/>
                <a:cs typeface="Inter Text" pitchFamily="34" charset="-120"/>
              </a:rPr>
              <a:t>interim rounding</a:t>
            </a:r>
          </a:p>
        </p:txBody>
      </p:sp>
      <p:sp>
        <p:nvSpPr>
          <p:cNvPr id="43" name="Text 43"/>
          <p:cNvSpPr txBox="1"/>
          <p:nvPr/>
        </p:nvSpPr>
        <p:spPr>
          <a:xfrm>
            <a:off x="5989320" y="4264152"/>
            <a:ext cx="1508760" cy="243840"/>
          </a:xfrm>
          <a:prstGeom prst="rect">
            <a:avLst/>
          </a:prstGeom>
          <a:noFill/>
          <a:ln/>
        </p:spPr>
        <p:txBody>
          <a:bodyPr wrap="square" lIns="0" tIns="0" rIns="0" bIns="0" rtlCol="0" anchor="ctr"/>
          <a:lstStyle/>
          <a:p>
            <a:pPr marL="0" indent="0" algn="r">
              <a:buNone/>
            </a:pPr>
            <a:r>
              <a:rPr lang="en-GB" sz="1300" b="1" dirty="0">
                <a:solidFill>
                  <a:srgbClr val="C0392B"/>
                </a:solidFill>
                <a:latin typeface="Consolas" pitchFamily="34" charset="0"/>
                <a:ea typeface="Consolas" pitchFamily="34" charset="-122"/>
                <a:cs typeface="Consolas" pitchFamily="34" charset="-120"/>
              </a:rPr>
              <a:t>± €1.00</a:t>
            </a:r>
          </a:p>
        </p:txBody>
      </p:sp>
      <p:sp>
        <p:nvSpPr>
          <p:cNvPr id="44" name="Text 44"/>
          <p:cNvSpPr txBox="1"/>
          <p:nvPr/>
        </p:nvSpPr>
        <p:spPr>
          <a:xfrm>
            <a:off x="5577840" y="4500372"/>
            <a:ext cx="1920240" cy="167640"/>
          </a:xfrm>
          <a:prstGeom prst="rect">
            <a:avLst/>
          </a:prstGeom>
          <a:noFill/>
          <a:ln/>
        </p:spPr>
        <p:txBody>
          <a:bodyPr wrap="square" lIns="0" tIns="0" rIns="0" bIns="0" rtlCol="0" anchor="ctr"/>
          <a:lstStyle/>
          <a:p>
            <a:pPr marL="0" indent="0" algn="r">
              <a:buNone/>
            </a:pPr>
            <a:r>
              <a:rPr lang="en-GB" sz="850" dirty="0">
                <a:solidFill>
                  <a:srgbClr val="9AA4C2"/>
                </a:solidFill>
                <a:latin typeface="Inter Text" pitchFamily="34" charset="0"/>
                <a:ea typeface="Inter Text" pitchFamily="34" charset="-122"/>
                <a:cs typeface="Inter Text" pitchFamily="34" charset="-120"/>
              </a:rPr>
              <a:t>Σ of rounded lines</a:t>
            </a:r>
          </a:p>
        </p:txBody>
      </p:sp>
      <p:cxnSp>
        <p:nvCxnSpPr>
          <p:cNvPr id="45" name="Connector 45"/>
          <p:cNvCxnSpPr/>
          <p:nvPr/>
        </p:nvCxnSpPr>
        <p:spPr>
          <a:xfrm>
            <a:off x="1303020" y="4690872"/>
            <a:ext cx="0" cy="36576"/>
          </a:xfrm>
          <a:prstGeom prst="line">
            <a:avLst/>
          </a:prstGeom>
          <a:ln w="15875">
            <a:solidFill>
              <a:srgbClr val="9AA4C2"/>
            </a:solidFill>
          </a:ln>
        </p:spPr>
      </p:cxnSp>
      <p:sp>
        <p:nvSpPr>
          <p:cNvPr id="46" name="Card 46"/>
          <p:cNvSpPr/>
          <p:nvPr/>
        </p:nvSpPr>
        <p:spPr>
          <a:xfrm>
            <a:off x="822960" y="4727448"/>
            <a:ext cx="6766560" cy="457200"/>
          </a:xfrm>
          <a:prstGeom prst="roundRect">
            <a:avLst>
              <a:gd name="adj" fmla="val 11666"/>
            </a:avLst>
          </a:prstGeom>
          <a:solidFill>
            <a:srgbClr val="FFFFFF"/>
          </a:solidFill>
          <a:ln w="12700">
            <a:solidFill>
              <a:srgbClr val="E2E7F2"/>
            </a:solidFill>
            <a:prstDash val="solid"/>
          </a:ln>
          <a:effectLst>
            <a:outerShdw blurRad="101600" dist="38100" dir="5400000" algn="bl" rotWithShape="0">
              <a:srgbClr val="0A1230">
                <a:alpha val="8000"/>
              </a:srgbClr>
            </a:outerShdw>
          </a:effectLst>
        </p:spPr>
        <p:txBody>
          <a:bodyPr/>
          <a:lstStyle/>
          <a:p>
            <a:endParaRPr lang="en-GB"/>
          </a:p>
        </p:txBody>
      </p:sp>
      <p:sp>
        <p:nvSpPr>
          <p:cNvPr id="47" name="Pill 47"/>
          <p:cNvSpPr/>
          <p:nvPr/>
        </p:nvSpPr>
        <p:spPr>
          <a:xfrm>
            <a:off x="960120" y="4826508"/>
            <a:ext cx="685800" cy="259080"/>
          </a:xfrm>
          <a:prstGeom prst="roundRect">
            <a:avLst>
              <a:gd name="adj" fmla="val 50000"/>
            </a:avLst>
          </a:prstGeom>
          <a:solidFill>
            <a:srgbClr val="1565C0"/>
          </a:solidFill>
          <a:ln>
            <a:noFill/>
          </a:ln>
        </p:spPr>
        <p:txBody>
          <a:bodyPr wrap="square" lIns="36576" tIns="36576" rIns="36576" bIns="36576" rtlCol="0" anchor="ctr"/>
          <a:lstStyle/>
          <a:p>
            <a:pPr marL="0" indent="0" algn="ctr">
              <a:buNone/>
            </a:pPr>
            <a:r>
              <a:rPr lang="en-GB" sz="1150" dirty="0">
                <a:solidFill>
                  <a:srgbClr val="FFFFFF"/>
                </a:solidFill>
                <a:latin typeface="Inter SemiBold Text SemiBold" pitchFamily="34" charset="0"/>
                <a:ea typeface="Inter SemiBold Text SemiBold" pitchFamily="34" charset="-122"/>
                <a:cs typeface="Inter SemiBold Text SemiBold" pitchFamily="34" charset="-120"/>
              </a:rPr>
              <a:t>BT-117</a:t>
            </a:r>
          </a:p>
        </p:txBody>
      </p:sp>
      <p:sp>
        <p:nvSpPr>
          <p:cNvPr id="48" name="Text 48"/>
          <p:cNvSpPr txBox="1"/>
          <p:nvPr/>
        </p:nvSpPr>
        <p:spPr>
          <a:xfrm>
            <a:off x="1965960" y="4742688"/>
            <a:ext cx="2788920" cy="198120"/>
          </a:xfrm>
          <a:prstGeom prst="rect">
            <a:avLst/>
          </a:prstGeom>
          <a:noFill/>
          <a:ln/>
        </p:spPr>
        <p:txBody>
          <a:bodyPr wrap="none" lIns="0" tIns="0" rIns="0" bIns="0" rtlCol="0" anchor="ctr"/>
          <a:lstStyle/>
          <a:p>
            <a:pPr marL="0" indent="0" algn="l">
              <a:buNone/>
            </a:pPr>
            <a:r>
              <a:rPr lang="en-GB" sz="1150" dirty="0">
                <a:solidFill>
                  <a:srgbClr val="1A2B5E"/>
                </a:solidFill>
                <a:latin typeface="Inter SemiBold Text SemiBold" pitchFamily="34" charset="0"/>
                <a:ea typeface="Inter SemiBold Text SemiBold" pitchFamily="34" charset="-122"/>
                <a:cs typeface="Inter SemiBold Text SemiBold" pitchFamily="34" charset="-120"/>
              </a:rPr>
              <a:t>VAT category tax amount</a:t>
            </a:r>
          </a:p>
        </p:txBody>
      </p:sp>
      <p:sp>
        <p:nvSpPr>
          <p:cNvPr id="49" name="Text 49"/>
          <p:cNvSpPr txBox="1"/>
          <p:nvPr/>
        </p:nvSpPr>
        <p:spPr>
          <a:xfrm>
            <a:off x="1965960" y="4933188"/>
            <a:ext cx="2788920" cy="243840"/>
          </a:xfrm>
          <a:prstGeom prst="rect">
            <a:avLst/>
          </a:prstGeom>
          <a:noFill/>
          <a:ln/>
        </p:spPr>
        <p:txBody>
          <a:bodyPr wrap="square" lIns="0" tIns="0" rIns="0" bIns="0" rtlCol="0" anchor="t"/>
          <a:lstStyle/>
          <a:p>
            <a:pPr marL="0" indent="0" algn="l">
              <a:lnSpc>
                <a:spcPct val="95000"/>
              </a:lnSpc>
              <a:buNone/>
            </a:pPr>
            <a:r>
              <a:rPr lang="en-GB" sz="800" dirty="0">
                <a:solidFill>
                  <a:srgbClr val="5B6890"/>
                </a:solidFill>
                <a:latin typeface="Inter Text" pitchFamily="34" charset="0"/>
                <a:ea typeface="Inter Text" pitchFamily="34" charset="-122"/>
                <a:cs typeface="Inter Text" pitchFamily="34" charset="-120"/>
              </a:rPr>
              <a:t>= </a:t>
            </a:r>
            <a:r>
              <a:rPr lang="en-GB" sz="800" b="1" dirty="0">
                <a:solidFill>
                  <a:srgbClr val="2E7D32"/>
                </a:solidFill>
                <a:latin typeface="Inter SemiBold Text SemiBold" pitchFamily="34" charset="0"/>
                <a:ea typeface="Inter SemiBold Text SemiBold" pitchFamily="34" charset="-122"/>
                <a:cs typeface="Inter SemiBold Text SemiBold" pitchFamily="34" charset="-120"/>
              </a:rPr>
              <a:t>BT-116</a:t>
            </a:r>
            <a:r>
              <a:rPr lang="en-GB" sz="800" dirty="0">
                <a:solidFill>
                  <a:srgbClr val="5B6890"/>
                </a:solidFill>
                <a:latin typeface="Inter Text" pitchFamily="34" charset="0"/>
                <a:ea typeface="Inter Text" pitchFamily="34" charset="-122"/>
                <a:cs typeface="Inter Text" pitchFamily="34" charset="-120"/>
              </a:rPr>
              <a:t> × </a:t>
            </a:r>
            <a:r>
              <a:rPr lang="en-GB" sz="800" dirty="0">
                <a:solidFill>
                  <a:srgbClr val="1A2B5E"/>
                </a:solidFill>
                <a:latin typeface="Inter SemiBold Text SemiBold" pitchFamily="34" charset="0"/>
                <a:ea typeface="Inter SemiBold Text SemiBold" pitchFamily="34" charset="-122"/>
                <a:cs typeface="Inter SemiBold Text SemiBold" pitchFamily="34" charset="-120"/>
              </a:rPr>
              <a:t>BT-119</a:t>
            </a:r>
            <a:r>
              <a:rPr lang="en-GB" sz="800" dirty="0">
                <a:solidFill>
                  <a:srgbClr val="5B6890"/>
                </a:solidFill>
                <a:latin typeface="Inter Text" pitchFamily="34" charset="0"/>
                <a:ea typeface="Inter Text" pitchFamily="34" charset="-122"/>
                <a:cs typeface="Inter Text" pitchFamily="34" charset="-120"/>
              </a:rPr>
              <a:t> ÷ 100</a:t>
            </a:r>
          </a:p>
        </p:txBody>
      </p:sp>
      <p:sp>
        <p:nvSpPr>
          <p:cNvPr id="50" name="Pill 50"/>
          <p:cNvSpPr/>
          <p:nvPr/>
        </p:nvSpPr>
        <p:spPr>
          <a:xfrm>
            <a:off x="4773168" y="4780788"/>
            <a:ext cx="1207008" cy="350520"/>
          </a:xfrm>
          <a:prstGeom prst="roundRect">
            <a:avLst>
              <a:gd name="adj" fmla="val 50000"/>
            </a:avLst>
          </a:prstGeom>
          <a:solidFill>
            <a:srgbClr val="FCEDEB"/>
          </a:solidFill>
          <a:ln w="9525">
            <a:solidFill>
              <a:srgbClr val="F2C4BE"/>
            </a:solidFill>
            <a:prstDash val="solid"/>
          </a:ln>
        </p:spPr>
        <p:txBody>
          <a:bodyPr wrap="square" lIns="18288" tIns="18288" rIns="18288" bIns="18288" rtlCol="0" anchor="ctr"/>
          <a:lstStyle/>
          <a:p>
            <a:pPr marL="0" indent="0" algn="ctr">
              <a:buNone/>
            </a:pPr>
            <a:r>
              <a:rPr lang="en-GB" sz="1150" dirty="0">
                <a:solidFill>
                  <a:srgbClr val="C0392B"/>
                </a:solidFill>
                <a:latin typeface="Inter SemiBold Text SemiBold" pitchFamily="34" charset="0"/>
                <a:ea typeface="Inter SemiBold Text SemiBold" pitchFamily="34" charset="-122"/>
                <a:cs typeface="Inter SemiBold Text SemiBold" pitchFamily="34" charset="-120"/>
              </a:rPr>
              <a:t>Minor Unit</a:t>
            </a:r>
          </a:p>
          <a:p>
            <a:pPr marL="0" indent="0" algn="ctr">
              <a:buNone/>
            </a:pPr>
            <a:r>
              <a:rPr lang="en-GB" sz="800" dirty="0">
                <a:solidFill>
                  <a:srgbClr val="C0392B"/>
                </a:solidFill>
                <a:latin typeface="Inter Text" pitchFamily="34" charset="0"/>
                <a:ea typeface="Inter Text" pitchFamily="34" charset="-122"/>
                <a:cs typeface="Inter Text" pitchFamily="34" charset="-120"/>
              </a:rPr>
              <a:t>interim rounding</a:t>
            </a:r>
          </a:p>
        </p:txBody>
      </p:sp>
      <p:sp>
        <p:nvSpPr>
          <p:cNvPr id="51" name="Text 51"/>
          <p:cNvSpPr txBox="1"/>
          <p:nvPr/>
        </p:nvSpPr>
        <p:spPr>
          <a:xfrm>
            <a:off x="5989320" y="4757928"/>
            <a:ext cx="1508760" cy="243840"/>
          </a:xfrm>
          <a:prstGeom prst="rect">
            <a:avLst/>
          </a:prstGeom>
          <a:noFill/>
          <a:ln/>
        </p:spPr>
        <p:txBody>
          <a:bodyPr wrap="square" lIns="0" tIns="0" rIns="0" bIns="0" rtlCol="0" anchor="ctr"/>
          <a:lstStyle/>
          <a:p>
            <a:pPr marL="0" indent="0" algn="r">
              <a:buNone/>
            </a:pPr>
            <a:r>
              <a:rPr lang="en-GB" sz="1300" b="1" dirty="0">
                <a:solidFill>
                  <a:srgbClr val="C0392B"/>
                </a:solidFill>
                <a:latin typeface="Consolas" pitchFamily="34" charset="0"/>
                <a:ea typeface="Consolas" pitchFamily="34" charset="-122"/>
                <a:cs typeface="Consolas" pitchFamily="34" charset="-120"/>
              </a:rPr>
              <a:t>± €0.19</a:t>
            </a:r>
          </a:p>
        </p:txBody>
      </p:sp>
      <p:sp>
        <p:nvSpPr>
          <p:cNvPr id="52" name="Text 52"/>
          <p:cNvSpPr txBox="1"/>
          <p:nvPr/>
        </p:nvSpPr>
        <p:spPr>
          <a:xfrm>
            <a:off x="5577840" y="4994148"/>
            <a:ext cx="1920240" cy="167640"/>
          </a:xfrm>
          <a:prstGeom prst="rect">
            <a:avLst/>
          </a:prstGeom>
          <a:noFill/>
          <a:ln/>
        </p:spPr>
        <p:txBody>
          <a:bodyPr wrap="square" lIns="0" tIns="0" rIns="0" bIns="0" rtlCol="0" anchor="ctr"/>
          <a:lstStyle/>
          <a:p>
            <a:pPr marL="0" indent="0" algn="r">
              <a:buNone/>
            </a:pPr>
            <a:r>
              <a:rPr lang="en-GB" sz="850" dirty="0">
                <a:solidFill>
                  <a:srgbClr val="9AA4C2"/>
                </a:solidFill>
                <a:latin typeface="Inter Text" pitchFamily="34" charset="0"/>
                <a:ea typeface="Inter Text" pitchFamily="34" charset="-122"/>
                <a:cs typeface="Inter Text" pitchFamily="34" charset="-120"/>
              </a:rPr>
              <a:t>€1.00 × 19%</a:t>
            </a:r>
          </a:p>
        </p:txBody>
      </p:sp>
      <p:cxnSp>
        <p:nvCxnSpPr>
          <p:cNvPr id="53" name="Connector 53"/>
          <p:cNvCxnSpPr/>
          <p:nvPr/>
        </p:nvCxnSpPr>
        <p:spPr>
          <a:xfrm>
            <a:off x="1303020" y="5184648"/>
            <a:ext cx="0" cy="36576"/>
          </a:xfrm>
          <a:prstGeom prst="line">
            <a:avLst/>
          </a:prstGeom>
          <a:ln w="15875">
            <a:solidFill>
              <a:srgbClr val="9AA4C2"/>
            </a:solidFill>
          </a:ln>
        </p:spPr>
      </p:cxnSp>
      <p:sp>
        <p:nvSpPr>
          <p:cNvPr id="54" name="Card 54"/>
          <p:cNvSpPr/>
          <p:nvPr/>
        </p:nvSpPr>
        <p:spPr>
          <a:xfrm>
            <a:off x="822960" y="5221224"/>
            <a:ext cx="6766560" cy="457200"/>
          </a:xfrm>
          <a:prstGeom prst="roundRect">
            <a:avLst>
              <a:gd name="adj" fmla="val 11666"/>
            </a:avLst>
          </a:prstGeom>
          <a:solidFill>
            <a:srgbClr val="FFFFFF"/>
          </a:solidFill>
          <a:ln w="12700">
            <a:solidFill>
              <a:srgbClr val="E2E7F2"/>
            </a:solidFill>
            <a:prstDash val="solid"/>
          </a:ln>
          <a:effectLst>
            <a:outerShdw blurRad="101600" dist="38100" dir="5400000" algn="bl" rotWithShape="0">
              <a:srgbClr val="0A1230">
                <a:alpha val="8000"/>
              </a:srgbClr>
            </a:outerShdw>
          </a:effectLst>
        </p:spPr>
        <p:txBody>
          <a:bodyPr/>
          <a:lstStyle/>
          <a:p>
            <a:endParaRPr lang="en-GB"/>
          </a:p>
        </p:txBody>
      </p:sp>
      <p:sp>
        <p:nvSpPr>
          <p:cNvPr id="55" name="Pill 55"/>
          <p:cNvSpPr/>
          <p:nvPr/>
        </p:nvSpPr>
        <p:spPr>
          <a:xfrm>
            <a:off x="960120" y="5320284"/>
            <a:ext cx="685800" cy="259080"/>
          </a:xfrm>
          <a:prstGeom prst="roundRect">
            <a:avLst>
              <a:gd name="adj" fmla="val 50000"/>
            </a:avLst>
          </a:prstGeom>
          <a:solidFill>
            <a:srgbClr val="6A1B9A"/>
          </a:solidFill>
          <a:ln>
            <a:noFill/>
          </a:ln>
        </p:spPr>
        <p:txBody>
          <a:bodyPr wrap="square" lIns="36576" tIns="36576" rIns="36576" bIns="36576" rtlCol="0" anchor="ctr"/>
          <a:lstStyle/>
          <a:p>
            <a:pPr marL="0" indent="0" algn="ctr">
              <a:buNone/>
            </a:pPr>
            <a:r>
              <a:rPr lang="en-GB" sz="1150" dirty="0">
                <a:solidFill>
                  <a:srgbClr val="FFFFFF"/>
                </a:solidFill>
                <a:latin typeface="Inter SemiBold Text SemiBold" pitchFamily="34" charset="0"/>
                <a:ea typeface="Inter SemiBold Text SemiBold" pitchFamily="34" charset="-122"/>
                <a:cs typeface="Inter SemiBold Text SemiBold" pitchFamily="34" charset="-120"/>
              </a:rPr>
              <a:t>BT-110</a:t>
            </a:r>
          </a:p>
        </p:txBody>
      </p:sp>
      <p:sp>
        <p:nvSpPr>
          <p:cNvPr id="56" name="Text 56"/>
          <p:cNvSpPr txBox="1"/>
          <p:nvPr/>
        </p:nvSpPr>
        <p:spPr>
          <a:xfrm>
            <a:off x="1965960" y="5236464"/>
            <a:ext cx="2788920" cy="198120"/>
          </a:xfrm>
          <a:prstGeom prst="rect">
            <a:avLst/>
          </a:prstGeom>
          <a:noFill/>
          <a:ln/>
        </p:spPr>
        <p:txBody>
          <a:bodyPr wrap="none" lIns="0" tIns="0" rIns="0" bIns="0" rtlCol="0" anchor="ctr"/>
          <a:lstStyle/>
          <a:p>
            <a:pPr marL="0" indent="0" algn="l">
              <a:buNone/>
            </a:pPr>
            <a:r>
              <a:rPr lang="en-GB" sz="1150" dirty="0">
                <a:solidFill>
                  <a:srgbClr val="1A2B5E"/>
                </a:solidFill>
                <a:latin typeface="Inter SemiBold Text SemiBold" pitchFamily="34" charset="0"/>
                <a:ea typeface="Inter SemiBold Text SemiBold" pitchFamily="34" charset="-122"/>
                <a:cs typeface="Inter SemiBold Text SemiBold" pitchFamily="34" charset="-120"/>
              </a:rPr>
              <a:t>Invoice total VAT amount</a:t>
            </a:r>
          </a:p>
        </p:txBody>
      </p:sp>
      <p:sp>
        <p:nvSpPr>
          <p:cNvPr id="57" name="Text 57"/>
          <p:cNvSpPr txBox="1"/>
          <p:nvPr/>
        </p:nvSpPr>
        <p:spPr>
          <a:xfrm>
            <a:off x="1965960" y="5426964"/>
            <a:ext cx="2788920" cy="243840"/>
          </a:xfrm>
          <a:prstGeom prst="rect">
            <a:avLst/>
          </a:prstGeom>
          <a:noFill/>
          <a:ln/>
        </p:spPr>
        <p:txBody>
          <a:bodyPr wrap="square" lIns="0" tIns="0" rIns="0" bIns="0" rtlCol="0" anchor="t"/>
          <a:lstStyle/>
          <a:p>
            <a:pPr marL="0" indent="0" algn="l">
              <a:lnSpc>
                <a:spcPct val="95000"/>
              </a:lnSpc>
              <a:buNone/>
            </a:pPr>
            <a:r>
              <a:rPr lang="en-GB" sz="800" dirty="0">
                <a:solidFill>
                  <a:srgbClr val="5B6890"/>
                </a:solidFill>
                <a:latin typeface="Inter Text" pitchFamily="34" charset="0"/>
                <a:ea typeface="Inter Text" pitchFamily="34" charset="-122"/>
                <a:cs typeface="Inter Text" pitchFamily="34" charset="-120"/>
              </a:rPr>
              <a:t>= Σ </a:t>
            </a:r>
            <a:r>
              <a:rPr lang="en-GB" sz="800" b="1" dirty="0">
                <a:solidFill>
                  <a:srgbClr val="1565C0"/>
                </a:solidFill>
                <a:latin typeface="Inter SemiBold Text SemiBold" pitchFamily="34" charset="0"/>
                <a:ea typeface="Inter SemiBold Text SemiBold" pitchFamily="34" charset="-122"/>
                <a:cs typeface="Inter SemiBold Text SemiBold" pitchFamily="34" charset="-120"/>
              </a:rPr>
              <a:t>BT-117</a:t>
            </a:r>
            <a:r>
              <a:rPr lang="en-GB" sz="800" dirty="0">
                <a:solidFill>
                  <a:srgbClr val="5B6890"/>
                </a:solidFill>
                <a:latin typeface="Inter Text" pitchFamily="34" charset="0"/>
                <a:ea typeface="Inter Text" pitchFamily="34" charset="-122"/>
                <a:cs typeface="Inter Text" pitchFamily="34" charset="-120"/>
              </a:rPr>
              <a:t/>
            </a:r>
          </a:p>
        </p:txBody>
      </p:sp>
      <p:sp>
        <p:nvSpPr>
          <p:cNvPr id="58" name="Pill 58"/>
          <p:cNvSpPr/>
          <p:nvPr/>
        </p:nvSpPr>
        <p:spPr>
          <a:xfrm>
            <a:off x="4773168" y="5274564"/>
            <a:ext cx="1207008" cy="350520"/>
          </a:xfrm>
          <a:prstGeom prst="roundRect">
            <a:avLst>
              <a:gd name="adj" fmla="val 50000"/>
            </a:avLst>
          </a:prstGeom>
          <a:solidFill>
            <a:srgbClr val="FCEDEB"/>
          </a:solidFill>
          <a:ln w="9525">
            <a:solidFill>
              <a:srgbClr val="F2C4BE"/>
            </a:solidFill>
            <a:prstDash val="solid"/>
          </a:ln>
        </p:spPr>
        <p:txBody>
          <a:bodyPr wrap="square" lIns="18288" tIns="18288" rIns="18288" bIns="18288" rtlCol="0" anchor="ctr"/>
          <a:lstStyle/>
          <a:p>
            <a:pPr marL="0" indent="0" algn="ctr">
              <a:buNone/>
            </a:pPr>
            <a:r>
              <a:rPr lang="en-GB" sz="1150" dirty="0">
                <a:solidFill>
                  <a:srgbClr val="C0392B"/>
                </a:solidFill>
                <a:latin typeface="Inter SemiBold Text SemiBold" pitchFamily="34" charset="0"/>
                <a:ea typeface="Inter SemiBold Text SemiBold" pitchFamily="34" charset="-122"/>
                <a:cs typeface="Inter SemiBold Text SemiBold" pitchFamily="34" charset="-120"/>
              </a:rPr>
              <a:t>Minor Unit</a:t>
            </a:r>
          </a:p>
          <a:p>
            <a:pPr marL="0" indent="0" algn="ctr">
              <a:buNone/>
            </a:pPr>
            <a:r>
              <a:rPr lang="en-GB" sz="800" dirty="0">
                <a:solidFill>
                  <a:srgbClr val="C0392B"/>
                </a:solidFill>
                <a:latin typeface="Inter Text" pitchFamily="34" charset="0"/>
                <a:ea typeface="Inter Text" pitchFamily="34" charset="-122"/>
                <a:cs typeface="Inter Text" pitchFamily="34" charset="-120"/>
              </a:rPr>
              <a:t>Σ of rounded values</a:t>
            </a:r>
          </a:p>
        </p:txBody>
      </p:sp>
      <p:sp>
        <p:nvSpPr>
          <p:cNvPr id="59" name="Text 59"/>
          <p:cNvSpPr txBox="1"/>
          <p:nvPr/>
        </p:nvSpPr>
        <p:spPr>
          <a:xfrm>
            <a:off x="5989320" y="5251704"/>
            <a:ext cx="1508760" cy="243840"/>
          </a:xfrm>
          <a:prstGeom prst="rect">
            <a:avLst/>
          </a:prstGeom>
          <a:noFill/>
          <a:ln/>
        </p:spPr>
        <p:txBody>
          <a:bodyPr wrap="square" lIns="0" tIns="0" rIns="0" bIns="0" rtlCol="0" anchor="ctr"/>
          <a:lstStyle/>
          <a:p>
            <a:pPr marL="0" indent="0" algn="r">
              <a:buNone/>
            </a:pPr>
            <a:r>
              <a:rPr lang="en-GB" sz="1300" b="1" dirty="0">
                <a:solidFill>
                  <a:srgbClr val="C0392B"/>
                </a:solidFill>
                <a:latin typeface="Consolas" pitchFamily="34" charset="0"/>
                <a:ea typeface="Consolas" pitchFamily="34" charset="-122"/>
                <a:cs typeface="Consolas" pitchFamily="34" charset="-120"/>
              </a:rPr>
              <a:t>± €0.19</a:t>
            </a:r>
          </a:p>
        </p:txBody>
      </p:sp>
      <p:sp>
        <p:nvSpPr>
          <p:cNvPr id="60" name="Panel 60"/>
          <p:cNvSpPr/>
          <p:nvPr/>
        </p:nvSpPr>
        <p:spPr>
          <a:xfrm>
            <a:off x="7845552" y="2240280"/>
            <a:ext cx="3520440" cy="1709928"/>
          </a:xfrm>
          <a:prstGeom prst="roundRect">
            <a:avLst>
              <a:gd name="adj" fmla="val 5529"/>
            </a:avLst>
          </a:prstGeom>
          <a:solidFill>
            <a:srgbClr val="1A2B5E"/>
          </a:solidFill>
          <a:ln w="19050">
            <a:solidFill>
              <a:srgbClr val="7DB3FF"/>
            </a:solidFill>
            <a:prstDash val="solid"/>
          </a:ln>
          <a:effectLst>
            <a:outerShdw blurRad="101600" dist="38100" dir="5400000" algn="bl" rotWithShape="0">
              <a:srgbClr val="0A1230">
                <a:alpha val="18000"/>
              </a:srgbClr>
            </a:outerShdw>
          </a:effectLst>
        </p:spPr>
        <p:txBody>
          <a:bodyPr/>
          <a:lstStyle/>
          <a:p>
            <a:endParaRPr lang="en-GB"/>
          </a:p>
        </p:txBody>
      </p:sp>
      <p:sp>
        <p:nvSpPr>
          <p:cNvPr id="61" name="Text 61"/>
          <p:cNvSpPr txBox="1"/>
          <p:nvPr/>
        </p:nvSpPr>
        <p:spPr>
          <a:xfrm>
            <a:off x="8065008" y="2295144"/>
            <a:ext cx="3154680" cy="237744"/>
          </a:xfrm>
          <a:prstGeom prst="rect">
            <a:avLst/>
          </a:prstGeom>
          <a:noFill/>
          <a:ln/>
        </p:spPr>
        <p:txBody>
          <a:bodyPr wrap="square" lIns="0" tIns="0" rIns="0" bIns="0" rtlCol="0" anchor="ctr"/>
          <a:lstStyle/>
          <a:p>
            <a:pPr marL="0" indent="0" algn="l">
              <a:buNone/>
            </a:pPr>
            <a:r>
              <a:rPr lang="en-GB" sz="950" spc="120" dirty="0">
                <a:solidFill>
                  <a:srgbClr val="7DB3FF"/>
                </a:solidFill>
                <a:latin typeface="Inter SemiBold Text SemiBold" pitchFamily="34" charset="0"/>
                <a:ea typeface="Inter SemiBold Text SemiBold" pitchFamily="34" charset="-122"/>
                <a:cs typeface="Inter SemiBold Text SemiBold" pitchFamily="34" charset="-120"/>
              </a:rPr>
              <a:t>ALLOWED DECIMAL PLACES</a:t>
            </a:r>
          </a:p>
        </p:txBody>
      </p:sp>
      <p:sp>
        <p:nvSpPr>
          <p:cNvPr id="80" name="Panel 80"/>
          <p:cNvSpPr/>
          <p:nvPr/>
        </p:nvSpPr>
        <p:spPr>
          <a:xfrm>
            <a:off x="7845552" y="4023360"/>
            <a:ext cx="3520440" cy="2203704"/>
          </a:xfrm>
          <a:prstGeom prst="roundRect">
            <a:avLst>
              <a:gd name="adj" fmla="val 5529"/>
            </a:avLst>
          </a:prstGeom>
          <a:solidFill>
            <a:srgbClr val="1A2B5E"/>
          </a:solidFill>
          <a:ln w="19050">
            <a:solidFill>
              <a:srgbClr val="B9A2FF"/>
            </a:solidFill>
            <a:prstDash val="solid"/>
          </a:ln>
          <a:effectLst>
            <a:outerShdw blurRad="101600" dist="38100" dir="5400000" algn="bl" rotWithShape="0">
              <a:srgbClr val="0A1230">
                <a:alpha val="18000"/>
              </a:srgbClr>
            </a:outerShdw>
          </a:effectLst>
        </p:spPr>
        <p:txBody>
          <a:bodyPr/>
          <a:lstStyle/>
          <a:p>
            <a:endParaRPr lang="en-GB"/>
          </a:p>
        </p:txBody>
      </p:sp>
      <p:sp>
        <p:nvSpPr>
          <p:cNvPr id="81" name="Text 81"/>
          <p:cNvSpPr txBox="1"/>
          <p:nvPr/>
        </p:nvSpPr>
        <p:spPr>
          <a:xfrm>
            <a:off x="8065008" y="4078224"/>
            <a:ext cx="3154680" cy="237744"/>
          </a:xfrm>
          <a:prstGeom prst="rect">
            <a:avLst/>
          </a:prstGeom>
          <a:noFill/>
          <a:ln/>
        </p:spPr>
        <p:txBody>
          <a:bodyPr wrap="square" lIns="0" tIns="0" rIns="0" bIns="0" rtlCol="0" anchor="ctr"/>
          <a:lstStyle/>
          <a:p>
            <a:pPr marL="0" indent="0" algn="l">
              <a:buNone/>
            </a:pPr>
            <a:r>
              <a:rPr lang="en-GB" sz="950" spc="120" dirty="0">
                <a:solidFill>
                  <a:srgbClr val="B9A2FF"/>
                </a:solidFill>
                <a:latin typeface="Inter SemiBold Text SemiBold" pitchFamily="34" charset="0"/>
                <a:ea typeface="Inter SemiBold Text SemiBold" pitchFamily="34" charset="-122"/>
                <a:cs typeface="Inter SemiBold Text SemiBold" pitchFamily="34" charset="-120"/>
              </a:rPr>
              <a:t>DECIMAL PLACES · FINAL VALUES</a:t>
            </a:r>
          </a:p>
        </p:txBody>
      </p:sp>
      <p:sp>
        <p:nvSpPr>
          <p:cNvPr id="82" name="Text 82"/>
          <p:cNvSpPr txBox="1"/>
          <p:nvPr/>
        </p:nvSpPr>
        <p:spPr>
          <a:xfrm>
            <a:off x="8065008" y="4352544"/>
            <a:ext cx="2514600" cy="274320"/>
          </a:xfrm>
          <a:prstGeom prst="rect">
            <a:avLst/>
          </a:prstGeom>
          <a:noFill/>
          <a:ln/>
        </p:spPr>
        <p:txBody>
          <a:bodyPr wrap="none" lIns="0" tIns="0" rIns="0" bIns="0" rtlCol="0" anchor="ctr"/>
          <a:lstStyle/>
          <a:p>
            <a:pPr marL="0" indent="0" algn="l">
              <a:buNone/>
            </a:pPr>
            <a:r>
              <a:rPr lang="en-GB" sz="1000" b="1" dirty="0">
                <a:solidFill>
                  <a:srgbClr val="81C784"/>
                </a:solidFill>
                <a:latin typeface="Inter SemiBold Text SemiBold" pitchFamily="34" charset="0"/>
                <a:ea typeface="Inter SemiBold Text SemiBold" pitchFamily="34" charset="-122"/>
                <a:cs typeface="Inter SemiBold Text SemiBold" pitchFamily="34" charset="-120"/>
              </a:rPr>
              <a:t>BT-116 </a:t>
            </a:r>
            <a:r>
              <a:rPr lang="en-GB" sz="1000" dirty="0">
                <a:solidFill>
                  <a:srgbClr val="9AA4C2"/>
                </a:solidFill>
                <a:latin typeface="Inter Text" pitchFamily="34" charset="0"/>
                <a:ea typeface="Inter Text" pitchFamily="34" charset="-122"/>
                <a:cs typeface="Inter Text" pitchFamily="34" charset="-120"/>
              </a:rPr>
              <a:t>VAT category taxable amount</a:t>
            </a:r>
          </a:p>
        </p:txBody>
      </p:sp>
      <p:sp>
        <p:nvSpPr>
          <p:cNvPr id="83" name="Text 83"/>
          <p:cNvSpPr txBox="1"/>
          <p:nvPr/>
        </p:nvSpPr>
        <p:spPr>
          <a:xfrm>
            <a:off x="9994392" y="4352544"/>
            <a:ext cx="1188720" cy="274320"/>
          </a:xfrm>
          <a:prstGeom prst="rect">
            <a:avLst/>
          </a:prstGeom>
          <a:noFill/>
          <a:ln/>
        </p:spPr>
        <p:txBody>
          <a:bodyPr wrap="none" lIns="0" tIns="0" rIns="0" bIns="0" rtlCol="0" anchor="ctr"/>
          <a:lstStyle/>
          <a:p>
            <a:pPr marL="0" indent="0" algn="r">
              <a:buNone/>
            </a:pPr>
            <a:r>
              <a:rPr lang="en-GB" sz="1000" dirty="0">
                <a:solidFill>
                  <a:srgbClr val="FF8A80"/>
                </a:solidFill>
                <a:latin typeface="Inter SemiBold Text SemiBold" pitchFamily="34" charset="0"/>
                <a:ea typeface="Inter SemiBold Text SemiBold" pitchFamily="34" charset="-122"/>
                <a:cs typeface="Inter SemiBold Text SemiBold" pitchFamily="34" charset="-120"/>
              </a:rPr>
              <a:t>Minor Unit</a:t>
            </a:r>
          </a:p>
        </p:txBody>
      </p:sp>
      <p:sp>
        <p:nvSpPr>
          <p:cNvPr id="84" name="Text 84"/>
          <p:cNvSpPr txBox="1"/>
          <p:nvPr/>
        </p:nvSpPr>
        <p:spPr>
          <a:xfrm>
            <a:off x="8065008" y="4626864"/>
            <a:ext cx="2514600" cy="274320"/>
          </a:xfrm>
          <a:prstGeom prst="rect">
            <a:avLst/>
          </a:prstGeom>
          <a:noFill/>
          <a:ln/>
        </p:spPr>
        <p:txBody>
          <a:bodyPr wrap="none" lIns="0" tIns="0" rIns="0" bIns="0" rtlCol="0" anchor="ctr"/>
          <a:lstStyle/>
          <a:p>
            <a:pPr marL="0" indent="0" algn="l">
              <a:buNone/>
            </a:pPr>
            <a:r>
              <a:rPr lang="en-GB" sz="1000" b="1" dirty="0">
                <a:solidFill>
                  <a:srgbClr val="82B1FF"/>
                </a:solidFill>
                <a:latin typeface="Inter SemiBold Text SemiBold" pitchFamily="34" charset="0"/>
                <a:ea typeface="Inter SemiBold Text SemiBold" pitchFamily="34" charset="-122"/>
                <a:cs typeface="Inter SemiBold Text SemiBold" pitchFamily="34" charset="-120"/>
              </a:rPr>
              <a:t>BT-117 </a:t>
            </a:r>
            <a:r>
              <a:rPr lang="en-GB" sz="1000" dirty="0">
                <a:solidFill>
                  <a:srgbClr val="9AA4C2"/>
                </a:solidFill>
                <a:latin typeface="Inter Text" pitchFamily="34" charset="0"/>
                <a:ea typeface="Inter Text" pitchFamily="34" charset="-122"/>
                <a:cs typeface="Inter Text" pitchFamily="34" charset="-120"/>
              </a:rPr>
              <a:t>VAT category tax amount</a:t>
            </a:r>
          </a:p>
        </p:txBody>
      </p:sp>
      <p:sp>
        <p:nvSpPr>
          <p:cNvPr id="85" name="Text 85"/>
          <p:cNvSpPr txBox="1"/>
          <p:nvPr/>
        </p:nvSpPr>
        <p:spPr>
          <a:xfrm>
            <a:off x="9994392" y="4626864"/>
            <a:ext cx="1188720" cy="274320"/>
          </a:xfrm>
          <a:prstGeom prst="rect">
            <a:avLst/>
          </a:prstGeom>
          <a:noFill/>
          <a:ln/>
        </p:spPr>
        <p:txBody>
          <a:bodyPr wrap="none" lIns="0" tIns="0" rIns="0" bIns="0" rtlCol="0" anchor="ctr"/>
          <a:lstStyle/>
          <a:p>
            <a:pPr marL="0" indent="0" algn="r">
              <a:buNone/>
            </a:pPr>
            <a:r>
              <a:rPr lang="en-GB" sz="1000" dirty="0">
                <a:solidFill>
                  <a:srgbClr val="FF8A80"/>
                </a:solidFill>
                <a:latin typeface="Inter SemiBold Text SemiBold" pitchFamily="34" charset="0"/>
                <a:ea typeface="Inter SemiBold Text SemiBold" pitchFamily="34" charset="-122"/>
                <a:cs typeface="Inter SemiBold Text SemiBold" pitchFamily="34" charset="-120"/>
              </a:rPr>
              <a:t>Minor Unit</a:t>
            </a:r>
          </a:p>
        </p:txBody>
      </p:sp>
      <p:sp>
        <p:nvSpPr>
          <p:cNvPr id="86" name="Text 86"/>
          <p:cNvSpPr txBox="1"/>
          <p:nvPr/>
        </p:nvSpPr>
        <p:spPr>
          <a:xfrm>
            <a:off x="8065008" y="4901184"/>
            <a:ext cx="2514600" cy="274320"/>
          </a:xfrm>
          <a:prstGeom prst="rect">
            <a:avLst/>
          </a:prstGeom>
          <a:noFill/>
          <a:ln/>
        </p:spPr>
        <p:txBody>
          <a:bodyPr wrap="none" lIns="0" tIns="0" rIns="0" bIns="0" rtlCol="0" anchor="ctr"/>
          <a:lstStyle/>
          <a:p>
            <a:pPr marL="0" indent="0" algn="l">
              <a:buNone/>
            </a:pPr>
            <a:r>
              <a:rPr lang="en-GB" sz="1000" b="1" dirty="0">
                <a:solidFill>
                  <a:srgbClr val="CE93D8"/>
                </a:solidFill>
                <a:latin typeface="Inter SemiBold Text SemiBold" pitchFamily="34" charset="0"/>
                <a:ea typeface="Inter SemiBold Text SemiBold" pitchFamily="34" charset="-122"/>
                <a:cs typeface="Inter SemiBold Text SemiBold" pitchFamily="34" charset="-120"/>
              </a:rPr>
              <a:t>BT-110 </a:t>
            </a:r>
            <a:r>
              <a:rPr lang="en-GB" sz="1000" dirty="0">
                <a:solidFill>
                  <a:srgbClr val="9AA4C2"/>
                </a:solidFill>
                <a:latin typeface="Inter Text" pitchFamily="34" charset="0"/>
                <a:ea typeface="Inter Text" pitchFamily="34" charset="-122"/>
                <a:cs typeface="Inter Text" pitchFamily="34" charset="-120"/>
              </a:rPr>
              <a:t>Invoice total VAT amount</a:t>
            </a:r>
          </a:p>
        </p:txBody>
      </p:sp>
      <p:sp>
        <p:nvSpPr>
          <p:cNvPr id="87" name="Text 87"/>
          <p:cNvSpPr txBox="1"/>
          <p:nvPr/>
        </p:nvSpPr>
        <p:spPr>
          <a:xfrm>
            <a:off x="9994392" y="4901184"/>
            <a:ext cx="1188720" cy="274320"/>
          </a:xfrm>
          <a:prstGeom prst="rect">
            <a:avLst/>
          </a:prstGeom>
          <a:noFill/>
          <a:ln/>
        </p:spPr>
        <p:txBody>
          <a:bodyPr wrap="none" lIns="0" tIns="0" rIns="0" bIns="0" rtlCol="0" anchor="ctr"/>
          <a:lstStyle/>
          <a:p>
            <a:pPr marL="0" indent="0" algn="r">
              <a:buNone/>
            </a:pPr>
            <a:r>
              <a:rPr lang="en-GB" sz="1000" dirty="0">
                <a:solidFill>
                  <a:srgbClr val="FF8A80"/>
                </a:solidFill>
                <a:latin typeface="Inter SemiBold Text SemiBold" pitchFamily="34" charset="0"/>
                <a:ea typeface="Inter SemiBold Text SemiBold" pitchFamily="34" charset="-122"/>
                <a:cs typeface="Inter SemiBold Text SemiBold" pitchFamily="34" charset="-120"/>
              </a:rPr>
              <a:t>Minor Unit</a:t>
            </a:r>
          </a:p>
        </p:txBody>
      </p:sp>
      <p:sp>
        <p:nvSpPr>
          <p:cNvPr id="88" name="Text 88"/>
          <p:cNvSpPr txBox="1"/>
          <p:nvPr/>
        </p:nvSpPr>
        <p:spPr>
          <a:xfrm>
            <a:off x="8065008" y="5669280"/>
            <a:ext cx="3108960" cy="457200"/>
          </a:xfrm>
          <a:prstGeom prst="rect">
            <a:avLst/>
          </a:prstGeom>
          <a:noFill/>
          <a:ln/>
        </p:spPr>
        <p:txBody>
          <a:bodyPr wrap="square" lIns="0" tIns="0" rIns="0" bIns="0" rtlCol="0" anchor="ctr"/>
          <a:lstStyle/>
          <a:p>
            <a:pPr marL="0" indent="0" algn="l">
              <a:buNone/>
            </a:pPr>
            <a:r>
              <a:rPr lang="en-GB" sz="950" dirty="0">
                <a:solidFill>
                  <a:srgbClr val="B9A2FF"/>
                </a:solidFill>
                <a:latin typeface="Inter SemiBold Text SemiBold" pitchFamily="34" charset="0"/>
                <a:ea typeface="Inter SemiBold Text SemiBold" pitchFamily="34" charset="-122"/>
                <a:cs typeface="Inter SemiBold Text SemiBold" pitchFamily="34" charset="-120"/>
              </a:rPr>
              <a:t>Worst case </a:t>
            </a:r>
            <a:r>
              <a:rPr lang="en-GB" sz="950" dirty="0">
                <a:solidFill>
                  <a:srgbClr val="9AA4C2"/>
                </a:solidFill>
                <a:latin typeface="Inter Text" pitchFamily="34" charset="0"/>
                <a:ea typeface="Inter Text" pitchFamily="34" charset="-122"/>
                <a:cs typeface="Inter Text" pitchFamily="34" charset="-120"/>
              </a:rPr>
              <a:t>with number of lines and quantity:</a:t>
            </a:r>
          </a:p>
          <a:p>
            <a:pPr marL="0" indent="0" algn="l">
              <a:buNone/>
            </a:pPr>
            <a:r>
              <a:rPr lang="en-GB" sz="950" dirty="0">
                <a:solidFill>
                  <a:srgbClr val="9AA4C2"/>
                </a:solidFill>
                <a:latin typeface="Inter Text" pitchFamily="34" charset="0"/>
                <a:ea typeface="Inter Text" pitchFamily="34" charset="-122"/>
                <a:cs typeface="Inter Text" pitchFamily="34" charset="-120"/>
              </a:rPr>
              <a:t>→ “How large does the deviation get?”</a:t>
            </a:r>
          </a:p>
        </p:txBody>
      </p:sp>
      <p:sp>
        <p:nvSpPr>
          <p:cNvPr id="89" name="Text 89"/>
          <p:cNvSpPr txBox="1"/>
          <p:nvPr/>
        </p:nvSpPr>
        <p:spPr>
          <a:xfrm>
            <a:off x="822960" y="6309360"/>
            <a:ext cx="6766560" cy="402336"/>
          </a:xfrm>
          <a:prstGeom prst="rect">
            <a:avLst/>
          </a:prstGeom>
          <a:noFill/>
          <a:ln/>
        </p:spPr>
        <p:txBody>
          <a:bodyPr wrap="square" lIns="0" tIns="0" rIns="0" bIns="0" rtlCol="0" anchor="ctr"/>
          <a:lstStyle/>
          <a:p>
            <a:pPr marL="0" indent="0" algn="l">
              <a:buNone/>
            </a:pPr>
            <a:r>
              <a:rPr lang="en-GB" sz="850" dirty="0">
                <a:solidFill>
                  <a:srgbClr val="C0392B"/>
                </a:solidFill>
                <a:latin typeface="Inter SemiBold Text SemiBold" pitchFamily="34" charset="0"/>
                <a:ea typeface="Inter SemiBold Text SemiBold" pitchFamily="34" charset="-122"/>
                <a:cs typeface="Inter SemiBold Text SemiBold" pitchFamily="34" charset="-120"/>
              </a:rPr>
              <a:t>Red</a:t>
            </a:r>
            <a:r>
              <a:rPr lang="en-GB" sz="850" dirty="0">
                <a:solidFill>
                  <a:srgbClr val="9AA4C2"/>
                </a:solidFill>
                <a:latin typeface="Inter Text" pitchFamily="34" charset="0"/>
                <a:ea typeface="Inter Text" pitchFamily="34" charset="-122"/>
                <a:cs typeface="Inter Text" pitchFamily="34" charset="-120"/>
              </a:rPr>
              <a:t> = rounded intermediate value   </a:t>
            </a:r>
            <a:r>
              <a:rPr lang="en-GB" sz="850" dirty="0">
                <a:solidFill>
                  <a:srgbClr val="1E8A4C"/>
                </a:solidFill>
                <a:latin typeface="Inter SemiBold Text SemiBold" pitchFamily="34" charset="0"/>
                <a:ea typeface="Inter SemiBold Text SemiBold" pitchFamily="34" charset="-122"/>
                <a:cs typeface="Inter SemiBold Text SemiBold" pitchFamily="34" charset="-120"/>
              </a:rPr>
              <a:t>Green</a:t>
            </a:r>
            <a:r>
              <a:rPr lang="en-GB" sz="850" dirty="0">
                <a:solidFill>
                  <a:srgbClr val="9AA4C2"/>
                </a:solidFill>
                <a:latin typeface="Inter Text" pitchFamily="34" charset="0"/>
                <a:ea typeface="Inter Text" pitchFamily="34" charset="-122"/>
                <a:cs typeface="Inter Text" pitchFamily="34" charset="-120"/>
              </a:rPr>
              <a:t> = paid amount, rounded once (bank)   </a:t>
            </a:r>
            <a:r>
              <a:rPr lang="en-GB" sz="850" dirty="0">
                <a:solidFill>
                  <a:srgbClr val="D98A00"/>
                </a:solidFill>
                <a:latin typeface="Inter SemiBold Text SemiBold" pitchFamily="34" charset="0"/>
                <a:ea typeface="Inter SemiBold Text SemiBold" pitchFamily="34" charset="-122"/>
                <a:cs typeface="Inter SemiBold Text SemiBold" pitchFamily="34" charset="-120"/>
              </a:rPr>
              <a:t>Orange</a:t>
            </a:r>
            <a:r>
              <a:rPr lang="en-GB" sz="850" dirty="0">
                <a:solidFill>
                  <a:srgbClr val="9AA4C2"/>
                </a:solidFill>
                <a:latin typeface="Inter Text" pitchFamily="34" charset="0"/>
                <a:ea typeface="Inter Text" pitchFamily="34" charset="-122"/>
                <a:cs typeface="Inter Text" pitchFamily="34" charset="-120"/>
              </a:rPr>
              <a:t> = rounded input value</a:t>
            </a:r>
          </a:p>
          <a:p>
            <a:pPr marL="0" indent="0" algn="l">
              <a:buNone/>
            </a:pPr>
            <a:r>
              <a:rPr lang="en-GB" sz="850" dirty="0">
                <a:solidFill>
                  <a:srgbClr val="9AA4C2"/>
                </a:solidFill>
                <a:latin typeface="Inter Text" pitchFamily="34" charset="0"/>
                <a:ea typeface="Inter Text" pitchFamily="34" charset="-122"/>
                <a:cs typeface="Inter Text" pitchFamily="34" charset="-120"/>
              </a:rPr>
              <a:t>dp = decimal places · Minor Unit = smallest currency unit, ISO 4217 (EUR: 2 dp) · ± for 100 lines of 100 units, 19% VAT</a:t>
            </a:r>
          </a:p>
          <a:p>
            <a:pPr marL="0" indent="0" algn="l">
              <a:buNone/>
            </a:pPr>
            <a:r>
              <a:rPr lang="en-GB" sz="850" dirty="0">
                <a:solidFill>
                  <a:srgbClr val="D32F2F"/>
                </a:solidFill>
                <a:latin typeface="Inter SemiBold Text SemiBold" pitchFamily="34" charset="0"/>
                <a:ea typeface="Inter SemiBold Text SemiBold" pitchFamily="34" charset="-122"/>
                <a:cs typeface="Inter SemiBold Text SemiBold" pitchFamily="34" charset="-120"/>
              </a:rPr>
              <a:t>Rain</a:t>
            </a:r>
            <a:r>
              <a:rPr lang="en-GB" sz="850" dirty="0">
                <a:solidFill>
                  <a:srgbClr val="C79100"/>
                </a:solidFill>
                <a:latin typeface="Inter SemiBold Text SemiBold" pitchFamily="34" charset="0"/>
                <a:ea typeface="Inter SemiBold Text SemiBold" pitchFamily="34" charset="-122"/>
                <a:cs typeface="Inter SemiBold Text SemiBold" pitchFamily="34" charset="-120"/>
              </a:rPr>
              <a:t>bo</a:t>
            </a:r>
            <a:r>
              <a:rPr lang="en-GB" sz="850" dirty="0">
                <a:solidFill>
                  <a:srgbClr val="1565C0"/>
                </a:solidFill>
                <a:latin typeface="Inter SemiBold Text SemiBold" pitchFamily="34" charset="0"/>
                <a:ea typeface="Inter SemiBold Text SemiBold" pitchFamily="34" charset="-122"/>
                <a:cs typeface="Inter SemiBold Text SemiBold" pitchFamily="34" charset="-120"/>
              </a:rPr>
              <a:t>w</a:t>
            </a:r>
            <a:r>
              <a:rPr lang="en-GB" sz="850" dirty="0">
                <a:solidFill>
                  <a:srgbClr val="9AA4C2"/>
                </a:solidFill>
                <a:latin typeface="Inter Text" pitchFamily="34" charset="0"/>
                <a:ea typeface="Inter Text" pitchFamily="34" charset="-122"/>
                <a:cs typeface="Inter Text" pitchFamily="34" charset="-120"/>
              </a:rPr>
              <a:t> = order of the calculation steps; a BT keeps its colour where it is reused further down</a:t>
            </a:r>
          </a:p>
        </p:txBody>
      </p:sp>
      <p:sp>
        <p:nvSpPr>
          <p:cNvPr id="90" name="Card 90"/>
          <p:cNvSpPr/>
          <p:nvPr/>
        </p:nvSpPr>
        <p:spPr>
          <a:xfrm>
            <a:off x="822960" y="5715000"/>
            <a:ext cx="6766560" cy="457200"/>
          </a:xfrm>
          <a:prstGeom prst="roundRect">
            <a:avLst>
              <a:gd name="adj" fmla="val 11666"/>
            </a:avLst>
          </a:prstGeom>
          <a:solidFill>
            <a:srgbClr val="FFFFFF"/>
          </a:solidFill>
          <a:ln w="12700">
            <a:solidFill>
              <a:srgbClr val="E2E7F2"/>
            </a:solidFill>
            <a:prstDash val="solid"/>
          </a:ln>
          <a:effectLst>
            <a:outerShdw blurRad="101600" dist="38100" dir="5400000" algn="bl" rotWithShape="0">
              <a:srgbClr val="0A1230">
                <a:alpha val="8000"/>
              </a:srgbClr>
            </a:outerShdw>
          </a:effectLst>
        </p:spPr>
        <p:txBody>
          <a:bodyPr/>
          <a:lstStyle/>
          <a:p>
            <a:endParaRPr lang="en-GB"/>
          </a:p>
        </p:txBody>
      </p:sp>
      <p:sp>
        <p:nvSpPr>
          <p:cNvPr id="91" name="Pill 91"/>
          <p:cNvSpPr/>
          <p:nvPr/>
        </p:nvSpPr>
        <p:spPr>
          <a:xfrm>
            <a:off x="960120" y="5814060"/>
            <a:ext cx="685800" cy="259080"/>
          </a:xfrm>
          <a:prstGeom prst="roundRect">
            <a:avLst>
              <a:gd name="adj" fmla="val 50000"/>
            </a:avLst>
          </a:prstGeom>
          <a:solidFill>
            <a:srgbClr val="AD1457"/>
          </a:solidFill>
          <a:ln>
            <a:noFill/>
          </a:ln>
        </p:spPr>
        <p:txBody>
          <a:bodyPr wrap="square" lIns="36576" tIns="36576" rIns="36576" bIns="36576" rtlCol="0" anchor="ctr"/>
          <a:lstStyle/>
          <a:p>
            <a:pPr marL="0" indent="0" algn="ctr">
              <a:buNone/>
            </a:pPr>
            <a:r>
              <a:rPr lang="en-GB" sz="1150" dirty="0">
                <a:solidFill>
                  <a:srgbClr val="FFFFFF"/>
                </a:solidFill>
                <a:latin typeface="Inter SemiBold Text SemiBold" pitchFamily="34" charset="0"/>
                <a:ea typeface="Inter SemiBold Text SemiBold" pitchFamily="34" charset="-122"/>
                <a:cs typeface="Inter SemiBold Text SemiBold" pitchFamily="34" charset="-120"/>
              </a:rPr>
              <a:t>BT-115</a:t>
            </a:r>
          </a:p>
        </p:txBody>
      </p:sp>
      <p:sp>
        <p:nvSpPr>
          <p:cNvPr id="92" name="Text 92"/>
          <p:cNvSpPr txBox="1"/>
          <p:nvPr/>
        </p:nvSpPr>
        <p:spPr>
          <a:xfrm>
            <a:off x="1965960" y="5730240"/>
            <a:ext cx="2788920" cy="198120"/>
          </a:xfrm>
          <a:prstGeom prst="rect">
            <a:avLst/>
          </a:prstGeom>
          <a:noFill/>
          <a:ln/>
        </p:spPr>
        <p:txBody>
          <a:bodyPr wrap="none" lIns="0" tIns="0" rIns="0" bIns="0" rtlCol="0" anchor="ctr"/>
          <a:lstStyle/>
          <a:p>
            <a:pPr marL="0" indent="0" algn="l">
              <a:buNone/>
            </a:pPr>
            <a:r>
              <a:rPr lang="en-GB" sz="1150" dirty="0">
                <a:solidFill>
                  <a:srgbClr val="1A2B5E"/>
                </a:solidFill>
                <a:latin typeface="Inter SemiBold Text SemiBold" pitchFamily="34" charset="0"/>
                <a:ea typeface="Inter SemiBold Text SemiBold" pitchFamily="34" charset="-122"/>
                <a:cs typeface="Inter SemiBold Text SemiBold" pitchFamily="34" charset="-120"/>
              </a:rPr>
              <a:t>Amount due for payment</a:t>
            </a:r>
          </a:p>
        </p:txBody>
      </p:sp>
      <p:sp>
        <p:nvSpPr>
          <p:cNvPr id="93" name="Text 93"/>
          <p:cNvSpPr txBox="1"/>
          <p:nvPr/>
        </p:nvSpPr>
        <p:spPr>
          <a:xfrm>
            <a:off x="1965960" y="5920740"/>
            <a:ext cx="2788920" cy="243840"/>
          </a:xfrm>
          <a:prstGeom prst="rect">
            <a:avLst/>
          </a:prstGeom>
          <a:noFill/>
          <a:ln/>
        </p:spPr>
        <p:txBody>
          <a:bodyPr wrap="square" lIns="0" tIns="0" rIns="0" bIns="0" rtlCol="0" anchor="t"/>
          <a:lstStyle/>
          <a:p>
            <a:pPr marL="0" indent="0" algn="l">
              <a:lnSpc>
                <a:spcPct val="95000"/>
              </a:lnSpc>
              <a:buNone/>
            </a:pPr>
            <a:r>
              <a:rPr lang="en-GB" sz="800" dirty="0">
                <a:solidFill>
                  <a:srgbClr val="5B6890"/>
                </a:solidFill>
                <a:latin typeface="Inter Text" pitchFamily="34" charset="0"/>
                <a:ea typeface="Inter Text" pitchFamily="34" charset="-122"/>
                <a:cs typeface="Inter Text" pitchFamily="34" charset="-120"/>
              </a:rPr>
              <a:t>= </a:t>
            </a:r>
            <a:r>
              <a:rPr lang="en-GB" sz="800" b="1" dirty="0">
                <a:solidFill>
                  <a:srgbClr val="6A1B9A"/>
                </a:solidFill>
                <a:latin typeface="Inter SemiBold Text SemiBold" pitchFamily="34" charset="0"/>
                <a:ea typeface="Inter SemiBold Text SemiBold" pitchFamily="34" charset="-122"/>
                <a:cs typeface="Inter SemiBold Text SemiBold" pitchFamily="34" charset="-120"/>
              </a:rPr>
              <a:t>BT-110</a:t>
            </a:r>
            <a:r>
              <a:rPr lang="en-GB" sz="800" dirty="0">
                <a:solidFill>
                  <a:srgbClr val="5B6890"/>
                </a:solidFill>
                <a:latin typeface="Inter Text" pitchFamily="34" charset="0"/>
                <a:ea typeface="Inter Text" pitchFamily="34" charset="-122"/>
                <a:cs typeface="Inter Text" pitchFamily="34" charset="-120"/>
              </a:rPr>
              <a:t> + </a:t>
            </a:r>
            <a:r>
              <a:rPr lang="en-GB" sz="800" dirty="0">
                <a:solidFill>
                  <a:srgbClr val="1A2B5E"/>
                </a:solidFill>
                <a:latin typeface="Inter SemiBold Text SemiBold" pitchFamily="34" charset="0"/>
                <a:ea typeface="Inter SemiBold Text SemiBold" pitchFamily="34" charset="-122"/>
                <a:cs typeface="Inter SemiBold Text SemiBold" pitchFamily="34" charset="-120"/>
              </a:rPr>
              <a:t>BT-109</a:t>
            </a:r>
            <a:r>
              <a:rPr lang="en-GB" sz="800" dirty="0">
                <a:solidFill>
                  <a:srgbClr val="5B6890"/>
                </a:solidFill>
                <a:latin typeface="Inter Text" pitchFamily="34" charset="0"/>
                <a:ea typeface="Inter Text" pitchFamily="34" charset="-122"/>
                <a:cs typeface="Inter Text" pitchFamily="34" charset="-120"/>
              </a:rPr>
              <a:t> Invoice total amount without VAT</a:t>
            </a:r>
            <a:br>
              <a:rPr lang="en-GB" sz="800" dirty="0">
                <a:solidFill>
                  <a:srgbClr val="5B6890"/>
                </a:solidFill>
                <a:latin typeface="Inter Text" pitchFamily="34" charset="0"/>
                <a:ea typeface="Inter Text" pitchFamily="34" charset="-122"/>
                <a:cs typeface="Inter Text" pitchFamily="34" charset="-120"/>
              </a:rPr>
            </a:br>
            <a:r>
              <a:rPr lang="en-GB" sz="800" dirty="0">
                <a:solidFill>
                  <a:srgbClr val="5B6890"/>
                </a:solidFill>
                <a:latin typeface="Inter Text" pitchFamily="34" charset="0"/>
                <a:ea typeface="Inter Text" pitchFamily="34" charset="-122"/>
                <a:cs typeface="Inter Text" pitchFamily="34" charset="-120"/>
              </a:rPr>
              <a:t>− </a:t>
            </a:r>
            <a:r>
              <a:rPr lang="en-GB" sz="800" dirty="0">
                <a:solidFill>
                  <a:srgbClr val="1A2B5E"/>
                </a:solidFill>
                <a:latin typeface="Inter SemiBold Text SemiBold" pitchFamily="34" charset="0"/>
                <a:ea typeface="Inter SemiBold Text SemiBold" pitchFamily="34" charset="-122"/>
                <a:cs typeface="Inter SemiBold Text SemiBold" pitchFamily="34" charset="-120"/>
              </a:rPr>
              <a:t>BT-113</a:t>
            </a:r>
            <a:r>
              <a:rPr lang="en-GB" sz="800" dirty="0">
                <a:solidFill>
                  <a:srgbClr val="5B6890"/>
                </a:solidFill>
                <a:latin typeface="Inter Text" pitchFamily="34" charset="0"/>
                <a:ea typeface="Inter Text" pitchFamily="34" charset="-122"/>
                <a:cs typeface="Inter Text" pitchFamily="34" charset="-120"/>
              </a:rPr>
              <a:t> Paid amount + </a:t>
            </a:r>
            <a:r>
              <a:rPr lang="en-GB" sz="800" dirty="0">
                <a:solidFill>
                  <a:srgbClr val="1A2B5E"/>
                </a:solidFill>
                <a:latin typeface="Inter SemiBold Text SemiBold" pitchFamily="34" charset="0"/>
                <a:ea typeface="Inter SemiBold Text SemiBold" pitchFamily="34" charset="-122"/>
                <a:cs typeface="Inter SemiBold Text SemiBold" pitchFamily="34" charset="-120"/>
              </a:rPr>
              <a:t>BT-114</a:t>
            </a:r>
            <a:r>
              <a:rPr lang="en-GB" sz="800" dirty="0">
                <a:solidFill>
                  <a:srgbClr val="5B6890"/>
                </a:solidFill>
                <a:latin typeface="Inter Text" pitchFamily="34" charset="0"/>
                <a:ea typeface="Inter Text" pitchFamily="34" charset="-122"/>
                <a:cs typeface="Inter Text" pitchFamily="34" charset="-120"/>
              </a:rPr>
              <a:t> Rounding amount</a:t>
            </a:r>
          </a:p>
        </p:txBody>
      </p:sp>
      <p:sp>
        <p:nvSpPr>
          <p:cNvPr id="94" name="Pill 94"/>
          <p:cNvSpPr/>
          <p:nvPr/>
        </p:nvSpPr>
        <p:spPr>
          <a:xfrm>
            <a:off x="4773168" y="5768340"/>
            <a:ext cx="1207008" cy="350520"/>
          </a:xfrm>
          <a:prstGeom prst="roundRect">
            <a:avLst>
              <a:gd name="adj" fmla="val 50000"/>
            </a:avLst>
          </a:prstGeom>
          <a:solidFill>
            <a:srgbClr val="E8F6EE"/>
          </a:solidFill>
          <a:ln w="9525">
            <a:solidFill>
              <a:srgbClr val="B7E1C7"/>
            </a:solidFill>
            <a:prstDash val="solid"/>
          </a:ln>
        </p:spPr>
        <p:txBody>
          <a:bodyPr wrap="square" lIns="18288" tIns="18288" rIns="18288" bIns="18288" rtlCol="0" anchor="ctr"/>
          <a:lstStyle/>
          <a:p>
            <a:pPr marL="0" indent="0" algn="ctr">
              <a:buNone/>
            </a:pPr>
            <a:r>
              <a:rPr lang="en-GB" sz="1150" dirty="0">
                <a:solidFill>
                  <a:srgbClr val="1E8A4C"/>
                </a:solidFill>
                <a:latin typeface="Inter SemiBold Text SemiBold" pitchFamily="34" charset="0"/>
                <a:ea typeface="Inter SemiBold Text SemiBold" pitchFamily="34" charset="-122"/>
                <a:cs typeface="Inter SemiBold Text SemiBold" pitchFamily="34" charset="-120"/>
              </a:rPr>
              <a:t>Minor Unit</a:t>
            </a:r>
          </a:p>
          <a:p>
            <a:pPr marL="0" indent="0" algn="ctr">
              <a:buNone/>
            </a:pPr>
            <a:r>
              <a:rPr lang="en-GB" sz="800" dirty="0">
                <a:solidFill>
                  <a:srgbClr val="1E8A4C"/>
                </a:solidFill>
                <a:latin typeface="Inter Text" pitchFamily="34" charset="0"/>
                <a:ea typeface="Inter Text" pitchFamily="34" charset="-122"/>
                <a:cs typeface="Inter Text" pitchFamily="34" charset="-120"/>
              </a:rPr>
              <a:t>final value · bank</a:t>
            </a:r>
          </a:p>
        </p:txBody>
      </p:sp>
      <p:sp>
        <p:nvSpPr>
          <p:cNvPr id="95" name="Text 95"/>
          <p:cNvSpPr txBox="1"/>
          <p:nvPr/>
        </p:nvSpPr>
        <p:spPr>
          <a:xfrm>
            <a:off x="5989320" y="5745480"/>
            <a:ext cx="1508760" cy="243840"/>
          </a:xfrm>
          <a:prstGeom prst="rect">
            <a:avLst/>
          </a:prstGeom>
          <a:noFill/>
          <a:ln/>
        </p:spPr>
        <p:txBody>
          <a:bodyPr wrap="square" lIns="0" tIns="0" rIns="0" bIns="0" rtlCol="0" anchor="ctr"/>
          <a:lstStyle/>
          <a:p>
            <a:pPr marL="0" indent="0" algn="r">
              <a:buNone/>
            </a:pPr>
            <a:r>
              <a:rPr lang="en-GB" sz="1300" b="1" dirty="0">
                <a:solidFill>
                  <a:srgbClr val="C0392B"/>
                </a:solidFill>
                <a:latin typeface="Consolas" pitchFamily="34" charset="0"/>
                <a:ea typeface="Consolas" pitchFamily="34" charset="-122"/>
                <a:cs typeface="Consolas" pitchFamily="34" charset="-120"/>
              </a:rPr>
              <a:t>± €1.19</a:t>
            </a:r>
          </a:p>
        </p:txBody>
      </p:sp>
      <p:sp>
        <p:nvSpPr>
          <p:cNvPr id="96" name="Text 96"/>
          <p:cNvSpPr txBox="1"/>
          <p:nvPr/>
        </p:nvSpPr>
        <p:spPr>
          <a:xfrm>
            <a:off x="5577840" y="5981700"/>
            <a:ext cx="1920240" cy="167640"/>
          </a:xfrm>
          <a:prstGeom prst="rect">
            <a:avLst/>
          </a:prstGeom>
          <a:noFill/>
          <a:ln/>
        </p:spPr>
        <p:txBody>
          <a:bodyPr wrap="square" lIns="0" tIns="0" rIns="0" bIns="0" rtlCol="0" anchor="ctr"/>
          <a:lstStyle/>
          <a:p>
            <a:pPr marL="0" indent="0" algn="r">
              <a:buNone/>
            </a:pPr>
            <a:r>
              <a:rPr lang="en-GB" sz="850" dirty="0">
                <a:solidFill>
                  <a:srgbClr val="9AA4C2"/>
                </a:solidFill>
                <a:latin typeface="Inter Text" pitchFamily="34" charset="0"/>
                <a:ea typeface="Inter Text" pitchFamily="34" charset="-122"/>
                <a:cs typeface="Inter Text" pitchFamily="34" charset="-120"/>
              </a:rPr>
              <a:t>€1.00 + €0.19</a:t>
            </a:r>
          </a:p>
        </p:txBody>
      </p:sp>
      <p:cxnSp>
        <p:nvCxnSpPr>
          <p:cNvPr id="97" name="Connector 97"/>
          <p:cNvCxnSpPr/>
          <p:nvPr/>
        </p:nvCxnSpPr>
        <p:spPr>
          <a:xfrm>
            <a:off x="1303020" y="5678424"/>
            <a:ext cx="0" cy="36576"/>
          </a:xfrm>
          <a:prstGeom prst="line">
            <a:avLst/>
          </a:prstGeom>
          <a:ln w="15875">
            <a:solidFill>
              <a:srgbClr val="9AA4C2"/>
            </a:solidFill>
          </a:ln>
        </p:spPr>
      </p:cxnSp>
      <p:sp>
        <p:nvSpPr>
          <p:cNvPr id="98" name="Text 98"/>
          <p:cNvSpPr txBox="1"/>
          <p:nvPr/>
        </p:nvSpPr>
        <p:spPr>
          <a:xfrm>
            <a:off x="8065008" y="5175504"/>
            <a:ext cx="2514600" cy="274320"/>
          </a:xfrm>
          <a:prstGeom prst="rect">
            <a:avLst/>
          </a:prstGeom>
          <a:noFill/>
          <a:ln/>
        </p:spPr>
        <p:txBody>
          <a:bodyPr wrap="none" lIns="0" tIns="0" rIns="0" bIns="0" rtlCol="0" anchor="ctr"/>
          <a:lstStyle/>
          <a:p>
            <a:pPr marL="0" indent="0" algn="l">
              <a:buNone/>
            </a:pPr>
            <a:r>
              <a:rPr lang="en-GB" sz="1000" b="1" dirty="0">
                <a:solidFill>
                  <a:srgbClr val="F48FB1"/>
                </a:solidFill>
                <a:latin typeface="Inter SemiBold Text SemiBold" pitchFamily="34" charset="0"/>
                <a:ea typeface="Inter SemiBold Text SemiBold" pitchFamily="34" charset="-122"/>
                <a:cs typeface="Inter SemiBold Text SemiBold" pitchFamily="34" charset="-120"/>
              </a:rPr>
              <a:t>BT-115 </a:t>
            </a:r>
            <a:r>
              <a:rPr lang="en-GB" sz="1000" dirty="0">
                <a:solidFill>
                  <a:srgbClr val="9AA4C2"/>
                </a:solidFill>
                <a:latin typeface="Inter Text" pitchFamily="34" charset="0"/>
                <a:ea typeface="Inter Text" pitchFamily="34" charset="-122"/>
                <a:cs typeface="Inter Text" pitchFamily="34" charset="-120"/>
              </a:rPr>
              <a:t>Amount due for payment</a:t>
            </a:r>
          </a:p>
        </p:txBody>
      </p:sp>
      <p:sp>
        <p:nvSpPr>
          <p:cNvPr id="99" name="Text 99"/>
          <p:cNvSpPr txBox="1"/>
          <p:nvPr/>
        </p:nvSpPr>
        <p:spPr>
          <a:xfrm>
            <a:off x="9994392" y="5175504"/>
            <a:ext cx="1188720" cy="274320"/>
          </a:xfrm>
          <a:prstGeom prst="rect">
            <a:avLst/>
          </a:prstGeom>
          <a:noFill/>
          <a:ln/>
        </p:spPr>
        <p:txBody>
          <a:bodyPr wrap="none" lIns="0" tIns="0" rIns="0" bIns="0" rtlCol="0" anchor="ctr"/>
          <a:lstStyle/>
          <a:p>
            <a:pPr marL="0" indent="0" algn="r">
              <a:buNone/>
            </a:pPr>
            <a:r>
              <a:rPr lang="en-GB" sz="1000" dirty="0">
                <a:solidFill>
                  <a:srgbClr val="81C784"/>
                </a:solidFill>
                <a:latin typeface="Inter SemiBold Text SemiBold" pitchFamily="34" charset="0"/>
                <a:ea typeface="Inter SemiBold Text SemiBold" pitchFamily="34" charset="-122"/>
                <a:cs typeface="Inter SemiBold Text SemiBold" pitchFamily="34" charset="-120"/>
              </a:rPr>
              <a:t>Minor Unit</a:t>
            </a:r>
          </a:p>
        </p:txBody>
      </p:sp>
      <p:sp>
        <p:nvSpPr>
          <p:cNvPr id="100" name="Reuse 100"/>
          <p:cNvSpPr/>
          <p:nvPr/>
        </p:nvSpPr>
        <p:spPr>
          <a:xfrm>
            <a:off x="1645920" y="2679192"/>
            <a:ext cx="309067" cy="530351"/>
          </a:xfrm>
          <a:custGeom>
            <a:avLst/>
            <a:gdLst/>
            <a:ahLst/>
            <a:cxnLst/>
            <a:rect l="l" t="t" r="r" b="b"/>
            <a:pathLst>
              <a:path w="309067" h="530351" fill="none">
                <a:moveTo>
                  <a:pt x="0" y="0"/>
                </a:moveTo>
                <a:lnTo>
                  <a:pt x="256032" y="0"/>
                </a:lnTo>
                <a:lnTo>
                  <a:pt x="256032" y="530351"/>
                </a:lnTo>
                <a:lnTo>
                  <a:pt x="309067" y="530351"/>
                </a:lnTo>
              </a:path>
            </a:pathLst>
          </a:custGeom>
          <a:noFill/>
          <a:ln w="15875">
            <a:solidFill>
              <a:srgbClr val="D32F2F"/>
            </a:solidFill>
            <a:round/>
            <a:tailEnd type="triangle" w="sm" len="sm"/>
          </a:ln>
        </p:spPr>
        <p:txBody>
          <a:bodyPr/>
          <a:lstStyle/>
          <a:p>
            <a:endParaRPr lang="en-GB"/>
          </a:p>
        </p:txBody>
      </p:sp>
      <p:sp>
        <p:nvSpPr>
          <p:cNvPr id="101" name="Reuse 101"/>
          <p:cNvSpPr/>
          <p:nvPr/>
        </p:nvSpPr>
        <p:spPr>
          <a:xfrm>
            <a:off x="1645920" y="3172968"/>
            <a:ext cx="309067" cy="530352"/>
          </a:xfrm>
          <a:custGeom>
            <a:avLst/>
            <a:gdLst/>
            <a:ahLst/>
            <a:cxnLst/>
            <a:rect l="l" t="t" r="r" b="b"/>
            <a:pathLst>
              <a:path w="309067" h="530352" fill="none">
                <a:moveTo>
                  <a:pt x="0" y="0"/>
                </a:moveTo>
                <a:lnTo>
                  <a:pt x="210311" y="0"/>
                </a:lnTo>
                <a:lnTo>
                  <a:pt x="210311" y="530352"/>
                </a:lnTo>
                <a:lnTo>
                  <a:pt x="309067" y="530352"/>
                </a:lnTo>
              </a:path>
            </a:pathLst>
          </a:custGeom>
          <a:noFill/>
          <a:ln w="15875">
            <a:solidFill>
              <a:srgbClr val="EF6C00"/>
            </a:solidFill>
            <a:round/>
            <a:tailEnd type="triangle" w="sm" len="sm"/>
          </a:ln>
        </p:spPr>
        <p:txBody>
          <a:bodyPr/>
          <a:lstStyle/>
          <a:p>
            <a:endParaRPr lang="en-GB"/>
          </a:p>
        </p:txBody>
      </p:sp>
      <p:sp>
        <p:nvSpPr>
          <p:cNvPr id="102" name="Reuse 102"/>
          <p:cNvSpPr/>
          <p:nvPr/>
        </p:nvSpPr>
        <p:spPr>
          <a:xfrm>
            <a:off x="1645920" y="3172968"/>
            <a:ext cx="309067" cy="1325880"/>
          </a:xfrm>
          <a:custGeom>
            <a:avLst/>
            <a:gdLst/>
            <a:ahLst/>
            <a:cxnLst/>
            <a:rect l="l" t="t" r="r" b="b"/>
            <a:pathLst>
              <a:path w="309067" h="1325880" fill="none">
                <a:moveTo>
                  <a:pt x="0" y="0"/>
                </a:moveTo>
                <a:lnTo>
                  <a:pt x="210311" y="0"/>
                </a:lnTo>
                <a:lnTo>
                  <a:pt x="210311" y="1325880"/>
                </a:lnTo>
                <a:lnTo>
                  <a:pt x="309067" y="1325880"/>
                </a:lnTo>
              </a:path>
            </a:pathLst>
          </a:custGeom>
          <a:noFill/>
          <a:ln w="15875">
            <a:solidFill>
              <a:srgbClr val="EF6C00"/>
            </a:solidFill>
            <a:round/>
            <a:tailEnd type="triangle" w="sm" len="sm"/>
          </a:ln>
        </p:spPr>
        <p:txBody>
          <a:bodyPr/>
          <a:lstStyle/>
          <a:p>
            <a:endParaRPr lang="en-GB"/>
          </a:p>
        </p:txBody>
      </p:sp>
      <p:sp>
        <p:nvSpPr>
          <p:cNvPr id="103" name="Reuse 103"/>
          <p:cNvSpPr/>
          <p:nvPr/>
        </p:nvSpPr>
        <p:spPr>
          <a:xfrm>
            <a:off x="1645920" y="4462272"/>
            <a:ext cx="309067" cy="530352"/>
          </a:xfrm>
          <a:custGeom>
            <a:avLst/>
            <a:gdLst/>
            <a:ahLst/>
            <a:cxnLst/>
            <a:rect l="l" t="t" r="r" b="b"/>
            <a:pathLst>
              <a:path w="309067" h="530352" fill="none">
                <a:moveTo>
                  <a:pt x="0" y="0"/>
                </a:moveTo>
                <a:lnTo>
                  <a:pt x="164591" y="0"/>
                </a:lnTo>
                <a:lnTo>
                  <a:pt x="164591" y="530352"/>
                </a:lnTo>
                <a:lnTo>
                  <a:pt x="309067" y="530352"/>
                </a:lnTo>
              </a:path>
            </a:pathLst>
          </a:custGeom>
          <a:noFill/>
          <a:ln w="15875">
            <a:solidFill>
              <a:srgbClr val="2E7D32"/>
            </a:solidFill>
            <a:round/>
            <a:tailEnd type="triangle" w="sm" len="sm"/>
          </a:ln>
        </p:spPr>
        <p:txBody>
          <a:bodyPr/>
          <a:lstStyle/>
          <a:p>
            <a:endParaRPr lang="en-GB"/>
          </a:p>
        </p:txBody>
      </p:sp>
      <p:sp>
        <p:nvSpPr>
          <p:cNvPr id="104" name="Reuse 104"/>
          <p:cNvSpPr/>
          <p:nvPr/>
        </p:nvSpPr>
        <p:spPr>
          <a:xfrm>
            <a:off x="1645920" y="4956048"/>
            <a:ext cx="309067" cy="530352"/>
          </a:xfrm>
          <a:custGeom>
            <a:avLst/>
            <a:gdLst/>
            <a:ahLst/>
            <a:cxnLst/>
            <a:rect l="l" t="t" r="r" b="b"/>
            <a:pathLst>
              <a:path w="309067" h="530352" fill="none">
                <a:moveTo>
                  <a:pt x="0" y="0"/>
                </a:moveTo>
                <a:lnTo>
                  <a:pt x="118871" y="0"/>
                </a:lnTo>
                <a:lnTo>
                  <a:pt x="118871" y="530352"/>
                </a:lnTo>
                <a:lnTo>
                  <a:pt x="309067" y="530352"/>
                </a:lnTo>
              </a:path>
            </a:pathLst>
          </a:custGeom>
          <a:noFill/>
          <a:ln w="15875">
            <a:solidFill>
              <a:srgbClr val="1565C0"/>
            </a:solidFill>
            <a:round/>
            <a:tailEnd type="triangle" w="sm" len="sm"/>
          </a:ln>
        </p:spPr>
        <p:txBody>
          <a:bodyPr/>
          <a:lstStyle/>
          <a:p>
            <a:endParaRPr lang="en-GB"/>
          </a:p>
        </p:txBody>
      </p:sp>
      <p:sp>
        <p:nvSpPr>
          <p:cNvPr id="105" name="Reuse 105"/>
          <p:cNvSpPr/>
          <p:nvPr/>
        </p:nvSpPr>
        <p:spPr>
          <a:xfrm>
            <a:off x="1645920" y="5449824"/>
            <a:ext cx="309067" cy="530352"/>
          </a:xfrm>
          <a:custGeom>
            <a:avLst/>
            <a:gdLst/>
            <a:ahLst/>
            <a:cxnLst/>
            <a:rect l="l" t="t" r="r" b="b"/>
            <a:pathLst>
              <a:path w="309067" h="530352" fill="none">
                <a:moveTo>
                  <a:pt x="0" y="0"/>
                </a:moveTo>
                <a:lnTo>
                  <a:pt x="73151" y="0"/>
                </a:lnTo>
                <a:lnTo>
                  <a:pt x="73151" y="530352"/>
                </a:lnTo>
                <a:lnTo>
                  <a:pt x="309067" y="530352"/>
                </a:lnTo>
              </a:path>
            </a:pathLst>
          </a:custGeom>
          <a:noFill/>
          <a:ln w="15875">
            <a:solidFill>
              <a:srgbClr val="6A1B9A"/>
            </a:solidFill>
            <a:round/>
            <a:tailEnd type="triangle" w="sm" len="sm"/>
          </a:ln>
        </p:spPr>
        <p:txBody>
          <a:bodyPr/>
          <a:lstStyle/>
          <a:p>
            <a:endParaRPr lang="en-GB"/>
          </a:p>
        </p:txBody>
      </p:sp>
      <p:sp>
        <p:nvSpPr>
          <p:cNvPr id="106" name="Text 106"/>
          <p:cNvSpPr txBox="1"/>
          <p:nvPr/>
        </p:nvSpPr>
        <p:spPr>
          <a:xfrm>
            <a:off x="8065008" y="2542032"/>
            <a:ext cx="2514600" cy="113843"/>
          </a:xfrm>
          <a:prstGeom prst="rect">
            <a:avLst/>
          </a:prstGeom>
          <a:noFill/>
          <a:ln/>
        </p:spPr>
        <p:txBody>
          <a:bodyPr wrap="none" lIns="0" tIns="0" rIns="0" bIns="0" rtlCol="0" anchor="ctr"/>
          <a:lstStyle/>
          <a:p>
            <a:pPr marL="0" indent="0" algn="l">
              <a:buNone/>
            </a:pPr>
            <a:r>
              <a:rPr lang="en-GB" sz="700" dirty="0">
                <a:solidFill>
                  <a:srgbClr val="FFFFFF"/>
                </a:solidFill>
                <a:latin typeface="Inter SemiBold Text SemiBold" pitchFamily="34" charset="0"/>
                <a:ea typeface="Inter SemiBold Text SemiBold" pitchFamily="34" charset="-122"/>
                <a:cs typeface="Inter SemiBold Text SemiBold" pitchFamily="34" charset="-120"/>
              </a:rPr>
              <a:t>BT-148 </a:t>
            </a:r>
            <a:r>
              <a:rPr lang="en-GB" sz="700" dirty="0">
                <a:solidFill>
                  <a:srgbClr val="9AA4C2"/>
                </a:solidFill>
                <a:latin typeface="Inter Text" pitchFamily="34" charset="0"/>
                <a:ea typeface="Inter Text" pitchFamily="34" charset="-122"/>
                <a:cs typeface="Inter Text" pitchFamily="34" charset="-120"/>
              </a:rPr>
              <a:t>Item gross price</a:t>
            </a:r>
          </a:p>
        </p:txBody>
      </p:sp>
      <p:sp>
        <p:nvSpPr>
          <p:cNvPr id="107" name="Text 107"/>
          <p:cNvSpPr txBox="1"/>
          <p:nvPr/>
        </p:nvSpPr>
        <p:spPr>
          <a:xfrm>
            <a:off x="9994392" y="2542032"/>
            <a:ext cx="1188720" cy="113843"/>
          </a:xfrm>
          <a:prstGeom prst="rect">
            <a:avLst/>
          </a:prstGeom>
          <a:noFill/>
          <a:ln/>
        </p:spPr>
        <p:txBody>
          <a:bodyPr wrap="none" lIns="0" tIns="0" rIns="0" bIns="0" rtlCol="0" anchor="ctr"/>
          <a:lstStyle/>
          <a:p>
            <a:pPr marL="0" indent="0" algn="r">
              <a:buNone/>
            </a:pPr>
            <a:r>
              <a:rPr lang="en-GB" sz="700" dirty="0">
                <a:solidFill>
                  <a:srgbClr val="FFB547"/>
                </a:solidFill>
                <a:latin typeface="Inter SemiBold Text SemiBold" pitchFamily="34" charset="0"/>
                <a:ea typeface="Inter SemiBold Text SemiBold" pitchFamily="34" charset="-122"/>
                <a:cs typeface="Inter SemiBold Text SemiBold" pitchFamily="34" charset="-120"/>
              </a:rPr>
              <a:t>Minor Unit + 2</a:t>
            </a:r>
          </a:p>
        </p:txBody>
      </p:sp>
      <p:sp>
        <p:nvSpPr>
          <p:cNvPr id="108" name="Text 108"/>
          <p:cNvSpPr txBox="1"/>
          <p:nvPr/>
        </p:nvSpPr>
        <p:spPr>
          <a:xfrm>
            <a:off x="8065008" y="2655875"/>
            <a:ext cx="2514600" cy="113843"/>
          </a:xfrm>
          <a:prstGeom prst="rect">
            <a:avLst/>
          </a:prstGeom>
          <a:noFill/>
          <a:ln/>
        </p:spPr>
        <p:txBody>
          <a:bodyPr wrap="none" lIns="0" tIns="0" rIns="0" bIns="0" rtlCol="0" anchor="ctr"/>
          <a:lstStyle/>
          <a:p>
            <a:pPr marL="0" indent="0" algn="l">
              <a:buNone/>
            </a:pPr>
            <a:r>
              <a:rPr lang="en-GB" sz="700" dirty="0">
                <a:solidFill>
                  <a:srgbClr val="FFFFFF"/>
                </a:solidFill>
                <a:latin typeface="Inter SemiBold Text SemiBold" pitchFamily="34" charset="0"/>
                <a:ea typeface="Inter SemiBold Text SemiBold" pitchFamily="34" charset="-122"/>
                <a:cs typeface="Inter SemiBold Text SemiBold" pitchFamily="34" charset="-120"/>
              </a:rPr>
              <a:t>BT-147 </a:t>
            </a:r>
            <a:r>
              <a:rPr lang="en-GB" sz="700" dirty="0">
                <a:solidFill>
                  <a:srgbClr val="9AA4C2"/>
                </a:solidFill>
                <a:latin typeface="Inter Text" pitchFamily="34" charset="0"/>
                <a:ea typeface="Inter Text" pitchFamily="34" charset="-122"/>
                <a:cs typeface="Inter Text" pitchFamily="34" charset="-120"/>
              </a:rPr>
              <a:t>Item price discount</a:t>
            </a:r>
          </a:p>
        </p:txBody>
      </p:sp>
      <p:sp>
        <p:nvSpPr>
          <p:cNvPr id="109" name="Text 109"/>
          <p:cNvSpPr txBox="1"/>
          <p:nvPr/>
        </p:nvSpPr>
        <p:spPr>
          <a:xfrm>
            <a:off x="9994392" y="2655875"/>
            <a:ext cx="1188720" cy="113843"/>
          </a:xfrm>
          <a:prstGeom prst="rect">
            <a:avLst/>
          </a:prstGeom>
          <a:noFill/>
          <a:ln/>
        </p:spPr>
        <p:txBody>
          <a:bodyPr wrap="none" lIns="0" tIns="0" rIns="0" bIns="0" rtlCol="0" anchor="ctr"/>
          <a:lstStyle/>
          <a:p>
            <a:pPr marL="0" indent="0" algn="r">
              <a:buNone/>
            </a:pPr>
            <a:r>
              <a:rPr lang="en-GB" sz="700" dirty="0">
                <a:solidFill>
                  <a:srgbClr val="FFB547"/>
                </a:solidFill>
                <a:latin typeface="Inter SemiBold Text SemiBold" pitchFamily="34" charset="0"/>
                <a:ea typeface="Inter SemiBold Text SemiBold" pitchFamily="34" charset="-122"/>
                <a:cs typeface="Inter SemiBold Text SemiBold" pitchFamily="34" charset="-120"/>
              </a:rPr>
              <a:t>Minor Unit + 2</a:t>
            </a:r>
          </a:p>
        </p:txBody>
      </p:sp>
      <p:sp>
        <p:nvSpPr>
          <p:cNvPr id="110" name="Text 110"/>
          <p:cNvSpPr txBox="1"/>
          <p:nvPr/>
        </p:nvSpPr>
        <p:spPr>
          <a:xfrm>
            <a:off x="8065008" y="2769718"/>
            <a:ext cx="2514600" cy="113843"/>
          </a:xfrm>
          <a:prstGeom prst="rect">
            <a:avLst/>
          </a:prstGeom>
          <a:noFill/>
          <a:ln/>
        </p:spPr>
        <p:txBody>
          <a:bodyPr wrap="none" lIns="0" tIns="0" rIns="0" bIns="0" rtlCol="0" anchor="ctr"/>
          <a:lstStyle/>
          <a:p>
            <a:pPr marL="0" indent="0" algn="l">
              <a:buNone/>
            </a:pPr>
            <a:r>
              <a:rPr lang="en-GB" sz="700" b="1" dirty="0">
                <a:solidFill>
                  <a:srgbClr val="FF8A80"/>
                </a:solidFill>
                <a:latin typeface="Inter SemiBold Text SemiBold" pitchFamily="34" charset="0"/>
                <a:ea typeface="Inter SemiBold Text SemiBold" pitchFamily="34" charset="-122"/>
                <a:cs typeface="Inter SemiBold Text SemiBold" pitchFamily="34" charset="-120"/>
              </a:rPr>
              <a:t>BT-146 </a:t>
            </a:r>
            <a:r>
              <a:rPr lang="en-GB" sz="700" dirty="0">
                <a:solidFill>
                  <a:srgbClr val="9AA4C2"/>
                </a:solidFill>
                <a:latin typeface="Inter Text" pitchFamily="34" charset="0"/>
                <a:ea typeface="Inter Text" pitchFamily="34" charset="-122"/>
                <a:cs typeface="Inter Text" pitchFamily="34" charset="-120"/>
              </a:rPr>
              <a:t>Item net price</a:t>
            </a:r>
          </a:p>
        </p:txBody>
      </p:sp>
      <p:sp>
        <p:nvSpPr>
          <p:cNvPr id="111" name="Text 111"/>
          <p:cNvSpPr txBox="1"/>
          <p:nvPr/>
        </p:nvSpPr>
        <p:spPr>
          <a:xfrm>
            <a:off x="9994392" y="2769718"/>
            <a:ext cx="1188720" cy="113843"/>
          </a:xfrm>
          <a:prstGeom prst="rect">
            <a:avLst/>
          </a:prstGeom>
          <a:noFill/>
          <a:ln/>
        </p:spPr>
        <p:txBody>
          <a:bodyPr wrap="none" lIns="0" tIns="0" rIns="0" bIns="0" rtlCol="0" anchor="ctr"/>
          <a:lstStyle/>
          <a:p>
            <a:pPr marL="0" indent="0" algn="r">
              <a:buNone/>
            </a:pPr>
            <a:r>
              <a:rPr lang="en-GB" sz="700" dirty="0">
                <a:solidFill>
                  <a:srgbClr val="FF8A80"/>
                </a:solidFill>
                <a:latin typeface="Inter SemiBold Text SemiBold" pitchFamily="34" charset="0"/>
                <a:ea typeface="Inter SemiBold Text SemiBold" pitchFamily="34" charset="-122"/>
                <a:cs typeface="Inter SemiBold Text SemiBold" pitchFamily="34" charset="-120"/>
              </a:rPr>
              <a:t>Minor Unit + 2</a:t>
            </a:r>
          </a:p>
        </p:txBody>
      </p:sp>
      <p:sp>
        <p:nvSpPr>
          <p:cNvPr id="112" name="Text 112"/>
          <p:cNvSpPr txBox="1"/>
          <p:nvPr/>
        </p:nvSpPr>
        <p:spPr>
          <a:xfrm>
            <a:off x="8065008" y="2883560"/>
            <a:ext cx="2514600" cy="113843"/>
          </a:xfrm>
          <a:prstGeom prst="rect">
            <a:avLst/>
          </a:prstGeom>
          <a:noFill/>
          <a:ln/>
        </p:spPr>
        <p:txBody>
          <a:bodyPr wrap="none" lIns="0" tIns="0" rIns="0" bIns="0" rtlCol="0" anchor="ctr"/>
          <a:lstStyle/>
          <a:p>
            <a:pPr marL="0" indent="0" algn="l">
              <a:buNone/>
            </a:pPr>
            <a:r>
              <a:rPr lang="en-GB" sz="700" dirty="0">
                <a:solidFill>
                  <a:srgbClr val="FFFFFF"/>
                </a:solidFill>
                <a:latin typeface="Inter SemiBold Text SemiBold" pitchFamily="34" charset="0"/>
                <a:ea typeface="Inter SemiBold Text SemiBold" pitchFamily="34" charset="-122"/>
                <a:cs typeface="Inter SemiBold Text SemiBold" pitchFamily="34" charset="-120"/>
              </a:rPr>
              <a:t>BT-129 </a:t>
            </a:r>
            <a:r>
              <a:rPr lang="en-GB" sz="700" dirty="0">
                <a:solidFill>
                  <a:srgbClr val="9AA4C2"/>
                </a:solidFill>
                <a:latin typeface="Inter Text" pitchFamily="34" charset="0"/>
                <a:ea typeface="Inter Text" pitchFamily="34" charset="-122"/>
                <a:cs typeface="Inter Text" pitchFamily="34" charset="-120"/>
              </a:rPr>
              <a:t>Invoiced quantity</a:t>
            </a:r>
          </a:p>
        </p:txBody>
      </p:sp>
      <p:sp>
        <p:nvSpPr>
          <p:cNvPr id="113" name="Text 113"/>
          <p:cNvSpPr txBox="1"/>
          <p:nvPr/>
        </p:nvSpPr>
        <p:spPr>
          <a:xfrm>
            <a:off x="10515600" y="2883560"/>
            <a:ext cx="667512" cy="113843"/>
          </a:xfrm>
          <a:prstGeom prst="rect">
            <a:avLst/>
          </a:prstGeom>
          <a:noFill/>
          <a:ln/>
        </p:spPr>
        <p:txBody>
          <a:bodyPr wrap="square" lIns="0" tIns="0" rIns="0" bIns="0" rtlCol="0" anchor="ctr"/>
          <a:lstStyle/>
          <a:p>
            <a:pPr marL="0" indent="0" algn="r">
              <a:buNone/>
            </a:pPr>
            <a:r>
              <a:rPr lang="en-GB" sz="700" dirty="0">
                <a:solidFill>
                  <a:srgbClr val="FFB547"/>
                </a:solidFill>
                <a:latin typeface="Inter SemiBold Text SemiBold" pitchFamily="34" charset="0"/>
                <a:ea typeface="Inter SemiBold Text SemiBold" pitchFamily="34" charset="-122"/>
                <a:cs typeface="Inter SemiBold Text SemiBold" pitchFamily="34" charset="-120"/>
              </a:rPr>
              <a:t>4 dp</a:t>
            </a:r>
          </a:p>
        </p:txBody>
      </p:sp>
      <p:sp>
        <p:nvSpPr>
          <p:cNvPr id="114" name="Text 114"/>
          <p:cNvSpPr txBox="1"/>
          <p:nvPr/>
        </p:nvSpPr>
        <p:spPr>
          <a:xfrm>
            <a:off x="8065008" y="2997403"/>
            <a:ext cx="2514600" cy="113843"/>
          </a:xfrm>
          <a:prstGeom prst="rect">
            <a:avLst/>
          </a:prstGeom>
          <a:noFill/>
          <a:ln/>
        </p:spPr>
        <p:txBody>
          <a:bodyPr wrap="none" lIns="0" tIns="0" rIns="0" bIns="0" rtlCol="0" anchor="ctr"/>
          <a:lstStyle/>
          <a:p>
            <a:pPr marL="0" indent="0" algn="l">
              <a:buNone/>
            </a:pPr>
            <a:r>
              <a:rPr lang="en-GB" sz="700" dirty="0">
                <a:solidFill>
                  <a:srgbClr val="FFFFFF"/>
                </a:solidFill>
                <a:latin typeface="Inter SemiBold Text SemiBold" pitchFamily="34" charset="0"/>
                <a:ea typeface="Inter SemiBold Text SemiBold" pitchFamily="34" charset="-122"/>
                <a:cs typeface="Inter SemiBold Text SemiBold" pitchFamily="34" charset="-120"/>
              </a:rPr>
              <a:t>BT-149 </a:t>
            </a:r>
            <a:r>
              <a:rPr lang="en-GB" sz="700" dirty="0">
                <a:solidFill>
                  <a:srgbClr val="9AA4C2"/>
                </a:solidFill>
                <a:latin typeface="Inter Text" pitchFamily="34" charset="0"/>
                <a:ea typeface="Inter Text" pitchFamily="34" charset="-122"/>
                <a:cs typeface="Inter Text" pitchFamily="34" charset="-120"/>
              </a:rPr>
              <a:t>Item price base quantity</a:t>
            </a:r>
          </a:p>
        </p:txBody>
      </p:sp>
      <p:sp>
        <p:nvSpPr>
          <p:cNvPr id="115" name="Text 115"/>
          <p:cNvSpPr txBox="1"/>
          <p:nvPr/>
        </p:nvSpPr>
        <p:spPr>
          <a:xfrm>
            <a:off x="10515600" y="2997403"/>
            <a:ext cx="667512" cy="113843"/>
          </a:xfrm>
          <a:prstGeom prst="rect">
            <a:avLst/>
          </a:prstGeom>
          <a:noFill/>
          <a:ln/>
        </p:spPr>
        <p:txBody>
          <a:bodyPr wrap="square" lIns="0" tIns="0" rIns="0" bIns="0" rtlCol="0" anchor="ctr"/>
          <a:lstStyle/>
          <a:p>
            <a:pPr marL="0" indent="0" algn="r">
              <a:buNone/>
            </a:pPr>
            <a:r>
              <a:rPr lang="en-GB" sz="700" dirty="0">
                <a:solidFill>
                  <a:srgbClr val="FFB547"/>
                </a:solidFill>
                <a:latin typeface="Inter SemiBold Text SemiBold" pitchFamily="34" charset="0"/>
                <a:ea typeface="Inter SemiBold Text SemiBold" pitchFamily="34" charset="-122"/>
                <a:cs typeface="Inter SemiBold Text SemiBold" pitchFamily="34" charset="-120"/>
              </a:rPr>
              <a:t>2 dp</a:t>
            </a:r>
          </a:p>
        </p:txBody>
      </p:sp>
      <p:sp>
        <p:nvSpPr>
          <p:cNvPr id="116" name="Text 116"/>
          <p:cNvSpPr txBox="1"/>
          <p:nvPr/>
        </p:nvSpPr>
        <p:spPr>
          <a:xfrm>
            <a:off x="8065008" y="3111246"/>
            <a:ext cx="2514600" cy="113843"/>
          </a:xfrm>
          <a:prstGeom prst="rect">
            <a:avLst/>
          </a:prstGeom>
          <a:noFill/>
          <a:ln/>
        </p:spPr>
        <p:txBody>
          <a:bodyPr wrap="none" lIns="0" tIns="0" rIns="0" bIns="0" rtlCol="0" anchor="ctr"/>
          <a:lstStyle/>
          <a:p>
            <a:pPr marL="0" indent="0" algn="l">
              <a:buNone/>
            </a:pPr>
            <a:r>
              <a:rPr lang="en-GB" sz="700" dirty="0">
                <a:solidFill>
                  <a:srgbClr val="FFFFFF"/>
                </a:solidFill>
                <a:latin typeface="Inter SemiBold Text SemiBold" pitchFamily="34" charset="0"/>
                <a:ea typeface="Inter SemiBold Text SemiBold" pitchFamily="34" charset="-122"/>
                <a:cs typeface="Inter SemiBold Text SemiBold" pitchFamily="34" charset="-120"/>
              </a:rPr>
              <a:t>BT-141 </a:t>
            </a:r>
            <a:r>
              <a:rPr lang="en-GB" sz="700" dirty="0">
                <a:solidFill>
                  <a:srgbClr val="9AA4C2"/>
                </a:solidFill>
                <a:latin typeface="Inter Text" pitchFamily="34" charset="0"/>
                <a:ea typeface="Inter Text" pitchFamily="34" charset="-122"/>
                <a:cs typeface="Inter Text" pitchFamily="34" charset="-120"/>
              </a:rPr>
              <a:t>Invoice line charge or tax amount</a:t>
            </a:r>
          </a:p>
        </p:txBody>
      </p:sp>
      <p:sp>
        <p:nvSpPr>
          <p:cNvPr id="117" name="Text 117"/>
          <p:cNvSpPr txBox="1"/>
          <p:nvPr/>
        </p:nvSpPr>
        <p:spPr>
          <a:xfrm>
            <a:off x="9994392" y="3111246"/>
            <a:ext cx="1188720" cy="113843"/>
          </a:xfrm>
          <a:prstGeom prst="rect">
            <a:avLst/>
          </a:prstGeom>
          <a:noFill/>
          <a:ln/>
        </p:spPr>
        <p:txBody>
          <a:bodyPr wrap="none" lIns="0" tIns="0" rIns="0" bIns="0" rtlCol="0" anchor="ctr"/>
          <a:lstStyle/>
          <a:p>
            <a:pPr marL="0" indent="0" algn="r">
              <a:buNone/>
            </a:pPr>
            <a:r>
              <a:rPr lang="en-GB" sz="700" dirty="0">
                <a:solidFill>
                  <a:srgbClr val="FFB547"/>
                </a:solidFill>
                <a:latin typeface="Inter SemiBold Text SemiBold" pitchFamily="34" charset="0"/>
                <a:ea typeface="Inter SemiBold Text SemiBold" pitchFamily="34" charset="-122"/>
                <a:cs typeface="Inter SemiBold Text SemiBold" pitchFamily="34" charset="-120"/>
              </a:rPr>
              <a:t>Minor Unit</a:t>
            </a:r>
          </a:p>
        </p:txBody>
      </p:sp>
      <p:sp>
        <p:nvSpPr>
          <p:cNvPr id="118" name="Text 118"/>
          <p:cNvSpPr txBox="1"/>
          <p:nvPr/>
        </p:nvSpPr>
        <p:spPr>
          <a:xfrm>
            <a:off x="8065008" y="3225089"/>
            <a:ext cx="2514600" cy="113843"/>
          </a:xfrm>
          <a:prstGeom prst="rect">
            <a:avLst/>
          </a:prstGeom>
          <a:noFill/>
          <a:ln/>
        </p:spPr>
        <p:txBody>
          <a:bodyPr wrap="none" lIns="0" tIns="0" rIns="0" bIns="0" rtlCol="0" anchor="ctr"/>
          <a:lstStyle/>
          <a:p>
            <a:pPr marL="0" indent="0" algn="l">
              <a:buNone/>
            </a:pPr>
            <a:r>
              <a:rPr lang="en-GB" sz="700" dirty="0">
                <a:solidFill>
                  <a:srgbClr val="FFFFFF"/>
                </a:solidFill>
                <a:latin typeface="Inter SemiBold Text SemiBold" pitchFamily="34" charset="0"/>
                <a:ea typeface="Inter SemiBold Text SemiBold" pitchFamily="34" charset="-122"/>
                <a:cs typeface="Inter SemiBold Text SemiBold" pitchFamily="34" charset="-120"/>
              </a:rPr>
              <a:t>BT-136 </a:t>
            </a:r>
            <a:r>
              <a:rPr lang="en-GB" sz="700" dirty="0">
                <a:solidFill>
                  <a:srgbClr val="9AA4C2"/>
                </a:solidFill>
                <a:latin typeface="Inter Text" pitchFamily="34" charset="0"/>
                <a:ea typeface="Inter Text" pitchFamily="34" charset="-122"/>
                <a:cs typeface="Inter Text" pitchFamily="34" charset="-120"/>
              </a:rPr>
              <a:t>Invoice line allowance amount</a:t>
            </a:r>
          </a:p>
        </p:txBody>
      </p:sp>
      <p:sp>
        <p:nvSpPr>
          <p:cNvPr id="119" name="Text 119"/>
          <p:cNvSpPr txBox="1"/>
          <p:nvPr/>
        </p:nvSpPr>
        <p:spPr>
          <a:xfrm>
            <a:off x="9994392" y="3225089"/>
            <a:ext cx="1188720" cy="113843"/>
          </a:xfrm>
          <a:prstGeom prst="rect">
            <a:avLst/>
          </a:prstGeom>
          <a:noFill/>
          <a:ln/>
        </p:spPr>
        <p:txBody>
          <a:bodyPr wrap="none" lIns="0" tIns="0" rIns="0" bIns="0" rtlCol="0" anchor="ctr"/>
          <a:lstStyle/>
          <a:p>
            <a:pPr marL="0" indent="0" algn="r">
              <a:buNone/>
            </a:pPr>
            <a:r>
              <a:rPr lang="en-GB" sz="700" dirty="0">
                <a:solidFill>
                  <a:srgbClr val="FFB547"/>
                </a:solidFill>
                <a:latin typeface="Inter SemiBold Text SemiBold" pitchFamily="34" charset="0"/>
                <a:ea typeface="Inter SemiBold Text SemiBold" pitchFamily="34" charset="-122"/>
                <a:cs typeface="Inter SemiBold Text SemiBold" pitchFamily="34" charset="-120"/>
              </a:rPr>
              <a:t>Minor Unit</a:t>
            </a:r>
          </a:p>
        </p:txBody>
      </p:sp>
      <p:sp>
        <p:nvSpPr>
          <p:cNvPr id="120" name="Text 120"/>
          <p:cNvSpPr txBox="1"/>
          <p:nvPr/>
        </p:nvSpPr>
        <p:spPr>
          <a:xfrm>
            <a:off x="8065008" y="3338932"/>
            <a:ext cx="2514600" cy="113843"/>
          </a:xfrm>
          <a:prstGeom prst="rect">
            <a:avLst/>
          </a:prstGeom>
          <a:noFill/>
          <a:ln/>
        </p:spPr>
        <p:txBody>
          <a:bodyPr wrap="none" lIns="0" tIns="0" rIns="0" bIns="0" rtlCol="0" anchor="ctr"/>
          <a:lstStyle/>
          <a:p>
            <a:pPr marL="0" indent="0" algn="l">
              <a:buNone/>
            </a:pPr>
            <a:r>
              <a:rPr lang="en-GB" sz="700" b="1" dirty="0">
                <a:solidFill>
                  <a:srgbClr val="FFB74D"/>
                </a:solidFill>
                <a:latin typeface="Inter SemiBold Text SemiBold" pitchFamily="34" charset="0"/>
                <a:ea typeface="Inter SemiBold Text SemiBold" pitchFamily="34" charset="-122"/>
                <a:cs typeface="Inter SemiBold Text SemiBold" pitchFamily="34" charset="-120"/>
              </a:rPr>
              <a:t>BT-131 </a:t>
            </a:r>
            <a:r>
              <a:rPr lang="en-GB" sz="700" dirty="0">
                <a:solidFill>
                  <a:srgbClr val="9AA4C2"/>
                </a:solidFill>
                <a:latin typeface="Inter Text" pitchFamily="34" charset="0"/>
                <a:ea typeface="Inter Text" pitchFamily="34" charset="-122"/>
                <a:cs typeface="Inter Text" pitchFamily="34" charset="-120"/>
              </a:rPr>
              <a:t>Invoice line net amount</a:t>
            </a:r>
          </a:p>
        </p:txBody>
      </p:sp>
      <p:sp>
        <p:nvSpPr>
          <p:cNvPr id="121" name="Text 121"/>
          <p:cNvSpPr txBox="1"/>
          <p:nvPr/>
        </p:nvSpPr>
        <p:spPr>
          <a:xfrm>
            <a:off x="9994392" y="3338932"/>
            <a:ext cx="1188720" cy="113843"/>
          </a:xfrm>
          <a:prstGeom prst="rect">
            <a:avLst/>
          </a:prstGeom>
          <a:noFill/>
          <a:ln/>
        </p:spPr>
        <p:txBody>
          <a:bodyPr wrap="none" lIns="0" tIns="0" rIns="0" bIns="0" rtlCol="0" anchor="ctr"/>
          <a:lstStyle/>
          <a:p>
            <a:pPr marL="0" indent="0" algn="r">
              <a:buNone/>
            </a:pPr>
            <a:r>
              <a:rPr lang="en-GB" sz="700" dirty="0">
                <a:solidFill>
                  <a:srgbClr val="FF8A80"/>
                </a:solidFill>
                <a:latin typeface="Inter SemiBold Text SemiBold" pitchFamily="34" charset="0"/>
                <a:ea typeface="Inter SemiBold Text SemiBold" pitchFamily="34" charset="-122"/>
                <a:cs typeface="Inter SemiBold Text SemiBold" pitchFamily="34" charset="-120"/>
              </a:rPr>
              <a:t>Minor Unit</a:t>
            </a:r>
          </a:p>
        </p:txBody>
      </p:sp>
      <p:sp>
        <p:nvSpPr>
          <p:cNvPr id="122" name="Text 122"/>
          <p:cNvSpPr txBox="1"/>
          <p:nvPr/>
        </p:nvSpPr>
        <p:spPr>
          <a:xfrm>
            <a:off x="8065008" y="3452774"/>
            <a:ext cx="2514600" cy="113843"/>
          </a:xfrm>
          <a:prstGeom prst="rect">
            <a:avLst/>
          </a:prstGeom>
          <a:noFill/>
          <a:ln/>
        </p:spPr>
        <p:txBody>
          <a:bodyPr wrap="none" lIns="0" tIns="0" rIns="0" bIns="0" rtlCol="0" anchor="ctr"/>
          <a:lstStyle/>
          <a:p>
            <a:pPr marL="0" indent="0" algn="l">
              <a:buNone/>
            </a:pPr>
            <a:r>
              <a:rPr lang="en-GB" sz="700" b="1" dirty="0">
                <a:solidFill>
                  <a:srgbClr val="FFE066"/>
                </a:solidFill>
                <a:latin typeface="Inter SemiBold Text SemiBold" pitchFamily="34" charset="0"/>
                <a:ea typeface="Inter SemiBold Text SemiBold" pitchFamily="34" charset="-122"/>
                <a:cs typeface="Inter SemiBold Text SemiBold" pitchFamily="34" charset="-120"/>
              </a:rPr>
              <a:t>BT-106 </a:t>
            </a:r>
            <a:r>
              <a:rPr lang="en-GB" sz="700" dirty="0">
                <a:solidFill>
                  <a:srgbClr val="9AA4C2"/>
                </a:solidFill>
                <a:latin typeface="Inter Text" pitchFamily="34" charset="0"/>
                <a:ea typeface="Inter Text" pitchFamily="34" charset="-122"/>
                <a:cs typeface="Inter Text" pitchFamily="34" charset="-120"/>
              </a:rPr>
              <a:t>Sum of invoice line net amount</a:t>
            </a:r>
          </a:p>
        </p:txBody>
      </p:sp>
      <p:sp>
        <p:nvSpPr>
          <p:cNvPr id="123" name="Text 123"/>
          <p:cNvSpPr txBox="1"/>
          <p:nvPr/>
        </p:nvSpPr>
        <p:spPr>
          <a:xfrm>
            <a:off x="9994392" y="3452774"/>
            <a:ext cx="1188720" cy="113843"/>
          </a:xfrm>
          <a:prstGeom prst="rect">
            <a:avLst/>
          </a:prstGeom>
          <a:noFill/>
          <a:ln/>
        </p:spPr>
        <p:txBody>
          <a:bodyPr wrap="none" lIns="0" tIns="0" rIns="0" bIns="0" rtlCol="0" anchor="ctr"/>
          <a:lstStyle/>
          <a:p>
            <a:pPr marL="0" indent="0" algn="r">
              <a:buNone/>
            </a:pPr>
            <a:r>
              <a:rPr lang="en-GB" sz="700" dirty="0">
                <a:solidFill>
                  <a:srgbClr val="FF8A80"/>
                </a:solidFill>
                <a:latin typeface="Inter SemiBold Text SemiBold" pitchFamily="34" charset="0"/>
                <a:ea typeface="Inter SemiBold Text SemiBold" pitchFamily="34" charset="-122"/>
                <a:cs typeface="Inter SemiBold Text SemiBold" pitchFamily="34" charset="-120"/>
              </a:rPr>
              <a:t>Minor Unit</a:t>
            </a:r>
          </a:p>
        </p:txBody>
      </p:sp>
      <p:sp>
        <p:nvSpPr>
          <p:cNvPr id="124" name="Text 124"/>
          <p:cNvSpPr txBox="1"/>
          <p:nvPr/>
        </p:nvSpPr>
        <p:spPr>
          <a:xfrm>
            <a:off x="8065008" y="3566617"/>
            <a:ext cx="2514600" cy="113843"/>
          </a:xfrm>
          <a:prstGeom prst="rect">
            <a:avLst/>
          </a:prstGeom>
          <a:noFill/>
          <a:ln/>
        </p:spPr>
        <p:txBody>
          <a:bodyPr wrap="none" lIns="0" tIns="0" rIns="0" bIns="0" rtlCol="0" anchor="ctr"/>
          <a:lstStyle/>
          <a:p>
            <a:pPr marL="0" indent="0" algn="l">
              <a:buNone/>
            </a:pPr>
            <a:r>
              <a:rPr lang="en-GB" sz="700" dirty="0">
                <a:solidFill>
                  <a:srgbClr val="FFFFFF"/>
                </a:solidFill>
                <a:latin typeface="Inter SemiBold Text SemiBold" pitchFamily="34" charset="0"/>
                <a:ea typeface="Inter SemiBold Text SemiBold" pitchFamily="34" charset="-122"/>
                <a:cs typeface="Inter SemiBold Text SemiBold" pitchFamily="34" charset="-120"/>
              </a:rPr>
              <a:t>BT-99 </a:t>
            </a:r>
            <a:r>
              <a:rPr lang="en-GB" sz="700" dirty="0">
                <a:solidFill>
                  <a:srgbClr val="9AA4C2"/>
                </a:solidFill>
                <a:latin typeface="Inter Text" pitchFamily="34" charset="0"/>
                <a:ea typeface="Inter Text" pitchFamily="34" charset="-122"/>
                <a:cs typeface="Inter Text" pitchFamily="34" charset="-120"/>
              </a:rPr>
              <a:t>Document level charge or tax amount</a:t>
            </a:r>
          </a:p>
        </p:txBody>
      </p:sp>
      <p:sp>
        <p:nvSpPr>
          <p:cNvPr id="125" name="Text 125"/>
          <p:cNvSpPr txBox="1"/>
          <p:nvPr/>
        </p:nvSpPr>
        <p:spPr>
          <a:xfrm>
            <a:off x="9994392" y="3566617"/>
            <a:ext cx="1188720" cy="113843"/>
          </a:xfrm>
          <a:prstGeom prst="rect">
            <a:avLst/>
          </a:prstGeom>
          <a:noFill/>
          <a:ln/>
        </p:spPr>
        <p:txBody>
          <a:bodyPr wrap="none" lIns="0" tIns="0" rIns="0" bIns="0" rtlCol="0" anchor="ctr"/>
          <a:lstStyle/>
          <a:p>
            <a:pPr marL="0" indent="0" algn="r">
              <a:buNone/>
            </a:pPr>
            <a:r>
              <a:rPr lang="en-GB" sz="700" dirty="0">
                <a:solidFill>
                  <a:srgbClr val="FFB547"/>
                </a:solidFill>
                <a:latin typeface="Inter SemiBold Text SemiBold" pitchFamily="34" charset="0"/>
                <a:ea typeface="Inter SemiBold Text SemiBold" pitchFamily="34" charset="-122"/>
                <a:cs typeface="Inter SemiBold Text SemiBold" pitchFamily="34" charset="-120"/>
              </a:rPr>
              <a:t>Minor Unit</a:t>
            </a:r>
          </a:p>
        </p:txBody>
      </p:sp>
      <p:sp>
        <p:nvSpPr>
          <p:cNvPr id="126" name="Text 126"/>
          <p:cNvSpPr txBox="1"/>
          <p:nvPr/>
        </p:nvSpPr>
        <p:spPr>
          <a:xfrm>
            <a:off x="8065008" y="3680460"/>
            <a:ext cx="2514600" cy="113843"/>
          </a:xfrm>
          <a:prstGeom prst="rect">
            <a:avLst/>
          </a:prstGeom>
          <a:noFill/>
          <a:ln/>
        </p:spPr>
        <p:txBody>
          <a:bodyPr wrap="none" lIns="0" tIns="0" rIns="0" bIns="0" rtlCol="0" anchor="ctr"/>
          <a:lstStyle/>
          <a:p>
            <a:pPr marL="0" indent="0" algn="l">
              <a:buNone/>
            </a:pPr>
            <a:r>
              <a:rPr lang="en-GB" sz="700" dirty="0">
                <a:solidFill>
                  <a:srgbClr val="FFFFFF"/>
                </a:solidFill>
                <a:latin typeface="Inter SemiBold Text SemiBold" pitchFamily="34" charset="0"/>
                <a:ea typeface="Inter SemiBold Text SemiBold" pitchFamily="34" charset="-122"/>
                <a:cs typeface="Inter SemiBold Text SemiBold" pitchFamily="34" charset="-120"/>
              </a:rPr>
              <a:t>BT-92 </a:t>
            </a:r>
            <a:r>
              <a:rPr lang="en-GB" sz="700" dirty="0">
                <a:solidFill>
                  <a:srgbClr val="9AA4C2"/>
                </a:solidFill>
                <a:latin typeface="Inter Text" pitchFamily="34" charset="0"/>
                <a:ea typeface="Inter Text" pitchFamily="34" charset="-122"/>
                <a:cs typeface="Inter Text" pitchFamily="34" charset="-120"/>
              </a:rPr>
              <a:t>Document level allowance amount</a:t>
            </a:r>
          </a:p>
        </p:txBody>
      </p:sp>
      <p:sp>
        <p:nvSpPr>
          <p:cNvPr id="127" name="Text 127"/>
          <p:cNvSpPr txBox="1"/>
          <p:nvPr/>
        </p:nvSpPr>
        <p:spPr>
          <a:xfrm>
            <a:off x="9994392" y="3680460"/>
            <a:ext cx="1188720" cy="113843"/>
          </a:xfrm>
          <a:prstGeom prst="rect">
            <a:avLst/>
          </a:prstGeom>
          <a:noFill/>
          <a:ln/>
        </p:spPr>
        <p:txBody>
          <a:bodyPr wrap="none" lIns="0" tIns="0" rIns="0" bIns="0" rtlCol="0" anchor="ctr"/>
          <a:lstStyle/>
          <a:p>
            <a:pPr marL="0" indent="0" algn="r">
              <a:buNone/>
            </a:pPr>
            <a:r>
              <a:rPr lang="en-GB" sz="700" dirty="0">
                <a:solidFill>
                  <a:srgbClr val="FFB547"/>
                </a:solidFill>
                <a:latin typeface="Inter SemiBold Text SemiBold" pitchFamily="34" charset="0"/>
                <a:ea typeface="Inter SemiBold Text SemiBold" pitchFamily="34" charset="-122"/>
                <a:cs typeface="Inter SemiBold Text SemiBold" pitchFamily="34" charset="-120"/>
              </a:rPr>
              <a:t>Minor Unit</a:t>
            </a:r>
          </a:p>
        </p:txBody>
      </p:sp>
      <p:sp>
        <p:nvSpPr>
          <p:cNvPr id="128" name="Text 128"/>
          <p:cNvSpPr txBox="1"/>
          <p:nvPr/>
        </p:nvSpPr>
        <p:spPr>
          <a:xfrm>
            <a:off x="8065008" y="3794303"/>
            <a:ext cx="2514600" cy="113843"/>
          </a:xfrm>
          <a:prstGeom prst="rect">
            <a:avLst/>
          </a:prstGeom>
          <a:noFill/>
          <a:ln/>
        </p:spPr>
        <p:txBody>
          <a:bodyPr wrap="none" lIns="0" tIns="0" rIns="0" bIns="0" rtlCol="0" anchor="ctr"/>
          <a:lstStyle/>
          <a:p>
            <a:pPr marL="0" indent="0" algn="l">
              <a:buNone/>
            </a:pPr>
            <a:r>
              <a:rPr lang="en-GB" sz="700" dirty="0">
                <a:solidFill>
                  <a:srgbClr val="FFFFFF"/>
                </a:solidFill>
                <a:latin typeface="Inter SemiBold Text SemiBold" pitchFamily="34" charset="0"/>
                <a:ea typeface="Inter SemiBold Text SemiBold" pitchFamily="34" charset="-122"/>
                <a:cs typeface="Inter SemiBold Text SemiBold" pitchFamily="34" charset="-120"/>
              </a:rPr>
              <a:t>BT-119 </a:t>
            </a:r>
            <a:r>
              <a:rPr lang="en-GB" sz="700" dirty="0">
                <a:solidFill>
                  <a:srgbClr val="9AA4C2"/>
                </a:solidFill>
                <a:latin typeface="Inter Text" pitchFamily="34" charset="0"/>
                <a:ea typeface="Inter Text" pitchFamily="34" charset="-122"/>
                <a:cs typeface="Inter Text" pitchFamily="34" charset="-120"/>
              </a:rPr>
              <a:t>VAT category rate (law)</a:t>
            </a:r>
          </a:p>
        </p:txBody>
      </p:sp>
      <p:sp>
        <p:nvSpPr>
          <p:cNvPr id="129" name="Text 129"/>
          <p:cNvSpPr txBox="1"/>
          <p:nvPr/>
        </p:nvSpPr>
        <p:spPr>
          <a:xfrm>
            <a:off x="10515600" y="3794303"/>
            <a:ext cx="667512" cy="113843"/>
          </a:xfrm>
          <a:prstGeom prst="rect">
            <a:avLst/>
          </a:prstGeom>
          <a:noFill/>
          <a:ln/>
        </p:spPr>
        <p:txBody>
          <a:bodyPr wrap="square" lIns="0" tIns="0" rIns="0" bIns="0" rtlCol="0" anchor="ctr"/>
          <a:lstStyle/>
          <a:p>
            <a:pPr marL="0" indent="0" algn="r">
              <a:buNone/>
            </a:pPr>
            <a:r>
              <a:rPr lang="en-GB" sz="700" dirty="0">
                <a:solidFill>
                  <a:srgbClr val="FFFFFF"/>
                </a:solidFill>
                <a:latin typeface="Inter SemiBold Text SemiBold" pitchFamily="34" charset="0"/>
                <a:ea typeface="Inter SemiBold Text SemiBold" pitchFamily="34" charset="-122"/>
                <a:cs typeface="Inter SemiBold Text SemiBold" pitchFamily="34" charset="-120"/>
              </a:rPr>
              <a:t>2 dp</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Folie 29">
    <p:bg>
      <p:bgPr>
        <a:solidFill>
          <a:srgbClr val="F4F6FB"/>
        </a:solidFill>
        <a:effectLst/>
      </p:bgPr>
    </p:bg>
    <p:spTree>
      <p:nvGrpSpPr>
        <p:cNvPr id="1" name=""/>
        <p:cNvGrpSpPr/>
        <p:nvPr/>
      </p:nvGrpSpPr>
      <p:grpSpPr>
        <a:xfrm>
          <a:off x="0" y="0"/>
          <a:ext cx="0" cy="0"/>
          <a:chOff x="0" y="0"/>
          <a:chExt cx="0" cy="0"/>
        </a:xfrm>
      </p:grpSpPr>
      <p:sp>
        <p:nvSpPr>
          <p:cNvPr id="3" name="Header 3"/>
          <p:cNvSpPr txBox="1"/>
          <p:nvPr/>
        </p:nvSpPr>
        <p:spPr>
          <a:xfrm>
            <a:off x="822960" y="384048"/>
            <a:ext cx="7315200" cy="274320"/>
          </a:xfrm>
          <a:prstGeom prst="rect">
            <a:avLst/>
          </a:prstGeom>
          <a:noFill/>
          <a:ln/>
        </p:spPr>
        <p:txBody>
          <a:bodyPr wrap="square" lIns="0" tIns="0" rIns="0" bIns="0" rtlCol="0" anchor="ctr"/>
          <a:lstStyle/>
          <a:p>
            <a:pPr marL="0" indent="0" algn="l">
              <a:buNone/>
            </a:pPr>
            <a:r>
              <a:rPr lang="en-GB" sz="950" spc="100" dirty="0">
                <a:solidFill>
                  <a:srgbClr val="5B6890"/>
                </a:solidFill>
                <a:latin typeface="Inter Medium Text Medium" pitchFamily="34" charset="0"/>
                <a:ea typeface="Inter Medium Text Medium" pitchFamily="34" charset="-122"/>
                <a:cs typeface="Inter Medium Text Medium" pitchFamily="34" charset="-120"/>
              </a:rPr>
              <a:t>CEN/TC 434 WG1</a:t>
            </a:r>
            <a:r>
              <a:rPr lang="en-GB" sz="950" spc="100" dirty="0">
                <a:solidFill>
                  <a:srgbClr val="C2CADE"/>
                </a:solidFill>
                <a:latin typeface="Inter Text" pitchFamily="34" charset="0"/>
                <a:ea typeface="Inter Text" pitchFamily="34" charset="-122"/>
                <a:cs typeface="Inter Text" pitchFamily="34" charset="-120"/>
              </a:rPr>
              <a:t>   ·   </a:t>
            </a:r>
            <a:r>
              <a:rPr lang="en-GB" sz="950" spc="100" dirty="0">
                <a:solidFill>
                  <a:srgbClr val="9AA4C2"/>
                </a:solidFill>
                <a:latin typeface="Inter Text" pitchFamily="34" charset="0"/>
                <a:ea typeface="Inter Text" pitchFamily="34" charset="-122"/>
                <a:cs typeface="Inter Text" pitchFamily="34" charset="-120"/>
              </a:rPr>
              <a:t>EN 16931-1:2026 amendment · Gross prices and rounding</a:t>
            </a:r>
          </a:p>
        </p:txBody>
      </p:sp>
      <p:sp>
        <p:nvSpPr>
          <p:cNvPr id="4" name="SectionLabel 4"/>
          <p:cNvSpPr txBox="1"/>
          <p:nvPr/>
        </p:nvSpPr>
        <p:spPr>
          <a:xfrm>
            <a:off x="822960" y="868680"/>
            <a:ext cx="8229600" cy="274320"/>
          </a:xfrm>
          <a:prstGeom prst="rect">
            <a:avLst/>
          </a:prstGeom>
          <a:noFill/>
          <a:ln/>
        </p:spPr>
        <p:txBody>
          <a:bodyPr wrap="square" lIns="0" tIns="0" rIns="0" bIns="0" rtlCol="0" anchor="ctr"/>
          <a:lstStyle/>
          <a:p>
            <a:pPr marL="0" indent="0" algn="l">
              <a:buNone/>
            </a:pPr>
            <a:r>
              <a:rPr lang="en-GB" sz="1100" spc="300" dirty="0">
                <a:solidFill>
                  <a:srgbClr val="19C3C8"/>
                </a:solidFill>
                <a:latin typeface="Inter SemiBold Text SemiBold" pitchFamily="34" charset="0"/>
                <a:ea typeface="Inter SemiBold Text SemiBold" pitchFamily="34" charset="-122"/>
                <a:cs typeface="Inter SemiBold Text SemiBold" pitchFamily="34" charset="-120"/>
              </a:rPr>
              <a:t>WORST CASE · EN 16931-1:2017</a:t>
            </a:r>
          </a:p>
        </p:txBody>
      </p:sp>
      <p:sp>
        <p:nvSpPr>
          <p:cNvPr id="5" name="Title 5"/>
          <p:cNvSpPr txBox="1"/>
          <p:nvPr/>
        </p:nvSpPr>
        <p:spPr>
          <a:xfrm>
            <a:off x="804672" y="1115568"/>
            <a:ext cx="10424160" cy="822960"/>
          </a:xfrm>
          <a:prstGeom prst="rect">
            <a:avLst/>
          </a:prstGeom>
          <a:noFill/>
          <a:ln/>
        </p:spPr>
        <p:txBody>
          <a:bodyPr wrap="square" lIns="0" tIns="0" rIns="0" bIns="0" rtlCol="0" anchor="t"/>
          <a:lstStyle/>
          <a:p>
            <a:pPr marL="0" indent="0" algn="l">
              <a:buNone/>
            </a:pPr>
            <a:r>
              <a:rPr lang="en-GB" sz="3800" b="1" dirty="0">
                <a:solidFill>
                  <a:srgbClr val="1A2B5E"/>
                </a:solidFill>
                <a:latin typeface="Inter Text" pitchFamily="34" charset="0"/>
                <a:ea typeface="Inter Text" pitchFamily="34" charset="-122"/>
                <a:cs typeface="Inter Text" pitchFamily="34" charset="-120"/>
              </a:rPr>
              <a:t>How large does the deviation get?</a:t>
            </a:r>
          </a:p>
        </p:txBody>
      </p:sp>
      <p:sp>
        <p:nvSpPr>
          <p:cNvPr id="6" name="Speaker 6">
            <a:hlinkClick r:id="rId3"/>
          </p:cNvPr>
          <p:cNvSpPr txBox="1"/>
          <p:nvPr/>
        </p:nvSpPr>
        <p:spPr>
          <a:xfrm>
            <a:off x="7680960" y="6514592"/>
            <a:ext cx="3154680" cy="292608"/>
          </a:xfrm>
          <a:prstGeom prst="rect">
            <a:avLst/>
          </a:prstGeom>
          <a:noFill/>
          <a:ln/>
        </p:spPr>
        <p:txBody>
          <a:bodyPr wrap="square" lIns="0" tIns="0" rIns="0" bIns="0" rtlCol="0" anchor="ctr"/>
          <a:lstStyle/>
          <a:p>
            <a:pPr marL="0" indent="0" algn="r">
              <a:buNone/>
            </a:pPr>
            <a:r>
              <a:rPr lang="en-GB" sz="1000" spc="100" dirty="0">
                <a:solidFill>
                  <a:srgbClr val="9AA4C2"/>
                </a:solidFill>
                <a:latin typeface="Inter Medium Text Medium" pitchFamily="34" charset="0"/>
                <a:ea typeface="Inter Medium Text Medium" pitchFamily="34" charset="-122"/>
                <a:cs typeface="Inter Medium Text Medium" pitchFamily="34" charset="-120"/>
              </a:rPr>
              <a:t>© Svante Schubert</a:t>
            </a:r>
          </a:p>
        </p:txBody>
      </p:sp>
      <p:sp>
        <p:nvSpPr>
          <p:cNvPr id="7" name="PageNum 7"/>
          <p:cNvSpPr txBox="1"/>
          <p:nvPr/>
        </p:nvSpPr>
        <p:spPr>
          <a:xfrm>
            <a:off x="10908792" y="6514592"/>
            <a:ext cx="822960" cy="292608"/>
          </a:xfrm>
          <a:prstGeom prst="rect">
            <a:avLst/>
          </a:prstGeom>
          <a:noFill/>
          <a:ln/>
        </p:spPr>
        <p:txBody>
          <a:bodyPr wrap="square" lIns="0" tIns="0" rIns="0" bIns="0" rtlCol="0" anchor="ctr"/>
          <a:lstStyle/>
          <a:p>
            <a:pPr marL="0" indent="0" algn="r">
              <a:buNone/>
            </a:pPr>
            <a:fld id="{CFF8C59E-DB43-45C8-AAB1-F463E6DDD355}" type="slidenum">
              <a:rPr lang="en-GB" sz="1000" spc="200" dirty="0">
                <a:solidFill>
                  <a:srgbClr val="5B6890"/>
                </a:solidFill>
                <a:latin typeface="Inter SemiBold Text SemiBold" pitchFamily="34" charset="0"/>
                <a:ea typeface="Inter SemiBold Text SemiBold" pitchFamily="34" charset="-122"/>
                <a:cs typeface="Inter SemiBold Text SemiBold" pitchFamily="34" charset="-120"/>
              </a:rPr>
              <a:t>7</a:t>
            </a:fld>
            <a:endParaRPr lang="en-GB" sz="1000" spc="200" dirty="0">
              <a:solidFill>
                <a:srgbClr val="5B6890"/>
              </a:solidFill>
              <a:latin typeface="Inter SemiBold Text SemiBold" pitchFamily="34" charset="0"/>
              <a:ea typeface="Inter SemiBold Text SemiBold" pitchFamily="34" charset="-122"/>
              <a:cs typeface="Inter SemiBold Text SemiBold" pitchFamily="34" charset="-120"/>
            </a:endParaRPr>
          </a:p>
        </p:txBody>
      </p:sp>
      <p:sp>
        <p:nvSpPr>
          <p:cNvPr id="8" name="Tagline 8"/>
          <p:cNvSpPr txBox="1"/>
          <p:nvPr/>
        </p:nvSpPr>
        <p:spPr>
          <a:xfrm>
            <a:off x="822960" y="1865376"/>
            <a:ext cx="10424160" cy="320040"/>
          </a:xfrm>
          <a:prstGeom prst="rect">
            <a:avLst/>
          </a:prstGeom>
          <a:noFill/>
          <a:ln/>
        </p:spPr>
        <p:txBody>
          <a:bodyPr wrap="square" lIns="0" tIns="0" rIns="0" bIns="0" rtlCol="0" anchor="ctr"/>
          <a:lstStyle/>
          <a:p>
            <a:pPr marL="0" indent="0" algn="l">
              <a:buNone/>
            </a:pPr>
            <a:r>
              <a:rPr lang="en-GB" sz="1300" dirty="0">
                <a:solidFill>
                  <a:srgbClr val="5B6890"/>
                </a:solidFill>
                <a:latin typeface="Inter Text" pitchFamily="34" charset="0"/>
                <a:ea typeface="Inter Text" pitchFamily="34" charset="-122"/>
                <a:cs typeface="Inter Text" pitchFamily="34" charset="-120"/>
              </a:rPr>
              <a:t>One factor: the number of lines n — each line rounds </a:t>
            </a:r>
            <a:r>
              <a:rPr lang="en-GB" sz="1300" b="1" dirty="0">
                <a:solidFill>
                  <a:srgbClr val="EF6C00"/>
                </a:solidFill>
                <a:latin typeface="Inter SemiBold Text SemiBold" pitchFamily="34" charset="0"/>
                <a:ea typeface="Inter SemiBold Text SemiBold" pitchFamily="34" charset="-122"/>
                <a:cs typeface="Inter SemiBold Text SemiBold" pitchFamily="34" charset="-120"/>
              </a:rPr>
              <a:t>BT-131</a:t>
            </a:r>
            <a:r>
              <a:rPr lang="en-GB" sz="1300" dirty="0">
                <a:solidFill>
                  <a:srgbClr val="EF6C00"/>
                </a:solidFill>
                <a:latin typeface="Inter Text" pitchFamily="34" charset="0"/>
                <a:ea typeface="Inter Text" pitchFamily="34" charset="-122"/>
                <a:cs typeface="Inter Text" pitchFamily="34" charset="-120"/>
              </a:rPr>
              <a:t> Invoice line net amount</a:t>
            </a:r>
            <a:r>
              <a:rPr lang="en-GB" sz="1300" dirty="0">
                <a:solidFill>
                  <a:srgbClr val="5B6890"/>
                </a:solidFill>
                <a:latin typeface="Inter Text" pitchFamily="34" charset="0"/>
                <a:ea typeface="Inter Text" pitchFamily="34" charset="-122"/>
                <a:cs typeface="Inter Text" pitchFamily="34" charset="-120"/>
              </a:rPr>
              <a:t> and loses up to ± €0.005.</a:t>
            </a:r>
          </a:p>
        </p:txBody>
      </p:sp>
      <p:sp>
        <p:nvSpPr>
          <p:cNvPr id="9" name="Card 9"/>
          <p:cNvSpPr/>
          <p:nvPr/>
        </p:nvSpPr>
        <p:spPr>
          <a:xfrm>
            <a:off x="822960" y="2331720"/>
            <a:ext cx="5166360" cy="1783080"/>
          </a:xfrm>
          <a:prstGeom prst="roundRect">
            <a:avLst>
              <a:gd name="adj" fmla="val 4102"/>
            </a:avLst>
          </a:prstGeom>
          <a:solidFill>
            <a:srgbClr val="FFFFFF"/>
          </a:solidFill>
          <a:ln w="12700">
            <a:solidFill>
              <a:srgbClr val="E2E7F2"/>
            </a:solidFill>
            <a:prstDash val="solid"/>
          </a:ln>
          <a:effectLst>
            <a:outerShdw blurRad="101600" dist="38100" dir="5400000" algn="bl" rotWithShape="0">
              <a:srgbClr val="0A1230">
                <a:alpha val="8000"/>
              </a:srgbClr>
            </a:outerShdw>
          </a:effectLst>
        </p:spPr>
        <p:txBody>
          <a:bodyPr/>
          <a:lstStyle/>
          <a:p>
            <a:endParaRPr lang="en-GB"/>
          </a:p>
        </p:txBody>
      </p:sp>
      <p:sp>
        <p:nvSpPr>
          <p:cNvPr id="10" name="IconCircle 10"/>
          <p:cNvSpPr/>
          <p:nvPr/>
        </p:nvSpPr>
        <p:spPr>
          <a:xfrm>
            <a:off x="1060704" y="2423160"/>
            <a:ext cx="402336" cy="402336"/>
          </a:xfrm>
          <a:prstGeom prst="ellipse">
            <a:avLst/>
          </a:prstGeom>
          <a:solidFill>
            <a:srgbClr val="C2CADE"/>
          </a:solidFill>
          <a:ln>
            <a:noFill/>
          </a:ln>
          <a:effectLst>
            <a:outerShdw blurRad="88900" dist="38100" dir="5400000" algn="bl" rotWithShape="0">
              <a:srgbClr val="0A1230">
                <a:alpha val="18000"/>
              </a:srgbClr>
            </a:outerShdw>
          </a:effectLst>
        </p:spPr>
        <p:txBody>
          <a:bodyPr/>
          <a:lstStyle/>
          <a:p>
            <a:endParaRPr lang="en-GB"/>
          </a:p>
        </p:txBody>
      </p:sp>
      <p:pic>
        <p:nvPicPr>
          <p:cNvPr id="11" name="Icon 11"/>
          <p:cNvPicPr>
            <a:picLocks noChangeAspect="1"/>
          </p:cNvPicPr>
          <p:nvPr/>
        </p:nvPicPr>
        <p:blipFill>
          <a:blip r:embed="rId4"/>
          <a:stretch>
            <a:fillRect/>
          </a:stretch>
        </p:blipFill>
        <p:spPr>
          <a:xfrm>
            <a:off x="1171346" y="2533802"/>
            <a:ext cx="181051" cy="181051"/>
          </a:xfrm>
          <a:prstGeom prst="rect">
            <a:avLst/>
          </a:prstGeom>
        </p:spPr>
      </p:pic>
      <p:sp>
        <p:nvSpPr>
          <p:cNvPr id="12" name="Text 12"/>
          <p:cNvSpPr txBox="1"/>
          <p:nvPr/>
        </p:nvSpPr>
        <p:spPr>
          <a:xfrm>
            <a:off x="1600200" y="2404872"/>
            <a:ext cx="4206240" cy="438912"/>
          </a:xfrm>
          <a:prstGeom prst="rect">
            <a:avLst/>
          </a:prstGeom>
          <a:noFill/>
          <a:ln/>
        </p:spPr>
        <p:txBody>
          <a:bodyPr wrap="square" lIns="0" tIns="0" rIns="0" bIns="0" rtlCol="0" anchor="ctr"/>
          <a:lstStyle/>
          <a:p>
            <a:pPr marL="0" indent="0" algn="l">
              <a:buNone/>
            </a:pPr>
            <a:r>
              <a:rPr lang="en-GB" sz="1400" dirty="0">
                <a:solidFill>
                  <a:srgbClr val="1A2B5E"/>
                </a:solidFill>
                <a:latin typeface="Inter SemiBold Text SemiBold" pitchFamily="34" charset="0"/>
                <a:ea typeface="Inter SemiBold Text SemiBold" pitchFamily="34" charset="-122"/>
                <a:cs typeface="Inter SemiBold Text SemiBold" pitchFamily="34" charset="-120"/>
              </a:rPr>
              <a:t>Factor 1 · price rounding × quantity Q</a:t>
            </a:r>
          </a:p>
        </p:txBody>
      </p:sp>
      <p:sp>
        <p:nvSpPr>
          <p:cNvPr id="13" name="Text 13"/>
          <p:cNvSpPr txBox="1"/>
          <p:nvPr/>
        </p:nvSpPr>
        <p:spPr>
          <a:xfrm>
            <a:off x="1097280" y="2926080"/>
            <a:ext cx="4663440" cy="768096"/>
          </a:xfrm>
          <a:prstGeom prst="rect">
            <a:avLst/>
          </a:prstGeom>
          <a:noFill/>
          <a:ln/>
        </p:spPr>
        <p:txBody>
          <a:bodyPr wrap="square" lIns="0" tIns="0" rIns="0" bIns="0" rtlCol="0" anchor="t"/>
          <a:lstStyle/>
          <a:p>
            <a:pPr marL="0" indent="0" algn="l">
              <a:lnSpc>
                <a:spcPct val="104000"/>
              </a:lnSpc>
              <a:buNone/>
            </a:pPr>
            <a:r>
              <a:rPr lang="en-GB" sz="1050" b="1" dirty="0">
                <a:solidFill>
                  <a:srgbClr val="D32F2F"/>
                </a:solidFill>
                <a:latin typeface="Inter SemiBold Text SemiBold" pitchFamily="34" charset="0"/>
                <a:ea typeface="Inter SemiBold Text SemiBold" pitchFamily="34" charset="-122"/>
                <a:cs typeface="Inter SemiBold Text SemiBold" pitchFamily="34" charset="-120"/>
              </a:rPr>
              <a:t>BT-146</a:t>
            </a:r>
            <a:r>
              <a:rPr lang="en-GB" sz="1050" dirty="0">
                <a:solidFill>
                  <a:srgbClr val="D32F2F"/>
                </a:solidFill>
                <a:latin typeface="Inter Text" pitchFamily="34" charset="0"/>
                <a:ea typeface="Inter Text" pitchFamily="34" charset="-122"/>
                <a:cs typeface="Inter Text" pitchFamily="34" charset="-120"/>
              </a:rPr>
              <a:t> Item net price</a:t>
            </a:r>
            <a:r>
              <a:rPr lang="en-GB" sz="1050" dirty="0">
                <a:solidFill>
                  <a:srgbClr val="5B6890"/>
                </a:solidFill>
                <a:latin typeface="Inter Text" pitchFamily="34" charset="0"/>
                <a:ea typeface="Inter Text" pitchFamily="34" charset="-122"/>
                <a:cs typeface="Inter Text" pitchFamily="34" charset="-120"/>
              </a:rPr>
              <a:t> is unlimited in 2017 — the price is not rounded, so the quantity magnifies no error.</a:t>
            </a:r>
          </a:p>
        </p:txBody>
      </p:sp>
      <p:sp>
        <p:nvSpPr>
          <p:cNvPr id="14" name="Pill 14"/>
          <p:cNvSpPr/>
          <p:nvPr/>
        </p:nvSpPr>
        <p:spPr>
          <a:xfrm>
            <a:off x="1097280" y="3712464"/>
            <a:ext cx="2377440" cy="310896"/>
          </a:xfrm>
          <a:prstGeom prst="roundRect">
            <a:avLst>
              <a:gd name="adj" fmla="val 50000"/>
            </a:avLst>
          </a:prstGeom>
          <a:solidFill>
            <a:srgbClr val="E8F6EE"/>
          </a:solidFill>
          <a:ln w="9525">
            <a:solidFill>
              <a:srgbClr val="B7E1C7"/>
            </a:solidFill>
            <a:prstDash val="solid"/>
          </a:ln>
        </p:spPr>
        <p:txBody>
          <a:bodyPr wrap="square" lIns="36576" tIns="36576" rIns="36576" bIns="36576" rtlCol="0" anchor="ctr"/>
          <a:lstStyle/>
          <a:p>
            <a:pPr marL="0" indent="0" algn="ctr">
              <a:buNone/>
            </a:pPr>
            <a:r>
              <a:rPr lang="en-GB" sz="1150" b="1" dirty="0">
                <a:solidFill>
                  <a:srgbClr val="1E8A4C"/>
                </a:solidFill>
                <a:latin typeface="Consolas" pitchFamily="34" charset="0"/>
                <a:ea typeface="Consolas" pitchFamily="34" charset="-122"/>
                <a:cs typeface="Consolas" pitchFamily="34" charset="-120"/>
              </a:rPr>
              <a:t>none</a:t>
            </a:r>
          </a:p>
        </p:txBody>
      </p:sp>
      <p:sp>
        <p:nvSpPr>
          <p:cNvPr id="15" name="Card 15"/>
          <p:cNvSpPr/>
          <p:nvPr/>
        </p:nvSpPr>
        <p:spPr>
          <a:xfrm>
            <a:off x="6199632" y="2331720"/>
            <a:ext cx="5166360" cy="1783080"/>
          </a:xfrm>
          <a:prstGeom prst="roundRect">
            <a:avLst>
              <a:gd name="adj" fmla="val 4102"/>
            </a:avLst>
          </a:prstGeom>
          <a:solidFill>
            <a:srgbClr val="FFFFFF"/>
          </a:solidFill>
          <a:ln w="12700">
            <a:solidFill>
              <a:srgbClr val="E2E7F2"/>
            </a:solidFill>
            <a:prstDash val="solid"/>
          </a:ln>
          <a:effectLst>
            <a:outerShdw blurRad="101600" dist="38100" dir="5400000" algn="bl" rotWithShape="0">
              <a:srgbClr val="0A1230">
                <a:alpha val="8000"/>
              </a:srgbClr>
            </a:outerShdw>
          </a:effectLst>
        </p:spPr>
        <p:txBody>
          <a:bodyPr/>
          <a:lstStyle/>
          <a:p>
            <a:endParaRPr lang="en-GB"/>
          </a:p>
        </p:txBody>
      </p:sp>
      <p:sp>
        <p:nvSpPr>
          <p:cNvPr id="16" name="IconCircle 16"/>
          <p:cNvSpPr/>
          <p:nvPr/>
        </p:nvSpPr>
        <p:spPr>
          <a:xfrm>
            <a:off x="6437376" y="2423160"/>
            <a:ext cx="402336" cy="402336"/>
          </a:xfrm>
          <a:prstGeom prst="ellipse">
            <a:avLst/>
          </a:prstGeom>
          <a:solidFill>
            <a:srgbClr val="19C3C8"/>
          </a:solidFill>
          <a:ln>
            <a:noFill/>
          </a:ln>
          <a:effectLst>
            <a:outerShdw blurRad="88900" dist="38100" dir="5400000" algn="bl" rotWithShape="0">
              <a:srgbClr val="0A1230">
                <a:alpha val="18000"/>
              </a:srgbClr>
            </a:outerShdw>
          </a:effectLst>
        </p:spPr>
        <p:txBody>
          <a:bodyPr/>
          <a:lstStyle/>
          <a:p>
            <a:endParaRPr lang="en-GB"/>
          </a:p>
        </p:txBody>
      </p:sp>
      <p:pic>
        <p:nvPicPr>
          <p:cNvPr id="17" name="Icon 17"/>
          <p:cNvPicPr>
            <a:picLocks noChangeAspect="1"/>
          </p:cNvPicPr>
          <p:nvPr/>
        </p:nvPicPr>
        <p:blipFill>
          <a:blip r:embed="rId5"/>
          <a:stretch>
            <a:fillRect/>
          </a:stretch>
        </p:blipFill>
        <p:spPr>
          <a:xfrm>
            <a:off x="6548018" y="2533802"/>
            <a:ext cx="181051" cy="181051"/>
          </a:xfrm>
          <a:prstGeom prst="rect">
            <a:avLst/>
          </a:prstGeom>
        </p:spPr>
      </p:pic>
      <p:sp>
        <p:nvSpPr>
          <p:cNvPr id="18" name="Text 18"/>
          <p:cNvSpPr txBox="1"/>
          <p:nvPr/>
        </p:nvSpPr>
        <p:spPr>
          <a:xfrm>
            <a:off x="6976872" y="2404872"/>
            <a:ext cx="4206240" cy="438912"/>
          </a:xfrm>
          <a:prstGeom prst="rect">
            <a:avLst/>
          </a:prstGeom>
          <a:noFill/>
          <a:ln/>
        </p:spPr>
        <p:txBody>
          <a:bodyPr wrap="square" lIns="0" tIns="0" rIns="0" bIns="0" rtlCol="0" anchor="ctr"/>
          <a:lstStyle/>
          <a:p>
            <a:pPr marL="0" indent="0" algn="l">
              <a:buNone/>
            </a:pPr>
            <a:r>
              <a:rPr lang="en-GB" sz="1400" dirty="0">
                <a:solidFill>
                  <a:srgbClr val="1A2B5E"/>
                </a:solidFill>
                <a:latin typeface="Inter SemiBold Text SemiBold" pitchFamily="34" charset="0"/>
                <a:ea typeface="Inter SemiBold Text SemiBold" pitchFamily="34" charset="-122"/>
                <a:cs typeface="Inter SemiBold Text SemiBold" pitchFamily="34" charset="-120"/>
              </a:rPr>
              <a:t>Factor 2 · number of lines n</a:t>
            </a:r>
          </a:p>
        </p:txBody>
      </p:sp>
      <p:sp>
        <p:nvSpPr>
          <p:cNvPr id="19" name="Text 19"/>
          <p:cNvSpPr txBox="1"/>
          <p:nvPr/>
        </p:nvSpPr>
        <p:spPr>
          <a:xfrm>
            <a:off x="6473952" y="2926080"/>
            <a:ext cx="4663440" cy="768096"/>
          </a:xfrm>
          <a:prstGeom prst="rect">
            <a:avLst/>
          </a:prstGeom>
          <a:noFill/>
          <a:ln/>
        </p:spPr>
        <p:txBody>
          <a:bodyPr wrap="square" lIns="0" tIns="0" rIns="0" bIns="0" rtlCol="0" anchor="t"/>
          <a:lstStyle/>
          <a:p>
            <a:pPr marL="0" indent="0" algn="l">
              <a:lnSpc>
                <a:spcPct val="104000"/>
              </a:lnSpc>
              <a:buNone/>
            </a:pPr>
            <a:r>
              <a:rPr lang="en-GB" sz="1050" dirty="0">
                <a:solidFill>
                  <a:srgbClr val="5B6890"/>
                </a:solidFill>
                <a:latin typeface="Inter Text" pitchFamily="34" charset="0"/>
                <a:ea typeface="Inter Text" pitchFamily="34" charset="-122"/>
                <a:cs typeface="Inter Text" pitchFamily="34" charset="-120"/>
              </a:rPr>
              <a:t>Each line rounds </a:t>
            </a:r>
            <a:r>
              <a:rPr lang="en-GB" sz="1050" b="1" dirty="0">
                <a:solidFill>
                  <a:srgbClr val="EF6C00"/>
                </a:solidFill>
                <a:latin typeface="Inter SemiBold Text SemiBold" pitchFamily="34" charset="0"/>
                <a:ea typeface="Inter SemiBold Text SemiBold" pitchFamily="34" charset="-122"/>
                <a:cs typeface="Inter SemiBold Text SemiBold" pitchFamily="34" charset="-120"/>
              </a:rPr>
              <a:t>BT-131</a:t>
            </a:r>
            <a:r>
              <a:rPr lang="en-GB" sz="1050" dirty="0">
                <a:solidFill>
                  <a:srgbClr val="EF6C00"/>
                </a:solidFill>
                <a:latin typeface="Inter Text" pitchFamily="34" charset="0"/>
                <a:ea typeface="Inter Text" pitchFamily="34" charset="-122"/>
                <a:cs typeface="Inter Text" pitchFamily="34" charset="-120"/>
              </a:rPr>
              <a:t> Invoice line net amount</a:t>
            </a:r>
            <a:r>
              <a:rPr lang="en-GB" sz="1050" dirty="0">
                <a:solidFill>
                  <a:srgbClr val="5B6890"/>
                </a:solidFill>
                <a:latin typeface="Inter Text" pitchFamily="34" charset="0"/>
                <a:ea typeface="Inter Text" pitchFamily="34" charset="-122"/>
                <a:cs typeface="Inter Text" pitchFamily="34" charset="-120"/>
              </a:rPr>
              <a:t> to</a:t>
            </a:r>
            <a:r>
              <a:rPr lang="en-GB" sz="1050" dirty="0">
                <a:solidFill>
                  <a:srgbClr val="5B6890"/>
                </a:solidFill>
                <a:latin typeface="Inter Text" pitchFamily="34" charset="0"/>
                <a:ea typeface="Inter Text" pitchFamily="34" charset="-122"/>
                <a:cs typeface="Inter Text" pitchFamily="34" charset="-120"/>
              </a:rPr>
              <a:t> 2 decimal places: up to ± €0.005. </a:t>
            </a:r>
            <a:r>
              <a:rPr lang="en-GB" sz="1050" b="1" dirty="0">
                <a:solidFill>
                  <a:srgbClr val="C79100"/>
                </a:solidFill>
                <a:latin typeface="Inter SemiBold Text SemiBold" pitchFamily="34" charset="0"/>
                <a:ea typeface="Inter SemiBold Text SemiBold" pitchFamily="34" charset="-122"/>
                <a:cs typeface="Inter SemiBold Text SemiBold" pitchFamily="34" charset="-120"/>
              </a:rPr>
              <a:t>BT-106</a:t>
            </a:r>
            <a:r>
              <a:rPr lang="en-GB" sz="1050" dirty="0">
                <a:solidFill>
                  <a:srgbClr val="C79100"/>
                </a:solidFill>
                <a:latin typeface="Inter Text" pitchFamily="34" charset="0"/>
                <a:ea typeface="Inter Text" pitchFamily="34" charset="-122"/>
                <a:cs typeface="Inter Text" pitchFamily="34" charset="-120"/>
              </a:rPr>
              <a:t> Sum of invoice</a:t>
            </a:r>
            <a:r>
              <a:rPr lang="en-GB" sz="1050" dirty="0">
                <a:solidFill>
                  <a:srgbClr val="C79100"/>
                </a:solidFill>
                <a:latin typeface="Inter Text" pitchFamily="34" charset="0"/>
                <a:ea typeface="Inter Text" pitchFamily="34" charset="-122"/>
                <a:cs typeface="Inter Text" pitchFamily="34" charset="-120"/>
              </a:rPr>
              <a:t> line net amount</a:t>
            </a:r>
            <a:r>
              <a:rPr lang="en-GB" sz="1050" dirty="0">
                <a:solidFill>
                  <a:srgbClr val="5B6890"/>
                </a:solidFill>
                <a:latin typeface="Inter Text" pitchFamily="34" charset="0"/>
                <a:ea typeface="Inter Text" pitchFamily="34" charset="-122"/>
                <a:cs typeface="Inter Text" pitchFamily="34" charset="-120"/>
              </a:rPr>
              <a:t> and </a:t>
            </a:r>
            <a:r>
              <a:rPr lang="en-GB" sz="1050" b="1" dirty="0">
                <a:solidFill>
                  <a:srgbClr val="2E7D32"/>
                </a:solidFill>
                <a:latin typeface="Inter SemiBold Text SemiBold" pitchFamily="34" charset="0"/>
                <a:ea typeface="Inter SemiBold Text SemiBold" pitchFamily="34" charset="-122"/>
                <a:cs typeface="Inter SemiBold Text SemiBold" pitchFamily="34" charset="-120"/>
              </a:rPr>
              <a:t>BT-116</a:t>
            </a:r>
            <a:r>
              <a:rPr lang="en-GB" sz="1050" dirty="0">
                <a:solidFill>
                  <a:srgbClr val="2E7D32"/>
                </a:solidFill>
                <a:latin typeface="Inter Text" pitchFamily="34" charset="0"/>
                <a:ea typeface="Inter Text" pitchFamily="34" charset="-122"/>
                <a:cs typeface="Inter Text" pitchFamily="34" charset="-120"/>
              </a:rPr>
              <a:t> VAT category taxable amount</a:t>
            </a:r>
            <a:r>
              <a:rPr lang="en-GB" sz="1050" dirty="0">
                <a:solidFill>
                  <a:srgbClr val="5B6890"/>
                </a:solidFill>
                <a:latin typeface="Inter Text" pitchFamily="34" charset="0"/>
                <a:ea typeface="Inter Text" pitchFamily="34" charset="-122"/>
                <a:cs typeface="Inter Text" pitchFamily="34" charset="-120"/>
              </a:rPr>
              <a:t> add up all n</a:t>
            </a:r>
            <a:r>
              <a:rPr lang="en-GB" sz="1050" dirty="0">
                <a:solidFill>
                  <a:srgbClr val="5B6890"/>
                </a:solidFill>
                <a:latin typeface="Inter Text" pitchFamily="34" charset="0"/>
                <a:ea typeface="Inter Text" pitchFamily="34" charset="-122"/>
                <a:cs typeface="Inter Text" pitchFamily="34" charset="-120"/>
              </a:rPr>
              <a:t> lines — and with them the errors of all lines.</a:t>
            </a:r>
          </a:p>
        </p:txBody>
      </p:sp>
      <p:sp>
        <p:nvSpPr>
          <p:cNvPr id="20" name="Pill 20"/>
          <p:cNvSpPr/>
          <p:nvPr/>
        </p:nvSpPr>
        <p:spPr>
          <a:xfrm>
            <a:off x="6473952" y="3712464"/>
            <a:ext cx="2377440" cy="310896"/>
          </a:xfrm>
          <a:prstGeom prst="roundRect">
            <a:avLst>
              <a:gd name="adj" fmla="val 50000"/>
            </a:avLst>
          </a:prstGeom>
          <a:solidFill>
            <a:srgbClr val="FCEDEB"/>
          </a:solidFill>
          <a:ln w="9525">
            <a:solidFill>
              <a:srgbClr val="F2C4BE"/>
            </a:solidFill>
            <a:prstDash val="solid"/>
          </a:ln>
        </p:spPr>
        <p:txBody>
          <a:bodyPr wrap="square" lIns="36576" tIns="36576" rIns="36576" bIns="36576" rtlCol="0" anchor="ctr"/>
          <a:lstStyle/>
          <a:p>
            <a:pPr marL="0" indent="0" algn="ctr">
              <a:buNone/>
            </a:pPr>
            <a:r>
              <a:rPr lang="en-GB" sz="1150" b="1" dirty="0">
                <a:solidFill>
                  <a:srgbClr val="C0392B"/>
                </a:solidFill>
                <a:latin typeface="Consolas" pitchFamily="34" charset="0"/>
                <a:ea typeface="Consolas" pitchFamily="34" charset="-122"/>
                <a:cs typeface="Consolas" pitchFamily="34" charset="-120"/>
              </a:rPr>
              <a:t>± n × €0.005</a:t>
            </a:r>
          </a:p>
        </p:txBody>
      </p:sp>
      <p:sp>
        <p:nvSpPr>
          <p:cNvPr id="21" name="Text 21"/>
          <p:cNvSpPr txBox="1"/>
          <p:nvPr/>
        </p:nvSpPr>
        <p:spPr>
          <a:xfrm>
            <a:off x="822960" y="4206240"/>
            <a:ext cx="6766560" cy="237744"/>
          </a:xfrm>
          <a:prstGeom prst="rect">
            <a:avLst/>
          </a:prstGeom>
          <a:noFill/>
          <a:ln/>
        </p:spPr>
        <p:txBody>
          <a:bodyPr wrap="square" lIns="0" tIns="0" rIns="0" bIns="0" rtlCol="0" anchor="ctr"/>
          <a:lstStyle/>
          <a:p>
            <a:pPr marL="0" indent="0" algn="l">
              <a:buNone/>
            </a:pPr>
            <a:r>
              <a:rPr lang="en-GB" sz="950" spc="120" dirty="0">
                <a:solidFill>
                  <a:srgbClr val="0E7E82"/>
                </a:solidFill>
                <a:latin typeface="Inter SemiBold Text SemiBold" pitchFamily="34" charset="0"/>
                <a:ea typeface="Inter SemiBold Text SemiBold" pitchFamily="34" charset="-122"/>
                <a:cs typeface="Inter SemiBold Text SemiBold" pitchFamily="34" charset="-120"/>
              </a:rPr>
              <a:t>NET DEVIATION  </a:t>
            </a:r>
            <a:r>
              <a:rPr lang="en-GB" sz="950" b="1" dirty="0">
                <a:solidFill>
                  <a:srgbClr val="C79100"/>
                </a:solidFill>
                <a:latin typeface="Inter SemiBold Text SemiBold" pitchFamily="34" charset="0"/>
                <a:ea typeface="Inter SemiBold Text SemiBold" pitchFamily="34" charset="-122"/>
                <a:cs typeface="Inter SemiBold Text SemiBold" pitchFamily="34" charset="-120"/>
              </a:rPr>
              <a:t>BT-106</a:t>
            </a:r>
            <a:r>
              <a:rPr lang="en-GB" sz="950" dirty="0">
                <a:solidFill>
                  <a:srgbClr val="C79100"/>
                </a:solidFill>
                <a:latin typeface="Inter Text" pitchFamily="34" charset="0"/>
                <a:ea typeface="Inter Text" pitchFamily="34" charset="-122"/>
                <a:cs typeface="Inter Text" pitchFamily="34" charset="-120"/>
              </a:rPr>
              <a:t> Sum of invoice line net amount</a:t>
            </a:r>
            <a:r>
              <a:rPr lang="en-GB" sz="950" dirty="0">
                <a:solidFill>
                  <a:srgbClr val="5B6890"/>
                </a:solidFill>
                <a:latin typeface="Inter Text" pitchFamily="34" charset="0"/>
                <a:ea typeface="Inter Text" pitchFamily="34" charset="-122"/>
                <a:cs typeface="Inter Text" pitchFamily="34" charset="-120"/>
              </a:rPr>
              <a:t> / </a:t>
            </a:r>
            <a:r>
              <a:rPr lang="en-GB" sz="950" b="1" dirty="0">
                <a:solidFill>
                  <a:srgbClr val="2E7D32"/>
                </a:solidFill>
                <a:latin typeface="Inter SemiBold Text SemiBold" pitchFamily="34" charset="0"/>
                <a:ea typeface="Inter SemiBold Text SemiBold" pitchFamily="34" charset="-122"/>
                <a:cs typeface="Inter SemiBold Text SemiBold" pitchFamily="34" charset="-120"/>
              </a:rPr>
              <a:t>BT-116</a:t>
            </a:r>
            <a:r>
              <a:rPr lang="en-GB" sz="950" dirty="0">
                <a:solidFill>
                  <a:srgbClr val="2E7D32"/>
                </a:solidFill>
                <a:latin typeface="Inter Text" pitchFamily="34" charset="0"/>
                <a:ea typeface="Inter Text" pitchFamily="34" charset="-122"/>
                <a:cs typeface="Inter Text" pitchFamily="34" charset="-120"/>
              </a:rPr>
              <a:t> VAT category taxable amount</a:t>
            </a:r>
          </a:p>
        </p:txBody>
      </p:sp>
      <p:graphicFrame>
        <p:nvGraphicFramePr>
          <p:cNvPr id="22" name="Table 22"/>
          <p:cNvGraphicFramePr>
            <a:graphicFrameLocks noGrp="1"/>
          </p:cNvGraphicFramePr>
          <p:nvPr/>
        </p:nvGraphicFramePr>
        <p:xfrm>
          <a:off x="822960" y="4480560"/>
          <a:ext cx="6766560" cy="1609344"/>
        </p:xfrm>
        <a:graphic>
          <a:graphicData uri="http://schemas.openxmlformats.org/drawingml/2006/table">
            <a:tbl>
              <a:tblPr firstRow="1" bandRow="1"/>
              <a:tblGrid>
                <a:gridCol w="1417320">
                  <a:extLst>
                    <a:ext uri="{9D8B030D-6E8A-4147-A177-3AD203B41FA5}">
                      <a16:colId xmlns:a16="http://schemas.microsoft.com/office/drawing/2014/main" val="20000"/>
                    </a:ext>
                  </a:extLst>
                </a:gridCol>
                <a:gridCol w="1783080">
                  <a:extLst>
                    <a:ext uri="{9D8B030D-6E8A-4147-A177-3AD203B41FA5}">
                      <a16:colId xmlns:a16="http://schemas.microsoft.com/office/drawing/2014/main" val="20001"/>
                    </a:ext>
                  </a:extLst>
                </a:gridCol>
                <a:gridCol w="1783080">
                  <a:extLst>
                    <a:ext uri="{9D8B030D-6E8A-4147-A177-3AD203B41FA5}">
                      <a16:colId xmlns:a16="http://schemas.microsoft.com/office/drawing/2014/main" val="20002"/>
                    </a:ext>
                  </a:extLst>
                </a:gridCol>
                <a:gridCol w="1783080">
                  <a:extLst>
                    <a:ext uri="{9D8B030D-6E8A-4147-A177-3AD203B41FA5}">
                      <a16:colId xmlns:a16="http://schemas.microsoft.com/office/drawing/2014/main" val="20003"/>
                    </a:ext>
                  </a:extLst>
                </a:gridCol>
              </a:tblGrid>
              <a:tr h="384048">
                <a:tc>
                  <a:txBody>
                    <a:bodyPr/>
                    <a:lstStyle/>
                    <a:p>
                      <a:pPr marL="0" indent="0" algn="r">
                        <a:buNone/>
                      </a:pPr>
                      <a:r>
                        <a:rPr lang="en-GB" sz="850" dirty="0">
                          <a:solidFill>
                            <a:srgbClr val="9FB0D8"/>
                          </a:solidFill>
                          <a:latin typeface="Inter Text" pitchFamily="34" charset="0"/>
                          <a:ea typeface="Inter Text" pitchFamily="34" charset="-122"/>
                          <a:cs typeface="Inter Text" pitchFamily="34" charset="-120"/>
                        </a:rPr>
                        <a:t>Units per line (Q) →</a:t>
                      </a:r>
                    </a:p>
                    <a:p>
                      <a:pPr marL="0" indent="0" algn="l">
                        <a:buNone/>
                      </a:pPr>
                      <a:r>
                        <a:rPr lang="en-GB" sz="850" dirty="0">
                          <a:solidFill>
                            <a:srgbClr val="9FB0D8"/>
                          </a:solidFill>
                          <a:latin typeface="Inter Text" pitchFamily="34" charset="0"/>
                          <a:ea typeface="Inter Text" pitchFamily="34" charset="-122"/>
                          <a:cs typeface="Inter Text" pitchFamily="34" charset="-120"/>
                        </a:rPr>
                        <a:t>↓ Lines (n)</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24356B"/>
                    </a:solidFill>
                  </a:tcPr>
                </a:tc>
                <a:tc>
                  <a:txBody>
                    <a:bodyPr/>
                    <a:lstStyle/>
                    <a:p>
                      <a:pPr marL="0" indent="0" algn="r">
                        <a:buNone/>
                      </a:pPr>
                      <a:r>
                        <a:rPr lang="en-GB" sz="1050" dirty="0">
                          <a:solidFill>
                            <a:srgbClr val="FFFFFF"/>
                          </a:solidFill>
                          <a:latin typeface="Inter SemiBold Text SemiBold" pitchFamily="34" charset="0"/>
                          <a:ea typeface="Inter SemiBold Text SemiBold" pitchFamily="34" charset="-122"/>
                          <a:cs typeface="Inter SemiBold Text SemiBold" pitchFamily="34" charset="-120"/>
                        </a:rPr>
                        <a:t>100 units</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1A2B5E"/>
                    </a:solidFill>
                  </a:tcPr>
                </a:tc>
                <a:tc>
                  <a:txBody>
                    <a:bodyPr/>
                    <a:lstStyle/>
                    <a:p>
                      <a:pPr marL="0" indent="0" algn="r">
                        <a:buNone/>
                      </a:pPr>
                      <a:r>
                        <a:rPr lang="en-GB" sz="1050" dirty="0">
                          <a:solidFill>
                            <a:srgbClr val="FFFFFF"/>
                          </a:solidFill>
                          <a:latin typeface="Inter SemiBold Text SemiBold" pitchFamily="34" charset="0"/>
                          <a:ea typeface="Inter SemiBold Text SemiBold" pitchFamily="34" charset="-122"/>
                          <a:cs typeface="Inter SemiBold Text SemiBold" pitchFamily="34" charset="-120"/>
                        </a:rPr>
                        <a:t>10,000 units</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1A2B5E"/>
                    </a:solidFill>
                  </a:tcPr>
                </a:tc>
                <a:tc>
                  <a:txBody>
                    <a:bodyPr/>
                    <a:lstStyle/>
                    <a:p>
                      <a:pPr marL="0" indent="0" algn="r">
                        <a:buNone/>
                      </a:pPr>
                      <a:r>
                        <a:rPr lang="en-GB" sz="1050" dirty="0">
                          <a:solidFill>
                            <a:srgbClr val="FFFFFF"/>
                          </a:solidFill>
                          <a:latin typeface="Inter SemiBold Text SemiBold" pitchFamily="34" charset="0"/>
                          <a:ea typeface="Inter SemiBold Text SemiBold" pitchFamily="34" charset="-122"/>
                          <a:cs typeface="Inter SemiBold Text SemiBold" pitchFamily="34" charset="-120"/>
                        </a:rPr>
                        <a:t>1,000,000 units</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1A2B5E"/>
                    </a:solidFill>
                  </a:tcPr>
                </a:tc>
                <a:extLst>
                  <a:ext uri="{0D108BD9-81ED-4DB2-BD59-A6C34878D82A}">
                    <a16:rowId xmlns:a16="http://schemas.microsoft.com/office/drawing/2014/main" val="10000"/>
                  </a:ext>
                </a:extLst>
              </a:tr>
              <a:tr h="603504">
                <a:tc>
                  <a:txBody>
                    <a:bodyPr/>
                    <a:lstStyle/>
                    <a:p>
                      <a:pPr marL="0" indent="0" algn="l">
                        <a:buNone/>
                      </a:pPr>
                      <a:r>
                        <a:rPr lang="en-GB" sz="1100" dirty="0">
                          <a:solidFill>
                            <a:srgbClr val="1A2B5E"/>
                          </a:solidFill>
                          <a:latin typeface="Inter SemiBold Text SemiBold" pitchFamily="34" charset="0"/>
                          <a:ea typeface="Inter SemiBold Text SemiBold" pitchFamily="34" charset="-122"/>
                          <a:cs typeface="Inter SemiBold Text SemiBold" pitchFamily="34" charset="-120"/>
                        </a:rPr>
                        <a:t>1 line</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FFF"/>
                    </a:solidFill>
                  </a:tcPr>
                </a:tc>
                <a:tc>
                  <a:txBody>
                    <a:bodyPr/>
                    <a:lstStyle/>
                    <a:p>
                      <a:pPr marL="0" indent="0" algn="r">
                        <a:buNone/>
                      </a:pPr>
                      <a:r>
                        <a:rPr lang="en-GB" sz="850" dirty="0">
                          <a:solidFill>
                            <a:srgbClr val="D32F2F"/>
                          </a:solidFill>
                          <a:latin typeface="Inter Text" pitchFamily="34" charset="0"/>
                          <a:ea typeface="Inter Text" pitchFamily="34" charset="-122"/>
                          <a:cs typeface="Inter Text" pitchFamily="34" charset="-120"/>
                        </a:rPr>
                        <a:t>Price × quantity  </a:t>
                      </a:r>
                      <a:r>
                        <a:rPr lang="en-GB" sz="850" b="1" dirty="0">
                          <a:solidFill>
                            <a:srgbClr val="D32F2F"/>
                          </a:solidFill>
                          <a:latin typeface="Consolas" pitchFamily="34" charset="0"/>
                          <a:ea typeface="Consolas" pitchFamily="34" charset="-122"/>
                          <a:cs typeface="Consolas" pitchFamily="34" charset="-120"/>
                        </a:rPr>
                        <a:t>± 0</a:t>
                      </a:r>
                    </a:p>
                    <a:p>
                      <a:pPr marL="0" indent="0" algn="r">
                        <a:buNone/>
                      </a:pPr>
                      <a:r>
                        <a:rPr lang="en-GB" sz="850" dirty="0">
                          <a:solidFill>
                            <a:srgbClr val="EF6C00"/>
                          </a:solidFill>
                          <a:latin typeface="Inter Text" pitchFamily="34" charset="0"/>
                          <a:ea typeface="Inter Text" pitchFamily="34" charset="-122"/>
                          <a:cs typeface="Inter Text" pitchFamily="34" charset="-120"/>
                        </a:rPr>
                        <a:t>+ rounding BT-131  </a:t>
                      </a:r>
                      <a:r>
                        <a:rPr lang="en-GB" sz="850" b="1" dirty="0">
                          <a:solidFill>
                            <a:srgbClr val="EF6C00"/>
                          </a:solidFill>
                          <a:latin typeface="Consolas" pitchFamily="34" charset="0"/>
                          <a:ea typeface="Consolas" pitchFamily="34" charset="-122"/>
                          <a:cs typeface="Consolas" pitchFamily="34" charset="-120"/>
                        </a:rPr>
                        <a:t>± €0.005</a:t>
                      </a:r>
                    </a:p>
                    <a:p>
                      <a:pPr marL="0" indent="0" algn="r">
                        <a:buNone/>
                      </a:pPr>
                      <a:r>
                        <a:rPr lang="en-GB" sz="1150" b="1" dirty="0">
                          <a:solidFill>
                            <a:srgbClr val="B26A00"/>
                          </a:solidFill>
                          <a:latin typeface="Consolas" pitchFamily="34" charset="0"/>
                          <a:ea typeface="Consolas" pitchFamily="34" charset="-122"/>
                          <a:cs typeface="Consolas" pitchFamily="34" charset="-120"/>
                        </a:rPr>
                        <a:t>= ± €0.005</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4E0"/>
                    </a:solidFill>
                  </a:tcPr>
                </a:tc>
                <a:tc>
                  <a:txBody>
                    <a:bodyPr/>
                    <a:lstStyle/>
                    <a:p>
                      <a:pPr marL="0" indent="0" algn="r">
                        <a:buNone/>
                      </a:pPr>
                      <a:r>
                        <a:rPr lang="en-GB" sz="850" dirty="0">
                          <a:solidFill>
                            <a:srgbClr val="D32F2F"/>
                          </a:solidFill>
                          <a:latin typeface="Inter Text" pitchFamily="34" charset="0"/>
                          <a:ea typeface="Inter Text" pitchFamily="34" charset="-122"/>
                          <a:cs typeface="Inter Text" pitchFamily="34" charset="-120"/>
                        </a:rPr>
                        <a:t>Price × quantity  </a:t>
                      </a:r>
                      <a:r>
                        <a:rPr lang="en-GB" sz="850" b="1" dirty="0">
                          <a:solidFill>
                            <a:srgbClr val="D32F2F"/>
                          </a:solidFill>
                          <a:latin typeface="Consolas" pitchFamily="34" charset="0"/>
                          <a:ea typeface="Consolas" pitchFamily="34" charset="-122"/>
                          <a:cs typeface="Consolas" pitchFamily="34" charset="-120"/>
                        </a:rPr>
                        <a:t>± 0</a:t>
                      </a:r>
                    </a:p>
                    <a:p>
                      <a:pPr marL="0" indent="0" algn="r">
                        <a:buNone/>
                      </a:pPr>
                      <a:r>
                        <a:rPr lang="en-GB" sz="850" dirty="0">
                          <a:solidFill>
                            <a:srgbClr val="EF6C00"/>
                          </a:solidFill>
                          <a:latin typeface="Inter Text" pitchFamily="34" charset="0"/>
                          <a:ea typeface="Inter Text" pitchFamily="34" charset="-122"/>
                          <a:cs typeface="Inter Text" pitchFamily="34" charset="-120"/>
                        </a:rPr>
                        <a:t>+ rounding BT-131  </a:t>
                      </a:r>
                      <a:r>
                        <a:rPr lang="en-GB" sz="850" b="1" dirty="0">
                          <a:solidFill>
                            <a:srgbClr val="EF6C00"/>
                          </a:solidFill>
                          <a:latin typeface="Consolas" pitchFamily="34" charset="0"/>
                          <a:ea typeface="Consolas" pitchFamily="34" charset="-122"/>
                          <a:cs typeface="Consolas" pitchFamily="34" charset="-120"/>
                        </a:rPr>
                        <a:t>± €0.005</a:t>
                      </a:r>
                    </a:p>
                    <a:p>
                      <a:pPr marL="0" indent="0" algn="r">
                        <a:buNone/>
                      </a:pPr>
                      <a:r>
                        <a:rPr lang="en-GB" sz="1150" b="1" dirty="0">
                          <a:solidFill>
                            <a:srgbClr val="B26A00"/>
                          </a:solidFill>
                          <a:latin typeface="Consolas" pitchFamily="34" charset="0"/>
                          <a:ea typeface="Consolas" pitchFamily="34" charset="-122"/>
                          <a:cs typeface="Consolas" pitchFamily="34" charset="-120"/>
                        </a:rPr>
                        <a:t>= ± €0.005</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4E0"/>
                    </a:solidFill>
                  </a:tcPr>
                </a:tc>
                <a:tc>
                  <a:txBody>
                    <a:bodyPr/>
                    <a:lstStyle/>
                    <a:p>
                      <a:pPr marL="0" indent="0" algn="r">
                        <a:buNone/>
                      </a:pPr>
                      <a:r>
                        <a:rPr lang="en-GB" sz="850" dirty="0">
                          <a:solidFill>
                            <a:srgbClr val="D32F2F"/>
                          </a:solidFill>
                          <a:latin typeface="Inter Text" pitchFamily="34" charset="0"/>
                          <a:ea typeface="Inter Text" pitchFamily="34" charset="-122"/>
                          <a:cs typeface="Inter Text" pitchFamily="34" charset="-120"/>
                        </a:rPr>
                        <a:t>Price × quantity  </a:t>
                      </a:r>
                      <a:r>
                        <a:rPr lang="en-GB" sz="850" b="1" dirty="0">
                          <a:solidFill>
                            <a:srgbClr val="D32F2F"/>
                          </a:solidFill>
                          <a:latin typeface="Consolas" pitchFamily="34" charset="0"/>
                          <a:ea typeface="Consolas" pitchFamily="34" charset="-122"/>
                          <a:cs typeface="Consolas" pitchFamily="34" charset="-120"/>
                        </a:rPr>
                        <a:t>± 0</a:t>
                      </a:r>
                    </a:p>
                    <a:p>
                      <a:pPr marL="0" indent="0" algn="r">
                        <a:buNone/>
                      </a:pPr>
                      <a:r>
                        <a:rPr lang="en-GB" sz="850" dirty="0">
                          <a:solidFill>
                            <a:srgbClr val="EF6C00"/>
                          </a:solidFill>
                          <a:latin typeface="Inter Text" pitchFamily="34" charset="0"/>
                          <a:ea typeface="Inter Text" pitchFamily="34" charset="-122"/>
                          <a:cs typeface="Inter Text" pitchFamily="34" charset="-120"/>
                        </a:rPr>
                        <a:t>+ rounding BT-131  </a:t>
                      </a:r>
                      <a:r>
                        <a:rPr lang="en-GB" sz="850" b="1" dirty="0">
                          <a:solidFill>
                            <a:srgbClr val="EF6C00"/>
                          </a:solidFill>
                          <a:latin typeface="Consolas" pitchFamily="34" charset="0"/>
                          <a:ea typeface="Consolas" pitchFamily="34" charset="-122"/>
                          <a:cs typeface="Consolas" pitchFamily="34" charset="-120"/>
                        </a:rPr>
                        <a:t>± €0.005</a:t>
                      </a:r>
                    </a:p>
                    <a:p>
                      <a:pPr marL="0" indent="0" algn="r">
                        <a:buNone/>
                      </a:pPr>
                      <a:r>
                        <a:rPr lang="en-GB" sz="1150" b="1" dirty="0">
                          <a:solidFill>
                            <a:srgbClr val="B26A00"/>
                          </a:solidFill>
                          <a:latin typeface="Consolas" pitchFamily="34" charset="0"/>
                          <a:ea typeface="Consolas" pitchFamily="34" charset="-122"/>
                          <a:cs typeface="Consolas" pitchFamily="34" charset="-120"/>
                        </a:rPr>
                        <a:t>= ± €0.005</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4E0"/>
                    </a:solidFill>
                  </a:tcPr>
                </a:tc>
                <a:extLst>
                  <a:ext uri="{0D108BD9-81ED-4DB2-BD59-A6C34878D82A}">
                    <a16:rowId xmlns:a16="http://schemas.microsoft.com/office/drawing/2014/main" val="10001"/>
                  </a:ext>
                </a:extLst>
              </a:tr>
              <a:tr h="310896">
                <a:tc>
                  <a:txBody>
                    <a:bodyPr/>
                    <a:lstStyle/>
                    <a:p>
                      <a:pPr marL="0" indent="0" algn="l">
                        <a:buNone/>
                      </a:pPr>
                      <a:r>
                        <a:rPr lang="en-GB" sz="1100" dirty="0">
                          <a:solidFill>
                            <a:srgbClr val="1A2B5E"/>
                          </a:solidFill>
                          <a:latin typeface="Inter SemiBold Text SemiBold" pitchFamily="34" charset="0"/>
                          <a:ea typeface="Inter SemiBold Text SemiBold" pitchFamily="34" charset="-122"/>
                          <a:cs typeface="Inter SemiBold Text SemiBold" pitchFamily="34" charset="-120"/>
                        </a:rPr>
                        <a:t>100 lines</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FFF"/>
                    </a:solidFill>
                  </a:tcPr>
                </a:tc>
                <a:tc>
                  <a:txBody>
                    <a:bodyPr/>
                    <a:lstStyle/>
                    <a:p>
                      <a:pPr marL="0" indent="0" algn="r">
                        <a:buNone/>
                      </a:pPr>
                      <a:r>
                        <a:rPr lang="en-GB" sz="1150" b="1" dirty="0">
                          <a:solidFill>
                            <a:srgbClr val="B26A00"/>
                          </a:solidFill>
                          <a:latin typeface="Consolas" pitchFamily="34" charset="0"/>
                          <a:ea typeface="Consolas" pitchFamily="34" charset="-122"/>
                          <a:cs typeface="Consolas" pitchFamily="34" charset="-120"/>
                        </a:rPr>
                        <a:t>± €0.50</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4E0"/>
                    </a:solidFill>
                  </a:tcPr>
                </a:tc>
                <a:tc>
                  <a:txBody>
                    <a:bodyPr/>
                    <a:lstStyle/>
                    <a:p>
                      <a:pPr marL="0" indent="0" algn="r">
                        <a:buNone/>
                      </a:pPr>
                      <a:r>
                        <a:rPr lang="en-GB" sz="1150" b="1" dirty="0">
                          <a:solidFill>
                            <a:srgbClr val="B26A00"/>
                          </a:solidFill>
                          <a:latin typeface="Consolas" pitchFamily="34" charset="0"/>
                          <a:ea typeface="Consolas" pitchFamily="34" charset="-122"/>
                          <a:cs typeface="Consolas" pitchFamily="34" charset="-120"/>
                        </a:rPr>
                        <a:t>± €0.50</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4E0"/>
                    </a:solidFill>
                  </a:tcPr>
                </a:tc>
                <a:tc>
                  <a:txBody>
                    <a:bodyPr/>
                    <a:lstStyle/>
                    <a:p>
                      <a:pPr marL="0" indent="0" algn="r">
                        <a:buNone/>
                      </a:pPr>
                      <a:r>
                        <a:rPr lang="en-GB" sz="1150" b="1" dirty="0">
                          <a:solidFill>
                            <a:srgbClr val="B26A00"/>
                          </a:solidFill>
                          <a:latin typeface="Consolas" pitchFamily="34" charset="0"/>
                          <a:ea typeface="Consolas" pitchFamily="34" charset="-122"/>
                          <a:cs typeface="Consolas" pitchFamily="34" charset="-120"/>
                        </a:rPr>
                        <a:t>± €0.50</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4E0"/>
                    </a:solidFill>
                  </a:tcPr>
                </a:tc>
                <a:extLst>
                  <a:ext uri="{0D108BD9-81ED-4DB2-BD59-A6C34878D82A}">
                    <a16:rowId xmlns:a16="http://schemas.microsoft.com/office/drawing/2014/main" val="10002"/>
                  </a:ext>
                </a:extLst>
              </a:tr>
              <a:tr h="310896">
                <a:tc>
                  <a:txBody>
                    <a:bodyPr/>
                    <a:lstStyle/>
                    <a:p>
                      <a:pPr marL="0" indent="0" algn="l">
                        <a:buNone/>
                      </a:pPr>
                      <a:r>
                        <a:rPr lang="en-GB" sz="1100" dirty="0">
                          <a:solidFill>
                            <a:srgbClr val="1A2B5E"/>
                          </a:solidFill>
                          <a:latin typeface="Inter SemiBold Text SemiBold" pitchFamily="34" charset="0"/>
                          <a:ea typeface="Inter SemiBold Text SemiBold" pitchFamily="34" charset="-122"/>
                          <a:cs typeface="Inter SemiBold Text SemiBold" pitchFamily="34" charset="-120"/>
                        </a:rPr>
                        <a:t>10,000 lines</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FFF"/>
                    </a:solidFill>
                  </a:tcPr>
                </a:tc>
                <a:tc>
                  <a:txBody>
                    <a:bodyPr/>
                    <a:lstStyle/>
                    <a:p>
                      <a:pPr marL="0" indent="0" algn="r">
                        <a:buNone/>
                      </a:pPr>
                      <a:r>
                        <a:rPr lang="en-GB" sz="1150" b="1" dirty="0">
                          <a:solidFill>
                            <a:srgbClr val="C0392B"/>
                          </a:solidFill>
                          <a:latin typeface="Consolas" pitchFamily="34" charset="0"/>
                          <a:ea typeface="Consolas" pitchFamily="34" charset="-122"/>
                          <a:cs typeface="Consolas" pitchFamily="34" charset="-120"/>
                        </a:rPr>
                        <a:t>± €50.00</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CEDEB"/>
                    </a:solidFill>
                  </a:tcPr>
                </a:tc>
                <a:tc>
                  <a:txBody>
                    <a:bodyPr/>
                    <a:lstStyle/>
                    <a:p>
                      <a:pPr marL="0" indent="0" algn="r">
                        <a:buNone/>
                      </a:pPr>
                      <a:r>
                        <a:rPr lang="en-GB" sz="1150" b="1" dirty="0">
                          <a:solidFill>
                            <a:srgbClr val="C0392B"/>
                          </a:solidFill>
                          <a:latin typeface="Consolas" pitchFamily="34" charset="0"/>
                          <a:ea typeface="Consolas" pitchFamily="34" charset="-122"/>
                          <a:cs typeface="Consolas" pitchFamily="34" charset="-120"/>
                        </a:rPr>
                        <a:t>± €50.00</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CEDEB"/>
                    </a:solidFill>
                  </a:tcPr>
                </a:tc>
                <a:tc>
                  <a:txBody>
                    <a:bodyPr/>
                    <a:lstStyle/>
                    <a:p>
                      <a:pPr marL="0" indent="0" algn="r">
                        <a:buNone/>
                      </a:pPr>
                      <a:r>
                        <a:rPr lang="en-GB" sz="1150" b="1" dirty="0">
                          <a:solidFill>
                            <a:srgbClr val="C0392B"/>
                          </a:solidFill>
                          <a:latin typeface="Consolas" pitchFamily="34" charset="0"/>
                          <a:ea typeface="Consolas" pitchFamily="34" charset="-122"/>
                          <a:cs typeface="Consolas" pitchFamily="34" charset="-120"/>
                        </a:rPr>
                        <a:t>± €50.00</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CEDEB"/>
                    </a:solidFill>
                  </a:tcPr>
                </a:tc>
                <a:extLst>
                  <a:ext uri="{0D108BD9-81ED-4DB2-BD59-A6C34878D82A}">
                    <a16:rowId xmlns:a16="http://schemas.microsoft.com/office/drawing/2014/main" val="10003"/>
                  </a:ext>
                </a:extLst>
              </a:tr>
            </a:tbl>
          </a:graphicData>
        </a:graphic>
      </p:graphicFrame>
      <p:sp>
        <p:nvSpPr>
          <p:cNvPr id="23" name="Panel 23"/>
          <p:cNvSpPr/>
          <p:nvPr/>
        </p:nvSpPr>
        <p:spPr>
          <a:xfrm>
            <a:off x="7818120" y="4224528"/>
            <a:ext cx="3547872" cy="1883664"/>
          </a:xfrm>
          <a:prstGeom prst="roundRect">
            <a:avLst>
              <a:gd name="adj" fmla="val 4854"/>
            </a:avLst>
          </a:prstGeom>
          <a:solidFill>
            <a:srgbClr val="1A2B5E"/>
          </a:solidFill>
          <a:ln>
            <a:noFill/>
          </a:ln>
          <a:effectLst>
            <a:outerShdw blurRad="101600" dist="38100" dir="5400000" algn="bl" rotWithShape="0">
              <a:srgbClr val="0A1230">
                <a:alpha val="18000"/>
              </a:srgbClr>
            </a:outerShdw>
          </a:effectLst>
        </p:spPr>
        <p:txBody>
          <a:bodyPr/>
          <a:lstStyle/>
          <a:p>
            <a:endParaRPr lang="en-GB"/>
          </a:p>
        </p:txBody>
      </p:sp>
      <p:sp>
        <p:nvSpPr>
          <p:cNvPr id="24" name="Text 24"/>
          <p:cNvSpPr txBox="1"/>
          <p:nvPr/>
        </p:nvSpPr>
        <p:spPr>
          <a:xfrm>
            <a:off x="8092440" y="4334256"/>
            <a:ext cx="3017520" cy="256032"/>
          </a:xfrm>
          <a:prstGeom prst="rect">
            <a:avLst/>
          </a:prstGeom>
          <a:noFill/>
          <a:ln/>
        </p:spPr>
        <p:txBody>
          <a:bodyPr wrap="square" lIns="0" tIns="0" rIns="0" bIns="0" rtlCol="0" anchor="ctr"/>
          <a:lstStyle/>
          <a:p>
            <a:pPr marL="0" indent="0" algn="l">
              <a:buNone/>
            </a:pPr>
            <a:r>
              <a:rPr lang="en-GB" sz="1000" spc="150" dirty="0">
                <a:solidFill>
                  <a:srgbClr val="19C3C8"/>
                </a:solidFill>
                <a:latin typeface="Inter SemiBold Text SemiBold" pitchFamily="34" charset="0"/>
                <a:ea typeface="Inter SemiBold Text SemiBold" pitchFamily="34" charset="-122"/>
                <a:cs typeface="Inter SemiBold Text SemiBold" pitchFamily="34" charset="-120"/>
              </a:rPr>
              <a:t>TOTAL · NET</a:t>
            </a:r>
          </a:p>
        </p:txBody>
      </p:sp>
      <p:sp>
        <p:nvSpPr>
          <p:cNvPr id="25" name="Text 25"/>
          <p:cNvSpPr txBox="1"/>
          <p:nvPr/>
        </p:nvSpPr>
        <p:spPr>
          <a:xfrm>
            <a:off x="8092440" y="4608576"/>
            <a:ext cx="3108960" cy="384048"/>
          </a:xfrm>
          <a:prstGeom prst="rect">
            <a:avLst/>
          </a:prstGeom>
          <a:noFill/>
          <a:ln/>
        </p:spPr>
        <p:txBody>
          <a:bodyPr wrap="none" lIns="0" tIns="0" rIns="0" bIns="0" rtlCol="0" anchor="ctr"/>
          <a:lstStyle/>
          <a:p>
            <a:pPr marL="0" indent="0" algn="l">
              <a:buNone/>
            </a:pPr>
            <a:r>
              <a:rPr lang="en-GB" sz="1800" b="1" dirty="0">
                <a:solidFill>
                  <a:srgbClr val="FFFFFF"/>
                </a:solidFill>
                <a:latin typeface="Consolas" pitchFamily="34" charset="0"/>
                <a:ea typeface="Consolas" pitchFamily="34" charset="-122"/>
                <a:cs typeface="Consolas" pitchFamily="34" charset="-120"/>
              </a:rPr>
              <a:t>n × €0.005</a:t>
            </a:r>
          </a:p>
        </p:txBody>
      </p:sp>
      <p:sp>
        <p:nvSpPr>
          <p:cNvPr id="26" name="Text 26"/>
          <p:cNvSpPr txBox="1"/>
          <p:nvPr/>
        </p:nvSpPr>
        <p:spPr>
          <a:xfrm>
            <a:off x="8092440" y="5029200"/>
            <a:ext cx="3063240" cy="457200"/>
          </a:xfrm>
          <a:prstGeom prst="rect">
            <a:avLst/>
          </a:prstGeom>
          <a:noFill/>
          <a:ln/>
        </p:spPr>
        <p:txBody>
          <a:bodyPr wrap="square" lIns="0" tIns="0" rIns="0" bIns="0" rtlCol="0" anchor="t"/>
          <a:lstStyle/>
          <a:p>
            <a:pPr marL="0" indent="0" algn="l">
              <a:lnSpc>
                <a:spcPct val="105000"/>
              </a:lnSpc>
              <a:buNone/>
            </a:pPr>
            <a:r>
              <a:rPr lang="en-GB" sz="1000" dirty="0">
                <a:solidFill>
                  <a:srgbClr val="C2CADE"/>
                </a:solidFill>
                <a:latin typeface="Inter Text" pitchFamily="34" charset="0"/>
                <a:ea typeface="Inter Text" pitchFamily="34" charset="-122"/>
                <a:cs typeface="Inter Text" pitchFamily="34" charset="-120"/>
              </a:rPr>
              <a:t>VAT: 19% of that. Open-ended — the more lines, the larger the deviation.</a:t>
            </a:r>
          </a:p>
        </p:txBody>
      </p:sp>
      <p:sp>
        <p:nvSpPr>
          <p:cNvPr id="27" name="Shape 27"/>
          <p:cNvSpPr/>
          <p:nvPr/>
        </p:nvSpPr>
        <p:spPr>
          <a:xfrm>
            <a:off x="8092440" y="5541264"/>
            <a:ext cx="3017520" cy="9144"/>
          </a:xfrm>
          <a:prstGeom prst="rect">
            <a:avLst/>
          </a:prstGeom>
          <a:solidFill>
            <a:srgbClr val="3A4A7A"/>
          </a:solidFill>
          <a:ln>
            <a:noFill/>
          </a:ln>
        </p:spPr>
        <p:txBody>
          <a:bodyPr/>
          <a:lstStyle/>
          <a:p>
            <a:endParaRPr lang="en-GB"/>
          </a:p>
        </p:txBody>
      </p:sp>
      <p:sp>
        <p:nvSpPr>
          <p:cNvPr id="28" name="Text 28"/>
          <p:cNvSpPr txBox="1"/>
          <p:nvPr/>
        </p:nvSpPr>
        <p:spPr>
          <a:xfrm>
            <a:off x="8092440" y="5596128"/>
            <a:ext cx="3108960" cy="420624"/>
          </a:xfrm>
          <a:prstGeom prst="rect">
            <a:avLst/>
          </a:prstGeom>
          <a:noFill/>
          <a:ln/>
        </p:spPr>
        <p:txBody>
          <a:bodyPr wrap="square" lIns="0" tIns="0" rIns="0" bIns="0" rtlCol="0" anchor="ctr"/>
          <a:lstStyle/>
          <a:p>
            <a:pPr marL="0" indent="0" algn="l">
              <a:buNone/>
            </a:pPr>
            <a:r>
              <a:rPr lang="en-GB" sz="950" dirty="0">
                <a:solidFill>
                  <a:srgbClr val="9AA4C2"/>
                </a:solidFill>
                <a:latin typeface="Inter Text" pitchFamily="34" charset="0"/>
                <a:ea typeface="Inter Text" pitchFamily="34" charset="-122"/>
                <a:cs typeface="Inter Text" pitchFamily="34" charset="-120"/>
              </a:rPr>
              <a:t>100 lines of 10,000 units</a:t>
            </a:r>
          </a:p>
          <a:p>
            <a:pPr marL="0" indent="0" algn="l">
              <a:buNone/>
            </a:pPr>
            <a:r>
              <a:rPr lang="en-GB" sz="1000" dirty="0">
                <a:solidFill>
                  <a:srgbClr val="C2CADE"/>
                </a:solidFill>
                <a:latin typeface="Inter Text" pitchFamily="34" charset="0"/>
                <a:ea typeface="Inter Text" pitchFamily="34" charset="-122"/>
                <a:cs typeface="Inter Text" pitchFamily="34" charset="-120"/>
              </a:rPr>
              <a:t>Net </a:t>
            </a:r>
            <a:r>
              <a:rPr lang="en-GB" sz="1100" b="1" dirty="0">
                <a:solidFill>
                  <a:srgbClr val="FFFFFF"/>
                </a:solidFill>
                <a:latin typeface="Consolas" pitchFamily="34" charset="0"/>
                <a:ea typeface="Consolas" pitchFamily="34" charset="-122"/>
                <a:cs typeface="Consolas" pitchFamily="34" charset="-120"/>
              </a:rPr>
              <a:t>± €0.50</a:t>
            </a:r>
            <a:r>
              <a:rPr lang="en-GB" sz="1000" dirty="0">
                <a:solidFill>
                  <a:srgbClr val="C2CADE"/>
                </a:solidFill>
                <a:latin typeface="Inter Text" pitchFamily="34" charset="0"/>
                <a:ea typeface="Inter Text" pitchFamily="34" charset="-122"/>
                <a:cs typeface="Inter Text" pitchFamily="34" charset="-120"/>
              </a:rPr>
              <a:t>   VAT </a:t>
            </a:r>
            <a:r>
              <a:rPr lang="en-GB" sz="1100" b="1" dirty="0">
                <a:solidFill>
                  <a:srgbClr val="FFFFFF"/>
                </a:solidFill>
                <a:latin typeface="Consolas" pitchFamily="34" charset="0"/>
                <a:ea typeface="Consolas" pitchFamily="34" charset="-122"/>
                <a:cs typeface="Consolas" pitchFamily="34" charset="-120"/>
              </a:rPr>
              <a:t>± €0.10</a:t>
            </a:r>
          </a:p>
        </p:txBody>
      </p:sp>
      <p:sp>
        <p:nvSpPr>
          <p:cNvPr id="29" name="Text 29"/>
          <p:cNvSpPr txBox="1"/>
          <p:nvPr/>
        </p:nvSpPr>
        <p:spPr>
          <a:xfrm>
            <a:off x="822960" y="6126480"/>
            <a:ext cx="6766560" cy="274320"/>
          </a:xfrm>
          <a:prstGeom prst="rect">
            <a:avLst/>
          </a:prstGeom>
          <a:noFill/>
          <a:ln/>
        </p:spPr>
        <p:txBody>
          <a:bodyPr wrap="square" lIns="0" tIns="0" rIns="0" bIns="0" rtlCol="0" anchor="t"/>
          <a:lstStyle/>
          <a:p>
            <a:pPr marL="0" indent="0" algn="l">
              <a:lnSpc>
                <a:spcPct val="100000"/>
              </a:lnSpc>
              <a:buNone/>
            </a:pPr>
            <a:r>
              <a:rPr lang="en-GB" sz="850" dirty="0">
                <a:solidFill>
                  <a:srgbClr val="9AA4C2"/>
                </a:solidFill>
                <a:latin typeface="Inter Text" pitchFamily="34" charset="0"/>
                <a:ea typeface="Inter Text" pitchFamily="34" charset="-122"/>
                <a:cs typeface="Inter Text" pitchFamily="34" charset="-120"/>
              </a:rPr>
              <a:t>Assumption: all roundings go in the same direction, BT-149 Item price base quantity = 1, 19% VAT.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Folie 31">
    <p:bg>
      <p:bgPr>
        <a:solidFill>
          <a:srgbClr val="F4F6FB"/>
        </a:solidFill>
        <a:effectLst/>
      </p:bgPr>
    </p:bg>
    <p:spTree>
      <p:nvGrpSpPr>
        <p:cNvPr id="1" name=""/>
        <p:cNvGrpSpPr/>
        <p:nvPr/>
      </p:nvGrpSpPr>
      <p:grpSpPr>
        <a:xfrm>
          <a:off x="0" y="0"/>
          <a:ext cx="0" cy="0"/>
          <a:chOff x="0" y="0"/>
          <a:chExt cx="0" cy="0"/>
        </a:xfrm>
      </p:grpSpPr>
      <p:sp>
        <p:nvSpPr>
          <p:cNvPr id="3" name="Header 3"/>
          <p:cNvSpPr txBox="1"/>
          <p:nvPr/>
        </p:nvSpPr>
        <p:spPr>
          <a:xfrm>
            <a:off x="822960" y="384048"/>
            <a:ext cx="7315200" cy="274320"/>
          </a:xfrm>
          <a:prstGeom prst="rect">
            <a:avLst/>
          </a:prstGeom>
          <a:noFill/>
          <a:ln/>
        </p:spPr>
        <p:txBody>
          <a:bodyPr wrap="square" lIns="0" tIns="0" rIns="0" bIns="0" rtlCol="0" anchor="ctr"/>
          <a:lstStyle/>
          <a:p>
            <a:pPr marL="0" indent="0" algn="l">
              <a:buNone/>
            </a:pPr>
            <a:r>
              <a:rPr lang="en-GB" sz="950" spc="100" dirty="0">
                <a:solidFill>
                  <a:srgbClr val="5B6890"/>
                </a:solidFill>
                <a:latin typeface="Inter Medium Text Medium" pitchFamily="34" charset="0"/>
                <a:ea typeface="Inter Medium Text Medium" pitchFamily="34" charset="-122"/>
                <a:cs typeface="Inter Medium Text Medium" pitchFamily="34" charset="-120"/>
              </a:rPr>
              <a:t>CEN/TC 434 WG1</a:t>
            </a:r>
            <a:r>
              <a:rPr lang="en-GB" sz="950" spc="100" dirty="0">
                <a:solidFill>
                  <a:srgbClr val="C2CADE"/>
                </a:solidFill>
                <a:latin typeface="Inter Text" pitchFamily="34" charset="0"/>
                <a:ea typeface="Inter Text" pitchFamily="34" charset="-122"/>
                <a:cs typeface="Inter Text" pitchFamily="34" charset="-120"/>
              </a:rPr>
              <a:t>   ·   </a:t>
            </a:r>
            <a:r>
              <a:rPr lang="en-GB" sz="950" spc="100" dirty="0">
                <a:solidFill>
                  <a:srgbClr val="9AA4C2"/>
                </a:solidFill>
                <a:latin typeface="Inter Text" pitchFamily="34" charset="0"/>
                <a:ea typeface="Inter Text" pitchFamily="34" charset="-122"/>
                <a:cs typeface="Inter Text" pitchFamily="34" charset="-120"/>
              </a:rPr>
              <a:t>EN 16931-1:2026 amendment · Gross prices and rounding</a:t>
            </a:r>
          </a:p>
        </p:txBody>
      </p:sp>
      <p:sp>
        <p:nvSpPr>
          <p:cNvPr id="4" name="SectionLabel 4"/>
          <p:cNvSpPr txBox="1"/>
          <p:nvPr/>
        </p:nvSpPr>
        <p:spPr>
          <a:xfrm>
            <a:off x="822960" y="868680"/>
            <a:ext cx="8229600" cy="274320"/>
          </a:xfrm>
          <a:prstGeom prst="rect">
            <a:avLst/>
          </a:prstGeom>
          <a:noFill/>
          <a:ln/>
        </p:spPr>
        <p:txBody>
          <a:bodyPr wrap="square" lIns="0" tIns="0" rIns="0" bIns="0" rtlCol="0" anchor="ctr"/>
          <a:lstStyle/>
          <a:p>
            <a:pPr marL="0" indent="0" algn="l">
              <a:buNone/>
            </a:pPr>
            <a:r>
              <a:rPr lang="en-GB" sz="1100" spc="300" dirty="0">
                <a:solidFill>
                  <a:srgbClr val="19C3C8"/>
                </a:solidFill>
                <a:latin typeface="Inter SemiBold Text SemiBold" pitchFamily="34" charset="0"/>
                <a:ea typeface="Inter SemiBold Text SemiBold" pitchFamily="34" charset="-122"/>
                <a:cs typeface="Inter SemiBold Text SemiBold" pitchFamily="34" charset="-120"/>
              </a:rPr>
              <a:t>WORST CASE · EN 16931-1:2026</a:t>
            </a:r>
          </a:p>
        </p:txBody>
      </p:sp>
      <p:sp>
        <p:nvSpPr>
          <p:cNvPr id="5" name="Title 5"/>
          <p:cNvSpPr txBox="1"/>
          <p:nvPr/>
        </p:nvSpPr>
        <p:spPr>
          <a:xfrm>
            <a:off x="804672" y="1115568"/>
            <a:ext cx="10424160" cy="822960"/>
          </a:xfrm>
          <a:prstGeom prst="rect">
            <a:avLst/>
          </a:prstGeom>
          <a:noFill/>
          <a:ln/>
        </p:spPr>
        <p:txBody>
          <a:bodyPr wrap="square" lIns="0" tIns="0" rIns="0" bIns="0" rtlCol="0" anchor="t"/>
          <a:lstStyle/>
          <a:p>
            <a:pPr marL="0" indent="0" algn="l">
              <a:buNone/>
            </a:pPr>
            <a:r>
              <a:rPr lang="en-GB" sz="3800" b="1" dirty="0">
                <a:solidFill>
                  <a:srgbClr val="1A2B5E"/>
                </a:solidFill>
                <a:latin typeface="Inter Text" pitchFamily="34" charset="0"/>
                <a:ea typeface="Inter Text" pitchFamily="34" charset="-122"/>
                <a:cs typeface="Inter Text" pitchFamily="34" charset="-120"/>
              </a:rPr>
              <a:t>How large does the deviation get?</a:t>
            </a:r>
          </a:p>
        </p:txBody>
      </p:sp>
      <p:sp>
        <p:nvSpPr>
          <p:cNvPr id="6" name="Speaker 6">
            <a:hlinkClick r:id="rId3"/>
          </p:cNvPr>
          <p:cNvSpPr txBox="1"/>
          <p:nvPr/>
        </p:nvSpPr>
        <p:spPr>
          <a:xfrm>
            <a:off x="7680960" y="6514592"/>
            <a:ext cx="3154680" cy="292608"/>
          </a:xfrm>
          <a:prstGeom prst="rect">
            <a:avLst/>
          </a:prstGeom>
          <a:noFill/>
          <a:ln/>
        </p:spPr>
        <p:txBody>
          <a:bodyPr wrap="square" lIns="0" tIns="0" rIns="0" bIns="0" rtlCol="0" anchor="ctr"/>
          <a:lstStyle/>
          <a:p>
            <a:pPr marL="0" indent="0" algn="r">
              <a:buNone/>
            </a:pPr>
            <a:r>
              <a:rPr lang="en-GB" sz="1000" spc="100" dirty="0">
                <a:solidFill>
                  <a:srgbClr val="9AA4C2"/>
                </a:solidFill>
                <a:latin typeface="Inter Medium Text Medium" pitchFamily="34" charset="0"/>
                <a:ea typeface="Inter Medium Text Medium" pitchFamily="34" charset="-122"/>
                <a:cs typeface="Inter Medium Text Medium" pitchFamily="34" charset="-120"/>
              </a:rPr>
              <a:t>© Svante Schubert</a:t>
            </a:r>
          </a:p>
        </p:txBody>
      </p:sp>
      <p:sp>
        <p:nvSpPr>
          <p:cNvPr id="7" name="PageNum 7"/>
          <p:cNvSpPr txBox="1"/>
          <p:nvPr/>
        </p:nvSpPr>
        <p:spPr>
          <a:xfrm>
            <a:off x="10908792" y="6514592"/>
            <a:ext cx="822960" cy="292608"/>
          </a:xfrm>
          <a:prstGeom prst="rect">
            <a:avLst/>
          </a:prstGeom>
          <a:noFill/>
          <a:ln/>
        </p:spPr>
        <p:txBody>
          <a:bodyPr wrap="square" lIns="0" tIns="0" rIns="0" bIns="0" rtlCol="0" anchor="ctr"/>
          <a:lstStyle/>
          <a:p>
            <a:pPr marL="0" indent="0" algn="r">
              <a:buNone/>
            </a:pPr>
            <a:fld id="{6E655C58-AB39-491B-9C9F-468B34428247}" type="slidenum">
              <a:rPr lang="en-GB" sz="1000" spc="200" dirty="0">
                <a:solidFill>
                  <a:srgbClr val="5B6890"/>
                </a:solidFill>
                <a:latin typeface="Inter SemiBold Text SemiBold" pitchFamily="34" charset="0"/>
                <a:ea typeface="Inter SemiBold Text SemiBold" pitchFamily="34" charset="-122"/>
                <a:cs typeface="Inter SemiBold Text SemiBold" pitchFamily="34" charset="-120"/>
              </a:rPr>
              <a:t>8</a:t>
            </a:fld>
            <a:endParaRPr lang="en-GB" sz="1000" spc="200" dirty="0">
              <a:solidFill>
                <a:srgbClr val="5B6890"/>
              </a:solidFill>
              <a:latin typeface="Inter SemiBold Text SemiBold" pitchFamily="34" charset="0"/>
              <a:ea typeface="Inter SemiBold Text SemiBold" pitchFamily="34" charset="-122"/>
              <a:cs typeface="Inter SemiBold Text SemiBold" pitchFamily="34" charset="-120"/>
            </a:endParaRPr>
          </a:p>
        </p:txBody>
      </p:sp>
      <p:sp>
        <p:nvSpPr>
          <p:cNvPr id="8" name="Tagline 8"/>
          <p:cNvSpPr txBox="1"/>
          <p:nvPr/>
        </p:nvSpPr>
        <p:spPr>
          <a:xfrm>
            <a:off x="822960" y="1865376"/>
            <a:ext cx="10424160" cy="320040"/>
          </a:xfrm>
          <a:prstGeom prst="rect">
            <a:avLst/>
          </a:prstGeom>
          <a:noFill/>
          <a:ln/>
        </p:spPr>
        <p:txBody>
          <a:bodyPr wrap="square" lIns="0" tIns="0" rIns="0" bIns="0" rtlCol="0" anchor="ctr"/>
          <a:lstStyle/>
          <a:p>
            <a:pPr marL="0" indent="0" algn="l">
              <a:buNone/>
            </a:pPr>
            <a:r>
              <a:rPr lang="en-GB" sz="1300" dirty="0">
                <a:solidFill>
                  <a:srgbClr val="5B6890"/>
                </a:solidFill>
                <a:latin typeface="Inter Text" pitchFamily="34" charset="0"/>
                <a:ea typeface="Inter Text" pitchFamily="34" charset="-122"/>
                <a:cs typeface="Inter Text" pitchFamily="34" charset="-120"/>
              </a:rPr>
              <a:t>Two factors: first the quantity Q × rounded </a:t>
            </a:r>
            <a:r>
              <a:rPr lang="en-GB" sz="1300" b="1" dirty="0">
                <a:solidFill>
                  <a:srgbClr val="D32F2F"/>
                </a:solidFill>
                <a:latin typeface="Inter SemiBold Text SemiBold" pitchFamily="34" charset="0"/>
                <a:ea typeface="Inter SemiBold Text SemiBold" pitchFamily="34" charset="-122"/>
                <a:cs typeface="Inter SemiBold Text SemiBold" pitchFamily="34" charset="-120"/>
              </a:rPr>
              <a:t>BT-146</a:t>
            </a:r>
            <a:r>
              <a:rPr lang="en-GB" sz="1300" dirty="0">
                <a:solidFill>
                  <a:srgbClr val="D32F2F"/>
                </a:solidFill>
                <a:latin typeface="Inter Text" pitchFamily="34" charset="0"/>
                <a:ea typeface="Inter Text" pitchFamily="34" charset="-122"/>
                <a:cs typeface="Inter Text" pitchFamily="34" charset="-120"/>
              </a:rPr>
              <a:t> Item net price</a:t>
            </a:r>
            <a:r>
              <a:rPr lang="en-GB" sz="1300" dirty="0">
                <a:solidFill>
                  <a:srgbClr val="5B6890"/>
                </a:solidFill>
                <a:latin typeface="Inter Text" pitchFamily="34" charset="0"/>
                <a:ea typeface="Inter Text" pitchFamily="34" charset="-122"/>
                <a:cs typeface="Inter Text" pitchFamily="34" charset="-120"/>
              </a:rPr>
              <a:t>, then the number of lines n — open-ended.</a:t>
            </a:r>
          </a:p>
        </p:txBody>
      </p:sp>
      <p:sp>
        <p:nvSpPr>
          <p:cNvPr id="9" name="Card 9"/>
          <p:cNvSpPr/>
          <p:nvPr/>
        </p:nvSpPr>
        <p:spPr>
          <a:xfrm>
            <a:off x="822960" y="2331720"/>
            <a:ext cx="5166360" cy="1783080"/>
          </a:xfrm>
          <a:prstGeom prst="roundRect">
            <a:avLst>
              <a:gd name="adj" fmla="val 4102"/>
            </a:avLst>
          </a:prstGeom>
          <a:solidFill>
            <a:srgbClr val="FFFFFF"/>
          </a:solidFill>
          <a:ln w="12700">
            <a:solidFill>
              <a:srgbClr val="E2E7F2"/>
            </a:solidFill>
            <a:prstDash val="solid"/>
          </a:ln>
          <a:effectLst>
            <a:outerShdw blurRad="101600" dist="38100" dir="5400000" algn="bl" rotWithShape="0">
              <a:srgbClr val="0A1230">
                <a:alpha val="8000"/>
              </a:srgbClr>
            </a:outerShdw>
          </a:effectLst>
        </p:spPr>
        <p:txBody>
          <a:bodyPr/>
          <a:lstStyle/>
          <a:p>
            <a:endParaRPr lang="en-GB"/>
          </a:p>
        </p:txBody>
      </p:sp>
      <p:sp>
        <p:nvSpPr>
          <p:cNvPr id="10" name="IconCircle 10"/>
          <p:cNvSpPr/>
          <p:nvPr/>
        </p:nvSpPr>
        <p:spPr>
          <a:xfrm>
            <a:off x="1060704" y="2423160"/>
            <a:ext cx="402336" cy="402336"/>
          </a:xfrm>
          <a:prstGeom prst="ellipse">
            <a:avLst/>
          </a:prstGeom>
          <a:solidFill>
            <a:srgbClr val="19C3C8"/>
          </a:solidFill>
          <a:ln>
            <a:noFill/>
          </a:ln>
          <a:effectLst>
            <a:outerShdw blurRad="88900" dist="38100" dir="5400000" algn="bl" rotWithShape="0">
              <a:srgbClr val="0A1230">
                <a:alpha val="18000"/>
              </a:srgbClr>
            </a:outerShdw>
          </a:effectLst>
        </p:spPr>
        <p:txBody>
          <a:bodyPr/>
          <a:lstStyle/>
          <a:p>
            <a:endParaRPr lang="en-GB"/>
          </a:p>
        </p:txBody>
      </p:sp>
      <p:pic>
        <p:nvPicPr>
          <p:cNvPr id="11" name="Icon 11"/>
          <p:cNvPicPr>
            <a:picLocks noChangeAspect="1"/>
          </p:cNvPicPr>
          <p:nvPr/>
        </p:nvPicPr>
        <p:blipFill>
          <a:blip r:embed="rId4"/>
          <a:stretch>
            <a:fillRect/>
          </a:stretch>
        </p:blipFill>
        <p:spPr>
          <a:xfrm>
            <a:off x="1171346" y="2533802"/>
            <a:ext cx="181051" cy="181051"/>
          </a:xfrm>
          <a:prstGeom prst="rect">
            <a:avLst/>
          </a:prstGeom>
        </p:spPr>
      </p:pic>
      <p:sp>
        <p:nvSpPr>
          <p:cNvPr id="12" name="Text 12"/>
          <p:cNvSpPr txBox="1"/>
          <p:nvPr/>
        </p:nvSpPr>
        <p:spPr>
          <a:xfrm>
            <a:off x="1600200" y="2404872"/>
            <a:ext cx="4206240" cy="438912"/>
          </a:xfrm>
          <a:prstGeom prst="rect">
            <a:avLst/>
          </a:prstGeom>
          <a:noFill/>
          <a:ln/>
        </p:spPr>
        <p:txBody>
          <a:bodyPr wrap="square" lIns="0" tIns="0" rIns="0" bIns="0" rtlCol="0" anchor="ctr"/>
          <a:lstStyle/>
          <a:p>
            <a:pPr marL="0" indent="0" algn="l">
              <a:buNone/>
            </a:pPr>
            <a:r>
              <a:rPr lang="en-GB" sz="1400" dirty="0">
                <a:solidFill>
                  <a:srgbClr val="1A2B5E"/>
                </a:solidFill>
                <a:latin typeface="Inter SemiBold Text SemiBold" pitchFamily="34" charset="0"/>
                <a:ea typeface="Inter SemiBold Text SemiBold" pitchFamily="34" charset="-122"/>
                <a:cs typeface="Inter SemiBold Text SemiBold" pitchFamily="34" charset="-120"/>
              </a:rPr>
              <a:t>Factor 1 · price rounding × quantity Q</a:t>
            </a:r>
          </a:p>
        </p:txBody>
      </p:sp>
      <p:sp>
        <p:nvSpPr>
          <p:cNvPr id="13" name="Text 13"/>
          <p:cNvSpPr txBox="1"/>
          <p:nvPr/>
        </p:nvSpPr>
        <p:spPr>
          <a:xfrm>
            <a:off x="1097280" y="2926080"/>
            <a:ext cx="4663440" cy="768096"/>
          </a:xfrm>
          <a:prstGeom prst="rect">
            <a:avLst/>
          </a:prstGeom>
          <a:noFill/>
          <a:ln/>
        </p:spPr>
        <p:txBody>
          <a:bodyPr wrap="square" lIns="0" tIns="0" rIns="0" bIns="0" rtlCol="0" anchor="t"/>
          <a:lstStyle/>
          <a:p>
            <a:pPr marL="0" indent="0" algn="l">
              <a:lnSpc>
                <a:spcPct val="104000"/>
              </a:lnSpc>
              <a:buNone/>
            </a:pPr>
            <a:r>
              <a:rPr lang="en-GB" sz="1050" b="1" dirty="0">
                <a:solidFill>
                  <a:srgbClr val="D32F2F"/>
                </a:solidFill>
                <a:latin typeface="Inter SemiBold Text SemiBold" pitchFamily="34" charset="0"/>
                <a:ea typeface="Inter SemiBold Text SemiBold" pitchFamily="34" charset="-122"/>
                <a:cs typeface="Inter SemiBold Text SemiBold" pitchFamily="34" charset="-120"/>
              </a:rPr>
              <a:t>BT-146</a:t>
            </a:r>
            <a:r>
              <a:rPr lang="en-GB" sz="1050" dirty="0">
                <a:solidFill>
                  <a:srgbClr val="D32F2F"/>
                </a:solidFill>
                <a:latin typeface="Inter Text" pitchFamily="34" charset="0"/>
                <a:ea typeface="Inter Text" pitchFamily="34" charset="-122"/>
                <a:cs typeface="Inter Text" pitchFamily="34" charset="-120"/>
              </a:rPr>
              <a:t> Item net price</a:t>
            </a:r>
            <a:r>
              <a:rPr lang="en-GB" sz="1050" dirty="0">
                <a:solidFill>
                  <a:srgbClr val="5B6890"/>
                </a:solidFill>
                <a:latin typeface="Inter Text" pitchFamily="34" charset="0"/>
                <a:ea typeface="Inter Text" pitchFamily="34" charset="-122"/>
                <a:cs typeface="Inter Text" pitchFamily="34" charset="-120"/>
              </a:rPr>
              <a:t> is “squeezed” once into Minor Unit + 2 (EUR: 4 dp): up to ± €0.00005. </a:t>
            </a:r>
            <a:r>
              <a:rPr lang="en-GB" sz="1050" b="1" dirty="0">
                <a:solidFill>
                  <a:srgbClr val="EF6C00"/>
                </a:solidFill>
                <a:latin typeface="Inter SemiBold Text SemiBold" pitchFamily="34" charset="0"/>
                <a:ea typeface="Inter SemiBold Text SemiBold" pitchFamily="34" charset="-122"/>
                <a:cs typeface="Inter SemiBold Text SemiBold" pitchFamily="34" charset="-120"/>
              </a:rPr>
              <a:t>BT-131</a:t>
            </a:r>
            <a:r>
              <a:rPr lang="en-GB" sz="1050" dirty="0">
                <a:solidFill>
                  <a:srgbClr val="EF6C00"/>
                </a:solidFill>
                <a:latin typeface="Inter Text" pitchFamily="34" charset="0"/>
                <a:ea typeface="Inter Text" pitchFamily="34" charset="-122"/>
                <a:cs typeface="Inter Text" pitchFamily="34" charset="-120"/>
              </a:rPr>
              <a:t> Invoice line net amount</a:t>
            </a:r>
            <a:r>
              <a:rPr lang="en-GB" sz="1050" dirty="0">
                <a:solidFill>
                  <a:srgbClr val="5B6890"/>
                </a:solidFill>
                <a:latin typeface="Inter Text" pitchFamily="34" charset="0"/>
                <a:ea typeface="Inter Text" pitchFamily="34" charset="-122"/>
                <a:cs typeface="Inter Text" pitchFamily="34" charset="-120"/>
              </a:rPr>
              <a:t> multiplies this one error by </a:t>
            </a:r>
            <a:r>
              <a:rPr lang="en-GB" sz="1050" dirty="0">
                <a:solidFill>
                  <a:srgbClr val="1A2B5E"/>
                </a:solidFill>
                <a:latin typeface="Inter SemiBold Text SemiBold" pitchFamily="34" charset="0"/>
                <a:ea typeface="Inter SemiBold Text SemiBold" pitchFamily="34" charset="-122"/>
                <a:cs typeface="Inter SemiBold Text SemiBold" pitchFamily="34" charset="-120"/>
              </a:rPr>
              <a:t>BT-129</a:t>
            </a:r>
            <a:r>
              <a:rPr lang="en-GB" sz="1050" dirty="0">
                <a:solidFill>
                  <a:srgbClr val="5B6890"/>
                </a:solidFill>
                <a:latin typeface="Inter Text" pitchFamily="34" charset="0"/>
                <a:ea typeface="Inter Text" pitchFamily="34" charset="-122"/>
                <a:cs typeface="Inter Text" pitchFamily="34" charset="-120"/>
              </a:rPr>
              <a:t> Invoiced quantity. </a:t>
            </a:r>
            <a:r>
              <a:rPr lang="en-GB" sz="1050" dirty="0">
                <a:solidFill>
                  <a:srgbClr val="5B6890"/>
                </a:solidFill>
                <a:latin typeface="Inter Text" pitchFamily="34" charset="0"/>
                <a:ea typeface="Inter Text" pitchFamily="34" charset="-122"/>
                <a:cs typeface="Inter Text" pitchFamily="34" charset="-120"/>
                <a:hlinkClick r:id="rId6">
                  <a:extLst>
                    <a:ext uri="{A12FA001-AC4F-418D-AE19-62706E023703}">
                      <ahyp:hlinkClr xmlns:ahyp="http://schemas.microsoft.com/office/drawing/2018/hyperlinkcolor" val="tx"/>
                    </a:ext>
                  </a:extLst>
                </a:hlinkClick>
              </a:rPr>
              <a:t>#148</a:t>
            </a:r>
            <a:r>
              <a:rPr lang="en-GB" sz="1050" dirty="0">
                <a:solidFill>
                  <a:srgbClr val="5B6890"/>
                </a:solidFill>
                <a:latin typeface="Inter Text" pitchFamily="34" charset="0"/>
                <a:ea typeface="Inter Text" pitchFamily="34" charset="-122"/>
                <a:cs typeface="Inter Text" pitchFamily="34" charset="-120"/>
              </a:rPr>
              <a:t>: €0.123449 → €0.1234; with 10,000 units €0.49 is missing.</a:t>
            </a:r>
          </a:p>
        </p:txBody>
      </p:sp>
      <p:sp>
        <p:nvSpPr>
          <p:cNvPr id="14" name="Pill 14"/>
          <p:cNvSpPr/>
          <p:nvPr/>
        </p:nvSpPr>
        <p:spPr>
          <a:xfrm>
            <a:off x="1097280" y="3712464"/>
            <a:ext cx="2377440" cy="310896"/>
          </a:xfrm>
          <a:prstGeom prst="roundRect">
            <a:avLst>
              <a:gd name="adj" fmla="val 50000"/>
            </a:avLst>
          </a:prstGeom>
          <a:solidFill>
            <a:srgbClr val="FCEDEB"/>
          </a:solidFill>
          <a:ln w="9525">
            <a:solidFill>
              <a:srgbClr val="F2C4BE"/>
            </a:solidFill>
            <a:prstDash val="solid"/>
          </a:ln>
        </p:spPr>
        <p:txBody>
          <a:bodyPr wrap="square" lIns="36576" tIns="36576" rIns="36576" bIns="36576" rtlCol="0" anchor="ctr"/>
          <a:lstStyle/>
          <a:p>
            <a:pPr marL="0" indent="0" algn="ctr">
              <a:buNone/>
            </a:pPr>
            <a:r>
              <a:rPr lang="en-GB" sz="1150" b="1" dirty="0">
                <a:solidFill>
                  <a:srgbClr val="C0392B"/>
                </a:solidFill>
                <a:latin typeface="Consolas" pitchFamily="34" charset="0"/>
                <a:ea typeface="Consolas" pitchFamily="34" charset="-122"/>
                <a:cs typeface="Consolas" pitchFamily="34" charset="-120"/>
              </a:rPr>
              <a:t>± Q × €0.00005 per line</a:t>
            </a:r>
          </a:p>
        </p:txBody>
      </p:sp>
      <p:sp>
        <p:nvSpPr>
          <p:cNvPr id="15" name="Card 15"/>
          <p:cNvSpPr/>
          <p:nvPr/>
        </p:nvSpPr>
        <p:spPr>
          <a:xfrm>
            <a:off x="6199632" y="2331720"/>
            <a:ext cx="5166360" cy="1783080"/>
          </a:xfrm>
          <a:prstGeom prst="roundRect">
            <a:avLst>
              <a:gd name="adj" fmla="val 4102"/>
            </a:avLst>
          </a:prstGeom>
          <a:solidFill>
            <a:srgbClr val="FFFFFF"/>
          </a:solidFill>
          <a:ln w="12700">
            <a:solidFill>
              <a:srgbClr val="E2E7F2"/>
            </a:solidFill>
            <a:prstDash val="solid"/>
          </a:ln>
          <a:effectLst>
            <a:outerShdw blurRad="101600" dist="38100" dir="5400000" algn="bl" rotWithShape="0">
              <a:srgbClr val="0A1230">
                <a:alpha val="8000"/>
              </a:srgbClr>
            </a:outerShdw>
          </a:effectLst>
        </p:spPr>
        <p:txBody>
          <a:bodyPr/>
          <a:lstStyle/>
          <a:p>
            <a:endParaRPr lang="en-GB"/>
          </a:p>
        </p:txBody>
      </p:sp>
      <p:sp>
        <p:nvSpPr>
          <p:cNvPr id="16" name="IconCircle 16"/>
          <p:cNvSpPr/>
          <p:nvPr/>
        </p:nvSpPr>
        <p:spPr>
          <a:xfrm>
            <a:off x="6437376" y="2423160"/>
            <a:ext cx="402336" cy="402336"/>
          </a:xfrm>
          <a:prstGeom prst="ellipse">
            <a:avLst/>
          </a:prstGeom>
          <a:solidFill>
            <a:srgbClr val="19C3C8"/>
          </a:solidFill>
          <a:ln>
            <a:noFill/>
          </a:ln>
          <a:effectLst>
            <a:outerShdw blurRad="88900" dist="38100" dir="5400000" algn="bl" rotWithShape="0">
              <a:srgbClr val="0A1230">
                <a:alpha val="18000"/>
              </a:srgbClr>
            </a:outerShdw>
          </a:effectLst>
        </p:spPr>
        <p:txBody>
          <a:bodyPr/>
          <a:lstStyle/>
          <a:p>
            <a:endParaRPr lang="en-GB"/>
          </a:p>
        </p:txBody>
      </p:sp>
      <p:pic>
        <p:nvPicPr>
          <p:cNvPr id="17" name="Icon 17"/>
          <p:cNvPicPr>
            <a:picLocks noChangeAspect="1"/>
          </p:cNvPicPr>
          <p:nvPr/>
        </p:nvPicPr>
        <p:blipFill>
          <a:blip r:embed="rId5"/>
          <a:stretch>
            <a:fillRect/>
          </a:stretch>
        </p:blipFill>
        <p:spPr>
          <a:xfrm>
            <a:off x="6548018" y="2533802"/>
            <a:ext cx="181051" cy="181051"/>
          </a:xfrm>
          <a:prstGeom prst="rect">
            <a:avLst/>
          </a:prstGeom>
        </p:spPr>
      </p:pic>
      <p:sp>
        <p:nvSpPr>
          <p:cNvPr id="18" name="Text 18"/>
          <p:cNvSpPr txBox="1"/>
          <p:nvPr/>
        </p:nvSpPr>
        <p:spPr>
          <a:xfrm>
            <a:off x="6976872" y="2404872"/>
            <a:ext cx="4206240" cy="438912"/>
          </a:xfrm>
          <a:prstGeom prst="rect">
            <a:avLst/>
          </a:prstGeom>
          <a:noFill/>
          <a:ln/>
        </p:spPr>
        <p:txBody>
          <a:bodyPr wrap="square" lIns="0" tIns="0" rIns="0" bIns="0" rtlCol="0" anchor="ctr"/>
          <a:lstStyle/>
          <a:p>
            <a:pPr marL="0" indent="0" algn="l">
              <a:buNone/>
            </a:pPr>
            <a:r>
              <a:rPr lang="en-GB" sz="1400" dirty="0">
                <a:solidFill>
                  <a:srgbClr val="1A2B5E"/>
                </a:solidFill>
                <a:latin typeface="Inter SemiBold Text SemiBold" pitchFamily="34" charset="0"/>
                <a:ea typeface="Inter SemiBold Text SemiBold" pitchFamily="34" charset="-122"/>
                <a:cs typeface="Inter SemiBold Text SemiBold" pitchFamily="34" charset="-120"/>
              </a:rPr>
              <a:t>Factor 2 · number of lines n</a:t>
            </a:r>
          </a:p>
        </p:txBody>
      </p:sp>
      <p:sp>
        <p:nvSpPr>
          <p:cNvPr id="19" name="Text 19"/>
          <p:cNvSpPr txBox="1"/>
          <p:nvPr/>
        </p:nvSpPr>
        <p:spPr>
          <a:xfrm>
            <a:off x="6473952" y="2926080"/>
            <a:ext cx="4663440" cy="768096"/>
          </a:xfrm>
          <a:prstGeom prst="rect">
            <a:avLst/>
          </a:prstGeom>
          <a:noFill/>
          <a:ln/>
        </p:spPr>
        <p:txBody>
          <a:bodyPr wrap="square" lIns="0" tIns="0" rIns="0" bIns="0" rtlCol="0" anchor="t"/>
          <a:lstStyle/>
          <a:p>
            <a:pPr marL="0" indent="0" algn="l">
              <a:lnSpc>
                <a:spcPct val="104000"/>
              </a:lnSpc>
              <a:buNone/>
            </a:pPr>
            <a:r>
              <a:rPr lang="en-GB" sz="1050" dirty="0">
                <a:solidFill>
                  <a:srgbClr val="5B6890"/>
                </a:solidFill>
                <a:latin typeface="Inter Text" pitchFamily="34" charset="0"/>
                <a:ea typeface="Inter Text" pitchFamily="34" charset="-122"/>
                <a:cs typeface="Inter Text" pitchFamily="34" charset="-120"/>
              </a:rPr>
              <a:t>Each line rounds </a:t>
            </a:r>
            <a:r>
              <a:rPr lang="en-GB" sz="1050" b="1" dirty="0">
                <a:solidFill>
                  <a:srgbClr val="EF6C00"/>
                </a:solidFill>
                <a:latin typeface="Inter SemiBold Text SemiBold" pitchFamily="34" charset="0"/>
                <a:ea typeface="Inter SemiBold Text SemiBold" pitchFamily="34" charset="-122"/>
                <a:cs typeface="Inter SemiBold Text SemiBold" pitchFamily="34" charset="-120"/>
              </a:rPr>
              <a:t>BT-131</a:t>
            </a:r>
            <a:r>
              <a:rPr lang="en-GB" sz="1050" dirty="0">
                <a:solidFill>
                  <a:srgbClr val="EF6C00"/>
                </a:solidFill>
                <a:latin typeface="Inter Text" pitchFamily="34" charset="0"/>
                <a:ea typeface="Inter Text" pitchFamily="34" charset="-122"/>
                <a:cs typeface="Inter Text" pitchFamily="34" charset="-120"/>
              </a:rPr>
              <a:t> Invoice line net amount</a:t>
            </a:r>
            <a:r>
              <a:rPr lang="en-GB" sz="1050" dirty="0">
                <a:solidFill>
                  <a:srgbClr val="5B6890"/>
                </a:solidFill>
                <a:latin typeface="Inter Text" pitchFamily="34" charset="0"/>
                <a:ea typeface="Inter Text" pitchFamily="34" charset="-122"/>
                <a:cs typeface="Inter Text" pitchFamily="34" charset="-120"/>
              </a:rPr>
              <a:t> additionally to the</a:t>
            </a:r>
            <a:r>
              <a:rPr lang="en-GB" sz="1050" dirty="0">
                <a:solidFill>
                  <a:srgbClr val="5B6890"/>
                </a:solidFill>
                <a:latin typeface="Inter Text" pitchFamily="34" charset="0"/>
                <a:ea typeface="Inter Text" pitchFamily="34" charset="-122"/>
                <a:cs typeface="Inter Text" pitchFamily="34" charset="-120"/>
              </a:rPr>
              <a:t> Minor Unit: up to ± €0.005. </a:t>
            </a:r>
            <a:r>
              <a:rPr lang="en-GB" sz="1050" b="1" dirty="0">
                <a:solidFill>
                  <a:srgbClr val="C79100"/>
                </a:solidFill>
                <a:latin typeface="Inter SemiBold Text SemiBold" pitchFamily="34" charset="0"/>
                <a:ea typeface="Inter SemiBold Text SemiBold" pitchFamily="34" charset="-122"/>
                <a:cs typeface="Inter SemiBold Text SemiBold" pitchFamily="34" charset="-120"/>
              </a:rPr>
              <a:t>BT-106</a:t>
            </a:r>
            <a:r>
              <a:rPr lang="en-GB" sz="1050" dirty="0">
                <a:solidFill>
                  <a:srgbClr val="C79100"/>
                </a:solidFill>
                <a:latin typeface="Inter Text" pitchFamily="34" charset="0"/>
                <a:ea typeface="Inter Text" pitchFamily="34" charset="-122"/>
                <a:cs typeface="Inter Text" pitchFamily="34" charset="-120"/>
              </a:rPr>
              <a:t> Sum of invoice line net amount</a:t>
            </a:r>
            <a:r>
              <a:rPr lang="en-GB" sz="1050" dirty="0">
                <a:solidFill>
                  <a:srgbClr val="5B6890"/>
                </a:solidFill>
                <a:latin typeface="Inter Text" pitchFamily="34" charset="0"/>
                <a:ea typeface="Inter Text" pitchFamily="34" charset="-122"/>
                <a:cs typeface="Inter Text" pitchFamily="34" charset="-120"/>
              </a:rPr>
              <a:t> and</a:t>
            </a:r>
            <a:r>
              <a:rPr lang="en-GB" sz="1050" b="1" dirty="0">
                <a:solidFill>
                  <a:srgbClr val="2E7D32"/>
                </a:solidFill>
                <a:latin typeface="Inter SemiBold Text SemiBold" pitchFamily="34" charset="0"/>
                <a:ea typeface="Inter SemiBold Text SemiBold" pitchFamily="34" charset="-122"/>
                <a:cs typeface="Inter SemiBold Text SemiBold" pitchFamily="34" charset="-120"/>
              </a:rPr>
              <a:t> BT-116</a:t>
            </a:r>
            <a:r>
              <a:rPr lang="en-GB" sz="1050" dirty="0">
                <a:solidFill>
                  <a:srgbClr val="2E7D32"/>
                </a:solidFill>
                <a:latin typeface="Inter Text" pitchFamily="34" charset="0"/>
                <a:ea typeface="Inter Text" pitchFamily="34" charset="-122"/>
                <a:cs typeface="Inter Text" pitchFamily="34" charset="-120"/>
              </a:rPr>
              <a:t> VAT category taxable amount</a:t>
            </a:r>
            <a:r>
              <a:rPr lang="en-GB" sz="1050" dirty="0">
                <a:solidFill>
                  <a:srgbClr val="5B6890"/>
                </a:solidFill>
                <a:latin typeface="Inter Text" pitchFamily="34" charset="0"/>
                <a:ea typeface="Inter Text" pitchFamily="34" charset="-122"/>
                <a:cs typeface="Inter Text" pitchFamily="34" charset="-120"/>
              </a:rPr>
              <a:t> add up all n lines — and with them the</a:t>
            </a:r>
            <a:r>
              <a:rPr lang="en-GB" sz="1050" dirty="0">
                <a:solidFill>
                  <a:srgbClr val="5B6890"/>
                </a:solidFill>
                <a:latin typeface="Inter Text" pitchFamily="34" charset="0"/>
                <a:ea typeface="Inter Text" pitchFamily="34" charset="-122"/>
                <a:cs typeface="Inter Text" pitchFamily="34" charset="-120"/>
              </a:rPr>
              <a:t> errors of all lines.</a:t>
            </a:r>
          </a:p>
        </p:txBody>
      </p:sp>
      <p:sp>
        <p:nvSpPr>
          <p:cNvPr id="20" name="Pill 20"/>
          <p:cNvSpPr/>
          <p:nvPr/>
        </p:nvSpPr>
        <p:spPr>
          <a:xfrm>
            <a:off x="6473952" y="3712464"/>
            <a:ext cx="2377440" cy="310896"/>
          </a:xfrm>
          <a:prstGeom prst="roundRect">
            <a:avLst>
              <a:gd name="adj" fmla="val 50000"/>
            </a:avLst>
          </a:prstGeom>
          <a:solidFill>
            <a:srgbClr val="FCEDEB"/>
          </a:solidFill>
          <a:ln w="9525">
            <a:solidFill>
              <a:srgbClr val="F2C4BE"/>
            </a:solidFill>
            <a:prstDash val="solid"/>
          </a:ln>
        </p:spPr>
        <p:txBody>
          <a:bodyPr wrap="square" lIns="36576" tIns="36576" rIns="36576" bIns="36576" rtlCol="0" anchor="ctr"/>
          <a:lstStyle/>
          <a:p>
            <a:pPr algn="ctr"/>
            <a:r>
              <a:rPr lang="en-GB" sz="1150" b="1" dirty="0">
                <a:solidFill>
                  <a:srgbClr val="C0392B"/>
                </a:solidFill>
                <a:latin typeface="Consolas" pitchFamily="34" charset="0"/>
                <a:ea typeface="Consolas" pitchFamily="34" charset="-122"/>
                <a:cs typeface="Consolas" pitchFamily="34" charset="-120"/>
              </a:rPr>
              <a:t>± </a:t>
            </a:r>
            <a:r>
              <a:rPr lang="en-GB" sz="1150" b="1" dirty="0" err="1">
                <a:solidFill>
                  <a:srgbClr val="C0392B"/>
                </a:solidFill>
                <a:latin typeface="Consolas" pitchFamily="34" charset="0"/>
                <a:ea typeface="Consolas" pitchFamily="34" charset="-122"/>
                <a:cs typeface="Consolas" pitchFamily="34" charset="-120"/>
              </a:rPr>
              <a:t>n</a:t>
            </a:r>
            <a:r>
              <a:rPr lang="en-GB" sz="1150" b="1" dirty="0">
                <a:solidFill>
                  <a:srgbClr val="C0392B"/>
                </a:solidFill>
                <a:latin typeface="Consolas" pitchFamily="34" charset="0"/>
                <a:ea typeface="Consolas" pitchFamily="34" charset="-122"/>
                <a:cs typeface="Consolas" pitchFamily="34" charset="-120"/>
              </a:rPr>
              <a:t> × €0.005</a:t>
            </a:r>
          </a:p>
        </p:txBody>
      </p:sp>
      <p:sp>
        <p:nvSpPr>
          <p:cNvPr id="21" name="Text 21"/>
          <p:cNvSpPr txBox="1"/>
          <p:nvPr/>
        </p:nvSpPr>
        <p:spPr>
          <a:xfrm>
            <a:off x="822960" y="4206240"/>
            <a:ext cx="6766560" cy="237744"/>
          </a:xfrm>
          <a:prstGeom prst="rect">
            <a:avLst/>
          </a:prstGeom>
          <a:noFill/>
          <a:ln/>
        </p:spPr>
        <p:txBody>
          <a:bodyPr wrap="square" lIns="0" tIns="0" rIns="0" bIns="0" rtlCol="0" anchor="ctr"/>
          <a:lstStyle/>
          <a:p>
            <a:pPr marL="0" indent="0" algn="l">
              <a:buNone/>
            </a:pPr>
            <a:r>
              <a:rPr lang="en-GB" sz="950" spc="120" dirty="0">
                <a:solidFill>
                  <a:srgbClr val="0E7E82"/>
                </a:solidFill>
                <a:latin typeface="Inter SemiBold Text SemiBold" pitchFamily="34" charset="0"/>
                <a:ea typeface="Inter SemiBold Text SemiBold" pitchFamily="34" charset="-122"/>
                <a:cs typeface="Inter SemiBold Text SemiBold" pitchFamily="34" charset="-120"/>
              </a:rPr>
              <a:t>NET DEVIATION  </a:t>
            </a:r>
            <a:r>
              <a:rPr lang="en-GB" sz="950" b="1" dirty="0">
                <a:solidFill>
                  <a:srgbClr val="C79100"/>
                </a:solidFill>
                <a:latin typeface="Inter SemiBold Text SemiBold" pitchFamily="34" charset="0"/>
                <a:ea typeface="Inter SemiBold Text SemiBold" pitchFamily="34" charset="-122"/>
                <a:cs typeface="Inter SemiBold Text SemiBold" pitchFamily="34" charset="-120"/>
              </a:rPr>
              <a:t>BT-106</a:t>
            </a:r>
            <a:r>
              <a:rPr lang="en-GB" sz="950" dirty="0">
                <a:solidFill>
                  <a:srgbClr val="C79100"/>
                </a:solidFill>
                <a:latin typeface="Inter Text" pitchFamily="34" charset="0"/>
                <a:ea typeface="Inter Text" pitchFamily="34" charset="-122"/>
                <a:cs typeface="Inter Text" pitchFamily="34" charset="-120"/>
              </a:rPr>
              <a:t> Sum of invoice line net amount</a:t>
            </a:r>
            <a:r>
              <a:rPr lang="en-GB" sz="950" dirty="0">
                <a:solidFill>
                  <a:srgbClr val="5B6890"/>
                </a:solidFill>
                <a:latin typeface="Inter Text" pitchFamily="34" charset="0"/>
                <a:ea typeface="Inter Text" pitchFamily="34" charset="-122"/>
                <a:cs typeface="Inter Text" pitchFamily="34" charset="-120"/>
              </a:rPr>
              <a:t> / </a:t>
            </a:r>
            <a:r>
              <a:rPr lang="en-GB" sz="950" b="1" dirty="0">
                <a:solidFill>
                  <a:srgbClr val="2E7D32"/>
                </a:solidFill>
                <a:latin typeface="Inter SemiBold Text SemiBold" pitchFamily="34" charset="0"/>
                <a:ea typeface="Inter SemiBold Text SemiBold" pitchFamily="34" charset="-122"/>
                <a:cs typeface="Inter SemiBold Text SemiBold" pitchFamily="34" charset="-120"/>
              </a:rPr>
              <a:t>BT-116</a:t>
            </a:r>
            <a:r>
              <a:rPr lang="en-GB" sz="950" dirty="0">
                <a:solidFill>
                  <a:srgbClr val="2E7D32"/>
                </a:solidFill>
                <a:latin typeface="Inter Text" pitchFamily="34" charset="0"/>
                <a:ea typeface="Inter Text" pitchFamily="34" charset="-122"/>
                <a:cs typeface="Inter Text" pitchFamily="34" charset="-120"/>
              </a:rPr>
              <a:t> VAT category taxable amount</a:t>
            </a:r>
          </a:p>
        </p:txBody>
      </p:sp>
      <p:graphicFrame>
        <p:nvGraphicFramePr>
          <p:cNvPr id="22" name="Table 22"/>
          <p:cNvGraphicFramePr>
            <a:graphicFrameLocks noGrp="1"/>
          </p:cNvGraphicFramePr>
          <p:nvPr/>
        </p:nvGraphicFramePr>
        <p:xfrm>
          <a:off x="822960" y="4480560"/>
          <a:ext cx="6766560" cy="1609344"/>
        </p:xfrm>
        <a:graphic>
          <a:graphicData uri="http://schemas.openxmlformats.org/drawingml/2006/table">
            <a:tbl>
              <a:tblPr firstRow="1" bandRow="1"/>
              <a:tblGrid>
                <a:gridCol w="1417320">
                  <a:extLst>
                    <a:ext uri="{9D8B030D-6E8A-4147-A177-3AD203B41FA5}">
                      <a16:colId xmlns:a16="http://schemas.microsoft.com/office/drawing/2014/main" val="20000"/>
                    </a:ext>
                  </a:extLst>
                </a:gridCol>
                <a:gridCol w="1783080">
                  <a:extLst>
                    <a:ext uri="{9D8B030D-6E8A-4147-A177-3AD203B41FA5}">
                      <a16:colId xmlns:a16="http://schemas.microsoft.com/office/drawing/2014/main" val="20001"/>
                    </a:ext>
                  </a:extLst>
                </a:gridCol>
                <a:gridCol w="1783080">
                  <a:extLst>
                    <a:ext uri="{9D8B030D-6E8A-4147-A177-3AD203B41FA5}">
                      <a16:colId xmlns:a16="http://schemas.microsoft.com/office/drawing/2014/main" val="20002"/>
                    </a:ext>
                  </a:extLst>
                </a:gridCol>
                <a:gridCol w="1783080">
                  <a:extLst>
                    <a:ext uri="{9D8B030D-6E8A-4147-A177-3AD203B41FA5}">
                      <a16:colId xmlns:a16="http://schemas.microsoft.com/office/drawing/2014/main" val="20003"/>
                    </a:ext>
                  </a:extLst>
                </a:gridCol>
              </a:tblGrid>
              <a:tr h="384048">
                <a:tc>
                  <a:txBody>
                    <a:bodyPr/>
                    <a:lstStyle/>
                    <a:p>
                      <a:pPr marL="0" indent="0" algn="r">
                        <a:buNone/>
                      </a:pPr>
                      <a:r>
                        <a:rPr lang="en-GB" sz="850" dirty="0">
                          <a:solidFill>
                            <a:srgbClr val="9FB0D8"/>
                          </a:solidFill>
                          <a:latin typeface="Inter Text" pitchFamily="34" charset="0"/>
                          <a:ea typeface="Inter Text" pitchFamily="34" charset="-122"/>
                          <a:cs typeface="Inter Text" pitchFamily="34" charset="-120"/>
                        </a:rPr>
                        <a:t>Units per line (Q) →</a:t>
                      </a:r>
                    </a:p>
                    <a:p>
                      <a:pPr marL="0" indent="0" algn="l">
                        <a:buNone/>
                      </a:pPr>
                      <a:r>
                        <a:rPr lang="en-GB" sz="850" dirty="0">
                          <a:solidFill>
                            <a:srgbClr val="9FB0D8"/>
                          </a:solidFill>
                          <a:latin typeface="Inter Text" pitchFamily="34" charset="0"/>
                          <a:ea typeface="Inter Text" pitchFamily="34" charset="-122"/>
                          <a:cs typeface="Inter Text" pitchFamily="34" charset="-120"/>
                        </a:rPr>
                        <a:t>↓ Lines (n)</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24356B"/>
                    </a:solidFill>
                  </a:tcPr>
                </a:tc>
                <a:tc>
                  <a:txBody>
                    <a:bodyPr/>
                    <a:lstStyle/>
                    <a:p>
                      <a:pPr marL="0" indent="0" algn="r">
                        <a:buNone/>
                      </a:pPr>
                      <a:r>
                        <a:rPr lang="en-GB" sz="1050" dirty="0">
                          <a:solidFill>
                            <a:srgbClr val="FFFFFF"/>
                          </a:solidFill>
                          <a:latin typeface="Inter SemiBold Text SemiBold" pitchFamily="34" charset="0"/>
                          <a:ea typeface="Inter SemiBold Text SemiBold" pitchFamily="34" charset="-122"/>
                          <a:cs typeface="Inter SemiBold Text SemiBold" pitchFamily="34" charset="-120"/>
                        </a:rPr>
                        <a:t>100 units</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1A2B5E"/>
                    </a:solidFill>
                  </a:tcPr>
                </a:tc>
                <a:tc>
                  <a:txBody>
                    <a:bodyPr/>
                    <a:lstStyle/>
                    <a:p>
                      <a:pPr marL="0" indent="0" algn="r">
                        <a:buNone/>
                      </a:pPr>
                      <a:r>
                        <a:rPr lang="en-GB" sz="1050" dirty="0">
                          <a:solidFill>
                            <a:srgbClr val="FFFFFF"/>
                          </a:solidFill>
                          <a:latin typeface="Inter SemiBold Text SemiBold" pitchFamily="34" charset="0"/>
                          <a:ea typeface="Inter SemiBold Text SemiBold" pitchFamily="34" charset="-122"/>
                          <a:cs typeface="Inter SemiBold Text SemiBold" pitchFamily="34" charset="-120"/>
                        </a:rPr>
                        <a:t>10,000 units</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1A2B5E"/>
                    </a:solidFill>
                  </a:tcPr>
                </a:tc>
                <a:tc>
                  <a:txBody>
                    <a:bodyPr/>
                    <a:lstStyle/>
                    <a:p>
                      <a:pPr marL="0" indent="0" algn="r">
                        <a:buNone/>
                      </a:pPr>
                      <a:r>
                        <a:rPr lang="en-GB" sz="1050" dirty="0">
                          <a:solidFill>
                            <a:srgbClr val="FFFFFF"/>
                          </a:solidFill>
                          <a:latin typeface="Inter SemiBold Text SemiBold" pitchFamily="34" charset="0"/>
                          <a:ea typeface="Inter SemiBold Text SemiBold" pitchFamily="34" charset="-122"/>
                          <a:cs typeface="Inter SemiBold Text SemiBold" pitchFamily="34" charset="-120"/>
                        </a:rPr>
                        <a:t>1,000,000 units</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1A2B5E"/>
                    </a:solidFill>
                  </a:tcPr>
                </a:tc>
                <a:extLst>
                  <a:ext uri="{0D108BD9-81ED-4DB2-BD59-A6C34878D82A}">
                    <a16:rowId xmlns:a16="http://schemas.microsoft.com/office/drawing/2014/main" val="10000"/>
                  </a:ext>
                </a:extLst>
              </a:tr>
              <a:tr h="603504">
                <a:tc>
                  <a:txBody>
                    <a:bodyPr/>
                    <a:lstStyle/>
                    <a:p>
                      <a:pPr marL="0" indent="0" algn="l">
                        <a:buNone/>
                      </a:pPr>
                      <a:r>
                        <a:rPr lang="en-GB" sz="1100" dirty="0">
                          <a:solidFill>
                            <a:srgbClr val="1A2B5E"/>
                          </a:solidFill>
                          <a:latin typeface="Inter SemiBold Text SemiBold" pitchFamily="34" charset="0"/>
                          <a:ea typeface="Inter SemiBold Text SemiBold" pitchFamily="34" charset="-122"/>
                          <a:cs typeface="Inter SemiBold Text SemiBold" pitchFamily="34" charset="-120"/>
                        </a:rPr>
                        <a:t>1 line</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FFF"/>
                    </a:solidFill>
                  </a:tcPr>
                </a:tc>
                <a:tc>
                  <a:txBody>
                    <a:bodyPr/>
                    <a:lstStyle/>
                    <a:p>
                      <a:pPr marL="0" indent="0" algn="r">
                        <a:buNone/>
                      </a:pPr>
                      <a:r>
                        <a:rPr lang="en-GB" sz="850" dirty="0">
                          <a:solidFill>
                            <a:srgbClr val="D32F2F"/>
                          </a:solidFill>
                          <a:latin typeface="Inter Text" pitchFamily="34" charset="0"/>
                          <a:ea typeface="Inter Text" pitchFamily="34" charset="-122"/>
                          <a:cs typeface="Inter Text" pitchFamily="34" charset="-120"/>
                        </a:rPr>
                        <a:t>Price × quantity  </a:t>
                      </a:r>
                      <a:r>
                        <a:rPr lang="en-GB" sz="850" b="1" dirty="0">
                          <a:solidFill>
                            <a:srgbClr val="D32F2F"/>
                          </a:solidFill>
                          <a:latin typeface="Consolas" pitchFamily="34" charset="0"/>
                          <a:ea typeface="Consolas" pitchFamily="34" charset="-122"/>
                          <a:cs typeface="Consolas" pitchFamily="34" charset="-120"/>
                        </a:rPr>
                        <a:t>± €0.005</a:t>
                      </a:r>
                    </a:p>
                    <a:p>
                      <a:pPr marL="0" indent="0" algn="r">
                        <a:buNone/>
                      </a:pPr>
                      <a:r>
                        <a:rPr lang="en-GB" sz="850" dirty="0">
                          <a:solidFill>
                            <a:srgbClr val="EF6C00"/>
                          </a:solidFill>
                          <a:latin typeface="Inter Text" pitchFamily="34" charset="0"/>
                          <a:ea typeface="Inter Text" pitchFamily="34" charset="-122"/>
                          <a:cs typeface="Inter Text" pitchFamily="34" charset="-120"/>
                        </a:rPr>
                        <a:t>+ rounding BT-131  </a:t>
                      </a:r>
                      <a:r>
                        <a:rPr lang="en-GB" sz="850" b="1" dirty="0">
                          <a:solidFill>
                            <a:srgbClr val="EF6C00"/>
                          </a:solidFill>
                          <a:latin typeface="Consolas" pitchFamily="34" charset="0"/>
                          <a:ea typeface="Consolas" pitchFamily="34" charset="-122"/>
                          <a:cs typeface="Consolas" pitchFamily="34" charset="-120"/>
                        </a:rPr>
                        <a:t>± €0.005</a:t>
                      </a:r>
                    </a:p>
                    <a:p>
                      <a:pPr marL="0" indent="0" algn="r">
                        <a:buNone/>
                      </a:pPr>
                      <a:r>
                        <a:rPr lang="en-GB" sz="1150" b="1" dirty="0">
                          <a:solidFill>
                            <a:srgbClr val="B26A00"/>
                          </a:solidFill>
                          <a:latin typeface="Consolas" pitchFamily="34" charset="0"/>
                          <a:ea typeface="Consolas" pitchFamily="34" charset="-122"/>
                          <a:cs typeface="Consolas" pitchFamily="34" charset="-120"/>
                        </a:rPr>
                        <a:t>= ± €0.01</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4E0"/>
                    </a:solidFill>
                  </a:tcPr>
                </a:tc>
                <a:tc>
                  <a:txBody>
                    <a:bodyPr/>
                    <a:lstStyle/>
                    <a:p>
                      <a:pPr marL="0" indent="0" algn="r">
                        <a:buNone/>
                      </a:pPr>
                      <a:r>
                        <a:rPr lang="en-GB" sz="850" dirty="0">
                          <a:solidFill>
                            <a:srgbClr val="D32F2F"/>
                          </a:solidFill>
                          <a:latin typeface="Inter Text" pitchFamily="34" charset="0"/>
                          <a:ea typeface="Inter Text" pitchFamily="34" charset="-122"/>
                          <a:cs typeface="Inter Text" pitchFamily="34" charset="-120"/>
                        </a:rPr>
                        <a:t>Price × quantity  </a:t>
                      </a:r>
                      <a:r>
                        <a:rPr lang="en-GB" sz="850" b="1" dirty="0">
                          <a:solidFill>
                            <a:srgbClr val="D32F2F"/>
                          </a:solidFill>
                          <a:latin typeface="Consolas" pitchFamily="34" charset="0"/>
                          <a:ea typeface="Consolas" pitchFamily="34" charset="-122"/>
                          <a:cs typeface="Consolas" pitchFamily="34" charset="-120"/>
                        </a:rPr>
                        <a:t>± €0.50</a:t>
                      </a:r>
                    </a:p>
                    <a:p>
                      <a:pPr marL="0" indent="0" algn="r">
                        <a:buNone/>
                      </a:pPr>
                      <a:r>
                        <a:rPr lang="en-GB" sz="850" dirty="0">
                          <a:solidFill>
                            <a:srgbClr val="EF6C00"/>
                          </a:solidFill>
                          <a:latin typeface="Inter Text" pitchFamily="34" charset="0"/>
                          <a:ea typeface="Inter Text" pitchFamily="34" charset="-122"/>
                          <a:cs typeface="Inter Text" pitchFamily="34" charset="-120"/>
                        </a:rPr>
                        <a:t>+ rounding BT-131  </a:t>
                      </a:r>
                      <a:r>
                        <a:rPr lang="en-GB" sz="850" b="1" dirty="0">
                          <a:solidFill>
                            <a:srgbClr val="EF6C00"/>
                          </a:solidFill>
                          <a:latin typeface="Consolas" pitchFamily="34" charset="0"/>
                          <a:ea typeface="Consolas" pitchFamily="34" charset="-122"/>
                          <a:cs typeface="Consolas" pitchFamily="34" charset="-120"/>
                        </a:rPr>
                        <a:t>± €0.005</a:t>
                      </a:r>
                    </a:p>
                    <a:p>
                      <a:pPr marL="0" indent="0" algn="r">
                        <a:buNone/>
                      </a:pPr>
                      <a:r>
                        <a:rPr lang="en-GB" sz="1150" b="1" dirty="0">
                          <a:solidFill>
                            <a:srgbClr val="B26A00"/>
                          </a:solidFill>
                          <a:latin typeface="Consolas" pitchFamily="34" charset="0"/>
                          <a:ea typeface="Consolas" pitchFamily="34" charset="-122"/>
                          <a:cs typeface="Consolas" pitchFamily="34" charset="-120"/>
                        </a:rPr>
                        <a:t>= ± €0.505</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4E0"/>
                    </a:solidFill>
                  </a:tcPr>
                </a:tc>
                <a:tc>
                  <a:txBody>
                    <a:bodyPr/>
                    <a:lstStyle/>
                    <a:p>
                      <a:pPr marL="0" indent="0" algn="r">
                        <a:buNone/>
                      </a:pPr>
                      <a:r>
                        <a:rPr lang="en-GB" sz="850" dirty="0">
                          <a:solidFill>
                            <a:srgbClr val="D32F2F"/>
                          </a:solidFill>
                          <a:latin typeface="Inter Text" pitchFamily="34" charset="0"/>
                          <a:ea typeface="Inter Text" pitchFamily="34" charset="-122"/>
                          <a:cs typeface="Inter Text" pitchFamily="34" charset="-120"/>
                        </a:rPr>
                        <a:t>Price × quantity  </a:t>
                      </a:r>
                      <a:r>
                        <a:rPr lang="en-GB" sz="850" b="1" dirty="0">
                          <a:solidFill>
                            <a:srgbClr val="D32F2F"/>
                          </a:solidFill>
                          <a:latin typeface="Consolas" pitchFamily="34" charset="0"/>
                          <a:ea typeface="Consolas" pitchFamily="34" charset="-122"/>
                          <a:cs typeface="Consolas" pitchFamily="34" charset="-120"/>
                        </a:rPr>
                        <a:t>± €50.00</a:t>
                      </a:r>
                    </a:p>
                    <a:p>
                      <a:pPr marL="0" indent="0" algn="r">
                        <a:buNone/>
                      </a:pPr>
                      <a:r>
                        <a:rPr lang="en-GB" sz="850" dirty="0">
                          <a:solidFill>
                            <a:srgbClr val="EF6C00"/>
                          </a:solidFill>
                          <a:latin typeface="Inter Text" pitchFamily="34" charset="0"/>
                          <a:ea typeface="Inter Text" pitchFamily="34" charset="-122"/>
                          <a:cs typeface="Inter Text" pitchFamily="34" charset="-120"/>
                        </a:rPr>
                        <a:t>+ rounding BT-131  </a:t>
                      </a:r>
                      <a:r>
                        <a:rPr lang="en-GB" sz="850" b="1" dirty="0">
                          <a:solidFill>
                            <a:srgbClr val="EF6C00"/>
                          </a:solidFill>
                          <a:latin typeface="Consolas" pitchFamily="34" charset="0"/>
                          <a:ea typeface="Consolas" pitchFamily="34" charset="-122"/>
                          <a:cs typeface="Consolas" pitchFamily="34" charset="-120"/>
                        </a:rPr>
                        <a:t>± €0.005</a:t>
                      </a:r>
                    </a:p>
                    <a:p>
                      <a:pPr marL="0" indent="0" algn="r">
                        <a:buNone/>
                      </a:pPr>
                      <a:r>
                        <a:rPr lang="en-GB" sz="1150" b="1" dirty="0">
                          <a:solidFill>
                            <a:srgbClr val="C0392B"/>
                          </a:solidFill>
                          <a:latin typeface="Consolas" pitchFamily="34" charset="0"/>
                          <a:ea typeface="Consolas" pitchFamily="34" charset="-122"/>
                          <a:cs typeface="Consolas" pitchFamily="34" charset="-120"/>
                        </a:rPr>
                        <a:t>= ± €50.005</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CEDEB"/>
                    </a:solidFill>
                  </a:tcPr>
                </a:tc>
                <a:extLst>
                  <a:ext uri="{0D108BD9-81ED-4DB2-BD59-A6C34878D82A}">
                    <a16:rowId xmlns:a16="http://schemas.microsoft.com/office/drawing/2014/main" val="10001"/>
                  </a:ext>
                </a:extLst>
              </a:tr>
              <a:tr h="310896">
                <a:tc>
                  <a:txBody>
                    <a:bodyPr/>
                    <a:lstStyle/>
                    <a:p>
                      <a:pPr marL="0" indent="0" algn="l">
                        <a:buNone/>
                      </a:pPr>
                      <a:r>
                        <a:rPr lang="en-GB" sz="1100" dirty="0">
                          <a:solidFill>
                            <a:srgbClr val="1A2B5E"/>
                          </a:solidFill>
                          <a:latin typeface="Inter SemiBold Text SemiBold" pitchFamily="34" charset="0"/>
                          <a:ea typeface="Inter SemiBold Text SemiBold" pitchFamily="34" charset="-122"/>
                          <a:cs typeface="Inter SemiBold Text SemiBold" pitchFamily="34" charset="-120"/>
                        </a:rPr>
                        <a:t>100 lines</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FFF"/>
                    </a:solidFill>
                  </a:tcPr>
                </a:tc>
                <a:tc>
                  <a:txBody>
                    <a:bodyPr/>
                    <a:lstStyle/>
                    <a:p>
                      <a:pPr marL="0" indent="0" algn="r">
                        <a:buNone/>
                      </a:pPr>
                      <a:r>
                        <a:rPr lang="en-GB" sz="1150" b="1" dirty="0">
                          <a:solidFill>
                            <a:srgbClr val="C0392B"/>
                          </a:solidFill>
                          <a:latin typeface="Consolas" pitchFamily="34" charset="0"/>
                          <a:ea typeface="Consolas" pitchFamily="34" charset="-122"/>
                          <a:cs typeface="Consolas" pitchFamily="34" charset="-120"/>
                        </a:rPr>
                        <a:t>± €1.00</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CEDEB"/>
                    </a:solidFill>
                  </a:tcPr>
                </a:tc>
                <a:tc>
                  <a:txBody>
                    <a:bodyPr/>
                    <a:lstStyle/>
                    <a:p>
                      <a:pPr marL="0" indent="0" algn="r">
                        <a:buNone/>
                      </a:pPr>
                      <a:r>
                        <a:rPr lang="en-GB" sz="1150" b="1" dirty="0">
                          <a:solidFill>
                            <a:srgbClr val="C0392B"/>
                          </a:solidFill>
                          <a:latin typeface="Consolas" pitchFamily="34" charset="0"/>
                          <a:ea typeface="Consolas" pitchFamily="34" charset="-122"/>
                          <a:cs typeface="Consolas" pitchFamily="34" charset="-120"/>
                        </a:rPr>
                        <a:t>± €50.50</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CEDEB"/>
                    </a:solidFill>
                  </a:tcPr>
                </a:tc>
                <a:tc>
                  <a:txBody>
                    <a:bodyPr/>
                    <a:lstStyle/>
                    <a:p>
                      <a:pPr marL="0" indent="0" algn="r">
                        <a:buNone/>
                      </a:pPr>
                      <a:r>
                        <a:rPr lang="en-GB" sz="1150" b="1" dirty="0">
                          <a:solidFill>
                            <a:srgbClr val="C0392B"/>
                          </a:solidFill>
                          <a:latin typeface="Consolas" pitchFamily="34" charset="0"/>
                          <a:ea typeface="Consolas" pitchFamily="34" charset="-122"/>
                          <a:cs typeface="Consolas" pitchFamily="34" charset="-120"/>
                        </a:rPr>
                        <a:t>± €5,000.50</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CEDEB"/>
                    </a:solidFill>
                  </a:tcPr>
                </a:tc>
                <a:extLst>
                  <a:ext uri="{0D108BD9-81ED-4DB2-BD59-A6C34878D82A}">
                    <a16:rowId xmlns:a16="http://schemas.microsoft.com/office/drawing/2014/main" val="10002"/>
                  </a:ext>
                </a:extLst>
              </a:tr>
              <a:tr h="310896">
                <a:tc>
                  <a:txBody>
                    <a:bodyPr/>
                    <a:lstStyle/>
                    <a:p>
                      <a:pPr marL="0" indent="0" algn="l">
                        <a:buNone/>
                      </a:pPr>
                      <a:r>
                        <a:rPr lang="en-GB" sz="1100" dirty="0">
                          <a:solidFill>
                            <a:srgbClr val="1A2B5E"/>
                          </a:solidFill>
                          <a:latin typeface="Inter SemiBold Text SemiBold" pitchFamily="34" charset="0"/>
                          <a:ea typeface="Inter SemiBold Text SemiBold" pitchFamily="34" charset="-122"/>
                          <a:cs typeface="Inter SemiBold Text SemiBold" pitchFamily="34" charset="-120"/>
                        </a:rPr>
                        <a:t>10,000 lines</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FFF"/>
                    </a:solidFill>
                  </a:tcPr>
                </a:tc>
                <a:tc>
                  <a:txBody>
                    <a:bodyPr/>
                    <a:lstStyle/>
                    <a:p>
                      <a:pPr marL="0" indent="0" algn="r">
                        <a:buNone/>
                      </a:pPr>
                      <a:r>
                        <a:rPr lang="en-GB" sz="1150" b="1" dirty="0">
                          <a:solidFill>
                            <a:srgbClr val="C0392B"/>
                          </a:solidFill>
                          <a:latin typeface="Consolas" pitchFamily="34" charset="0"/>
                          <a:ea typeface="Consolas" pitchFamily="34" charset="-122"/>
                          <a:cs typeface="Consolas" pitchFamily="34" charset="-120"/>
                        </a:rPr>
                        <a:t>± €100.00</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CEDEB"/>
                    </a:solidFill>
                  </a:tcPr>
                </a:tc>
                <a:tc>
                  <a:txBody>
                    <a:bodyPr/>
                    <a:lstStyle/>
                    <a:p>
                      <a:pPr marL="0" indent="0" algn="r">
                        <a:buNone/>
                      </a:pPr>
                      <a:r>
                        <a:rPr lang="en-GB" sz="1150" b="1" dirty="0">
                          <a:solidFill>
                            <a:srgbClr val="C0392B"/>
                          </a:solidFill>
                          <a:latin typeface="Consolas" pitchFamily="34" charset="0"/>
                          <a:ea typeface="Consolas" pitchFamily="34" charset="-122"/>
                          <a:cs typeface="Consolas" pitchFamily="34" charset="-120"/>
                        </a:rPr>
                        <a:t>± €5,050.00</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CEDEB"/>
                    </a:solidFill>
                  </a:tcPr>
                </a:tc>
                <a:tc>
                  <a:txBody>
                    <a:bodyPr/>
                    <a:lstStyle/>
                    <a:p>
                      <a:pPr marL="0" indent="0" algn="r">
                        <a:buNone/>
                      </a:pPr>
                      <a:r>
                        <a:rPr lang="en-GB" sz="1150" b="1" dirty="0">
                          <a:solidFill>
                            <a:srgbClr val="C0392B"/>
                          </a:solidFill>
                          <a:latin typeface="Consolas" pitchFamily="34" charset="0"/>
                          <a:ea typeface="Consolas" pitchFamily="34" charset="-122"/>
                          <a:cs typeface="Consolas" pitchFamily="34" charset="-120"/>
                        </a:rPr>
                        <a:t>± €500,050.00</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CEDEB"/>
                    </a:solidFill>
                  </a:tcPr>
                </a:tc>
                <a:extLst>
                  <a:ext uri="{0D108BD9-81ED-4DB2-BD59-A6C34878D82A}">
                    <a16:rowId xmlns:a16="http://schemas.microsoft.com/office/drawing/2014/main" val="10003"/>
                  </a:ext>
                </a:extLst>
              </a:tr>
            </a:tbl>
          </a:graphicData>
        </a:graphic>
      </p:graphicFrame>
      <p:sp>
        <p:nvSpPr>
          <p:cNvPr id="23" name="Panel 23"/>
          <p:cNvSpPr/>
          <p:nvPr/>
        </p:nvSpPr>
        <p:spPr>
          <a:xfrm>
            <a:off x="7818120" y="4224528"/>
            <a:ext cx="3547872" cy="1883664"/>
          </a:xfrm>
          <a:prstGeom prst="roundRect">
            <a:avLst>
              <a:gd name="adj" fmla="val 4854"/>
            </a:avLst>
          </a:prstGeom>
          <a:solidFill>
            <a:srgbClr val="1A2B5E"/>
          </a:solidFill>
          <a:ln>
            <a:noFill/>
          </a:ln>
          <a:effectLst>
            <a:outerShdw blurRad="101600" dist="38100" dir="5400000" algn="bl" rotWithShape="0">
              <a:srgbClr val="0A1230">
                <a:alpha val="18000"/>
              </a:srgbClr>
            </a:outerShdw>
          </a:effectLst>
        </p:spPr>
        <p:txBody>
          <a:bodyPr/>
          <a:lstStyle/>
          <a:p>
            <a:endParaRPr lang="en-GB"/>
          </a:p>
        </p:txBody>
      </p:sp>
      <p:sp>
        <p:nvSpPr>
          <p:cNvPr id="24" name="Text 24"/>
          <p:cNvSpPr txBox="1"/>
          <p:nvPr/>
        </p:nvSpPr>
        <p:spPr>
          <a:xfrm>
            <a:off x="8092440" y="4334256"/>
            <a:ext cx="3017520" cy="256032"/>
          </a:xfrm>
          <a:prstGeom prst="rect">
            <a:avLst/>
          </a:prstGeom>
          <a:noFill/>
          <a:ln/>
        </p:spPr>
        <p:txBody>
          <a:bodyPr wrap="square" lIns="0" tIns="0" rIns="0" bIns="0" rtlCol="0" anchor="ctr"/>
          <a:lstStyle/>
          <a:p>
            <a:pPr marL="0" indent="0" algn="l">
              <a:buNone/>
            </a:pPr>
            <a:r>
              <a:rPr lang="en-GB" sz="1000" spc="150" dirty="0">
                <a:solidFill>
                  <a:srgbClr val="19C3C8"/>
                </a:solidFill>
                <a:latin typeface="Inter SemiBold Text SemiBold" pitchFamily="34" charset="0"/>
                <a:ea typeface="Inter SemiBold Text SemiBold" pitchFamily="34" charset="-122"/>
                <a:cs typeface="Inter SemiBold Text SemiBold" pitchFamily="34" charset="-120"/>
              </a:rPr>
              <a:t>TOTAL · NET</a:t>
            </a:r>
          </a:p>
        </p:txBody>
      </p:sp>
      <p:sp>
        <p:nvSpPr>
          <p:cNvPr id="25" name="Text 25"/>
          <p:cNvSpPr txBox="1"/>
          <p:nvPr/>
        </p:nvSpPr>
        <p:spPr>
          <a:xfrm>
            <a:off x="8092440" y="4608576"/>
            <a:ext cx="3108960" cy="384048"/>
          </a:xfrm>
          <a:prstGeom prst="rect">
            <a:avLst/>
          </a:prstGeom>
          <a:noFill/>
          <a:ln/>
        </p:spPr>
        <p:txBody>
          <a:bodyPr wrap="none" lIns="0" tIns="0" rIns="0" bIns="0" rtlCol="0" anchor="ctr"/>
          <a:lstStyle/>
          <a:p>
            <a:pPr marL="0" indent="0" algn="l">
              <a:buNone/>
            </a:pPr>
            <a:r>
              <a:rPr lang="en-GB" sz="1300" b="1" dirty="0">
                <a:solidFill>
                  <a:srgbClr val="FFFFFF"/>
                </a:solidFill>
                <a:latin typeface="Consolas" pitchFamily="34" charset="0"/>
                <a:ea typeface="Consolas" pitchFamily="34" charset="-122"/>
                <a:cs typeface="Consolas" pitchFamily="34" charset="-120"/>
              </a:rPr>
              <a:t>n × (Q × €0.00005 + €0.005)</a:t>
            </a:r>
          </a:p>
        </p:txBody>
      </p:sp>
      <p:sp>
        <p:nvSpPr>
          <p:cNvPr id="26" name="Text 26"/>
          <p:cNvSpPr txBox="1"/>
          <p:nvPr/>
        </p:nvSpPr>
        <p:spPr>
          <a:xfrm>
            <a:off x="8092440" y="5029200"/>
            <a:ext cx="3063240" cy="457200"/>
          </a:xfrm>
          <a:prstGeom prst="rect">
            <a:avLst/>
          </a:prstGeom>
          <a:noFill/>
          <a:ln/>
        </p:spPr>
        <p:txBody>
          <a:bodyPr wrap="square" lIns="0" tIns="0" rIns="0" bIns="0" rtlCol="0" anchor="t"/>
          <a:lstStyle/>
          <a:p>
            <a:pPr marL="0" indent="0" algn="l">
              <a:lnSpc>
                <a:spcPct val="105000"/>
              </a:lnSpc>
              <a:buNone/>
            </a:pPr>
            <a:r>
              <a:rPr lang="en-GB" sz="1000" dirty="0">
                <a:solidFill>
                  <a:srgbClr val="C2CADE"/>
                </a:solidFill>
                <a:latin typeface="Inter Text" pitchFamily="34" charset="0"/>
                <a:ea typeface="Inter Text" pitchFamily="34" charset="-122"/>
                <a:cs typeface="Inter Text" pitchFamily="34" charset="-120"/>
              </a:rPr>
              <a:t>VAT: 19% of that. Open-ended — more lines or larger quantities, more deviation.</a:t>
            </a:r>
          </a:p>
        </p:txBody>
      </p:sp>
      <p:sp>
        <p:nvSpPr>
          <p:cNvPr id="27" name="Shape 27"/>
          <p:cNvSpPr/>
          <p:nvPr/>
        </p:nvSpPr>
        <p:spPr>
          <a:xfrm>
            <a:off x="8092440" y="5541264"/>
            <a:ext cx="3017520" cy="9144"/>
          </a:xfrm>
          <a:prstGeom prst="rect">
            <a:avLst/>
          </a:prstGeom>
          <a:solidFill>
            <a:srgbClr val="3A4A7A"/>
          </a:solidFill>
          <a:ln>
            <a:noFill/>
          </a:ln>
        </p:spPr>
        <p:txBody>
          <a:bodyPr/>
          <a:lstStyle/>
          <a:p>
            <a:endParaRPr lang="en-GB"/>
          </a:p>
        </p:txBody>
      </p:sp>
      <p:sp>
        <p:nvSpPr>
          <p:cNvPr id="28" name="Text 28"/>
          <p:cNvSpPr txBox="1"/>
          <p:nvPr/>
        </p:nvSpPr>
        <p:spPr>
          <a:xfrm>
            <a:off x="8092440" y="5596128"/>
            <a:ext cx="3108960" cy="420624"/>
          </a:xfrm>
          <a:prstGeom prst="rect">
            <a:avLst/>
          </a:prstGeom>
          <a:noFill/>
          <a:ln/>
        </p:spPr>
        <p:txBody>
          <a:bodyPr wrap="square" lIns="0" tIns="0" rIns="0" bIns="0" rtlCol="0" anchor="ctr"/>
          <a:lstStyle/>
          <a:p>
            <a:pPr marL="0" indent="0" algn="l">
              <a:buNone/>
            </a:pPr>
            <a:r>
              <a:rPr lang="en-GB" sz="950" dirty="0">
                <a:solidFill>
                  <a:srgbClr val="9AA4C2"/>
                </a:solidFill>
                <a:latin typeface="Inter Text" pitchFamily="34" charset="0"/>
                <a:ea typeface="Inter Text" pitchFamily="34" charset="-122"/>
                <a:cs typeface="Inter Text" pitchFamily="34" charset="-120"/>
              </a:rPr>
              <a:t>100 lines of 10,000 units</a:t>
            </a:r>
          </a:p>
          <a:p>
            <a:pPr marL="0" indent="0" algn="l">
              <a:buNone/>
            </a:pPr>
            <a:r>
              <a:rPr lang="en-GB" sz="1000" dirty="0">
                <a:solidFill>
                  <a:srgbClr val="C2CADE"/>
                </a:solidFill>
                <a:latin typeface="Inter Text" pitchFamily="34" charset="0"/>
                <a:ea typeface="Inter Text" pitchFamily="34" charset="-122"/>
                <a:cs typeface="Inter Text" pitchFamily="34" charset="-120"/>
              </a:rPr>
              <a:t>Net </a:t>
            </a:r>
            <a:r>
              <a:rPr lang="en-GB" sz="1100" b="1" dirty="0">
                <a:solidFill>
                  <a:srgbClr val="FFFFFF"/>
                </a:solidFill>
                <a:latin typeface="Consolas" pitchFamily="34" charset="0"/>
                <a:ea typeface="Consolas" pitchFamily="34" charset="-122"/>
                <a:cs typeface="Consolas" pitchFamily="34" charset="-120"/>
              </a:rPr>
              <a:t>± €50.50</a:t>
            </a:r>
            <a:r>
              <a:rPr lang="en-GB" sz="1000" dirty="0">
                <a:solidFill>
                  <a:srgbClr val="C2CADE"/>
                </a:solidFill>
                <a:latin typeface="Inter Text" pitchFamily="34" charset="0"/>
                <a:ea typeface="Inter Text" pitchFamily="34" charset="-122"/>
                <a:cs typeface="Inter Text" pitchFamily="34" charset="-120"/>
              </a:rPr>
              <a:t>   VAT </a:t>
            </a:r>
            <a:r>
              <a:rPr lang="en-GB" sz="1100" b="1" dirty="0">
                <a:solidFill>
                  <a:srgbClr val="FFFFFF"/>
                </a:solidFill>
                <a:latin typeface="Consolas" pitchFamily="34" charset="0"/>
                <a:ea typeface="Consolas" pitchFamily="34" charset="-122"/>
                <a:cs typeface="Consolas" pitchFamily="34" charset="-120"/>
              </a:rPr>
              <a:t>± €9.60</a:t>
            </a:r>
          </a:p>
        </p:txBody>
      </p:sp>
      <p:sp>
        <p:nvSpPr>
          <p:cNvPr id="29" name="Text 29"/>
          <p:cNvSpPr txBox="1"/>
          <p:nvPr/>
        </p:nvSpPr>
        <p:spPr>
          <a:xfrm>
            <a:off x="822960" y="6126480"/>
            <a:ext cx="6766560" cy="274320"/>
          </a:xfrm>
          <a:prstGeom prst="rect">
            <a:avLst/>
          </a:prstGeom>
          <a:noFill/>
          <a:ln/>
        </p:spPr>
        <p:txBody>
          <a:bodyPr wrap="square" lIns="0" tIns="0" rIns="0" bIns="0" rtlCol="0" anchor="t"/>
          <a:lstStyle/>
          <a:p>
            <a:pPr marL="0" indent="0" algn="l">
              <a:lnSpc>
                <a:spcPct val="100000"/>
              </a:lnSpc>
              <a:buNone/>
            </a:pPr>
            <a:r>
              <a:rPr lang="en-GB" sz="850" dirty="0">
                <a:solidFill>
                  <a:srgbClr val="9AA4C2"/>
                </a:solidFill>
                <a:latin typeface="Inter Text" pitchFamily="34" charset="0"/>
                <a:ea typeface="Inter Text" pitchFamily="34" charset="-122"/>
                <a:cs typeface="Inter Text" pitchFamily="34" charset="-120"/>
              </a:rPr>
              <a:t>Assumption: all roundings go in the same direction, BT-149 Item price base quantity = 1, 19% VAT. Likewise: BT-129 Invoiced quantity only 4 dp — up to ± 0.00005 × price per line for expensive items.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Folie 32">
    <p:bg>
      <p:bgPr>
        <a:solidFill>
          <a:srgbClr val="F4F6FB"/>
        </a:solidFill>
        <a:effectLst/>
      </p:bgPr>
    </p:bg>
    <p:spTree>
      <p:nvGrpSpPr>
        <p:cNvPr id="1" name=""/>
        <p:cNvGrpSpPr/>
        <p:nvPr/>
      </p:nvGrpSpPr>
      <p:grpSpPr>
        <a:xfrm>
          <a:off x="0" y="0"/>
          <a:ext cx="0" cy="0"/>
          <a:chOff x="0" y="0"/>
          <a:chExt cx="0" cy="0"/>
        </a:xfrm>
      </p:grpSpPr>
      <p:sp>
        <p:nvSpPr>
          <p:cNvPr id="3" name="Header 3"/>
          <p:cNvSpPr txBox="1"/>
          <p:nvPr/>
        </p:nvSpPr>
        <p:spPr>
          <a:xfrm>
            <a:off x="822960" y="384048"/>
            <a:ext cx="7315200" cy="274320"/>
          </a:xfrm>
          <a:prstGeom prst="rect">
            <a:avLst/>
          </a:prstGeom>
          <a:noFill/>
          <a:ln/>
        </p:spPr>
        <p:txBody>
          <a:bodyPr wrap="square" lIns="0" tIns="0" rIns="0" bIns="0" rtlCol="0" anchor="ctr"/>
          <a:lstStyle/>
          <a:p>
            <a:pPr marL="0" indent="0" algn="l">
              <a:buNone/>
            </a:pPr>
            <a:r>
              <a:rPr lang="en-GB" sz="950" spc="100" dirty="0">
                <a:solidFill>
                  <a:srgbClr val="5B6890"/>
                </a:solidFill>
                <a:latin typeface="Inter Medium Text Medium" pitchFamily="34" charset="0"/>
                <a:ea typeface="Inter Medium Text Medium" pitchFamily="34" charset="-122"/>
                <a:cs typeface="Inter Medium Text Medium" pitchFamily="34" charset="-120"/>
              </a:rPr>
              <a:t>CEN/TC 434 WG1</a:t>
            </a:r>
            <a:r>
              <a:rPr lang="en-GB" sz="950" spc="100" dirty="0">
                <a:solidFill>
                  <a:srgbClr val="C2CADE"/>
                </a:solidFill>
                <a:latin typeface="Inter Text" pitchFamily="34" charset="0"/>
                <a:ea typeface="Inter Text" pitchFamily="34" charset="-122"/>
                <a:cs typeface="Inter Text" pitchFamily="34" charset="-120"/>
              </a:rPr>
              <a:t>   ·   </a:t>
            </a:r>
            <a:r>
              <a:rPr lang="en-GB" sz="950" spc="100" dirty="0">
                <a:solidFill>
                  <a:srgbClr val="9AA4C2"/>
                </a:solidFill>
                <a:latin typeface="Inter Text" pitchFamily="34" charset="0"/>
                <a:ea typeface="Inter Text" pitchFamily="34" charset="-122"/>
                <a:cs typeface="Inter Text" pitchFamily="34" charset="-120"/>
              </a:rPr>
              <a:t>EN 16931-1:2026 amendment · Gross prices and rounding</a:t>
            </a:r>
          </a:p>
        </p:txBody>
      </p:sp>
      <p:sp>
        <p:nvSpPr>
          <p:cNvPr id="4" name="SectionLabel 4"/>
          <p:cNvSpPr txBox="1"/>
          <p:nvPr/>
        </p:nvSpPr>
        <p:spPr>
          <a:xfrm>
            <a:off x="822960" y="868680"/>
            <a:ext cx="8229600" cy="274320"/>
          </a:xfrm>
          <a:prstGeom prst="rect">
            <a:avLst/>
          </a:prstGeom>
          <a:noFill/>
          <a:ln/>
        </p:spPr>
        <p:txBody>
          <a:bodyPr wrap="square" lIns="0" tIns="0" rIns="0" bIns="0" rtlCol="0" anchor="ctr"/>
          <a:lstStyle/>
          <a:p>
            <a:pPr marL="0" indent="0" algn="l">
              <a:buNone/>
            </a:pPr>
            <a:r>
              <a:rPr lang="en-GB" sz="1100" spc="300" dirty="0">
                <a:solidFill>
                  <a:srgbClr val="19C3C8"/>
                </a:solidFill>
                <a:latin typeface="Inter SemiBold Text SemiBold" pitchFamily="34" charset="0"/>
                <a:ea typeface="Inter SemiBold Text SemiBold" pitchFamily="34" charset="-122"/>
                <a:cs typeface="Inter SemiBold Text SemiBold" pitchFamily="34" charset="-120"/>
              </a:rPr>
              <a:t>GROSS PRICES · EN 16931-1:2026</a:t>
            </a:r>
          </a:p>
        </p:txBody>
      </p:sp>
      <p:sp>
        <p:nvSpPr>
          <p:cNvPr id="5" name="Title 5"/>
          <p:cNvSpPr txBox="1"/>
          <p:nvPr/>
        </p:nvSpPr>
        <p:spPr>
          <a:xfrm>
            <a:off x="804672" y="1115568"/>
            <a:ext cx="10424160" cy="822960"/>
          </a:xfrm>
          <a:prstGeom prst="rect">
            <a:avLst/>
          </a:prstGeom>
          <a:noFill/>
          <a:ln/>
        </p:spPr>
        <p:txBody>
          <a:bodyPr wrap="square" lIns="0" tIns="0" rIns="0" bIns="0" rtlCol="0" anchor="t"/>
          <a:lstStyle/>
          <a:p>
            <a:pPr marL="0" indent="0" algn="l">
              <a:buNone/>
            </a:pPr>
            <a:r>
              <a:rPr lang="en-GB" sz="3800" b="1" dirty="0">
                <a:solidFill>
                  <a:srgbClr val="1A2B5E"/>
                </a:solidFill>
                <a:latin typeface="Inter Text" pitchFamily="34" charset="0"/>
                <a:ea typeface="Inter Text" pitchFamily="34" charset="-122"/>
                <a:cs typeface="Inter Text" pitchFamily="34" charset="-120"/>
              </a:rPr>
              <a:t>Gross prices: often impossible today</a:t>
            </a:r>
          </a:p>
        </p:txBody>
      </p:sp>
      <p:sp>
        <p:nvSpPr>
          <p:cNvPr id="6" name="Tagline 6"/>
          <p:cNvSpPr txBox="1"/>
          <p:nvPr/>
        </p:nvSpPr>
        <p:spPr>
          <a:xfrm>
            <a:off x="822960" y="1865376"/>
            <a:ext cx="10424160" cy="320040"/>
          </a:xfrm>
          <a:prstGeom prst="rect">
            <a:avLst/>
          </a:prstGeom>
          <a:noFill/>
          <a:ln/>
        </p:spPr>
        <p:txBody>
          <a:bodyPr wrap="square" lIns="0" tIns="0" rIns="0" bIns="0" rtlCol="0" anchor="ctr"/>
          <a:lstStyle/>
          <a:p>
            <a:pPr marL="0" indent="0" algn="l">
              <a:buNone/>
            </a:pPr>
            <a:r>
              <a:rPr lang="en-GB" sz="1300" dirty="0">
                <a:solidFill>
                  <a:srgbClr val="5B6890"/>
                </a:solidFill>
                <a:latin typeface="Inter Text" pitchFamily="34" charset="0"/>
                <a:ea typeface="Inter Text" pitchFamily="34" charset="-122"/>
                <a:cs typeface="Inter Text" pitchFamily="34" charset="-120"/>
              </a:rPr>
              <a:t>With net amounts and VAT in cents, many agreed gross amounts cannot be reached.</a:t>
            </a:r>
          </a:p>
        </p:txBody>
      </p:sp>
      <p:sp>
        <p:nvSpPr>
          <p:cNvPr id="7" name="PageNum 7"/>
          <p:cNvSpPr txBox="1"/>
          <p:nvPr/>
        </p:nvSpPr>
        <p:spPr>
          <a:xfrm>
            <a:off x="10908792" y="6514592"/>
            <a:ext cx="822960" cy="292608"/>
          </a:xfrm>
          <a:prstGeom prst="rect">
            <a:avLst/>
          </a:prstGeom>
          <a:noFill/>
          <a:ln/>
        </p:spPr>
        <p:txBody>
          <a:bodyPr wrap="square" lIns="0" tIns="0" rIns="0" bIns="0" rtlCol="0" anchor="ctr"/>
          <a:lstStyle/>
          <a:p>
            <a:pPr marL="0" indent="0" algn="r">
              <a:buNone/>
            </a:pPr>
            <a:fld id="{F34489CF-F034-4AFD-9989-E9C20810832A}" type="slidenum">
              <a:rPr lang="en-GB" sz="1000" spc="200" dirty="0">
                <a:solidFill>
                  <a:srgbClr val="5B6890"/>
                </a:solidFill>
                <a:latin typeface="Inter SemiBold Text SemiBold" pitchFamily="34" charset="0"/>
                <a:ea typeface="Inter SemiBold Text SemiBold" pitchFamily="34" charset="-122"/>
                <a:cs typeface="Inter SemiBold Text SemiBold" pitchFamily="34" charset="-120"/>
              </a:rPr>
              <a:t>9</a:t>
            </a:fld>
            <a:endParaRPr lang="en-GB" sz="1000" spc="200" dirty="0">
              <a:solidFill>
                <a:srgbClr val="5B6890"/>
              </a:solidFill>
              <a:latin typeface="Inter SemiBold Text SemiBold" pitchFamily="34" charset="0"/>
              <a:ea typeface="Inter SemiBold Text SemiBold" pitchFamily="34" charset="-122"/>
              <a:cs typeface="Inter SemiBold Text SemiBold" pitchFamily="34" charset="-120"/>
            </a:endParaRPr>
          </a:p>
        </p:txBody>
      </p:sp>
      <p:graphicFrame>
        <p:nvGraphicFramePr>
          <p:cNvPr id="8" name="Table 8"/>
          <p:cNvGraphicFramePr>
            <a:graphicFrameLocks noGrp="1"/>
          </p:cNvGraphicFramePr>
          <p:nvPr/>
        </p:nvGraphicFramePr>
        <p:xfrm>
          <a:off x="822960" y="2331720"/>
          <a:ext cx="6537960" cy="2487168"/>
        </p:xfrm>
        <a:graphic>
          <a:graphicData uri="http://schemas.openxmlformats.org/drawingml/2006/table">
            <a:tbl>
              <a:tblPr firstRow="1" bandRow="1"/>
              <a:tblGrid>
                <a:gridCol w="214884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384048">
                <a:tc>
                  <a:txBody>
                    <a:bodyPr/>
                    <a:lstStyle/>
                    <a:p>
                      <a:pPr marL="0" indent="0" algn="l">
                        <a:buNone/>
                      </a:pPr>
                      <a:r>
                        <a:rPr lang="en-GB" sz="1050" dirty="0">
                          <a:solidFill>
                            <a:srgbClr val="FFFFFF"/>
                          </a:solidFill>
                          <a:latin typeface="Inter SemiBold Text SemiBold" pitchFamily="34" charset="0"/>
                          <a:ea typeface="Inter SemiBold Text SemiBold" pitchFamily="34" charset="-122"/>
                          <a:cs typeface="Inter SemiBold Text SemiBold" pitchFamily="34" charset="-120"/>
                        </a:rPr>
                        <a:t>Gross amount, 19% VAT</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1A2B5E"/>
                    </a:solidFill>
                  </a:tcPr>
                </a:tc>
                <a:tc>
                  <a:txBody>
                    <a:bodyPr/>
                    <a:lstStyle/>
                    <a:p>
                      <a:pPr marL="0" indent="0" algn="l">
                        <a:buNone/>
                      </a:pPr>
                      <a:r>
                        <a:rPr lang="en-GB" sz="1050" dirty="0">
                          <a:solidFill>
                            <a:srgbClr val="FFFFFF"/>
                          </a:solidFill>
                          <a:latin typeface="Inter SemiBold Text SemiBold" pitchFamily="34" charset="0"/>
                          <a:ea typeface="Inter SemiBold Text SemiBold" pitchFamily="34" charset="-122"/>
                          <a:cs typeface="Inter SemiBold Text SemiBold" pitchFamily="34" charset="-120"/>
                        </a:rPr>
                        <a:t>Net in cents</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1A2B5E"/>
                    </a:solidFill>
                  </a:tcPr>
                </a:tc>
                <a:tc>
                  <a:txBody>
                    <a:bodyPr/>
                    <a:lstStyle/>
                    <a:p>
                      <a:pPr marL="0" indent="0" algn="l">
                        <a:buNone/>
                      </a:pPr>
                      <a:r>
                        <a:rPr lang="en-GB" sz="1050" dirty="0">
                          <a:solidFill>
                            <a:srgbClr val="FFFFFF"/>
                          </a:solidFill>
                          <a:latin typeface="Inter SemiBold Text SemiBold" pitchFamily="34" charset="0"/>
                          <a:ea typeface="Inter SemiBold Text SemiBold" pitchFamily="34" charset="-122"/>
                          <a:cs typeface="Inter SemiBold Text SemiBold" pitchFamily="34" charset="-120"/>
                        </a:rPr>
                        <a:t>Net + VAT in cents</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1A2B5E"/>
                    </a:solidFill>
                  </a:tcPr>
                </a:tc>
                <a:extLst>
                  <a:ext uri="{0D108BD9-81ED-4DB2-BD59-A6C34878D82A}">
                    <a16:rowId xmlns:a16="http://schemas.microsoft.com/office/drawing/2014/main" val="10000"/>
                  </a:ext>
                </a:extLst>
              </a:tr>
              <a:tr h="402336">
                <a:tc>
                  <a:txBody>
                    <a:bodyPr/>
                    <a:lstStyle/>
                    <a:p>
                      <a:pPr marL="0" indent="0" algn="l">
                        <a:buNone/>
                      </a:pPr>
                      <a:r>
                        <a:rPr lang="en-GB" sz="1100" dirty="0">
                          <a:solidFill>
                            <a:srgbClr val="1A2B5E"/>
                          </a:solidFill>
                          <a:latin typeface="Inter SemiBold Text SemiBold" pitchFamily="34" charset="0"/>
                          <a:ea typeface="Inter SemiBold Text SemiBold" pitchFamily="34" charset="-122"/>
                          <a:cs typeface="Inter SemiBold Text SemiBold" pitchFamily="34" charset="-120"/>
                        </a:rPr>
                        <a:t>€9.99 (receipt)</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FFF"/>
                    </a:solidFill>
                  </a:tcPr>
                </a:tc>
                <a:tc>
                  <a:txBody>
                    <a:bodyPr/>
                    <a:lstStyle/>
                    <a:p>
                      <a:pPr marL="0" indent="0" algn="l">
                        <a:buNone/>
                      </a:pPr>
                      <a:r>
                        <a:rPr lang="en-GB" sz="1100" dirty="0">
                          <a:solidFill>
                            <a:srgbClr val="5B6890"/>
                          </a:solidFill>
                          <a:latin typeface="Inter Text" pitchFamily="34" charset="0"/>
                          <a:ea typeface="Inter Text" pitchFamily="34" charset="-122"/>
                          <a:cs typeface="Inter Text" pitchFamily="34" charset="-120"/>
                        </a:rPr>
                        <a:t>8.39</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FFF"/>
                    </a:solidFill>
                  </a:tcPr>
                </a:tc>
                <a:tc>
                  <a:txBody>
                    <a:bodyPr/>
                    <a:lstStyle/>
                    <a:p>
                      <a:pPr marL="0" indent="0" algn="l">
                        <a:buNone/>
                      </a:pPr>
                      <a:r>
                        <a:rPr lang="en-GB" sz="1100" dirty="0">
                          <a:solidFill>
                            <a:srgbClr val="5B6890"/>
                          </a:solidFill>
                          <a:latin typeface="Inter Text" pitchFamily="34" charset="0"/>
                          <a:ea typeface="Inter Text" pitchFamily="34" charset="-122"/>
                          <a:cs typeface="Inter Text" pitchFamily="34" charset="-120"/>
                        </a:rPr>
                        <a:t>8.39 + 1.59 = 9.98  </a:t>
                      </a:r>
                      <a:r>
                        <a:rPr lang="en-GB" sz="1100" dirty="0">
                          <a:solidFill>
                            <a:srgbClr val="C0392B"/>
                          </a:solidFill>
                          <a:latin typeface="Inter SemiBold Text SemiBold" pitchFamily="34" charset="0"/>
                          <a:ea typeface="Inter SemiBold Text SemiBold" pitchFamily="34" charset="-122"/>
                          <a:cs typeface="Inter SemiBold Text SemiBold" pitchFamily="34" charset="-120"/>
                        </a:rPr>
                        <a:t>✗</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FFF"/>
                    </a:solidFill>
                  </a:tcPr>
                </a:tc>
                <a:extLst>
                  <a:ext uri="{0D108BD9-81ED-4DB2-BD59-A6C34878D82A}">
                    <a16:rowId xmlns:a16="http://schemas.microsoft.com/office/drawing/2014/main" val="10001"/>
                  </a:ext>
                </a:extLst>
              </a:tr>
              <a:tr h="402336">
                <a:tc>
                  <a:txBody>
                    <a:bodyPr/>
                    <a:lstStyle/>
                    <a:p>
                      <a:pPr marL="0" indent="0" algn="l">
                        <a:buNone/>
                      </a:pPr>
                      <a:r>
                        <a:rPr lang="en-GB" sz="1100" dirty="0">
                          <a:solidFill>
                            <a:srgbClr val="1A2B5E"/>
                          </a:solidFill>
                          <a:latin typeface="Inter SemiBold Text SemiBold" pitchFamily="34" charset="0"/>
                          <a:ea typeface="Inter SemiBold Text SemiBold" pitchFamily="34" charset="-122"/>
                          <a:cs typeface="Inter SemiBold Text SemiBold" pitchFamily="34" charset="-120"/>
                        </a:rPr>
                        <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FFF"/>
                    </a:solidFill>
                  </a:tcPr>
                </a:tc>
                <a:tc>
                  <a:txBody>
                    <a:bodyPr/>
                    <a:lstStyle/>
                    <a:p>
                      <a:pPr marL="0" indent="0" algn="l">
                        <a:buNone/>
                      </a:pPr>
                      <a:r>
                        <a:rPr lang="en-GB" sz="1100" dirty="0">
                          <a:solidFill>
                            <a:srgbClr val="5B6890"/>
                          </a:solidFill>
                          <a:latin typeface="Inter Text" pitchFamily="34" charset="0"/>
                          <a:ea typeface="Inter Text" pitchFamily="34" charset="-122"/>
                          <a:cs typeface="Inter Text" pitchFamily="34" charset="-120"/>
                        </a:rPr>
                        <a:t>8.40</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FFF"/>
                    </a:solidFill>
                  </a:tcPr>
                </a:tc>
                <a:tc>
                  <a:txBody>
                    <a:bodyPr/>
                    <a:lstStyle/>
                    <a:p>
                      <a:pPr marL="0" indent="0" algn="l">
                        <a:buNone/>
                      </a:pPr>
                      <a:r>
                        <a:rPr lang="en-GB" sz="1100" dirty="0">
                          <a:solidFill>
                            <a:srgbClr val="5B6890"/>
                          </a:solidFill>
                          <a:latin typeface="Inter Text" pitchFamily="34" charset="0"/>
                          <a:ea typeface="Inter Text" pitchFamily="34" charset="-122"/>
                          <a:cs typeface="Inter Text" pitchFamily="34" charset="-120"/>
                        </a:rPr>
                        <a:t>8.40 + 1.60 = 10.00  </a:t>
                      </a:r>
                      <a:r>
                        <a:rPr lang="en-GB" sz="1100" dirty="0">
                          <a:solidFill>
                            <a:srgbClr val="C0392B"/>
                          </a:solidFill>
                          <a:latin typeface="Inter SemiBold Text SemiBold" pitchFamily="34" charset="0"/>
                          <a:ea typeface="Inter SemiBold Text SemiBold" pitchFamily="34" charset="-122"/>
                          <a:cs typeface="Inter SemiBold Text SemiBold" pitchFamily="34" charset="-120"/>
                        </a:rPr>
                        <a:t>✗</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FFF"/>
                    </a:solidFill>
                  </a:tcPr>
                </a:tc>
                <a:extLst>
                  <a:ext uri="{0D108BD9-81ED-4DB2-BD59-A6C34878D82A}">
                    <a16:rowId xmlns:a16="http://schemas.microsoft.com/office/drawing/2014/main" val="10001"/>
                  </a:ext>
                </a:extLst>
              </a:tr>
              <a:tr h="402336">
                <a:tc>
                  <a:txBody>
                    <a:bodyPr/>
                    <a:lstStyle/>
                    <a:p>
                      <a:pPr marL="0" indent="0" algn="l">
                        <a:buNone/>
                      </a:pPr>
                      <a:r>
                        <a:rPr lang="en-GB" sz="1100" dirty="0">
                          <a:solidFill>
                            <a:srgbClr val="1A2B5E"/>
                          </a:solidFill>
                          <a:latin typeface="Inter SemiBold Text SemiBold" pitchFamily="34" charset="0"/>
                          <a:ea typeface="Inter SemiBold Text SemiBold" pitchFamily="34" charset="-122"/>
                          <a:cs typeface="Inter SemiBold Text SemiBold" pitchFamily="34" charset="-120"/>
                        </a:rPr>
                        <a:t>Not reachable at all</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FFF"/>
                    </a:solidFill>
                  </a:tcPr>
                </a:tc>
                <a:tc>
                  <a:txBody>
                    <a:bodyPr/>
                    <a:lstStyle/>
                    <a:p>
                      <a:pPr marL="0" indent="0" algn="l">
                        <a:buNone/>
                      </a:pPr>
                      <a:r>
                        <a:rPr lang="en-GB" sz="1100" dirty="0">
                          <a:solidFill>
                            <a:srgbClr val="5B6890"/>
                          </a:solidFill>
                          <a:latin typeface="Inter Text" pitchFamily="34" charset="0"/>
                          <a:ea typeface="Inter Text" pitchFamily="34" charset="-122"/>
                          <a:cs typeface="Inter Text" pitchFamily="34" charset="-120"/>
                        </a:rPr>
                        <a:t>19 of 119</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FFF"/>
                    </a:solidFill>
                  </a:tcPr>
                </a:tc>
                <a:tc>
                  <a:txBody>
                    <a:bodyPr/>
                    <a:lstStyle/>
                    <a:p>
                      <a:pPr marL="0" indent="0" algn="l">
                        <a:buNone/>
                      </a:pPr>
                      <a:r>
                        <a:rPr lang="en-GB" sz="1100" dirty="0">
                          <a:solidFill>
                            <a:srgbClr val="5B6890"/>
                          </a:solidFill>
                          <a:latin typeface="Inter Text" pitchFamily="34" charset="0"/>
                          <a:ea typeface="Inter Text" pitchFamily="34" charset="-122"/>
                          <a:cs typeface="Inter Text" pitchFamily="34" charset="-120"/>
                        </a:rPr>
                        <a:t>16% of all gross amounts</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FFF"/>
                    </a:solidFill>
                  </a:tcPr>
                </a:tc>
                <a:extLst>
                  <a:ext uri="{0D108BD9-81ED-4DB2-BD59-A6C34878D82A}">
                    <a16:rowId xmlns:a16="http://schemas.microsoft.com/office/drawing/2014/main" val="10001"/>
                  </a:ext>
                </a:extLst>
              </a:tr>
              <a:tr h="402336">
                <a:tc>
                  <a:txBody>
                    <a:bodyPr/>
                    <a:lstStyle/>
                    <a:p>
                      <a:pPr marL="0" indent="0" algn="l">
                        <a:buNone/>
                      </a:pPr>
                      <a:r>
                        <a:rPr lang="en-GB" sz="1100" dirty="0">
                          <a:solidFill>
                            <a:srgbClr val="1A2B5E"/>
                          </a:solidFill>
                          <a:latin typeface="Inter SemiBold Text SemiBold" pitchFamily="34" charset="0"/>
                          <a:ea typeface="Inter SemiBold Text SemiBold" pitchFamily="34" charset="-122"/>
                          <a:cs typeface="Inter SemiBold Text SemiBold" pitchFamily="34" charset="-120"/>
                        </a:rPr>
                        <a:t>Invoices with 5 lines</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FFF"/>
                    </a:solidFill>
                  </a:tcPr>
                </a:tc>
                <a:tc>
                  <a:txBody>
                    <a:bodyPr/>
                    <a:lstStyle/>
                    <a:p>
                      <a:pPr marL="0" indent="0" algn="l">
                        <a:buNone/>
                      </a:pPr>
                      <a:r>
                        <a:rPr lang="en-GB" sz="1100" dirty="0">
                          <a:solidFill>
                            <a:srgbClr val="5B6890"/>
                          </a:solidFill>
                          <a:latin typeface="Inter Text" pitchFamily="34" charset="0"/>
                          <a:ea typeface="Inter Text" pitchFamily="34" charset="-122"/>
                          <a:cs typeface="Inter Text" pitchFamily="34" charset="-120"/>
                        </a:rPr>
                        <a:t>simulation</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FFF"/>
                    </a:solidFill>
                  </a:tcPr>
                </a:tc>
                <a:tc>
                  <a:txBody>
                    <a:bodyPr/>
                    <a:lstStyle/>
                    <a:p>
                      <a:pPr marL="0" indent="0" algn="l">
                        <a:buNone/>
                      </a:pPr>
                      <a:r>
                        <a:rPr lang="en-GB" sz="1100" dirty="0">
                          <a:solidFill>
                            <a:srgbClr val="5B6890"/>
                          </a:solidFill>
                          <a:latin typeface="Inter Text" pitchFamily="34" charset="0"/>
                          <a:ea typeface="Inter Text" pitchFamily="34" charset="-122"/>
                          <a:cs typeface="Inter Text" pitchFamily="34" charset="-120"/>
                        </a:rPr>
                        <a:t>52% miss the receipt total</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FFF"/>
                    </a:solidFill>
                  </a:tcPr>
                </a:tc>
                <a:extLst>
                  <a:ext uri="{0D108BD9-81ED-4DB2-BD59-A6C34878D82A}">
                    <a16:rowId xmlns:a16="http://schemas.microsoft.com/office/drawing/2014/main" val="10001"/>
                  </a:ext>
                </a:extLst>
              </a:tr>
              <a:tr h="402336">
                <a:tc>
                  <a:txBody>
                    <a:bodyPr/>
                    <a:lstStyle/>
                    <a:p>
                      <a:pPr marL="0" indent="0" algn="l">
                        <a:buNone/>
                      </a:pPr>
                      <a:r>
                        <a:rPr lang="en-GB" sz="1100" dirty="0">
                          <a:solidFill>
                            <a:srgbClr val="1A2B5E"/>
                          </a:solidFill>
                          <a:latin typeface="Inter SemiBold Text SemiBold" pitchFamily="34" charset="0"/>
                          <a:ea typeface="Inter SemiBold Text SemiBold" pitchFamily="34" charset="-122"/>
                          <a:cs typeface="Inter SemiBold Text SemiBold" pitchFamily="34" charset="-120"/>
                        </a:rPr>
                        <a:t>Invoices with 35 lines</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FFF"/>
                    </a:solidFill>
                  </a:tcPr>
                </a:tc>
                <a:tc>
                  <a:txBody>
                    <a:bodyPr/>
                    <a:lstStyle/>
                    <a:p>
                      <a:pPr marL="0" indent="0" algn="l">
                        <a:buNone/>
                      </a:pPr>
                      <a:r>
                        <a:rPr lang="en-GB" sz="1100" dirty="0">
                          <a:solidFill>
                            <a:srgbClr val="5B6890"/>
                          </a:solidFill>
                          <a:latin typeface="Inter Text" pitchFamily="34" charset="0"/>
                          <a:ea typeface="Inter Text" pitchFamily="34" charset="-122"/>
                          <a:cs typeface="Inter Text" pitchFamily="34" charset="-120"/>
                        </a:rPr>
                        <a:t>simulation</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FFF"/>
                    </a:solidFill>
                  </a:tcPr>
                </a:tc>
                <a:tc>
                  <a:txBody>
                    <a:bodyPr/>
                    <a:lstStyle/>
                    <a:p>
                      <a:pPr marL="0" indent="0" algn="l">
                        <a:buNone/>
                      </a:pPr>
                      <a:r>
                        <a:rPr lang="en-GB" sz="1100" dirty="0">
                          <a:solidFill>
                            <a:srgbClr val="5B6890"/>
                          </a:solidFill>
                          <a:latin typeface="Inter Text" pitchFamily="34" charset="0"/>
                          <a:ea typeface="Inter Text" pitchFamily="34" charset="-122"/>
                          <a:cs typeface="Inter Text" pitchFamily="34" charset="-120"/>
                        </a:rPr>
                        <a:t>81% miss the receipt total</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FFF"/>
                    </a:solidFill>
                  </a:tcPr>
                </a:tc>
                <a:extLst>
                  <a:ext uri="{0D108BD9-81ED-4DB2-BD59-A6C34878D82A}">
                    <a16:rowId xmlns:a16="http://schemas.microsoft.com/office/drawing/2014/main" val="10001"/>
                  </a:ext>
                </a:extLst>
              </a:tr>
            </a:tbl>
          </a:graphicData>
        </a:graphic>
      </p:graphicFrame>
      <p:sp>
        <p:nvSpPr>
          <p:cNvPr id="9" name="Text 9"/>
          <p:cNvSpPr txBox="1"/>
          <p:nvPr/>
        </p:nvSpPr>
        <p:spPr>
          <a:xfrm>
            <a:off x="822960" y="4937760"/>
            <a:ext cx="6537960" cy="914400"/>
          </a:xfrm>
          <a:prstGeom prst="rect">
            <a:avLst/>
          </a:prstGeom>
          <a:noFill/>
          <a:ln/>
        </p:spPr>
        <p:txBody>
          <a:bodyPr wrap="square" lIns="0" tIns="0" rIns="0" bIns="0" rtlCol="0" anchor="t"/>
          <a:lstStyle/>
          <a:p>
            <a:pPr marL="0" indent="0" algn="l">
              <a:lnSpc>
                <a:spcPct val="110000"/>
              </a:lnSpc>
              <a:buNone/>
            </a:pPr>
            <a:r>
              <a:rPr lang="en-GB" sz="1100" dirty="0">
                <a:solidFill>
                  <a:srgbClr val="5B6890"/>
                </a:solidFill>
                <a:latin typeface="Inter Text" pitchFamily="34" charset="0"/>
                <a:ea typeface="Inter Text" pitchFamily="34" charset="-122"/>
                <a:cs typeface="Inter Text" pitchFamily="34" charset="-120"/>
              </a:rPr>
              <a:t>Each cent of net amount adds 1.19 cents of gross amount, so 19 of 119 gross amounts are skipped. At 7%: 7/107, at 20%: 20/120, at 21%: 21/121.</a:t>
            </a:r>
          </a:p>
        </p:txBody>
      </p:sp>
      <p:sp>
        <p:nvSpPr>
          <p:cNvPr id="10" name="Panel 10"/>
          <p:cNvSpPr/>
          <p:nvPr/>
        </p:nvSpPr>
        <p:spPr>
          <a:xfrm>
            <a:off x="7589520" y="2331720"/>
            <a:ext cx="3776472" cy="3520440"/>
          </a:xfrm>
          <a:prstGeom prst="roundRect">
            <a:avLst>
              <a:gd name="adj" fmla="val 2597"/>
            </a:avLst>
          </a:prstGeom>
          <a:solidFill>
            <a:srgbClr val="1A2B5E"/>
          </a:solidFill>
          <a:ln>
            <a:noFill/>
          </a:ln>
          <a:effectLst>
            <a:outerShdw blurRad="101600" dist="38100" dir="5400000" algn="bl" rotWithShape="0">
              <a:srgbClr val="0A1230">
                <a:alpha val="18000"/>
              </a:srgbClr>
            </a:outerShdw>
          </a:effectLst>
        </p:spPr>
        <p:txBody>
          <a:bodyPr/>
          <a:lstStyle/>
          <a:p>
            <a:endParaRPr lang="en-GB"/>
          </a:p>
        </p:txBody>
      </p:sp>
      <p:sp>
        <p:nvSpPr>
          <p:cNvPr id="11" name="Text 11"/>
          <p:cNvSpPr txBox="1"/>
          <p:nvPr/>
        </p:nvSpPr>
        <p:spPr>
          <a:xfrm>
            <a:off x="7909560" y="2514600"/>
            <a:ext cx="3200400" cy="274320"/>
          </a:xfrm>
          <a:prstGeom prst="rect">
            <a:avLst/>
          </a:prstGeom>
          <a:noFill/>
          <a:ln/>
        </p:spPr>
        <p:txBody>
          <a:bodyPr wrap="square" lIns="0" tIns="0" rIns="0" bIns="0" rtlCol="0" anchor="ctr"/>
          <a:lstStyle/>
          <a:p>
            <a:pPr marL="0" indent="0" algn="l">
              <a:buNone/>
            </a:pPr>
            <a:r>
              <a:rPr lang="en-GB" sz="1050" spc="150" dirty="0">
                <a:solidFill>
                  <a:srgbClr val="19C3C8"/>
                </a:solidFill>
                <a:latin typeface="Inter SemiBold Text SemiBold" pitchFamily="34" charset="0"/>
                <a:ea typeface="Inter SemiBold Text SemiBold" pitchFamily="34" charset="-122"/>
                <a:cs typeface="Inter SemiBold Text SemiBold" pitchFamily="34" charset="-120"/>
              </a:rPr>
              <a:t>THE BMF CONFIRMS IT</a:t>
            </a:r>
          </a:p>
        </p:txBody>
      </p:sp>
      <p:sp>
        <p:nvSpPr>
          <p:cNvPr id="12" name="Text 12"/>
          <p:cNvSpPr txBox="1"/>
          <p:nvPr/>
        </p:nvSpPr>
        <p:spPr>
          <a:xfrm>
            <a:off x="7909560" y="2816352"/>
            <a:ext cx="3200400" cy="365760"/>
          </a:xfrm>
          <a:prstGeom prst="rect">
            <a:avLst/>
          </a:prstGeom>
          <a:noFill/>
          <a:ln/>
        </p:spPr>
        <p:txBody>
          <a:bodyPr wrap="square" lIns="0" tIns="0" rIns="0" bIns="0" rtlCol="0" anchor="ctr"/>
          <a:lstStyle/>
          <a:p>
            <a:pPr marL="0" indent="0" algn="l">
              <a:buNone/>
            </a:pPr>
            <a:r>
              <a:rPr lang="en-GB" sz="1300" dirty="0">
                <a:solidFill>
                  <a:srgbClr val="FFFFFF"/>
                </a:solidFill>
                <a:latin typeface="Inter SemiBold Text SemiBold" pitchFamily="34" charset="0"/>
                <a:ea typeface="Inter SemiBold Text SemiBold" pitchFamily="34" charset="-122"/>
                <a:cs typeface="Inter SemiBold Text SemiBold" pitchFamily="34" charset="-120"/>
                <a:hlinkClick r:id="rId4">
                  <a:extLst>
                    <a:ext uri="{A12FA001-AC4F-418D-AE19-62706E023703}">
                      <ahyp:hlinkClr xmlns:ahyp="http://schemas.microsoft.com/office/drawing/2018/hyperlinkcolor" val="tx"/>
                    </a:ext>
                  </a:extLst>
                </a:hlinkClick>
              </a:rPr>
              <a:t>Letter of 15 October 2026, section 2.5</a:t>
            </a:r>
          </a:p>
        </p:txBody>
      </p:sp>
      <p:sp>
        <p:nvSpPr>
          <p:cNvPr id="25" name="Shape 25"/>
          <p:cNvSpPr/>
          <p:nvPr/>
        </p:nvSpPr>
        <p:spPr>
          <a:xfrm>
            <a:off x="7909560" y="5120640"/>
            <a:ext cx="3154680" cy="9144"/>
          </a:xfrm>
          <a:prstGeom prst="rect">
            <a:avLst/>
          </a:prstGeom>
          <a:solidFill>
            <a:srgbClr val="3A4A7A"/>
          </a:solidFill>
          <a:ln>
            <a:noFill/>
          </a:ln>
        </p:spPr>
        <p:txBody>
          <a:bodyPr/>
          <a:lstStyle/>
          <a:p>
            <a:endParaRPr lang="en-GB"/>
          </a:p>
        </p:txBody>
      </p:sp>
      <p:sp>
        <p:nvSpPr>
          <p:cNvPr id="26" name="Text 26"/>
          <p:cNvSpPr txBox="1"/>
          <p:nvPr/>
        </p:nvSpPr>
        <p:spPr>
          <a:xfrm>
            <a:off x="7909560" y="5193792"/>
            <a:ext cx="3200400" cy="594360"/>
          </a:xfrm>
          <a:prstGeom prst="rect">
            <a:avLst/>
          </a:prstGeom>
          <a:noFill/>
          <a:ln/>
        </p:spPr>
        <p:txBody>
          <a:bodyPr wrap="square" lIns="0" tIns="0" rIns="0" bIns="0" rtlCol="0" anchor="t"/>
          <a:lstStyle/>
          <a:p>
            <a:pPr marL="0" indent="0" algn="l">
              <a:lnSpc>
                <a:spcPct val="105000"/>
              </a:lnSpc>
              <a:buNone/>
            </a:pPr>
            <a:r>
              <a:rPr lang="en-GB" sz="1050" dirty="0">
                <a:solidFill>
                  <a:srgbClr val="C2CADE"/>
                </a:solidFill>
                <a:latin typeface="Inter Text" pitchFamily="34" charset="0"/>
                <a:ea typeface="Inter Text" pitchFamily="34" charset="-122"/>
                <a:cs typeface="Inter Text" pitchFamily="34" charset="-120"/>
              </a:rPr>
              <a:t>The workaround keeps only the totals per rate in the structured part; the line items move to an attachment.</a:t>
            </a:r>
          </a:p>
        </p:txBody>
      </p:sp>
      <p:sp>
        <p:nvSpPr>
          <p:cNvPr id="27" name="Pill 27"/>
          <p:cNvSpPr/>
          <p:nvPr/>
        </p:nvSpPr>
        <p:spPr>
          <a:xfrm>
            <a:off x="822960" y="5943600"/>
            <a:ext cx="10543032" cy="411480"/>
          </a:xfrm>
          <a:prstGeom prst="roundRect">
            <a:avLst>
              <a:gd name="adj" fmla="val 50000"/>
            </a:avLst>
          </a:prstGeom>
          <a:solidFill>
            <a:srgbClr val="E7F8F8"/>
          </a:solidFill>
          <a:ln w="9525">
            <a:solidFill>
              <a:srgbClr val="B5E9EA"/>
            </a:solidFill>
            <a:prstDash val="solid"/>
          </a:ln>
        </p:spPr>
        <p:txBody>
          <a:bodyPr wrap="square" lIns="36576" tIns="36576" rIns="36576" bIns="36576" rtlCol="0" anchor="ctr"/>
          <a:lstStyle/>
          <a:p>
            <a:pPr marL="0" indent="0" algn="ctr">
              <a:buNone/>
            </a:pPr>
            <a:r>
              <a:rPr lang="en-GB" sz="1200" dirty="0">
                <a:solidFill>
                  <a:srgbClr val="5B6890"/>
                </a:solidFill>
                <a:latin typeface="Inter SemiBold Text SemiBold" pitchFamily="34" charset="0"/>
                <a:ea typeface="Inter SemiBold Text SemiBold" pitchFamily="34" charset="-122"/>
                <a:cs typeface="Inter SemiBold Text SemiBold" pitchFamily="34" charset="-120"/>
              </a:rPr>
              <a:t>Examples:  </a:t>
            </a:r>
            <a:r>
              <a:rPr lang="en-GB" sz="1200" dirty="0">
                <a:solidFill>
                  <a:srgbClr val="5B6890"/>
                </a:solidFill>
                <a:latin typeface="Inter Text" pitchFamily="34" charset="0"/>
                <a:ea typeface="Inter Text" pitchFamily="34" charset="-122"/>
                <a:cs typeface="Inter Text" pitchFamily="34" charset="-120"/>
              </a:rPr>
              <a:t>receipts · fixed book prices · retail and marketplaces · statutory gross prices</a:t>
            </a:r>
          </a:p>
        </p:txBody>
      </p:sp>
      <p:sp>
        <p:nvSpPr>
          <p:cNvPr id="28" name="Speaker 28">
            <a:hlinkClick r:id="rId3"/>
          </p:cNvPr>
          <p:cNvSpPr txBox="1"/>
          <p:nvPr/>
        </p:nvSpPr>
        <p:spPr>
          <a:xfrm>
            <a:off x="7680960" y="6514592"/>
            <a:ext cx="3154680" cy="292608"/>
          </a:xfrm>
          <a:prstGeom prst="rect">
            <a:avLst/>
          </a:prstGeom>
          <a:noFill/>
          <a:ln/>
        </p:spPr>
        <p:txBody>
          <a:bodyPr wrap="square" lIns="0" tIns="0" rIns="0" bIns="0" rtlCol="0" anchor="ctr"/>
          <a:lstStyle/>
          <a:p>
            <a:pPr marL="0" indent="0" algn="r">
              <a:buNone/>
            </a:pPr>
            <a:r>
              <a:rPr lang="en-GB" sz="1000" spc="100" dirty="0">
                <a:solidFill>
                  <a:srgbClr val="9AA4C2"/>
                </a:solidFill>
                <a:latin typeface="Inter Medium Text Medium" pitchFamily="34" charset="0"/>
                <a:ea typeface="Inter Medium Text Medium" pitchFamily="34" charset="-122"/>
                <a:cs typeface="Inter Medium Text Medium" pitchFamily="34" charset="-120"/>
              </a:rPr>
              <a:t>© Svante Schubert</a:t>
            </a:r>
          </a:p>
        </p:txBody>
      </p:sp>
      <p:sp>
        <p:nvSpPr>
          <p:cNvPr id="29" name="Callout 29"/>
          <p:cNvSpPr/>
          <p:nvPr/>
        </p:nvSpPr>
        <p:spPr>
          <a:xfrm>
            <a:off x="822960" y="5422392"/>
            <a:ext cx="6537960" cy="457200"/>
          </a:xfrm>
          <a:prstGeom prst="roundRect">
            <a:avLst>
              <a:gd name="adj" fmla="val 18000"/>
            </a:avLst>
          </a:prstGeom>
          <a:solidFill>
            <a:srgbClr val="FFF3E6"/>
          </a:solidFill>
          <a:ln w="9525">
            <a:solidFill>
              <a:srgbClr val="F5CFA3"/>
            </a:solidFill>
            <a:prstDash val="solid"/>
          </a:ln>
        </p:spPr>
        <p:txBody>
          <a:bodyPr wrap="square" lIns="91440" tIns="27432" rIns="91440" bIns="27432" rtlCol="0" anchor="ctr"/>
          <a:lstStyle/>
          <a:p>
            <a:pPr marL="0" indent="0" algn="l">
              <a:buNone/>
            </a:pPr>
            <a:r>
              <a:rPr lang="en-GB" sz="1050" dirty="0">
                <a:solidFill>
                  <a:srgbClr val="B85C0A"/>
                </a:solidFill>
                <a:latin typeface="Inter SemiBold Text SemiBold" pitchFamily="34" charset="0"/>
                <a:ea typeface="Inter SemiBold Text SemiBold" pitchFamily="34" charset="-122"/>
                <a:cs typeface="Inter SemiBold Text SemiBold" pitchFamily="34" charset="-120"/>
              </a:rPr>
              <a:t>Only the tolerance of BR-S-9 </a:t>
            </a:r>
            <a:r>
              <a:rPr lang="en-GB" sz="1050" dirty="0">
                <a:solidFill>
                  <a:srgbClr val="B85C0A"/>
                </a:solidFill>
                <a:latin typeface="Inter Text" pitchFamily="34" charset="0"/>
                <a:ea typeface="Inter Text" pitchFamily="34" charset="-122"/>
                <a:cs typeface="Inter Text" pitchFamily="34" charset="-120"/>
              </a:rPr>
              <a:t>lets an issuer state 8.39 + 1.60 — with a VAT that is not 19% of the net amount.</a:t>
            </a:r>
          </a:p>
        </p:txBody>
      </p:sp>
      <p:sp>
        <p:nvSpPr>
          <p:cNvPr id="30" name="Shape 20 c30"/>
          <p:cNvSpPr/>
          <p:nvPr/>
        </p:nvSpPr>
        <p:spPr>
          <a:xfrm>
            <a:off x="7909560" y="3310128"/>
            <a:ext cx="292608" cy="292608"/>
          </a:xfrm>
          <a:prstGeom prst="ellipse">
            <a:avLst/>
          </a:prstGeom>
          <a:solidFill>
            <a:srgbClr val="19C3C8"/>
          </a:solidFill>
          <a:ln>
            <a:noFill/>
          </a:ln>
        </p:spPr>
        <p:txBody>
          <a:bodyPr/>
          <a:lstStyle/>
          <a:p>
            <a:endParaRPr lang="en-GB"/>
          </a:p>
        </p:txBody>
      </p:sp>
      <p:sp>
        <p:nvSpPr>
          <p:cNvPr id="31" name="Text 21 c31"/>
          <p:cNvSpPr txBox="1"/>
          <p:nvPr/>
        </p:nvSpPr>
        <p:spPr>
          <a:xfrm>
            <a:off x="7909560" y="3310128"/>
            <a:ext cx="292608" cy="292608"/>
          </a:xfrm>
          <a:prstGeom prst="rect">
            <a:avLst/>
          </a:prstGeom>
          <a:noFill/>
          <a:ln/>
        </p:spPr>
        <p:txBody>
          <a:bodyPr wrap="square" lIns="0" tIns="0" rIns="0" bIns="0" rtlCol="0" anchor="ctr"/>
          <a:lstStyle/>
          <a:p>
            <a:pPr marL="0" indent="0" algn="ctr">
              <a:buNone/>
            </a:pPr>
            <a:r>
              <a:rPr lang="en-GB" sz="1200" dirty="0">
                <a:solidFill>
                  <a:srgbClr val="1A2B5E"/>
                </a:solidFill>
                <a:latin typeface="Inter SemiBold Text SemiBold" pitchFamily="34" charset="0"/>
                <a:ea typeface="Inter SemiBold Text SemiBold" pitchFamily="34" charset="-122"/>
                <a:cs typeface="Inter SemiBold Text SemiBold" pitchFamily="34" charset="-120"/>
              </a:rPr>
              <a:t>✓</a:t>
            </a:r>
          </a:p>
        </p:txBody>
      </p:sp>
      <p:sp>
        <p:nvSpPr>
          <p:cNvPr id="32" name="Text 22 c32"/>
          <p:cNvSpPr txBox="1"/>
          <p:nvPr/>
        </p:nvSpPr>
        <p:spPr>
          <a:xfrm>
            <a:off x="8366760" y="3246120"/>
            <a:ext cx="2743200" cy="420624"/>
          </a:xfrm>
          <a:prstGeom prst="rect">
            <a:avLst/>
          </a:prstGeom>
          <a:noFill/>
          <a:ln/>
        </p:spPr>
        <p:txBody>
          <a:bodyPr wrap="square" lIns="0" tIns="0" rIns="0" bIns="0" rtlCol="0" anchor="ctr"/>
          <a:lstStyle/>
          <a:p>
            <a:pPr marL="0" indent="0" algn="l">
              <a:lnSpc>
                <a:spcPct val="105000"/>
              </a:lnSpc>
              <a:buNone/>
            </a:pPr>
            <a:r>
              <a:rPr lang="en-GB" sz="1250" dirty="0">
                <a:solidFill>
                  <a:srgbClr val="FFFFFF"/>
                </a:solidFill>
                <a:latin typeface="Inter Text" pitchFamily="34" charset="0"/>
                <a:ea typeface="Inter Text" pitchFamily="34" charset="-122"/>
                <a:cs typeface="Inter Text" pitchFamily="34" charset="-120"/>
                <a:hlinkClick r:id="rId4">
                  <a:extLst>
                    <a:ext uri="{A12FA001-AC4F-418D-AE19-62706E023703}">
                      <ahyp:hlinkClr xmlns:ahyp="http://schemas.microsoft.com/office/drawing/2018/hyperlinkcolor" val="tx"/>
                    </a:ext>
                  </a:extLst>
                </a:hlinkClick>
              </a:rPr>
              <a:t>Para. 17</a:t>
            </a:r>
            <a:r>
              <a:rPr lang="en-GB" sz="1250" dirty="0">
                <a:solidFill>
                  <a:srgbClr val="FFFFFF"/>
                </a:solidFill>
                <a:latin typeface="Inter Text" pitchFamily="34" charset="0"/>
                <a:ea typeface="Inter Text" pitchFamily="34" charset="-122"/>
                <a:cs typeface="Inter Text" pitchFamily="34" charset="-120"/>
              </a:rPr>
              <a:t>: VAT to the cent, rounded commercially</a:t>
            </a:r>
          </a:p>
        </p:txBody>
      </p:sp>
      <p:sp>
        <p:nvSpPr>
          <p:cNvPr id="33" name="Shape 20 c33"/>
          <p:cNvSpPr/>
          <p:nvPr/>
        </p:nvSpPr>
        <p:spPr>
          <a:xfrm>
            <a:off x="7909560" y="3877056"/>
            <a:ext cx="292608" cy="292608"/>
          </a:xfrm>
          <a:prstGeom prst="ellipse">
            <a:avLst/>
          </a:prstGeom>
          <a:solidFill>
            <a:srgbClr val="19C3C8"/>
          </a:solidFill>
          <a:ln>
            <a:noFill/>
          </a:ln>
        </p:spPr>
        <p:txBody>
          <a:bodyPr/>
          <a:lstStyle/>
          <a:p>
            <a:endParaRPr lang="en-GB"/>
          </a:p>
        </p:txBody>
      </p:sp>
      <p:sp>
        <p:nvSpPr>
          <p:cNvPr id="34" name="Text 21 c34"/>
          <p:cNvSpPr txBox="1"/>
          <p:nvPr/>
        </p:nvSpPr>
        <p:spPr>
          <a:xfrm>
            <a:off x="7909560" y="3877056"/>
            <a:ext cx="292608" cy="292608"/>
          </a:xfrm>
          <a:prstGeom prst="rect">
            <a:avLst/>
          </a:prstGeom>
          <a:noFill/>
          <a:ln/>
        </p:spPr>
        <p:txBody>
          <a:bodyPr wrap="square" lIns="0" tIns="0" rIns="0" bIns="0" rtlCol="0" anchor="ctr"/>
          <a:lstStyle/>
          <a:p>
            <a:pPr marL="0" indent="0" algn="ctr">
              <a:buNone/>
            </a:pPr>
            <a:r>
              <a:rPr lang="en-GB" sz="1200" dirty="0">
                <a:solidFill>
                  <a:srgbClr val="1A2B5E"/>
                </a:solidFill>
                <a:latin typeface="Inter SemiBold Text SemiBold" pitchFamily="34" charset="0"/>
                <a:ea typeface="Inter SemiBold Text SemiBold" pitchFamily="34" charset="-122"/>
                <a:cs typeface="Inter SemiBold Text SemiBold" pitchFamily="34" charset="-120"/>
              </a:rPr>
              <a:t>✓</a:t>
            </a:r>
          </a:p>
        </p:txBody>
      </p:sp>
      <p:sp>
        <p:nvSpPr>
          <p:cNvPr id="35" name="Text 22 c35"/>
          <p:cNvSpPr txBox="1"/>
          <p:nvPr/>
        </p:nvSpPr>
        <p:spPr>
          <a:xfrm>
            <a:off x="8366760" y="3813048"/>
            <a:ext cx="2743200" cy="420624"/>
          </a:xfrm>
          <a:prstGeom prst="rect">
            <a:avLst/>
          </a:prstGeom>
          <a:noFill/>
          <a:ln/>
        </p:spPr>
        <p:txBody>
          <a:bodyPr wrap="square" lIns="0" tIns="0" rIns="0" bIns="0" rtlCol="0" anchor="ctr"/>
          <a:lstStyle/>
          <a:p>
            <a:pPr marL="0" indent="0" algn="l">
              <a:lnSpc>
                <a:spcPct val="105000"/>
              </a:lnSpc>
              <a:buNone/>
            </a:pPr>
            <a:r>
              <a:rPr lang="en-GB" sz="1250" dirty="0">
                <a:solidFill>
                  <a:srgbClr val="FFFFFF"/>
                </a:solidFill>
                <a:latin typeface="Inter Text" pitchFamily="34" charset="0"/>
                <a:ea typeface="Inter Text" pitchFamily="34" charset="-122"/>
                <a:cs typeface="Inter Text" pitchFamily="34" charset="-120"/>
                <a:hlinkClick r:id="rId4">
                  <a:extLst>
                    <a:ext uri="{A12FA001-AC4F-418D-AE19-62706E023703}">
                      <ahyp:hlinkClr xmlns:ahyp="http://schemas.microsoft.com/office/drawing/2018/hyperlinkcolor" val="tx"/>
                    </a:ext>
                  </a:extLst>
                </a:hlinkClick>
              </a:rPr>
              <a:t>Para. 18</a:t>
            </a:r>
            <a:r>
              <a:rPr lang="en-GB" sz="1250" dirty="0">
                <a:solidFill>
                  <a:srgbClr val="FFFFFF"/>
                </a:solidFill>
                <a:latin typeface="Inter Text" pitchFamily="34" charset="0"/>
                <a:ea typeface="Inter Text" pitchFamily="34" charset="-122"/>
                <a:cs typeface="Inter Text" pitchFamily="34" charset="-120"/>
              </a:rPr>
              <a:t>: core and tax rounding rule cannot both be met</a:t>
            </a:r>
          </a:p>
        </p:txBody>
      </p:sp>
      <p:sp>
        <p:nvSpPr>
          <p:cNvPr id="36" name="Shape 20 c36"/>
          <p:cNvSpPr/>
          <p:nvPr/>
        </p:nvSpPr>
        <p:spPr>
          <a:xfrm>
            <a:off x="7909560" y="4443984"/>
            <a:ext cx="292608" cy="292608"/>
          </a:xfrm>
          <a:prstGeom prst="ellipse">
            <a:avLst/>
          </a:prstGeom>
          <a:solidFill>
            <a:srgbClr val="19C3C8"/>
          </a:solidFill>
          <a:ln>
            <a:noFill/>
          </a:ln>
        </p:spPr>
        <p:txBody>
          <a:bodyPr/>
          <a:lstStyle/>
          <a:p>
            <a:endParaRPr lang="en-GB"/>
          </a:p>
        </p:txBody>
      </p:sp>
      <p:sp>
        <p:nvSpPr>
          <p:cNvPr id="37" name="Text 21 c37"/>
          <p:cNvSpPr txBox="1"/>
          <p:nvPr/>
        </p:nvSpPr>
        <p:spPr>
          <a:xfrm>
            <a:off x="7909560" y="4443984"/>
            <a:ext cx="292608" cy="292608"/>
          </a:xfrm>
          <a:prstGeom prst="rect">
            <a:avLst/>
          </a:prstGeom>
          <a:noFill/>
          <a:ln/>
        </p:spPr>
        <p:txBody>
          <a:bodyPr wrap="square" lIns="0" tIns="0" rIns="0" bIns="0" rtlCol="0" anchor="ctr"/>
          <a:lstStyle/>
          <a:p>
            <a:pPr marL="0" indent="0" algn="ctr">
              <a:buNone/>
            </a:pPr>
            <a:r>
              <a:rPr lang="en-GB" sz="1200" dirty="0">
                <a:solidFill>
                  <a:srgbClr val="1A2B5E"/>
                </a:solidFill>
                <a:latin typeface="Inter SemiBold Text SemiBold" pitchFamily="34" charset="0"/>
                <a:ea typeface="Inter SemiBold Text SemiBold" pitchFamily="34" charset="-122"/>
                <a:cs typeface="Inter SemiBold Text SemiBold" pitchFamily="34" charset="-120"/>
              </a:rPr>
              <a:t>✓</a:t>
            </a:r>
          </a:p>
        </p:txBody>
      </p:sp>
      <p:sp>
        <p:nvSpPr>
          <p:cNvPr id="38" name="Text 22 c38"/>
          <p:cNvSpPr txBox="1"/>
          <p:nvPr/>
        </p:nvSpPr>
        <p:spPr>
          <a:xfrm>
            <a:off x="8366760" y="4379976"/>
            <a:ext cx="2743200" cy="420624"/>
          </a:xfrm>
          <a:prstGeom prst="rect">
            <a:avLst/>
          </a:prstGeom>
          <a:noFill/>
          <a:ln/>
        </p:spPr>
        <p:txBody>
          <a:bodyPr wrap="square" lIns="0" tIns="0" rIns="0" bIns="0" rtlCol="0" anchor="ctr"/>
          <a:lstStyle/>
          <a:p>
            <a:pPr marL="0" indent="0" algn="l">
              <a:lnSpc>
                <a:spcPct val="105000"/>
              </a:lnSpc>
              <a:buNone/>
            </a:pPr>
            <a:r>
              <a:rPr lang="en-GB" sz="1250" dirty="0">
                <a:solidFill>
                  <a:srgbClr val="FFFFFF"/>
                </a:solidFill>
                <a:latin typeface="Inter Text" pitchFamily="34" charset="0"/>
                <a:ea typeface="Inter Text" pitchFamily="34" charset="-122"/>
                <a:cs typeface="Inter Text" pitchFamily="34" charset="-120"/>
                <a:hlinkClick r:id="rId4">
                  <a:extLst>
                    <a:ext uri="{A12FA001-AC4F-418D-AE19-62706E023703}">
                      <ahyp:hlinkClr xmlns:ahyp="http://schemas.microsoft.com/office/drawing/2018/hyperlinkcolor" val="tx"/>
                    </a:ext>
                  </a:extLst>
                </a:hlinkClick>
              </a:rPr>
              <a:t>Para. 19</a:t>
            </a:r>
            <a:r>
              <a:rPr lang="en-GB" sz="1250" dirty="0">
                <a:solidFill>
                  <a:srgbClr val="FFFFFF"/>
                </a:solidFill>
                <a:latin typeface="Inter Text" pitchFamily="34" charset="0"/>
                <a:ea typeface="Inter Text" pitchFamily="34" charset="-122"/>
                <a:cs typeface="Inter Text" pitchFamily="34" charset="-120"/>
              </a:rPr>
              <a:t>: no gross format in XRechnung, ZUGFeRD — workaround until 31 Dec 2027</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Folie 31">
    <p:bg>
      <p:bgPr>
        <a:solidFill>
          <a:srgbClr val="F4F6FB"/>
        </a:solidFill>
        <a:effectLst/>
      </p:bgPr>
    </p:bg>
    <p:spTree>
      <p:nvGrpSpPr>
        <p:cNvPr id="1" name=""/>
        <p:cNvGrpSpPr/>
        <p:nvPr/>
      </p:nvGrpSpPr>
      <p:grpSpPr>
        <a:xfrm>
          <a:off x="0" y="0"/>
          <a:ext cx="0" cy="0"/>
          <a:chOff x="0" y="0"/>
          <a:chExt cx="0" cy="0"/>
        </a:xfrm>
      </p:grpSpPr>
      <p:sp>
        <p:nvSpPr>
          <p:cNvPr id="3" name="Header 3"/>
          <p:cNvSpPr txBox="1"/>
          <p:nvPr/>
        </p:nvSpPr>
        <p:spPr>
          <a:xfrm>
            <a:off x="822960" y="384048"/>
            <a:ext cx="7315200" cy="274320"/>
          </a:xfrm>
          <a:prstGeom prst="rect">
            <a:avLst/>
          </a:prstGeom>
          <a:noFill/>
          <a:ln/>
        </p:spPr>
        <p:txBody>
          <a:bodyPr wrap="square" lIns="0" tIns="0" rIns="0" bIns="0" rtlCol="0" anchor="ctr"/>
          <a:lstStyle/>
          <a:p>
            <a:pPr marL="0" indent="0" algn="l">
              <a:buNone/>
            </a:pPr>
            <a:r>
              <a:rPr lang="en-GB" sz="950" spc="100" dirty="0">
                <a:solidFill>
                  <a:srgbClr val="5B6890"/>
                </a:solidFill>
                <a:latin typeface="Inter Medium Text Medium" pitchFamily="34" charset="0"/>
                <a:ea typeface="Inter Medium Text Medium" pitchFamily="34" charset="-122"/>
                <a:cs typeface="Inter Medium Text Medium" pitchFamily="34" charset="-120"/>
              </a:rPr>
              <a:t>CEN/TC 434 WG1</a:t>
            </a:r>
            <a:r>
              <a:rPr lang="en-GB" sz="950" spc="100" dirty="0">
                <a:solidFill>
                  <a:srgbClr val="C2CADE"/>
                </a:solidFill>
                <a:latin typeface="Inter Text" pitchFamily="34" charset="0"/>
                <a:ea typeface="Inter Text" pitchFamily="34" charset="-122"/>
                <a:cs typeface="Inter Text" pitchFamily="34" charset="-120"/>
              </a:rPr>
              <a:t>   ·   </a:t>
            </a:r>
            <a:r>
              <a:rPr lang="en-GB" sz="950" spc="100" dirty="0">
                <a:solidFill>
                  <a:srgbClr val="9AA4C2"/>
                </a:solidFill>
                <a:latin typeface="Inter Text" pitchFamily="34" charset="0"/>
                <a:ea typeface="Inter Text" pitchFamily="34" charset="-122"/>
                <a:cs typeface="Inter Text" pitchFamily="34" charset="-120"/>
              </a:rPr>
              <a:t>EN 16931-1:2026 amendment · Gross prices and rounding</a:t>
            </a:r>
          </a:p>
        </p:txBody>
      </p:sp>
      <p:sp>
        <p:nvSpPr>
          <p:cNvPr id="4" name="SectionLabel 4"/>
          <p:cNvSpPr txBox="1"/>
          <p:nvPr/>
        </p:nvSpPr>
        <p:spPr>
          <a:xfrm>
            <a:off x="822960" y="868680"/>
            <a:ext cx="8229600" cy="274320"/>
          </a:xfrm>
          <a:prstGeom prst="rect">
            <a:avLst/>
          </a:prstGeom>
          <a:noFill/>
          <a:ln/>
        </p:spPr>
        <p:txBody>
          <a:bodyPr wrap="square" lIns="0" tIns="0" rIns="0" bIns="0" rtlCol="0" anchor="ctr"/>
          <a:lstStyle/>
          <a:p>
            <a:pPr marL="0" indent="0" algn="l">
              <a:buNone/>
            </a:pPr>
            <a:r>
              <a:rPr lang="en-GB" sz="1100" spc="300" dirty="0">
                <a:solidFill>
                  <a:srgbClr val="19C3C8"/>
                </a:solidFill>
                <a:latin typeface="Inter SemiBold Text SemiBold" pitchFamily="34" charset="0"/>
                <a:ea typeface="Inter SemiBold Text SemiBold" pitchFamily="34" charset="-122"/>
                <a:cs typeface="Inter SemiBold Text SemiBold" pitchFamily="34" charset="-120"/>
              </a:rPr>
              <a:t>ROOT CAUSE</a:t>
            </a:r>
          </a:p>
        </p:txBody>
      </p:sp>
      <p:sp>
        <p:nvSpPr>
          <p:cNvPr id="5" name="Title 5"/>
          <p:cNvSpPr txBox="1"/>
          <p:nvPr/>
        </p:nvSpPr>
        <p:spPr>
          <a:xfrm>
            <a:off x="804672" y="1115568"/>
            <a:ext cx="10424160" cy="822960"/>
          </a:xfrm>
          <a:prstGeom prst="rect">
            <a:avLst/>
          </a:prstGeom>
          <a:noFill/>
          <a:ln/>
        </p:spPr>
        <p:txBody>
          <a:bodyPr wrap="square" lIns="0" tIns="0" rIns="0" bIns="0" rtlCol="0" anchor="t"/>
          <a:lstStyle/>
          <a:p>
            <a:pPr marL="0" indent="0" algn="l">
              <a:buNone/>
            </a:pPr>
            <a:r>
              <a:rPr lang="en-GB" sz="3800" b="1" dirty="0">
                <a:solidFill>
                  <a:srgbClr val="1A2B5E"/>
                </a:solidFill>
                <a:latin typeface="Inter Text" pitchFamily="34" charset="0"/>
                <a:ea typeface="Inter Text" pitchFamily="34" charset="-122"/>
                <a:cs typeface="Inter Text" pitchFamily="34" charset="-120"/>
              </a:rPr>
              <a:t>Converting net ↔ gross never ends</a:t>
            </a:r>
          </a:p>
        </p:txBody>
      </p:sp>
      <p:sp>
        <p:nvSpPr>
          <p:cNvPr id="6" name="Tagline 6"/>
          <p:cNvSpPr txBox="1"/>
          <p:nvPr/>
        </p:nvSpPr>
        <p:spPr>
          <a:xfrm>
            <a:off x="822960" y="1865376"/>
            <a:ext cx="10424160" cy="320040"/>
          </a:xfrm>
          <a:prstGeom prst="rect">
            <a:avLst/>
          </a:prstGeom>
          <a:noFill/>
          <a:ln/>
        </p:spPr>
        <p:txBody>
          <a:bodyPr wrap="square" lIns="0" tIns="0" rIns="0" bIns="0" rtlCol="0" anchor="ctr"/>
          <a:lstStyle/>
          <a:p>
            <a:pPr marL="0" indent="0" algn="l">
              <a:buNone/>
            </a:pPr>
            <a:r>
              <a:rPr lang="en-GB" sz="1300" dirty="0">
                <a:solidFill>
                  <a:srgbClr val="5B6890"/>
                </a:solidFill>
                <a:latin typeface="Inter Text" pitchFamily="34" charset="0"/>
                <a:ea typeface="Inter Text" pitchFamily="34" charset="-122"/>
                <a:cs typeface="Inter Text" pitchFamily="34" charset="-120"/>
              </a:rPr>
              <a:t>Whichever price was agreed must lead — never convert it per line.</a:t>
            </a:r>
          </a:p>
        </p:txBody>
      </p:sp>
      <p:sp>
        <p:nvSpPr>
          <p:cNvPr id="7" name="PageNum 7"/>
          <p:cNvSpPr txBox="1"/>
          <p:nvPr/>
        </p:nvSpPr>
        <p:spPr>
          <a:xfrm>
            <a:off x="10908792" y="6514592"/>
            <a:ext cx="822960" cy="292608"/>
          </a:xfrm>
          <a:prstGeom prst="rect">
            <a:avLst/>
          </a:prstGeom>
          <a:noFill/>
          <a:ln/>
        </p:spPr>
        <p:txBody>
          <a:bodyPr wrap="square" lIns="0" tIns="0" rIns="0" bIns="0" rtlCol="0" anchor="ctr"/>
          <a:lstStyle/>
          <a:p>
            <a:pPr marL="0" indent="0" algn="r">
              <a:buNone/>
            </a:pPr>
            <a:fld id="{67D73E2F-A595-473C-9F0C-80BA506D5B08}" type="slidenum">
              <a:rPr lang="en-GB" sz="1000" spc="200" dirty="0">
                <a:solidFill>
                  <a:srgbClr val="5B6890"/>
                </a:solidFill>
                <a:latin typeface="Inter SemiBold Text SemiBold" pitchFamily="34" charset="0"/>
                <a:ea typeface="Inter SemiBold Text SemiBold" pitchFamily="34" charset="-122"/>
                <a:cs typeface="Inter SemiBold Text SemiBold" pitchFamily="34" charset="-120"/>
              </a:rPr>
              <a:t>10</a:t>
            </a:fld>
            <a:endParaRPr lang="en-GB" sz="1000" spc="200" dirty="0">
              <a:solidFill>
                <a:srgbClr val="5B6890"/>
              </a:solidFill>
              <a:latin typeface="Inter SemiBold Text SemiBold" pitchFamily="34" charset="0"/>
              <a:ea typeface="Inter SemiBold Text SemiBold" pitchFamily="34" charset="-122"/>
              <a:cs typeface="Inter SemiBold Text SemiBold" pitchFamily="34" charset="-120"/>
            </a:endParaRPr>
          </a:p>
        </p:txBody>
      </p:sp>
      <p:sp>
        <p:nvSpPr>
          <p:cNvPr id="8" name="Card 8"/>
          <p:cNvSpPr/>
          <p:nvPr/>
        </p:nvSpPr>
        <p:spPr>
          <a:xfrm>
            <a:off x="822960" y="2331720"/>
            <a:ext cx="5166360" cy="1691640"/>
          </a:xfrm>
          <a:prstGeom prst="roundRect">
            <a:avLst>
              <a:gd name="adj" fmla="val 4324"/>
            </a:avLst>
          </a:prstGeom>
          <a:solidFill>
            <a:srgbClr val="FFFFFF"/>
          </a:solidFill>
          <a:ln w="12700">
            <a:solidFill>
              <a:srgbClr val="E2E7F2"/>
            </a:solidFill>
            <a:prstDash val="solid"/>
          </a:ln>
          <a:effectLst>
            <a:outerShdw blurRad="101600" dist="38100" dir="5400000" algn="bl" rotWithShape="0">
              <a:srgbClr val="0A1230">
                <a:alpha val="8000"/>
              </a:srgbClr>
            </a:outerShdw>
          </a:effectLst>
        </p:spPr>
        <p:txBody>
          <a:bodyPr/>
          <a:lstStyle/>
          <a:p>
            <a:endParaRPr lang="en-GB"/>
          </a:p>
        </p:txBody>
      </p:sp>
      <p:sp>
        <p:nvSpPr>
          <p:cNvPr id="9" name="IconCircle 9"/>
          <p:cNvSpPr/>
          <p:nvPr/>
        </p:nvSpPr>
        <p:spPr>
          <a:xfrm>
            <a:off x="1060704" y="2532888"/>
            <a:ext cx="402336" cy="402336"/>
          </a:xfrm>
          <a:prstGeom prst="ellipse">
            <a:avLst/>
          </a:prstGeom>
          <a:solidFill>
            <a:srgbClr val="19C3C8"/>
          </a:solidFill>
          <a:ln>
            <a:noFill/>
          </a:ln>
          <a:effectLst>
            <a:outerShdw blurRad="88900" dist="38100" dir="5400000" algn="bl" rotWithShape="0">
              <a:srgbClr val="0A1230">
                <a:alpha val="18000"/>
              </a:srgbClr>
            </a:outerShdw>
          </a:effectLst>
        </p:spPr>
        <p:txBody>
          <a:bodyPr/>
          <a:lstStyle/>
          <a:p>
            <a:endParaRPr lang="en-GB"/>
          </a:p>
        </p:txBody>
      </p:sp>
      <p:pic>
        <p:nvPicPr>
          <p:cNvPr id="10" name="Icon 10"/>
          <p:cNvPicPr>
            <a:picLocks noChangeAspect="1"/>
          </p:cNvPicPr>
          <p:nvPr/>
        </p:nvPicPr>
        <p:blipFill>
          <a:blip r:embed="rId3"/>
          <a:stretch>
            <a:fillRect/>
          </a:stretch>
        </p:blipFill>
        <p:spPr>
          <a:xfrm>
            <a:off x="1171346" y="2643530"/>
            <a:ext cx="181051" cy="181051"/>
          </a:xfrm>
          <a:prstGeom prst="rect">
            <a:avLst/>
          </a:prstGeom>
        </p:spPr>
      </p:pic>
      <p:sp>
        <p:nvSpPr>
          <p:cNvPr id="11" name="Text 11"/>
          <p:cNvSpPr txBox="1"/>
          <p:nvPr/>
        </p:nvSpPr>
        <p:spPr>
          <a:xfrm>
            <a:off x="1600200" y="2514600"/>
            <a:ext cx="4206240" cy="438912"/>
          </a:xfrm>
          <a:prstGeom prst="rect">
            <a:avLst/>
          </a:prstGeom>
          <a:noFill/>
          <a:ln/>
        </p:spPr>
        <p:txBody>
          <a:bodyPr wrap="square" lIns="0" tIns="0" rIns="0" bIns="0" rtlCol="0" anchor="ctr"/>
          <a:lstStyle/>
          <a:p>
            <a:pPr marL="0" indent="0" algn="l">
              <a:buNone/>
            </a:pPr>
            <a:r>
              <a:rPr lang="en-GB" sz="1500" dirty="0">
                <a:solidFill>
                  <a:srgbClr val="1A2B5E"/>
                </a:solidFill>
                <a:latin typeface="Inter SemiBold Text SemiBold" pitchFamily="34" charset="0"/>
                <a:ea typeface="Inter SemiBold Text SemiBold" pitchFamily="34" charset="-122"/>
                <a:cs typeface="Inter SemiBold Text SemiBold" pitchFamily="34" charset="-120"/>
              </a:rPr>
              <a:t>Conversion never ends</a:t>
            </a:r>
          </a:p>
        </p:txBody>
      </p:sp>
      <p:sp>
        <p:nvSpPr>
          <p:cNvPr id="12" name="Text 12"/>
          <p:cNvSpPr txBox="1"/>
          <p:nvPr/>
        </p:nvSpPr>
        <p:spPr>
          <a:xfrm>
            <a:off x="1133856" y="2990088"/>
            <a:ext cx="4663440" cy="1005840"/>
          </a:xfrm>
          <a:prstGeom prst="rect">
            <a:avLst/>
          </a:prstGeom>
          <a:noFill/>
          <a:ln/>
        </p:spPr>
        <p:txBody>
          <a:bodyPr wrap="square" lIns="0" tIns="0" rIns="0" bIns="0" rtlCol="0" anchor="t"/>
          <a:lstStyle/>
          <a:p>
            <a:pPr marL="164592" indent="-164592" algn="l">
              <a:spcAft>
                <a:spcPts val="200"/>
              </a:spcAft>
              <a:buSzPct val="100000"/>
              <a:buChar char="•"/>
            </a:pPr>
            <a:r>
              <a:rPr lang="en-GB" sz="1200" dirty="0">
                <a:solidFill>
                  <a:srgbClr val="5B6890"/>
                </a:solidFill>
                <a:latin typeface="Inter Text" pitchFamily="34" charset="0"/>
                <a:ea typeface="Inter Text" pitchFamily="34" charset="-122"/>
                <a:cs typeface="Inter Text" pitchFamily="34" charset="-120"/>
              </a:rPr>
              <a:t>9.99 ÷ 1.19 = 8.394957983193… (periodic)</a:t>
            </a:r>
          </a:p>
          <a:p>
            <a:pPr marL="164592" indent="-164592" algn="l">
              <a:spcAft>
                <a:spcPts val="200"/>
              </a:spcAft>
              <a:buSzPct val="100000"/>
              <a:buChar char="•"/>
            </a:pPr>
            <a:r>
              <a:rPr lang="en-GB" sz="1200" dirty="0">
                <a:solidFill>
                  <a:srgbClr val="5B6890"/>
                </a:solidFill>
                <a:latin typeface="Inter Text" pitchFamily="34" charset="0"/>
                <a:ea typeface="Inter Text" pitchFamily="34" charset="-122"/>
                <a:cs typeface="Inter Text" pitchFamily="34" charset="-120"/>
              </a:rPr>
              <a:t>8.40 × 1.19 = 9.996 — not a cent amount</a:t>
            </a:r>
          </a:p>
          <a:p>
            <a:pPr marL="164592" indent="-164592" algn="l">
              <a:spcAft>
                <a:spcPts val="200"/>
              </a:spcAft>
              <a:buSzPct val="100000"/>
              <a:buChar char="•"/>
            </a:pPr>
            <a:r>
              <a:rPr lang="en-GB" sz="1200" dirty="0">
                <a:solidFill>
                  <a:srgbClr val="5B6890"/>
                </a:solidFill>
                <a:latin typeface="Inter Text" pitchFamily="34" charset="0"/>
                <a:ea typeface="Inter Text" pitchFamily="34" charset="-122"/>
                <a:cs typeface="Inter Text" pitchFamily="34" charset="-120"/>
              </a:rPr>
              <a:t>Exact only with unlimited decimal places</a:t>
            </a:r>
          </a:p>
        </p:txBody>
      </p:sp>
      <p:sp>
        <p:nvSpPr>
          <p:cNvPr id="13" name="Card 13"/>
          <p:cNvSpPr/>
          <p:nvPr/>
        </p:nvSpPr>
        <p:spPr>
          <a:xfrm>
            <a:off x="822960" y="4160520"/>
            <a:ext cx="5166360" cy="1645920"/>
          </a:xfrm>
          <a:prstGeom prst="roundRect">
            <a:avLst>
              <a:gd name="adj" fmla="val 4444"/>
            </a:avLst>
          </a:prstGeom>
          <a:solidFill>
            <a:srgbClr val="FFFFFF"/>
          </a:solidFill>
          <a:ln w="12700">
            <a:solidFill>
              <a:srgbClr val="E2E7F2"/>
            </a:solidFill>
            <a:prstDash val="solid"/>
          </a:ln>
          <a:effectLst>
            <a:outerShdw blurRad="101600" dist="38100" dir="5400000" algn="bl" rotWithShape="0">
              <a:srgbClr val="0A1230">
                <a:alpha val="8000"/>
              </a:srgbClr>
            </a:outerShdw>
          </a:effectLst>
        </p:spPr>
        <p:txBody>
          <a:bodyPr/>
          <a:lstStyle/>
          <a:p>
            <a:endParaRPr lang="en-GB"/>
          </a:p>
        </p:txBody>
      </p:sp>
      <p:sp>
        <p:nvSpPr>
          <p:cNvPr id="14" name="IconCircle 14"/>
          <p:cNvSpPr/>
          <p:nvPr/>
        </p:nvSpPr>
        <p:spPr>
          <a:xfrm>
            <a:off x="1060704" y="4361688"/>
            <a:ext cx="402336" cy="402336"/>
          </a:xfrm>
          <a:prstGeom prst="ellipse">
            <a:avLst/>
          </a:prstGeom>
          <a:solidFill>
            <a:srgbClr val="1A2B5E"/>
          </a:solidFill>
          <a:ln>
            <a:noFill/>
          </a:ln>
          <a:effectLst>
            <a:outerShdw blurRad="88900" dist="38100" dir="5400000" algn="bl" rotWithShape="0">
              <a:srgbClr val="0A1230">
                <a:alpha val="18000"/>
              </a:srgbClr>
            </a:outerShdw>
          </a:effectLst>
        </p:spPr>
        <p:txBody>
          <a:bodyPr/>
          <a:lstStyle/>
          <a:p>
            <a:endParaRPr lang="en-GB"/>
          </a:p>
        </p:txBody>
      </p:sp>
      <p:pic>
        <p:nvPicPr>
          <p:cNvPr id="15" name="Icon 15"/>
          <p:cNvPicPr>
            <a:picLocks noChangeAspect="1"/>
          </p:cNvPicPr>
          <p:nvPr/>
        </p:nvPicPr>
        <p:blipFill>
          <a:blip r:embed="rId4"/>
          <a:stretch>
            <a:fillRect/>
          </a:stretch>
        </p:blipFill>
        <p:spPr>
          <a:xfrm>
            <a:off x="1171346" y="4472330"/>
            <a:ext cx="181051" cy="181051"/>
          </a:xfrm>
          <a:prstGeom prst="rect">
            <a:avLst/>
          </a:prstGeom>
        </p:spPr>
      </p:pic>
      <p:sp>
        <p:nvSpPr>
          <p:cNvPr id="16" name="Text 16"/>
          <p:cNvSpPr txBox="1"/>
          <p:nvPr/>
        </p:nvSpPr>
        <p:spPr>
          <a:xfrm>
            <a:off x="1600200" y="4343400"/>
            <a:ext cx="4206240" cy="438912"/>
          </a:xfrm>
          <a:prstGeom prst="rect">
            <a:avLst/>
          </a:prstGeom>
          <a:noFill/>
          <a:ln/>
        </p:spPr>
        <p:txBody>
          <a:bodyPr wrap="square" lIns="0" tIns="0" rIns="0" bIns="0" rtlCol="0" anchor="ctr"/>
          <a:lstStyle/>
          <a:p>
            <a:pPr marL="0" indent="0" algn="l">
              <a:buNone/>
            </a:pPr>
            <a:r>
              <a:rPr lang="en-GB" sz="1500" dirty="0">
                <a:solidFill>
                  <a:srgbClr val="1A2B5E"/>
                </a:solidFill>
                <a:latin typeface="Inter SemiBold Text SemiBold" pitchFamily="34" charset="0"/>
                <a:ea typeface="Inter SemiBold Text SemiBold" pitchFamily="34" charset="-122"/>
                <a:cs typeface="Inter SemiBold Text SemiBold" pitchFamily="34" charset="-120"/>
              </a:rPr>
              <a:t>Every maximum fails at some quantity</a:t>
            </a:r>
          </a:p>
        </p:txBody>
      </p:sp>
      <p:sp>
        <p:nvSpPr>
          <p:cNvPr id="17" name="Text 17"/>
          <p:cNvSpPr txBox="1"/>
          <p:nvPr/>
        </p:nvSpPr>
        <p:spPr>
          <a:xfrm>
            <a:off x="1133856" y="4818888"/>
            <a:ext cx="4663440" cy="960120"/>
          </a:xfrm>
          <a:prstGeom prst="rect">
            <a:avLst/>
          </a:prstGeom>
          <a:noFill/>
          <a:ln/>
        </p:spPr>
        <p:txBody>
          <a:bodyPr wrap="square" lIns="0" tIns="0" rIns="0" bIns="0" rtlCol="0" anchor="t"/>
          <a:lstStyle/>
          <a:p>
            <a:pPr marL="164592" indent="-164592" algn="l">
              <a:spcAft>
                <a:spcPts val="200"/>
              </a:spcAft>
              <a:buSzPct val="100000"/>
              <a:buChar char="•"/>
            </a:pPr>
            <a:r>
              <a:rPr lang="en-GB" sz="1200" dirty="0">
                <a:solidFill>
                  <a:srgbClr val="5B6890"/>
                </a:solidFill>
                <a:latin typeface="Inter Text" pitchFamily="34" charset="0"/>
                <a:ea typeface="Inter Text" pitchFamily="34" charset="-122"/>
                <a:cs typeface="Inter Text" pitchFamily="34" charset="-120"/>
              </a:rPr>
              <a:t>Price cut at the d-th dp: error ≤ BT-129 × 0.5 × 10⁻ᵈ</a:t>
            </a:r>
          </a:p>
          <a:p>
            <a:pPr marL="164592" indent="-164592" algn="l">
              <a:spcAft>
                <a:spcPts val="200"/>
              </a:spcAft>
              <a:buSzPct val="100000"/>
              <a:buChar char="•"/>
            </a:pPr>
            <a:r>
              <a:rPr lang="en-GB" sz="1200" dirty="0">
                <a:solidFill>
                  <a:srgbClr val="5B6890"/>
                </a:solidFill>
                <a:latin typeface="Inter Text" pitchFamily="34" charset="0"/>
                <a:ea typeface="Inter Text" pitchFamily="34" charset="-122"/>
                <a:cs typeface="Inter Text" pitchFamily="34" charset="-120"/>
              </a:rPr>
              <a:t>8 dp and 10,000,000 units: up to €0.05</a:t>
            </a:r>
          </a:p>
          <a:p>
            <a:pPr marL="164592" indent="-164592" algn="l">
              <a:spcAft>
                <a:spcPts val="200"/>
              </a:spcAft>
              <a:buSzPct val="100000"/>
              <a:buChar char="•"/>
            </a:pPr>
            <a:r>
              <a:rPr lang="en-GB" sz="1200" dirty="0">
                <a:solidFill>
                  <a:srgbClr val="5B6890"/>
                </a:solidFill>
                <a:latin typeface="Inter Text" pitchFamily="34" charset="0"/>
                <a:ea typeface="Inter Text" pitchFamily="34" charset="-122"/>
                <a:cs typeface="Inter Text" pitchFamily="34" charset="-120"/>
                <a:hlinkClick r:id="rId6">
                  <a:extLst>
                    <a:ext uri="{A12FA001-AC4F-418D-AE19-62706E023703}">
                      <ahyp:hlinkClr xmlns:ahyp="http://schemas.microsoft.com/office/drawing/2018/hyperlinkcolor" val="tx"/>
                    </a:ext>
                  </a:extLst>
                </a:hlinkClick>
              </a:rPr>
              <a:t>Cyrille Sautereau's sheet</a:t>
            </a:r>
            <a:r>
              <a:rPr lang="en-GB" sz="1200" dirty="0">
                <a:solidFill>
                  <a:srgbClr val="5B6890"/>
                </a:solidFill>
                <a:latin typeface="Inter Text" pitchFamily="34" charset="0"/>
                <a:ea typeface="Inter Text" pitchFamily="34" charset="-122"/>
                <a:cs typeface="Inter Text" pitchFamily="34" charset="-120"/>
              </a:rPr>
              <a:t>: 6 instead of 4 dp remove €0.05</a:t>
            </a:r>
          </a:p>
        </p:txBody>
      </p:sp>
      <p:sp>
        <p:nvSpPr>
          <p:cNvPr id="18" name="Panel 18"/>
          <p:cNvSpPr/>
          <p:nvPr/>
        </p:nvSpPr>
        <p:spPr>
          <a:xfrm>
            <a:off x="6172200" y="2331720"/>
            <a:ext cx="5193792" cy="3474720"/>
          </a:xfrm>
          <a:prstGeom prst="roundRect">
            <a:avLst>
              <a:gd name="adj" fmla="val 2631"/>
            </a:avLst>
          </a:prstGeom>
          <a:solidFill>
            <a:srgbClr val="1A2B5E"/>
          </a:solidFill>
          <a:ln>
            <a:noFill/>
          </a:ln>
          <a:effectLst>
            <a:outerShdw blurRad="101600" dist="38100" dir="5400000" algn="bl" rotWithShape="0">
              <a:srgbClr val="0A1230">
                <a:alpha val="18000"/>
              </a:srgbClr>
            </a:outerShdw>
          </a:effectLst>
        </p:spPr>
        <p:txBody>
          <a:bodyPr/>
          <a:lstStyle/>
          <a:p>
            <a:endParaRPr lang="en-GB"/>
          </a:p>
        </p:txBody>
      </p:sp>
      <p:sp>
        <p:nvSpPr>
          <p:cNvPr id="19" name="Text 19"/>
          <p:cNvSpPr txBox="1"/>
          <p:nvPr/>
        </p:nvSpPr>
        <p:spPr>
          <a:xfrm>
            <a:off x="6492240" y="2514600"/>
            <a:ext cx="4572000" cy="274320"/>
          </a:xfrm>
          <a:prstGeom prst="rect">
            <a:avLst/>
          </a:prstGeom>
          <a:noFill/>
          <a:ln/>
        </p:spPr>
        <p:txBody>
          <a:bodyPr wrap="square" lIns="0" tIns="0" rIns="0" bIns="0" rtlCol="0" anchor="ctr"/>
          <a:lstStyle/>
          <a:p>
            <a:pPr marL="0" indent="0" algn="l">
              <a:buNone/>
            </a:pPr>
            <a:r>
              <a:rPr lang="en-GB" sz="1100" spc="300" dirty="0">
                <a:solidFill>
                  <a:srgbClr val="19C3C8"/>
                </a:solidFill>
                <a:latin typeface="Inter SemiBold Text SemiBold" pitchFamily="34" charset="0"/>
                <a:ea typeface="Inter SemiBold Text SemiBold" pitchFamily="34" charset="-122"/>
                <a:cs typeface="Inter SemiBold Text SemiBold" pitchFamily="34" charset="-120"/>
              </a:rPr>
              <a:t>THE RULE</a:t>
            </a:r>
          </a:p>
        </p:txBody>
      </p:sp>
      <p:sp>
        <p:nvSpPr>
          <p:cNvPr id="20" name="Shape 20"/>
          <p:cNvSpPr/>
          <p:nvPr/>
        </p:nvSpPr>
        <p:spPr>
          <a:xfrm>
            <a:off x="6492240" y="2944368"/>
            <a:ext cx="292608" cy="292608"/>
          </a:xfrm>
          <a:prstGeom prst="ellipse">
            <a:avLst/>
          </a:prstGeom>
          <a:solidFill>
            <a:srgbClr val="19C3C8"/>
          </a:solidFill>
          <a:ln>
            <a:noFill/>
          </a:ln>
        </p:spPr>
        <p:txBody>
          <a:bodyPr/>
          <a:lstStyle/>
          <a:p>
            <a:endParaRPr lang="en-GB"/>
          </a:p>
        </p:txBody>
      </p:sp>
      <p:sp>
        <p:nvSpPr>
          <p:cNvPr id="21" name="Text 21"/>
          <p:cNvSpPr txBox="1"/>
          <p:nvPr/>
        </p:nvSpPr>
        <p:spPr>
          <a:xfrm>
            <a:off x="6492240" y="2944368"/>
            <a:ext cx="292608" cy="292608"/>
          </a:xfrm>
          <a:prstGeom prst="rect">
            <a:avLst/>
          </a:prstGeom>
          <a:noFill/>
          <a:ln/>
        </p:spPr>
        <p:txBody>
          <a:bodyPr wrap="square" lIns="0" tIns="0" rIns="0" bIns="0" rtlCol="0" anchor="ctr"/>
          <a:lstStyle/>
          <a:p>
            <a:pPr marL="0" indent="0" algn="ctr">
              <a:buNone/>
            </a:pPr>
            <a:r>
              <a:rPr lang="en-GB" sz="1200" dirty="0">
                <a:solidFill>
                  <a:srgbClr val="1A2B5E"/>
                </a:solidFill>
                <a:latin typeface="Inter SemiBold Text SemiBold" pitchFamily="34" charset="0"/>
                <a:ea typeface="Inter SemiBold Text SemiBold" pitchFamily="34" charset="-122"/>
                <a:cs typeface="Inter SemiBold Text SemiBold" pitchFamily="34" charset="-120"/>
              </a:rPr>
              <a:t>✓</a:t>
            </a:r>
          </a:p>
        </p:txBody>
      </p:sp>
      <p:sp>
        <p:nvSpPr>
          <p:cNvPr id="22" name="Text 22"/>
          <p:cNvSpPr txBox="1"/>
          <p:nvPr/>
        </p:nvSpPr>
        <p:spPr>
          <a:xfrm>
            <a:off x="6949440" y="2880360"/>
            <a:ext cx="4251960" cy="420624"/>
          </a:xfrm>
          <a:prstGeom prst="rect">
            <a:avLst/>
          </a:prstGeom>
          <a:noFill/>
          <a:ln/>
        </p:spPr>
        <p:txBody>
          <a:bodyPr wrap="square" lIns="0" tIns="0" rIns="0" bIns="0" rtlCol="0" anchor="ctr"/>
          <a:lstStyle/>
          <a:p>
            <a:pPr marL="0" indent="0" algn="l">
              <a:lnSpc>
                <a:spcPct val="105000"/>
              </a:lnSpc>
              <a:buNone/>
            </a:pPr>
            <a:r>
              <a:rPr lang="en-GB" sz="1250" dirty="0">
                <a:solidFill>
                  <a:srgbClr val="FFFFFF"/>
                </a:solidFill>
                <a:latin typeface="Inter Text" pitchFamily="34" charset="0"/>
                <a:ea typeface="Inter Text" pitchFamily="34" charset="-122"/>
                <a:cs typeface="Inter Text" pitchFamily="34" charset="-120"/>
              </a:rPr>
              <a:t>The price with fewer decimal places is the original one and leads</a:t>
            </a:r>
          </a:p>
        </p:txBody>
      </p:sp>
      <p:sp>
        <p:nvSpPr>
          <p:cNvPr id="23" name="Shape 23"/>
          <p:cNvSpPr/>
          <p:nvPr/>
        </p:nvSpPr>
        <p:spPr>
          <a:xfrm>
            <a:off x="6492240" y="3511296"/>
            <a:ext cx="292608" cy="292608"/>
          </a:xfrm>
          <a:prstGeom prst="ellipse">
            <a:avLst/>
          </a:prstGeom>
          <a:solidFill>
            <a:srgbClr val="19C3C8"/>
          </a:solidFill>
          <a:ln>
            <a:noFill/>
          </a:ln>
        </p:spPr>
        <p:txBody>
          <a:bodyPr/>
          <a:lstStyle/>
          <a:p>
            <a:endParaRPr lang="en-GB"/>
          </a:p>
        </p:txBody>
      </p:sp>
      <p:sp>
        <p:nvSpPr>
          <p:cNvPr id="24" name="Text 24"/>
          <p:cNvSpPr txBox="1"/>
          <p:nvPr/>
        </p:nvSpPr>
        <p:spPr>
          <a:xfrm>
            <a:off x="6492240" y="3511296"/>
            <a:ext cx="292608" cy="292608"/>
          </a:xfrm>
          <a:prstGeom prst="rect">
            <a:avLst/>
          </a:prstGeom>
          <a:noFill/>
          <a:ln/>
        </p:spPr>
        <p:txBody>
          <a:bodyPr wrap="square" lIns="0" tIns="0" rIns="0" bIns="0" rtlCol="0" anchor="ctr"/>
          <a:lstStyle/>
          <a:p>
            <a:pPr marL="0" indent="0" algn="ctr">
              <a:buNone/>
            </a:pPr>
            <a:r>
              <a:rPr lang="en-GB" sz="1200" dirty="0">
                <a:solidFill>
                  <a:srgbClr val="1A2B5E"/>
                </a:solidFill>
                <a:latin typeface="Inter SemiBold Text SemiBold" pitchFamily="34" charset="0"/>
                <a:ea typeface="Inter SemiBold Text SemiBold" pitchFamily="34" charset="-122"/>
                <a:cs typeface="Inter SemiBold Text SemiBold" pitchFamily="34" charset="-120"/>
              </a:rPr>
              <a:t>✓</a:t>
            </a:r>
          </a:p>
        </p:txBody>
      </p:sp>
      <p:sp>
        <p:nvSpPr>
          <p:cNvPr id="25" name="Text 25"/>
          <p:cNvSpPr txBox="1"/>
          <p:nvPr/>
        </p:nvSpPr>
        <p:spPr>
          <a:xfrm>
            <a:off x="6949440" y="3447288"/>
            <a:ext cx="4251960" cy="420624"/>
          </a:xfrm>
          <a:prstGeom prst="rect">
            <a:avLst/>
          </a:prstGeom>
          <a:noFill/>
          <a:ln/>
        </p:spPr>
        <p:txBody>
          <a:bodyPr wrap="square" lIns="0" tIns="0" rIns="0" bIns="0" rtlCol="0" anchor="ctr"/>
          <a:lstStyle/>
          <a:p>
            <a:pPr marL="0" indent="0" algn="l">
              <a:lnSpc>
                <a:spcPct val="105000"/>
              </a:lnSpc>
              <a:buNone/>
            </a:pPr>
            <a:r>
              <a:rPr lang="en-GB" sz="1250" dirty="0">
                <a:solidFill>
                  <a:srgbClr val="FFFFFF"/>
                </a:solidFill>
                <a:latin typeface="Inter Text" pitchFamily="34" charset="0"/>
                <a:ea typeface="Inter Text" pitchFamily="34" charset="-122"/>
                <a:cs typeface="Inter Text" pitchFamily="34" charset="-120"/>
              </a:rPr>
              <a:t>No conversion per line: lines are net (net model) or gross (gross model)</a:t>
            </a:r>
          </a:p>
        </p:txBody>
      </p:sp>
      <p:sp>
        <p:nvSpPr>
          <p:cNvPr id="26" name="Shape 26"/>
          <p:cNvSpPr/>
          <p:nvPr/>
        </p:nvSpPr>
        <p:spPr>
          <a:xfrm>
            <a:off x="6492240" y="4078224"/>
            <a:ext cx="292608" cy="292608"/>
          </a:xfrm>
          <a:prstGeom prst="ellipse">
            <a:avLst/>
          </a:prstGeom>
          <a:solidFill>
            <a:srgbClr val="19C3C8"/>
          </a:solidFill>
          <a:ln>
            <a:noFill/>
          </a:ln>
        </p:spPr>
        <p:txBody>
          <a:bodyPr/>
          <a:lstStyle/>
          <a:p>
            <a:endParaRPr lang="en-GB"/>
          </a:p>
        </p:txBody>
      </p:sp>
      <p:sp>
        <p:nvSpPr>
          <p:cNvPr id="27" name="Text 27"/>
          <p:cNvSpPr txBox="1"/>
          <p:nvPr/>
        </p:nvSpPr>
        <p:spPr>
          <a:xfrm>
            <a:off x="6492240" y="4078224"/>
            <a:ext cx="292608" cy="292608"/>
          </a:xfrm>
          <a:prstGeom prst="rect">
            <a:avLst/>
          </a:prstGeom>
          <a:noFill/>
          <a:ln/>
        </p:spPr>
        <p:txBody>
          <a:bodyPr wrap="square" lIns="0" tIns="0" rIns="0" bIns="0" rtlCol="0" anchor="ctr"/>
          <a:lstStyle/>
          <a:p>
            <a:pPr marL="0" indent="0" algn="ctr">
              <a:buNone/>
            </a:pPr>
            <a:r>
              <a:rPr lang="en-GB" sz="1200" dirty="0">
                <a:solidFill>
                  <a:srgbClr val="1A2B5E"/>
                </a:solidFill>
                <a:latin typeface="Inter SemiBold Text SemiBold" pitchFamily="34" charset="0"/>
                <a:ea typeface="Inter SemiBold Text SemiBold" pitchFamily="34" charset="-122"/>
                <a:cs typeface="Inter SemiBold Text SemiBold" pitchFamily="34" charset="-120"/>
              </a:rPr>
              <a:t>✓</a:t>
            </a:r>
          </a:p>
        </p:txBody>
      </p:sp>
      <p:sp>
        <p:nvSpPr>
          <p:cNvPr id="28" name="Text 28"/>
          <p:cNvSpPr txBox="1"/>
          <p:nvPr/>
        </p:nvSpPr>
        <p:spPr>
          <a:xfrm>
            <a:off x="6949440" y="4014216"/>
            <a:ext cx="4251960" cy="420624"/>
          </a:xfrm>
          <a:prstGeom prst="rect">
            <a:avLst/>
          </a:prstGeom>
          <a:noFill/>
          <a:ln/>
        </p:spPr>
        <p:txBody>
          <a:bodyPr wrap="square" lIns="0" tIns="0" rIns="0" bIns="0" rtlCol="0" anchor="ctr"/>
          <a:lstStyle/>
          <a:p>
            <a:pPr marL="0" indent="0" algn="l">
              <a:lnSpc>
                <a:spcPct val="105000"/>
              </a:lnSpc>
              <a:buNone/>
            </a:pPr>
            <a:r>
              <a:rPr lang="en-GB" sz="1250" dirty="0">
                <a:solidFill>
                  <a:srgbClr val="FFFFFF"/>
                </a:solidFill>
                <a:latin typeface="Inter Text" pitchFamily="34" charset="0"/>
                <a:ea typeface="Inter Text" pitchFamily="34" charset="-122"/>
                <a:cs typeface="Inter Text" pitchFamily="34" charset="-120"/>
              </a:rPr>
              <a:t>One conversion only: extract the VAT once per VAT rate (VAT first)</a:t>
            </a:r>
          </a:p>
        </p:txBody>
      </p:sp>
      <p:sp>
        <p:nvSpPr>
          <p:cNvPr id="29" name="Shape 29"/>
          <p:cNvSpPr/>
          <p:nvPr/>
        </p:nvSpPr>
        <p:spPr>
          <a:xfrm>
            <a:off x="6492240" y="4645152"/>
            <a:ext cx="292608" cy="292608"/>
          </a:xfrm>
          <a:prstGeom prst="ellipse">
            <a:avLst/>
          </a:prstGeom>
          <a:solidFill>
            <a:srgbClr val="19C3C8"/>
          </a:solidFill>
          <a:ln>
            <a:noFill/>
          </a:ln>
        </p:spPr>
        <p:txBody>
          <a:bodyPr/>
          <a:lstStyle/>
          <a:p>
            <a:endParaRPr lang="en-GB"/>
          </a:p>
        </p:txBody>
      </p:sp>
      <p:sp>
        <p:nvSpPr>
          <p:cNvPr id="30" name="Text 30"/>
          <p:cNvSpPr txBox="1"/>
          <p:nvPr/>
        </p:nvSpPr>
        <p:spPr>
          <a:xfrm>
            <a:off x="6492240" y="4645152"/>
            <a:ext cx="292608" cy="292608"/>
          </a:xfrm>
          <a:prstGeom prst="rect">
            <a:avLst/>
          </a:prstGeom>
          <a:noFill/>
          <a:ln/>
        </p:spPr>
        <p:txBody>
          <a:bodyPr wrap="square" lIns="0" tIns="0" rIns="0" bIns="0" rtlCol="0" anchor="ctr"/>
          <a:lstStyle/>
          <a:p>
            <a:pPr marL="0" indent="0" algn="ctr">
              <a:buNone/>
            </a:pPr>
            <a:r>
              <a:rPr lang="en-GB" sz="1200" dirty="0">
                <a:solidFill>
                  <a:srgbClr val="1A2B5E"/>
                </a:solidFill>
                <a:latin typeface="Inter SemiBold Text SemiBold" pitchFamily="34" charset="0"/>
                <a:ea typeface="Inter SemiBold Text SemiBold" pitchFamily="34" charset="-122"/>
                <a:cs typeface="Inter SemiBold Text SemiBold" pitchFamily="34" charset="-120"/>
              </a:rPr>
              <a:t>✓</a:t>
            </a:r>
          </a:p>
        </p:txBody>
      </p:sp>
      <p:sp>
        <p:nvSpPr>
          <p:cNvPr id="31" name="Text 31"/>
          <p:cNvSpPr txBox="1"/>
          <p:nvPr/>
        </p:nvSpPr>
        <p:spPr>
          <a:xfrm>
            <a:off x="6949440" y="4581144"/>
            <a:ext cx="4251960" cy="420624"/>
          </a:xfrm>
          <a:prstGeom prst="rect">
            <a:avLst/>
          </a:prstGeom>
          <a:noFill/>
          <a:ln/>
        </p:spPr>
        <p:txBody>
          <a:bodyPr wrap="square" lIns="0" tIns="0" rIns="0" bIns="0" rtlCol="0" anchor="ctr"/>
          <a:lstStyle/>
          <a:p>
            <a:pPr marL="0" indent="0" algn="l">
              <a:lnSpc>
                <a:spcPct val="105000"/>
              </a:lnSpc>
              <a:buNone/>
            </a:pPr>
            <a:r>
              <a:rPr lang="en-GB" sz="1250" dirty="0">
                <a:solidFill>
                  <a:srgbClr val="FFFFFF"/>
                </a:solidFill>
                <a:latin typeface="Inter Text" pitchFamily="34" charset="0"/>
                <a:ea typeface="Inter Text" pitchFamily="34" charset="-122"/>
                <a:cs typeface="Inter Text" pitchFamily="34" charset="-120"/>
              </a:rPr>
              <a:t>Net values only where the law requires them</a:t>
            </a:r>
          </a:p>
        </p:txBody>
      </p:sp>
      <p:sp>
        <p:nvSpPr>
          <p:cNvPr id="35" name="Pill 35"/>
          <p:cNvSpPr/>
          <p:nvPr/>
        </p:nvSpPr>
        <p:spPr>
          <a:xfrm>
            <a:off x="822960" y="5943600"/>
            <a:ext cx="10543032" cy="411480"/>
          </a:xfrm>
          <a:prstGeom prst="roundRect">
            <a:avLst>
              <a:gd name="adj" fmla="val 50000"/>
            </a:avLst>
          </a:prstGeom>
          <a:solidFill>
            <a:srgbClr val="F4F6FB"/>
          </a:solidFill>
          <a:ln w="9525">
            <a:solidFill>
              <a:srgbClr val="E2E7F2"/>
            </a:solidFill>
            <a:prstDash val="solid"/>
          </a:ln>
        </p:spPr>
        <p:txBody>
          <a:bodyPr wrap="square" lIns="36576" tIns="36576" rIns="36576" bIns="36576" rtlCol="0" anchor="ctr"/>
          <a:lstStyle/>
          <a:p>
            <a:pPr marL="0" indent="0" algn="ctr">
              <a:buNone/>
            </a:pPr>
            <a:r>
              <a:rPr lang="en-GB" sz="1100" dirty="0">
                <a:solidFill>
                  <a:srgbClr val="5B6890"/>
                </a:solidFill>
                <a:latin typeface="Inter SemiBold Text SemiBold" pitchFamily="34" charset="0"/>
                <a:ea typeface="Inter SemiBold Text SemiBold" pitchFamily="34" charset="-122"/>
                <a:cs typeface="Inter SemiBold Text SemiBold" pitchFamily="34" charset="-120"/>
              </a:rPr>
              <a:t>Net model:  </a:t>
            </a:r>
            <a:r>
              <a:rPr lang="en-GB" sz="1100" dirty="0">
                <a:solidFill>
                  <a:srgbClr val="5B6890"/>
                </a:solidFill>
                <a:latin typeface="Inter Text" pitchFamily="34" charset="0"/>
                <a:ea typeface="Inter Text" pitchFamily="34" charset="-122"/>
                <a:cs typeface="Inter Text" pitchFamily="34" charset="-120"/>
              </a:rPr>
              <a:t>net price leads, VAT added  ·  Gross model (#164): price plus VAT leads, VAT extracted</a:t>
            </a:r>
          </a:p>
        </p:txBody>
      </p:sp>
      <p:sp>
        <p:nvSpPr>
          <p:cNvPr id="36" name="Speaker 36">
            <a:hlinkClick r:id="rId5"/>
          </p:cNvPr>
          <p:cNvSpPr txBox="1"/>
          <p:nvPr/>
        </p:nvSpPr>
        <p:spPr>
          <a:xfrm>
            <a:off x="7680960" y="6514592"/>
            <a:ext cx="3154680" cy="292608"/>
          </a:xfrm>
          <a:prstGeom prst="rect">
            <a:avLst/>
          </a:prstGeom>
          <a:noFill/>
          <a:ln/>
        </p:spPr>
        <p:txBody>
          <a:bodyPr wrap="square" lIns="0" tIns="0" rIns="0" bIns="0" rtlCol="0" anchor="ctr"/>
          <a:lstStyle/>
          <a:p>
            <a:pPr marL="0" indent="0" algn="r">
              <a:buNone/>
            </a:pPr>
            <a:r>
              <a:rPr lang="en-GB" sz="1000" spc="100" dirty="0">
                <a:solidFill>
                  <a:srgbClr val="9AA4C2"/>
                </a:solidFill>
                <a:latin typeface="Inter Medium Text Medium" pitchFamily="34" charset="0"/>
                <a:ea typeface="Inter Medium Text Medium" pitchFamily="34" charset="-122"/>
                <a:cs typeface="Inter Medium Text Medium" pitchFamily="34" charset="-120"/>
              </a:rPr>
              <a:t>© Svante Schubert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Folie 32">
    <p:bg>
      <p:bgPr>
        <a:solidFill>
          <a:srgbClr val="F4F6FB"/>
        </a:solidFill>
        <a:effectLst/>
      </p:bgPr>
    </p:bg>
    <p:spTree>
      <p:nvGrpSpPr>
        <p:cNvPr id="1" name=""/>
        <p:cNvGrpSpPr/>
        <p:nvPr/>
      </p:nvGrpSpPr>
      <p:grpSpPr>
        <a:xfrm>
          <a:off x="0" y="0"/>
          <a:ext cx="0" cy="0"/>
          <a:chOff x="0" y="0"/>
          <a:chExt cx="0" cy="0"/>
        </a:xfrm>
      </p:grpSpPr>
      <p:sp>
        <p:nvSpPr>
          <p:cNvPr id="3" name="Header 3"/>
          <p:cNvSpPr txBox="1"/>
          <p:nvPr/>
        </p:nvSpPr>
        <p:spPr>
          <a:xfrm>
            <a:off x="822960" y="384048"/>
            <a:ext cx="7315200" cy="274320"/>
          </a:xfrm>
          <a:prstGeom prst="rect">
            <a:avLst/>
          </a:prstGeom>
          <a:noFill/>
          <a:ln/>
        </p:spPr>
        <p:txBody>
          <a:bodyPr wrap="square" lIns="0" tIns="0" rIns="0" bIns="0" rtlCol="0" anchor="ctr"/>
          <a:lstStyle/>
          <a:p>
            <a:pPr marL="0" indent="0" algn="l">
              <a:buNone/>
            </a:pPr>
            <a:r>
              <a:rPr lang="en-GB" sz="950" spc="100" dirty="0">
                <a:solidFill>
                  <a:srgbClr val="5B6890"/>
                </a:solidFill>
                <a:latin typeface="Inter Medium Text Medium" pitchFamily="34" charset="0"/>
                <a:ea typeface="Inter Medium Text Medium" pitchFamily="34" charset="-122"/>
                <a:cs typeface="Inter Medium Text Medium" pitchFamily="34" charset="-120"/>
              </a:rPr>
              <a:t>CEN/TC 434 WG1</a:t>
            </a:r>
            <a:r>
              <a:rPr lang="en-GB" sz="950" spc="100" dirty="0">
                <a:solidFill>
                  <a:srgbClr val="C2CADE"/>
                </a:solidFill>
                <a:latin typeface="Inter Text" pitchFamily="34" charset="0"/>
                <a:ea typeface="Inter Text" pitchFamily="34" charset="-122"/>
                <a:cs typeface="Inter Text" pitchFamily="34" charset="-120"/>
              </a:rPr>
              <a:t>   ·   </a:t>
            </a:r>
            <a:r>
              <a:rPr lang="en-GB" sz="950" spc="100" dirty="0">
                <a:solidFill>
                  <a:srgbClr val="9AA4C2"/>
                </a:solidFill>
                <a:latin typeface="Inter Text" pitchFamily="34" charset="0"/>
                <a:ea typeface="Inter Text" pitchFamily="34" charset="-122"/>
                <a:cs typeface="Inter Text" pitchFamily="34" charset="-120"/>
              </a:rPr>
              <a:t>EN 16931-1:2026 amendment · Gross prices and rounding</a:t>
            </a:r>
          </a:p>
        </p:txBody>
      </p:sp>
      <p:sp>
        <p:nvSpPr>
          <p:cNvPr id="4" name="SectionLabel 4"/>
          <p:cNvSpPr txBox="1"/>
          <p:nvPr/>
        </p:nvSpPr>
        <p:spPr>
          <a:xfrm>
            <a:off x="822960" y="868680"/>
            <a:ext cx="8229600" cy="274320"/>
          </a:xfrm>
          <a:prstGeom prst="rect">
            <a:avLst/>
          </a:prstGeom>
          <a:noFill/>
          <a:ln/>
        </p:spPr>
        <p:txBody>
          <a:bodyPr wrap="square" lIns="0" tIns="0" rIns="0" bIns="0" rtlCol="0" anchor="ctr"/>
          <a:lstStyle/>
          <a:p>
            <a:pPr marL="0" indent="0" algn="l">
              <a:buNone/>
            </a:pPr>
            <a:r>
              <a:rPr lang="en-GB" sz="1100" spc="300" dirty="0">
                <a:solidFill>
                  <a:srgbClr val="19C3C8"/>
                </a:solidFill>
                <a:latin typeface="Inter SemiBold Text SemiBold" pitchFamily="34" charset="0"/>
                <a:ea typeface="Inter SemiBold Text SemiBold" pitchFamily="34" charset="-122"/>
                <a:cs typeface="Inter SemiBold Text SemiBold" pitchFamily="34" charset="-120"/>
              </a:rPr>
              <a:t>AMENDMENT · PROPOSAL 1/2</a:t>
            </a:r>
          </a:p>
        </p:txBody>
      </p:sp>
      <p:sp>
        <p:nvSpPr>
          <p:cNvPr id="5" name="Title 5"/>
          <p:cNvSpPr txBox="1"/>
          <p:nvPr/>
        </p:nvSpPr>
        <p:spPr>
          <a:xfrm>
            <a:off x="804672" y="1115568"/>
            <a:ext cx="10424160" cy="822960"/>
          </a:xfrm>
          <a:prstGeom prst="rect">
            <a:avLst/>
          </a:prstGeom>
          <a:noFill/>
          <a:ln/>
        </p:spPr>
        <p:txBody>
          <a:bodyPr wrap="square" lIns="0" tIns="0" rIns="0" bIns="0" rtlCol="0" anchor="t"/>
          <a:lstStyle/>
          <a:p>
            <a:pPr marL="0" indent="0" algn="l">
              <a:buNone/>
            </a:pPr>
            <a:r>
              <a:rPr lang="en-GB" sz="3800" b="1" dirty="0">
                <a:solidFill>
                  <a:srgbClr val="1A2B5E"/>
                </a:solidFill>
                <a:latin typeface="Inter Text" pitchFamily="34" charset="0"/>
                <a:ea typeface="Inter Text" pitchFamily="34" charset="-122"/>
                <a:cs typeface="Inter Text" pitchFamily="34" charset="-120"/>
              </a:rPr>
              <a:t>Gross prices for the EN core </a:t>
            </a:r>
            <a:r>
              <a:rPr lang="en-GB" sz="3800" b="1" dirty="0">
                <a:solidFill>
                  <a:srgbClr val="1A2B5E"/>
                </a:solidFill>
                <a:latin typeface="Inter Text" pitchFamily="34" charset="0"/>
                <a:ea typeface="Inter Text" pitchFamily="34" charset="-122"/>
                <a:cs typeface="Inter Text" pitchFamily="34" charset="-120"/>
                <a:hlinkClick r:id="rId4">
                  <a:extLst>
                    <a:ext uri="{A12FA001-AC4F-418D-AE19-62706E023703}">
                      <ahyp:hlinkClr xmlns:ahyp="http://schemas.microsoft.com/office/drawing/2018/hyperlinkcolor" val="tx"/>
                    </a:ext>
                  </a:extLst>
                </a:hlinkClick>
              </a:rPr>
              <a:t>(#164)</a:t>
            </a:r>
          </a:p>
        </p:txBody>
      </p:sp>
      <p:sp>
        <p:nvSpPr>
          <p:cNvPr id="6" name="Tagline 6"/>
          <p:cNvSpPr txBox="1"/>
          <p:nvPr/>
        </p:nvSpPr>
        <p:spPr>
          <a:xfrm>
            <a:off x="822960" y="1865376"/>
            <a:ext cx="10424160" cy="320040"/>
          </a:xfrm>
          <a:prstGeom prst="rect">
            <a:avLst/>
          </a:prstGeom>
          <a:noFill/>
          <a:ln/>
        </p:spPr>
        <p:txBody>
          <a:bodyPr wrap="square" lIns="0" tIns="0" rIns="0" bIns="0" rtlCol="0" anchor="ctr"/>
          <a:lstStyle/>
          <a:p>
            <a:pPr marL="0" indent="0" algn="l">
              <a:buNone/>
            </a:pPr>
            <a:r>
              <a:rPr lang="en-GB" sz="1300" dirty="0">
                <a:solidFill>
                  <a:srgbClr val="5B6890"/>
                </a:solidFill>
                <a:latin typeface="Inter Text" pitchFamily="34" charset="0"/>
                <a:ea typeface="Inter Text" pitchFamily="34" charset="-122"/>
                <a:cs typeface="Inter Text" pitchFamily="34" charset="-120"/>
              </a:rPr>
              <a:t>If the price is fixed including VAT, it should lead the invoice.</a:t>
            </a:r>
          </a:p>
        </p:txBody>
      </p:sp>
      <p:sp>
        <p:nvSpPr>
          <p:cNvPr id="7" name="PageNum 7"/>
          <p:cNvSpPr txBox="1"/>
          <p:nvPr/>
        </p:nvSpPr>
        <p:spPr>
          <a:xfrm>
            <a:off x="10908792" y="6514592"/>
            <a:ext cx="822960" cy="292608"/>
          </a:xfrm>
          <a:prstGeom prst="rect">
            <a:avLst/>
          </a:prstGeom>
          <a:noFill/>
          <a:ln/>
        </p:spPr>
        <p:txBody>
          <a:bodyPr wrap="square" lIns="0" tIns="0" rIns="0" bIns="0" rtlCol="0" anchor="ctr"/>
          <a:lstStyle/>
          <a:p>
            <a:pPr marL="0" indent="0" algn="r">
              <a:buNone/>
            </a:pPr>
            <a:fld id="{F34489CF-F034-4AFD-9989-E9C20810832A}" type="slidenum">
              <a:rPr lang="en-GB" sz="1000" spc="200" dirty="0">
                <a:solidFill>
                  <a:srgbClr val="5B6890"/>
                </a:solidFill>
                <a:latin typeface="Inter SemiBold Text SemiBold" pitchFamily="34" charset="0"/>
                <a:ea typeface="Inter SemiBold Text SemiBold" pitchFamily="34" charset="-122"/>
                <a:cs typeface="Inter SemiBold Text SemiBold" pitchFamily="34" charset="-120"/>
              </a:rPr>
              <a:t>11</a:t>
            </a:fld>
            <a:endParaRPr lang="en-GB" sz="1000" spc="200" dirty="0">
              <a:solidFill>
                <a:srgbClr val="5B6890"/>
              </a:solidFill>
              <a:latin typeface="Inter SemiBold Text SemiBold" pitchFamily="34" charset="0"/>
              <a:ea typeface="Inter SemiBold Text SemiBold" pitchFamily="34" charset="-122"/>
              <a:cs typeface="Inter SemiBold Text SemiBold" pitchFamily="34" charset="-120"/>
            </a:endParaRPr>
          </a:p>
        </p:txBody>
      </p:sp>
      <p:graphicFrame>
        <p:nvGraphicFramePr>
          <p:cNvPr id="8" name="Table 8"/>
          <p:cNvGraphicFramePr>
            <a:graphicFrameLocks noGrp="1"/>
          </p:cNvGraphicFramePr>
          <p:nvPr/>
        </p:nvGraphicFramePr>
        <p:xfrm>
          <a:off x="822960" y="2331720"/>
          <a:ext cx="6537960" cy="2487168"/>
        </p:xfrm>
        <a:graphic>
          <a:graphicData uri="http://schemas.openxmlformats.org/drawingml/2006/table">
            <a:tbl>
              <a:tblPr firstRow="1" bandRow="1"/>
              <a:tblGrid>
                <a:gridCol w="141732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384048">
                <a:tc>
                  <a:txBody>
                    <a:bodyPr/>
                    <a:lstStyle/>
                    <a:p>
                      <a:pPr marL="0" indent="0" algn="l">
                        <a:buNone/>
                      </a:pPr>
                      <a:r>
                        <a:rPr lang="en-GB" sz="1050" dirty="0">
                          <a:solidFill>
                            <a:srgbClr val="FFFFFF"/>
                          </a:solidFill>
                          <a:latin typeface="Inter SemiBold Text SemiBold" pitchFamily="34" charset="0"/>
                          <a:ea typeface="Inter SemiBold Text SemiBold" pitchFamily="34" charset="-122"/>
                          <a:cs typeface="Inter SemiBold Text SemiBold" pitchFamily="34" charset="-120"/>
                        </a:rPr>
                        <a:t>Step</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1A2B5E"/>
                    </a:solidFill>
                  </a:tcPr>
                </a:tc>
                <a:tc>
                  <a:txBody>
                    <a:bodyPr/>
                    <a:lstStyle/>
                    <a:p>
                      <a:pPr marL="0" indent="0" algn="l">
                        <a:buNone/>
                      </a:pPr>
                      <a:r>
                        <a:rPr lang="en-GB" sz="1050" dirty="0">
                          <a:solidFill>
                            <a:srgbClr val="FFFFFF"/>
                          </a:solidFill>
                          <a:latin typeface="Inter SemiBold Text SemiBold" pitchFamily="34" charset="0"/>
                          <a:ea typeface="Inter SemiBold Text SemiBold" pitchFamily="34" charset="-122"/>
                          <a:cs typeface="Inter SemiBold Text SemiBold" pitchFamily="34" charset="-120"/>
                        </a:rPr>
                        <a:t>Net model (today)</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1A2B5E"/>
                    </a:solidFill>
                  </a:tcPr>
                </a:tc>
                <a:tc>
                  <a:txBody>
                    <a:bodyPr/>
                    <a:lstStyle/>
                    <a:p>
                      <a:pPr marL="0" indent="0" algn="l">
                        <a:buNone/>
                      </a:pPr>
                      <a:r>
                        <a:rPr lang="en-GB" sz="1050" dirty="0">
                          <a:solidFill>
                            <a:srgbClr val="FFFFFF"/>
                          </a:solidFill>
                          <a:latin typeface="Inter SemiBold Text SemiBold" pitchFamily="34" charset="0"/>
                          <a:ea typeface="Inter SemiBold Text SemiBold" pitchFamily="34" charset="-122"/>
                          <a:cs typeface="Inter SemiBold Text SemiBold" pitchFamily="34" charset="-120"/>
                        </a:rPr>
                        <a:t>Gross model (new)</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1A2B5E"/>
                    </a:solidFill>
                  </a:tcPr>
                </a:tc>
                <a:extLst>
                  <a:ext uri="{0D108BD9-81ED-4DB2-BD59-A6C34878D82A}">
                    <a16:rowId xmlns:a16="http://schemas.microsoft.com/office/drawing/2014/main" val="10000"/>
                  </a:ext>
                </a:extLst>
              </a:tr>
              <a:tr h="420624">
                <a:tc>
                  <a:txBody>
                    <a:bodyPr/>
                    <a:lstStyle/>
                    <a:p>
                      <a:pPr marL="0" indent="0" algn="l">
                        <a:buNone/>
                      </a:pPr>
                      <a:r>
                        <a:rPr lang="en-GB" sz="1100" dirty="0">
                          <a:solidFill>
                            <a:srgbClr val="1A2B5E"/>
                          </a:solidFill>
                          <a:latin typeface="Inter SemiBold Text SemiBold" pitchFamily="34" charset="0"/>
                          <a:ea typeface="Inter SemiBold Text SemiBold" pitchFamily="34" charset="-122"/>
                          <a:cs typeface="Inter SemiBold Text SemiBold" pitchFamily="34" charset="-120"/>
                        </a:rPr>
                        <a:t>Price</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FFF"/>
                    </a:solidFill>
                  </a:tcPr>
                </a:tc>
                <a:tc>
                  <a:txBody>
                    <a:bodyPr/>
                    <a:lstStyle/>
                    <a:p>
                      <a:pPr marL="0" indent="0" algn="l">
                        <a:buNone/>
                      </a:pPr>
                      <a:r>
                        <a:rPr lang="en-GB" sz="1100" dirty="0">
                          <a:solidFill>
                            <a:srgbClr val="5B6890"/>
                          </a:solidFill>
                          <a:latin typeface="Inter Text" pitchFamily="34" charset="0"/>
                          <a:ea typeface="Inter Text" pitchFamily="34" charset="-122"/>
                          <a:cs typeface="Inter Text" pitchFamily="34" charset="-120"/>
                        </a:rPr>
                        <a:t>BT-146 Item net price</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FFF"/>
                    </a:solidFill>
                  </a:tcPr>
                </a:tc>
                <a:tc>
                  <a:txBody>
                    <a:bodyPr/>
                    <a:lstStyle/>
                    <a:p>
                      <a:pPr marL="0" indent="0" algn="l">
                        <a:buNone/>
                      </a:pPr>
                      <a:r>
                        <a:rPr lang="en-GB" sz="1100" dirty="0">
                          <a:solidFill>
                            <a:srgbClr val="5B6890"/>
                          </a:solidFill>
                          <a:latin typeface="Inter Text" pitchFamily="34" charset="0"/>
                          <a:ea typeface="Inter Text" pitchFamily="34" charset="-122"/>
                          <a:cs typeface="Inter Text" pitchFamily="34" charset="-120"/>
                        </a:rPr>
                        <a:t>BT-146V Item net price plus VAT</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FFF"/>
                    </a:solidFill>
                  </a:tcPr>
                </a:tc>
                <a:extLst>
                  <a:ext uri="{0D108BD9-81ED-4DB2-BD59-A6C34878D82A}">
                    <a16:rowId xmlns:a16="http://schemas.microsoft.com/office/drawing/2014/main" val="10001"/>
                  </a:ext>
                </a:extLst>
              </a:tr>
              <a:tr h="420624">
                <a:tc>
                  <a:txBody>
                    <a:bodyPr/>
                    <a:lstStyle/>
                    <a:p>
                      <a:pPr marL="0" indent="0" algn="l">
                        <a:buNone/>
                      </a:pPr>
                      <a:r>
                        <a:rPr lang="en-GB" sz="1100" dirty="0">
                          <a:solidFill>
                            <a:srgbClr val="1A2B5E"/>
                          </a:solidFill>
                          <a:latin typeface="Inter SemiBold Text SemiBold" pitchFamily="34" charset="0"/>
                          <a:ea typeface="Inter SemiBold Text SemiBold" pitchFamily="34" charset="-122"/>
                          <a:cs typeface="Inter SemiBold Text SemiBold" pitchFamily="34" charset="-120"/>
                        </a:rPr>
                        <a:t>Line</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7F9FD"/>
                    </a:solidFill>
                  </a:tcPr>
                </a:tc>
                <a:tc>
                  <a:txBody>
                    <a:bodyPr/>
                    <a:lstStyle/>
                    <a:p>
                      <a:pPr marL="0" indent="0" algn="l">
                        <a:buNone/>
                      </a:pPr>
                      <a:r>
                        <a:rPr lang="en-GB" sz="1100" dirty="0">
                          <a:solidFill>
                            <a:srgbClr val="5B6890"/>
                          </a:solidFill>
                          <a:latin typeface="Inter Text" pitchFamily="34" charset="0"/>
                          <a:ea typeface="Inter Text" pitchFamily="34" charset="-122"/>
                          <a:cs typeface="Inter Text" pitchFamily="34" charset="-120"/>
                        </a:rPr>
                        <a:t>BT-131 = price × quantity …</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7F9FD"/>
                    </a:solidFill>
                  </a:tcPr>
                </a:tc>
                <a:tc>
                  <a:txBody>
                    <a:bodyPr/>
                    <a:lstStyle/>
                    <a:p>
                      <a:pPr marL="0" indent="0" algn="l">
                        <a:buNone/>
                      </a:pPr>
                      <a:r>
                        <a:rPr lang="en-GB" sz="1100" dirty="0">
                          <a:solidFill>
                            <a:srgbClr val="5B6890"/>
                          </a:solidFill>
                          <a:latin typeface="Inter Text" pitchFamily="34" charset="0"/>
                          <a:ea typeface="Inter Text" pitchFamily="34" charset="-122"/>
                          <a:cs typeface="Inter Text" pitchFamily="34" charset="-120"/>
                        </a:rPr>
                        <a:t>BT-131V = price plus VAT × quantity …</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7F9FD"/>
                    </a:solidFill>
                  </a:tcPr>
                </a:tc>
                <a:extLst>
                  <a:ext uri="{0D108BD9-81ED-4DB2-BD59-A6C34878D82A}">
                    <a16:rowId xmlns:a16="http://schemas.microsoft.com/office/drawing/2014/main" val="10002"/>
                  </a:ext>
                </a:extLst>
              </a:tr>
              <a:tr h="420624">
                <a:tc>
                  <a:txBody>
                    <a:bodyPr/>
                    <a:lstStyle/>
                    <a:p>
                      <a:pPr marL="0" indent="0" algn="l">
                        <a:buNone/>
                      </a:pPr>
                      <a:r>
                        <a:rPr lang="en-GB" sz="1100" dirty="0">
                          <a:solidFill>
                            <a:srgbClr val="1A2B5E"/>
                          </a:solidFill>
                          <a:latin typeface="Inter SemiBold Text SemiBold" pitchFamily="34" charset="0"/>
                          <a:ea typeface="Inter SemiBold Text SemiBold" pitchFamily="34" charset="-122"/>
                          <a:cs typeface="Inter SemiBold Text SemiBold" pitchFamily="34" charset="-120"/>
                        </a:rPr>
                        <a:t>Per category</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FFF"/>
                    </a:solidFill>
                  </a:tcPr>
                </a:tc>
                <a:tc>
                  <a:txBody>
                    <a:bodyPr/>
                    <a:lstStyle/>
                    <a:p>
                      <a:pPr marL="0" indent="0" algn="l">
                        <a:buNone/>
                      </a:pPr>
                      <a:r>
                        <a:rPr lang="en-GB" sz="1100" dirty="0">
                          <a:solidFill>
                            <a:srgbClr val="5B6890"/>
                          </a:solidFill>
                          <a:latin typeface="Inter Text" pitchFamily="34" charset="0"/>
                          <a:ea typeface="Inter Text" pitchFamily="34" charset="-122"/>
                          <a:cs typeface="Inter Text" pitchFamily="34" charset="-120"/>
                        </a:rPr>
                        <a:t>BT-116 = Σ BT-131 …</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FFF"/>
                    </a:solidFill>
                  </a:tcPr>
                </a:tc>
                <a:tc>
                  <a:txBody>
                    <a:bodyPr/>
                    <a:lstStyle/>
                    <a:p>
                      <a:pPr marL="0" indent="0" algn="l">
                        <a:buNone/>
                      </a:pPr>
                      <a:r>
                        <a:rPr lang="en-GB" sz="1100" dirty="0">
                          <a:solidFill>
                            <a:srgbClr val="5B6890"/>
                          </a:solidFill>
                          <a:latin typeface="Inter Text" pitchFamily="34" charset="0"/>
                          <a:ea typeface="Inter Text" pitchFamily="34" charset="-122"/>
                          <a:cs typeface="Inter Text" pitchFamily="34" charset="-120"/>
                        </a:rPr>
                        <a:t>BT-116V = Σ BT-131V …</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FFF"/>
                    </a:solidFill>
                  </a:tcPr>
                </a:tc>
                <a:extLst>
                  <a:ext uri="{0D108BD9-81ED-4DB2-BD59-A6C34878D82A}">
                    <a16:rowId xmlns:a16="http://schemas.microsoft.com/office/drawing/2014/main" val="10003"/>
                  </a:ext>
                </a:extLst>
              </a:tr>
              <a:tr h="420624">
                <a:tc>
                  <a:txBody>
                    <a:bodyPr/>
                    <a:lstStyle/>
                    <a:p>
                      <a:pPr marL="0" indent="0" algn="l">
                        <a:buNone/>
                      </a:pPr>
                      <a:r>
                        <a:rPr lang="en-GB" sz="1100" dirty="0">
                          <a:solidFill>
                            <a:srgbClr val="1A2B5E"/>
                          </a:solidFill>
                          <a:latin typeface="Inter SemiBold Text SemiBold" pitchFamily="34" charset="0"/>
                          <a:ea typeface="Inter SemiBold Text SemiBold" pitchFamily="34" charset="-122"/>
                          <a:cs typeface="Inter SemiBold Text SemiBold" pitchFamily="34" charset="-120"/>
                        </a:rPr>
                        <a:t>VAT</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7F9FD"/>
                    </a:solidFill>
                  </a:tcPr>
                </a:tc>
                <a:tc>
                  <a:txBody>
                    <a:bodyPr/>
                    <a:lstStyle/>
                    <a:p>
                      <a:pPr marL="0" indent="0" algn="l">
                        <a:buNone/>
                      </a:pPr>
                      <a:r>
                        <a:rPr lang="en-GB" sz="1100" dirty="0">
                          <a:solidFill>
                            <a:srgbClr val="5B6890"/>
                          </a:solidFill>
                          <a:latin typeface="Inter Text" pitchFamily="34" charset="0"/>
                          <a:ea typeface="Inter Text" pitchFamily="34" charset="-122"/>
                          <a:cs typeface="Inter Text" pitchFamily="34" charset="-120"/>
                        </a:rPr>
                        <a:t>BT-117 = BT-116 × rate</a:t>
                      </a:r>
                      <a:r>
                        <a:rPr lang="en-GB" sz="1000" dirty="0">
                          <a:solidFill>
                            <a:srgbClr val="9AA4C2"/>
                          </a:solidFill>
                          <a:latin typeface="Inter Text" pitchFamily="34" charset="0"/>
                          <a:ea typeface="Inter Text" pitchFamily="34" charset="-122"/>
                          <a:cs typeface="Inter Text" pitchFamily="34" charset="-120"/>
                        </a:rPr>
                        <a:t>  added</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7F9FD"/>
                    </a:solidFill>
                  </a:tcPr>
                </a:tc>
                <a:tc>
                  <a:txBody>
                    <a:bodyPr/>
                    <a:lstStyle/>
                    <a:p>
                      <a:pPr marL="0" indent="0" algn="l">
                        <a:buNone/>
                      </a:pPr>
                      <a:r>
                        <a:rPr lang="en-GB" sz="1100" dirty="0">
                          <a:solidFill>
                            <a:srgbClr val="5B6890"/>
                          </a:solidFill>
                          <a:latin typeface="Inter Text" pitchFamily="34" charset="0"/>
                          <a:ea typeface="Inter Text" pitchFamily="34" charset="-122"/>
                          <a:cs typeface="Inter Text" pitchFamily="34" charset="-120"/>
                        </a:rPr>
                        <a:t>BT-117 = BT-116V × rate ÷ (100 + rate)</a:t>
                      </a:r>
                      <a:r>
                        <a:rPr lang="en-GB" sz="1000" dirty="0">
                          <a:solidFill>
                            <a:srgbClr val="0E7E82"/>
                          </a:solidFill>
                          <a:latin typeface="Inter SemiBold Text SemiBold" pitchFamily="34" charset="0"/>
                          <a:ea typeface="Inter SemiBold Text SemiBold" pitchFamily="34" charset="-122"/>
                          <a:cs typeface="Inter SemiBold Text SemiBold" pitchFamily="34" charset="-120"/>
                        </a:rPr>
                        <a:t>  extracted</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7F9FD"/>
                    </a:solidFill>
                  </a:tcPr>
                </a:tc>
                <a:extLst>
                  <a:ext uri="{0D108BD9-81ED-4DB2-BD59-A6C34878D82A}">
                    <a16:rowId xmlns:a16="http://schemas.microsoft.com/office/drawing/2014/main" val="10004"/>
                  </a:ext>
                </a:extLst>
              </a:tr>
              <a:tr h="420624">
                <a:tc>
                  <a:txBody>
                    <a:bodyPr/>
                    <a:lstStyle/>
                    <a:p>
                      <a:pPr marL="0" indent="0" algn="l">
                        <a:buNone/>
                      </a:pPr>
                      <a:r>
                        <a:rPr lang="en-GB" sz="1100" dirty="0">
                          <a:solidFill>
                            <a:srgbClr val="1A2B5E"/>
                          </a:solidFill>
                          <a:latin typeface="Inter SemiBold Text SemiBold" pitchFamily="34" charset="0"/>
                          <a:ea typeface="Inter SemiBold Text SemiBold" pitchFamily="34" charset="-122"/>
                          <a:cs typeface="Inter SemiBold Text SemiBold" pitchFamily="34" charset="-120"/>
                        </a:rPr>
                        <a:t>Net per category</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FFF"/>
                    </a:solidFill>
                  </a:tcPr>
                </a:tc>
                <a:tc>
                  <a:txBody>
                    <a:bodyPr/>
                    <a:lstStyle/>
                    <a:p>
                      <a:pPr marL="0" indent="0" algn="l">
                        <a:buNone/>
                      </a:pPr>
                      <a:r>
                        <a:rPr lang="en-GB" sz="1100" dirty="0">
                          <a:solidFill>
                            <a:srgbClr val="5B6890"/>
                          </a:solidFill>
                          <a:latin typeface="Inter Text" pitchFamily="34" charset="0"/>
                          <a:ea typeface="Inter Text" pitchFamily="34" charset="-122"/>
                          <a:cs typeface="Inter Text" pitchFamily="34" charset="-120"/>
                        </a:rPr>
                        <a:t>(given)</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FFF"/>
                    </a:solidFill>
                  </a:tcPr>
                </a:tc>
                <a:tc>
                  <a:txBody>
                    <a:bodyPr/>
                    <a:lstStyle/>
                    <a:p>
                      <a:pPr marL="0" indent="0" algn="l">
                        <a:buNone/>
                      </a:pPr>
                      <a:r>
                        <a:rPr lang="en-GB" sz="1100" dirty="0">
                          <a:solidFill>
                            <a:srgbClr val="5B6890"/>
                          </a:solidFill>
                          <a:latin typeface="Inter Text" pitchFamily="34" charset="0"/>
                          <a:ea typeface="Inter Text" pitchFamily="34" charset="-122"/>
                          <a:cs typeface="Inter Text" pitchFamily="34" charset="-120"/>
                        </a:rPr>
                        <a:t>BT-116 = BT-116V − BT-117</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FFF"/>
                    </a:solidFill>
                  </a:tcPr>
                </a:tc>
                <a:extLst>
                  <a:ext uri="{0D108BD9-81ED-4DB2-BD59-A6C34878D82A}">
                    <a16:rowId xmlns:a16="http://schemas.microsoft.com/office/drawing/2014/main" val="10005"/>
                  </a:ext>
                </a:extLst>
              </a:tr>
            </a:tbl>
          </a:graphicData>
        </a:graphic>
      </p:graphicFrame>
      <p:sp>
        <p:nvSpPr>
          <p:cNvPr id="9" name="Text 9"/>
          <p:cNvSpPr txBox="1"/>
          <p:nvPr/>
        </p:nvSpPr>
        <p:spPr>
          <a:xfrm>
            <a:off x="822960" y="4937760"/>
            <a:ext cx="6537960" cy="914400"/>
          </a:xfrm>
          <a:prstGeom prst="rect">
            <a:avLst/>
          </a:prstGeom>
          <a:noFill/>
          <a:ln/>
        </p:spPr>
        <p:txBody>
          <a:bodyPr wrap="square" lIns="0" tIns="0" rIns="0" bIns="0" rtlCol="0" anchor="t"/>
          <a:lstStyle/>
          <a:p>
            <a:pPr marL="0" indent="0" algn="l">
              <a:lnSpc>
                <a:spcPct val="110000"/>
              </a:lnSpc>
              <a:buNone/>
            </a:pPr>
            <a:r>
              <a:rPr lang="en-GB" sz="1100" dirty="0">
                <a:solidFill>
                  <a:srgbClr val="5B6890"/>
                </a:solidFill>
                <a:latin typeface="Inter Text" pitchFamily="34" charset="0"/>
                <a:ea typeface="Inter Text" pitchFamily="34" charset="-122"/>
                <a:cs typeface="Inter Text" pitchFamily="34" charset="-120"/>
              </a:rPr>
              <a:t>BT-146V on each line selects the model; an indicator may confirm it. BT-146 remains mandatory (</a:t>
            </a:r>
            <a:r>
              <a:rPr lang="en-GB" sz="1100" dirty="0">
                <a:solidFill>
                  <a:srgbClr val="5B6890"/>
                </a:solidFill>
                <a:latin typeface="Inter Text" pitchFamily="34" charset="0"/>
                <a:ea typeface="Inter Text" pitchFamily="34" charset="-122"/>
                <a:cs typeface="Inter Text" pitchFamily="34" charset="-120"/>
                <a:hlinkClick r:id="rId5">
                  <a:extLst>
                    <a:ext uri="{A12FA001-AC4F-418D-AE19-62706E023703}">
                      <ahyp:hlinkClr xmlns:ahyp="http://schemas.microsoft.com/office/drawing/2018/hyperlinkcolor" val="tx"/>
                    </a:ext>
                  </a:extLst>
                </a:hlinkClick>
              </a:rPr>
              <a:t>Art. 226(8) VAT Directive</a:t>
            </a:r>
            <a:r>
              <a:rPr lang="en-GB" sz="1100" dirty="0">
                <a:solidFill>
                  <a:srgbClr val="5B6890"/>
                </a:solidFill>
                <a:latin typeface="Inter Text" pitchFamily="34" charset="0"/>
                <a:ea typeface="Inter Text" pitchFamily="34" charset="-122"/>
                <a:cs typeface="Inter Text" pitchFamily="34" charset="-120"/>
              </a:rPr>
              <a:t>), in the gross model for information only. Not for categories N, D, F, I, J.</a:t>
            </a:r>
          </a:p>
        </p:txBody>
      </p:sp>
      <p:sp>
        <p:nvSpPr>
          <p:cNvPr id="10" name="Panel 10"/>
          <p:cNvSpPr/>
          <p:nvPr/>
        </p:nvSpPr>
        <p:spPr>
          <a:xfrm>
            <a:off x="7589520" y="2331720"/>
            <a:ext cx="3776472" cy="3520440"/>
          </a:xfrm>
          <a:prstGeom prst="roundRect">
            <a:avLst>
              <a:gd name="adj" fmla="val 2597"/>
            </a:avLst>
          </a:prstGeom>
          <a:solidFill>
            <a:srgbClr val="1A2B5E"/>
          </a:solidFill>
          <a:ln>
            <a:noFill/>
          </a:ln>
          <a:effectLst>
            <a:outerShdw blurRad="101600" dist="38100" dir="5400000" algn="bl" rotWithShape="0">
              <a:srgbClr val="0A1230">
                <a:alpha val="18000"/>
              </a:srgbClr>
            </a:outerShdw>
          </a:effectLst>
        </p:spPr>
        <p:txBody>
          <a:bodyPr/>
          <a:lstStyle/>
          <a:p>
            <a:endParaRPr lang="en-GB"/>
          </a:p>
        </p:txBody>
      </p:sp>
      <p:sp>
        <p:nvSpPr>
          <p:cNvPr id="11" name="Text 11"/>
          <p:cNvSpPr txBox="1"/>
          <p:nvPr/>
        </p:nvSpPr>
        <p:spPr>
          <a:xfrm>
            <a:off x="7909560" y="2514600"/>
            <a:ext cx="3200400" cy="274320"/>
          </a:xfrm>
          <a:prstGeom prst="rect">
            <a:avLst/>
          </a:prstGeom>
          <a:noFill/>
          <a:ln/>
        </p:spPr>
        <p:txBody>
          <a:bodyPr wrap="square" lIns="0" tIns="0" rIns="0" bIns="0" rtlCol="0" anchor="ctr"/>
          <a:lstStyle/>
          <a:p>
            <a:pPr marL="0" indent="0" algn="l">
              <a:buNone/>
            </a:pPr>
            <a:r>
              <a:rPr lang="en-GB" sz="1050" spc="150" dirty="0">
                <a:solidFill>
                  <a:srgbClr val="19C3C8"/>
                </a:solidFill>
                <a:latin typeface="Inter SemiBold Text SemiBold" pitchFamily="34" charset="0"/>
                <a:ea typeface="Inter SemiBold Text SemiBold" pitchFamily="34" charset="-122"/>
                <a:cs typeface="Inter SemiBold Text SemiBold" pitchFamily="34" charset="-120"/>
              </a:rPr>
              <a:t>EXAMPLE: FIXED BOOK PRICES</a:t>
            </a:r>
          </a:p>
        </p:txBody>
      </p:sp>
      <p:sp>
        <p:nvSpPr>
          <p:cNvPr id="12" name="Text 12"/>
          <p:cNvSpPr txBox="1"/>
          <p:nvPr/>
        </p:nvSpPr>
        <p:spPr>
          <a:xfrm>
            <a:off x="7909560" y="2816352"/>
            <a:ext cx="3200400" cy="365760"/>
          </a:xfrm>
          <a:prstGeom prst="rect">
            <a:avLst/>
          </a:prstGeom>
          <a:noFill/>
          <a:ln/>
        </p:spPr>
        <p:txBody>
          <a:bodyPr wrap="square" lIns="0" tIns="0" rIns="0" bIns="0" rtlCol="0" anchor="ctr"/>
          <a:lstStyle/>
          <a:p>
            <a:pPr marL="0" indent="0" algn="l">
              <a:buNone/>
            </a:pPr>
            <a:r>
              <a:rPr lang="en-GB" sz="1300" dirty="0">
                <a:solidFill>
                  <a:srgbClr val="FFFFFF"/>
                </a:solidFill>
                <a:latin typeface="Inter SemiBold Text SemiBold" pitchFamily="34" charset="0"/>
                <a:ea typeface="Inter SemiBold Text SemiBold" pitchFamily="34" charset="-122"/>
                <a:cs typeface="Inter SemiBold Text SemiBold" pitchFamily="34" charset="-120"/>
              </a:rPr>
              <a:t>1,000 books at €24.95 incl. 7% VAT</a:t>
            </a:r>
          </a:p>
        </p:txBody>
      </p:sp>
      <p:sp>
        <p:nvSpPr>
          <p:cNvPr id="13" name="Text 13"/>
          <p:cNvSpPr txBox="1"/>
          <p:nvPr/>
        </p:nvSpPr>
        <p:spPr>
          <a:xfrm>
            <a:off x="7909560" y="3291840"/>
            <a:ext cx="1143000" cy="274320"/>
          </a:xfrm>
          <a:prstGeom prst="rect">
            <a:avLst/>
          </a:prstGeom>
          <a:noFill/>
          <a:ln/>
        </p:spPr>
        <p:txBody>
          <a:bodyPr wrap="square" lIns="0" tIns="0" rIns="0" bIns="0" rtlCol="0" anchor="ctr"/>
          <a:lstStyle/>
          <a:p>
            <a:pPr marL="0" indent="0" algn="l">
              <a:buNone/>
            </a:pPr>
            <a:endParaRPr/>
          </a:p>
        </p:txBody>
      </p:sp>
      <p:sp>
        <p:nvSpPr>
          <p:cNvPr id="14" name="Text 14"/>
          <p:cNvSpPr txBox="1"/>
          <p:nvPr/>
        </p:nvSpPr>
        <p:spPr>
          <a:xfrm>
            <a:off x="9052560" y="3291840"/>
            <a:ext cx="1143000" cy="274320"/>
          </a:xfrm>
          <a:prstGeom prst="rect">
            <a:avLst/>
          </a:prstGeom>
          <a:noFill/>
          <a:ln/>
        </p:spPr>
        <p:txBody>
          <a:bodyPr wrap="square" lIns="0" tIns="0" rIns="0" bIns="0" rtlCol="0" anchor="ctr"/>
          <a:lstStyle/>
          <a:p>
            <a:pPr marL="0" indent="0" algn="r">
              <a:buNone/>
            </a:pPr>
            <a:r>
              <a:rPr lang="en-GB" sz="1000" dirty="0">
                <a:solidFill>
                  <a:srgbClr val="9AA4C2"/>
                </a:solidFill>
                <a:latin typeface="Inter SemiBold Text SemiBold" pitchFamily="34" charset="0"/>
                <a:ea typeface="Inter SemiBold Text SemiBold" pitchFamily="34" charset="-122"/>
                <a:cs typeface="Inter SemiBold Text SemiBold" pitchFamily="34" charset="-120"/>
              </a:rPr>
              <a:t>Total</a:t>
            </a:r>
          </a:p>
        </p:txBody>
      </p:sp>
      <p:sp>
        <p:nvSpPr>
          <p:cNvPr id="15" name="Text 15"/>
          <p:cNvSpPr txBox="1"/>
          <p:nvPr/>
        </p:nvSpPr>
        <p:spPr>
          <a:xfrm>
            <a:off x="10195560" y="3291840"/>
            <a:ext cx="914400" cy="274320"/>
          </a:xfrm>
          <a:prstGeom prst="rect">
            <a:avLst/>
          </a:prstGeom>
          <a:noFill/>
          <a:ln/>
        </p:spPr>
        <p:txBody>
          <a:bodyPr wrap="square" lIns="0" tIns="0" rIns="0" bIns="0" rtlCol="0" anchor="ctr"/>
          <a:lstStyle/>
          <a:p>
            <a:pPr marL="0" indent="0" algn="r">
              <a:buNone/>
            </a:pPr>
            <a:r>
              <a:rPr lang="en-GB" sz="1000" dirty="0">
                <a:solidFill>
                  <a:srgbClr val="9AA4C2"/>
                </a:solidFill>
                <a:latin typeface="Inter SemiBold Text SemiBold" pitchFamily="34" charset="0"/>
                <a:ea typeface="Inter SemiBold Text SemiBold" pitchFamily="34" charset="-122"/>
                <a:cs typeface="Inter SemiBold Text SemiBold" pitchFamily="34" charset="-120"/>
              </a:rPr>
              <a:t>VAT</a:t>
            </a:r>
          </a:p>
        </p:txBody>
      </p:sp>
      <p:sp>
        <p:nvSpPr>
          <p:cNvPr id="16" name="Text 16"/>
          <p:cNvSpPr txBox="1"/>
          <p:nvPr/>
        </p:nvSpPr>
        <p:spPr>
          <a:xfrm>
            <a:off x="7909560" y="3611880"/>
            <a:ext cx="1143000" cy="365760"/>
          </a:xfrm>
          <a:prstGeom prst="rect">
            <a:avLst/>
          </a:prstGeom>
          <a:noFill/>
          <a:ln/>
        </p:spPr>
        <p:txBody>
          <a:bodyPr wrap="square" lIns="0" tIns="0" rIns="0" bIns="0" rtlCol="0" anchor="ctr"/>
          <a:lstStyle/>
          <a:p>
            <a:pPr marL="0" indent="0" algn="l">
              <a:buNone/>
            </a:pPr>
            <a:r>
              <a:rPr lang="en-GB" sz="1150" dirty="0">
                <a:solidFill>
                  <a:srgbClr val="C2CADE"/>
                </a:solidFill>
                <a:latin typeface="Inter Text" pitchFamily="34" charset="0"/>
                <a:ea typeface="Inter Text" pitchFamily="34" charset="-122"/>
                <a:cs typeface="Inter Text" pitchFamily="34" charset="-120"/>
              </a:rPr>
              <a:t>Target</a:t>
            </a:r>
          </a:p>
        </p:txBody>
      </p:sp>
      <p:sp>
        <p:nvSpPr>
          <p:cNvPr id="17" name="Text 17"/>
          <p:cNvSpPr txBox="1"/>
          <p:nvPr/>
        </p:nvSpPr>
        <p:spPr>
          <a:xfrm>
            <a:off x="9052560" y="3611880"/>
            <a:ext cx="1143000" cy="365760"/>
          </a:xfrm>
          <a:prstGeom prst="rect">
            <a:avLst/>
          </a:prstGeom>
          <a:noFill/>
          <a:ln/>
        </p:spPr>
        <p:txBody>
          <a:bodyPr wrap="square" lIns="0" tIns="0" rIns="0" bIns="0" rtlCol="0" anchor="ctr"/>
          <a:lstStyle/>
          <a:p>
            <a:pPr marL="0" indent="0" algn="r">
              <a:buNone/>
            </a:pPr>
            <a:r>
              <a:rPr lang="en-GB" sz="1200" b="1" dirty="0">
                <a:solidFill>
                  <a:srgbClr val="FFFFFF"/>
                </a:solidFill>
                <a:latin typeface="Consolas" pitchFamily="34" charset="0"/>
                <a:ea typeface="Consolas" pitchFamily="34" charset="-122"/>
                <a:cs typeface="Consolas" pitchFamily="34" charset="-120"/>
              </a:rPr>
              <a:t>24,950.00</a:t>
            </a:r>
          </a:p>
        </p:txBody>
      </p:sp>
      <p:sp>
        <p:nvSpPr>
          <p:cNvPr id="18" name="Text 18"/>
          <p:cNvSpPr txBox="1"/>
          <p:nvPr/>
        </p:nvSpPr>
        <p:spPr>
          <a:xfrm>
            <a:off x="10195560" y="3611880"/>
            <a:ext cx="914400" cy="365760"/>
          </a:xfrm>
          <a:prstGeom prst="rect">
            <a:avLst/>
          </a:prstGeom>
          <a:noFill/>
          <a:ln/>
        </p:spPr>
        <p:txBody>
          <a:bodyPr wrap="square" lIns="0" tIns="0" rIns="0" bIns="0" rtlCol="0" anchor="ctr"/>
          <a:lstStyle/>
          <a:p>
            <a:pPr marL="0" indent="0" algn="r">
              <a:buNone/>
            </a:pPr>
            <a:r>
              <a:rPr lang="en-GB" sz="1200" b="1" dirty="0">
                <a:solidFill>
                  <a:srgbClr val="FFFFFF"/>
                </a:solidFill>
                <a:latin typeface="Consolas" pitchFamily="34" charset="0"/>
                <a:ea typeface="Consolas" pitchFamily="34" charset="-122"/>
                <a:cs typeface="Consolas" pitchFamily="34" charset="-120"/>
              </a:rPr>
              <a:t>1,632.24</a:t>
            </a:r>
          </a:p>
        </p:txBody>
      </p:sp>
      <p:sp>
        <p:nvSpPr>
          <p:cNvPr id="19" name="Text 19"/>
          <p:cNvSpPr txBox="1"/>
          <p:nvPr/>
        </p:nvSpPr>
        <p:spPr>
          <a:xfrm>
            <a:off x="7909560" y="4087368"/>
            <a:ext cx="1143000" cy="365760"/>
          </a:xfrm>
          <a:prstGeom prst="rect">
            <a:avLst/>
          </a:prstGeom>
          <a:noFill/>
          <a:ln/>
        </p:spPr>
        <p:txBody>
          <a:bodyPr wrap="square" lIns="0" tIns="0" rIns="0" bIns="0" rtlCol="0" anchor="ctr"/>
          <a:lstStyle/>
          <a:p>
            <a:pPr marL="0" indent="0" algn="l">
              <a:buNone/>
            </a:pPr>
            <a:r>
              <a:rPr lang="en-GB" sz="1150" dirty="0">
                <a:solidFill>
                  <a:srgbClr val="C2CADE"/>
                </a:solidFill>
                <a:latin typeface="Inter Text" pitchFamily="34" charset="0"/>
                <a:ea typeface="Inter Text" pitchFamily="34" charset="-122"/>
                <a:cs typeface="Inter Text" pitchFamily="34" charset="-120"/>
              </a:rPr>
              <a:t>Net 2026</a:t>
            </a:r>
          </a:p>
        </p:txBody>
      </p:sp>
      <p:sp>
        <p:nvSpPr>
          <p:cNvPr id="20" name="Text 20"/>
          <p:cNvSpPr txBox="1"/>
          <p:nvPr/>
        </p:nvSpPr>
        <p:spPr>
          <a:xfrm>
            <a:off x="9052560" y="4087368"/>
            <a:ext cx="1143000" cy="365760"/>
          </a:xfrm>
          <a:prstGeom prst="rect">
            <a:avLst/>
          </a:prstGeom>
          <a:noFill/>
          <a:ln/>
        </p:spPr>
        <p:txBody>
          <a:bodyPr wrap="square" lIns="0" tIns="0" rIns="0" bIns="0" rtlCol="0" anchor="ctr"/>
          <a:lstStyle/>
          <a:p>
            <a:pPr marL="0" indent="0" algn="r">
              <a:buNone/>
            </a:pPr>
            <a:r>
              <a:rPr lang="en-GB" sz="1200" b="1" dirty="0">
                <a:solidFill>
                  <a:srgbClr val="FF8A80"/>
                </a:solidFill>
                <a:latin typeface="Consolas" pitchFamily="34" charset="0"/>
                <a:ea typeface="Consolas" pitchFamily="34" charset="-122"/>
                <a:cs typeface="Consolas" pitchFamily="34" charset="-120"/>
              </a:rPr>
              <a:t>24,950.05</a:t>
            </a:r>
          </a:p>
        </p:txBody>
      </p:sp>
      <p:sp>
        <p:nvSpPr>
          <p:cNvPr id="21" name="Text 21"/>
          <p:cNvSpPr txBox="1"/>
          <p:nvPr/>
        </p:nvSpPr>
        <p:spPr>
          <a:xfrm>
            <a:off x="10195560" y="4087368"/>
            <a:ext cx="914400" cy="365760"/>
          </a:xfrm>
          <a:prstGeom prst="rect">
            <a:avLst/>
          </a:prstGeom>
          <a:noFill/>
          <a:ln/>
        </p:spPr>
        <p:txBody>
          <a:bodyPr wrap="square" lIns="0" tIns="0" rIns="0" bIns="0" rtlCol="0" anchor="ctr"/>
          <a:lstStyle/>
          <a:p>
            <a:pPr marL="0" indent="0" algn="r">
              <a:buNone/>
            </a:pPr>
            <a:r>
              <a:rPr lang="en-GB" sz="1200" b="1" dirty="0">
                <a:solidFill>
                  <a:srgbClr val="FF8A80"/>
                </a:solidFill>
                <a:latin typeface="Consolas" pitchFamily="34" charset="0"/>
                <a:ea typeface="Consolas" pitchFamily="34" charset="-122"/>
                <a:cs typeface="Consolas" pitchFamily="34" charset="-120"/>
              </a:rPr>
              <a:t>1,632.25</a:t>
            </a:r>
          </a:p>
        </p:txBody>
      </p:sp>
      <p:sp>
        <p:nvSpPr>
          <p:cNvPr id="22" name="Text 22"/>
          <p:cNvSpPr txBox="1"/>
          <p:nvPr/>
        </p:nvSpPr>
        <p:spPr>
          <a:xfrm>
            <a:off x="7909560" y="4562856"/>
            <a:ext cx="1143000" cy="365760"/>
          </a:xfrm>
          <a:prstGeom prst="rect">
            <a:avLst/>
          </a:prstGeom>
          <a:noFill/>
          <a:ln/>
        </p:spPr>
        <p:txBody>
          <a:bodyPr wrap="square" lIns="0" tIns="0" rIns="0" bIns="0" rtlCol="0" anchor="ctr"/>
          <a:lstStyle/>
          <a:p>
            <a:pPr marL="0" indent="0" algn="l">
              <a:buNone/>
            </a:pPr>
            <a:r>
              <a:rPr lang="en-GB" sz="1150" dirty="0">
                <a:solidFill>
                  <a:srgbClr val="C2CADE"/>
                </a:solidFill>
                <a:latin typeface="Inter Text" pitchFamily="34" charset="0"/>
                <a:ea typeface="Inter Text" pitchFamily="34" charset="-122"/>
                <a:cs typeface="Inter Text" pitchFamily="34" charset="-120"/>
              </a:rPr>
              <a:t>Gross model</a:t>
            </a:r>
          </a:p>
        </p:txBody>
      </p:sp>
      <p:sp>
        <p:nvSpPr>
          <p:cNvPr id="23" name="Text 23"/>
          <p:cNvSpPr txBox="1"/>
          <p:nvPr/>
        </p:nvSpPr>
        <p:spPr>
          <a:xfrm>
            <a:off x="9052560" y="4562856"/>
            <a:ext cx="1143000" cy="365760"/>
          </a:xfrm>
          <a:prstGeom prst="rect">
            <a:avLst/>
          </a:prstGeom>
          <a:noFill/>
          <a:ln/>
        </p:spPr>
        <p:txBody>
          <a:bodyPr wrap="square" lIns="0" tIns="0" rIns="0" bIns="0" rtlCol="0" anchor="ctr"/>
          <a:lstStyle/>
          <a:p>
            <a:pPr marL="0" indent="0" algn="r">
              <a:buNone/>
            </a:pPr>
            <a:r>
              <a:rPr lang="en-GB" sz="1200" b="1" dirty="0">
                <a:solidFill>
                  <a:srgbClr val="58D6BB"/>
                </a:solidFill>
                <a:latin typeface="Consolas" pitchFamily="34" charset="0"/>
                <a:ea typeface="Consolas" pitchFamily="34" charset="-122"/>
                <a:cs typeface="Consolas" pitchFamily="34" charset="-120"/>
              </a:rPr>
              <a:t>24,950.00</a:t>
            </a:r>
          </a:p>
        </p:txBody>
      </p:sp>
      <p:sp>
        <p:nvSpPr>
          <p:cNvPr id="24" name="Text 24"/>
          <p:cNvSpPr txBox="1"/>
          <p:nvPr/>
        </p:nvSpPr>
        <p:spPr>
          <a:xfrm>
            <a:off x="10195560" y="4562856"/>
            <a:ext cx="914400" cy="365760"/>
          </a:xfrm>
          <a:prstGeom prst="rect">
            <a:avLst/>
          </a:prstGeom>
          <a:noFill/>
          <a:ln/>
        </p:spPr>
        <p:txBody>
          <a:bodyPr wrap="square" lIns="0" tIns="0" rIns="0" bIns="0" rtlCol="0" anchor="ctr"/>
          <a:lstStyle/>
          <a:p>
            <a:pPr marL="0" indent="0" algn="r">
              <a:buNone/>
            </a:pPr>
            <a:r>
              <a:rPr lang="en-GB" sz="1200" b="1" dirty="0">
                <a:solidFill>
                  <a:srgbClr val="58D6BB"/>
                </a:solidFill>
                <a:latin typeface="Consolas" pitchFamily="34" charset="0"/>
                <a:ea typeface="Consolas" pitchFamily="34" charset="-122"/>
                <a:cs typeface="Consolas" pitchFamily="34" charset="-120"/>
              </a:rPr>
              <a:t>1,632.24</a:t>
            </a:r>
          </a:p>
        </p:txBody>
      </p:sp>
      <p:sp>
        <p:nvSpPr>
          <p:cNvPr id="25" name="Shape 25"/>
          <p:cNvSpPr/>
          <p:nvPr/>
        </p:nvSpPr>
        <p:spPr>
          <a:xfrm>
            <a:off x="7909560" y="5120640"/>
            <a:ext cx="3154680" cy="9144"/>
          </a:xfrm>
          <a:prstGeom prst="rect">
            <a:avLst/>
          </a:prstGeom>
          <a:solidFill>
            <a:srgbClr val="3A4A7A"/>
          </a:solidFill>
          <a:ln>
            <a:noFill/>
          </a:ln>
        </p:spPr>
        <p:txBody>
          <a:bodyPr/>
          <a:lstStyle/>
          <a:p>
            <a:endParaRPr lang="en-GB"/>
          </a:p>
        </p:txBody>
      </p:sp>
      <p:sp>
        <p:nvSpPr>
          <p:cNvPr id="26" name="Text 26"/>
          <p:cNvSpPr txBox="1"/>
          <p:nvPr/>
        </p:nvSpPr>
        <p:spPr>
          <a:xfrm>
            <a:off x="7909560" y="5193792"/>
            <a:ext cx="3200400" cy="594360"/>
          </a:xfrm>
          <a:prstGeom prst="rect">
            <a:avLst/>
          </a:prstGeom>
          <a:noFill/>
          <a:ln/>
        </p:spPr>
        <p:txBody>
          <a:bodyPr wrap="square" lIns="0" tIns="0" rIns="0" bIns="0" rtlCol="0" anchor="t"/>
          <a:lstStyle/>
          <a:p>
            <a:pPr marL="0" indent="0" algn="l">
              <a:lnSpc>
                <a:spcPct val="105000"/>
              </a:lnSpc>
              <a:buNone/>
            </a:pPr>
            <a:r>
              <a:rPr lang="en-GB" sz="1050" dirty="0">
                <a:solidFill>
                  <a:srgbClr val="C2CADE"/>
                </a:solidFill>
                <a:latin typeface="Inter Text" pitchFamily="34" charset="0"/>
                <a:ea typeface="Inter Text" pitchFamily="34" charset="-122"/>
                <a:cs typeface="Inter Text" pitchFamily="34" charset="-120"/>
              </a:rPr>
              <a:t>Net model: 5 cents too much, VAT 1 cent too high. Gross model, VAT first: €1,632.24299… rounded once to €1,632.24; the net amount is the remainder.</a:t>
            </a:r>
          </a:p>
        </p:txBody>
      </p:sp>
      <p:sp>
        <p:nvSpPr>
          <p:cNvPr id="27" name="Pill 27"/>
          <p:cNvSpPr/>
          <p:nvPr/>
        </p:nvSpPr>
        <p:spPr>
          <a:xfrm>
            <a:off x="822960" y="5943600"/>
            <a:ext cx="10543032" cy="411480"/>
          </a:xfrm>
          <a:prstGeom prst="roundRect">
            <a:avLst>
              <a:gd name="adj" fmla="val 50000"/>
            </a:avLst>
          </a:prstGeom>
          <a:solidFill>
            <a:srgbClr val="E7F8F8"/>
          </a:solidFill>
          <a:ln w="9525">
            <a:solidFill>
              <a:srgbClr val="B5E9EA"/>
            </a:solidFill>
            <a:prstDash val="solid"/>
          </a:ln>
        </p:spPr>
        <p:txBody>
          <a:bodyPr wrap="square" lIns="36576" tIns="36576" rIns="36576" bIns="36576" rtlCol="0" anchor="ctr"/>
          <a:lstStyle/>
          <a:p>
            <a:pPr marL="0" indent="0" algn="ctr">
              <a:buNone/>
            </a:pPr>
            <a:r>
              <a:rPr lang="en-GB" sz="1200" dirty="0">
                <a:solidFill>
                  <a:srgbClr val="5B6890"/>
                </a:solidFill>
                <a:latin typeface="Inter Text" pitchFamily="34" charset="0"/>
                <a:ea typeface="Inter Text" pitchFamily="34" charset="-122"/>
                <a:cs typeface="Inter Text" pitchFamily="34" charset="-120"/>
              </a:rPr>
              <a:t>Use cases:  </a:t>
            </a:r>
            <a:r>
              <a:rPr lang="en-GB" sz="1200" dirty="0">
                <a:solidFill>
                  <a:srgbClr val="0E7E82"/>
                </a:solidFill>
                <a:latin typeface="Inter SemiBold Text SemiBold" pitchFamily="34" charset="0"/>
                <a:ea typeface="Inter SemiBold Text SemiBold" pitchFamily="34" charset="-122"/>
                <a:cs typeface="Inter SemiBold Text SemiBold" pitchFamily="34" charset="-120"/>
              </a:rPr>
              <a:t>fixed book prices · receipt → invoice · retail and marketplaces · statutory gross prices</a:t>
            </a:r>
          </a:p>
        </p:txBody>
      </p:sp>
      <p:sp>
        <p:nvSpPr>
          <p:cNvPr id="28" name="Speaker 28">
            <a:hlinkClick r:id="rId3"/>
          </p:cNvPr>
          <p:cNvSpPr txBox="1"/>
          <p:nvPr/>
        </p:nvSpPr>
        <p:spPr>
          <a:xfrm>
            <a:off x="7680960" y="6514592"/>
            <a:ext cx="3154680" cy="292608"/>
          </a:xfrm>
          <a:prstGeom prst="rect">
            <a:avLst/>
          </a:prstGeom>
          <a:noFill/>
          <a:ln/>
        </p:spPr>
        <p:txBody>
          <a:bodyPr wrap="square" lIns="0" tIns="0" rIns="0" bIns="0" rtlCol="0" anchor="ctr"/>
          <a:lstStyle/>
          <a:p>
            <a:pPr marL="0" indent="0" algn="r">
              <a:buNone/>
            </a:pPr>
            <a:r>
              <a:rPr lang="en-GB" sz="1000" spc="100" dirty="0">
                <a:solidFill>
                  <a:srgbClr val="9AA4C2"/>
                </a:solidFill>
                <a:latin typeface="Inter Medium Text Medium" pitchFamily="34" charset="0"/>
                <a:ea typeface="Inter Medium Text Medium" pitchFamily="34" charset="-122"/>
                <a:cs typeface="Inter Medium Text Medium" pitchFamily="34" charset="-120"/>
              </a:rPr>
              <a:t>© Svante Schubert</a:t>
            </a:r>
          </a:p>
        </p:txBody>
      </p:sp>
      <p:sp>
        <p:nvSpPr>
          <p:cNvPr id="29" name="Callout 29"/>
          <p:cNvSpPr/>
          <p:nvPr/>
        </p:nvSpPr>
        <p:spPr>
          <a:xfrm>
            <a:off x="822960" y="5422392"/>
            <a:ext cx="6537960" cy="457200"/>
          </a:xfrm>
          <a:prstGeom prst="roundRect">
            <a:avLst>
              <a:gd name="adj" fmla="val 18000"/>
            </a:avLst>
          </a:prstGeom>
          <a:solidFill>
            <a:srgbClr val="FFF3E6"/>
          </a:solidFill>
          <a:ln w="9525">
            <a:solidFill>
              <a:srgbClr val="F5CFA3"/>
            </a:solidFill>
            <a:prstDash val="solid"/>
          </a:ln>
        </p:spPr>
        <p:txBody>
          <a:bodyPr wrap="square" lIns="91440" tIns="27432" rIns="91440" bIns="27432" rtlCol="0" anchor="ctr"/>
          <a:lstStyle/>
          <a:p>
            <a:pPr marL="0" indent="0" algn="l">
              <a:buNone/>
            </a:pPr>
            <a:r>
              <a:rPr lang="en-GB" sz="1050" dirty="0">
                <a:solidFill>
                  <a:srgbClr val="B85C0A"/>
                </a:solidFill>
                <a:latin typeface="Inter SemiBold Text SemiBold" pitchFamily="34" charset="0"/>
                <a:ea typeface="Inter SemiBold Text SemiBold" pitchFamily="34" charset="-122"/>
                <a:cs typeface="Inter SemiBold Text SemiBold" pitchFamily="34" charset="-120"/>
              </a:rPr>
              <a:t>Often impossible today: </a:t>
            </a:r>
            <a:r>
              <a:rPr lang="en-GB" sz="1050" dirty="0">
                <a:solidFill>
                  <a:srgbClr val="5B6890"/>
                </a:solidFill>
                <a:latin typeface="Inter Text" pitchFamily="34" charset="0"/>
                <a:ea typeface="Inter Text" pitchFamily="34" charset="-122"/>
                <a:cs typeface="Inter Text" pitchFamily="34" charset="-120"/>
              </a:rPr>
              <a:t>At 19% VAT, 16% of all gross amounts cannot be reached with net and VAT in the Minor Unit — €9.99 = 8.39 + 1.59 → 9.98. With 5 lines 52%, with 35 lines 81% miss the receipt total.</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Folie 31">
    <p:bg>
      <p:bgPr>
        <a:solidFill>
          <a:srgbClr val="F4F6FB"/>
        </a:solidFill>
        <a:effectLst/>
      </p:bgPr>
    </p:bg>
    <p:spTree>
      <p:nvGrpSpPr>
        <p:cNvPr id="1" name=""/>
        <p:cNvGrpSpPr/>
        <p:nvPr/>
      </p:nvGrpSpPr>
      <p:grpSpPr>
        <a:xfrm>
          <a:off x="0" y="0"/>
          <a:ext cx="0" cy="0"/>
          <a:chOff x="0" y="0"/>
          <a:chExt cx="0" cy="0"/>
        </a:xfrm>
      </p:grpSpPr>
      <p:sp>
        <p:nvSpPr>
          <p:cNvPr id="3" name="Header 3"/>
          <p:cNvSpPr txBox="1"/>
          <p:nvPr/>
        </p:nvSpPr>
        <p:spPr>
          <a:xfrm>
            <a:off x="822960" y="384048"/>
            <a:ext cx="7315200" cy="274320"/>
          </a:xfrm>
          <a:prstGeom prst="rect">
            <a:avLst/>
          </a:prstGeom>
          <a:noFill/>
          <a:ln/>
        </p:spPr>
        <p:txBody>
          <a:bodyPr wrap="square" lIns="0" tIns="0" rIns="0" bIns="0" rtlCol="0" anchor="ctr"/>
          <a:lstStyle/>
          <a:p>
            <a:pPr marL="0" indent="0" algn="l">
              <a:buNone/>
            </a:pPr>
            <a:r>
              <a:rPr lang="en-GB" sz="950" spc="100" dirty="0">
                <a:solidFill>
                  <a:srgbClr val="5B6890"/>
                </a:solidFill>
                <a:latin typeface="Inter Medium Text Medium" pitchFamily="34" charset="0"/>
                <a:ea typeface="Inter Medium Text Medium" pitchFamily="34" charset="-122"/>
                <a:cs typeface="Inter Medium Text Medium" pitchFamily="34" charset="-120"/>
              </a:rPr>
              <a:t>CEN/TC 434 WG1</a:t>
            </a:r>
            <a:r>
              <a:rPr lang="en-GB" sz="950" spc="100" dirty="0">
                <a:solidFill>
                  <a:srgbClr val="C2CADE"/>
                </a:solidFill>
                <a:latin typeface="Inter Text" pitchFamily="34" charset="0"/>
                <a:ea typeface="Inter Text" pitchFamily="34" charset="-122"/>
                <a:cs typeface="Inter Text" pitchFamily="34" charset="-120"/>
              </a:rPr>
              <a:t>   ·   </a:t>
            </a:r>
            <a:r>
              <a:rPr lang="en-GB" sz="950" spc="100" dirty="0">
                <a:solidFill>
                  <a:srgbClr val="9AA4C2"/>
                </a:solidFill>
                <a:latin typeface="Inter Text" pitchFamily="34" charset="0"/>
                <a:ea typeface="Inter Text" pitchFamily="34" charset="-122"/>
                <a:cs typeface="Inter Text" pitchFamily="34" charset="-120"/>
              </a:rPr>
              <a:t>EN 16931-1:2026 amendment · Gross prices and rounding</a:t>
            </a:r>
          </a:p>
        </p:txBody>
      </p:sp>
      <p:sp>
        <p:nvSpPr>
          <p:cNvPr id="4" name="SectionLabel 4"/>
          <p:cNvSpPr txBox="1"/>
          <p:nvPr/>
        </p:nvSpPr>
        <p:spPr>
          <a:xfrm>
            <a:off x="822960" y="868680"/>
            <a:ext cx="8229600" cy="274320"/>
          </a:xfrm>
          <a:prstGeom prst="rect">
            <a:avLst/>
          </a:prstGeom>
          <a:noFill/>
          <a:ln/>
        </p:spPr>
        <p:txBody>
          <a:bodyPr wrap="square" lIns="0" tIns="0" rIns="0" bIns="0" rtlCol="0" anchor="ctr"/>
          <a:lstStyle/>
          <a:p>
            <a:pPr marL="0" indent="0" algn="l">
              <a:buNone/>
            </a:pPr>
            <a:r>
              <a:rPr lang="en-GB" sz="1100" spc="300" dirty="0">
                <a:solidFill>
                  <a:srgbClr val="19C3C8"/>
                </a:solidFill>
                <a:latin typeface="Inter SemiBold Text SemiBold" pitchFamily="34" charset="0"/>
                <a:ea typeface="Inter SemiBold Text SemiBold" pitchFamily="34" charset="-122"/>
                <a:cs typeface="Inter SemiBold Text SemiBold" pitchFamily="34" charset="-120"/>
              </a:rPr>
              <a:t>GROSS MODEL </a:t>
            </a:r>
            <a:r>
              <a:rPr lang="en-GB" sz="1100" spc="300" dirty="0">
                <a:solidFill>
                  <a:srgbClr val="19C3C8"/>
                </a:solidFill>
                <a:latin typeface="Inter SemiBold Text SemiBold" pitchFamily="34" charset="0"/>
                <a:ea typeface="Inter SemiBold Text SemiBold" pitchFamily="34" charset="-122"/>
                <a:cs typeface="Inter SemiBold Text SemiBold" pitchFamily="34" charset="-120"/>
                <a:hlinkClick r:id="rId6">
                  <a:extLst>
                    <a:ext uri="{A12FA001-AC4F-418D-AE19-62706E023703}">
                      <ahyp:hlinkClr xmlns:ahyp="http://schemas.microsoft.com/office/drawing/2018/hyperlinkcolor" val="tx"/>
                    </a:ext>
                  </a:extLst>
                </a:hlinkClick>
              </a:rPr>
              <a:t>(#164)</a:t>
            </a:r>
            <a:r>
              <a:rPr lang="en-GB" sz="1100" spc="300" dirty="0">
                <a:solidFill>
                  <a:srgbClr val="19C3C8"/>
                </a:solidFill>
                <a:latin typeface="Inter SemiBold Text SemiBold" pitchFamily="34" charset="0"/>
                <a:ea typeface="Inter SemiBold Text SemiBold" pitchFamily="34" charset="-122"/>
                <a:cs typeface="Inter SemiBold Text SemiBold" pitchFamily="34" charset="-120"/>
              </a:rPr>
              <a:t> · DATA FLOW</a:t>
            </a:r>
          </a:p>
        </p:txBody>
      </p:sp>
      <p:sp>
        <p:nvSpPr>
          <p:cNvPr id="5" name="Title 5"/>
          <p:cNvSpPr txBox="1"/>
          <p:nvPr/>
        </p:nvSpPr>
        <p:spPr>
          <a:xfrm>
            <a:off x="804672" y="1115568"/>
            <a:ext cx="10424160" cy="822960"/>
          </a:xfrm>
          <a:prstGeom prst="rect">
            <a:avLst/>
          </a:prstGeom>
          <a:noFill/>
          <a:ln/>
        </p:spPr>
        <p:txBody>
          <a:bodyPr wrap="square" lIns="0" tIns="0" rIns="0" bIns="0" rtlCol="0" anchor="t"/>
          <a:lstStyle/>
          <a:p>
            <a:pPr marL="0" indent="0" algn="l">
              <a:buNone/>
            </a:pPr>
            <a:r>
              <a:rPr lang="en-GB" sz="3800" b="1" dirty="0">
                <a:solidFill>
                  <a:srgbClr val="1A2B5E"/>
                </a:solidFill>
                <a:latin typeface="Inter Text" pitchFamily="34" charset="0"/>
                <a:ea typeface="Inter Text" pitchFamily="34" charset="-122"/>
                <a:cs typeface="Inter Text" pitchFamily="34" charset="-120"/>
              </a:rPr>
              <a:t>One data flow, two directions</a:t>
            </a:r>
          </a:p>
        </p:txBody>
      </p:sp>
      <p:sp>
        <p:nvSpPr>
          <p:cNvPr id="6" name="Tagline 6"/>
          <p:cNvSpPr txBox="1"/>
          <p:nvPr/>
        </p:nvSpPr>
        <p:spPr>
          <a:xfrm>
            <a:off x="822960" y="1865376"/>
            <a:ext cx="10424160" cy="320040"/>
          </a:xfrm>
          <a:prstGeom prst="rect">
            <a:avLst/>
          </a:prstGeom>
          <a:noFill/>
          <a:ln/>
        </p:spPr>
        <p:txBody>
          <a:bodyPr wrap="square" lIns="0" tIns="0" rIns="0" bIns="0" rtlCol="0" anchor="ctr"/>
          <a:lstStyle/>
          <a:p>
            <a:pPr marL="0" indent="0" algn="l">
              <a:buNone/>
            </a:pPr>
            <a:r>
              <a:rPr lang="en-GB" sz="1300" dirty="0">
                <a:solidFill>
                  <a:srgbClr val="5B6890"/>
                </a:solidFill>
                <a:latin typeface="Inter Text" pitchFamily="34" charset="0"/>
                <a:ea typeface="Inter Text" pitchFamily="34" charset="-122"/>
                <a:cs typeface="Inter Text" pitchFamily="34" charset="-120"/>
              </a:rPr>
              <a:t>Same steps, mirrored business terms — they differ only where the VAT enters (orange).</a:t>
            </a:r>
          </a:p>
        </p:txBody>
      </p:sp>
      <p:sp>
        <p:nvSpPr>
          <p:cNvPr id="7" name="PageNum 7"/>
          <p:cNvSpPr txBox="1"/>
          <p:nvPr/>
        </p:nvSpPr>
        <p:spPr>
          <a:xfrm>
            <a:off x="10908792" y="6514592"/>
            <a:ext cx="822960" cy="292608"/>
          </a:xfrm>
          <a:prstGeom prst="rect">
            <a:avLst/>
          </a:prstGeom>
          <a:noFill/>
          <a:ln/>
        </p:spPr>
        <p:txBody>
          <a:bodyPr wrap="square" lIns="0" tIns="0" rIns="0" bIns="0" rtlCol="0" anchor="ctr"/>
          <a:lstStyle/>
          <a:p>
            <a:pPr marL="0" indent="0" algn="r">
              <a:buNone/>
            </a:pPr>
            <a:fld id="{67D73E2F-A595-473C-9F0C-80BA506D5B08}" type="slidenum">
              <a:rPr lang="en-GB" sz="1000" spc="200" dirty="0">
                <a:solidFill>
                  <a:srgbClr val="5B6890"/>
                </a:solidFill>
                <a:latin typeface="Inter SemiBold Text SemiBold" pitchFamily="34" charset="0"/>
                <a:ea typeface="Inter SemiBold Text SemiBold" pitchFamily="34" charset="-122"/>
                <a:cs typeface="Inter SemiBold Text SemiBold" pitchFamily="34" charset="-120"/>
              </a:rPr>
              <a:t>12</a:t>
            </a:fld>
            <a:endParaRPr lang="en-GB" sz="1000" spc="200" dirty="0">
              <a:solidFill>
                <a:srgbClr val="5B6890"/>
              </a:solidFill>
              <a:latin typeface="Inter SemiBold Text SemiBold" pitchFamily="34" charset="0"/>
              <a:ea typeface="Inter SemiBold Text SemiBold" pitchFamily="34" charset="-122"/>
              <a:cs typeface="Inter SemiBold Text SemiBold" pitchFamily="34" charset="-120"/>
            </a:endParaRPr>
          </a:p>
        </p:txBody>
      </p:sp>
      <p:sp>
        <p:nvSpPr>
          <p:cNvPr id="36" name="Speaker 36">
            <a:hlinkClick r:id="rId5"/>
          </p:cNvPr>
          <p:cNvSpPr txBox="1"/>
          <p:nvPr/>
        </p:nvSpPr>
        <p:spPr>
          <a:xfrm>
            <a:off x="7680960" y="6514592"/>
            <a:ext cx="3154680" cy="292608"/>
          </a:xfrm>
          <a:prstGeom prst="rect">
            <a:avLst/>
          </a:prstGeom>
          <a:noFill/>
          <a:ln/>
        </p:spPr>
        <p:txBody>
          <a:bodyPr wrap="square" lIns="0" tIns="0" rIns="0" bIns="0" rtlCol="0" anchor="ctr"/>
          <a:lstStyle/>
          <a:p>
            <a:pPr marL="0" indent="0" algn="r">
              <a:buNone/>
            </a:pPr>
            <a:r>
              <a:rPr lang="en-GB" sz="1000" spc="100" dirty="0">
                <a:solidFill>
                  <a:srgbClr val="9AA4C2"/>
                </a:solidFill>
                <a:latin typeface="Inter Medium Text Medium" pitchFamily="34" charset="0"/>
                <a:ea typeface="Inter Medium Text Medium" pitchFamily="34" charset="-122"/>
                <a:cs typeface="Inter Medium Text Medium" pitchFamily="34" charset="-120"/>
              </a:rPr>
              <a:t>© Svante Schubert</a:t>
            </a:r>
          </a:p>
        </p:txBody>
      </p:sp>
      <p:sp>
        <p:nvSpPr>
          <p:cNvPr id="37" name="TextBox 36"/>
          <p:cNvSpPr txBox="1"/>
          <p:nvPr/>
        </p:nvSpPr>
        <p:spPr>
          <a:xfrm>
            <a:off x="822960" y="2231136"/>
            <a:ext cx="4041648" cy="219456"/>
          </a:xfrm>
          <a:prstGeom prst="rect">
            <a:avLst/>
          </a:prstGeom>
          <a:noFill/>
        </p:spPr>
        <p:txBody>
          <a:bodyPr wrap="none" lIns="0" rIns="0" tIns="0" bIns="0" anchor="ctr">
            <a:spAutoFit/>
          </a:bodyPr>
          <a:lstStyle/>
          <a:p>
            <a:pPr algn="l"/>
            <a:r>
              <a:rPr sz="950" spc="200">
                <a:solidFill>
                  <a:srgbClr val="5B6890"/>
                </a:solidFill>
                <a:latin typeface="Inter SemiBold Text SemiBold"/>
              </a:rPr>
              <a:t>NET MODEL · BT-146 LEADS</a:t>
            </a:r>
          </a:p>
        </p:txBody>
      </p:sp>
      <p:sp>
        <p:nvSpPr>
          <p:cNvPr id="38" name="TextBox 37"/>
          <p:cNvSpPr txBox="1"/>
          <p:nvPr/>
        </p:nvSpPr>
        <p:spPr>
          <a:xfrm>
            <a:off x="4974336" y="2231136"/>
            <a:ext cx="2240280" cy="219456"/>
          </a:xfrm>
          <a:prstGeom prst="rect">
            <a:avLst/>
          </a:prstGeom>
          <a:noFill/>
        </p:spPr>
        <p:txBody>
          <a:bodyPr wrap="none" lIns="0" rIns="0" tIns="0" bIns="0" anchor="ctr">
            <a:spAutoFit/>
          </a:bodyPr>
          <a:lstStyle/>
          <a:p>
            <a:pPr algn="ctr"/>
            <a:r>
              <a:rPr sz="950" spc="200">
                <a:solidFill>
                  <a:srgbClr val="1A2B5E"/>
                </a:solidFill>
                <a:latin typeface="Inter SemiBold Text SemiBold"/>
              </a:rPr>
              <a:t>SHARED</a:t>
            </a:r>
          </a:p>
        </p:txBody>
      </p:sp>
      <p:sp>
        <p:nvSpPr>
          <p:cNvPr id="39" name="TextBox 38"/>
          <p:cNvSpPr txBox="1"/>
          <p:nvPr/>
        </p:nvSpPr>
        <p:spPr>
          <a:xfrm>
            <a:off x="7324344" y="2231136"/>
            <a:ext cx="4041648" cy="219456"/>
          </a:xfrm>
          <a:prstGeom prst="rect">
            <a:avLst/>
          </a:prstGeom>
          <a:noFill/>
        </p:spPr>
        <p:txBody>
          <a:bodyPr wrap="none" lIns="0" rIns="0" tIns="0" bIns="0" anchor="ctr">
            <a:spAutoFit/>
          </a:bodyPr>
          <a:lstStyle/>
          <a:p>
            <a:pPr algn="l"/>
            <a:r>
              <a:rPr sz="950" spc="200">
                <a:solidFill>
                  <a:srgbClr val="0B7A7E"/>
                </a:solidFill>
                <a:latin typeface="Inter SemiBold Text SemiBold"/>
              </a:rPr>
              <a:t>GROSS MODEL </a:t>
            </a:r>
            <a:r>
              <a:rPr sz="950" spc="200">
                <a:solidFill>
                  <a:srgbClr val="0B7A7E"/>
                </a:solidFill>
                <a:latin typeface="Inter SemiBold Text SemiBold"/>
                <a:hlinkClick r:id="rId6">
                  <a:extLst>
                    <a:ext uri="{A12FA001-AC4F-418D-AE19-62706E023703}">
                      <ahyp:hlinkClr xmlns:ahyp="http://schemas.microsoft.com/office/drawing/2018/hyperlinkcolor" val="tx"/>
                    </a:ext>
                  </a:extLst>
                </a:hlinkClick>
              </a:rPr>
              <a:t>(#164)</a:t>
            </a:r>
            <a:r>
              <a:rPr sz="950" spc="200">
                <a:solidFill>
                  <a:srgbClr val="0B7A7E"/>
                </a:solidFill>
                <a:latin typeface="Inter SemiBold Text SemiBold"/>
              </a:rPr>
              <a:t> · BT-146V LEADS</a:t>
            </a:r>
          </a:p>
        </p:txBody>
      </p:sp>
      <p:sp>
        <p:nvSpPr>
          <p:cNvPr id="40" name="Rounded Rectangle 39"/>
          <p:cNvSpPr/>
          <p:nvPr/>
        </p:nvSpPr>
        <p:spPr>
          <a:xfrm>
            <a:off x="822960" y="2505456"/>
            <a:ext cx="4041648" cy="274320"/>
          </a:xfrm>
          <a:prstGeom prst="roundRect">
            <a:avLst>
              <a:gd name="adj" fmla="val 18000"/>
            </a:avLst>
          </a:prstGeom>
          <a:solidFill>
            <a:srgbClr val="F4F6FB"/>
          </a:solidFill>
          <a:ln w="9525">
            <a:solidFill>
              <a:srgbClr val="E2E7F2"/>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square"/>
          <a:lstStyle/>
          <a:p>
            <a:pPr algn="l"/>
            <a:r>
              <a:rPr sz="900">
                <a:solidFill>
                  <a:srgbClr val="1A2B5E"/>
                </a:solidFill>
                <a:latin typeface="Inter SemiBold Text SemiBold"/>
              </a:rPr>
              <a:t>BT-146¹</a:t>
            </a:r>
            <a:r>
              <a:rPr sz="900">
                <a:solidFill>
                  <a:srgbClr val="5B6890"/>
                </a:solidFill>
                <a:latin typeface="Inter Text"/>
              </a:rPr>
              <a:t> = BT-148 − BT-147</a:t>
            </a:r>
          </a:p>
        </p:txBody>
      </p:sp>
      <p:sp>
        <p:nvSpPr>
          <p:cNvPr id="41" name="Rounded Rectangle 40"/>
          <p:cNvSpPr/>
          <p:nvPr/>
        </p:nvSpPr>
        <p:spPr>
          <a:xfrm>
            <a:off x="7324344" y="2505456"/>
            <a:ext cx="4041648" cy="274320"/>
          </a:xfrm>
          <a:prstGeom prst="roundRect">
            <a:avLst>
              <a:gd name="adj" fmla="val 18000"/>
            </a:avLst>
          </a:prstGeom>
          <a:solidFill>
            <a:srgbClr val="E6F8F8"/>
          </a:solidFill>
          <a:ln w="9525">
            <a:solidFill>
              <a:srgbClr val="A8E6E8"/>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square"/>
          <a:lstStyle/>
          <a:p>
            <a:pPr algn="l"/>
            <a:r>
              <a:rPr sz="900">
                <a:solidFill>
                  <a:srgbClr val="0B7A7E"/>
                </a:solidFill>
                <a:latin typeface="Inter SemiBold Text SemiBold"/>
              </a:rPr>
              <a:t>BT-146V</a:t>
            </a:r>
            <a:r>
              <a:rPr sz="900">
                <a:solidFill>
                  <a:srgbClr val="1A2B5E"/>
                </a:solidFill>
                <a:latin typeface="Inter Text"/>
              </a:rPr>
              <a:t> = BT-148V − BT-147V  ·  BT-146¹ for information</a:t>
            </a:r>
          </a:p>
        </p:txBody>
      </p:sp>
      <p:sp>
        <p:nvSpPr>
          <p:cNvPr id="42" name="Rounded Rectangle 41"/>
          <p:cNvSpPr/>
          <p:nvPr/>
        </p:nvSpPr>
        <p:spPr>
          <a:xfrm>
            <a:off x="4974336" y="2505456"/>
            <a:ext cx="2240280" cy="274320"/>
          </a:xfrm>
          <a:prstGeom prst="roundRect">
            <a:avLst>
              <a:gd name="adj" fmla="val 18000"/>
            </a:avLst>
          </a:prstGeom>
          <a:solidFill>
            <a:srgbClr val="1A2B5E"/>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square"/>
          <a:lstStyle/>
          <a:p>
            <a:pPr algn="ctr"/>
            <a:r>
              <a:rPr sz="850">
                <a:solidFill>
                  <a:srgbClr val="FFFFFF"/>
                </a:solidFill>
                <a:latin typeface="Inter SemiBold Text SemiBold"/>
              </a:rPr>
              <a:t>Price</a:t>
            </a:r>
          </a:p>
        </p:txBody>
      </p:sp>
      <p:sp>
        <p:nvSpPr>
          <p:cNvPr id="43" name="Rounded Rectangle 42"/>
          <p:cNvSpPr/>
          <p:nvPr/>
        </p:nvSpPr>
        <p:spPr>
          <a:xfrm>
            <a:off x="822960" y="2820924"/>
            <a:ext cx="4041648" cy="274320"/>
          </a:xfrm>
          <a:prstGeom prst="roundRect">
            <a:avLst>
              <a:gd name="adj" fmla="val 18000"/>
            </a:avLst>
          </a:prstGeom>
          <a:solidFill>
            <a:srgbClr val="F4F6FB"/>
          </a:solidFill>
          <a:ln w="9525">
            <a:solidFill>
              <a:srgbClr val="E2E7F2"/>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square"/>
          <a:lstStyle/>
          <a:p>
            <a:pPr algn="l"/>
            <a:r>
              <a:rPr sz="900">
                <a:solidFill>
                  <a:srgbClr val="1A2B5E"/>
                </a:solidFill>
                <a:latin typeface="Inter SemiBold Text SemiBold"/>
              </a:rPr>
              <a:t>BT-131</a:t>
            </a:r>
            <a:r>
              <a:rPr sz="900">
                <a:solidFill>
                  <a:srgbClr val="5B6890"/>
                </a:solidFill>
                <a:latin typeface="Inter Text"/>
              </a:rPr>
              <a:t> = BT-146 ÷ BT-149 × BT-129 + Σ BT-141 − Σ BT-136</a:t>
            </a:r>
          </a:p>
        </p:txBody>
      </p:sp>
      <p:sp>
        <p:nvSpPr>
          <p:cNvPr id="44" name="Rounded Rectangle 43"/>
          <p:cNvSpPr/>
          <p:nvPr/>
        </p:nvSpPr>
        <p:spPr>
          <a:xfrm>
            <a:off x="7324344" y="2820924"/>
            <a:ext cx="4041648" cy="274320"/>
          </a:xfrm>
          <a:prstGeom prst="roundRect">
            <a:avLst>
              <a:gd name="adj" fmla="val 18000"/>
            </a:avLst>
          </a:prstGeom>
          <a:solidFill>
            <a:srgbClr val="E6F8F8"/>
          </a:solidFill>
          <a:ln w="9525">
            <a:solidFill>
              <a:srgbClr val="A8E6E8"/>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square"/>
          <a:lstStyle/>
          <a:p>
            <a:pPr algn="l"/>
            <a:r>
              <a:rPr sz="900">
                <a:solidFill>
                  <a:srgbClr val="0B7A7E"/>
                </a:solidFill>
                <a:latin typeface="Inter SemiBold Text SemiBold"/>
              </a:rPr>
              <a:t>BT-131V</a:t>
            </a:r>
            <a:r>
              <a:rPr sz="900">
                <a:solidFill>
                  <a:srgbClr val="1A2B5E"/>
                </a:solidFill>
                <a:latin typeface="Inter Text"/>
              </a:rPr>
              <a:t> = BT-146V ÷ BT-149 × BT-129 + Σ BT-141V − Σ BT-136V</a:t>
            </a:r>
          </a:p>
        </p:txBody>
      </p:sp>
      <p:sp>
        <p:nvSpPr>
          <p:cNvPr id="45" name="Rounded Rectangle 44"/>
          <p:cNvSpPr/>
          <p:nvPr/>
        </p:nvSpPr>
        <p:spPr>
          <a:xfrm>
            <a:off x="4974336" y="2820924"/>
            <a:ext cx="2240280" cy="274320"/>
          </a:xfrm>
          <a:prstGeom prst="roundRect">
            <a:avLst>
              <a:gd name="adj" fmla="val 18000"/>
            </a:avLst>
          </a:prstGeom>
          <a:solidFill>
            <a:srgbClr val="1A2B5E"/>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square"/>
          <a:lstStyle/>
          <a:p>
            <a:pPr algn="ctr"/>
            <a:r>
              <a:rPr sz="850">
                <a:solidFill>
                  <a:srgbClr val="FFFFFF"/>
                </a:solidFill>
                <a:latin typeface="Inter SemiBold Text SemiBold"/>
              </a:rPr>
              <a:t>Line</a:t>
            </a:r>
            <a:r>
              <a:rPr sz="850">
                <a:solidFill>
                  <a:srgbClr val="C2CADE"/>
                </a:solidFill>
                <a:latin typeface="Inter Text"/>
              </a:rPr>
              <a:t>  ·  BT-129¹, BT-149</a:t>
            </a:r>
          </a:p>
        </p:txBody>
      </p:sp>
      <p:sp>
        <p:nvSpPr>
          <p:cNvPr id="46" name="Rounded Rectangle 45"/>
          <p:cNvSpPr/>
          <p:nvPr/>
        </p:nvSpPr>
        <p:spPr>
          <a:xfrm>
            <a:off x="822960" y="3136392"/>
            <a:ext cx="4041648" cy="274320"/>
          </a:xfrm>
          <a:prstGeom prst="roundRect">
            <a:avLst>
              <a:gd name="adj" fmla="val 18000"/>
            </a:avLst>
          </a:prstGeom>
          <a:solidFill>
            <a:srgbClr val="F4F6FB"/>
          </a:solidFill>
          <a:ln w="9525">
            <a:solidFill>
              <a:srgbClr val="E2E7F2"/>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square"/>
          <a:lstStyle/>
          <a:p>
            <a:pPr algn="l"/>
            <a:r>
              <a:rPr sz="900">
                <a:solidFill>
                  <a:srgbClr val="5B6890"/>
                </a:solidFill>
                <a:latin typeface="Inter Text"/>
              </a:rPr>
              <a:t>BT-136¹, BT-141 on the bases BT-137, BT-142</a:t>
            </a:r>
          </a:p>
        </p:txBody>
      </p:sp>
      <p:sp>
        <p:nvSpPr>
          <p:cNvPr id="47" name="Rounded Rectangle 46"/>
          <p:cNvSpPr/>
          <p:nvPr/>
        </p:nvSpPr>
        <p:spPr>
          <a:xfrm>
            <a:off x="7324344" y="3136392"/>
            <a:ext cx="4041648" cy="274320"/>
          </a:xfrm>
          <a:prstGeom prst="roundRect">
            <a:avLst>
              <a:gd name="adj" fmla="val 18000"/>
            </a:avLst>
          </a:prstGeom>
          <a:solidFill>
            <a:srgbClr val="E6F8F8"/>
          </a:solidFill>
          <a:ln w="9525">
            <a:solidFill>
              <a:srgbClr val="A8E6E8"/>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square"/>
          <a:lstStyle/>
          <a:p>
            <a:pPr algn="l"/>
            <a:r>
              <a:rPr sz="900">
                <a:solidFill>
                  <a:srgbClr val="1A2B5E"/>
                </a:solidFill>
                <a:latin typeface="Inter Text"/>
              </a:rPr>
              <a:t>BT-136V, BT-141V on the bases BT-137V, BT-142V</a:t>
            </a:r>
          </a:p>
        </p:txBody>
      </p:sp>
      <p:sp>
        <p:nvSpPr>
          <p:cNvPr id="48" name="Rounded Rectangle 47"/>
          <p:cNvSpPr/>
          <p:nvPr/>
        </p:nvSpPr>
        <p:spPr>
          <a:xfrm>
            <a:off x="4974336" y="3136392"/>
            <a:ext cx="2240280" cy="274320"/>
          </a:xfrm>
          <a:prstGeom prst="roundRect">
            <a:avLst>
              <a:gd name="adj" fmla="val 18000"/>
            </a:avLst>
          </a:prstGeom>
          <a:solidFill>
            <a:srgbClr val="1A2B5E"/>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square"/>
          <a:lstStyle/>
          <a:p>
            <a:pPr algn="ctr"/>
            <a:r>
              <a:rPr sz="850">
                <a:solidFill>
                  <a:srgbClr val="FFFFFF"/>
                </a:solidFill>
                <a:latin typeface="Inter SemiBold Text SemiBold"/>
              </a:rPr>
              <a:t>Line A/C</a:t>
            </a:r>
            <a:r>
              <a:rPr sz="850">
                <a:solidFill>
                  <a:srgbClr val="C2CADE"/>
                </a:solidFill>
                <a:latin typeface="Inter Text"/>
              </a:rPr>
              <a:t>  ·  BT-138, BT-143</a:t>
            </a:r>
          </a:p>
        </p:txBody>
      </p:sp>
      <p:sp>
        <p:nvSpPr>
          <p:cNvPr id="49" name="Rounded Rectangle 48"/>
          <p:cNvSpPr/>
          <p:nvPr/>
        </p:nvSpPr>
        <p:spPr>
          <a:xfrm>
            <a:off x="822960" y="3451860"/>
            <a:ext cx="4041648" cy="274320"/>
          </a:xfrm>
          <a:prstGeom prst="roundRect">
            <a:avLst>
              <a:gd name="adj" fmla="val 18000"/>
            </a:avLst>
          </a:prstGeom>
          <a:solidFill>
            <a:srgbClr val="F4F6FB"/>
          </a:solidFill>
          <a:ln w="9525">
            <a:solidFill>
              <a:srgbClr val="E2E7F2"/>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square"/>
          <a:lstStyle/>
          <a:p>
            <a:pPr algn="l"/>
            <a:r>
              <a:rPr sz="900">
                <a:solidFill>
                  <a:srgbClr val="1A2B5E"/>
                </a:solidFill>
                <a:latin typeface="Inter SemiBold Text SemiBold"/>
              </a:rPr>
              <a:t>BT-92¹</a:t>
            </a:r>
            <a:r>
              <a:rPr sz="900">
                <a:solidFill>
                  <a:srgbClr val="5B6890"/>
                </a:solidFill>
                <a:latin typeface="Inter Text"/>
              </a:rPr>
              <a:t> = BT-94 × BT-93 ÷ 100  ·  BT-99 = BT-101 × BT-100 ÷ 100</a:t>
            </a:r>
          </a:p>
        </p:txBody>
      </p:sp>
      <p:sp>
        <p:nvSpPr>
          <p:cNvPr id="50" name="Rounded Rectangle 49"/>
          <p:cNvSpPr/>
          <p:nvPr/>
        </p:nvSpPr>
        <p:spPr>
          <a:xfrm>
            <a:off x="7324344" y="3451860"/>
            <a:ext cx="4041648" cy="274320"/>
          </a:xfrm>
          <a:prstGeom prst="roundRect">
            <a:avLst>
              <a:gd name="adj" fmla="val 18000"/>
            </a:avLst>
          </a:prstGeom>
          <a:solidFill>
            <a:srgbClr val="E6F8F8"/>
          </a:solidFill>
          <a:ln w="9525">
            <a:solidFill>
              <a:srgbClr val="A8E6E8"/>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square"/>
          <a:lstStyle/>
          <a:p>
            <a:pPr algn="l"/>
            <a:r>
              <a:rPr sz="900">
                <a:solidFill>
                  <a:srgbClr val="0B7A7E"/>
                </a:solidFill>
                <a:latin typeface="Inter SemiBold Text SemiBold"/>
              </a:rPr>
              <a:t>BT-92V</a:t>
            </a:r>
            <a:r>
              <a:rPr sz="900">
                <a:solidFill>
                  <a:srgbClr val="1A2B5E"/>
                </a:solidFill>
                <a:latin typeface="Inter Text"/>
              </a:rPr>
              <a:t> = BT-94 × BT-93V ÷ 100  ·  BT-99V = BT-101 × BT-100V ÷ 100</a:t>
            </a:r>
          </a:p>
        </p:txBody>
      </p:sp>
      <p:sp>
        <p:nvSpPr>
          <p:cNvPr id="51" name="Rounded Rectangle 50"/>
          <p:cNvSpPr/>
          <p:nvPr/>
        </p:nvSpPr>
        <p:spPr>
          <a:xfrm>
            <a:off x="4974336" y="3451860"/>
            <a:ext cx="2240280" cy="274320"/>
          </a:xfrm>
          <a:prstGeom prst="roundRect">
            <a:avLst>
              <a:gd name="adj" fmla="val 18000"/>
            </a:avLst>
          </a:prstGeom>
          <a:solidFill>
            <a:srgbClr val="1A2B5E"/>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square"/>
          <a:lstStyle/>
          <a:p>
            <a:pPr algn="ctr"/>
            <a:r>
              <a:rPr sz="850">
                <a:solidFill>
                  <a:srgbClr val="FFFFFF"/>
                </a:solidFill>
                <a:latin typeface="Inter SemiBold Text SemiBold"/>
              </a:rPr>
              <a:t>Document A/C</a:t>
            </a:r>
            <a:r>
              <a:rPr sz="850">
                <a:solidFill>
                  <a:srgbClr val="C2CADE"/>
                </a:solidFill>
                <a:latin typeface="Inter Text"/>
              </a:rPr>
              <a:t>  ·  BT-94, BT-101</a:t>
            </a:r>
          </a:p>
        </p:txBody>
      </p:sp>
      <p:sp>
        <p:nvSpPr>
          <p:cNvPr id="52" name="Rounded Rectangle 51"/>
          <p:cNvSpPr/>
          <p:nvPr/>
        </p:nvSpPr>
        <p:spPr>
          <a:xfrm>
            <a:off x="822960" y="3767328"/>
            <a:ext cx="4041648" cy="274320"/>
          </a:xfrm>
          <a:prstGeom prst="roundRect">
            <a:avLst>
              <a:gd name="adj" fmla="val 18000"/>
            </a:avLst>
          </a:prstGeom>
          <a:solidFill>
            <a:srgbClr val="F4F6FB"/>
          </a:solidFill>
          <a:ln w="9525">
            <a:solidFill>
              <a:srgbClr val="E2E7F2"/>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square"/>
          <a:lstStyle/>
          <a:p>
            <a:pPr algn="l"/>
            <a:r>
              <a:rPr sz="900">
                <a:solidFill>
                  <a:srgbClr val="1A2B5E"/>
                </a:solidFill>
                <a:latin typeface="Inter SemiBold Text SemiBold"/>
              </a:rPr>
              <a:t>BT-106</a:t>
            </a:r>
            <a:r>
              <a:rPr sz="900">
                <a:solidFill>
                  <a:srgbClr val="5B6890"/>
                </a:solidFill>
                <a:latin typeface="Inter Text"/>
              </a:rPr>
              <a:t> = Σ BT-131  ·  BT-107 = Σ BT-92  ·  BT-108 = Σ BT-99</a:t>
            </a:r>
          </a:p>
        </p:txBody>
      </p:sp>
      <p:sp>
        <p:nvSpPr>
          <p:cNvPr id="53" name="Rounded Rectangle 52"/>
          <p:cNvSpPr/>
          <p:nvPr/>
        </p:nvSpPr>
        <p:spPr>
          <a:xfrm>
            <a:off x="7324344" y="3767328"/>
            <a:ext cx="4041648" cy="274320"/>
          </a:xfrm>
          <a:prstGeom prst="roundRect">
            <a:avLst>
              <a:gd name="adj" fmla="val 18000"/>
            </a:avLst>
          </a:prstGeom>
          <a:solidFill>
            <a:srgbClr val="E6F8F8"/>
          </a:solidFill>
          <a:ln w="9525">
            <a:solidFill>
              <a:srgbClr val="A8E6E8"/>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square"/>
          <a:lstStyle/>
          <a:p>
            <a:pPr algn="l"/>
            <a:r>
              <a:rPr sz="900">
                <a:solidFill>
                  <a:srgbClr val="0B7A7E"/>
                </a:solidFill>
                <a:latin typeface="Inter SemiBold Text SemiBold"/>
              </a:rPr>
              <a:t>BT-106V</a:t>
            </a:r>
            <a:r>
              <a:rPr sz="900">
                <a:solidFill>
                  <a:srgbClr val="1A2B5E"/>
                </a:solidFill>
                <a:latin typeface="Inter Text"/>
              </a:rPr>
              <a:t> = Σ BT-131V  ·  BT-107V = Σ BT-92V  ·  BT-108V = Σ BT-99V</a:t>
            </a:r>
          </a:p>
        </p:txBody>
      </p:sp>
      <p:sp>
        <p:nvSpPr>
          <p:cNvPr id="54" name="Rounded Rectangle 53"/>
          <p:cNvSpPr/>
          <p:nvPr/>
        </p:nvSpPr>
        <p:spPr>
          <a:xfrm>
            <a:off x="4974336" y="3767328"/>
            <a:ext cx="2240280" cy="274320"/>
          </a:xfrm>
          <a:prstGeom prst="roundRect">
            <a:avLst>
              <a:gd name="adj" fmla="val 18000"/>
            </a:avLst>
          </a:prstGeom>
          <a:solidFill>
            <a:srgbClr val="1A2B5E"/>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square"/>
          <a:lstStyle/>
          <a:p>
            <a:pPr algn="ctr"/>
            <a:r>
              <a:rPr sz="850">
                <a:solidFill>
                  <a:srgbClr val="FFFFFF"/>
                </a:solidFill>
                <a:latin typeface="Inter SemiBold Text SemiBold"/>
              </a:rPr>
              <a:t>Sums</a:t>
            </a:r>
          </a:p>
        </p:txBody>
      </p:sp>
      <p:sp>
        <p:nvSpPr>
          <p:cNvPr id="55" name="Rounded Rectangle 54"/>
          <p:cNvSpPr/>
          <p:nvPr/>
        </p:nvSpPr>
        <p:spPr>
          <a:xfrm>
            <a:off x="822960" y="4082796"/>
            <a:ext cx="4041648" cy="274320"/>
          </a:xfrm>
          <a:prstGeom prst="roundRect">
            <a:avLst>
              <a:gd name="adj" fmla="val 18000"/>
            </a:avLst>
          </a:prstGeom>
          <a:solidFill>
            <a:srgbClr val="F4F6FB"/>
          </a:solidFill>
          <a:ln w="9525">
            <a:solidFill>
              <a:srgbClr val="E2E7F2"/>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square"/>
          <a:lstStyle/>
          <a:p>
            <a:pPr algn="l"/>
            <a:r>
              <a:rPr sz="900">
                <a:solidFill>
                  <a:srgbClr val="1A2B5E"/>
                </a:solidFill>
                <a:latin typeface="Inter SemiBold Text SemiBold"/>
              </a:rPr>
              <a:t>BT-116</a:t>
            </a:r>
            <a:r>
              <a:rPr sz="900">
                <a:solidFill>
                  <a:srgbClr val="5B6890"/>
                </a:solidFill>
                <a:latin typeface="Inter Text"/>
              </a:rPr>
              <a:t> = Σ BT-131 + Σ BT-99 − Σ BT-92</a:t>
            </a:r>
          </a:p>
        </p:txBody>
      </p:sp>
      <p:sp>
        <p:nvSpPr>
          <p:cNvPr id="56" name="Rounded Rectangle 55"/>
          <p:cNvSpPr/>
          <p:nvPr/>
        </p:nvSpPr>
        <p:spPr>
          <a:xfrm>
            <a:off x="7324344" y="4082796"/>
            <a:ext cx="4041648" cy="274320"/>
          </a:xfrm>
          <a:prstGeom prst="roundRect">
            <a:avLst>
              <a:gd name="adj" fmla="val 18000"/>
            </a:avLst>
          </a:prstGeom>
          <a:solidFill>
            <a:srgbClr val="E6F8F8"/>
          </a:solidFill>
          <a:ln w="9525">
            <a:solidFill>
              <a:srgbClr val="A8E6E8"/>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square"/>
          <a:lstStyle/>
          <a:p>
            <a:pPr algn="l"/>
            <a:r>
              <a:rPr sz="900">
                <a:solidFill>
                  <a:srgbClr val="0B7A7E"/>
                </a:solidFill>
                <a:latin typeface="Inter SemiBold Text SemiBold"/>
              </a:rPr>
              <a:t>BT-116V</a:t>
            </a:r>
            <a:r>
              <a:rPr sz="900">
                <a:solidFill>
                  <a:srgbClr val="1A2B5E"/>
                </a:solidFill>
                <a:latin typeface="Inter Text"/>
              </a:rPr>
              <a:t> = Σ BT-131V + Σ BT-99V − Σ BT-92V</a:t>
            </a:r>
          </a:p>
        </p:txBody>
      </p:sp>
      <p:sp>
        <p:nvSpPr>
          <p:cNvPr id="57" name="Rounded Rectangle 56"/>
          <p:cNvSpPr/>
          <p:nvPr/>
        </p:nvSpPr>
        <p:spPr>
          <a:xfrm>
            <a:off x="4974336" y="4082796"/>
            <a:ext cx="2240280" cy="274320"/>
          </a:xfrm>
          <a:prstGeom prst="roundRect">
            <a:avLst>
              <a:gd name="adj" fmla="val 18000"/>
            </a:avLst>
          </a:prstGeom>
          <a:solidFill>
            <a:srgbClr val="1A2B5E"/>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square"/>
          <a:lstStyle/>
          <a:p>
            <a:pPr algn="ctr"/>
            <a:r>
              <a:rPr sz="850">
                <a:solidFill>
                  <a:srgbClr val="FFFFFF"/>
                </a:solidFill>
                <a:latin typeface="Inter SemiBold Text SemiBold"/>
              </a:rPr>
              <a:t>VAT category</a:t>
            </a:r>
            <a:r>
              <a:rPr sz="850">
                <a:solidFill>
                  <a:srgbClr val="C2CADE"/>
                </a:solidFill>
                <a:latin typeface="Inter Text"/>
              </a:rPr>
              <a:t>  ·  BT-118, BT-119²³</a:t>
            </a:r>
          </a:p>
        </p:txBody>
      </p:sp>
      <p:sp>
        <p:nvSpPr>
          <p:cNvPr id="58" name="Rounded Rectangle 57"/>
          <p:cNvSpPr/>
          <p:nvPr/>
        </p:nvSpPr>
        <p:spPr>
          <a:xfrm>
            <a:off x="822960" y="4398264"/>
            <a:ext cx="4041648" cy="274320"/>
          </a:xfrm>
          <a:prstGeom prst="roundRect">
            <a:avLst>
              <a:gd name="adj" fmla="val 18000"/>
            </a:avLst>
          </a:prstGeom>
          <a:solidFill>
            <a:srgbClr val="FFF3E6"/>
          </a:solidFill>
          <a:ln w="9525">
            <a:solidFill>
              <a:srgbClr val="F5CF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square"/>
          <a:lstStyle/>
          <a:p>
            <a:pPr algn="l"/>
            <a:r>
              <a:rPr sz="900">
                <a:solidFill>
                  <a:srgbClr val="B85C0A"/>
                </a:solidFill>
                <a:latin typeface="Inter SemiBold Text SemiBold"/>
              </a:rPr>
              <a:t>BT-117</a:t>
            </a:r>
            <a:r>
              <a:rPr sz="900">
                <a:solidFill>
                  <a:srgbClr val="5B6890"/>
                </a:solidFill>
                <a:latin typeface="Inter Text"/>
              </a:rPr>
              <a:t> = BT-116 × BT-119 ÷ 100  ·  added</a:t>
            </a:r>
          </a:p>
        </p:txBody>
      </p:sp>
      <p:sp>
        <p:nvSpPr>
          <p:cNvPr id="59" name="Rounded Rectangle 58"/>
          <p:cNvSpPr/>
          <p:nvPr/>
        </p:nvSpPr>
        <p:spPr>
          <a:xfrm>
            <a:off x="7324344" y="4398264"/>
            <a:ext cx="4041648" cy="274320"/>
          </a:xfrm>
          <a:prstGeom prst="roundRect">
            <a:avLst>
              <a:gd name="adj" fmla="val 18000"/>
            </a:avLst>
          </a:prstGeom>
          <a:solidFill>
            <a:srgbClr val="FFF3E6"/>
          </a:solidFill>
          <a:ln w="9525">
            <a:solidFill>
              <a:srgbClr val="F5CF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square"/>
          <a:lstStyle/>
          <a:p>
            <a:pPr algn="l"/>
            <a:r>
              <a:rPr sz="900">
                <a:solidFill>
                  <a:srgbClr val="B85C0A"/>
                </a:solidFill>
                <a:latin typeface="Inter SemiBold Text SemiBold"/>
              </a:rPr>
              <a:t>BT-117</a:t>
            </a:r>
            <a:r>
              <a:rPr sz="900">
                <a:solidFill>
                  <a:srgbClr val="1A2B5E"/>
                </a:solidFill>
                <a:latin typeface="Inter Text"/>
              </a:rPr>
              <a:t> = BT-116V × BT-119 ÷ (100 + BT-119)  ·  extracted</a:t>
            </a:r>
          </a:p>
        </p:txBody>
      </p:sp>
      <p:sp>
        <p:nvSpPr>
          <p:cNvPr id="60" name="Rounded Rectangle 59"/>
          <p:cNvSpPr/>
          <p:nvPr/>
        </p:nvSpPr>
        <p:spPr>
          <a:xfrm>
            <a:off x="4974336" y="4398264"/>
            <a:ext cx="2240280" cy="274320"/>
          </a:xfrm>
          <a:prstGeom prst="roundRect">
            <a:avLst>
              <a:gd name="adj" fmla="val 18000"/>
            </a:avLst>
          </a:prstGeom>
          <a:solidFill>
            <a:srgbClr val="1A2B5E"/>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square"/>
          <a:lstStyle/>
          <a:p>
            <a:pPr algn="ctr"/>
            <a:r>
              <a:rPr sz="850">
                <a:solidFill>
                  <a:srgbClr val="FFFFFF"/>
                </a:solidFill>
                <a:latin typeface="Inter SemiBold Text SemiBold"/>
              </a:rPr>
              <a:t>VAT</a:t>
            </a:r>
            <a:r>
              <a:rPr sz="850">
                <a:solidFill>
                  <a:srgbClr val="C2CADE"/>
                </a:solidFill>
                <a:latin typeface="Inter Text"/>
              </a:rPr>
              <a:t>  ·  BT-117³</a:t>
            </a:r>
          </a:p>
        </p:txBody>
      </p:sp>
      <p:sp>
        <p:nvSpPr>
          <p:cNvPr id="61" name="Rounded Rectangle 60"/>
          <p:cNvSpPr/>
          <p:nvPr/>
        </p:nvSpPr>
        <p:spPr>
          <a:xfrm>
            <a:off x="822960" y="4713732"/>
            <a:ext cx="4041648" cy="274320"/>
          </a:xfrm>
          <a:prstGeom prst="roundRect">
            <a:avLst>
              <a:gd name="adj" fmla="val 18000"/>
            </a:avLst>
          </a:prstGeom>
          <a:solidFill>
            <a:srgbClr val="FFF3E6"/>
          </a:solidFill>
          <a:ln w="9525">
            <a:solidFill>
              <a:srgbClr val="F5CF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square"/>
          <a:lstStyle/>
          <a:p>
            <a:pPr algn="l"/>
            <a:r>
              <a:rPr sz="900">
                <a:solidFill>
                  <a:srgbClr val="5B6890"/>
                </a:solidFill>
                <a:latin typeface="Inter Text"/>
              </a:rPr>
              <a:t>BT-116 from the lines, see above</a:t>
            </a:r>
          </a:p>
        </p:txBody>
      </p:sp>
      <p:sp>
        <p:nvSpPr>
          <p:cNvPr id="62" name="Rounded Rectangle 61"/>
          <p:cNvSpPr/>
          <p:nvPr/>
        </p:nvSpPr>
        <p:spPr>
          <a:xfrm>
            <a:off x="7324344" y="4713732"/>
            <a:ext cx="4041648" cy="274320"/>
          </a:xfrm>
          <a:prstGeom prst="roundRect">
            <a:avLst>
              <a:gd name="adj" fmla="val 18000"/>
            </a:avLst>
          </a:prstGeom>
          <a:solidFill>
            <a:srgbClr val="FFF3E6"/>
          </a:solidFill>
          <a:ln w="9525">
            <a:solidFill>
              <a:srgbClr val="F5CF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square"/>
          <a:lstStyle/>
          <a:p>
            <a:pPr algn="l"/>
            <a:r>
              <a:rPr sz="900">
                <a:solidFill>
                  <a:srgbClr val="B85C0A"/>
                </a:solidFill>
                <a:latin typeface="Inter SemiBold Text SemiBold"/>
              </a:rPr>
              <a:t>BT-116</a:t>
            </a:r>
            <a:r>
              <a:rPr sz="900">
                <a:solidFill>
                  <a:srgbClr val="1A2B5E"/>
                </a:solidFill>
                <a:latin typeface="Inter Text"/>
              </a:rPr>
              <a:t> = BT-116V − BT-117  ·  the remainder (VAT first)⁴</a:t>
            </a:r>
          </a:p>
        </p:txBody>
      </p:sp>
      <p:sp>
        <p:nvSpPr>
          <p:cNvPr id="63" name="Rounded Rectangle 62"/>
          <p:cNvSpPr/>
          <p:nvPr/>
        </p:nvSpPr>
        <p:spPr>
          <a:xfrm>
            <a:off x="4974336" y="4713732"/>
            <a:ext cx="2240280" cy="274320"/>
          </a:xfrm>
          <a:prstGeom prst="roundRect">
            <a:avLst>
              <a:gd name="adj" fmla="val 18000"/>
            </a:avLst>
          </a:prstGeom>
          <a:solidFill>
            <a:srgbClr val="1A2B5E"/>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square"/>
          <a:lstStyle/>
          <a:p>
            <a:pPr algn="ctr"/>
            <a:r>
              <a:rPr sz="850">
                <a:solidFill>
                  <a:srgbClr val="FFFFFF"/>
                </a:solidFill>
                <a:latin typeface="Inter SemiBold Text SemiBold"/>
              </a:rPr>
              <a:t>Taxable amount</a:t>
            </a:r>
            <a:r>
              <a:rPr sz="850">
                <a:solidFill>
                  <a:srgbClr val="C2CADE"/>
                </a:solidFill>
                <a:latin typeface="Inter Text"/>
              </a:rPr>
              <a:t>  ·  BT-116¹³</a:t>
            </a:r>
          </a:p>
        </p:txBody>
      </p:sp>
      <p:sp>
        <p:nvSpPr>
          <p:cNvPr id="64" name="Rounded Rectangle 63"/>
          <p:cNvSpPr/>
          <p:nvPr/>
        </p:nvSpPr>
        <p:spPr>
          <a:xfrm>
            <a:off x="822960" y="5029200"/>
            <a:ext cx="4041648" cy="274320"/>
          </a:xfrm>
          <a:prstGeom prst="roundRect">
            <a:avLst>
              <a:gd name="adj" fmla="val 18000"/>
            </a:avLst>
          </a:prstGeom>
          <a:solidFill>
            <a:srgbClr val="FFF3E6"/>
          </a:solidFill>
          <a:ln w="9525">
            <a:solidFill>
              <a:srgbClr val="F5CF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square"/>
          <a:lstStyle/>
          <a:p>
            <a:pPr algn="l"/>
            <a:r>
              <a:rPr sz="900">
                <a:solidFill>
                  <a:srgbClr val="B85C0A"/>
                </a:solidFill>
                <a:latin typeface="Inter SemiBold Text SemiBold"/>
              </a:rPr>
              <a:t>BT-109</a:t>
            </a:r>
            <a:r>
              <a:rPr sz="900">
                <a:solidFill>
                  <a:srgbClr val="5B6890"/>
                </a:solidFill>
                <a:latin typeface="Inter Text"/>
              </a:rPr>
              <a:t> = BT-106 − BT-107 + BT-108  ·  BT-112 = BT-109 + BT-110</a:t>
            </a:r>
          </a:p>
        </p:txBody>
      </p:sp>
      <p:sp>
        <p:nvSpPr>
          <p:cNvPr id="65" name="Rounded Rectangle 64"/>
          <p:cNvSpPr/>
          <p:nvPr/>
        </p:nvSpPr>
        <p:spPr>
          <a:xfrm>
            <a:off x="7324344" y="5029200"/>
            <a:ext cx="4041648" cy="274320"/>
          </a:xfrm>
          <a:prstGeom prst="roundRect">
            <a:avLst>
              <a:gd name="adj" fmla="val 18000"/>
            </a:avLst>
          </a:prstGeom>
          <a:solidFill>
            <a:srgbClr val="FFF3E6"/>
          </a:solidFill>
          <a:ln w="9525">
            <a:solidFill>
              <a:srgbClr val="F5CF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square"/>
          <a:lstStyle/>
          <a:p>
            <a:pPr algn="l"/>
            <a:r>
              <a:rPr sz="900">
                <a:solidFill>
                  <a:srgbClr val="B85C0A"/>
                </a:solidFill>
                <a:latin typeface="Inter SemiBold Text SemiBold"/>
              </a:rPr>
              <a:t>BT-112</a:t>
            </a:r>
            <a:r>
              <a:rPr sz="900">
                <a:solidFill>
                  <a:srgbClr val="1A2B5E"/>
                </a:solidFill>
                <a:latin typeface="Inter Text"/>
              </a:rPr>
              <a:t> = BT-106V − BT-107V + BT-108V  ·  BT-109 = BT-112 − BT-110</a:t>
            </a:r>
          </a:p>
        </p:txBody>
      </p:sp>
      <p:sp>
        <p:nvSpPr>
          <p:cNvPr id="66" name="Rounded Rectangle 65"/>
          <p:cNvSpPr/>
          <p:nvPr/>
        </p:nvSpPr>
        <p:spPr>
          <a:xfrm>
            <a:off x="4974336" y="5029200"/>
            <a:ext cx="2240280" cy="274320"/>
          </a:xfrm>
          <a:prstGeom prst="roundRect">
            <a:avLst>
              <a:gd name="adj" fmla="val 18000"/>
            </a:avLst>
          </a:prstGeom>
          <a:solidFill>
            <a:srgbClr val="1A2B5E"/>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square"/>
          <a:lstStyle/>
          <a:p>
            <a:pPr algn="ctr"/>
            <a:r>
              <a:rPr sz="850">
                <a:solidFill>
                  <a:srgbClr val="FFFFFF"/>
                </a:solidFill>
                <a:latin typeface="Inter SemiBold Text SemiBold"/>
              </a:rPr>
              <a:t>Totals</a:t>
            </a:r>
            <a:r>
              <a:rPr sz="850">
                <a:solidFill>
                  <a:srgbClr val="C2CADE"/>
                </a:solidFill>
                <a:latin typeface="Inter Text"/>
              </a:rPr>
              <a:t>  ·  BT-110² = Σ BT-117</a:t>
            </a:r>
          </a:p>
        </p:txBody>
      </p:sp>
      <p:sp>
        <p:nvSpPr>
          <p:cNvPr id="67" name="Rounded Rectangle 66"/>
          <p:cNvSpPr/>
          <p:nvPr/>
        </p:nvSpPr>
        <p:spPr>
          <a:xfrm>
            <a:off x="822960" y="5344668"/>
            <a:ext cx="10543032" cy="274320"/>
          </a:xfrm>
          <a:prstGeom prst="roundRect">
            <a:avLst>
              <a:gd name="adj" fmla="val 18000"/>
            </a:avLst>
          </a:prstGeom>
          <a:solidFill>
            <a:srgbClr val="1A2B5E"/>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square"/>
          <a:lstStyle/>
          <a:p>
            <a:pPr algn="ctr"/>
            <a:r>
              <a:rPr sz="900">
                <a:solidFill>
                  <a:srgbClr val="FFFFFF"/>
                </a:solidFill>
                <a:latin typeface="Inter SemiBold Text SemiBold"/>
              </a:rPr>
              <a:t>Payment  ·  </a:t>
            </a:r>
            <a:r>
              <a:rPr sz="900">
                <a:solidFill>
                  <a:srgbClr val="FFFFFF"/>
                </a:solidFill>
                <a:latin typeface="Inter Text"/>
              </a:rPr>
              <a:t>BT-115 = BT-112 − BT-113 + Σ BT-179 + BT-114 — the same in both models; BT-114 shows the one rounding</a:t>
            </a:r>
          </a:p>
        </p:txBody>
      </p:sp>
      <p:sp>
        <p:nvSpPr>
          <p:cNvPr id="68" name="TextBox 67"/>
          <p:cNvSpPr txBox="1"/>
          <p:nvPr/>
        </p:nvSpPr>
        <p:spPr>
          <a:xfrm>
            <a:off x="822960" y="5710428"/>
            <a:ext cx="10543032" cy="685800"/>
          </a:xfrm>
          <a:prstGeom prst="rect">
            <a:avLst/>
          </a:prstGeom>
          <a:noFill/>
        </p:spPr>
        <p:txBody>
          <a:bodyPr wrap="square" lIns="0" rIns="0" tIns="0" bIns="0">
            <a:spAutoFit/>
          </a:bodyPr>
          <a:lstStyle/>
          <a:p>
            <a:r>
              <a:rPr sz="750">
                <a:solidFill>
                  <a:srgbClr val="C9D1E3"/>
                </a:solidFill>
                <a:latin typeface="Inter Text"/>
              </a:rPr>
              <a:t>■ </a:t>
            </a:r>
            <a:r>
              <a:rPr sz="750">
                <a:solidFill>
                  <a:srgbClr val="5B6890"/>
                </a:solidFill>
                <a:latin typeface="Inter Text"/>
              </a:rPr>
              <a:t>net term   </a:t>
            </a:r>
            <a:r>
              <a:rPr sz="750">
                <a:solidFill>
                  <a:srgbClr val="7FD6D9"/>
                </a:solidFill>
                <a:latin typeface="Inter Text"/>
              </a:rPr>
              <a:t>■ </a:t>
            </a:r>
            <a:r>
              <a:rPr sz="750">
                <a:solidFill>
                  <a:srgbClr val="5B6890"/>
                </a:solidFill>
                <a:latin typeface="Inter Text"/>
              </a:rPr>
              <a:t>“plus VAT” counterpart   </a:t>
            </a:r>
            <a:r>
              <a:rPr sz="750">
                <a:solidFill>
                  <a:srgbClr val="1A2B5E"/>
                </a:solidFill>
                <a:latin typeface="Inter Text"/>
              </a:rPr>
              <a:t>■ </a:t>
            </a:r>
            <a:r>
              <a:rPr sz="750">
                <a:solidFill>
                  <a:srgbClr val="5B6890"/>
                </a:solidFill>
                <a:latin typeface="Inter Text"/>
              </a:rPr>
              <a:t>shared   </a:t>
            </a:r>
            <a:r>
              <a:rPr sz="750">
                <a:solidFill>
                  <a:srgbClr val="F0B27A"/>
                </a:solidFill>
                <a:latin typeface="Inter Text"/>
              </a:rPr>
              <a:t>■ </a:t>
            </a:r>
            <a:r>
              <a:rPr sz="750">
                <a:solidFill>
                  <a:srgbClr val="5B6890"/>
                </a:solidFill>
                <a:latin typeface="Inter Text"/>
              </a:rPr>
              <a:t>where the models differ   </a:t>
            </a:r>
            <a:r>
              <a:rPr sz="750">
                <a:solidFill>
                  <a:srgbClr val="5B6890"/>
                </a:solidFill>
                <a:latin typeface="Inter Text"/>
              </a:rPr>
              <a:t>A/C = allowances and charges   </a:t>
            </a:r>
            <a:r>
              <a:rPr sz="750">
                <a:solidFill>
                  <a:srgbClr val="1A2B5E"/>
                </a:solidFill>
                <a:latin typeface="Inter SemiBold Text SemiBold"/>
              </a:rPr>
              <a:t>¹ ² ³ ⁴ </a:t>
            </a:r>
            <a:r>
              <a:rPr sz="750">
                <a:solidFill>
                  <a:srgbClr val="5B6890"/>
                </a:solidFill>
                <a:latin typeface="Inter Text"/>
              </a:rPr>
              <a:t>required by law:</a:t>
            </a:r>
          </a:p>
          <a:p>
            <a:r>
              <a:rPr sz="750">
                <a:solidFill>
                  <a:srgbClr val="1A2B5E"/>
                </a:solidFill>
                <a:latin typeface="Inter SemiBold Text SemiBold"/>
              </a:rPr>
              <a:t>¹ </a:t>
            </a:r>
            <a:r>
              <a:rPr sz="750">
                <a:solidFill>
                  <a:srgbClr val="5B6890"/>
                </a:solidFill>
                <a:latin typeface="Inter Text"/>
                <a:hlinkClick r:id="rId7">
                  <a:extLst>
                    <a:ext uri="{A12FA001-AC4F-418D-AE19-62706E023703}">
                      <ahyp:hlinkClr xmlns:ahyp="http://schemas.microsoft.com/office/drawing/2018/hyperlinkcolor" val="tx"/>
                    </a:ext>
                  </a:extLst>
                </a:hlinkClick>
              </a:rPr>
              <a:t>VAT Directive 2006/112/EC, Art. 226(6) and (8)</a:t>
            </a:r>
            <a:r>
              <a:rPr sz="750">
                <a:solidFill>
                  <a:srgbClr val="5B6890"/>
                </a:solidFill>
                <a:latin typeface="Inter Text"/>
              </a:rPr>
              <a:t>: quantity, unit price exclusive of VAT, discounts not included in it, taxable amount per rate</a:t>
            </a:r>
          </a:p>
          <a:p>
            <a:r>
              <a:rPr sz="750">
                <a:solidFill>
                  <a:srgbClr val="1A2B5E"/>
                </a:solidFill>
                <a:latin typeface="Inter SemiBold Text SemiBold"/>
              </a:rPr>
              <a:t>² </a:t>
            </a:r>
            <a:r>
              <a:rPr sz="750">
                <a:solidFill>
                  <a:srgbClr val="5B6890"/>
                </a:solidFill>
                <a:latin typeface="Inter Text"/>
                <a:hlinkClick r:id="rId7">
                  <a:extLst>
                    <a:ext uri="{A12FA001-AC4F-418D-AE19-62706E023703}">
                      <ahyp:hlinkClr xmlns:ahyp="http://schemas.microsoft.com/office/drawing/2018/hyperlinkcolor" val="tx"/>
                    </a:ext>
                  </a:extLst>
                </a:hlinkClick>
              </a:rPr>
              <a:t>Art. 226(9) and (10)</a:t>
            </a:r>
            <a:r>
              <a:rPr sz="750">
                <a:solidFill>
                  <a:srgbClr val="5B6890"/>
                </a:solidFill>
                <a:latin typeface="Inter Text"/>
              </a:rPr>
              <a:t>: VAT rate and VAT amount payable (EN 16931-1:2026, Annex B)</a:t>
            </a:r>
          </a:p>
          <a:p>
            <a:r>
              <a:rPr sz="750">
                <a:solidFill>
                  <a:srgbClr val="1A2B5E"/>
                </a:solidFill>
                <a:latin typeface="Inter SemiBold Text SemiBold"/>
              </a:rPr>
              <a:t>³ </a:t>
            </a:r>
            <a:r>
              <a:rPr sz="750">
                <a:solidFill>
                  <a:srgbClr val="5B6890"/>
                </a:solidFill>
                <a:latin typeface="Inter Text"/>
              </a:rPr>
              <a:t>Germany, </a:t>
            </a:r>
            <a:r>
              <a:rPr sz="750">
                <a:solidFill>
                  <a:srgbClr val="5B6890"/>
                </a:solidFill>
                <a:latin typeface="Inter Text"/>
                <a:hlinkClick r:id="rId8">
                  <a:extLst>
                    <a:ext uri="{A12FA001-AC4F-418D-AE19-62706E023703}">
                      <ahyp:hlinkClr xmlns:ahyp="http://schemas.microsoft.com/office/drawing/2018/hyperlinkcolor" val="tx"/>
                    </a:ext>
                  </a:extLst>
                </a:hlinkClick>
              </a:rPr>
              <a:t>§ 14 (4) no. 7 and 8 UStG</a:t>
            </a:r>
            <a:r>
              <a:rPr sz="750">
                <a:solidFill>
                  <a:srgbClr val="5B6890"/>
                </a:solidFill>
                <a:latin typeface="Inter Text"/>
              </a:rPr>
              <a:t>: net amount per rate, rate and tax amount — the tax amount calculated to the cent and rounded commercially, half up (</a:t>
            </a:r>
            <a:r>
              <a:rPr sz="750">
                <a:solidFill>
                  <a:srgbClr val="5B6890"/>
                </a:solidFill>
                <a:latin typeface="Inter Text"/>
                <a:hlinkClick r:id="rId9">
                  <a:extLst>
                    <a:ext uri="{A12FA001-AC4F-418D-AE19-62706E023703}">
                      <ahyp:hlinkClr xmlns:ahyp="http://schemas.microsoft.com/office/drawing/2018/hyperlinkcolor" val="tx"/>
                    </a:ext>
                  </a:extLst>
                </a:hlinkClick>
              </a:rPr>
              <a:t>UStAE 14.5 (20)</a:t>
            </a:r>
            <a:r>
              <a:rPr sz="750">
                <a:solidFill>
                  <a:srgbClr val="5B6890"/>
                </a:solidFill>
                <a:latin typeface="Inter Text"/>
              </a:rPr>
              <a:t>; </a:t>
            </a:r>
            <a:r>
              <a:rPr sz="750">
                <a:solidFill>
                  <a:srgbClr val="5B6890"/>
                </a:solidFill>
                <a:latin typeface="Inter Text"/>
                <a:hlinkClick r:id="rId10">
                  <a:extLst>
                    <a:ext uri="{A12FA001-AC4F-418D-AE19-62706E023703}">
                      <ahyp:hlinkClr xmlns:ahyp="http://schemas.microsoft.com/office/drawing/2018/hyperlinkcolor" val="tx"/>
                    </a:ext>
                  </a:extLst>
                </a:hlinkClick>
              </a:rPr>
              <a:t>BMF letter of 15 Oct 2026, para. 17</a:t>
            </a:r>
            <a:r>
              <a:rPr sz="750">
                <a:solidFill>
                  <a:srgbClr val="5B6890"/>
                </a:solidFill>
                <a:latin typeface="Inter Text"/>
              </a:rPr>
              <a:t>)</a:t>
            </a:r>
          </a:p>
          <a:p>
            <a:r>
              <a:rPr sz="750">
                <a:solidFill>
                  <a:srgbClr val="1A2B5E"/>
                </a:solidFill>
                <a:latin typeface="Inter SemiBold Text SemiBold"/>
              </a:rPr>
              <a:t>⁴ </a:t>
            </a:r>
            <a:r>
              <a:rPr sz="750">
                <a:solidFill>
                  <a:srgbClr val="5B6890"/>
                </a:solidFill>
                <a:latin typeface="Inter Text"/>
                <a:hlinkClick r:id="rId11">
                  <a:extLst>
                    <a:ext uri="{A12FA001-AC4F-418D-AE19-62706E023703}">
                      <ahyp:hlinkClr xmlns:ahyp="http://schemas.microsoft.com/office/drawing/2018/hyperlinkcolor" val="tx"/>
                    </a:ext>
                  </a:extLst>
                </a:hlinkClick>
              </a:rPr>
              <a:t>§ 10 (1) UStG</a:t>
            </a:r>
            <a:r>
              <a:rPr sz="750">
                <a:solidFill>
                  <a:srgbClr val="5B6890"/>
                </a:solidFill>
                <a:latin typeface="Inter Text"/>
              </a:rPr>
              <a:t>: the net amount (Entgelt) is the consideration minus the VAT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Folie 32">
    <p:bg>
      <p:bgPr>
        <a:solidFill>
          <a:srgbClr val="F4F6FB"/>
        </a:solidFill>
        <a:effectLst/>
      </p:bgPr>
    </p:bg>
    <p:spTree>
      <p:nvGrpSpPr>
        <p:cNvPr id="1" name=""/>
        <p:cNvGrpSpPr/>
        <p:nvPr/>
      </p:nvGrpSpPr>
      <p:grpSpPr>
        <a:xfrm>
          <a:off x="0" y="0"/>
          <a:ext cx="0" cy="0"/>
          <a:chOff x="0" y="0"/>
          <a:chExt cx="0" cy="0"/>
        </a:xfrm>
      </p:grpSpPr>
      <p:sp>
        <p:nvSpPr>
          <p:cNvPr id="3" name="Header 3"/>
          <p:cNvSpPr txBox="1"/>
          <p:nvPr/>
        </p:nvSpPr>
        <p:spPr>
          <a:xfrm>
            <a:off x="822960" y="384048"/>
            <a:ext cx="7315200" cy="274320"/>
          </a:xfrm>
          <a:prstGeom prst="rect">
            <a:avLst/>
          </a:prstGeom>
          <a:noFill/>
          <a:ln/>
        </p:spPr>
        <p:txBody>
          <a:bodyPr wrap="square" lIns="0" tIns="0" rIns="0" bIns="0" rtlCol="0" anchor="ctr"/>
          <a:lstStyle/>
          <a:p>
            <a:pPr marL="0" indent="0" algn="l">
              <a:buNone/>
            </a:pPr>
            <a:r>
              <a:rPr lang="en-GB" sz="950" spc="100" dirty="0">
                <a:solidFill>
                  <a:srgbClr val="5B6890"/>
                </a:solidFill>
                <a:latin typeface="Inter Medium Text Medium" pitchFamily="34" charset="0"/>
                <a:ea typeface="Inter Medium Text Medium" pitchFamily="34" charset="-122"/>
                <a:cs typeface="Inter Medium Text Medium" pitchFamily="34" charset="-120"/>
              </a:rPr>
              <a:t>CEN/TC 434 WG1</a:t>
            </a:r>
            <a:r>
              <a:rPr lang="en-GB" sz="950" spc="100" dirty="0">
                <a:solidFill>
                  <a:srgbClr val="C2CADE"/>
                </a:solidFill>
                <a:latin typeface="Inter Text" pitchFamily="34" charset="0"/>
                <a:ea typeface="Inter Text" pitchFamily="34" charset="-122"/>
                <a:cs typeface="Inter Text" pitchFamily="34" charset="-120"/>
              </a:rPr>
              <a:t>   ·   </a:t>
            </a:r>
            <a:r>
              <a:rPr lang="en-GB" sz="950" spc="100" dirty="0">
                <a:solidFill>
                  <a:srgbClr val="9AA4C2"/>
                </a:solidFill>
                <a:latin typeface="Inter Text" pitchFamily="34" charset="0"/>
                <a:ea typeface="Inter Text" pitchFamily="34" charset="-122"/>
                <a:cs typeface="Inter Text" pitchFamily="34" charset="-120"/>
              </a:rPr>
              <a:t>EN 16931-1:2026 amendment · Gross prices and rounding</a:t>
            </a:r>
          </a:p>
        </p:txBody>
      </p:sp>
      <p:sp>
        <p:nvSpPr>
          <p:cNvPr id="4" name="SectionLabel 4"/>
          <p:cNvSpPr txBox="1"/>
          <p:nvPr/>
        </p:nvSpPr>
        <p:spPr>
          <a:xfrm>
            <a:off x="822960" y="868680"/>
            <a:ext cx="8229600" cy="274320"/>
          </a:xfrm>
          <a:prstGeom prst="rect">
            <a:avLst/>
          </a:prstGeom>
          <a:noFill/>
          <a:ln/>
        </p:spPr>
        <p:txBody>
          <a:bodyPr wrap="square" lIns="0" tIns="0" rIns="0" bIns="0" rtlCol="0" anchor="ctr"/>
          <a:lstStyle/>
          <a:p>
            <a:pPr marL="0" indent="0" algn="l">
              <a:buNone/>
            </a:pPr>
            <a:r>
              <a:rPr lang="en-GB" sz="1100" spc="300" dirty="0">
                <a:solidFill>
                  <a:srgbClr val="19C3C8"/>
                </a:solidFill>
                <a:latin typeface="Inter SemiBold Text SemiBold" pitchFamily="34" charset="0"/>
                <a:ea typeface="Inter SemiBold Text SemiBold" pitchFamily="34" charset="-122"/>
                <a:cs typeface="Inter SemiBold Text SemiBold" pitchFamily="34" charset="-120"/>
              </a:rPr>
              <a:t>GROSS MODEL </a:t>
            </a:r>
            <a:r>
              <a:rPr lang="en-GB" sz="1100" spc="300" dirty="0">
                <a:solidFill>
                  <a:srgbClr val="19C3C8"/>
                </a:solidFill>
                <a:latin typeface="Inter SemiBold Text SemiBold" pitchFamily="34" charset="0"/>
                <a:ea typeface="Inter SemiBold Text SemiBold" pitchFamily="34" charset="-122"/>
                <a:cs typeface="Inter SemiBold Text SemiBold" pitchFamily="34" charset="-120"/>
                <a:hlinkClick r:id="rId4">
                  <a:extLst>
                    <a:ext uri="{A12FA001-AC4F-418D-AE19-62706E023703}">
                      <ahyp:hlinkClr xmlns:ahyp="http://schemas.microsoft.com/office/drawing/2018/hyperlinkcolor" val="tx"/>
                    </a:ext>
                  </a:extLst>
                </a:hlinkClick>
              </a:rPr>
              <a:t>(#164)</a:t>
            </a:r>
            <a:r>
              <a:rPr lang="en-GB" sz="1100" spc="300" dirty="0">
                <a:solidFill>
                  <a:srgbClr val="19C3C8"/>
                </a:solidFill>
                <a:latin typeface="Inter SemiBold Text SemiBold" pitchFamily="34" charset="0"/>
                <a:ea typeface="Inter SemiBold Text SemiBold" pitchFamily="34" charset="-122"/>
                <a:cs typeface="Inter SemiBold Text SemiBold" pitchFamily="34" charset="-120"/>
              </a:rPr>
              <a:t> · EXAMPLE</a:t>
            </a:r>
          </a:p>
        </p:txBody>
      </p:sp>
      <p:sp>
        <p:nvSpPr>
          <p:cNvPr id="5" name="Title 5"/>
          <p:cNvSpPr txBox="1"/>
          <p:nvPr/>
        </p:nvSpPr>
        <p:spPr>
          <a:xfrm>
            <a:off x="804672" y="1115568"/>
            <a:ext cx="10424160" cy="822960"/>
          </a:xfrm>
          <a:prstGeom prst="rect">
            <a:avLst/>
          </a:prstGeom>
          <a:noFill/>
          <a:ln/>
        </p:spPr>
        <p:txBody>
          <a:bodyPr wrap="square" lIns="0" tIns="0" rIns="0" bIns="0" rtlCol="0" anchor="t"/>
          <a:lstStyle/>
          <a:p>
            <a:pPr marL="0" indent="0" algn="l">
              <a:buNone/>
            </a:pPr>
            <a:r>
              <a:rPr lang="en-GB" sz="3800" b="1" dirty="0">
                <a:solidFill>
                  <a:srgbClr val="1A2B5E"/>
                </a:solidFill>
                <a:latin typeface="Inter Text" pitchFamily="34" charset="0"/>
                <a:ea typeface="Inter Text" pitchFamily="34" charset="-122"/>
                <a:cs typeface="Inter Text" pitchFamily="34" charset="-120"/>
              </a:rPr>
              <a:t>Fuel: the tenth of a cent is in the price</a:t>
            </a:r>
          </a:p>
        </p:txBody>
      </p:sp>
      <p:sp>
        <p:nvSpPr>
          <p:cNvPr id="6" name="Tagline 6"/>
          <p:cNvSpPr txBox="1"/>
          <p:nvPr/>
        </p:nvSpPr>
        <p:spPr>
          <a:xfrm>
            <a:off x="822960" y="1865376"/>
            <a:ext cx="10424160" cy="320040"/>
          </a:xfrm>
          <a:prstGeom prst="rect">
            <a:avLst/>
          </a:prstGeom>
          <a:noFill/>
          <a:ln/>
        </p:spPr>
        <p:txBody>
          <a:bodyPr wrap="square" lIns="0" tIns="0" rIns="0" bIns="0" rtlCol="0" anchor="ctr"/>
          <a:lstStyle/>
          <a:p>
            <a:pPr marL="0" indent="0" algn="l">
              <a:buNone/>
            </a:pPr>
            <a:r>
              <a:rPr lang="en-GB" sz="1300" dirty="0">
                <a:solidFill>
                  <a:srgbClr val="5B6890"/>
                </a:solidFill>
                <a:latin typeface="Inter Text" pitchFamily="34" charset="0"/>
                <a:ea typeface="Inter Text" pitchFamily="34" charset="-122"/>
                <a:cs typeface="Inter Text" pitchFamily="34" charset="-120"/>
              </a:rPr>
              <a:t>The amounts that are paid, booked and declared stay in cents.</a:t>
            </a:r>
          </a:p>
        </p:txBody>
      </p:sp>
      <p:sp>
        <p:nvSpPr>
          <p:cNvPr id="7" name="PageNum 7"/>
          <p:cNvSpPr txBox="1"/>
          <p:nvPr/>
        </p:nvSpPr>
        <p:spPr>
          <a:xfrm>
            <a:off x="10908792" y="6514592"/>
            <a:ext cx="822960" cy="292608"/>
          </a:xfrm>
          <a:prstGeom prst="rect">
            <a:avLst/>
          </a:prstGeom>
          <a:noFill/>
          <a:ln/>
        </p:spPr>
        <p:txBody>
          <a:bodyPr wrap="square" lIns="0" tIns="0" rIns="0" bIns="0" rtlCol="0" anchor="ctr"/>
          <a:lstStyle/>
          <a:p>
            <a:pPr marL="0" indent="0" algn="r">
              <a:buNone/>
            </a:pPr>
            <a:fld id="{F34489CF-F034-4AFD-9989-E9C20810832A}" type="slidenum">
              <a:rPr lang="en-GB" sz="1000" spc="200" dirty="0">
                <a:solidFill>
                  <a:srgbClr val="5B6890"/>
                </a:solidFill>
                <a:latin typeface="Inter SemiBold Text SemiBold" pitchFamily="34" charset="0"/>
                <a:ea typeface="Inter SemiBold Text SemiBold" pitchFamily="34" charset="-122"/>
                <a:cs typeface="Inter SemiBold Text SemiBold" pitchFamily="34" charset="-120"/>
              </a:rPr>
              <a:t>13</a:t>
            </a:fld>
            <a:endParaRPr lang="en-GB" sz="1000" spc="200" dirty="0">
              <a:solidFill>
                <a:srgbClr val="5B6890"/>
              </a:solidFill>
              <a:latin typeface="Inter SemiBold Text SemiBold" pitchFamily="34" charset="0"/>
              <a:ea typeface="Inter SemiBold Text SemiBold" pitchFamily="34" charset="-122"/>
              <a:cs typeface="Inter SemiBold Text SemiBold" pitchFamily="34" charset="-120"/>
            </a:endParaRPr>
          </a:p>
        </p:txBody>
      </p:sp>
      <p:graphicFrame>
        <p:nvGraphicFramePr>
          <p:cNvPr id="8" name="Table 8"/>
          <p:cNvGraphicFramePr>
            <a:graphicFrameLocks noGrp="1"/>
          </p:cNvGraphicFramePr>
          <p:nvPr/>
        </p:nvGraphicFramePr>
        <p:xfrm>
          <a:off x="822960" y="2331720"/>
          <a:ext cx="6537960" cy="2487168"/>
        </p:xfrm>
        <a:graphic>
          <a:graphicData uri="http://schemas.openxmlformats.org/drawingml/2006/table">
            <a:tbl>
              <a:tblPr firstRow="1" bandRow="1"/>
              <a:tblGrid>
                <a:gridCol w="269748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384048">
                <a:tc>
                  <a:txBody>
                    <a:bodyPr/>
                    <a:lstStyle/>
                    <a:p>
                      <a:pPr marL="0" indent="0" algn="l">
                        <a:buNone/>
                      </a:pPr>
                      <a:r>
                        <a:rPr lang="en-GB" sz="1050" dirty="0">
                          <a:solidFill>
                            <a:srgbClr val="FFFFFF"/>
                          </a:solidFill>
                          <a:latin typeface="Inter SemiBold Text SemiBold" pitchFamily="34" charset="0"/>
                          <a:ea typeface="Inter SemiBold Text SemiBold" pitchFamily="34" charset="-122"/>
                          <a:cs typeface="Inter SemiBold Text SemiBold" pitchFamily="34" charset="-120"/>
                        </a:rPr>
                        <a:t>Business term</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1A2B5E"/>
                    </a:solidFill>
                  </a:tcPr>
                </a:tc>
                <a:tc>
                  <a:txBody>
                    <a:bodyPr/>
                    <a:lstStyle/>
                    <a:p>
                      <a:pPr marL="0" indent="0" algn="l">
                        <a:buNone/>
                      </a:pPr>
                      <a:r>
                        <a:rPr lang="en-GB" sz="1050" dirty="0">
                          <a:solidFill>
                            <a:srgbClr val="FFFFFF"/>
                          </a:solidFill>
                          <a:latin typeface="Inter SemiBold Text SemiBold" pitchFamily="34" charset="0"/>
                          <a:ea typeface="Inter SemiBold Text SemiBold" pitchFamily="34" charset="-122"/>
                          <a:cs typeface="Inter SemiBold Text SemiBold" pitchFamily="34" charset="-120"/>
                        </a:rPr>
                        <a:t>Value</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1A2B5E"/>
                    </a:solidFill>
                  </a:tcPr>
                </a:tc>
                <a:tc>
                  <a:txBody>
                    <a:bodyPr/>
                    <a:lstStyle/>
                    <a:p>
                      <a:pPr marL="0" indent="0" algn="l">
                        <a:buNone/>
                      </a:pPr>
                      <a:r>
                        <a:rPr lang="en-GB" sz="1050" dirty="0">
                          <a:solidFill>
                            <a:srgbClr val="FFFFFF"/>
                          </a:solidFill>
                          <a:latin typeface="Inter SemiBold Text SemiBold" pitchFamily="34" charset="0"/>
                          <a:ea typeface="Inter SemiBold Text SemiBold" pitchFamily="34" charset="-122"/>
                          <a:cs typeface="Inter SemiBold Text SemiBold" pitchFamily="34" charset="-120"/>
                        </a:rPr>
                        <a:t>Origin</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1A2B5E"/>
                    </a:solidFill>
                  </a:tcPr>
                </a:tc>
                <a:extLst>
                  <a:ext uri="{0D108BD9-81ED-4DB2-BD59-A6C34878D82A}">
                    <a16:rowId xmlns:a16="http://schemas.microsoft.com/office/drawing/2014/main" val="10000"/>
                  </a:ext>
                </a:extLst>
              </a:tr>
              <a:tr h="402336">
                <a:tc>
                  <a:txBody>
                    <a:bodyPr/>
                    <a:lstStyle/>
                    <a:p>
                      <a:pPr marL="0" indent="0" algn="l">
                        <a:buNone/>
                      </a:pPr>
                      <a:r>
                        <a:rPr lang="en-GB" sz="1100" dirty="0">
                          <a:solidFill>
                            <a:srgbClr val="1A2B5E"/>
                          </a:solidFill>
                          <a:latin typeface="Inter SemiBold Text SemiBold" pitchFamily="34" charset="0"/>
                          <a:ea typeface="Inter SemiBold Text SemiBold" pitchFamily="34" charset="-122"/>
                          <a:cs typeface="Inter SemiBold Text SemiBold" pitchFamily="34" charset="-120"/>
                        </a:rPr>
                        <a:t>BT-146V Item net price plus VAT</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FFF"/>
                    </a:solidFill>
                  </a:tcPr>
                </a:tc>
                <a:tc>
                  <a:txBody>
                    <a:bodyPr/>
                    <a:lstStyle/>
                    <a:p>
                      <a:pPr marL="0" indent="0" algn="l">
                        <a:buNone/>
                      </a:pPr>
                      <a:r>
                        <a:rPr lang="en-GB" sz="1100" dirty="0">
                          <a:solidFill>
                            <a:srgbClr val="5B6890"/>
                          </a:solidFill>
                          <a:latin typeface="Inter Text" pitchFamily="34" charset="0"/>
                          <a:ea typeface="Inter Text" pitchFamily="34" charset="-122"/>
                          <a:cs typeface="Inter Text" pitchFamily="34" charset="-120"/>
                        </a:rPr>
                        <a:t>1.799</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FFF"/>
                    </a:solidFill>
                  </a:tcPr>
                </a:tc>
                <a:tc>
                  <a:txBody>
                    <a:bodyPr/>
                    <a:lstStyle/>
                    <a:p>
                      <a:pPr marL="0" indent="0" algn="l">
                        <a:buNone/>
                      </a:pPr>
                      <a:r>
                        <a:rPr lang="en-GB" sz="1100" dirty="0">
                          <a:solidFill>
                            <a:srgbClr val="5B6890"/>
                          </a:solidFill>
                          <a:latin typeface="Inter Text" pitchFamily="34" charset="0"/>
                          <a:ea typeface="Inter Text" pitchFamily="34" charset="-122"/>
                          <a:cs typeface="Inter Text" pitchFamily="34" charset="-120"/>
                        </a:rPr>
                        <a:t>price at the pump</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FFF"/>
                    </a:solidFill>
                  </a:tcPr>
                </a:tc>
                <a:extLst>
                  <a:ext uri="{0D108BD9-81ED-4DB2-BD59-A6C34878D82A}">
                    <a16:rowId xmlns:a16="http://schemas.microsoft.com/office/drawing/2014/main" val="10001"/>
                  </a:ext>
                </a:extLst>
              </a:tr>
              <a:tr h="402336">
                <a:tc>
                  <a:txBody>
                    <a:bodyPr/>
                    <a:lstStyle/>
                    <a:p>
                      <a:pPr marL="0" indent="0" algn="l">
                        <a:buNone/>
                      </a:pPr>
                      <a:r>
                        <a:rPr lang="en-GB" sz="1100" dirty="0">
                          <a:solidFill>
                            <a:srgbClr val="1A2B5E"/>
                          </a:solidFill>
                          <a:latin typeface="Inter SemiBold Text SemiBold" pitchFamily="34" charset="0"/>
                          <a:ea typeface="Inter SemiBold Text SemiBold" pitchFamily="34" charset="-122"/>
                          <a:cs typeface="Inter SemiBold Text SemiBold" pitchFamily="34" charset="-120"/>
                        </a:rPr>
                        <a:t>BT-129 Invoiced quantity</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FFF"/>
                    </a:solidFill>
                  </a:tcPr>
                </a:tc>
                <a:tc>
                  <a:txBody>
                    <a:bodyPr/>
                    <a:lstStyle/>
                    <a:p>
                      <a:pPr marL="0" indent="0" algn="l">
                        <a:buNone/>
                      </a:pPr>
                      <a:r>
                        <a:rPr lang="en-GB" sz="1100" dirty="0">
                          <a:solidFill>
                            <a:srgbClr val="5B6890"/>
                          </a:solidFill>
                          <a:latin typeface="Inter Text" pitchFamily="34" charset="0"/>
                          <a:ea typeface="Inter Text" pitchFamily="34" charset="-122"/>
                          <a:cs typeface="Inter Text" pitchFamily="34" charset="-120"/>
                        </a:rPr>
                        <a:t>45.37 l</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FFF"/>
                    </a:solidFill>
                  </a:tcPr>
                </a:tc>
                <a:tc>
                  <a:txBody>
                    <a:bodyPr/>
                    <a:lstStyle/>
                    <a:p>
                      <a:pPr marL="0" indent="0" algn="l">
                        <a:buNone/>
                      </a:pPr>
                      <a:r>
                        <a:rPr lang="en-GB" sz="1100" dirty="0">
                          <a:solidFill>
                            <a:srgbClr val="5B6890"/>
                          </a:solidFill>
                          <a:latin typeface="Inter Text" pitchFamily="34" charset="0"/>
                          <a:ea typeface="Inter Text" pitchFamily="34" charset="-122"/>
                          <a:cs typeface="Inter Text" pitchFamily="34" charset="-120"/>
                        </a:rPr>
                        <a:t>dispensed</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FFF"/>
                    </a:solidFill>
                  </a:tcPr>
                </a:tc>
                <a:extLst>
                  <a:ext uri="{0D108BD9-81ED-4DB2-BD59-A6C34878D82A}">
                    <a16:rowId xmlns:a16="http://schemas.microsoft.com/office/drawing/2014/main" val="10001"/>
                  </a:ext>
                </a:extLst>
              </a:tr>
              <a:tr h="402336">
                <a:tc>
                  <a:txBody>
                    <a:bodyPr/>
                    <a:lstStyle/>
                    <a:p>
                      <a:pPr marL="0" indent="0" algn="l">
                        <a:buNone/>
                      </a:pPr>
                      <a:r>
                        <a:rPr lang="en-GB" sz="1100" dirty="0">
                          <a:solidFill>
                            <a:srgbClr val="1A2B5E"/>
                          </a:solidFill>
                          <a:latin typeface="Inter SemiBold Text SemiBold" pitchFamily="34" charset="0"/>
                          <a:ea typeface="Inter SemiBold Text SemiBold" pitchFamily="34" charset="-122"/>
                          <a:cs typeface="Inter SemiBold Text SemiBold" pitchFamily="34" charset="-120"/>
                        </a:rPr>
                        <a:t>BT-131V Invoice line net amount plus VAT</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FFF"/>
                    </a:solidFill>
                  </a:tcPr>
                </a:tc>
                <a:tc>
                  <a:txBody>
                    <a:bodyPr/>
                    <a:lstStyle/>
                    <a:p>
                      <a:pPr marL="0" indent="0" algn="l">
                        <a:buNone/>
                      </a:pPr>
                      <a:r>
                        <a:rPr lang="en-GB" sz="1100" dirty="0">
                          <a:solidFill>
                            <a:srgbClr val="5B6890"/>
                          </a:solidFill>
                          <a:latin typeface="Inter Text" pitchFamily="34" charset="0"/>
                          <a:ea typeface="Inter Text" pitchFamily="34" charset="-122"/>
                          <a:cs typeface="Inter Text" pitchFamily="34" charset="-120"/>
                        </a:rPr>
                        <a:t>81.62</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FFF"/>
                    </a:solidFill>
                  </a:tcPr>
                </a:tc>
                <a:tc>
                  <a:txBody>
                    <a:bodyPr/>
                    <a:lstStyle/>
                    <a:p>
                      <a:pPr marL="0" indent="0" algn="l">
                        <a:buNone/>
                      </a:pPr>
                      <a:r>
                        <a:rPr lang="en-GB" sz="1100" dirty="0">
                          <a:solidFill>
                            <a:srgbClr val="5B6890"/>
                          </a:solidFill>
                          <a:latin typeface="Inter Text" pitchFamily="34" charset="0"/>
                          <a:ea typeface="Inter Text" pitchFamily="34" charset="-122"/>
                          <a:cs typeface="Inter Text" pitchFamily="34" charset="-120"/>
                        </a:rPr>
                        <a:t>81.62063, paid as 81.62</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FFF"/>
                    </a:solidFill>
                  </a:tcPr>
                </a:tc>
                <a:extLst>
                  <a:ext uri="{0D108BD9-81ED-4DB2-BD59-A6C34878D82A}">
                    <a16:rowId xmlns:a16="http://schemas.microsoft.com/office/drawing/2014/main" val="10001"/>
                  </a:ext>
                </a:extLst>
              </a:tr>
              <a:tr h="402336">
                <a:tc>
                  <a:txBody>
                    <a:bodyPr/>
                    <a:lstStyle/>
                    <a:p>
                      <a:pPr marL="0" indent="0" algn="l">
                        <a:buNone/>
                      </a:pPr>
                      <a:r>
                        <a:rPr lang="en-GB" sz="1100" dirty="0">
                          <a:solidFill>
                            <a:srgbClr val="1A2B5E"/>
                          </a:solidFill>
                          <a:latin typeface="Inter SemiBold Text SemiBold" pitchFamily="34" charset="0"/>
                          <a:ea typeface="Inter SemiBold Text SemiBold" pitchFamily="34" charset="-122"/>
                          <a:cs typeface="Inter SemiBold Text SemiBold" pitchFamily="34" charset="-120"/>
                        </a:rPr>
                        <a:t>BT-117 VAT category tax amount</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FFF"/>
                    </a:solidFill>
                  </a:tcPr>
                </a:tc>
                <a:tc>
                  <a:txBody>
                    <a:bodyPr/>
                    <a:lstStyle/>
                    <a:p>
                      <a:pPr marL="0" indent="0" algn="l">
                        <a:buNone/>
                      </a:pPr>
                      <a:r>
                        <a:rPr lang="en-GB" sz="1100" dirty="0">
                          <a:solidFill>
                            <a:srgbClr val="5B6890"/>
                          </a:solidFill>
                          <a:latin typeface="Inter Text" pitchFamily="34" charset="0"/>
                          <a:ea typeface="Inter Text" pitchFamily="34" charset="-122"/>
                          <a:cs typeface="Inter Text" pitchFamily="34" charset="-120"/>
                        </a:rPr>
                        <a:t>13.03</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FFF"/>
                    </a:solidFill>
                  </a:tcPr>
                </a:tc>
                <a:tc>
                  <a:txBody>
                    <a:bodyPr/>
                    <a:lstStyle/>
                    <a:p>
                      <a:pPr marL="0" indent="0" algn="l">
                        <a:buNone/>
                      </a:pPr>
                      <a:r>
                        <a:rPr lang="en-GB" sz="1100" dirty="0">
                          <a:solidFill>
                            <a:srgbClr val="5B6890"/>
                          </a:solidFill>
                          <a:latin typeface="Inter Text" pitchFamily="34" charset="0"/>
                          <a:ea typeface="Inter Text" pitchFamily="34" charset="-122"/>
                          <a:cs typeface="Inter Text" pitchFamily="34" charset="-120"/>
                        </a:rPr>
                        <a:t>81.62 × 19 ÷ 119, rounded once</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FFF"/>
                    </a:solidFill>
                  </a:tcPr>
                </a:tc>
                <a:extLst>
                  <a:ext uri="{0D108BD9-81ED-4DB2-BD59-A6C34878D82A}">
                    <a16:rowId xmlns:a16="http://schemas.microsoft.com/office/drawing/2014/main" val="10001"/>
                  </a:ext>
                </a:extLst>
              </a:tr>
              <a:tr h="402336">
                <a:tc>
                  <a:txBody>
                    <a:bodyPr/>
                    <a:lstStyle/>
                    <a:p>
                      <a:pPr marL="0" indent="0" algn="l">
                        <a:buNone/>
                      </a:pPr>
                      <a:r>
                        <a:rPr lang="en-GB" sz="1100" dirty="0">
                          <a:solidFill>
                            <a:srgbClr val="1A2B5E"/>
                          </a:solidFill>
                          <a:latin typeface="Inter SemiBold Text SemiBold" pitchFamily="34" charset="0"/>
                          <a:ea typeface="Inter SemiBold Text SemiBold" pitchFamily="34" charset="-122"/>
                          <a:cs typeface="Inter SemiBold Text SemiBold" pitchFamily="34" charset="-120"/>
                        </a:rPr>
                        <a:t>BT-116 VAT category taxable amount</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FFF"/>
                    </a:solidFill>
                  </a:tcPr>
                </a:tc>
                <a:tc>
                  <a:txBody>
                    <a:bodyPr/>
                    <a:lstStyle/>
                    <a:p>
                      <a:pPr marL="0" indent="0" algn="l">
                        <a:buNone/>
                      </a:pPr>
                      <a:r>
                        <a:rPr lang="en-GB" sz="1100" dirty="0">
                          <a:solidFill>
                            <a:srgbClr val="5B6890"/>
                          </a:solidFill>
                          <a:latin typeface="Inter Text" pitchFamily="34" charset="0"/>
                          <a:ea typeface="Inter Text" pitchFamily="34" charset="-122"/>
                          <a:cs typeface="Inter Text" pitchFamily="34" charset="-120"/>
                        </a:rPr>
                        <a:t>68.59</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FFF"/>
                    </a:solidFill>
                  </a:tcPr>
                </a:tc>
                <a:tc>
                  <a:txBody>
                    <a:bodyPr/>
                    <a:lstStyle/>
                    <a:p>
                      <a:pPr marL="0" indent="0" algn="l">
                        <a:buNone/>
                      </a:pPr>
                      <a:r>
                        <a:rPr lang="en-GB" sz="1100" dirty="0">
                          <a:solidFill>
                            <a:srgbClr val="5B6890"/>
                          </a:solidFill>
                          <a:latin typeface="Inter Text" pitchFamily="34" charset="0"/>
                          <a:ea typeface="Inter Text" pitchFamily="34" charset="-122"/>
                          <a:cs typeface="Inter Text" pitchFamily="34" charset="-120"/>
                        </a:rPr>
                        <a:t>81.62 − 13.03, the remainder</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FFF"/>
                    </a:solidFill>
                  </a:tcPr>
                </a:tc>
                <a:extLst>
                  <a:ext uri="{0D108BD9-81ED-4DB2-BD59-A6C34878D82A}">
                    <a16:rowId xmlns:a16="http://schemas.microsoft.com/office/drawing/2014/main" val="10001"/>
                  </a:ext>
                </a:extLst>
              </a:tr>
            </a:tbl>
          </a:graphicData>
        </a:graphic>
      </p:graphicFrame>
      <p:sp>
        <p:nvSpPr>
          <p:cNvPr id="9" name="Text 9"/>
          <p:cNvSpPr txBox="1"/>
          <p:nvPr/>
        </p:nvSpPr>
        <p:spPr>
          <a:xfrm>
            <a:off x="822960" y="4937760"/>
            <a:ext cx="6537960" cy="914400"/>
          </a:xfrm>
          <a:prstGeom prst="rect">
            <a:avLst/>
          </a:prstGeom>
          <a:noFill/>
          <a:ln/>
        </p:spPr>
        <p:txBody>
          <a:bodyPr wrap="square" lIns="0" tIns="0" rIns="0" bIns="0" rtlCol="0" anchor="t"/>
          <a:lstStyle/>
          <a:p>
            <a:pPr marL="0" indent="0" algn="l">
              <a:lnSpc>
                <a:spcPct val="110000"/>
              </a:lnSpc>
              <a:buNone/>
            </a:pPr>
            <a:r>
              <a:rPr lang="en-GB" sz="1100" dirty="0">
                <a:solidFill>
                  <a:srgbClr val="5B6890"/>
                </a:solidFill>
                <a:latin typeface="Inter Text" pitchFamily="34" charset="0"/>
                <a:ea typeface="Inter Text" pitchFamily="34" charset="-122"/>
                <a:cs typeface="Inter Text" pitchFamily="34" charset="-120"/>
              </a:rPr>
              <a:t>BT-116V = BT-112 = BT-115 = 81.62. BT-131 Invoice line net amount is not used in the gross model: no conversion per line, no tolerance.</a:t>
            </a:r>
          </a:p>
        </p:txBody>
      </p:sp>
      <p:sp>
        <p:nvSpPr>
          <p:cNvPr id="10" name="Panel 10"/>
          <p:cNvSpPr/>
          <p:nvPr/>
        </p:nvSpPr>
        <p:spPr>
          <a:xfrm>
            <a:off x="7589520" y="2331720"/>
            <a:ext cx="3776472" cy="3520440"/>
          </a:xfrm>
          <a:prstGeom prst="roundRect">
            <a:avLst>
              <a:gd name="adj" fmla="val 2597"/>
            </a:avLst>
          </a:prstGeom>
          <a:solidFill>
            <a:srgbClr val="1A2B5E"/>
          </a:solidFill>
          <a:ln>
            <a:noFill/>
          </a:ln>
          <a:effectLst>
            <a:outerShdw blurRad="101600" dist="38100" dir="5400000" algn="bl" rotWithShape="0">
              <a:srgbClr val="0A1230">
                <a:alpha val="18000"/>
              </a:srgbClr>
            </a:outerShdw>
          </a:effectLst>
        </p:spPr>
        <p:txBody>
          <a:bodyPr/>
          <a:lstStyle/>
          <a:p>
            <a:endParaRPr lang="en-GB"/>
          </a:p>
        </p:txBody>
      </p:sp>
      <p:sp>
        <p:nvSpPr>
          <p:cNvPr id="11" name="Text 11"/>
          <p:cNvSpPr txBox="1"/>
          <p:nvPr/>
        </p:nvSpPr>
        <p:spPr>
          <a:xfrm>
            <a:off x="7909560" y="2514600"/>
            <a:ext cx="3200400" cy="274320"/>
          </a:xfrm>
          <a:prstGeom prst="rect">
            <a:avLst/>
          </a:prstGeom>
          <a:noFill/>
          <a:ln/>
        </p:spPr>
        <p:txBody>
          <a:bodyPr wrap="square" lIns="0" tIns="0" rIns="0" bIns="0" rtlCol="0" anchor="ctr"/>
          <a:lstStyle/>
          <a:p>
            <a:pPr marL="0" indent="0" algn="l">
              <a:buNone/>
            </a:pPr>
            <a:r>
              <a:rPr lang="en-GB" sz="1050" spc="150" dirty="0">
                <a:solidFill>
                  <a:srgbClr val="19C3C8"/>
                </a:solidFill>
                <a:latin typeface="Inter SemiBold Text SemiBold" pitchFamily="34" charset="0"/>
                <a:ea typeface="Inter SemiBold Text SemiBold" pitchFamily="34" charset="-122"/>
                <a:cs typeface="Inter SemiBold Text SemiBold" pitchFamily="34" charset="-120"/>
              </a:rPr>
              <a:t>THE NET PRICE CONFIRMS THE VAT</a:t>
            </a:r>
          </a:p>
        </p:txBody>
      </p:sp>
      <p:sp>
        <p:nvSpPr>
          <p:cNvPr id="12" name="Text 12"/>
          <p:cNvSpPr txBox="1"/>
          <p:nvPr/>
        </p:nvSpPr>
        <p:spPr>
          <a:xfrm>
            <a:off x="7909560" y="2816352"/>
            <a:ext cx="3200400" cy="365760"/>
          </a:xfrm>
          <a:prstGeom prst="rect">
            <a:avLst/>
          </a:prstGeom>
          <a:noFill/>
          <a:ln/>
        </p:spPr>
        <p:txBody>
          <a:bodyPr wrap="square" lIns="0" tIns="0" rIns="0" bIns="0" rtlCol="0" anchor="ctr"/>
          <a:lstStyle/>
          <a:p>
            <a:pPr marL="0" indent="0" algn="l">
              <a:buNone/>
            </a:pPr>
            <a:r>
              <a:rPr lang="en-GB" sz="1300" dirty="0">
                <a:solidFill>
                  <a:srgbClr val="FFFFFF"/>
                </a:solidFill>
                <a:latin typeface="Inter SemiBold Text SemiBold" pitchFamily="34" charset="0"/>
                <a:ea typeface="Inter SemiBold Text SemiBold" pitchFamily="34" charset="-122"/>
                <a:cs typeface="Inter SemiBold Text SemiBold" pitchFamily="34" charset="-120"/>
              </a:rPr>
              <a:t>1,000 × €24.95 incl. 7% VAT </a:t>
            </a:r>
            <a:r>
              <a:rPr lang="en-GB" sz="1300" dirty="0">
                <a:solidFill>
                  <a:srgbClr val="FFFFFF"/>
                </a:solidFill>
                <a:latin typeface="Inter SemiBold Text SemiBold" pitchFamily="34" charset="0"/>
                <a:ea typeface="Inter SemiBold Text SemiBold" pitchFamily="34" charset="-122"/>
                <a:cs typeface="Inter SemiBold Text SemiBold" pitchFamily="34" charset="-120"/>
                <a:hlinkClick r:id="rId4">
                  <a:extLst>
                    <a:ext uri="{A12FA001-AC4F-418D-AE19-62706E023703}">
                      <ahyp:hlinkClr xmlns:ahyp="http://schemas.microsoft.com/office/drawing/2018/hyperlinkcolor" val="tx"/>
                    </a:ext>
                  </a:extLst>
                </a:hlinkClick>
              </a:rPr>
              <a:t>(#164)</a:t>
            </a:r>
          </a:p>
        </p:txBody>
      </p:sp>
      <p:sp>
        <p:nvSpPr>
          <p:cNvPr id="13" name="Text 13"/>
          <p:cNvSpPr txBox="1"/>
          <p:nvPr/>
        </p:nvSpPr>
        <p:spPr>
          <a:xfrm>
            <a:off x="7909560" y="3291840"/>
            <a:ext cx="1143000" cy="274320"/>
          </a:xfrm>
          <a:prstGeom prst="rect">
            <a:avLst/>
          </a:prstGeom>
          <a:noFill/>
          <a:ln/>
        </p:spPr>
        <p:txBody>
          <a:bodyPr wrap="square" lIns="0" tIns="0" rIns="0" bIns="0" rtlCol="0" anchor="ctr"/>
          <a:lstStyle/>
          <a:p>
            <a:pPr marL="0" indent="0" algn="l">
              <a:buNone/>
            </a:pPr>
            <a:endParaRPr/>
          </a:p>
        </p:txBody>
      </p:sp>
      <p:sp>
        <p:nvSpPr>
          <p:cNvPr id="14" name="Text 14"/>
          <p:cNvSpPr txBox="1"/>
          <p:nvPr/>
        </p:nvSpPr>
        <p:spPr>
          <a:xfrm>
            <a:off x="9052560" y="3291840"/>
            <a:ext cx="1143000" cy="274320"/>
          </a:xfrm>
          <a:prstGeom prst="rect">
            <a:avLst/>
          </a:prstGeom>
          <a:noFill/>
          <a:ln/>
        </p:spPr>
        <p:txBody>
          <a:bodyPr wrap="square" lIns="0" tIns="0" rIns="0" bIns="0" rtlCol="0" anchor="ctr"/>
          <a:lstStyle/>
          <a:p>
            <a:pPr marL="0" indent="0" algn="r">
              <a:buNone/>
            </a:pPr>
            <a:r>
              <a:rPr lang="en-GB" sz="1000" dirty="0">
                <a:solidFill>
                  <a:srgbClr val="C2CADE"/>
                </a:solidFill>
                <a:latin typeface="Inter SemiBold Text SemiBold" pitchFamily="34" charset="0"/>
                <a:ea typeface="Inter SemiBold Text SemiBold" pitchFamily="34" charset="-122"/>
                <a:cs typeface="Inter SemiBold Text SemiBold" pitchFamily="34" charset="-120"/>
              </a:rPr>
              <a:t>Net</a:t>
            </a:r>
          </a:p>
        </p:txBody>
      </p:sp>
      <p:sp>
        <p:nvSpPr>
          <p:cNvPr id="15" name="Text 15"/>
          <p:cNvSpPr txBox="1"/>
          <p:nvPr/>
        </p:nvSpPr>
        <p:spPr>
          <a:xfrm>
            <a:off x="10195560" y="3291840"/>
            <a:ext cx="914400" cy="274320"/>
          </a:xfrm>
          <a:prstGeom prst="rect">
            <a:avLst/>
          </a:prstGeom>
          <a:noFill/>
          <a:ln/>
        </p:spPr>
        <p:txBody>
          <a:bodyPr wrap="square" lIns="0" tIns="0" rIns="0" bIns="0" rtlCol="0" anchor="ctr"/>
          <a:lstStyle/>
          <a:p>
            <a:pPr marL="0" indent="0" algn="r">
              <a:buNone/>
            </a:pPr>
            <a:r>
              <a:rPr lang="en-GB" sz="1000" dirty="0">
                <a:solidFill>
                  <a:srgbClr val="C2CADE"/>
                </a:solidFill>
                <a:latin typeface="Inter SemiBold Text SemiBold" pitchFamily="34" charset="0"/>
                <a:ea typeface="Inter SemiBold Text SemiBold" pitchFamily="34" charset="-122"/>
                <a:cs typeface="Inter SemiBold Text SemiBold" pitchFamily="34" charset="-120"/>
              </a:rPr>
              <a:t>VAT</a:t>
            </a:r>
          </a:p>
        </p:txBody>
      </p:sp>
      <p:sp>
        <p:nvSpPr>
          <p:cNvPr id="16" name="Text 16"/>
          <p:cNvSpPr txBox="1"/>
          <p:nvPr/>
        </p:nvSpPr>
        <p:spPr>
          <a:xfrm>
            <a:off x="7909560" y="3611880"/>
            <a:ext cx="1143000" cy="365760"/>
          </a:xfrm>
          <a:prstGeom prst="rect">
            <a:avLst/>
          </a:prstGeom>
          <a:noFill/>
          <a:ln/>
        </p:spPr>
        <p:txBody>
          <a:bodyPr wrap="square" lIns="0" tIns="0" rIns="0" bIns="0" rtlCol="0" anchor="ctr"/>
          <a:lstStyle/>
          <a:p>
            <a:pPr marL="0" indent="0" algn="l">
              <a:buNone/>
            </a:pPr>
            <a:r>
              <a:rPr lang="en-GB" sz="1150" dirty="0">
                <a:solidFill>
                  <a:srgbClr val="C2CADE"/>
                </a:solidFill>
                <a:latin typeface="Inter Text" pitchFamily="34" charset="0"/>
                <a:ea typeface="Inter Text" pitchFamily="34" charset="-122"/>
                <a:cs typeface="Inter Text" pitchFamily="34" charset="-120"/>
              </a:rPr>
              <a:t>4 dp  ✗</a:t>
            </a:r>
          </a:p>
        </p:txBody>
      </p:sp>
      <p:sp>
        <p:nvSpPr>
          <p:cNvPr id="17" name="Text 17"/>
          <p:cNvSpPr txBox="1"/>
          <p:nvPr/>
        </p:nvSpPr>
        <p:spPr>
          <a:xfrm>
            <a:off x="9052560" y="3611880"/>
            <a:ext cx="1143000" cy="365760"/>
          </a:xfrm>
          <a:prstGeom prst="rect">
            <a:avLst/>
          </a:prstGeom>
          <a:noFill/>
          <a:ln/>
        </p:spPr>
        <p:txBody>
          <a:bodyPr wrap="square" lIns="0" tIns="0" rIns="0" bIns="0" rtlCol="0" anchor="ctr"/>
          <a:lstStyle/>
          <a:p>
            <a:pPr marL="0" indent="0" algn="r">
              <a:buNone/>
            </a:pPr>
            <a:r>
              <a:rPr lang="en-GB" sz="1200" b="1" dirty="0">
                <a:solidFill>
                  <a:srgbClr val="FF8A80"/>
                </a:solidFill>
                <a:latin typeface="Consolas" pitchFamily="34" charset="0"/>
                <a:ea typeface="Consolas" pitchFamily="34" charset="-122"/>
                <a:cs typeface="Consolas" pitchFamily="34" charset="-120"/>
              </a:rPr>
              <a:t>23,317.80</a:t>
            </a:r>
          </a:p>
        </p:txBody>
      </p:sp>
      <p:sp>
        <p:nvSpPr>
          <p:cNvPr id="18" name="Text 18"/>
          <p:cNvSpPr txBox="1"/>
          <p:nvPr/>
        </p:nvSpPr>
        <p:spPr>
          <a:xfrm>
            <a:off x="10195560" y="3611880"/>
            <a:ext cx="914400" cy="365760"/>
          </a:xfrm>
          <a:prstGeom prst="rect">
            <a:avLst/>
          </a:prstGeom>
          <a:noFill/>
          <a:ln/>
        </p:spPr>
        <p:txBody>
          <a:bodyPr wrap="square" lIns="0" tIns="0" rIns="0" bIns="0" rtlCol="0" anchor="ctr"/>
          <a:lstStyle/>
          <a:p>
            <a:pPr marL="0" indent="0" algn="r">
              <a:buNone/>
            </a:pPr>
            <a:r>
              <a:rPr lang="en-GB" sz="1200" b="1" dirty="0">
                <a:solidFill>
                  <a:srgbClr val="FF8A80"/>
                </a:solidFill>
                <a:latin typeface="Consolas" pitchFamily="34" charset="0"/>
                <a:ea typeface="Consolas" pitchFamily="34" charset="-122"/>
                <a:cs typeface="Consolas" pitchFamily="34" charset="-120"/>
              </a:rPr>
              <a:t>1,632.25</a:t>
            </a:r>
          </a:p>
        </p:txBody>
      </p:sp>
      <p:sp>
        <p:nvSpPr>
          <p:cNvPr id="19" name="Text 19"/>
          <p:cNvSpPr txBox="1"/>
          <p:nvPr/>
        </p:nvSpPr>
        <p:spPr>
          <a:xfrm>
            <a:off x="7909560" y="4087368"/>
            <a:ext cx="1143000" cy="365760"/>
          </a:xfrm>
          <a:prstGeom prst="rect">
            <a:avLst/>
          </a:prstGeom>
          <a:noFill/>
          <a:ln/>
        </p:spPr>
        <p:txBody>
          <a:bodyPr wrap="square" lIns="0" tIns="0" rIns="0" bIns="0" rtlCol="0" anchor="ctr"/>
          <a:lstStyle/>
          <a:p>
            <a:pPr marL="0" indent="0" algn="l">
              <a:buNone/>
            </a:pPr>
            <a:r>
              <a:rPr lang="en-GB" sz="1150" dirty="0">
                <a:solidFill>
                  <a:srgbClr val="C2CADE"/>
                </a:solidFill>
                <a:latin typeface="Inter Text" pitchFamily="34" charset="0"/>
                <a:ea typeface="Inter Text" pitchFamily="34" charset="-122"/>
                <a:cs typeface="Inter Text" pitchFamily="34" charset="-120"/>
              </a:rPr>
              <a:t>6 dp  ✓</a:t>
            </a:r>
          </a:p>
        </p:txBody>
      </p:sp>
      <p:sp>
        <p:nvSpPr>
          <p:cNvPr id="20" name="Text 20"/>
          <p:cNvSpPr txBox="1"/>
          <p:nvPr/>
        </p:nvSpPr>
        <p:spPr>
          <a:xfrm>
            <a:off x="9052560" y="4087368"/>
            <a:ext cx="1143000" cy="365760"/>
          </a:xfrm>
          <a:prstGeom prst="rect">
            <a:avLst/>
          </a:prstGeom>
          <a:noFill/>
          <a:ln/>
        </p:spPr>
        <p:txBody>
          <a:bodyPr wrap="square" lIns="0" tIns="0" rIns="0" bIns="0" rtlCol="0" anchor="ctr"/>
          <a:lstStyle/>
          <a:p>
            <a:pPr marL="0" indent="0" algn="r">
              <a:buNone/>
            </a:pPr>
            <a:r>
              <a:rPr lang="en-GB" sz="1200" b="1" dirty="0">
                <a:solidFill>
                  <a:srgbClr val="FFFFFF"/>
                </a:solidFill>
                <a:latin typeface="Consolas" pitchFamily="34" charset="0"/>
                <a:ea typeface="Consolas" pitchFamily="34" charset="-122"/>
                <a:cs typeface="Consolas" pitchFamily="34" charset="-120"/>
              </a:rPr>
              <a:t>23,317.757</a:t>
            </a:r>
          </a:p>
        </p:txBody>
      </p:sp>
      <p:sp>
        <p:nvSpPr>
          <p:cNvPr id="21" name="Text 21"/>
          <p:cNvSpPr txBox="1"/>
          <p:nvPr/>
        </p:nvSpPr>
        <p:spPr>
          <a:xfrm>
            <a:off x="10195560" y="4087368"/>
            <a:ext cx="914400" cy="365760"/>
          </a:xfrm>
          <a:prstGeom prst="rect">
            <a:avLst/>
          </a:prstGeom>
          <a:noFill/>
          <a:ln/>
        </p:spPr>
        <p:txBody>
          <a:bodyPr wrap="square" lIns="0" tIns="0" rIns="0" bIns="0" rtlCol="0" anchor="ctr"/>
          <a:lstStyle/>
          <a:p>
            <a:pPr marL="0" indent="0" algn="r">
              <a:buNone/>
            </a:pPr>
            <a:r>
              <a:rPr lang="en-GB" sz="1200" b="1" dirty="0">
                <a:solidFill>
                  <a:srgbClr val="FFFFFF"/>
                </a:solidFill>
                <a:latin typeface="Consolas" pitchFamily="34" charset="0"/>
                <a:ea typeface="Consolas" pitchFamily="34" charset="-122"/>
                <a:cs typeface="Consolas" pitchFamily="34" charset="-120"/>
              </a:rPr>
              <a:t>1,632.24</a:t>
            </a:r>
          </a:p>
        </p:txBody>
      </p:sp>
      <p:sp>
        <p:nvSpPr>
          <p:cNvPr id="22" name="Text 22"/>
          <p:cNvSpPr txBox="1"/>
          <p:nvPr/>
        </p:nvSpPr>
        <p:spPr>
          <a:xfrm>
            <a:off x="7909560" y="4562856"/>
            <a:ext cx="1143000" cy="365760"/>
          </a:xfrm>
          <a:prstGeom prst="rect">
            <a:avLst/>
          </a:prstGeom>
          <a:noFill/>
          <a:ln/>
        </p:spPr>
        <p:txBody>
          <a:bodyPr wrap="square" lIns="0" tIns="0" rIns="0" bIns="0" rtlCol="0" anchor="ctr"/>
          <a:lstStyle/>
          <a:p>
            <a:pPr marL="0" indent="0" algn="l">
              <a:buNone/>
            </a:pPr>
            <a:r>
              <a:rPr lang="en-GB" sz="1150" dirty="0">
                <a:solidFill>
                  <a:srgbClr val="C2CADE"/>
                </a:solidFill>
                <a:latin typeface="Inter Text" pitchFamily="34" charset="0"/>
                <a:ea typeface="Inter Text" pitchFamily="34" charset="-122"/>
                <a:cs typeface="Inter Text" pitchFamily="34" charset="-120"/>
              </a:rPr>
              <a:t>Extracted</a:t>
            </a:r>
          </a:p>
        </p:txBody>
      </p:sp>
      <p:sp>
        <p:nvSpPr>
          <p:cNvPr id="23" name="Text 23"/>
          <p:cNvSpPr txBox="1"/>
          <p:nvPr/>
        </p:nvSpPr>
        <p:spPr>
          <a:xfrm>
            <a:off x="9052560" y="4562856"/>
            <a:ext cx="1143000" cy="365760"/>
          </a:xfrm>
          <a:prstGeom prst="rect">
            <a:avLst/>
          </a:prstGeom>
          <a:noFill/>
          <a:ln/>
        </p:spPr>
        <p:txBody>
          <a:bodyPr wrap="square" lIns="0" tIns="0" rIns="0" bIns="0" rtlCol="0" anchor="ctr"/>
          <a:lstStyle/>
          <a:p>
            <a:pPr marL="0" indent="0" algn="r">
              <a:buNone/>
            </a:pPr>
            <a:r>
              <a:rPr lang="en-GB" sz="1200" b="1" dirty="0">
                <a:solidFill>
                  <a:srgbClr val="FFFFFF"/>
                </a:solidFill>
                <a:latin typeface="Consolas" pitchFamily="34" charset="0"/>
                <a:ea typeface="Consolas" pitchFamily="34" charset="-122"/>
                <a:cs typeface="Consolas" pitchFamily="34" charset="-120"/>
              </a:rPr>
              <a:t>23,317.76</a:t>
            </a:r>
          </a:p>
        </p:txBody>
      </p:sp>
      <p:sp>
        <p:nvSpPr>
          <p:cNvPr id="24" name="Text 24"/>
          <p:cNvSpPr txBox="1"/>
          <p:nvPr/>
        </p:nvSpPr>
        <p:spPr>
          <a:xfrm>
            <a:off x="10195560" y="4562856"/>
            <a:ext cx="914400" cy="365760"/>
          </a:xfrm>
          <a:prstGeom prst="rect">
            <a:avLst/>
          </a:prstGeom>
          <a:noFill/>
          <a:ln/>
        </p:spPr>
        <p:txBody>
          <a:bodyPr wrap="square" lIns="0" tIns="0" rIns="0" bIns="0" rtlCol="0" anchor="ctr"/>
          <a:lstStyle/>
          <a:p>
            <a:pPr marL="0" indent="0" algn="r">
              <a:buNone/>
            </a:pPr>
            <a:r>
              <a:rPr lang="en-GB" sz="1200" b="1" dirty="0">
                <a:solidFill>
                  <a:srgbClr val="FFFFFF"/>
                </a:solidFill>
                <a:latin typeface="Consolas" pitchFamily="34" charset="0"/>
                <a:ea typeface="Consolas" pitchFamily="34" charset="-122"/>
                <a:cs typeface="Consolas" pitchFamily="34" charset="-120"/>
              </a:rPr>
              <a:t>1,632.24</a:t>
            </a:r>
          </a:p>
        </p:txBody>
      </p:sp>
      <p:sp>
        <p:nvSpPr>
          <p:cNvPr id="25" name="Shape 25"/>
          <p:cNvSpPr/>
          <p:nvPr/>
        </p:nvSpPr>
        <p:spPr>
          <a:xfrm>
            <a:off x="7909560" y="5120640"/>
            <a:ext cx="3154680" cy="9144"/>
          </a:xfrm>
          <a:prstGeom prst="rect">
            <a:avLst/>
          </a:prstGeom>
          <a:solidFill>
            <a:srgbClr val="3A4A7A"/>
          </a:solidFill>
          <a:ln>
            <a:noFill/>
          </a:ln>
        </p:spPr>
        <p:txBody>
          <a:bodyPr/>
          <a:lstStyle/>
          <a:p>
            <a:endParaRPr lang="en-GB"/>
          </a:p>
        </p:txBody>
      </p:sp>
      <p:sp>
        <p:nvSpPr>
          <p:cNvPr id="26" name="Text 26"/>
          <p:cNvSpPr txBox="1"/>
          <p:nvPr/>
        </p:nvSpPr>
        <p:spPr>
          <a:xfrm>
            <a:off x="7909560" y="5193792"/>
            <a:ext cx="3200400" cy="594360"/>
          </a:xfrm>
          <a:prstGeom prst="rect">
            <a:avLst/>
          </a:prstGeom>
          <a:noFill/>
          <a:ln/>
        </p:spPr>
        <p:txBody>
          <a:bodyPr wrap="square" lIns="0" tIns="0" rIns="0" bIns="0" rtlCol="0" anchor="t"/>
          <a:lstStyle/>
          <a:p>
            <a:pPr marL="0" indent="0" algn="l">
              <a:lnSpc>
                <a:spcPct val="105000"/>
              </a:lnSpc>
              <a:buNone/>
            </a:pPr>
            <a:r>
              <a:rPr lang="en-GB" sz="1050" dirty="0">
                <a:solidFill>
                  <a:srgbClr val="C2CADE"/>
                </a:solidFill>
                <a:latin typeface="Inter Text" pitchFamily="34" charset="0"/>
                <a:ea typeface="Inter Text" pitchFamily="34" charset="-122"/>
                <a:cs typeface="Inter Text" pitchFamily="34" charset="-120"/>
              </a:rPr>
              <a:t>BT-146 × BT-129 × 7%: with 4 dp the net price contradicts the extracted VAT, with 6 dp it confirms it.</a:t>
            </a:r>
          </a:p>
        </p:txBody>
      </p:sp>
      <p:sp>
        <p:nvSpPr>
          <p:cNvPr id="27" name="Pill 27"/>
          <p:cNvSpPr/>
          <p:nvPr/>
        </p:nvSpPr>
        <p:spPr>
          <a:xfrm>
            <a:off x="822960" y="5943600"/>
            <a:ext cx="10543032" cy="411480"/>
          </a:xfrm>
          <a:prstGeom prst="roundRect">
            <a:avLst>
              <a:gd name="adj" fmla="val 50000"/>
            </a:avLst>
          </a:prstGeom>
          <a:solidFill>
            <a:srgbClr val="E7F8F8"/>
          </a:solidFill>
          <a:ln w="9525">
            <a:solidFill>
              <a:srgbClr val="B5E9EA"/>
            </a:solidFill>
            <a:prstDash val="solid"/>
          </a:ln>
        </p:spPr>
        <p:txBody>
          <a:bodyPr wrap="square" lIns="36576" tIns="36576" rIns="36576" bIns="36576" rtlCol="0" anchor="ctr"/>
          <a:lstStyle/>
          <a:p>
            <a:pPr marL="0" indent="0" algn="ctr">
              <a:buNone/>
            </a:pPr>
            <a:r>
              <a:rPr lang="en-GB" sz="1200" dirty="0">
                <a:solidFill>
                  <a:srgbClr val="5B6890"/>
                </a:solidFill>
                <a:latin typeface="Inter SemiBold Text SemiBold" pitchFamily="34" charset="0"/>
                <a:ea typeface="Inter SemiBold Text SemiBold" pitchFamily="34" charset="-122"/>
                <a:cs typeface="Inter SemiBold Text SemiBold" pitchFamily="34" charset="-120"/>
              </a:rPr>
              <a:t>Proposed check:  </a:t>
            </a:r>
            <a:r>
              <a:rPr lang="en-GB" sz="1200" dirty="0">
                <a:solidFill>
                  <a:srgbClr val="5B6890"/>
                </a:solidFill>
                <a:latin typeface="Inter Text" pitchFamily="34" charset="0"/>
                <a:ea typeface="Inter Text" pitchFamily="34" charset="-122"/>
                <a:cs typeface="Inter Text" pitchFamily="34" charset="-120"/>
              </a:rPr>
              <a:t>Σ BT-146 × BT-129 ÷ BT-149 × rate gives BT-117 to the cent — possible only without a maximum</a:t>
            </a:r>
          </a:p>
        </p:txBody>
      </p:sp>
      <p:sp>
        <p:nvSpPr>
          <p:cNvPr id="28" name="Speaker 28">
            <a:hlinkClick r:id="rId3"/>
          </p:cNvPr>
          <p:cNvSpPr txBox="1"/>
          <p:nvPr/>
        </p:nvSpPr>
        <p:spPr>
          <a:xfrm>
            <a:off x="7680960" y="6514592"/>
            <a:ext cx="3154680" cy="292608"/>
          </a:xfrm>
          <a:prstGeom prst="rect">
            <a:avLst/>
          </a:prstGeom>
          <a:noFill/>
          <a:ln/>
        </p:spPr>
        <p:txBody>
          <a:bodyPr wrap="square" lIns="0" tIns="0" rIns="0" bIns="0" rtlCol="0" anchor="ctr"/>
          <a:lstStyle/>
          <a:p>
            <a:pPr marL="0" indent="0" algn="r">
              <a:buNone/>
            </a:pPr>
            <a:r>
              <a:rPr lang="en-GB" sz="1000" spc="100" dirty="0">
                <a:solidFill>
                  <a:srgbClr val="9AA4C2"/>
                </a:solidFill>
                <a:latin typeface="Inter Medium Text Medium" pitchFamily="34" charset="0"/>
                <a:ea typeface="Inter Medium Text Medium" pitchFamily="34" charset="-122"/>
                <a:cs typeface="Inter Medium Text Medium" pitchFamily="34" charset="-120"/>
              </a:rPr>
              <a:t>© Svante Schubert</a:t>
            </a:r>
          </a:p>
        </p:txBody>
      </p:sp>
      <p:sp>
        <p:nvSpPr>
          <p:cNvPr id="29" name="Callout 29"/>
          <p:cNvSpPr/>
          <p:nvPr/>
        </p:nvSpPr>
        <p:spPr>
          <a:xfrm>
            <a:off x="822960" y="5422392"/>
            <a:ext cx="6537960" cy="457200"/>
          </a:xfrm>
          <a:prstGeom prst="roundRect">
            <a:avLst>
              <a:gd name="adj" fmla="val 18000"/>
            </a:avLst>
          </a:prstGeom>
          <a:solidFill>
            <a:srgbClr val="FFF3E6"/>
          </a:solidFill>
          <a:ln w="9525">
            <a:solidFill>
              <a:srgbClr val="F5CFA3"/>
            </a:solidFill>
            <a:prstDash val="solid"/>
          </a:ln>
        </p:spPr>
        <p:txBody>
          <a:bodyPr wrap="square" lIns="91440" tIns="27432" rIns="91440" bIns="27432" rtlCol="0" anchor="ctr"/>
          <a:lstStyle/>
          <a:p>
            <a:pPr marL="0" indent="0" algn="l">
              <a:buNone/>
            </a:pPr>
            <a:r>
              <a:rPr lang="en-GB" sz="1050" dirty="0">
                <a:solidFill>
                  <a:srgbClr val="B85C0A"/>
                </a:solidFill>
                <a:latin typeface="Inter SemiBold Text SemiBold" pitchFamily="34" charset="0"/>
                <a:ea typeface="Inter SemiBold Text SemiBold" pitchFamily="34" charset="-122"/>
                <a:cs typeface="Inter SemiBold Text SemiBold" pitchFamily="34" charset="-120"/>
              </a:rPr>
              <a:t>For information only: </a:t>
            </a:r>
            <a:r>
              <a:rPr lang="en-GB" sz="1050" dirty="0">
                <a:solidFill>
                  <a:srgbClr val="B85C0A"/>
                </a:solidFill>
                <a:latin typeface="Inter Text" pitchFamily="34" charset="0"/>
                <a:ea typeface="Inter Text" pitchFamily="34" charset="-122"/>
                <a:cs typeface="Inter Text" pitchFamily="34" charset="-120"/>
              </a:rPr>
              <a:t>BT-146 Item net price = 1.799 ÷ 1.19 = 1.51176470… — the only value with endless decimals.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Folie 31">
    <p:bg>
      <p:bgPr>
        <a:solidFill>
          <a:srgbClr val="F4F6FB"/>
        </a:solidFill>
        <a:effectLst/>
      </p:bgPr>
    </p:bg>
    <p:spTree>
      <p:nvGrpSpPr>
        <p:cNvPr id="1" name=""/>
        <p:cNvGrpSpPr/>
        <p:nvPr/>
      </p:nvGrpSpPr>
      <p:grpSpPr>
        <a:xfrm>
          <a:off x="0" y="0"/>
          <a:ext cx="0" cy="0"/>
          <a:chOff x="0" y="0"/>
          <a:chExt cx="0" cy="0"/>
        </a:xfrm>
      </p:grpSpPr>
      <p:sp>
        <p:nvSpPr>
          <p:cNvPr id="3" name="Header 3"/>
          <p:cNvSpPr txBox="1"/>
          <p:nvPr/>
        </p:nvSpPr>
        <p:spPr>
          <a:xfrm>
            <a:off x="822960" y="384048"/>
            <a:ext cx="7315200" cy="274320"/>
          </a:xfrm>
          <a:prstGeom prst="rect">
            <a:avLst/>
          </a:prstGeom>
          <a:noFill/>
          <a:ln/>
        </p:spPr>
        <p:txBody>
          <a:bodyPr wrap="square" lIns="0" tIns="0" rIns="0" bIns="0" rtlCol="0" anchor="ctr"/>
          <a:lstStyle/>
          <a:p>
            <a:pPr marL="0" indent="0" algn="l">
              <a:buNone/>
            </a:pPr>
            <a:r>
              <a:rPr lang="en-GB" sz="950" spc="100" dirty="0">
                <a:solidFill>
                  <a:srgbClr val="5B6890"/>
                </a:solidFill>
                <a:latin typeface="Inter Medium Text Medium" pitchFamily="34" charset="0"/>
                <a:ea typeface="Inter Medium Text Medium" pitchFamily="34" charset="-122"/>
                <a:cs typeface="Inter Medium Text Medium" pitchFamily="34" charset="-120"/>
              </a:rPr>
              <a:t>CEN/TC 434 WG1</a:t>
            </a:r>
            <a:r>
              <a:rPr lang="en-GB" sz="950" spc="100" dirty="0">
                <a:solidFill>
                  <a:srgbClr val="C2CADE"/>
                </a:solidFill>
                <a:latin typeface="Inter Text" pitchFamily="34" charset="0"/>
                <a:ea typeface="Inter Text" pitchFamily="34" charset="-122"/>
                <a:cs typeface="Inter Text" pitchFamily="34" charset="-120"/>
              </a:rPr>
              <a:t>   ·   </a:t>
            </a:r>
            <a:r>
              <a:rPr lang="en-GB" sz="950" spc="100" dirty="0">
                <a:solidFill>
                  <a:srgbClr val="9AA4C2"/>
                </a:solidFill>
                <a:latin typeface="Inter Text" pitchFamily="34" charset="0"/>
                <a:ea typeface="Inter Text" pitchFamily="34" charset="-122"/>
                <a:cs typeface="Inter Text" pitchFamily="34" charset="-120"/>
              </a:rPr>
              <a:t>EN 16931-1:2026 amendment · Gross prices and rounding</a:t>
            </a:r>
          </a:p>
        </p:txBody>
      </p:sp>
      <p:sp>
        <p:nvSpPr>
          <p:cNvPr id="4" name="SectionLabel 4"/>
          <p:cNvSpPr txBox="1"/>
          <p:nvPr/>
        </p:nvSpPr>
        <p:spPr>
          <a:xfrm>
            <a:off x="822960" y="868680"/>
            <a:ext cx="8229600" cy="274320"/>
          </a:xfrm>
          <a:prstGeom prst="rect">
            <a:avLst/>
          </a:prstGeom>
          <a:noFill/>
          <a:ln/>
        </p:spPr>
        <p:txBody>
          <a:bodyPr wrap="square" lIns="0" tIns="0" rIns="0" bIns="0" rtlCol="0" anchor="ctr"/>
          <a:lstStyle/>
          <a:p>
            <a:pPr marL="0" indent="0" algn="l">
              <a:buNone/>
            </a:pPr>
            <a:r>
              <a:rPr lang="en-GB" sz="1100" spc="300" dirty="0">
                <a:solidFill>
                  <a:srgbClr val="19C3C8"/>
                </a:solidFill>
                <a:latin typeface="Inter SemiBold Text SemiBold" pitchFamily="34" charset="0"/>
                <a:ea typeface="Inter SemiBold Text SemiBold" pitchFamily="34" charset="-122"/>
                <a:cs typeface="Inter SemiBold Text SemiBold" pitchFamily="34" charset="-120"/>
              </a:rPr>
              <a:t>AMENDMENT · PROPOSAL 2/2</a:t>
            </a:r>
          </a:p>
        </p:txBody>
      </p:sp>
      <p:sp>
        <p:nvSpPr>
          <p:cNvPr id="5" name="Title 5"/>
          <p:cNvSpPr txBox="1"/>
          <p:nvPr/>
        </p:nvSpPr>
        <p:spPr>
          <a:xfrm>
            <a:off x="804672" y="1115568"/>
            <a:ext cx="10424160" cy="822960"/>
          </a:xfrm>
          <a:prstGeom prst="rect">
            <a:avLst/>
          </a:prstGeom>
          <a:noFill/>
          <a:ln/>
        </p:spPr>
        <p:txBody>
          <a:bodyPr wrap="square" lIns="0" tIns="0" rIns="0" bIns="0" rtlCol="0" anchor="t"/>
          <a:lstStyle/>
          <a:p>
            <a:pPr marL="0" indent="0" algn="l">
              <a:buNone/>
            </a:pPr>
            <a:r>
              <a:rPr lang="en-GB" sz="3800" b="1" dirty="0">
                <a:solidFill>
                  <a:srgbClr val="1A2B5E"/>
                </a:solidFill>
                <a:latin typeface="Inter Text" pitchFamily="34" charset="0"/>
                <a:ea typeface="Inter Text" pitchFamily="34" charset="-122"/>
                <a:cs typeface="Inter Text" pitchFamily="34" charset="-120"/>
              </a:rPr>
              <a:t>Round only once </a:t>
            </a:r>
            <a:r>
              <a:rPr lang="en-GB" sz="3800" b="1" dirty="0">
                <a:solidFill>
                  <a:srgbClr val="1A2B5E"/>
                </a:solidFill>
                <a:latin typeface="Inter Text" pitchFamily="34" charset="0"/>
                <a:ea typeface="Inter Text" pitchFamily="34" charset="-122"/>
                <a:cs typeface="Inter Text" pitchFamily="34" charset="-120"/>
                <a:hlinkClick r:id="rId6">
                  <a:extLst>
                    <a:ext uri="{A12FA001-AC4F-418D-AE19-62706E023703}">
                      <ahyp:hlinkClr xmlns:ahyp="http://schemas.microsoft.com/office/drawing/2018/hyperlinkcolor" val="tx"/>
                    </a:ext>
                  </a:extLst>
                </a:hlinkClick>
              </a:rPr>
              <a:t>(#163)</a:t>
            </a:r>
          </a:p>
        </p:txBody>
      </p:sp>
      <p:sp>
        <p:nvSpPr>
          <p:cNvPr id="6" name="Tagline 6"/>
          <p:cNvSpPr txBox="1"/>
          <p:nvPr/>
        </p:nvSpPr>
        <p:spPr>
          <a:xfrm>
            <a:off x="822960" y="1865376"/>
            <a:ext cx="10424160" cy="320040"/>
          </a:xfrm>
          <a:prstGeom prst="rect">
            <a:avLst/>
          </a:prstGeom>
          <a:noFill/>
          <a:ln/>
        </p:spPr>
        <p:txBody>
          <a:bodyPr wrap="square" lIns="0" tIns="0" rIns="0" bIns="0" rtlCol="0" anchor="ctr"/>
          <a:lstStyle/>
          <a:p>
            <a:pPr marL="0" indent="0" algn="l">
              <a:buNone/>
            </a:pPr>
            <a:r>
              <a:rPr lang="en-GB" sz="1300" dirty="0">
                <a:solidFill>
                  <a:srgbClr val="5B6890"/>
                </a:solidFill>
                <a:latin typeface="Inter Text" pitchFamily="34" charset="0"/>
                <a:ea typeface="Inter Text" pitchFamily="34" charset="-122"/>
                <a:cs typeface="Inter Text" pitchFamily="34" charset="-120"/>
              </a:rPr>
              <a:t>Only what is paid gets rounded, once: the amount due and the VAT.</a:t>
            </a:r>
          </a:p>
        </p:txBody>
      </p:sp>
      <p:sp>
        <p:nvSpPr>
          <p:cNvPr id="7" name="PageNum 7"/>
          <p:cNvSpPr txBox="1"/>
          <p:nvPr/>
        </p:nvSpPr>
        <p:spPr>
          <a:xfrm>
            <a:off x="10908792" y="6514592"/>
            <a:ext cx="822960" cy="292608"/>
          </a:xfrm>
          <a:prstGeom prst="rect">
            <a:avLst/>
          </a:prstGeom>
          <a:noFill/>
          <a:ln/>
        </p:spPr>
        <p:txBody>
          <a:bodyPr wrap="square" lIns="0" tIns="0" rIns="0" bIns="0" rtlCol="0" anchor="ctr"/>
          <a:lstStyle/>
          <a:p>
            <a:pPr marL="0" indent="0" algn="r">
              <a:buNone/>
            </a:pPr>
            <a:fld id="{67D73E2F-A595-473C-9F0C-80BA506D5B08}" type="slidenum">
              <a:rPr lang="en-GB" sz="1000" spc="200" dirty="0">
                <a:solidFill>
                  <a:srgbClr val="5B6890"/>
                </a:solidFill>
                <a:latin typeface="Inter SemiBold Text SemiBold" pitchFamily="34" charset="0"/>
                <a:ea typeface="Inter SemiBold Text SemiBold" pitchFamily="34" charset="-122"/>
                <a:cs typeface="Inter SemiBold Text SemiBold" pitchFamily="34" charset="-120"/>
              </a:rPr>
              <a:t>14</a:t>
            </a:fld>
            <a:endParaRPr lang="en-GB" sz="1000" spc="200" dirty="0">
              <a:solidFill>
                <a:srgbClr val="5B6890"/>
              </a:solidFill>
              <a:latin typeface="Inter SemiBold Text SemiBold" pitchFamily="34" charset="0"/>
              <a:ea typeface="Inter SemiBold Text SemiBold" pitchFamily="34" charset="-122"/>
              <a:cs typeface="Inter SemiBold Text SemiBold" pitchFamily="34" charset="-120"/>
            </a:endParaRPr>
          </a:p>
        </p:txBody>
      </p:sp>
      <p:sp>
        <p:nvSpPr>
          <p:cNvPr id="8" name="Card 8"/>
          <p:cNvSpPr/>
          <p:nvPr/>
        </p:nvSpPr>
        <p:spPr>
          <a:xfrm>
            <a:off x="822960" y="2331720"/>
            <a:ext cx="5166360" cy="1691640"/>
          </a:xfrm>
          <a:prstGeom prst="roundRect">
            <a:avLst>
              <a:gd name="adj" fmla="val 4324"/>
            </a:avLst>
          </a:prstGeom>
          <a:solidFill>
            <a:srgbClr val="FFFFFF"/>
          </a:solidFill>
          <a:ln w="12700">
            <a:solidFill>
              <a:srgbClr val="E2E7F2"/>
            </a:solidFill>
            <a:prstDash val="solid"/>
          </a:ln>
          <a:effectLst>
            <a:outerShdw blurRad="101600" dist="38100" dir="5400000" algn="bl" rotWithShape="0">
              <a:srgbClr val="0A1230">
                <a:alpha val="8000"/>
              </a:srgbClr>
            </a:outerShdw>
          </a:effectLst>
        </p:spPr>
        <p:txBody>
          <a:bodyPr/>
          <a:lstStyle/>
          <a:p>
            <a:endParaRPr lang="en-GB"/>
          </a:p>
        </p:txBody>
      </p:sp>
      <p:sp>
        <p:nvSpPr>
          <p:cNvPr id="9" name="IconCircle 9"/>
          <p:cNvSpPr/>
          <p:nvPr/>
        </p:nvSpPr>
        <p:spPr>
          <a:xfrm>
            <a:off x="1060704" y="2532888"/>
            <a:ext cx="402336" cy="402336"/>
          </a:xfrm>
          <a:prstGeom prst="ellipse">
            <a:avLst/>
          </a:prstGeom>
          <a:solidFill>
            <a:srgbClr val="19C3C8"/>
          </a:solidFill>
          <a:ln>
            <a:noFill/>
          </a:ln>
          <a:effectLst>
            <a:outerShdw blurRad="88900" dist="38100" dir="5400000" algn="bl" rotWithShape="0">
              <a:srgbClr val="0A1230">
                <a:alpha val="18000"/>
              </a:srgbClr>
            </a:outerShdw>
          </a:effectLst>
        </p:spPr>
        <p:txBody>
          <a:bodyPr/>
          <a:lstStyle/>
          <a:p>
            <a:endParaRPr lang="en-GB"/>
          </a:p>
        </p:txBody>
      </p:sp>
      <p:pic>
        <p:nvPicPr>
          <p:cNvPr id="10" name="Icon 10"/>
          <p:cNvPicPr>
            <a:picLocks noChangeAspect="1"/>
          </p:cNvPicPr>
          <p:nvPr/>
        </p:nvPicPr>
        <p:blipFill>
          <a:blip r:embed="rId3"/>
          <a:stretch>
            <a:fillRect/>
          </a:stretch>
        </p:blipFill>
        <p:spPr>
          <a:xfrm>
            <a:off x="1171346" y="2643530"/>
            <a:ext cx="181051" cy="181051"/>
          </a:xfrm>
          <a:prstGeom prst="rect">
            <a:avLst/>
          </a:prstGeom>
        </p:spPr>
      </p:pic>
      <p:sp>
        <p:nvSpPr>
          <p:cNvPr id="11" name="Text 11"/>
          <p:cNvSpPr txBox="1"/>
          <p:nvPr/>
        </p:nvSpPr>
        <p:spPr>
          <a:xfrm>
            <a:off x="1600200" y="2514600"/>
            <a:ext cx="4206240" cy="438912"/>
          </a:xfrm>
          <a:prstGeom prst="rect">
            <a:avLst/>
          </a:prstGeom>
          <a:noFill/>
          <a:ln/>
        </p:spPr>
        <p:txBody>
          <a:bodyPr wrap="square" lIns="0" tIns="0" rIns="0" bIns="0" rtlCol="0" anchor="ctr"/>
          <a:lstStyle/>
          <a:p>
            <a:pPr marL="0" indent="0" algn="l">
              <a:buNone/>
            </a:pPr>
            <a:r>
              <a:rPr lang="en-GB" sz="1500" dirty="0">
                <a:solidFill>
                  <a:srgbClr val="1A2B5E"/>
                </a:solidFill>
                <a:latin typeface="Inter SemiBold Text SemiBold" pitchFamily="34" charset="0"/>
                <a:ea typeface="Inter SemiBold Text SemiBold" pitchFamily="34" charset="-122"/>
                <a:cs typeface="Inter SemiBold Text SemiBold" pitchFamily="34" charset="-120"/>
              </a:rPr>
              <a:t>Paid amounts and VAT — rounded once</a:t>
            </a:r>
          </a:p>
        </p:txBody>
      </p:sp>
      <p:sp>
        <p:nvSpPr>
          <p:cNvPr id="12" name="Text 12"/>
          <p:cNvSpPr txBox="1"/>
          <p:nvPr/>
        </p:nvSpPr>
        <p:spPr>
          <a:xfrm>
            <a:off x="1133856" y="2990088"/>
            <a:ext cx="4663440" cy="1005840"/>
          </a:xfrm>
          <a:prstGeom prst="rect">
            <a:avLst/>
          </a:prstGeom>
          <a:noFill/>
          <a:ln/>
        </p:spPr>
        <p:txBody>
          <a:bodyPr wrap="square" lIns="0" tIns="0" rIns="0" bIns="0" rtlCol="0" anchor="t"/>
          <a:lstStyle/>
          <a:p>
            <a:pPr marL="164592" indent="-164592" algn="l">
              <a:spcAft>
                <a:spcPts val="200"/>
              </a:spcAft>
              <a:buSzPct val="100000"/>
              <a:buChar char="•"/>
            </a:pPr>
            <a:r>
              <a:rPr lang="en-GB" sz="1200" dirty="0">
                <a:solidFill>
                  <a:srgbClr val="5B6890"/>
                </a:solidFill>
                <a:latin typeface="Inter Text" pitchFamily="34" charset="0"/>
                <a:ea typeface="Inter Text" pitchFamily="34" charset="-122"/>
                <a:cs typeface="Inter Text" pitchFamily="34" charset="-120"/>
              </a:rPr>
              <a:t>BT-115 Amount due for payment, in the Minor Unit (EUR: cent)</a:t>
            </a:r>
          </a:p>
          <a:p>
            <a:pPr marL="164592" indent="-164592" algn="l">
              <a:spcAft>
                <a:spcPts val="200"/>
              </a:spcAft>
              <a:buSzPct val="100000"/>
              <a:buChar char="•"/>
            </a:pPr>
            <a:r>
              <a:rPr lang="en-GB" sz="1200" dirty="0">
                <a:solidFill>
                  <a:srgbClr val="5B6890"/>
                </a:solidFill>
                <a:latin typeface="Inter Text" pitchFamily="34" charset="0"/>
                <a:ea typeface="Inter Text" pitchFamily="34" charset="-122"/>
                <a:cs typeface="Inter Text" pitchFamily="34" charset="-120"/>
              </a:rPr>
              <a:t>BT-117 VAT category tax amount: once per VAT category</a:t>
            </a:r>
          </a:p>
          <a:p>
            <a:pPr marL="164592" indent="-164592" algn="l">
              <a:spcAft>
                <a:spcPts val="200"/>
              </a:spcAft>
              <a:buSzPct val="100000"/>
              <a:buChar char="•"/>
            </a:pPr>
            <a:r>
              <a:rPr lang="en-GB" sz="1200" dirty="0">
                <a:solidFill>
                  <a:srgbClr val="5B6890"/>
                </a:solidFill>
                <a:latin typeface="Inter Text" pitchFamily="34" charset="0"/>
                <a:ea typeface="Inter Text" pitchFamily="34" charset="-122"/>
                <a:cs typeface="Inter Text" pitchFamily="34" charset="-120"/>
              </a:rPr>
              <a:t>BT-114 Rounding amount carries the rounding of BT-115</a:t>
            </a:r>
          </a:p>
          <a:p>
            <a:pPr marL="164592" indent="-164592" algn="l">
              <a:spcAft>
                <a:spcPts val="200"/>
              </a:spcAft>
              <a:buSzPct val="100000"/>
              <a:buChar char="•"/>
            </a:pPr>
            <a:r>
              <a:rPr lang="en-GB" sz="1200" dirty="0">
                <a:solidFill>
                  <a:srgbClr val="5B6890"/>
                </a:solidFill>
                <a:latin typeface="Inter Text" pitchFamily="34" charset="0"/>
                <a:ea typeface="Inter Text" pitchFamily="34" charset="-122"/>
                <a:cs typeface="Inter Text" pitchFamily="34" charset="-120"/>
              </a:rPr>
              <a:t>Likewise BT-110, BT-111, BT-113, BT-172, BT-179, BT-183</a:t>
            </a:r>
          </a:p>
        </p:txBody>
      </p:sp>
      <p:sp>
        <p:nvSpPr>
          <p:cNvPr id="13" name="Card 13"/>
          <p:cNvSpPr/>
          <p:nvPr/>
        </p:nvSpPr>
        <p:spPr>
          <a:xfrm>
            <a:off x="822960" y="4160520"/>
            <a:ext cx="5166360" cy="1645920"/>
          </a:xfrm>
          <a:prstGeom prst="roundRect">
            <a:avLst>
              <a:gd name="adj" fmla="val 4444"/>
            </a:avLst>
          </a:prstGeom>
          <a:solidFill>
            <a:srgbClr val="FFFFFF"/>
          </a:solidFill>
          <a:ln w="12700">
            <a:solidFill>
              <a:srgbClr val="E2E7F2"/>
            </a:solidFill>
            <a:prstDash val="solid"/>
          </a:ln>
          <a:effectLst>
            <a:outerShdw blurRad="101600" dist="38100" dir="5400000" algn="bl" rotWithShape="0">
              <a:srgbClr val="0A1230">
                <a:alpha val="8000"/>
              </a:srgbClr>
            </a:outerShdw>
          </a:effectLst>
        </p:spPr>
        <p:txBody>
          <a:bodyPr/>
          <a:lstStyle/>
          <a:p>
            <a:endParaRPr lang="en-GB"/>
          </a:p>
        </p:txBody>
      </p:sp>
      <p:sp>
        <p:nvSpPr>
          <p:cNvPr id="14" name="IconCircle 14"/>
          <p:cNvSpPr/>
          <p:nvPr/>
        </p:nvSpPr>
        <p:spPr>
          <a:xfrm>
            <a:off x="1060704" y="4361688"/>
            <a:ext cx="402336" cy="402336"/>
          </a:xfrm>
          <a:prstGeom prst="ellipse">
            <a:avLst/>
          </a:prstGeom>
          <a:solidFill>
            <a:srgbClr val="1A2B5E"/>
          </a:solidFill>
          <a:ln>
            <a:noFill/>
          </a:ln>
          <a:effectLst>
            <a:outerShdw blurRad="88900" dist="38100" dir="5400000" algn="bl" rotWithShape="0">
              <a:srgbClr val="0A1230">
                <a:alpha val="18000"/>
              </a:srgbClr>
            </a:outerShdw>
          </a:effectLst>
        </p:spPr>
        <p:txBody>
          <a:bodyPr/>
          <a:lstStyle/>
          <a:p>
            <a:endParaRPr lang="en-GB"/>
          </a:p>
        </p:txBody>
      </p:sp>
      <p:pic>
        <p:nvPicPr>
          <p:cNvPr id="15" name="Icon 15"/>
          <p:cNvPicPr>
            <a:picLocks noChangeAspect="1"/>
          </p:cNvPicPr>
          <p:nvPr/>
        </p:nvPicPr>
        <p:blipFill>
          <a:blip r:embed="rId4"/>
          <a:stretch>
            <a:fillRect/>
          </a:stretch>
        </p:blipFill>
        <p:spPr>
          <a:xfrm>
            <a:off x="1171346" y="4472330"/>
            <a:ext cx="181051" cy="181051"/>
          </a:xfrm>
          <a:prstGeom prst="rect">
            <a:avLst/>
          </a:prstGeom>
        </p:spPr>
      </p:pic>
      <p:sp>
        <p:nvSpPr>
          <p:cNvPr id="16" name="Text 16"/>
          <p:cNvSpPr txBox="1"/>
          <p:nvPr/>
        </p:nvSpPr>
        <p:spPr>
          <a:xfrm>
            <a:off x="1600200" y="4343400"/>
            <a:ext cx="4206240" cy="438912"/>
          </a:xfrm>
          <a:prstGeom prst="rect">
            <a:avLst/>
          </a:prstGeom>
          <a:noFill/>
          <a:ln/>
        </p:spPr>
        <p:txBody>
          <a:bodyPr wrap="square" lIns="0" tIns="0" rIns="0" bIns="0" rtlCol="0" anchor="ctr"/>
          <a:lstStyle/>
          <a:p>
            <a:pPr marL="0" indent="0" algn="l">
              <a:buNone/>
            </a:pPr>
            <a:r>
              <a:rPr lang="en-GB" sz="1500" dirty="0">
                <a:solidFill>
                  <a:srgbClr val="1A2B5E"/>
                </a:solidFill>
                <a:latin typeface="Inter SemiBold Text SemiBold" pitchFamily="34" charset="0"/>
                <a:ea typeface="Inter SemiBold Text SemiBold" pitchFamily="34" charset="-122"/>
                <a:cs typeface="Inter SemiBold Text SemiBold" pitchFamily="34" charset="-120"/>
              </a:rPr>
              <a:t>Everything else: as calculated</a:t>
            </a:r>
          </a:p>
        </p:txBody>
      </p:sp>
      <p:sp>
        <p:nvSpPr>
          <p:cNvPr id="17" name="Text 17"/>
          <p:cNvSpPr txBox="1"/>
          <p:nvPr/>
        </p:nvSpPr>
        <p:spPr>
          <a:xfrm>
            <a:off x="1133856" y="4818888"/>
            <a:ext cx="4663440" cy="960120"/>
          </a:xfrm>
          <a:prstGeom prst="rect">
            <a:avLst/>
          </a:prstGeom>
          <a:noFill/>
          <a:ln/>
        </p:spPr>
        <p:txBody>
          <a:bodyPr wrap="square" lIns="0" tIns="0" rIns="0" bIns="0" rtlCol="0" anchor="t"/>
          <a:lstStyle/>
          <a:p>
            <a:pPr marL="164592" indent="-164592" algn="l">
              <a:spcAft>
                <a:spcPts val="200"/>
              </a:spcAft>
              <a:buSzPct val="100000"/>
              <a:buChar char="•"/>
            </a:pPr>
            <a:r>
              <a:rPr lang="en-GB" sz="1200" dirty="0">
                <a:solidFill>
                  <a:srgbClr val="5B6890"/>
                </a:solidFill>
                <a:latin typeface="Inter Text" pitchFamily="34" charset="0"/>
                <a:ea typeface="Inter Text" pitchFamily="34" charset="-122"/>
                <a:cs typeface="Inter Text" pitchFamily="34" charset="-120"/>
              </a:rPr>
              <a:t>Prices, quantities, line amounts and sums: no maximum dp</a:t>
            </a:r>
          </a:p>
          <a:p>
            <a:pPr marL="164592" indent="-164592" algn="l">
              <a:spcAft>
                <a:spcPts val="200"/>
              </a:spcAft>
              <a:buSzPct val="100000"/>
              <a:buChar char="•"/>
            </a:pPr>
            <a:r>
              <a:rPr lang="en-GB" sz="1200" dirty="0">
                <a:solidFill>
                  <a:srgbClr val="5B6890"/>
                </a:solidFill>
                <a:latin typeface="Inter Text" pitchFamily="34" charset="0"/>
                <a:ea typeface="Inter Text" pitchFamily="34" charset="-122"/>
                <a:cs typeface="Inter Text" pitchFamily="34" charset="-120"/>
              </a:rPr>
              <a:t>BT-116 VAT category taxable amount: exact, cents via CIUS</a:t>
            </a:r>
          </a:p>
          <a:p>
            <a:pPr marL="164592" indent="-164592" algn="l">
              <a:spcAft>
                <a:spcPts val="200"/>
              </a:spcAft>
              <a:buSzPct val="100000"/>
              <a:buChar char="•"/>
            </a:pPr>
            <a:r>
              <a:rPr lang="en-GB" sz="1200" dirty="0">
                <a:solidFill>
                  <a:srgbClr val="5B6890"/>
                </a:solidFill>
                <a:latin typeface="Inter Text" pitchFamily="34" charset="0"/>
                <a:ea typeface="Inter Text" pitchFamily="34" charset="-122"/>
                <a:cs typeface="Inter Text" pitchFamily="34" charset="-120"/>
              </a:rPr>
              <a:t>Because the decimals needed grow with quantity and lines</a:t>
            </a:r>
          </a:p>
        </p:txBody>
      </p:sp>
      <p:sp>
        <p:nvSpPr>
          <p:cNvPr id="18" name="Panel 18"/>
          <p:cNvSpPr/>
          <p:nvPr/>
        </p:nvSpPr>
        <p:spPr>
          <a:xfrm>
            <a:off x="6172200" y="2331720"/>
            <a:ext cx="5193792" cy="3474720"/>
          </a:xfrm>
          <a:prstGeom prst="roundRect">
            <a:avLst>
              <a:gd name="adj" fmla="val 2631"/>
            </a:avLst>
          </a:prstGeom>
          <a:solidFill>
            <a:srgbClr val="1A2B5E"/>
          </a:solidFill>
          <a:ln>
            <a:noFill/>
          </a:ln>
          <a:effectLst>
            <a:outerShdw blurRad="101600" dist="38100" dir="5400000" algn="bl" rotWithShape="0">
              <a:srgbClr val="0A1230">
                <a:alpha val="18000"/>
              </a:srgbClr>
            </a:outerShdw>
          </a:effectLst>
        </p:spPr>
        <p:txBody>
          <a:bodyPr/>
          <a:lstStyle/>
          <a:p>
            <a:endParaRPr lang="en-GB"/>
          </a:p>
        </p:txBody>
      </p:sp>
      <p:sp>
        <p:nvSpPr>
          <p:cNvPr id="19" name="Text 19"/>
          <p:cNvSpPr txBox="1"/>
          <p:nvPr/>
        </p:nvSpPr>
        <p:spPr>
          <a:xfrm>
            <a:off x="6492240" y="2514600"/>
            <a:ext cx="4572000" cy="274320"/>
          </a:xfrm>
          <a:prstGeom prst="rect">
            <a:avLst/>
          </a:prstGeom>
          <a:noFill/>
          <a:ln/>
        </p:spPr>
        <p:txBody>
          <a:bodyPr wrap="square" lIns="0" tIns="0" rIns="0" bIns="0" rtlCol="0" anchor="ctr"/>
          <a:lstStyle/>
          <a:p>
            <a:pPr marL="0" indent="0" algn="l">
              <a:buNone/>
            </a:pPr>
            <a:r>
              <a:rPr lang="en-GB" sz="1100" spc="300" dirty="0">
                <a:solidFill>
                  <a:srgbClr val="19C3C8"/>
                </a:solidFill>
                <a:latin typeface="Inter SemiBold Text SemiBold" pitchFamily="34" charset="0"/>
                <a:ea typeface="Inter SemiBold Text SemiBold" pitchFamily="34" charset="-122"/>
                <a:cs typeface="Inter SemiBold Text SemiBold" pitchFamily="34" charset="-120"/>
              </a:rPr>
              <a:t>WHAT CHANGES</a:t>
            </a:r>
          </a:p>
        </p:txBody>
      </p:sp>
      <p:sp>
        <p:nvSpPr>
          <p:cNvPr id="20" name="Shape 20"/>
          <p:cNvSpPr/>
          <p:nvPr/>
        </p:nvSpPr>
        <p:spPr>
          <a:xfrm>
            <a:off x="6492240" y="2944368"/>
            <a:ext cx="292608" cy="292608"/>
          </a:xfrm>
          <a:prstGeom prst="ellipse">
            <a:avLst/>
          </a:prstGeom>
          <a:solidFill>
            <a:srgbClr val="19C3C8"/>
          </a:solidFill>
          <a:ln>
            <a:noFill/>
          </a:ln>
        </p:spPr>
        <p:txBody>
          <a:bodyPr/>
          <a:lstStyle/>
          <a:p>
            <a:endParaRPr lang="en-GB"/>
          </a:p>
        </p:txBody>
      </p:sp>
      <p:sp>
        <p:nvSpPr>
          <p:cNvPr id="21" name="Text 21"/>
          <p:cNvSpPr txBox="1"/>
          <p:nvPr/>
        </p:nvSpPr>
        <p:spPr>
          <a:xfrm>
            <a:off x="6492240" y="2944368"/>
            <a:ext cx="292608" cy="292608"/>
          </a:xfrm>
          <a:prstGeom prst="rect">
            <a:avLst/>
          </a:prstGeom>
          <a:noFill/>
          <a:ln/>
        </p:spPr>
        <p:txBody>
          <a:bodyPr wrap="square" lIns="0" tIns="0" rIns="0" bIns="0" rtlCol="0" anchor="ctr"/>
          <a:lstStyle/>
          <a:p>
            <a:pPr marL="0" indent="0" algn="ctr">
              <a:buNone/>
            </a:pPr>
            <a:r>
              <a:rPr lang="en-GB" sz="1200" dirty="0">
                <a:solidFill>
                  <a:srgbClr val="1A2B5E"/>
                </a:solidFill>
                <a:latin typeface="Inter SemiBold Text SemiBold" pitchFamily="34" charset="0"/>
                <a:ea typeface="Inter SemiBold Text SemiBold" pitchFamily="34" charset="-122"/>
                <a:cs typeface="Inter SemiBold Text SemiBold" pitchFamily="34" charset="-120"/>
              </a:rPr>
              <a:t>✓</a:t>
            </a:r>
          </a:p>
        </p:txBody>
      </p:sp>
      <p:sp>
        <p:nvSpPr>
          <p:cNvPr id="22" name="Text 22"/>
          <p:cNvSpPr txBox="1"/>
          <p:nvPr/>
        </p:nvSpPr>
        <p:spPr>
          <a:xfrm>
            <a:off x="6949440" y="2880360"/>
            <a:ext cx="4251960" cy="420624"/>
          </a:xfrm>
          <a:prstGeom prst="rect">
            <a:avLst/>
          </a:prstGeom>
          <a:noFill/>
          <a:ln/>
        </p:spPr>
        <p:txBody>
          <a:bodyPr wrap="square" lIns="0" tIns="0" rIns="0" bIns="0" rtlCol="0" anchor="ctr"/>
          <a:lstStyle/>
          <a:p>
            <a:pPr marL="0" indent="0" algn="l">
              <a:lnSpc>
                <a:spcPct val="105000"/>
              </a:lnSpc>
              <a:buNone/>
            </a:pPr>
            <a:r>
              <a:rPr lang="en-GB" sz="1250" dirty="0">
                <a:solidFill>
                  <a:srgbClr val="FFFFFF"/>
                </a:solidFill>
                <a:latin typeface="Inter Text" pitchFamily="34" charset="0"/>
                <a:ea typeface="Inter Text" pitchFamily="34" charset="-122"/>
                <a:cs typeface="Inter Text" pitchFamily="34" charset="-120"/>
              </a:rPr>
              <a:t>6.5.14 applies to the whole chain, not just per rule</a:t>
            </a:r>
          </a:p>
        </p:txBody>
      </p:sp>
      <p:sp>
        <p:nvSpPr>
          <p:cNvPr id="23" name="Shape 23"/>
          <p:cNvSpPr/>
          <p:nvPr/>
        </p:nvSpPr>
        <p:spPr>
          <a:xfrm>
            <a:off x="6492240" y="3511296"/>
            <a:ext cx="292608" cy="292608"/>
          </a:xfrm>
          <a:prstGeom prst="ellipse">
            <a:avLst/>
          </a:prstGeom>
          <a:solidFill>
            <a:srgbClr val="19C3C8"/>
          </a:solidFill>
          <a:ln>
            <a:noFill/>
          </a:ln>
        </p:spPr>
        <p:txBody>
          <a:bodyPr/>
          <a:lstStyle/>
          <a:p>
            <a:endParaRPr lang="en-GB"/>
          </a:p>
        </p:txBody>
      </p:sp>
      <p:sp>
        <p:nvSpPr>
          <p:cNvPr id="24" name="Text 24"/>
          <p:cNvSpPr txBox="1"/>
          <p:nvPr/>
        </p:nvSpPr>
        <p:spPr>
          <a:xfrm>
            <a:off x="6492240" y="3511296"/>
            <a:ext cx="292608" cy="292608"/>
          </a:xfrm>
          <a:prstGeom prst="rect">
            <a:avLst/>
          </a:prstGeom>
          <a:noFill/>
          <a:ln/>
        </p:spPr>
        <p:txBody>
          <a:bodyPr wrap="square" lIns="0" tIns="0" rIns="0" bIns="0" rtlCol="0" anchor="ctr"/>
          <a:lstStyle/>
          <a:p>
            <a:pPr marL="0" indent="0" algn="ctr">
              <a:buNone/>
            </a:pPr>
            <a:r>
              <a:rPr lang="en-GB" sz="1200" dirty="0">
                <a:solidFill>
                  <a:srgbClr val="1A2B5E"/>
                </a:solidFill>
                <a:latin typeface="Inter SemiBold Text SemiBold" pitchFamily="34" charset="0"/>
                <a:ea typeface="Inter SemiBold Text SemiBold" pitchFamily="34" charset="-122"/>
                <a:cs typeface="Inter SemiBold Text SemiBold" pitchFamily="34" charset="-120"/>
              </a:rPr>
              <a:t>✓</a:t>
            </a:r>
          </a:p>
        </p:txBody>
      </p:sp>
      <p:sp>
        <p:nvSpPr>
          <p:cNvPr id="25" name="Text 25"/>
          <p:cNvSpPr txBox="1"/>
          <p:nvPr/>
        </p:nvSpPr>
        <p:spPr>
          <a:xfrm>
            <a:off x="6949440" y="3447288"/>
            <a:ext cx="4251960" cy="420624"/>
          </a:xfrm>
          <a:prstGeom prst="rect">
            <a:avLst/>
          </a:prstGeom>
          <a:noFill/>
          <a:ln/>
        </p:spPr>
        <p:txBody>
          <a:bodyPr wrap="square" lIns="0" tIns="0" rIns="0" bIns="0" rtlCol="0" anchor="ctr"/>
          <a:lstStyle/>
          <a:p>
            <a:pPr marL="0" indent="0" algn="l">
              <a:lnSpc>
                <a:spcPct val="105000"/>
              </a:lnSpc>
              <a:buNone/>
            </a:pPr>
            <a:r>
              <a:rPr lang="en-GB" sz="1250" dirty="0">
                <a:solidFill>
                  <a:srgbClr val="FFFFFF"/>
                </a:solidFill>
                <a:latin typeface="Inter Text" pitchFamily="34" charset="0"/>
                <a:ea typeface="Inter Text" pitchFamily="34" charset="-122"/>
                <a:cs typeface="Inter Text" pitchFamily="34" charset="-120"/>
              </a:rPr>
              <a:t>Exact validation (decimal128); each rule keeps today's tolerance</a:t>
            </a:r>
          </a:p>
        </p:txBody>
      </p:sp>
      <p:sp>
        <p:nvSpPr>
          <p:cNvPr id="26" name="Shape 26"/>
          <p:cNvSpPr/>
          <p:nvPr/>
        </p:nvSpPr>
        <p:spPr>
          <a:xfrm>
            <a:off x="6492240" y="4078224"/>
            <a:ext cx="292608" cy="292608"/>
          </a:xfrm>
          <a:prstGeom prst="ellipse">
            <a:avLst/>
          </a:prstGeom>
          <a:solidFill>
            <a:srgbClr val="19C3C8"/>
          </a:solidFill>
          <a:ln>
            <a:noFill/>
          </a:ln>
        </p:spPr>
        <p:txBody>
          <a:bodyPr/>
          <a:lstStyle/>
          <a:p>
            <a:endParaRPr lang="en-GB"/>
          </a:p>
        </p:txBody>
      </p:sp>
      <p:sp>
        <p:nvSpPr>
          <p:cNvPr id="27" name="Text 27"/>
          <p:cNvSpPr txBox="1"/>
          <p:nvPr/>
        </p:nvSpPr>
        <p:spPr>
          <a:xfrm>
            <a:off x="6492240" y="4078224"/>
            <a:ext cx="292608" cy="292608"/>
          </a:xfrm>
          <a:prstGeom prst="rect">
            <a:avLst/>
          </a:prstGeom>
          <a:noFill/>
          <a:ln/>
        </p:spPr>
        <p:txBody>
          <a:bodyPr wrap="square" lIns="0" tIns="0" rIns="0" bIns="0" rtlCol="0" anchor="ctr"/>
          <a:lstStyle/>
          <a:p>
            <a:pPr marL="0" indent="0" algn="ctr">
              <a:buNone/>
            </a:pPr>
            <a:r>
              <a:rPr lang="en-GB" sz="1200" dirty="0">
                <a:solidFill>
                  <a:srgbClr val="1A2B5E"/>
                </a:solidFill>
                <a:latin typeface="Inter SemiBold Text SemiBold" pitchFamily="34" charset="0"/>
                <a:ea typeface="Inter SemiBold Text SemiBold" pitchFamily="34" charset="-122"/>
                <a:cs typeface="Inter SemiBold Text SemiBold" pitchFamily="34" charset="-120"/>
              </a:rPr>
              <a:t>✓</a:t>
            </a:r>
          </a:p>
        </p:txBody>
      </p:sp>
      <p:sp>
        <p:nvSpPr>
          <p:cNvPr id="28" name="Text 28"/>
          <p:cNvSpPr txBox="1"/>
          <p:nvPr/>
        </p:nvSpPr>
        <p:spPr>
          <a:xfrm>
            <a:off x="6949440" y="4014216"/>
            <a:ext cx="4251960" cy="420624"/>
          </a:xfrm>
          <a:prstGeom prst="rect">
            <a:avLst/>
          </a:prstGeom>
          <a:noFill/>
          <a:ln/>
        </p:spPr>
        <p:txBody>
          <a:bodyPr wrap="square" lIns="0" tIns="0" rIns="0" bIns="0" rtlCol="0" anchor="ctr"/>
          <a:lstStyle/>
          <a:p>
            <a:pPr marL="0" indent="0" algn="l">
              <a:lnSpc>
                <a:spcPct val="105000"/>
              </a:lnSpc>
              <a:buNone/>
            </a:pPr>
            <a:r>
              <a:rPr lang="en-GB" sz="1250" dirty="0">
                <a:solidFill>
                  <a:srgbClr val="FFFFFF"/>
                </a:solidFill>
                <a:latin typeface="Inter Text" pitchFamily="34" charset="0"/>
                <a:ea typeface="Inter Text" pitchFamily="34" charset="-122"/>
                <a:cs typeface="Inter Text" pitchFamily="34" charset="-120"/>
              </a:rPr>
              <a:t>Error only outside it; a warning only where a rounding changes BT-117 or BT-112</a:t>
            </a:r>
          </a:p>
        </p:txBody>
      </p:sp>
      <p:sp>
        <p:nvSpPr>
          <p:cNvPr id="29" name="Shape 29"/>
          <p:cNvSpPr/>
          <p:nvPr/>
        </p:nvSpPr>
        <p:spPr>
          <a:xfrm>
            <a:off x="6492240" y="4645152"/>
            <a:ext cx="292608" cy="292608"/>
          </a:xfrm>
          <a:prstGeom prst="ellipse">
            <a:avLst/>
          </a:prstGeom>
          <a:solidFill>
            <a:srgbClr val="19C3C8"/>
          </a:solidFill>
          <a:ln>
            <a:noFill/>
          </a:ln>
        </p:spPr>
        <p:txBody>
          <a:bodyPr/>
          <a:lstStyle/>
          <a:p>
            <a:endParaRPr lang="en-GB"/>
          </a:p>
        </p:txBody>
      </p:sp>
      <p:sp>
        <p:nvSpPr>
          <p:cNvPr id="30" name="Text 30"/>
          <p:cNvSpPr txBox="1"/>
          <p:nvPr/>
        </p:nvSpPr>
        <p:spPr>
          <a:xfrm>
            <a:off x="6492240" y="4645152"/>
            <a:ext cx="292608" cy="292608"/>
          </a:xfrm>
          <a:prstGeom prst="rect">
            <a:avLst/>
          </a:prstGeom>
          <a:noFill/>
          <a:ln/>
        </p:spPr>
        <p:txBody>
          <a:bodyPr wrap="square" lIns="0" tIns="0" rIns="0" bIns="0" rtlCol="0" anchor="ctr"/>
          <a:lstStyle/>
          <a:p>
            <a:pPr marL="0" indent="0" algn="ctr">
              <a:buNone/>
            </a:pPr>
            <a:r>
              <a:rPr lang="en-GB" sz="1200" dirty="0">
                <a:solidFill>
                  <a:srgbClr val="1A2B5E"/>
                </a:solidFill>
                <a:latin typeface="Inter SemiBold Text SemiBold" pitchFamily="34" charset="0"/>
                <a:ea typeface="Inter SemiBold Text SemiBold" pitchFamily="34" charset="-122"/>
                <a:cs typeface="Inter SemiBold Text SemiBold" pitchFamily="34" charset="-120"/>
              </a:rPr>
              <a:t>✓</a:t>
            </a:r>
          </a:p>
        </p:txBody>
      </p:sp>
      <p:sp>
        <p:nvSpPr>
          <p:cNvPr id="31" name="Text 31"/>
          <p:cNvSpPr txBox="1"/>
          <p:nvPr/>
        </p:nvSpPr>
        <p:spPr>
          <a:xfrm>
            <a:off x="6949440" y="4581144"/>
            <a:ext cx="4251960" cy="420624"/>
          </a:xfrm>
          <a:prstGeom prst="rect">
            <a:avLst/>
          </a:prstGeom>
          <a:noFill/>
          <a:ln/>
        </p:spPr>
        <p:txBody>
          <a:bodyPr wrap="square" lIns="0" tIns="0" rIns="0" bIns="0" rtlCol="0" anchor="ctr"/>
          <a:lstStyle/>
          <a:p>
            <a:pPr marL="0" indent="0" algn="l">
              <a:lnSpc>
                <a:spcPct val="105000"/>
              </a:lnSpc>
              <a:buNone/>
            </a:pPr>
            <a:r>
              <a:rPr lang="en-GB" sz="1250" dirty="0">
                <a:solidFill>
                  <a:srgbClr val="FFFFFF"/>
                </a:solidFill>
                <a:latin typeface="Inter Text" pitchFamily="34" charset="0"/>
                <a:ea typeface="Inter Text" pitchFamily="34" charset="-122"/>
                <a:cs typeface="Inter Text" pitchFamily="34" charset="-120"/>
              </a:rPr>
              <a:t>No requirement on software: neither a maximum nor a minimum of decimal places</a:t>
            </a:r>
          </a:p>
        </p:txBody>
      </p:sp>
      <p:sp>
        <p:nvSpPr>
          <p:cNvPr id="32" name="Shape 32"/>
          <p:cNvSpPr/>
          <p:nvPr/>
        </p:nvSpPr>
        <p:spPr>
          <a:xfrm>
            <a:off x="6492240" y="5212080"/>
            <a:ext cx="292608" cy="292608"/>
          </a:xfrm>
          <a:prstGeom prst="ellipse">
            <a:avLst/>
          </a:prstGeom>
          <a:solidFill>
            <a:srgbClr val="19C3C8"/>
          </a:solidFill>
          <a:ln>
            <a:noFill/>
          </a:ln>
        </p:spPr>
        <p:txBody>
          <a:bodyPr/>
          <a:lstStyle/>
          <a:p>
            <a:endParaRPr lang="en-GB"/>
          </a:p>
        </p:txBody>
      </p:sp>
      <p:sp>
        <p:nvSpPr>
          <p:cNvPr id="33" name="Text 33"/>
          <p:cNvSpPr txBox="1"/>
          <p:nvPr/>
        </p:nvSpPr>
        <p:spPr>
          <a:xfrm>
            <a:off x="6492240" y="5212080"/>
            <a:ext cx="292608" cy="292608"/>
          </a:xfrm>
          <a:prstGeom prst="rect">
            <a:avLst/>
          </a:prstGeom>
          <a:noFill/>
          <a:ln/>
        </p:spPr>
        <p:txBody>
          <a:bodyPr wrap="square" lIns="0" tIns="0" rIns="0" bIns="0" rtlCol="0" anchor="ctr"/>
          <a:lstStyle/>
          <a:p>
            <a:pPr marL="0" indent="0" algn="ctr">
              <a:buNone/>
            </a:pPr>
            <a:r>
              <a:rPr lang="en-GB" sz="1200" dirty="0">
                <a:solidFill>
                  <a:srgbClr val="1A2B5E"/>
                </a:solidFill>
                <a:latin typeface="Inter SemiBold Text SemiBold" pitchFamily="34" charset="0"/>
                <a:ea typeface="Inter SemiBold Text SemiBold" pitchFamily="34" charset="-122"/>
                <a:cs typeface="Inter SemiBold Text SemiBold" pitchFamily="34" charset="-120"/>
              </a:rPr>
              <a:t>✓</a:t>
            </a:r>
          </a:p>
        </p:txBody>
      </p:sp>
      <p:sp>
        <p:nvSpPr>
          <p:cNvPr id="34" name="Text 34"/>
          <p:cNvSpPr txBox="1"/>
          <p:nvPr/>
        </p:nvSpPr>
        <p:spPr>
          <a:xfrm>
            <a:off x="6949440" y="5148072"/>
            <a:ext cx="4251960" cy="420624"/>
          </a:xfrm>
          <a:prstGeom prst="rect">
            <a:avLst/>
          </a:prstGeom>
          <a:noFill/>
          <a:ln/>
        </p:spPr>
        <p:txBody>
          <a:bodyPr wrap="square" lIns="0" tIns="0" rIns="0" bIns="0" rtlCol="0" anchor="ctr"/>
          <a:lstStyle/>
          <a:p>
            <a:pPr marL="0" indent="0" algn="l">
              <a:lnSpc>
                <a:spcPct val="105000"/>
              </a:lnSpc>
              <a:buNone/>
            </a:pPr>
            <a:r>
              <a:rPr lang="en-GB" sz="1250" dirty="0">
                <a:solidFill>
                  <a:srgbClr val="FFFFFF"/>
                </a:solidFill>
                <a:latin typeface="Inter Text" pitchFamily="34" charset="0"/>
                <a:ea typeface="Inter Text" pitchFamily="34" charset="-122"/>
                <a:cs typeface="Inter Text" pitchFamily="34" charset="-120"/>
              </a:rPr>
              <a:t>Syntax unchanged: amounts in UBL and CII are xsd:decimal</a:t>
            </a:r>
          </a:p>
        </p:txBody>
      </p:sp>
      <p:sp>
        <p:nvSpPr>
          <p:cNvPr id="35" name="Pill 35"/>
          <p:cNvSpPr/>
          <p:nvPr/>
        </p:nvSpPr>
        <p:spPr>
          <a:xfrm>
            <a:off x="822960" y="5943600"/>
            <a:ext cx="10543032" cy="411480"/>
          </a:xfrm>
          <a:prstGeom prst="roundRect">
            <a:avLst>
              <a:gd name="adj" fmla="val 50000"/>
            </a:avLst>
          </a:prstGeom>
          <a:solidFill>
            <a:srgbClr val="F4F6FB"/>
          </a:solidFill>
          <a:ln w="9525">
            <a:solidFill>
              <a:srgbClr val="E2E7F2"/>
            </a:solidFill>
            <a:prstDash val="solid"/>
          </a:ln>
        </p:spPr>
        <p:txBody>
          <a:bodyPr wrap="square" lIns="36576" tIns="36576" rIns="36576" bIns="36576" rtlCol="0" anchor="ctr"/>
          <a:lstStyle/>
          <a:p>
            <a:pPr marL="0" indent="0" algn="ctr">
              <a:buNone/>
            </a:pPr>
            <a:r>
              <a:rPr lang="en-GB" sz="1100" dirty="0">
                <a:solidFill>
                  <a:srgbClr val="5B6890"/>
                </a:solidFill>
                <a:latin typeface="Inter SemiBold Text SemiBold" pitchFamily="34" charset="0"/>
                <a:ea typeface="Inter SemiBold Text SemiBold" pitchFamily="34" charset="-122"/>
                <a:cs typeface="Inter SemiBold Text SemiBold" pitchFamily="34" charset="-120"/>
              </a:rPr>
              <a:t>Status 16 Oct 2026: Update 4 in WG1  ·  </a:t>
            </a:r>
            <a:r>
              <a:rPr lang="en-GB" sz="1100" dirty="0">
                <a:solidFill>
                  <a:srgbClr val="5B6890"/>
                </a:solidFill>
                <a:latin typeface="Inter Text" pitchFamily="34" charset="0"/>
                <a:ea typeface="Inter Text" pitchFamily="34" charset="-122"/>
                <a:cs typeface="Inter Text" pitchFamily="34" charset="-120"/>
              </a:rPr>
              <a:t>VAT in cents, as </a:t>
            </a:r>
            <a:r>
              <a:rPr lang="en-GB" sz="1100" dirty="0">
                <a:solidFill>
                  <a:srgbClr val="5B6890"/>
                </a:solidFill>
                <a:latin typeface="Inter Text" pitchFamily="34" charset="0"/>
                <a:ea typeface="Inter Text" pitchFamily="34" charset="-122"/>
                <a:cs typeface="Inter Text" pitchFamily="34" charset="-120"/>
                <a:hlinkClick r:id="rId8">
                  <a:extLst>
                    <a:ext uri="{A12FA001-AC4F-418D-AE19-62706E023703}">
                      <ahyp:hlinkClr xmlns:ahyp="http://schemas.microsoft.com/office/drawing/2018/hyperlinkcolor" val="tx"/>
                    </a:ext>
                  </a:extLst>
                </a:hlinkClick>
              </a:rPr>
              <a:t>Paul Simons</a:t>
            </a:r>
            <a:r>
              <a:rPr lang="en-GB" sz="1100" dirty="0">
                <a:solidFill>
                  <a:srgbClr val="5B6890"/>
                </a:solidFill>
                <a:latin typeface="Inter Text" pitchFamily="34" charset="0"/>
                <a:ea typeface="Inter Text" pitchFamily="34" charset="-122"/>
                <a:cs typeface="Inter Text" pitchFamily="34" charset="-120"/>
              </a:rPr>
              <a:t> asked; no warning for a rounding that does not change the result</a:t>
            </a:r>
          </a:p>
        </p:txBody>
      </p:sp>
      <p:sp>
        <p:nvSpPr>
          <p:cNvPr id="36" name="Speaker 36">
            <a:hlinkClick r:id="rId5"/>
          </p:cNvPr>
          <p:cNvSpPr txBox="1"/>
          <p:nvPr/>
        </p:nvSpPr>
        <p:spPr>
          <a:xfrm>
            <a:off x="7680960" y="6514592"/>
            <a:ext cx="3154680" cy="292608"/>
          </a:xfrm>
          <a:prstGeom prst="rect">
            <a:avLst/>
          </a:prstGeom>
          <a:noFill/>
          <a:ln/>
        </p:spPr>
        <p:txBody>
          <a:bodyPr wrap="square" lIns="0" tIns="0" rIns="0" bIns="0" rtlCol="0" anchor="ctr"/>
          <a:lstStyle/>
          <a:p>
            <a:pPr marL="0" indent="0" algn="r">
              <a:buNone/>
            </a:pPr>
            <a:r>
              <a:rPr lang="en-GB" sz="1000" spc="100" dirty="0">
                <a:solidFill>
                  <a:srgbClr val="9AA4C2"/>
                </a:solidFill>
                <a:latin typeface="Inter Medium Text Medium" pitchFamily="34" charset="0"/>
                <a:ea typeface="Inter Medium Text Medium" pitchFamily="34" charset="-122"/>
                <a:cs typeface="Inter Medium Text Medium" pitchFamily="34" charset="-120"/>
              </a:rPr>
              <a:t>© Svante Schubert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Folie 32">
    <p:bg>
      <p:bgPr>
        <a:solidFill>
          <a:srgbClr val="F4F6FB"/>
        </a:solidFill>
        <a:effectLst/>
      </p:bgPr>
    </p:bg>
    <p:spTree>
      <p:nvGrpSpPr>
        <p:cNvPr id="1" name=""/>
        <p:cNvGrpSpPr/>
        <p:nvPr/>
      </p:nvGrpSpPr>
      <p:grpSpPr>
        <a:xfrm>
          <a:off x="0" y="0"/>
          <a:ext cx="0" cy="0"/>
          <a:chOff x="0" y="0"/>
          <a:chExt cx="0" cy="0"/>
        </a:xfrm>
      </p:grpSpPr>
      <p:sp>
        <p:nvSpPr>
          <p:cNvPr id="3" name="Header 3"/>
          <p:cNvSpPr txBox="1"/>
          <p:nvPr/>
        </p:nvSpPr>
        <p:spPr>
          <a:xfrm>
            <a:off x="822960" y="384048"/>
            <a:ext cx="7315200" cy="274320"/>
          </a:xfrm>
          <a:prstGeom prst="rect">
            <a:avLst/>
          </a:prstGeom>
          <a:noFill/>
          <a:ln/>
        </p:spPr>
        <p:txBody>
          <a:bodyPr wrap="square" lIns="0" tIns="0" rIns="0" bIns="0" rtlCol="0" anchor="ctr"/>
          <a:lstStyle/>
          <a:p>
            <a:pPr marL="0" indent="0" algn="l">
              <a:buNone/>
            </a:pPr>
            <a:r>
              <a:rPr lang="en-GB" sz="950" spc="100" dirty="0">
                <a:solidFill>
                  <a:srgbClr val="5B6890"/>
                </a:solidFill>
                <a:latin typeface="Inter Medium Text Medium" pitchFamily="34" charset="0"/>
                <a:ea typeface="Inter Medium Text Medium" pitchFamily="34" charset="-122"/>
                <a:cs typeface="Inter Medium Text Medium" pitchFamily="34" charset="-120"/>
              </a:rPr>
              <a:t>CEN/TC 434 WG1</a:t>
            </a:r>
            <a:r>
              <a:rPr lang="en-GB" sz="950" spc="100" dirty="0">
                <a:solidFill>
                  <a:srgbClr val="C2CADE"/>
                </a:solidFill>
                <a:latin typeface="Inter Text" pitchFamily="34" charset="0"/>
                <a:ea typeface="Inter Text" pitchFamily="34" charset="-122"/>
                <a:cs typeface="Inter Text" pitchFamily="34" charset="-120"/>
              </a:rPr>
              <a:t>   ·   </a:t>
            </a:r>
            <a:r>
              <a:rPr lang="en-GB" sz="950" spc="100" dirty="0">
                <a:solidFill>
                  <a:srgbClr val="9AA4C2"/>
                </a:solidFill>
                <a:latin typeface="Inter Text" pitchFamily="34" charset="0"/>
                <a:ea typeface="Inter Text" pitchFamily="34" charset="-122"/>
                <a:cs typeface="Inter Text" pitchFamily="34" charset="-120"/>
              </a:rPr>
              <a:t>EN 16931-1:2026 amendment · Gross prices and rounding</a:t>
            </a:r>
          </a:p>
        </p:txBody>
      </p:sp>
      <p:sp>
        <p:nvSpPr>
          <p:cNvPr id="4" name="SectionLabel 4"/>
          <p:cNvSpPr txBox="1"/>
          <p:nvPr/>
        </p:nvSpPr>
        <p:spPr>
          <a:xfrm>
            <a:off x="822960" y="868680"/>
            <a:ext cx="8229600" cy="274320"/>
          </a:xfrm>
          <a:prstGeom prst="rect">
            <a:avLst/>
          </a:prstGeom>
          <a:noFill/>
          <a:ln/>
        </p:spPr>
        <p:txBody>
          <a:bodyPr wrap="square" lIns="0" tIns="0" rIns="0" bIns="0" rtlCol="0" anchor="ctr"/>
          <a:lstStyle/>
          <a:p>
            <a:pPr marL="0" indent="0" algn="l">
              <a:buNone/>
            </a:pPr>
            <a:r>
              <a:rPr lang="en-GB" sz="1100" spc="300" dirty="0">
                <a:solidFill>
                  <a:srgbClr val="19C3C8"/>
                </a:solidFill>
                <a:latin typeface="Inter SemiBold Text SemiBold" pitchFamily="34" charset="0"/>
                <a:ea typeface="Inter SemiBold Text SemiBold" pitchFamily="34" charset="-122"/>
                <a:cs typeface="Inter SemiBold Text SemiBold" pitchFamily="34" charset="-120"/>
              </a:rPr>
              <a:t>CALCULATION CHAIN · PROPOSED EN 16931-1:2026 AMENDMENT </a:t>
            </a:r>
            <a:r>
              <a:rPr lang="en-GB" sz="1100" spc="300" dirty="0">
                <a:solidFill>
                  <a:srgbClr val="19C3C8"/>
                </a:solidFill>
                <a:latin typeface="Inter SemiBold Text SemiBold" pitchFamily="34" charset="0"/>
                <a:ea typeface="Inter SemiBold Text SemiBold" pitchFamily="34" charset="-122"/>
                <a:cs typeface="Inter SemiBold Text SemiBold" pitchFamily="34" charset="-120"/>
                <a:hlinkClick r:id="rId4">
                  <a:extLst>
                    <a:ext uri="{A12FA001-AC4F-418D-AE19-62706E023703}">
                      <ahyp:hlinkClr xmlns:ahyp="http://schemas.microsoft.com/office/drawing/2018/hyperlinkcolor" val="tx"/>
                    </a:ext>
                  </a:extLst>
                </a:hlinkClick>
              </a:rPr>
              <a:t>(#163)</a:t>
            </a:r>
          </a:p>
        </p:txBody>
      </p:sp>
      <p:sp>
        <p:nvSpPr>
          <p:cNvPr id="5" name="Title 5"/>
          <p:cNvSpPr txBox="1"/>
          <p:nvPr/>
        </p:nvSpPr>
        <p:spPr>
          <a:xfrm>
            <a:off x="804672" y="1115568"/>
            <a:ext cx="10424160" cy="822960"/>
          </a:xfrm>
          <a:prstGeom prst="rect">
            <a:avLst/>
          </a:prstGeom>
          <a:noFill/>
          <a:ln/>
        </p:spPr>
        <p:txBody>
          <a:bodyPr wrap="square" lIns="0" tIns="0" rIns="0" bIns="0" rtlCol="0" anchor="t"/>
          <a:lstStyle/>
          <a:p>
            <a:pPr marL="0" indent="0" algn="l">
              <a:buNone/>
            </a:pPr>
            <a:r>
              <a:rPr lang="en-GB" sz="3800" b="1" dirty="0">
                <a:solidFill>
                  <a:srgbClr val="1A2B5E"/>
                </a:solidFill>
                <a:latin typeface="Inter Text" pitchFamily="34" charset="0"/>
                <a:ea typeface="Inter Text" pitchFamily="34" charset="-122"/>
                <a:cs typeface="Inter Text" pitchFamily="34" charset="-120"/>
              </a:rPr>
              <a:t>From gross price via net price to VAT</a:t>
            </a:r>
          </a:p>
        </p:txBody>
      </p:sp>
      <p:sp>
        <p:nvSpPr>
          <p:cNvPr id="6" name="Speaker 6">
            <a:hlinkClick r:id="rId3"/>
          </p:cNvPr>
          <p:cNvSpPr txBox="1"/>
          <p:nvPr/>
        </p:nvSpPr>
        <p:spPr>
          <a:xfrm>
            <a:off x="7680960" y="6514592"/>
            <a:ext cx="3154680" cy="292608"/>
          </a:xfrm>
          <a:prstGeom prst="rect">
            <a:avLst/>
          </a:prstGeom>
          <a:noFill/>
          <a:ln/>
        </p:spPr>
        <p:txBody>
          <a:bodyPr wrap="square" lIns="0" tIns="0" rIns="0" bIns="0" rtlCol="0" anchor="ctr"/>
          <a:lstStyle/>
          <a:p>
            <a:pPr marL="0" indent="0" algn="r">
              <a:buNone/>
            </a:pPr>
            <a:r>
              <a:rPr lang="en-GB" sz="1000" spc="100" dirty="0">
                <a:solidFill>
                  <a:srgbClr val="9AA4C2"/>
                </a:solidFill>
                <a:latin typeface="Inter Medium Text Medium" pitchFamily="34" charset="0"/>
                <a:ea typeface="Inter Medium Text Medium" pitchFamily="34" charset="-122"/>
                <a:cs typeface="Inter Medium Text Medium" pitchFamily="34" charset="-120"/>
              </a:rPr>
              <a:t>© Svante Schubert</a:t>
            </a:r>
          </a:p>
        </p:txBody>
      </p:sp>
      <p:sp>
        <p:nvSpPr>
          <p:cNvPr id="7" name="PageNum 7"/>
          <p:cNvSpPr txBox="1"/>
          <p:nvPr/>
        </p:nvSpPr>
        <p:spPr>
          <a:xfrm>
            <a:off x="10908792" y="6514592"/>
            <a:ext cx="822960" cy="292608"/>
          </a:xfrm>
          <a:prstGeom prst="rect">
            <a:avLst/>
          </a:prstGeom>
          <a:noFill/>
          <a:ln/>
        </p:spPr>
        <p:txBody>
          <a:bodyPr wrap="square" lIns="0" tIns="0" rIns="0" bIns="0" rtlCol="0" anchor="ctr"/>
          <a:lstStyle/>
          <a:p>
            <a:pPr marL="0" indent="0" algn="r">
              <a:buNone/>
            </a:pPr>
            <a:fld id="{F4055174-2971-41F0-AAA2-FCF21F98D99D}" type="slidenum">
              <a:rPr lang="en-GB" sz="1000" spc="200" dirty="0">
                <a:solidFill>
                  <a:srgbClr val="5B6890"/>
                </a:solidFill>
                <a:latin typeface="Inter SemiBold Text SemiBold" pitchFamily="34" charset="0"/>
                <a:ea typeface="Inter SemiBold Text SemiBold" pitchFamily="34" charset="-122"/>
                <a:cs typeface="Inter SemiBold Text SemiBold" pitchFamily="34" charset="-120"/>
              </a:rPr>
              <a:t>15</a:t>
            </a:fld>
            <a:endParaRPr lang="en-GB" sz="1000" spc="200" dirty="0">
              <a:solidFill>
                <a:srgbClr val="5B6890"/>
              </a:solidFill>
              <a:latin typeface="Inter SemiBold Text SemiBold" pitchFamily="34" charset="0"/>
              <a:ea typeface="Inter SemiBold Text SemiBold" pitchFamily="34" charset="-122"/>
              <a:cs typeface="Inter SemiBold Text SemiBold" pitchFamily="34" charset="-120"/>
            </a:endParaRPr>
          </a:p>
        </p:txBody>
      </p:sp>
      <p:sp>
        <p:nvSpPr>
          <p:cNvPr id="8" name="Pill 8"/>
          <p:cNvSpPr/>
          <p:nvPr/>
        </p:nvSpPr>
        <p:spPr>
          <a:xfrm>
            <a:off x="822960" y="1856232"/>
            <a:ext cx="2291486" cy="310896"/>
          </a:xfrm>
          <a:prstGeom prst="roundRect">
            <a:avLst>
              <a:gd name="adj" fmla="val 50000"/>
            </a:avLst>
          </a:prstGeom>
          <a:solidFill>
            <a:srgbClr val="E8F6EE"/>
          </a:solidFill>
          <a:ln w="9525">
            <a:solidFill>
              <a:srgbClr val="B7E1C7"/>
            </a:solidFill>
            <a:prstDash val="solid"/>
          </a:ln>
        </p:spPr>
        <p:txBody>
          <a:bodyPr wrap="square" lIns="36576" tIns="36576" rIns="36576" bIns="36576" rtlCol="0" anchor="ctr"/>
          <a:lstStyle/>
          <a:p>
            <a:pPr marL="0" indent="0" algn="ctr">
              <a:buNone/>
            </a:pPr>
            <a:r>
              <a:rPr lang="en-GB" sz="1200" dirty="0">
                <a:solidFill>
                  <a:srgbClr val="1E8A4C"/>
                </a:solidFill>
                <a:latin typeface="Inter SemiBold Text SemiBold" pitchFamily="34" charset="0"/>
                <a:ea typeface="Inter SemiBold Text SemiBold" pitchFamily="34" charset="-122"/>
                <a:cs typeface="Inter SemiBold Text SemiBold" pitchFamily="34" charset="-120"/>
              </a:rPr>
              <a:t>No intermediate rounding</a:t>
            </a:r>
          </a:p>
        </p:txBody>
      </p:sp>
      <p:sp>
        <p:nvSpPr>
          <p:cNvPr id="9" name="Text 9"/>
          <p:cNvSpPr txBox="1"/>
          <p:nvPr/>
        </p:nvSpPr>
        <p:spPr>
          <a:xfrm>
            <a:off x="3242462" y="1847088"/>
            <a:ext cx="7273138" cy="329184"/>
          </a:xfrm>
          <a:prstGeom prst="rect">
            <a:avLst/>
          </a:prstGeom>
          <a:noFill/>
          <a:ln/>
        </p:spPr>
        <p:txBody>
          <a:bodyPr wrap="none" lIns="0" tIns="0" rIns="0" bIns="0" rtlCol="0" anchor="ctr"/>
          <a:lstStyle/>
          <a:p>
            <a:pPr marL="0" indent="0" algn="l">
              <a:buNone/>
            </a:pPr>
            <a:r>
              <a:rPr lang="en-GB" sz="1300" dirty="0">
                <a:solidFill>
                  <a:srgbClr val="5B6890"/>
                </a:solidFill>
                <a:latin typeface="Inter Text" pitchFamily="34" charset="0"/>
                <a:ea typeface="Inter Text" pitchFamily="34" charset="-122"/>
                <a:cs typeface="Inter Text" pitchFamily="34" charset="-120"/>
              </a:rPr>
              <a:t>— only BT-115 Amount due for payment and BT-117 VAT category tax amount are rounded, once.</a:t>
            </a:r>
          </a:p>
        </p:txBody>
      </p:sp>
      <p:sp>
        <p:nvSpPr>
          <p:cNvPr id="10" name="Frame 10"/>
          <p:cNvSpPr/>
          <p:nvPr/>
        </p:nvSpPr>
        <p:spPr>
          <a:xfrm>
            <a:off x="694944" y="2240280"/>
            <a:ext cx="7022592" cy="1709928"/>
          </a:xfrm>
          <a:prstGeom prst="roundRect">
            <a:avLst>
              <a:gd name="adj" fmla="val 5529"/>
            </a:avLst>
          </a:prstGeom>
          <a:solidFill>
            <a:srgbClr val="EEF4FC"/>
          </a:solidFill>
          <a:ln w="19050">
            <a:solidFill>
              <a:srgbClr val="2F7FD8"/>
            </a:solidFill>
            <a:prstDash val="solid"/>
          </a:ln>
        </p:spPr>
        <p:txBody>
          <a:bodyPr/>
          <a:lstStyle/>
          <a:p>
            <a:endParaRPr lang="en-GB"/>
          </a:p>
        </p:txBody>
      </p:sp>
      <p:sp>
        <p:nvSpPr>
          <p:cNvPr id="11" name="Text 11"/>
          <p:cNvSpPr txBox="1"/>
          <p:nvPr/>
        </p:nvSpPr>
        <p:spPr>
          <a:xfrm>
            <a:off x="868680" y="2267712"/>
            <a:ext cx="4572000" cy="182880"/>
          </a:xfrm>
          <a:prstGeom prst="rect">
            <a:avLst/>
          </a:prstGeom>
          <a:noFill/>
          <a:ln/>
        </p:spPr>
        <p:txBody>
          <a:bodyPr wrap="square" lIns="0" tIns="0" rIns="0" bIns="0" rtlCol="0" anchor="ctr"/>
          <a:lstStyle/>
          <a:p>
            <a:pPr marL="0" indent="0" algn="l">
              <a:buNone/>
            </a:pPr>
            <a:r>
              <a:rPr lang="en-GB" sz="850" spc="150" dirty="0">
                <a:solidFill>
                  <a:srgbClr val="2F7FD8"/>
                </a:solidFill>
                <a:latin typeface="Inter SemiBold Text SemiBold" pitchFamily="34" charset="0"/>
                <a:ea typeface="Inter SemiBold Text SemiBold" pitchFamily="34" charset="-122"/>
                <a:cs typeface="Inter SemiBold Text SemiBold" pitchFamily="34" charset="-120"/>
              </a:rPr>
              <a:t>INPUT &amp; INTERMEDIATE VALUES</a:t>
            </a:r>
          </a:p>
        </p:txBody>
      </p:sp>
      <p:sp>
        <p:nvSpPr>
          <p:cNvPr id="12" name="Frame 12"/>
          <p:cNvSpPr/>
          <p:nvPr/>
        </p:nvSpPr>
        <p:spPr>
          <a:xfrm>
            <a:off x="694944" y="4023360"/>
            <a:ext cx="7022592" cy="2203704"/>
          </a:xfrm>
          <a:prstGeom prst="roundRect">
            <a:avLst>
              <a:gd name="adj" fmla="val 5529"/>
            </a:avLst>
          </a:prstGeom>
          <a:solidFill>
            <a:srgbClr val="F4F0FC"/>
          </a:solidFill>
          <a:ln w="19050">
            <a:solidFill>
              <a:srgbClr val="7B57D1"/>
            </a:solidFill>
            <a:prstDash val="solid"/>
          </a:ln>
        </p:spPr>
        <p:txBody>
          <a:bodyPr/>
          <a:lstStyle/>
          <a:p>
            <a:endParaRPr lang="en-GB"/>
          </a:p>
        </p:txBody>
      </p:sp>
      <p:sp>
        <p:nvSpPr>
          <p:cNvPr id="13" name="Text 13"/>
          <p:cNvSpPr txBox="1"/>
          <p:nvPr/>
        </p:nvSpPr>
        <p:spPr>
          <a:xfrm>
            <a:off x="868680" y="4050792"/>
            <a:ext cx="4572000" cy="182880"/>
          </a:xfrm>
          <a:prstGeom prst="rect">
            <a:avLst/>
          </a:prstGeom>
          <a:noFill/>
          <a:ln/>
        </p:spPr>
        <p:txBody>
          <a:bodyPr wrap="square" lIns="0" tIns="0" rIns="0" bIns="0" rtlCol="0" anchor="ctr"/>
          <a:lstStyle/>
          <a:p>
            <a:pPr marL="0" indent="0" algn="l">
              <a:buNone/>
            </a:pPr>
            <a:r>
              <a:rPr lang="en-GB" sz="850" spc="150" dirty="0">
                <a:solidFill>
                  <a:srgbClr val="7B57D1"/>
                </a:solidFill>
                <a:latin typeface="Inter SemiBold Text SemiBold" pitchFamily="34" charset="0"/>
                <a:ea typeface="Inter SemiBold Text SemiBold" pitchFamily="34" charset="-122"/>
                <a:cs typeface="Inter SemiBold Text SemiBold" pitchFamily="34" charset="-120"/>
              </a:rPr>
              <a:t>FINAL RESULTS</a:t>
            </a:r>
          </a:p>
        </p:txBody>
      </p:sp>
      <p:sp>
        <p:nvSpPr>
          <p:cNvPr id="14" name="Card 14"/>
          <p:cNvSpPr/>
          <p:nvPr/>
        </p:nvSpPr>
        <p:spPr>
          <a:xfrm>
            <a:off x="822960" y="2450592"/>
            <a:ext cx="6766560" cy="457200"/>
          </a:xfrm>
          <a:prstGeom prst="roundRect">
            <a:avLst>
              <a:gd name="adj" fmla="val 11666"/>
            </a:avLst>
          </a:prstGeom>
          <a:solidFill>
            <a:srgbClr val="FFFFFF"/>
          </a:solidFill>
          <a:ln w="12700">
            <a:solidFill>
              <a:srgbClr val="E2E7F2"/>
            </a:solidFill>
            <a:prstDash val="solid"/>
          </a:ln>
          <a:effectLst>
            <a:outerShdw blurRad="101600" dist="38100" dir="5400000" algn="bl" rotWithShape="0">
              <a:srgbClr val="0A1230">
                <a:alpha val="8000"/>
              </a:srgbClr>
            </a:outerShdw>
          </a:effectLst>
        </p:spPr>
        <p:txBody>
          <a:bodyPr/>
          <a:lstStyle/>
          <a:p>
            <a:endParaRPr lang="en-GB"/>
          </a:p>
        </p:txBody>
      </p:sp>
      <p:sp>
        <p:nvSpPr>
          <p:cNvPr id="15" name="Pill 15"/>
          <p:cNvSpPr/>
          <p:nvPr/>
        </p:nvSpPr>
        <p:spPr>
          <a:xfrm>
            <a:off x="960120" y="2549652"/>
            <a:ext cx="685800" cy="259080"/>
          </a:xfrm>
          <a:prstGeom prst="roundRect">
            <a:avLst>
              <a:gd name="adj" fmla="val 50000"/>
            </a:avLst>
          </a:prstGeom>
          <a:solidFill>
            <a:srgbClr val="D32F2F"/>
          </a:solidFill>
          <a:ln>
            <a:noFill/>
          </a:ln>
        </p:spPr>
        <p:txBody>
          <a:bodyPr wrap="square" lIns="36576" tIns="36576" rIns="36576" bIns="36576" rtlCol="0" anchor="ctr"/>
          <a:lstStyle/>
          <a:p>
            <a:pPr marL="0" indent="0" algn="ctr">
              <a:buNone/>
            </a:pPr>
            <a:r>
              <a:rPr lang="en-GB" sz="1150" dirty="0">
                <a:solidFill>
                  <a:srgbClr val="FFFFFF"/>
                </a:solidFill>
                <a:latin typeface="Inter SemiBold Text SemiBold" pitchFamily="34" charset="0"/>
                <a:ea typeface="Inter SemiBold Text SemiBold" pitchFamily="34" charset="-122"/>
                <a:cs typeface="Inter SemiBold Text SemiBold" pitchFamily="34" charset="-120"/>
              </a:rPr>
              <a:t>BT-146</a:t>
            </a:r>
          </a:p>
        </p:txBody>
      </p:sp>
      <p:sp>
        <p:nvSpPr>
          <p:cNvPr id="16" name="Text 16"/>
          <p:cNvSpPr txBox="1"/>
          <p:nvPr/>
        </p:nvSpPr>
        <p:spPr>
          <a:xfrm>
            <a:off x="1965960" y="2465832"/>
            <a:ext cx="2788920" cy="198120"/>
          </a:xfrm>
          <a:prstGeom prst="rect">
            <a:avLst/>
          </a:prstGeom>
          <a:noFill/>
          <a:ln/>
        </p:spPr>
        <p:txBody>
          <a:bodyPr wrap="none" lIns="0" tIns="0" rIns="0" bIns="0" rtlCol="0" anchor="ctr"/>
          <a:lstStyle/>
          <a:p>
            <a:pPr marL="0" indent="0" algn="l">
              <a:buNone/>
            </a:pPr>
            <a:r>
              <a:rPr lang="en-GB" sz="1150" dirty="0">
                <a:solidFill>
                  <a:srgbClr val="1A2B5E"/>
                </a:solidFill>
                <a:latin typeface="Inter SemiBold Text SemiBold" pitchFamily="34" charset="0"/>
                <a:ea typeface="Inter SemiBold Text SemiBold" pitchFamily="34" charset="-122"/>
                <a:cs typeface="Inter SemiBold Text SemiBold" pitchFamily="34" charset="-120"/>
              </a:rPr>
              <a:t>Item net price</a:t>
            </a:r>
          </a:p>
        </p:txBody>
      </p:sp>
      <p:sp>
        <p:nvSpPr>
          <p:cNvPr id="17" name="Text 17"/>
          <p:cNvSpPr txBox="1"/>
          <p:nvPr/>
        </p:nvSpPr>
        <p:spPr>
          <a:xfrm>
            <a:off x="1965960" y="2656332"/>
            <a:ext cx="2788920" cy="243840"/>
          </a:xfrm>
          <a:prstGeom prst="rect">
            <a:avLst/>
          </a:prstGeom>
          <a:noFill/>
          <a:ln/>
        </p:spPr>
        <p:txBody>
          <a:bodyPr wrap="square" lIns="0" tIns="0" rIns="0" bIns="0" rtlCol="0" anchor="t"/>
          <a:lstStyle/>
          <a:p>
            <a:pPr marL="0" indent="0" algn="l">
              <a:lnSpc>
                <a:spcPct val="95000"/>
              </a:lnSpc>
              <a:buNone/>
            </a:pPr>
            <a:r>
              <a:rPr lang="en-GB" sz="800" dirty="0">
                <a:solidFill>
                  <a:srgbClr val="5B6890"/>
                </a:solidFill>
                <a:latin typeface="Inter Text" pitchFamily="34" charset="0"/>
                <a:ea typeface="Inter Text" pitchFamily="34" charset="-122"/>
                <a:cs typeface="Inter Text" pitchFamily="34" charset="-120"/>
              </a:rPr>
              <a:t>= </a:t>
            </a:r>
            <a:r>
              <a:rPr lang="en-GB" sz="800" dirty="0">
                <a:solidFill>
                  <a:srgbClr val="1A2B5E"/>
                </a:solidFill>
                <a:latin typeface="Inter SemiBold Text SemiBold" pitchFamily="34" charset="0"/>
                <a:ea typeface="Inter SemiBold Text SemiBold" pitchFamily="34" charset="-122"/>
                <a:cs typeface="Inter SemiBold Text SemiBold" pitchFamily="34" charset="-120"/>
              </a:rPr>
              <a:t>BT-148</a:t>
            </a:r>
            <a:r>
              <a:rPr lang="en-GB" sz="800" dirty="0">
                <a:solidFill>
                  <a:srgbClr val="5B6890"/>
                </a:solidFill>
                <a:latin typeface="Inter Text" pitchFamily="34" charset="0"/>
                <a:ea typeface="Inter Text" pitchFamily="34" charset="-122"/>
                <a:cs typeface="Inter Text" pitchFamily="34" charset="-120"/>
              </a:rPr>
              <a:t> − </a:t>
            </a:r>
            <a:r>
              <a:rPr lang="en-GB" sz="800" dirty="0">
                <a:solidFill>
                  <a:srgbClr val="1A2B5E"/>
                </a:solidFill>
                <a:latin typeface="Inter SemiBold Text SemiBold" pitchFamily="34" charset="0"/>
                <a:ea typeface="Inter SemiBold Text SemiBold" pitchFamily="34" charset="-122"/>
                <a:cs typeface="Inter SemiBold Text SemiBold" pitchFamily="34" charset="-120"/>
              </a:rPr>
              <a:t>BT-147</a:t>
            </a:r>
            <a:r>
              <a:rPr lang="en-GB" sz="800" dirty="0">
                <a:solidFill>
                  <a:srgbClr val="5B6890"/>
                </a:solidFill>
                <a:latin typeface="Inter Text" pitchFamily="34" charset="0"/>
                <a:ea typeface="Inter Text" pitchFamily="34" charset="-122"/>
                <a:cs typeface="Inter Text" pitchFamily="34" charset="-120"/>
              </a:rPr>
              <a:t/>
            </a:r>
          </a:p>
        </p:txBody>
      </p:sp>
      <p:sp>
        <p:nvSpPr>
          <p:cNvPr id="18" name="Pill 18"/>
          <p:cNvSpPr/>
          <p:nvPr/>
        </p:nvSpPr>
        <p:spPr>
          <a:xfrm>
            <a:off x="4773168" y="2503932"/>
            <a:ext cx="1207008" cy="350520"/>
          </a:xfrm>
          <a:prstGeom prst="roundRect">
            <a:avLst>
              <a:gd name="adj" fmla="val 50000"/>
            </a:avLst>
          </a:prstGeom>
          <a:solidFill>
            <a:srgbClr val="F4F6FB"/>
          </a:solidFill>
          <a:ln w="9525">
            <a:solidFill>
              <a:srgbClr val="E2E7F2"/>
            </a:solidFill>
            <a:prstDash val="solid"/>
          </a:ln>
        </p:spPr>
        <p:txBody>
          <a:bodyPr wrap="square" lIns="18288" tIns="18288" rIns="18288" bIns="18288" rtlCol="0" anchor="ctr"/>
          <a:lstStyle/>
          <a:p>
            <a:pPr marL="0" indent="0" algn="ctr">
              <a:buNone/>
            </a:pPr>
            <a:r>
              <a:rPr lang="en-GB" sz="1150" dirty="0">
                <a:solidFill>
                  <a:srgbClr val="5B6890"/>
                </a:solidFill>
                <a:latin typeface="Inter SemiBold Text SemiBold" pitchFamily="34" charset="0"/>
                <a:ea typeface="Inter SemiBold Text SemiBold" pitchFamily="34" charset="-122"/>
                <a:cs typeface="Inter SemiBold Text SemiBold" pitchFamily="34" charset="-120"/>
              </a:rPr>
              <a:t>free</a:t>
            </a:r>
          </a:p>
          <a:p>
            <a:pPr marL="0" indent="0" algn="ctr">
              <a:buNone/>
            </a:pPr>
            <a:r>
              <a:rPr lang="en-GB" sz="800" dirty="0">
                <a:solidFill>
                  <a:srgbClr val="5B6890"/>
                </a:solidFill>
                <a:latin typeface="Inter Text" pitchFamily="34" charset="0"/>
                <a:ea typeface="Inter Text" pitchFamily="34" charset="-122"/>
                <a:cs typeface="Inter Text" pitchFamily="34" charset="-120"/>
              </a:rPr>
              <a:t>unrounded</a:t>
            </a:r>
          </a:p>
        </p:txBody>
      </p:sp>
      <p:sp>
        <p:nvSpPr>
          <p:cNvPr id="19" name="Text 19"/>
          <p:cNvSpPr txBox="1"/>
          <p:nvPr/>
        </p:nvSpPr>
        <p:spPr>
          <a:xfrm>
            <a:off x="5989320" y="2481072"/>
            <a:ext cx="1508760" cy="243840"/>
          </a:xfrm>
          <a:prstGeom prst="rect">
            <a:avLst/>
          </a:prstGeom>
          <a:noFill/>
          <a:ln/>
        </p:spPr>
        <p:txBody>
          <a:bodyPr wrap="square" lIns="0" tIns="0" rIns="0" bIns="0" rtlCol="0" anchor="ctr"/>
          <a:lstStyle/>
          <a:p>
            <a:pPr marL="0" indent="0" algn="r">
              <a:buNone/>
            </a:pPr>
            <a:r>
              <a:rPr lang="en-GB" sz="1300" b="1" dirty="0">
                <a:solidFill>
                  <a:srgbClr val="1E8A4C"/>
                </a:solidFill>
                <a:latin typeface="Consolas" pitchFamily="34" charset="0"/>
                <a:ea typeface="Consolas" pitchFamily="34" charset="-122"/>
                <a:cs typeface="Consolas" pitchFamily="34" charset="-120"/>
              </a:rPr>
              <a:t>± 0</a:t>
            </a:r>
          </a:p>
        </p:txBody>
      </p:sp>
      <p:sp>
        <p:nvSpPr>
          <p:cNvPr id="20" name="Text 20"/>
          <p:cNvSpPr txBox="1"/>
          <p:nvPr/>
        </p:nvSpPr>
        <p:spPr>
          <a:xfrm>
            <a:off x="5577840" y="2717292"/>
            <a:ext cx="1920240" cy="167640"/>
          </a:xfrm>
          <a:prstGeom prst="rect">
            <a:avLst/>
          </a:prstGeom>
          <a:noFill/>
          <a:ln/>
        </p:spPr>
        <p:txBody>
          <a:bodyPr wrap="square" lIns="0" tIns="0" rIns="0" bIns="0" rtlCol="0" anchor="ctr"/>
          <a:lstStyle/>
          <a:p>
            <a:pPr marL="0" indent="0" algn="r">
              <a:buNone/>
            </a:pPr>
            <a:r>
              <a:rPr lang="en-GB" sz="850" dirty="0">
                <a:solidFill>
                  <a:srgbClr val="9AA4C2"/>
                </a:solidFill>
                <a:latin typeface="Inter Text" pitchFamily="34" charset="0"/>
                <a:ea typeface="Inter Text" pitchFamily="34" charset="-122"/>
                <a:cs typeface="Inter Text" pitchFamily="34" charset="-120"/>
              </a:rPr>
              <a:t>as agreed</a:t>
            </a:r>
          </a:p>
        </p:txBody>
      </p:sp>
      <p:cxnSp>
        <p:nvCxnSpPr>
          <p:cNvPr id="21" name="Connector 21"/>
          <p:cNvCxnSpPr/>
          <p:nvPr/>
        </p:nvCxnSpPr>
        <p:spPr>
          <a:xfrm>
            <a:off x="1303020" y="2907792"/>
            <a:ext cx="0" cy="36576"/>
          </a:xfrm>
          <a:prstGeom prst="line">
            <a:avLst/>
          </a:prstGeom>
          <a:ln w="15875">
            <a:solidFill>
              <a:srgbClr val="9AA4C2"/>
            </a:solidFill>
          </a:ln>
        </p:spPr>
      </p:cxnSp>
      <p:sp>
        <p:nvSpPr>
          <p:cNvPr id="22" name="Card 22"/>
          <p:cNvSpPr/>
          <p:nvPr/>
        </p:nvSpPr>
        <p:spPr>
          <a:xfrm>
            <a:off x="822960" y="2944368"/>
            <a:ext cx="6766560" cy="457200"/>
          </a:xfrm>
          <a:prstGeom prst="roundRect">
            <a:avLst>
              <a:gd name="adj" fmla="val 11666"/>
            </a:avLst>
          </a:prstGeom>
          <a:solidFill>
            <a:srgbClr val="FFFFFF"/>
          </a:solidFill>
          <a:ln w="12700">
            <a:solidFill>
              <a:srgbClr val="E2E7F2"/>
            </a:solidFill>
            <a:prstDash val="solid"/>
          </a:ln>
          <a:effectLst>
            <a:outerShdw blurRad="101600" dist="38100" dir="5400000" algn="bl" rotWithShape="0">
              <a:srgbClr val="0A1230">
                <a:alpha val="8000"/>
              </a:srgbClr>
            </a:outerShdw>
          </a:effectLst>
        </p:spPr>
        <p:txBody>
          <a:bodyPr/>
          <a:lstStyle/>
          <a:p>
            <a:endParaRPr lang="en-GB"/>
          </a:p>
        </p:txBody>
      </p:sp>
      <p:sp>
        <p:nvSpPr>
          <p:cNvPr id="23" name="Pill 23"/>
          <p:cNvSpPr/>
          <p:nvPr/>
        </p:nvSpPr>
        <p:spPr>
          <a:xfrm>
            <a:off x="960120" y="3043428"/>
            <a:ext cx="685800" cy="259080"/>
          </a:xfrm>
          <a:prstGeom prst="roundRect">
            <a:avLst>
              <a:gd name="adj" fmla="val 50000"/>
            </a:avLst>
          </a:prstGeom>
          <a:solidFill>
            <a:srgbClr val="EF6C00"/>
          </a:solidFill>
          <a:ln>
            <a:noFill/>
          </a:ln>
        </p:spPr>
        <p:txBody>
          <a:bodyPr wrap="square" lIns="36576" tIns="36576" rIns="36576" bIns="36576" rtlCol="0" anchor="ctr"/>
          <a:lstStyle/>
          <a:p>
            <a:pPr marL="0" indent="0" algn="ctr">
              <a:buNone/>
            </a:pPr>
            <a:r>
              <a:rPr lang="en-GB" sz="1150" dirty="0">
                <a:solidFill>
                  <a:srgbClr val="FFFFFF"/>
                </a:solidFill>
                <a:latin typeface="Inter SemiBold Text SemiBold" pitchFamily="34" charset="0"/>
                <a:ea typeface="Inter SemiBold Text SemiBold" pitchFamily="34" charset="-122"/>
                <a:cs typeface="Inter SemiBold Text SemiBold" pitchFamily="34" charset="-120"/>
              </a:rPr>
              <a:t>BT-131</a:t>
            </a:r>
          </a:p>
        </p:txBody>
      </p:sp>
      <p:sp>
        <p:nvSpPr>
          <p:cNvPr id="24" name="Text 24"/>
          <p:cNvSpPr txBox="1"/>
          <p:nvPr/>
        </p:nvSpPr>
        <p:spPr>
          <a:xfrm>
            <a:off x="1965960" y="2959608"/>
            <a:ext cx="2788920" cy="198120"/>
          </a:xfrm>
          <a:prstGeom prst="rect">
            <a:avLst/>
          </a:prstGeom>
          <a:noFill/>
          <a:ln/>
        </p:spPr>
        <p:txBody>
          <a:bodyPr wrap="none" lIns="0" tIns="0" rIns="0" bIns="0" rtlCol="0" anchor="ctr"/>
          <a:lstStyle/>
          <a:p>
            <a:pPr marL="0" indent="0" algn="l">
              <a:buNone/>
            </a:pPr>
            <a:r>
              <a:rPr lang="en-GB" sz="1150" dirty="0">
                <a:solidFill>
                  <a:srgbClr val="1A2B5E"/>
                </a:solidFill>
                <a:latin typeface="Inter SemiBold Text SemiBold" pitchFamily="34" charset="0"/>
                <a:ea typeface="Inter SemiBold Text SemiBold" pitchFamily="34" charset="-122"/>
                <a:cs typeface="Inter SemiBold Text SemiBold" pitchFamily="34" charset="-120"/>
              </a:rPr>
              <a:t>Invoice line net amount</a:t>
            </a:r>
          </a:p>
        </p:txBody>
      </p:sp>
      <p:sp>
        <p:nvSpPr>
          <p:cNvPr id="25" name="Text 25"/>
          <p:cNvSpPr txBox="1"/>
          <p:nvPr/>
        </p:nvSpPr>
        <p:spPr>
          <a:xfrm>
            <a:off x="1965960" y="3150108"/>
            <a:ext cx="2788920" cy="243840"/>
          </a:xfrm>
          <a:prstGeom prst="rect">
            <a:avLst/>
          </a:prstGeom>
          <a:noFill/>
          <a:ln/>
        </p:spPr>
        <p:txBody>
          <a:bodyPr wrap="square" lIns="0" tIns="0" rIns="0" bIns="0" rtlCol="0" anchor="t"/>
          <a:lstStyle/>
          <a:p>
            <a:pPr marL="0" indent="0" algn="l">
              <a:lnSpc>
                <a:spcPct val="95000"/>
              </a:lnSpc>
              <a:buNone/>
            </a:pPr>
            <a:r>
              <a:rPr lang="en-GB" sz="800" dirty="0">
                <a:solidFill>
                  <a:srgbClr val="5B6890"/>
                </a:solidFill>
                <a:latin typeface="Inter Text" pitchFamily="34" charset="0"/>
                <a:ea typeface="Inter Text" pitchFamily="34" charset="-122"/>
                <a:cs typeface="Inter Text" pitchFamily="34" charset="-120"/>
              </a:rPr>
              <a:t>= </a:t>
            </a:r>
            <a:r>
              <a:rPr lang="en-GB" sz="800" b="1" dirty="0">
                <a:solidFill>
                  <a:srgbClr val="D32F2F"/>
                </a:solidFill>
                <a:latin typeface="Inter SemiBold Text SemiBold" pitchFamily="34" charset="0"/>
                <a:ea typeface="Inter SemiBold Text SemiBold" pitchFamily="34" charset="-122"/>
                <a:cs typeface="Inter SemiBold Text SemiBold" pitchFamily="34" charset="-120"/>
              </a:rPr>
              <a:t>BT-146</a:t>
            </a:r>
            <a:r>
              <a:rPr lang="en-GB" sz="800" dirty="0">
                <a:solidFill>
                  <a:srgbClr val="5B6890"/>
                </a:solidFill>
                <a:latin typeface="Inter Text" pitchFamily="34" charset="0"/>
                <a:ea typeface="Inter Text" pitchFamily="34" charset="-122"/>
                <a:cs typeface="Inter Text" pitchFamily="34" charset="-120"/>
              </a:rPr>
              <a:t> × </a:t>
            </a:r>
            <a:r>
              <a:rPr lang="en-GB" sz="800" dirty="0">
                <a:solidFill>
                  <a:srgbClr val="1A2B5E"/>
                </a:solidFill>
                <a:latin typeface="Inter SemiBold Text SemiBold" pitchFamily="34" charset="0"/>
                <a:ea typeface="Inter SemiBold Text SemiBold" pitchFamily="34" charset="-122"/>
                <a:cs typeface="Inter SemiBold Text SemiBold" pitchFamily="34" charset="-120"/>
              </a:rPr>
              <a:t>BT-129</a:t>
            </a:r>
            <a:r>
              <a:rPr lang="en-GB" sz="800" dirty="0">
                <a:solidFill>
                  <a:srgbClr val="5B6890"/>
                </a:solidFill>
                <a:latin typeface="Inter Text" pitchFamily="34" charset="0"/>
                <a:ea typeface="Inter Text" pitchFamily="34" charset="-122"/>
                <a:cs typeface="Inter Text" pitchFamily="34" charset="-120"/>
              </a:rPr>
              <a:t> ÷ </a:t>
            </a:r>
            <a:r>
              <a:rPr lang="en-GB" sz="800" dirty="0">
                <a:solidFill>
                  <a:srgbClr val="1A2B5E"/>
                </a:solidFill>
                <a:latin typeface="Inter SemiBold Text SemiBold" pitchFamily="34" charset="0"/>
                <a:ea typeface="Inter SemiBold Text SemiBold" pitchFamily="34" charset="-122"/>
                <a:cs typeface="Inter SemiBold Text SemiBold" pitchFamily="34" charset="-120"/>
              </a:rPr>
              <a:t>BT-149</a:t>
            </a:r>
            <a:r>
              <a:rPr lang="en-GB" sz="800" dirty="0">
                <a:solidFill>
                  <a:srgbClr val="5B6890"/>
                </a:solidFill>
                <a:latin typeface="Inter Text" pitchFamily="34" charset="0"/>
                <a:ea typeface="Inter Text" pitchFamily="34" charset="-122"/>
                <a:cs typeface="Inter Text" pitchFamily="34" charset="-120"/>
              </a:rPr>
              <a:t> + Σ </a:t>
            </a:r>
            <a:r>
              <a:rPr lang="en-GB" sz="800" dirty="0">
                <a:solidFill>
                  <a:srgbClr val="1A2B5E"/>
                </a:solidFill>
                <a:latin typeface="Inter SemiBold Text SemiBold" pitchFamily="34" charset="0"/>
                <a:ea typeface="Inter SemiBold Text SemiBold" pitchFamily="34" charset="-122"/>
                <a:cs typeface="Inter SemiBold Text SemiBold" pitchFamily="34" charset="-120"/>
              </a:rPr>
              <a:t>BT-141</a:t>
            </a:r>
            <a:r>
              <a:rPr lang="en-GB" sz="800" dirty="0">
                <a:solidFill>
                  <a:srgbClr val="5B6890"/>
                </a:solidFill>
                <a:latin typeface="Inter Text" pitchFamily="34" charset="0"/>
                <a:ea typeface="Inter Text" pitchFamily="34" charset="-122"/>
                <a:cs typeface="Inter Text" pitchFamily="34" charset="-120"/>
              </a:rPr>
              <a:t> − Σ </a:t>
            </a:r>
            <a:r>
              <a:rPr lang="en-GB" sz="800" dirty="0">
                <a:solidFill>
                  <a:srgbClr val="1A2B5E"/>
                </a:solidFill>
                <a:latin typeface="Inter SemiBold Text SemiBold" pitchFamily="34" charset="0"/>
                <a:ea typeface="Inter SemiBold Text SemiBold" pitchFamily="34" charset="-122"/>
                <a:cs typeface="Inter SemiBold Text SemiBold" pitchFamily="34" charset="-120"/>
              </a:rPr>
              <a:t>BT-136</a:t>
            </a:r>
            <a:r>
              <a:rPr lang="en-GB" sz="800" dirty="0">
                <a:solidFill>
                  <a:srgbClr val="5B6890"/>
                </a:solidFill>
                <a:latin typeface="Inter Text" pitchFamily="34" charset="0"/>
                <a:ea typeface="Inter Text" pitchFamily="34" charset="-122"/>
                <a:cs typeface="Inter Text" pitchFamily="34" charset="-120"/>
              </a:rPr>
              <a:t/>
            </a:r>
          </a:p>
        </p:txBody>
      </p:sp>
      <p:sp>
        <p:nvSpPr>
          <p:cNvPr id="26" name="Pill 26"/>
          <p:cNvSpPr/>
          <p:nvPr/>
        </p:nvSpPr>
        <p:spPr>
          <a:xfrm>
            <a:off x="4773168" y="2997708"/>
            <a:ext cx="1207008" cy="350520"/>
          </a:xfrm>
          <a:prstGeom prst="roundRect">
            <a:avLst>
              <a:gd name="adj" fmla="val 50000"/>
            </a:avLst>
          </a:prstGeom>
          <a:solidFill>
            <a:srgbClr val="F4F6FB"/>
          </a:solidFill>
          <a:ln w="9525">
            <a:solidFill>
              <a:srgbClr val="E2E7F2"/>
            </a:solidFill>
            <a:prstDash val="solid"/>
          </a:ln>
        </p:spPr>
        <p:txBody>
          <a:bodyPr wrap="square" lIns="18288" tIns="18288" rIns="18288" bIns="18288" rtlCol="0" anchor="ctr"/>
          <a:lstStyle/>
          <a:p>
            <a:pPr marL="0" indent="0" algn="ctr">
              <a:buNone/>
            </a:pPr>
            <a:r>
              <a:rPr lang="en-GB" sz="1150" dirty="0">
                <a:solidFill>
                  <a:srgbClr val="5B6890"/>
                </a:solidFill>
                <a:latin typeface="Inter SemiBold Text SemiBold" pitchFamily="34" charset="0"/>
                <a:ea typeface="Inter SemiBold Text SemiBold" pitchFamily="34" charset="-122"/>
                <a:cs typeface="Inter SemiBold Text SemiBold" pitchFamily="34" charset="-120"/>
              </a:rPr>
              <a:t>free</a:t>
            </a:r>
          </a:p>
          <a:p>
            <a:pPr marL="0" indent="0" algn="ctr">
              <a:buNone/>
            </a:pPr>
            <a:r>
              <a:rPr lang="en-GB" sz="800" dirty="0">
                <a:solidFill>
                  <a:srgbClr val="5B6890"/>
                </a:solidFill>
                <a:latin typeface="Inter Text" pitchFamily="34" charset="0"/>
                <a:ea typeface="Inter Text" pitchFamily="34" charset="-122"/>
                <a:cs typeface="Inter Text" pitchFamily="34" charset="-120"/>
              </a:rPr>
              <a:t>unrounded</a:t>
            </a:r>
          </a:p>
        </p:txBody>
      </p:sp>
      <p:sp>
        <p:nvSpPr>
          <p:cNvPr id="27" name="Text 27"/>
          <p:cNvSpPr txBox="1"/>
          <p:nvPr/>
        </p:nvSpPr>
        <p:spPr>
          <a:xfrm>
            <a:off x="5989320" y="2974848"/>
            <a:ext cx="1508760" cy="243840"/>
          </a:xfrm>
          <a:prstGeom prst="rect">
            <a:avLst/>
          </a:prstGeom>
          <a:noFill/>
          <a:ln/>
        </p:spPr>
        <p:txBody>
          <a:bodyPr wrap="square" lIns="0" tIns="0" rIns="0" bIns="0" rtlCol="0" anchor="ctr"/>
          <a:lstStyle/>
          <a:p>
            <a:pPr marL="0" indent="0" algn="r">
              <a:buNone/>
            </a:pPr>
            <a:r>
              <a:rPr lang="en-GB" sz="1300" b="1" dirty="0">
                <a:solidFill>
                  <a:srgbClr val="1E8A4C"/>
                </a:solidFill>
                <a:latin typeface="Consolas" pitchFamily="34" charset="0"/>
                <a:ea typeface="Consolas" pitchFamily="34" charset="-122"/>
                <a:cs typeface="Consolas" pitchFamily="34" charset="-120"/>
              </a:rPr>
              <a:t>± 0</a:t>
            </a:r>
          </a:p>
        </p:txBody>
      </p:sp>
      <p:sp>
        <p:nvSpPr>
          <p:cNvPr id="28" name="Text 28"/>
          <p:cNvSpPr txBox="1"/>
          <p:nvPr/>
        </p:nvSpPr>
        <p:spPr>
          <a:xfrm>
            <a:off x="5577840" y="3211068"/>
            <a:ext cx="1920240" cy="167640"/>
          </a:xfrm>
          <a:prstGeom prst="rect">
            <a:avLst/>
          </a:prstGeom>
          <a:noFill/>
          <a:ln/>
        </p:spPr>
        <p:txBody>
          <a:bodyPr wrap="square" lIns="0" tIns="0" rIns="0" bIns="0" rtlCol="0" anchor="ctr"/>
          <a:lstStyle/>
          <a:p>
            <a:pPr marL="0" indent="0" algn="r">
              <a:buNone/>
            </a:pPr>
            <a:r>
              <a:rPr lang="en-GB" sz="850" dirty="0">
                <a:solidFill>
                  <a:srgbClr val="9AA4C2"/>
                </a:solidFill>
                <a:latin typeface="Inter Text" pitchFamily="34" charset="0"/>
                <a:ea typeface="Inter Text" pitchFamily="34" charset="-122"/>
                <a:cs typeface="Inter Text" pitchFamily="34" charset="-120"/>
              </a:rPr>
              <a:t>exact</a:t>
            </a:r>
          </a:p>
        </p:txBody>
      </p:sp>
      <p:cxnSp>
        <p:nvCxnSpPr>
          <p:cNvPr id="29" name="Connector 29"/>
          <p:cNvCxnSpPr/>
          <p:nvPr/>
        </p:nvCxnSpPr>
        <p:spPr>
          <a:xfrm>
            <a:off x="1303020" y="3401568"/>
            <a:ext cx="0" cy="36576"/>
          </a:xfrm>
          <a:prstGeom prst="line">
            <a:avLst/>
          </a:prstGeom>
          <a:ln w="15875">
            <a:solidFill>
              <a:srgbClr val="9AA4C2"/>
            </a:solidFill>
          </a:ln>
        </p:spPr>
      </p:cxnSp>
      <p:sp>
        <p:nvSpPr>
          <p:cNvPr id="30" name="Card 30"/>
          <p:cNvSpPr/>
          <p:nvPr/>
        </p:nvSpPr>
        <p:spPr>
          <a:xfrm>
            <a:off x="822960" y="3438144"/>
            <a:ext cx="6766560" cy="457200"/>
          </a:xfrm>
          <a:prstGeom prst="roundRect">
            <a:avLst>
              <a:gd name="adj" fmla="val 11666"/>
            </a:avLst>
          </a:prstGeom>
          <a:solidFill>
            <a:srgbClr val="FFFFFF"/>
          </a:solidFill>
          <a:ln w="12700">
            <a:solidFill>
              <a:srgbClr val="E2E7F2"/>
            </a:solidFill>
            <a:prstDash val="solid"/>
          </a:ln>
          <a:effectLst>
            <a:outerShdw blurRad="101600" dist="38100" dir="5400000" algn="bl" rotWithShape="0">
              <a:srgbClr val="0A1230">
                <a:alpha val="8000"/>
              </a:srgbClr>
            </a:outerShdw>
          </a:effectLst>
        </p:spPr>
        <p:txBody>
          <a:bodyPr/>
          <a:lstStyle/>
          <a:p>
            <a:endParaRPr lang="en-GB"/>
          </a:p>
        </p:txBody>
      </p:sp>
      <p:sp>
        <p:nvSpPr>
          <p:cNvPr id="31" name="Pill 31"/>
          <p:cNvSpPr/>
          <p:nvPr/>
        </p:nvSpPr>
        <p:spPr>
          <a:xfrm>
            <a:off x="960120" y="3537204"/>
            <a:ext cx="685800" cy="259080"/>
          </a:xfrm>
          <a:prstGeom prst="roundRect">
            <a:avLst>
              <a:gd name="adj" fmla="val 50000"/>
            </a:avLst>
          </a:prstGeom>
          <a:solidFill>
            <a:srgbClr val="C79100"/>
          </a:solidFill>
          <a:ln>
            <a:noFill/>
          </a:ln>
        </p:spPr>
        <p:txBody>
          <a:bodyPr wrap="square" lIns="36576" tIns="36576" rIns="36576" bIns="36576" rtlCol="0" anchor="ctr"/>
          <a:lstStyle/>
          <a:p>
            <a:pPr marL="0" indent="0" algn="ctr">
              <a:buNone/>
            </a:pPr>
            <a:r>
              <a:rPr lang="en-GB" sz="1150" dirty="0">
                <a:solidFill>
                  <a:srgbClr val="FFFFFF"/>
                </a:solidFill>
                <a:latin typeface="Inter SemiBold Text SemiBold" pitchFamily="34" charset="0"/>
                <a:ea typeface="Inter SemiBold Text SemiBold" pitchFamily="34" charset="-122"/>
                <a:cs typeface="Inter SemiBold Text SemiBold" pitchFamily="34" charset="-120"/>
              </a:rPr>
              <a:t>BT-106</a:t>
            </a:r>
          </a:p>
        </p:txBody>
      </p:sp>
      <p:sp>
        <p:nvSpPr>
          <p:cNvPr id="32" name="Text 32"/>
          <p:cNvSpPr txBox="1"/>
          <p:nvPr/>
        </p:nvSpPr>
        <p:spPr>
          <a:xfrm>
            <a:off x="1965960" y="3453384"/>
            <a:ext cx="2788920" cy="198120"/>
          </a:xfrm>
          <a:prstGeom prst="rect">
            <a:avLst/>
          </a:prstGeom>
          <a:noFill/>
          <a:ln/>
        </p:spPr>
        <p:txBody>
          <a:bodyPr wrap="none" lIns="0" tIns="0" rIns="0" bIns="0" rtlCol="0" anchor="ctr"/>
          <a:lstStyle/>
          <a:p>
            <a:pPr marL="0" indent="0" algn="l">
              <a:buNone/>
            </a:pPr>
            <a:r>
              <a:rPr lang="en-GB" sz="1150" dirty="0">
                <a:solidFill>
                  <a:srgbClr val="1A2B5E"/>
                </a:solidFill>
                <a:latin typeface="Inter SemiBold Text SemiBold" pitchFamily="34" charset="0"/>
                <a:ea typeface="Inter SemiBold Text SemiBold" pitchFamily="34" charset="-122"/>
                <a:cs typeface="Inter SemiBold Text SemiBold" pitchFamily="34" charset="-120"/>
              </a:rPr>
              <a:t>Sum of invoice line net amount</a:t>
            </a:r>
          </a:p>
        </p:txBody>
      </p:sp>
      <p:sp>
        <p:nvSpPr>
          <p:cNvPr id="33" name="Text 33"/>
          <p:cNvSpPr txBox="1"/>
          <p:nvPr/>
        </p:nvSpPr>
        <p:spPr>
          <a:xfrm>
            <a:off x="1965960" y="3643884"/>
            <a:ext cx="2788920" cy="243840"/>
          </a:xfrm>
          <a:prstGeom prst="rect">
            <a:avLst/>
          </a:prstGeom>
          <a:noFill/>
          <a:ln/>
        </p:spPr>
        <p:txBody>
          <a:bodyPr wrap="square" lIns="0" tIns="0" rIns="0" bIns="0" rtlCol="0" anchor="t"/>
          <a:lstStyle/>
          <a:p>
            <a:pPr marL="0" indent="0" algn="l">
              <a:lnSpc>
                <a:spcPct val="95000"/>
              </a:lnSpc>
              <a:buNone/>
            </a:pPr>
            <a:r>
              <a:rPr lang="en-GB" sz="800" dirty="0">
                <a:solidFill>
                  <a:srgbClr val="5B6890"/>
                </a:solidFill>
                <a:latin typeface="Inter Text" pitchFamily="34" charset="0"/>
                <a:ea typeface="Inter Text" pitchFamily="34" charset="-122"/>
                <a:cs typeface="Inter Text" pitchFamily="34" charset="-120"/>
              </a:rPr>
              <a:t>= Σ </a:t>
            </a:r>
            <a:r>
              <a:rPr lang="en-GB" sz="800" b="1" dirty="0">
                <a:solidFill>
                  <a:srgbClr val="EF6C00"/>
                </a:solidFill>
                <a:latin typeface="Inter SemiBold Text SemiBold" pitchFamily="34" charset="0"/>
                <a:ea typeface="Inter SemiBold Text SemiBold" pitchFamily="34" charset="-122"/>
                <a:cs typeface="Inter SemiBold Text SemiBold" pitchFamily="34" charset="-120"/>
              </a:rPr>
              <a:t>BT-131</a:t>
            </a:r>
            <a:r>
              <a:rPr lang="en-GB" sz="800" dirty="0">
                <a:solidFill>
                  <a:srgbClr val="5B6890"/>
                </a:solidFill>
                <a:latin typeface="Inter Text" pitchFamily="34" charset="0"/>
                <a:ea typeface="Inter Text" pitchFamily="34" charset="-122"/>
                <a:cs typeface="Inter Text" pitchFamily="34" charset="-120"/>
              </a:rPr>
              <a:t/>
            </a:r>
          </a:p>
        </p:txBody>
      </p:sp>
      <p:sp>
        <p:nvSpPr>
          <p:cNvPr id="34" name="Pill 34"/>
          <p:cNvSpPr/>
          <p:nvPr/>
        </p:nvSpPr>
        <p:spPr>
          <a:xfrm>
            <a:off x="4773168" y="3491484"/>
            <a:ext cx="1207008" cy="350520"/>
          </a:xfrm>
          <a:prstGeom prst="roundRect">
            <a:avLst>
              <a:gd name="adj" fmla="val 50000"/>
            </a:avLst>
          </a:prstGeom>
          <a:solidFill>
            <a:srgbClr val="F4F6FB"/>
          </a:solidFill>
          <a:ln w="9525">
            <a:solidFill>
              <a:srgbClr val="E2E7F2"/>
            </a:solidFill>
            <a:prstDash val="solid"/>
          </a:ln>
        </p:spPr>
        <p:txBody>
          <a:bodyPr wrap="square" lIns="18288" tIns="18288" rIns="18288" bIns="18288" rtlCol="0" anchor="ctr"/>
          <a:lstStyle/>
          <a:p>
            <a:pPr marL="0" indent="0" algn="ctr">
              <a:buNone/>
            </a:pPr>
            <a:r>
              <a:rPr lang="en-GB" sz="1150" dirty="0">
                <a:solidFill>
                  <a:srgbClr val="5B6890"/>
                </a:solidFill>
                <a:latin typeface="Inter SemiBold Text SemiBold" pitchFamily="34" charset="0"/>
                <a:ea typeface="Inter SemiBold Text SemiBold" pitchFamily="34" charset="-122"/>
                <a:cs typeface="Inter SemiBold Text SemiBold" pitchFamily="34" charset="-120"/>
              </a:rPr>
              <a:t>free</a:t>
            </a:r>
          </a:p>
          <a:p>
            <a:pPr marL="0" indent="0" algn="ctr">
              <a:buNone/>
            </a:pPr>
            <a:r>
              <a:rPr lang="en-GB" sz="800" dirty="0">
                <a:solidFill>
                  <a:srgbClr val="5B6890"/>
                </a:solidFill>
                <a:latin typeface="Inter Text" pitchFamily="34" charset="0"/>
                <a:ea typeface="Inter Text" pitchFamily="34" charset="-122"/>
                <a:cs typeface="Inter Text" pitchFamily="34" charset="-120"/>
              </a:rPr>
              <a:t>unrounded</a:t>
            </a:r>
          </a:p>
        </p:txBody>
      </p:sp>
      <p:sp>
        <p:nvSpPr>
          <p:cNvPr id="35" name="Text 35"/>
          <p:cNvSpPr txBox="1"/>
          <p:nvPr/>
        </p:nvSpPr>
        <p:spPr>
          <a:xfrm>
            <a:off x="5989320" y="3468624"/>
            <a:ext cx="1508760" cy="243840"/>
          </a:xfrm>
          <a:prstGeom prst="rect">
            <a:avLst/>
          </a:prstGeom>
          <a:noFill/>
          <a:ln/>
        </p:spPr>
        <p:txBody>
          <a:bodyPr wrap="square" lIns="0" tIns="0" rIns="0" bIns="0" rtlCol="0" anchor="ctr"/>
          <a:lstStyle/>
          <a:p>
            <a:pPr marL="0" indent="0" algn="r">
              <a:buNone/>
            </a:pPr>
            <a:r>
              <a:rPr lang="en-GB" sz="1300" b="1" dirty="0">
                <a:solidFill>
                  <a:srgbClr val="1E8A4C"/>
                </a:solidFill>
                <a:latin typeface="Consolas" pitchFamily="34" charset="0"/>
                <a:ea typeface="Consolas" pitchFamily="34" charset="-122"/>
                <a:cs typeface="Consolas" pitchFamily="34" charset="-120"/>
              </a:rPr>
              <a:t>± 0</a:t>
            </a:r>
          </a:p>
        </p:txBody>
      </p:sp>
      <p:sp>
        <p:nvSpPr>
          <p:cNvPr id="36" name="Text 36"/>
          <p:cNvSpPr txBox="1"/>
          <p:nvPr/>
        </p:nvSpPr>
        <p:spPr>
          <a:xfrm>
            <a:off x="5577840" y="3704844"/>
            <a:ext cx="1920240" cy="167640"/>
          </a:xfrm>
          <a:prstGeom prst="rect">
            <a:avLst/>
          </a:prstGeom>
          <a:noFill/>
          <a:ln/>
        </p:spPr>
        <p:txBody>
          <a:bodyPr wrap="square" lIns="0" tIns="0" rIns="0" bIns="0" rtlCol="0" anchor="ctr"/>
          <a:lstStyle/>
          <a:p>
            <a:pPr marL="0" indent="0" algn="r">
              <a:buNone/>
            </a:pPr>
            <a:r>
              <a:rPr lang="en-GB" sz="850" dirty="0">
                <a:solidFill>
                  <a:srgbClr val="9AA4C2"/>
                </a:solidFill>
                <a:latin typeface="Inter Text" pitchFamily="34" charset="0"/>
                <a:ea typeface="Inter Text" pitchFamily="34" charset="-122"/>
                <a:cs typeface="Inter Text" pitchFamily="34" charset="-120"/>
              </a:rPr>
              <a:t>exact sum</a:t>
            </a:r>
          </a:p>
        </p:txBody>
      </p:sp>
      <p:sp>
        <p:nvSpPr>
          <p:cNvPr id="37" name="Card 37"/>
          <p:cNvSpPr/>
          <p:nvPr/>
        </p:nvSpPr>
        <p:spPr>
          <a:xfrm>
            <a:off x="822960" y="4233672"/>
            <a:ext cx="6766560" cy="457200"/>
          </a:xfrm>
          <a:prstGeom prst="roundRect">
            <a:avLst>
              <a:gd name="adj" fmla="val 11666"/>
            </a:avLst>
          </a:prstGeom>
          <a:solidFill>
            <a:srgbClr val="FFFFFF"/>
          </a:solidFill>
          <a:ln w="12700">
            <a:solidFill>
              <a:srgbClr val="E2E7F2"/>
            </a:solidFill>
            <a:prstDash val="solid"/>
          </a:ln>
          <a:effectLst>
            <a:outerShdw blurRad="101600" dist="38100" dir="5400000" algn="bl" rotWithShape="0">
              <a:srgbClr val="0A1230">
                <a:alpha val="8000"/>
              </a:srgbClr>
            </a:outerShdw>
          </a:effectLst>
        </p:spPr>
        <p:txBody>
          <a:bodyPr/>
          <a:lstStyle/>
          <a:p>
            <a:endParaRPr lang="en-GB"/>
          </a:p>
        </p:txBody>
      </p:sp>
      <p:sp>
        <p:nvSpPr>
          <p:cNvPr id="38" name="Pill 38"/>
          <p:cNvSpPr/>
          <p:nvPr/>
        </p:nvSpPr>
        <p:spPr>
          <a:xfrm>
            <a:off x="960120" y="4332732"/>
            <a:ext cx="685800" cy="259080"/>
          </a:xfrm>
          <a:prstGeom prst="roundRect">
            <a:avLst>
              <a:gd name="adj" fmla="val 50000"/>
            </a:avLst>
          </a:prstGeom>
          <a:solidFill>
            <a:srgbClr val="2E7D32"/>
          </a:solidFill>
          <a:ln>
            <a:noFill/>
          </a:ln>
        </p:spPr>
        <p:txBody>
          <a:bodyPr wrap="square" lIns="36576" tIns="36576" rIns="36576" bIns="36576" rtlCol="0" anchor="ctr"/>
          <a:lstStyle/>
          <a:p>
            <a:pPr marL="0" indent="0" algn="ctr">
              <a:buNone/>
            </a:pPr>
            <a:r>
              <a:rPr lang="en-GB" sz="1150" dirty="0">
                <a:solidFill>
                  <a:srgbClr val="FFFFFF"/>
                </a:solidFill>
                <a:latin typeface="Inter SemiBold Text SemiBold" pitchFamily="34" charset="0"/>
                <a:ea typeface="Inter SemiBold Text SemiBold" pitchFamily="34" charset="-122"/>
                <a:cs typeface="Inter SemiBold Text SemiBold" pitchFamily="34" charset="-120"/>
              </a:rPr>
              <a:t>BT-116</a:t>
            </a:r>
          </a:p>
        </p:txBody>
      </p:sp>
      <p:sp>
        <p:nvSpPr>
          <p:cNvPr id="39" name="Text 39"/>
          <p:cNvSpPr txBox="1"/>
          <p:nvPr/>
        </p:nvSpPr>
        <p:spPr>
          <a:xfrm>
            <a:off x="1965960" y="4248912"/>
            <a:ext cx="2788920" cy="198120"/>
          </a:xfrm>
          <a:prstGeom prst="rect">
            <a:avLst/>
          </a:prstGeom>
          <a:noFill/>
          <a:ln/>
        </p:spPr>
        <p:txBody>
          <a:bodyPr wrap="none" lIns="0" tIns="0" rIns="0" bIns="0" rtlCol="0" anchor="ctr"/>
          <a:lstStyle/>
          <a:p>
            <a:pPr marL="0" indent="0" algn="l">
              <a:buNone/>
            </a:pPr>
            <a:r>
              <a:rPr lang="en-GB" sz="1150" dirty="0">
                <a:solidFill>
                  <a:srgbClr val="1A2B5E"/>
                </a:solidFill>
                <a:latin typeface="Inter SemiBold Text SemiBold" pitchFamily="34" charset="0"/>
                <a:ea typeface="Inter SemiBold Text SemiBold" pitchFamily="34" charset="-122"/>
                <a:cs typeface="Inter SemiBold Text SemiBold" pitchFamily="34" charset="-120"/>
              </a:rPr>
              <a:t>VAT category taxable amount</a:t>
            </a:r>
          </a:p>
        </p:txBody>
      </p:sp>
      <p:sp>
        <p:nvSpPr>
          <p:cNvPr id="40" name="Text 40"/>
          <p:cNvSpPr txBox="1"/>
          <p:nvPr/>
        </p:nvSpPr>
        <p:spPr>
          <a:xfrm>
            <a:off x="1965960" y="4439412"/>
            <a:ext cx="2788920" cy="243840"/>
          </a:xfrm>
          <a:prstGeom prst="rect">
            <a:avLst/>
          </a:prstGeom>
          <a:noFill/>
          <a:ln/>
        </p:spPr>
        <p:txBody>
          <a:bodyPr wrap="square" lIns="0" tIns="0" rIns="0" bIns="0" rtlCol="0" anchor="t"/>
          <a:lstStyle/>
          <a:p>
            <a:pPr marL="0" indent="0" algn="l">
              <a:lnSpc>
                <a:spcPct val="95000"/>
              </a:lnSpc>
              <a:buNone/>
            </a:pPr>
            <a:r>
              <a:rPr lang="en-GB" sz="800" dirty="0">
                <a:solidFill>
                  <a:srgbClr val="5B6890"/>
                </a:solidFill>
                <a:latin typeface="Inter Text" pitchFamily="34" charset="0"/>
                <a:ea typeface="Inter Text" pitchFamily="34" charset="-122"/>
                <a:cs typeface="Inter Text" pitchFamily="34" charset="-120"/>
              </a:rPr>
              <a:t>= Σ </a:t>
            </a:r>
            <a:r>
              <a:rPr lang="en-GB" sz="800" b="1" dirty="0">
                <a:solidFill>
                  <a:srgbClr val="EF6C00"/>
                </a:solidFill>
                <a:latin typeface="Inter SemiBold Text SemiBold" pitchFamily="34" charset="0"/>
                <a:ea typeface="Inter SemiBold Text SemiBold" pitchFamily="34" charset="-122"/>
                <a:cs typeface="Inter SemiBold Text SemiBold" pitchFamily="34" charset="-120"/>
              </a:rPr>
              <a:t>BT-131</a:t>
            </a:r>
            <a:r>
              <a:rPr lang="en-GB" sz="800" dirty="0">
                <a:solidFill>
                  <a:srgbClr val="5B6890"/>
                </a:solidFill>
                <a:latin typeface="Inter Text" pitchFamily="34" charset="0"/>
                <a:ea typeface="Inter Text" pitchFamily="34" charset="-122"/>
                <a:cs typeface="Inter Text" pitchFamily="34" charset="-120"/>
              </a:rPr>
              <a:t> + Σ </a:t>
            </a:r>
            <a:r>
              <a:rPr lang="en-GB" sz="800" dirty="0">
                <a:solidFill>
                  <a:srgbClr val="1A2B5E"/>
                </a:solidFill>
                <a:latin typeface="Inter SemiBold Text SemiBold" pitchFamily="34" charset="0"/>
                <a:ea typeface="Inter SemiBold Text SemiBold" pitchFamily="34" charset="-122"/>
                <a:cs typeface="Inter SemiBold Text SemiBold" pitchFamily="34" charset="-120"/>
              </a:rPr>
              <a:t>BT-99</a:t>
            </a:r>
            <a:r>
              <a:rPr lang="en-GB" sz="800" dirty="0">
                <a:solidFill>
                  <a:srgbClr val="5B6890"/>
                </a:solidFill>
                <a:latin typeface="Inter Text" pitchFamily="34" charset="0"/>
                <a:ea typeface="Inter Text" pitchFamily="34" charset="-122"/>
                <a:cs typeface="Inter Text" pitchFamily="34" charset="-120"/>
              </a:rPr>
              <a:t/>
            </a:r>
            <a:r>
              <a:rPr lang="en-GB" sz="800" dirty="0">
                <a:solidFill>
                  <a:srgbClr val="5B6890"/>
                </a:solidFill>
                <a:latin typeface="Inter Text" pitchFamily="34" charset="0"/>
                <a:ea typeface="Inter Text" pitchFamily="34" charset="-122"/>
                <a:cs typeface="Inter Text" pitchFamily="34" charset="-120"/>
              </a:rPr>
              <a:t> − Σ </a:t>
            </a:r>
            <a:r>
              <a:rPr lang="en-GB" sz="800" dirty="0">
                <a:solidFill>
                  <a:srgbClr val="1A2B5E"/>
                </a:solidFill>
                <a:latin typeface="Inter SemiBold Text SemiBold" pitchFamily="34" charset="0"/>
                <a:ea typeface="Inter SemiBold Text SemiBold" pitchFamily="34" charset="-122"/>
                <a:cs typeface="Inter SemiBold Text SemiBold" pitchFamily="34" charset="-120"/>
              </a:rPr>
              <a:t>BT-92</a:t>
            </a:r>
            <a:r>
              <a:rPr lang="en-GB" sz="800" dirty="0">
                <a:solidFill>
                  <a:srgbClr val="5B6890"/>
                </a:solidFill>
                <a:latin typeface="Inter Text" pitchFamily="34" charset="0"/>
                <a:ea typeface="Inter Text" pitchFamily="34" charset="-122"/>
                <a:cs typeface="Inter Text" pitchFamily="34" charset="-120"/>
              </a:rPr>
              <a:t/>
            </a:r>
          </a:p>
        </p:txBody>
      </p:sp>
      <p:sp>
        <p:nvSpPr>
          <p:cNvPr id="41" name="Pill 41"/>
          <p:cNvSpPr/>
          <p:nvPr/>
        </p:nvSpPr>
        <p:spPr>
          <a:xfrm>
            <a:off x="4773168" y="4287012"/>
            <a:ext cx="1207008" cy="350520"/>
          </a:xfrm>
          <a:prstGeom prst="roundRect">
            <a:avLst>
              <a:gd name="adj" fmla="val 50000"/>
            </a:avLst>
          </a:prstGeom>
          <a:solidFill>
            <a:srgbClr val="F4F6FB"/>
          </a:solidFill>
          <a:ln w="9525">
            <a:solidFill>
              <a:srgbClr val="E2E7F2"/>
            </a:solidFill>
            <a:prstDash val="solid"/>
          </a:ln>
        </p:spPr>
        <p:txBody>
          <a:bodyPr wrap="square" lIns="18288" tIns="18288" rIns="18288" bIns="18288" rtlCol="0" anchor="ctr"/>
          <a:lstStyle/>
          <a:p>
            <a:pPr marL="0" indent="0" algn="ctr">
              <a:buNone/>
            </a:pPr>
            <a:r>
              <a:rPr lang="en-GB" sz="1150" dirty="0">
                <a:solidFill>
                  <a:srgbClr val="5B6890"/>
                </a:solidFill>
                <a:latin typeface="Inter SemiBold Text SemiBold" pitchFamily="34" charset="0"/>
                <a:ea typeface="Inter SemiBold Text SemiBold" pitchFamily="34" charset="-122"/>
                <a:cs typeface="Inter SemiBold Text SemiBold" pitchFamily="34" charset="-120"/>
              </a:rPr>
              <a:t>free</a:t>
            </a:r>
          </a:p>
          <a:p>
            <a:pPr marL="0" indent="0" algn="ctr">
              <a:buNone/>
            </a:pPr>
            <a:r>
              <a:rPr lang="en-GB" sz="800" dirty="0">
                <a:solidFill>
                  <a:srgbClr val="5B6890"/>
                </a:solidFill>
                <a:latin typeface="Inter Text" pitchFamily="34" charset="0"/>
                <a:ea typeface="Inter Text" pitchFamily="34" charset="-122"/>
                <a:cs typeface="Inter Text" pitchFamily="34" charset="-120"/>
              </a:rPr>
              <a:t>unrounded</a:t>
            </a:r>
          </a:p>
        </p:txBody>
      </p:sp>
      <p:sp>
        <p:nvSpPr>
          <p:cNvPr id="42" name="Text 42"/>
          <p:cNvSpPr txBox="1"/>
          <p:nvPr/>
        </p:nvSpPr>
        <p:spPr>
          <a:xfrm>
            <a:off x="5989320" y="4264152"/>
            <a:ext cx="1508760" cy="243840"/>
          </a:xfrm>
          <a:prstGeom prst="rect">
            <a:avLst/>
          </a:prstGeom>
          <a:noFill/>
          <a:ln/>
        </p:spPr>
        <p:txBody>
          <a:bodyPr wrap="square" lIns="0" tIns="0" rIns="0" bIns="0" rtlCol="0" anchor="ctr"/>
          <a:lstStyle/>
          <a:p>
            <a:pPr marL="0" indent="0" algn="r">
              <a:buNone/>
            </a:pPr>
            <a:r>
              <a:rPr lang="en-GB" sz="1300" b="1" dirty="0">
                <a:solidFill>
                  <a:srgbClr val="1E8A4C"/>
                </a:solidFill>
                <a:latin typeface="Consolas" pitchFamily="34" charset="0"/>
                <a:ea typeface="Consolas" pitchFamily="34" charset="-122"/>
                <a:cs typeface="Consolas" pitchFamily="34" charset="-120"/>
              </a:rPr>
              <a:t>± 0</a:t>
            </a:r>
          </a:p>
        </p:txBody>
      </p:sp>
      <p:sp>
        <p:nvSpPr>
          <p:cNvPr id="43" name="Text 43"/>
          <p:cNvSpPr txBox="1"/>
          <p:nvPr/>
        </p:nvSpPr>
        <p:spPr>
          <a:xfrm>
            <a:off x="5577840" y="4500372"/>
            <a:ext cx="1920240" cy="167640"/>
          </a:xfrm>
          <a:prstGeom prst="rect">
            <a:avLst/>
          </a:prstGeom>
          <a:noFill/>
          <a:ln/>
        </p:spPr>
        <p:txBody>
          <a:bodyPr wrap="square" lIns="0" tIns="0" rIns="0" bIns="0" rtlCol="0" anchor="ctr"/>
          <a:lstStyle/>
          <a:p>
            <a:pPr marL="0" indent="0" algn="r">
              <a:buNone/>
            </a:pPr>
            <a:r>
              <a:rPr lang="en-GB" sz="850" dirty="0">
                <a:solidFill>
                  <a:srgbClr val="9AA4C2"/>
                </a:solidFill>
                <a:latin typeface="Inter Text" pitchFamily="34" charset="0"/>
                <a:ea typeface="Inter Text" pitchFamily="34" charset="-122"/>
                <a:cs typeface="Inter Text" pitchFamily="34" charset="-120"/>
              </a:rPr>
              <a:t>exact</a:t>
            </a:r>
          </a:p>
        </p:txBody>
      </p:sp>
      <p:cxnSp>
        <p:nvCxnSpPr>
          <p:cNvPr id="44" name="Connector 44"/>
          <p:cNvCxnSpPr/>
          <p:nvPr/>
        </p:nvCxnSpPr>
        <p:spPr>
          <a:xfrm>
            <a:off x="1303020" y="4690872"/>
            <a:ext cx="0" cy="36576"/>
          </a:xfrm>
          <a:prstGeom prst="line">
            <a:avLst/>
          </a:prstGeom>
          <a:ln w="15875">
            <a:solidFill>
              <a:srgbClr val="9AA4C2"/>
            </a:solidFill>
          </a:ln>
        </p:spPr>
      </p:cxnSp>
      <p:sp>
        <p:nvSpPr>
          <p:cNvPr id="45" name="Card 45"/>
          <p:cNvSpPr/>
          <p:nvPr/>
        </p:nvSpPr>
        <p:spPr>
          <a:xfrm>
            <a:off x="822960" y="4727448"/>
            <a:ext cx="6766560" cy="457200"/>
          </a:xfrm>
          <a:prstGeom prst="roundRect">
            <a:avLst>
              <a:gd name="adj" fmla="val 11666"/>
            </a:avLst>
          </a:prstGeom>
          <a:solidFill>
            <a:srgbClr val="FFFFFF"/>
          </a:solidFill>
          <a:ln w="12700">
            <a:solidFill>
              <a:srgbClr val="E2E7F2"/>
            </a:solidFill>
            <a:prstDash val="solid"/>
          </a:ln>
          <a:effectLst>
            <a:outerShdw blurRad="101600" dist="38100" dir="5400000" algn="bl" rotWithShape="0">
              <a:srgbClr val="0A1230">
                <a:alpha val="8000"/>
              </a:srgbClr>
            </a:outerShdw>
          </a:effectLst>
        </p:spPr>
        <p:txBody>
          <a:bodyPr/>
          <a:lstStyle/>
          <a:p>
            <a:endParaRPr lang="en-GB"/>
          </a:p>
        </p:txBody>
      </p:sp>
      <p:sp>
        <p:nvSpPr>
          <p:cNvPr id="46" name="Pill 46"/>
          <p:cNvSpPr/>
          <p:nvPr/>
        </p:nvSpPr>
        <p:spPr>
          <a:xfrm>
            <a:off x="960120" y="4826508"/>
            <a:ext cx="685800" cy="259080"/>
          </a:xfrm>
          <a:prstGeom prst="roundRect">
            <a:avLst>
              <a:gd name="adj" fmla="val 50000"/>
            </a:avLst>
          </a:prstGeom>
          <a:solidFill>
            <a:srgbClr val="1565C0"/>
          </a:solidFill>
          <a:ln>
            <a:noFill/>
          </a:ln>
        </p:spPr>
        <p:txBody>
          <a:bodyPr wrap="square" lIns="36576" tIns="36576" rIns="36576" bIns="36576" rtlCol="0" anchor="ctr"/>
          <a:lstStyle/>
          <a:p>
            <a:pPr marL="0" indent="0" algn="ctr">
              <a:buNone/>
            </a:pPr>
            <a:r>
              <a:rPr lang="en-GB" sz="1150" dirty="0">
                <a:solidFill>
                  <a:srgbClr val="FFFFFF"/>
                </a:solidFill>
                <a:latin typeface="Inter SemiBold Text SemiBold" pitchFamily="34" charset="0"/>
                <a:ea typeface="Inter SemiBold Text SemiBold" pitchFamily="34" charset="-122"/>
                <a:cs typeface="Inter SemiBold Text SemiBold" pitchFamily="34" charset="-120"/>
              </a:rPr>
              <a:t>BT-117</a:t>
            </a:r>
          </a:p>
        </p:txBody>
      </p:sp>
      <p:sp>
        <p:nvSpPr>
          <p:cNvPr id="47" name="Text 47"/>
          <p:cNvSpPr txBox="1"/>
          <p:nvPr/>
        </p:nvSpPr>
        <p:spPr>
          <a:xfrm>
            <a:off x="1965960" y="4742688"/>
            <a:ext cx="2788920" cy="198120"/>
          </a:xfrm>
          <a:prstGeom prst="rect">
            <a:avLst/>
          </a:prstGeom>
          <a:noFill/>
          <a:ln/>
        </p:spPr>
        <p:txBody>
          <a:bodyPr wrap="none" lIns="0" tIns="0" rIns="0" bIns="0" rtlCol="0" anchor="ctr"/>
          <a:lstStyle/>
          <a:p>
            <a:pPr marL="0" indent="0" algn="l">
              <a:buNone/>
            </a:pPr>
            <a:r>
              <a:rPr lang="en-GB" sz="1150" dirty="0">
                <a:solidFill>
                  <a:srgbClr val="1A2B5E"/>
                </a:solidFill>
                <a:latin typeface="Inter SemiBold Text SemiBold" pitchFamily="34" charset="0"/>
                <a:ea typeface="Inter SemiBold Text SemiBold" pitchFamily="34" charset="-122"/>
                <a:cs typeface="Inter SemiBold Text SemiBold" pitchFamily="34" charset="-120"/>
              </a:rPr>
              <a:t>VAT category tax amount</a:t>
            </a:r>
          </a:p>
        </p:txBody>
      </p:sp>
      <p:sp>
        <p:nvSpPr>
          <p:cNvPr id="48" name="Text 48"/>
          <p:cNvSpPr txBox="1"/>
          <p:nvPr/>
        </p:nvSpPr>
        <p:spPr>
          <a:xfrm>
            <a:off x="1965960" y="4933188"/>
            <a:ext cx="2788920" cy="243840"/>
          </a:xfrm>
          <a:prstGeom prst="rect">
            <a:avLst/>
          </a:prstGeom>
          <a:noFill/>
          <a:ln/>
        </p:spPr>
        <p:txBody>
          <a:bodyPr wrap="square" lIns="0" tIns="0" rIns="0" bIns="0" rtlCol="0" anchor="t"/>
          <a:lstStyle/>
          <a:p>
            <a:pPr marL="0" indent="0" algn="l">
              <a:lnSpc>
                <a:spcPct val="95000"/>
              </a:lnSpc>
              <a:buNone/>
            </a:pPr>
            <a:r>
              <a:rPr lang="en-GB" sz="800" dirty="0">
                <a:solidFill>
                  <a:srgbClr val="5B6890"/>
                </a:solidFill>
                <a:latin typeface="Inter Text" pitchFamily="34" charset="0"/>
                <a:ea typeface="Inter Text" pitchFamily="34" charset="-122"/>
                <a:cs typeface="Inter Text" pitchFamily="34" charset="-120"/>
              </a:rPr>
              <a:t>= </a:t>
            </a:r>
            <a:r>
              <a:rPr lang="en-GB" sz="800" b="1" dirty="0">
                <a:solidFill>
                  <a:srgbClr val="2E7D32"/>
                </a:solidFill>
                <a:latin typeface="Inter SemiBold Text SemiBold" pitchFamily="34" charset="0"/>
                <a:ea typeface="Inter SemiBold Text SemiBold" pitchFamily="34" charset="-122"/>
                <a:cs typeface="Inter SemiBold Text SemiBold" pitchFamily="34" charset="-120"/>
              </a:rPr>
              <a:t>BT-116</a:t>
            </a:r>
            <a:r>
              <a:rPr lang="en-GB" sz="800" dirty="0">
                <a:solidFill>
                  <a:srgbClr val="5B6890"/>
                </a:solidFill>
                <a:latin typeface="Inter Text" pitchFamily="34" charset="0"/>
                <a:ea typeface="Inter Text" pitchFamily="34" charset="-122"/>
                <a:cs typeface="Inter Text" pitchFamily="34" charset="-120"/>
              </a:rPr>
              <a:t> × </a:t>
            </a:r>
            <a:r>
              <a:rPr lang="en-GB" sz="800" dirty="0">
                <a:solidFill>
                  <a:srgbClr val="1A2B5E"/>
                </a:solidFill>
                <a:latin typeface="Inter SemiBold Text SemiBold" pitchFamily="34" charset="0"/>
                <a:ea typeface="Inter SemiBold Text SemiBold" pitchFamily="34" charset="-122"/>
                <a:cs typeface="Inter SemiBold Text SemiBold" pitchFamily="34" charset="-120"/>
              </a:rPr>
              <a:t>BT-119</a:t>
            </a:r>
            <a:r>
              <a:rPr lang="en-GB" sz="800" dirty="0">
                <a:solidFill>
                  <a:srgbClr val="5B6890"/>
                </a:solidFill>
                <a:latin typeface="Inter Text" pitchFamily="34" charset="0"/>
                <a:ea typeface="Inter Text" pitchFamily="34" charset="-122"/>
                <a:cs typeface="Inter Text" pitchFamily="34" charset="-120"/>
              </a:rPr>
              <a:t> ÷ 100</a:t>
            </a:r>
          </a:p>
        </p:txBody>
      </p:sp>
      <p:sp>
        <p:nvSpPr>
          <p:cNvPr id="49" name="Pill 49"/>
          <p:cNvSpPr/>
          <p:nvPr/>
        </p:nvSpPr>
        <p:spPr>
          <a:xfrm>
            <a:off x="4773168" y="4780788"/>
            <a:ext cx="1207008" cy="350520"/>
          </a:xfrm>
          <a:prstGeom prst="roundRect">
            <a:avLst>
              <a:gd name="adj" fmla="val 50000"/>
            </a:avLst>
          </a:prstGeom>
          <a:solidFill>
            <a:srgbClr val="E8F6EE"/>
          </a:solidFill>
          <a:ln w="9525">
            <a:solidFill>
              <a:srgbClr val="B7E1C7"/>
            </a:solidFill>
            <a:prstDash val="solid"/>
          </a:ln>
        </p:spPr>
        <p:txBody>
          <a:bodyPr wrap="square" lIns="18288" tIns="18288" rIns="18288" bIns="18288" rtlCol="0" anchor="ctr"/>
          <a:lstStyle/>
          <a:p>
            <a:pPr marL="0" indent="0" algn="ctr">
              <a:buNone/>
            </a:pPr>
            <a:r>
              <a:rPr lang="en-GB" sz="1150" dirty="0">
                <a:solidFill>
                  <a:srgbClr val="1E8A4C"/>
                </a:solidFill>
                <a:latin typeface="Inter SemiBold Text SemiBold" pitchFamily="34" charset="0"/>
                <a:ea typeface="Inter SemiBold Text SemiBold" pitchFamily="34" charset="-122"/>
                <a:cs typeface="Inter SemiBold Text SemiBold" pitchFamily="34" charset="-120"/>
              </a:rPr>
              <a:t>Minor Unit</a:t>
            </a:r>
          </a:p>
          <a:p>
            <a:pPr marL="0" indent="0" algn="ctr">
              <a:buNone/>
            </a:pPr>
            <a:r>
              <a:rPr lang="en-GB" sz="800" dirty="0">
                <a:solidFill>
                  <a:srgbClr val="1E8A4C"/>
                </a:solidFill>
                <a:latin typeface="Inter Text" pitchFamily="34" charset="0"/>
                <a:ea typeface="Inter Text" pitchFamily="34" charset="-122"/>
                <a:cs typeface="Inter Text" pitchFamily="34" charset="-120"/>
              </a:rPr>
              <a:t>rounded once</a:t>
            </a:r>
          </a:p>
        </p:txBody>
      </p:sp>
      <p:sp>
        <p:nvSpPr>
          <p:cNvPr id="50" name="Text 50"/>
          <p:cNvSpPr txBox="1"/>
          <p:nvPr/>
        </p:nvSpPr>
        <p:spPr>
          <a:xfrm>
            <a:off x="5989320" y="4757928"/>
            <a:ext cx="1508760" cy="243840"/>
          </a:xfrm>
          <a:prstGeom prst="rect">
            <a:avLst/>
          </a:prstGeom>
          <a:noFill/>
          <a:ln/>
        </p:spPr>
        <p:txBody>
          <a:bodyPr wrap="square" lIns="0" tIns="0" rIns="0" bIns="0" rtlCol="0" anchor="ctr"/>
          <a:lstStyle/>
          <a:p>
            <a:pPr marL="0" indent="0" algn="r">
              <a:buNone/>
            </a:pPr>
            <a:r>
              <a:rPr lang="en-GB" sz="1300" b="1" dirty="0">
                <a:solidFill>
                  <a:srgbClr val="1E8A4C"/>
                </a:solidFill>
                <a:latin typeface="Consolas" pitchFamily="34" charset="0"/>
                <a:ea typeface="Consolas" pitchFamily="34" charset="-122"/>
                <a:cs typeface="Consolas" pitchFamily="34" charset="-120"/>
              </a:rPr>
              <a:t>± 0</a:t>
            </a:r>
          </a:p>
        </p:txBody>
      </p:sp>
      <p:sp>
        <p:nvSpPr>
          <p:cNvPr id="51" name="Text 51"/>
          <p:cNvSpPr txBox="1"/>
          <p:nvPr/>
        </p:nvSpPr>
        <p:spPr>
          <a:xfrm>
            <a:off x="5577840" y="4994148"/>
            <a:ext cx="1920240" cy="167640"/>
          </a:xfrm>
          <a:prstGeom prst="rect">
            <a:avLst/>
          </a:prstGeom>
          <a:noFill/>
          <a:ln/>
        </p:spPr>
        <p:txBody>
          <a:bodyPr wrap="square" lIns="0" tIns="0" rIns="0" bIns="0" rtlCol="0" anchor="ctr"/>
          <a:lstStyle/>
          <a:p>
            <a:pPr marL="0" indent="0" algn="r">
              <a:buNone/>
            </a:pPr>
            <a:r>
              <a:rPr lang="en-GB" sz="850" dirty="0">
                <a:solidFill>
                  <a:srgbClr val="9AA4C2"/>
                </a:solidFill>
                <a:latin typeface="Inter Text" pitchFamily="34" charset="0"/>
                <a:ea typeface="Inter Text" pitchFamily="34" charset="-122"/>
                <a:cs typeface="Inter Text" pitchFamily="34" charset="-120"/>
              </a:rPr>
              <a:t>once per VAT category</a:t>
            </a:r>
          </a:p>
        </p:txBody>
      </p:sp>
      <p:cxnSp>
        <p:nvCxnSpPr>
          <p:cNvPr id="52" name="Connector 52"/>
          <p:cNvCxnSpPr/>
          <p:nvPr/>
        </p:nvCxnSpPr>
        <p:spPr>
          <a:xfrm>
            <a:off x="1303020" y="5184648"/>
            <a:ext cx="0" cy="36576"/>
          </a:xfrm>
          <a:prstGeom prst="line">
            <a:avLst/>
          </a:prstGeom>
          <a:ln w="15875">
            <a:solidFill>
              <a:srgbClr val="9AA4C2"/>
            </a:solidFill>
          </a:ln>
        </p:spPr>
      </p:cxnSp>
      <p:sp>
        <p:nvSpPr>
          <p:cNvPr id="53" name="Card 53"/>
          <p:cNvSpPr/>
          <p:nvPr/>
        </p:nvSpPr>
        <p:spPr>
          <a:xfrm>
            <a:off x="822960" y="5221224"/>
            <a:ext cx="6766560" cy="457200"/>
          </a:xfrm>
          <a:prstGeom prst="roundRect">
            <a:avLst>
              <a:gd name="adj" fmla="val 11666"/>
            </a:avLst>
          </a:prstGeom>
          <a:solidFill>
            <a:srgbClr val="FFFFFF"/>
          </a:solidFill>
          <a:ln w="12700">
            <a:solidFill>
              <a:srgbClr val="E2E7F2"/>
            </a:solidFill>
            <a:prstDash val="solid"/>
          </a:ln>
          <a:effectLst>
            <a:outerShdw blurRad="101600" dist="38100" dir="5400000" algn="bl" rotWithShape="0">
              <a:srgbClr val="0A1230">
                <a:alpha val="8000"/>
              </a:srgbClr>
            </a:outerShdw>
          </a:effectLst>
        </p:spPr>
        <p:txBody>
          <a:bodyPr/>
          <a:lstStyle/>
          <a:p>
            <a:endParaRPr lang="en-GB"/>
          </a:p>
        </p:txBody>
      </p:sp>
      <p:sp>
        <p:nvSpPr>
          <p:cNvPr id="54" name="Pill 54"/>
          <p:cNvSpPr/>
          <p:nvPr/>
        </p:nvSpPr>
        <p:spPr>
          <a:xfrm>
            <a:off x="960120" y="5320284"/>
            <a:ext cx="685800" cy="259080"/>
          </a:xfrm>
          <a:prstGeom prst="roundRect">
            <a:avLst>
              <a:gd name="adj" fmla="val 50000"/>
            </a:avLst>
          </a:prstGeom>
          <a:solidFill>
            <a:srgbClr val="6A1B9A"/>
          </a:solidFill>
          <a:ln>
            <a:noFill/>
          </a:ln>
        </p:spPr>
        <p:txBody>
          <a:bodyPr wrap="square" lIns="36576" tIns="36576" rIns="36576" bIns="36576" rtlCol="0" anchor="ctr"/>
          <a:lstStyle/>
          <a:p>
            <a:pPr marL="0" indent="0" algn="ctr">
              <a:buNone/>
            </a:pPr>
            <a:r>
              <a:rPr lang="en-GB" sz="1150" dirty="0">
                <a:solidFill>
                  <a:srgbClr val="FFFFFF"/>
                </a:solidFill>
                <a:latin typeface="Inter SemiBold Text SemiBold" pitchFamily="34" charset="0"/>
                <a:ea typeface="Inter SemiBold Text SemiBold" pitchFamily="34" charset="-122"/>
                <a:cs typeface="Inter SemiBold Text SemiBold" pitchFamily="34" charset="-120"/>
              </a:rPr>
              <a:t>BT-110</a:t>
            </a:r>
          </a:p>
        </p:txBody>
      </p:sp>
      <p:sp>
        <p:nvSpPr>
          <p:cNvPr id="55" name="Text 55"/>
          <p:cNvSpPr txBox="1"/>
          <p:nvPr/>
        </p:nvSpPr>
        <p:spPr>
          <a:xfrm>
            <a:off x="1965960" y="5236464"/>
            <a:ext cx="2788920" cy="198120"/>
          </a:xfrm>
          <a:prstGeom prst="rect">
            <a:avLst/>
          </a:prstGeom>
          <a:noFill/>
          <a:ln/>
        </p:spPr>
        <p:txBody>
          <a:bodyPr wrap="none" lIns="0" tIns="0" rIns="0" bIns="0" rtlCol="0" anchor="ctr"/>
          <a:lstStyle/>
          <a:p>
            <a:pPr marL="0" indent="0" algn="l">
              <a:buNone/>
            </a:pPr>
            <a:r>
              <a:rPr lang="en-GB" sz="1150" dirty="0">
                <a:solidFill>
                  <a:srgbClr val="1A2B5E"/>
                </a:solidFill>
                <a:latin typeface="Inter SemiBold Text SemiBold" pitchFamily="34" charset="0"/>
                <a:ea typeface="Inter SemiBold Text SemiBold" pitchFamily="34" charset="-122"/>
                <a:cs typeface="Inter SemiBold Text SemiBold" pitchFamily="34" charset="-120"/>
              </a:rPr>
              <a:t>Invoice total VAT amount</a:t>
            </a:r>
          </a:p>
        </p:txBody>
      </p:sp>
      <p:sp>
        <p:nvSpPr>
          <p:cNvPr id="56" name="Text 56"/>
          <p:cNvSpPr txBox="1"/>
          <p:nvPr/>
        </p:nvSpPr>
        <p:spPr>
          <a:xfrm>
            <a:off x="1965960" y="5426964"/>
            <a:ext cx="2788920" cy="243840"/>
          </a:xfrm>
          <a:prstGeom prst="rect">
            <a:avLst/>
          </a:prstGeom>
          <a:noFill/>
          <a:ln/>
        </p:spPr>
        <p:txBody>
          <a:bodyPr wrap="square" lIns="0" tIns="0" rIns="0" bIns="0" rtlCol="0" anchor="t"/>
          <a:lstStyle/>
          <a:p>
            <a:pPr marL="0" indent="0" algn="l">
              <a:lnSpc>
                <a:spcPct val="95000"/>
              </a:lnSpc>
              <a:buNone/>
            </a:pPr>
            <a:r>
              <a:rPr lang="en-GB" sz="800" dirty="0">
                <a:solidFill>
                  <a:srgbClr val="5B6890"/>
                </a:solidFill>
                <a:latin typeface="Inter Text" pitchFamily="34" charset="0"/>
                <a:ea typeface="Inter Text" pitchFamily="34" charset="-122"/>
                <a:cs typeface="Inter Text" pitchFamily="34" charset="-120"/>
              </a:rPr>
              <a:t>= Σ </a:t>
            </a:r>
            <a:r>
              <a:rPr lang="en-GB" sz="800" b="1" dirty="0">
                <a:solidFill>
                  <a:srgbClr val="1565C0"/>
                </a:solidFill>
                <a:latin typeface="Inter SemiBold Text SemiBold" pitchFamily="34" charset="0"/>
                <a:ea typeface="Inter SemiBold Text SemiBold" pitchFamily="34" charset="-122"/>
                <a:cs typeface="Inter SemiBold Text SemiBold" pitchFamily="34" charset="-120"/>
              </a:rPr>
              <a:t>BT-117</a:t>
            </a:r>
            <a:r>
              <a:rPr lang="en-GB" sz="800" dirty="0">
                <a:solidFill>
                  <a:srgbClr val="5B6890"/>
                </a:solidFill>
                <a:latin typeface="Inter Text" pitchFamily="34" charset="0"/>
                <a:ea typeface="Inter Text" pitchFamily="34" charset="-122"/>
                <a:cs typeface="Inter Text" pitchFamily="34" charset="-120"/>
              </a:rPr>
              <a:t/>
            </a:r>
          </a:p>
        </p:txBody>
      </p:sp>
      <p:sp>
        <p:nvSpPr>
          <p:cNvPr id="57" name="Pill 57"/>
          <p:cNvSpPr/>
          <p:nvPr/>
        </p:nvSpPr>
        <p:spPr>
          <a:xfrm>
            <a:off x="4773168" y="5274564"/>
            <a:ext cx="1207008" cy="350520"/>
          </a:xfrm>
          <a:prstGeom prst="roundRect">
            <a:avLst>
              <a:gd name="adj" fmla="val 50000"/>
            </a:avLst>
          </a:prstGeom>
          <a:solidFill>
            <a:srgbClr val="E8F6EE"/>
          </a:solidFill>
          <a:ln w="9525">
            <a:solidFill>
              <a:srgbClr val="B7E1C7"/>
            </a:solidFill>
            <a:prstDash val="solid"/>
          </a:ln>
        </p:spPr>
        <p:txBody>
          <a:bodyPr wrap="square" lIns="18288" tIns="18288" rIns="18288" bIns="18288" rtlCol="0" anchor="ctr"/>
          <a:lstStyle/>
          <a:p>
            <a:pPr marL="0" indent="0" algn="ctr">
              <a:buNone/>
            </a:pPr>
            <a:r>
              <a:rPr lang="en-GB" sz="1150" dirty="0">
                <a:solidFill>
                  <a:srgbClr val="1E8A4C"/>
                </a:solidFill>
                <a:latin typeface="Inter SemiBold Text SemiBold" pitchFamily="34" charset="0"/>
                <a:ea typeface="Inter SemiBold Text SemiBold" pitchFamily="34" charset="-122"/>
                <a:cs typeface="Inter SemiBold Text SemiBold" pitchFamily="34" charset="-120"/>
              </a:rPr>
              <a:t>Minor Unit</a:t>
            </a:r>
          </a:p>
          <a:p>
            <a:pPr marL="0" indent="0" algn="ctr">
              <a:buNone/>
            </a:pPr>
            <a:r>
              <a:rPr lang="en-GB" sz="800" dirty="0">
                <a:solidFill>
                  <a:srgbClr val="1E8A4C"/>
                </a:solidFill>
                <a:latin typeface="Inter Text" pitchFamily="34" charset="0"/>
                <a:ea typeface="Inter Text" pitchFamily="34" charset="-122"/>
                <a:cs typeface="Inter Text" pitchFamily="34" charset="-120"/>
              </a:rPr>
              <a:t>Σ of BT-117</a:t>
            </a:r>
          </a:p>
        </p:txBody>
      </p:sp>
      <p:sp>
        <p:nvSpPr>
          <p:cNvPr id="58" name="Text 58"/>
          <p:cNvSpPr txBox="1"/>
          <p:nvPr/>
        </p:nvSpPr>
        <p:spPr>
          <a:xfrm>
            <a:off x="5989320" y="5251704"/>
            <a:ext cx="1508760" cy="243840"/>
          </a:xfrm>
          <a:prstGeom prst="rect">
            <a:avLst/>
          </a:prstGeom>
          <a:noFill/>
          <a:ln/>
        </p:spPr>
        <p:txBody>
          <a:bodyPr wrap="square" lIns="0" tIns="0" rIns="0" bIns="0" rtlCol="0" anchor="ctr"/>
          <a:lstStyle/>
          <a:p>
            <a:pPr marL="0" indent="0" algn="r">
              <a:buNone/>
            </a:pPr>
            <a:r>
              <a:rPr lang="en-GB" sz="1300" b="1" dirty="0">
                <a:solidFill>
                  <a:srgbClr val="1E8A4C"/>
                </a:solidFill>
                <a:latin typeface="Consolas" pitchFamily="34" charset="0"/>
                <a:ea typeface="Consolas" pitchFamily="34" charset="-122"/>
                <a:cs typeface="Consolas" pitchFamily="34" charset="-120"/>
              </a:rPr>
              <a:t>± 0</a:t>
            </a:r>
          </a:p>
        </p:txBody>
      </p:sp>
      <p:sp>
        <p:nvSpPr>
          <p:cNvPr id="59" name="Panel 59"/>
          <p:cNvSpPr/>
          <p:nvPr/>
        </p:nvSpPr>
        <p:spPr>
          <a:xfrm>
            <a:off x="7845552" y="2240280"/>
            <a:ext cx="3520440" cy="1709928"/>
          </a:xfrm>
          <a:prstGeom prst="roundRect">
            <a:avLst>
              <a:gd name="adj" fmla="val 5529"/>
            </a:avLst>
          </a:prstGeom>
          <a:solidFill>
            <a:srgbClr val="1A2B5E"/>
          </a:solidFill>
          <a:ln w="19050">
            <a:solidFill>
              <a:srgbClr val="7DB3FF"/>
            </a:solidFill>
            <a:prstDash val="solid"/>
          </a:ln>
          <a:effectLst>
            <a:outerShdw blurRad="101600" dist="38100" dir="5400000" algn="bl" rotWithShape="0">
              <a:srgbClr val="0A1230">
                <a:alpha val="18000"/>
              </a:srgbClr>
            </a:outerShdw>
          </a:effectLst>
        </p:spPr>
        <p:txBody>
          <a:bodyPr/>
          <a:lstStyle/>
          <a:p>
            <a:endParaRPr lang="en-GB"/>
          </a:p>
        </p:txBody>
      </p:sp>
      <p:sp>
        <p:nvSpPr>
          <p:cNvPr id="60" name="Text 60"/>
          <p:cNvSpPr txBox="1"/>
          <p:nvPr/>
        </p:nvSpPr>
        <p:spPr>
          <a:xfrm>
            <a:off x="8065008" y="2295144"/>
            <a:ext cx="3154680" cy="237744"/>
          </a:xfrm>
          <a:prstGeom prst="rect">
            <a:avLst/>
          </a:prstGeom>
          <a:noFill/>
          <a:ln/>
        </p:spPr>
        <p:txBody>
          <a:bodyPr wrap="square" lIns="0" tIns="0" rIns="0" bIns="0" rtlCol="0" anchor="ctr"/>
          <a:lstStyle/>
          <a:p>
            <a:pPr marL="0" indent="0" algn="l">
              <a:buNone/>
            </a:pPr>
            <a:r>
              <a:rPr lang="en-GB" sz="950" spc="120" dirty="0">
                <a:solidFill>
                  <a:srgbClr val="7DB3FF"/>
                </a:solidFill>
                <a:latin typeface="Inter SemiBold Text SemiBold" pitchFamily="34" charset="0"/>
                <a:ea typeface="Inter SemiBold Text SemiBold" pitchFamily="34" charset="-122"/>
                <a:cs typeface="Inter SemiBold Text SemiBold" pitchFamily="34" charset="-120"/>
              </a:rPr>
              <a:t>ALLOWED DECIMAL PLACES</a:t>
            </a:r>
          </a:p>
        </p:txBody>
      </p:sp>
      <p:sp>
        <p:nvSpPr>
          <p:cNvPr id="79" name="Panel 79"/>
          <p:cNvSpPr/>
          <p:nvPr/>
        </p:nvSpPr>
        <p:spPr>
          <a:xfrm>
            <a:off x="7845552" y="4023360"/>
            <a:ext cx="3520440" cy="2203704"/>
          </a:xfrm>
          <a:prstGeom prst="roundRect">
            <a:avLst>
              <a:gd name="adj" fmla="val 5529"/>
            </a:avLst>
          </a:prstGeom>
          <a:solidFill>
            <a:srgbClr val="1A2B5E"/>
          </a:solidFill>
          <a:ln w="19050">
            <a:solidFill>
              <a:srgbClr val="B9A2FF"/>
            </a:solidFill>
            <a:prstDash val="solid"/>
          </a:ln>
          <a:effectLst>
            <a:outerShdw blurRad="101600" dist="38100" dir="5400000" algn="bl" rotWithShape="0">
              <a:srgbClr val="0A1230">
                <a:alpha val="18000"/>
              </a:srgbClr>
            </a:outerShdw>
          </a:effectLst>
        </p:spPr>
        <p:txBody>
          <a:bodyPr/>
          <a:lstStyle/>
          <a:p>
            <a:endParaRPr lang="en-GB"/>
          </a:p>
        </p:txBody>
      </p:sp>
      <p:sp>
        <p:nvSpPr>
          <p:cNvPr id="80" name="Text 80"/>
          <p:cNvSpPr txBox="1"/>
          <p:nvPr/>
        </p:nvSpPr>
        <p:spPr>
          <a:xfrm>
            <a:off x="8065008" y="4078224"/>
            <a:ext cx="3154680" cy="237744"/>
          </a:xfrm>
          <a:prstGeom prst="rect">
            <a:avLst/>
          </a:prstGeom>
          <a:noFill/>
          <a:ln/>
        </p:spPr>
        <p:txBody>
          <a:bodyPr wrap="square" lIns="0" tIns="0" rIns="0" bIns="0" rtlCol="0" anchor="ctr"/>
          <a:lstStyle/>
          <a:p>
            <a:pPr marL="0" indent="0" algn="l">
              <a:buNone/>
            </a:pPr>
            <a:r>
              <a:rPr lang="en-GB" sz="950" spc="120" dirty="0">
                <a:solidFill>
                  <a:srgbClr val="B9A2FF"/>
                </a:solidFill>
                <a:latin typeface="Inter SemiBold Text SemiBold" pitchFamily="34" charset="0"/>
                <a:ea typeface="Inter SemiBold Text SemiBold" pitchFamily="34" charset="-122"/>
                <a:cs typeface="Inter SemiBold Text SemiBold" pitchFamily="34" charset="-120"/>
              </a:rPr>
              <a:t>DECIMAL PLACES · FINAL VALUES</a:t>
            </a:r>
          </a:p>
        </p:txBody>
      </p:sp>
      <p:sp>
        <p:nvSpPr>
          <p:cNvPr id="81" name="Text 81"/>
          <p:cNvSpPr txBox="1"/>
          <p:nvPr/>
        </p:nvSpPr>
        <p:spPr>
          <a:xfrm>
            <a:off x="8065008" y="4352544"/>
            <a:ext cx="2514600" cy="274320"/>
          </a:xfrm>
          <a:prstGeom prst="rect">
            <a:avLst/>
          </a:prstGeom>
          <a:noFill/>
          <a:ln/>
        </p:spPr>
        <p:txBody>
          <a:bodyPr wrap="none" lIns="0" tIns="0" rIns="0" bIns="0" rtlCol="0" anchor="ctr"/>
          <a:lstStyle/>
          <a:p>
            <a:pPr marL="0" indent="0" algn="l">
              <a:buNone/>
            </a:pPr>
            <a:r>
              <a:rPr lang="en-GB" sz="1000" b="1" dirty="0">
                <a:solidFill>
                  <a:srgbClr val="81C784"/>
                </a:solidFill>
                <a:latin typeface="Inter SemiBold Text SemiBold" pitchFamily="34" charset="0"/>
                <a:ea typeface="Inter SemiBold Text SemiBold" pitchFamily="34" charset="-122"/>
                <a:cs typeface="Inter SemiBold Text SemiBold" pitchFamily="34" charset="-120"/>
              </a:rPr>
              <a:t>BT-116 </a:t>
            </a:r>
            <a:r>
              <a:rPr lang="en-GB" sz="1000" dirty="0">
                <a:solidFill>
                  <a:srgbClr val="9AA4C2"/>
                </a:solidFill>
                <a:latin typeface="Inter Text" pitchFamily="34" charset="0"/>
                <a:ea typeface="Inter Text" pitchFamily="34" charset="-122"/>
                <a:cs typeface="Inter Text" pitchFamily="34" charset="-120"/>
              </a:rPr>
              <a:t>VAT category taxable amount</a:t>
            </a:r>
          </a:p>
        </p:txBody>
      </p:sp>
      <p:sp>
        <p:nvSpPr>
          <p:cNvPr id="82" name="Text 82"/>
          <p:cNvSpPr txBox="1"/>
          <p:nvPr/>
        </p:nvSpPr>
        <p:spPr>
          <a:xfrm>
            <a:off x="10515600" y="4352544"/>
            <a:ext cx="667512" cy="274320"/>
          </a:xfrm>
          <a:prstGeom prst="rect">
            <a:avLst/>
          </a:prstGeom>
          <a:noFill/>
          <a:ln/>
        </p:spPr>
        <p:txBody>
          <a:bodyPr wrap="square" lIns="0" tIns="0" rIns="0" bIns="0" rtlCol="0" anchor="ctr"/>
          <a:lstStyle/>
          <a:p>
            <a:pPr marL="0" indent="0" algn="r">
              <a:buNone/>
            </a:pPr>
            <a:r>
              <a:rPr lang="en-GB" sz="1000" dirty="0">
                <a:solidFill>
                  <a:srgbClr val="58D6BB"/>
                </a:solidFill>
                <a:latin typeface="Inter SemiBold Text SemiBold" pitchFamily="34" charset="0"/>
                <a:ea typeface="Inter SemiBold Text SemiBold" pitchFamily="34" charset="-122"/>
                <a:cs typeface="Inter SemiBold Text SemiBold" pitchFamily="34" charset="-120"/>
              </a:rPr>
              <a:t>free</a:t>
            </a:r>
          </a:p>
        </p:txBody>
      </p:sp>
      <p:sp>
        <p:nvSpPr>
          <p:cNvPr id="83" name="Text 83"/>
          <p:cNvSpPr txBox="1"/>
          <p:nvPr/>
        </p:nvSpPr>
        <p:spPr>
          <a:xfrm>
            <a:off x="8065008" y="4626864"/>
            <a:ext cx="2514600" cy="274320"/>
          </a:xfrm>
          <a:prstGeom prst="rect">
            <a:avLst/>
          </a:prstGeom>
          <a:noFill/>
          <a:ln/>
        </p:spPr>
        <p:txBody>
          <a:bodyPr wrap="none" lIns="0" tIns="0" rIns="0" bIns="0" rtlCol="0" anchor="ctr"/>
          <a:lstStyle/>
          <a:p>
            <a:pPr marL="0" indent="0" algn="l">
              <a:buNone/>
            </a:pPr>
            <a:r>
              <a:rPr lang="en-GB" sz="1000" b="1" dirty="0">
                <a:solidFill>
                  <a:srgbClr val="82B1FF"/>
                </a:solidFill>
                <a:latin typeface="Inter SemiBold Text SemiBold" pitchFamily="34" charset="0"/>
                <a:ea typeface="Inter SemiBold Text SemiBold" pitchFamily="34" charset="-122"/>
                <a:cs typeface="Inter SemiBold Text SemiBold" pitchFamily="34" charset="-120"/>
              </a:rPr>
              <a:t>BT-117 </a:t>
            </a:r>
            <a:r>
              <a:rPr lang="en-GB" sz="1000" dirty="0">
                <a:solidFill>
                  <a:srgbClr val="9AA4C2"/>
                </a:solidFill>
                <a:latin typeface="Inter Text" pitchFamily="34" charset="0"/>
                <a:ea typeface="Inter Text" pitchFamily="34" charset="-122"/>
                <a:cs typeface="Inter Text" pitchFamily="34" charset="-120"/>
              </a:rPr>
              <a:t>VAT category tax amount</a:t>
            </a:r>
          </a:p>
        </p:txBody>
      </p:sp>
      <p:sp>
        <p:nvSpPr>
          <p:cNvPr id="84" name="Text 84"/>
          <p:cNvSpPr txBox="1"/>
          <p:nvPr/>
        </p:nvSpPr>
        <p:spPr>
          <a:xfrm>
            <a:off x="10515600" y="4626864"/>
            <a:ext cx="667512" cy="274320"/>
          </a:xfrm>
          <a:prstGeom prst="rect">
            <a:avLst/>
          </a:prstGeom>
          <a:noFill/>
          <a:ln/>
        </p:spPr>
        <p:txBody>
          <a:bodyPr wrap="square" lIns="0" tIns="0" rIns="0" bIns="0" rtlCol="0" anchor="ctr"/>
          <a:lstStyle/>
          <a:p>
            <a:pPr marL="0" indent="0" algn="r">
              <a:buNone/>
            </a:pPr>
            <a:r>
              <a:rPr lang="en-GB" sz="1000" dirty="0">
                <a:solidFill>
                  <a:srgbClr val="81C784"/>
                </a:solidFill>
                <a:latin typeface="Inter SemiBold Text SemiBold" pitchFamily="34" charset="0"/>
                <a:ea typeface="Inter SemiBold Text SemiBold" pitchFamily="34" charset="-122"/>
                <a:cs typeface="Inter SemiBold Text SemiBold" pitchFamily="34" charset="-120"/>
              </a:rPr>
              <a:t>Minor Unit</a:t>
            </a:r>
          </a:p>
        </p:txBody>
      </p:sp>
      <p:sp>
        <p:nvSpPr>
          <p:cNvPr id="85" name="Text 85"/>
          <p:cNvSpPr txBox="1"/>
          <p:nvPr/>
        </p:nvSpPr>
        <p:spPr>
          <a:xfrm>
            <a:off x="8065008" y="4901184"/>
            <a:ext cx="2514600" cy="274320"/>
          </a:xfrm>
          <a:prstGeom prst="rect">
            <a:avLst/>
          </a:prstGeom>
          <a:noFill/>
          <a:ln/>
        </p:spPr>
        <p:txBody>
          <a:bodyPr wrap="none" lIns="0" tIns="0" rIns="0" bIns="0" rtlCol="0" anchor="ctr"/>
          <a:lstStyle/>
          <a:p>
            <a:pPr marL="0" indent="0" algn="l">
              <a:buNone/>
            </a:pPr>
            <a:r>
              <a:rPr lang="en-GB" sz="1000" b="1" dirty="0">
                <a:solidFill>
                  <a:srgbClr val="CE93D8"/>
                </a:solidFill>
                <a:latin typeface="Inter SemiBold Text SemiBold" pitchFamily="34" charset="0"/>
                <a:ea typeface="Inter SemiBold Text SemiBold" pitchFamily="34" charset="-122"/>
                <a:cs typeface="Inter SemiBold Text SemiBold" pitchFamily="34" charset="-120"/>
              </a:rPr>
              <a:t>BT-110 </a:t>
            </a:r>
            <a:r>
              <a:rPr lang="en-GB" sz="1000" dirty="0">
                <a:solidFill>
                  <a:srgbClr val="9AA4C2"/>
                </a:solidFill>
                <a:latin typeface="Inter Text" pitchFamily="34" charset="0"/>
                <a:ea typeface="Inter Text" pitchFamily="34" charset="-122"/>
                <a:cs typeface="Inter Text" pitchFamily="34" charset="-120"/>
              </a:rPr>
              <a:t>Invoice total VAT amount</a:t>
            </a:r>
          </a:p>
        </p:txBody>
      </p:sp>
      <p:sp>
        <p:nvSpPr>
          <p:cNvPr id="86" name="Text 86"/>
          <p:cNvSpPr txBox="1"/>
          <p:nvPr/>
        </p:nvSpPr>
        <p:spPr>
          <a:xfrm>
            <a:off x="10515600" y="4901184"/>
            <a:ext cx="667512" cy="274320"/>
          </a:xfrm>
          <a:prstGeom prst="rect">
            <a:avLst/>
          </a:prstGeom>
          <a:noFill/>
          <a:ln/>
        </p:spPr>
        <p:txBody>
          <a:bodyPr wrap="square" lIns="0" tIns="0" rIns="0" bIns="0" rtlCol="0" anchor="ctr"/>
          <a:lstStyle/>
          <a:p>
            <a:pPr marL="0" indent="0" algn="r">
              <a:buNone/>
            </a:pPr>
            <a:r>
              <a:rPr lang="en-GB" sz="1000" dirty="0">
                <a:solidFill>
                  <a:srgbClr val="81C784"/>
                </a:solidFill>
                <a:latin typeface="Inter SemiBold Text SemiBold" pitchFamily="34" charset="0"/>
                <a:ea typeface="Inter SemiBold Text SemiBold" pitchFamily="34" charset="-122"/>
                <a:cs typeface="Inter SemiBold Text SemiBold" pitchFamily="34" charset="-120"/>
              </a:rPr>
              <a:t>Minor Unit</a:t>
            </a:r>
          </a:p>
        </p:txBody>
      </p:sp>
      <p:sp>
        <p:nvSpPr>
          <p:cNvPr id="87" name="Text 87"/>
          <p:cNvSpPr txBox="1"/>
          <p:nvPr/>
        </p:nvSpPr>
        <p:spPr>
          <a:xfrm>
            <a:off x="8065008" y="5669280"/>
            <a:ext cx="3108960" cy="457200"/>
          </a:xfrm>
          <a:prstGeom prst="rect">
            <a:avLst/>
          </a:prstGeom>
          <a:noFill/>
          <a:ln/>
        </p:spPr>
        <p:txBody>
          <a:bodyPr wrap="square" lIns="0" tIns="0" rIns="0" bIns="0" rtlCol="0" anchor="ctr"/>
          <a:lstStyle/>
          <a:p>
            <a:pPr marL="0" indent="0" algn="l">
              <a:buNone/>
            </a:pPr>
            <a:r>
              <a:rPr lang="en-GB" sz="950" dirty="0">
                <a:solidFill>
                  <a:srgbClr val="B9A2FF"/>
                </a:solidFill>
                <a:latin typeface="Inter SemiBold Text SemiBold" pitchFamily="34" charset="0"/>
                <a:ea typeface="Inter SemiBold Text SemiBold" pitchFamily="34" charset="-122"/>
                <a:cs typeface="Inter SemiBold Text SemiBold" pitchFamily="34" charset="-120"/>
              </a:rPr>
              <a:t>Worst case </a:t>
            </a:r>
            <a:r>
              <a:rPr lang="en-GB" sz="950" dirty="0">
                <a:solidFill>
                  <a:srgbClr val="9AA4C2"/>
                </a:solidFill>
                <a:latin typeface="Inter Text" pitchFamily="34" charset="0"/>
                <a:ea typeface="Inter Text" pitchFamily="34" charset="-122"/>
                <a:cs typeface="Inter Text" pitchFamily="34" charset="-120"/>
              </a:rPr>
              <a:t>with number of lines and quantity:</a:t>
            </a:r>
          </a:p>
          <a:p>
            <a:pPr marL="0" indent="0" algn="l">
              <a:buNone/>
            </a:pPr>
            <a:r>
              <a:rPr lang="en-GB" sz="950" dirty="0">
                <a:solidFill>
                  <a:srgbClr val="9AA4C2"/>
                </a:solidFill>
                <a:latin typeface="Inter Text" pitchFamily="34" charset="0"/>
                <a:ea typeface="Inter Text" pitchFamily="34" charset="-122"/>
                <a:cs typeface="Inter Text" pitchFamily="34" charset="-120"/>
              </a:rPr>
              <a:t>→ “How large does the deviation get?”</a:t>
            </a:r>
          </a:p>
        </p:txBody>
      </p:sp>
      <p:sp>
        <p:nvSpPr>
          <p:cNvPr id="88" name="Text 88"/>
          <p:cNvSpPr txBox="1"/>
          <p:nvPr/>
        </p:nvSpPr>
        <p:spPr>
          <a:xfrm>
            <a:off x="822960" y="6309360"/>
            <a:ext cx="6766560" cy="402336"/>
          </a:xfrm>
          <a:prstGeom prst="rect">
            <a:avLst/>
          </a:prstGeom>
          <a:noFill/>
          <a:ln/>
        </p:spPr>
        <p:txBody>
          <a:bodyPr wrap="square" lIns="0" tIns="0" rIns="0" bIns="0" rtlCol="0" anchor="ctr"/>
          <a:lstStyle/>
          <a:p>
            <a:pPr marL="0" indent="0" algn="l">
              <a:buNone/>
            </a:pPr>
            <a:r>
              <a:rPr lang="en-GB" sz="850" dirty="0">
                <a:solidFill>
                  <a:srgbClr val="C0392B"/>
                </a:solidFill>
                <a:latin typeface="Inter SemiBold Text SemiBold" pitchFamily="34" charset="0"/>
                <a:ea typeface="Inter SemiBold Text SemiBold" pitchFamily="34" charset="-122"/>
                <a:cs typeface="Inter SemiBold Text SemiBold" pitchFamily="34" charset="-120"/>
              </a:rPr>
              <a:t>Red</a:t>
            </a:r>
            <a:r>
              <a:rPr lang="en-GB" sz="850" dirty="0">
                <a:solidFill>
                  <a:srgbClr val="9AA4C2"/>
                </a:solidFill>
                <a:latin typeface="Inter Text" pitchFamily="34" charset="0"/>
                <a:ea typeface="Inter Text" pitchFamily="34" charset="-122"/>
                <a:cs typeface="Inter Text" pitchFamily="34" charset="-120"/>
              </a:rPr>
              <a:t> = rounded intermediate value   </a:t>
            </a:r>
            <a:r>
              <a:rPr lang="en-GB" sz="850" dirty="0">
                <a:solidFill>
                  <a:srgbClr val="1E8A4C"/>
                </a:solidFill>
                <a:latin typeface="Inter SemiBold Text SemiBold" pitchFamily="34" charset="0"/>
                <a:ea typeface="Inter SemiBold Text SemiBold" pitchFamily="34" charset="-122"/>
                <a:cs typeface="Inter SemiBold Text SemiBold" pitchFamily="34" charset="-120"/>
              </a:rPr>
              <a:t>Green</a:t>
            </a:r>
            <a:r>
              <a:rPr lang="en-GB" sz="850" dirty="0">
                <a:solidFill>
                  <a:srgbClr val="9AA4C2"/>
                </a:solidFill>
                <a:latin typeface="Inter Text" pitchFamily="34" charset="0"/>
                <a:ea typeface="Inter Text" pitchFamily="34" charset="-122"/>
                <a:cs typeface="Inter Text" pitchFamily="34" charset="-120"/>
              </a:rPr>
              <a:t> = paid amount or VAT, rounded once   </a:t>
            </a:r>
            <a:r>
              <a:rPr lang="en-GB" sz="850" dirty="0">
                <a:solidFill>
                  <a:srgbClr val="D98A00"/>
                </a:solidFill>
                <a:latin typeface="Inter SemiBold Text SemiBold" pitchFamily="34" charset="0"/>
                <a:ea typeface="Inter SemiBold Text SemiBold" pitchFamily="34" charset="-122"/>
                <a:cs typeface="Inter SemiBold Text SemiBold" pitchFamily="34" charset="-120"/>
              </a:rPr>
              <a:t>Orange</a:t>
            </a:r>
            <a:r>
              <a:rPr lang="en-GB" sz="850" dirty="0">
                <a:solidFill>
                  <a:srgbClr val="9AA4C2"/>
                </a:solidFill>
                <a:latin typeface="Inter Text" pitchFamily="34" charset="0"/>
                <a:ea typeface="Inter Text" pitchFamily="34" charset="-122"/>
                <a:cs typeface="Inter Text" pitchFamily="34" charset="-120"/>
              </a:rPr>
              <a:t> = rounded input value</a:t>
            </a:r>
          </a:p>
          <a:p>
            <a:pPr marL="0" indent="0" algn="l">
              <a:buNone/>
            </a:pPr>
            <a:r>
              <a:rPr lang="en-GB" sz="850" dirty="0">
                <a:solidFill>
                  <a:srgbClr val="9AA4C2"/>
                </a:solidFill>
                <a:latin typeface="Inter Text" pitchFamily="34" charset="0"/>
                <a:ea typeface="Inter Text" pitchFamily="34" charset="-122"/>
                <a:cs typeface="Inter Text" pitchFamily="34" charset="-120"/>
              </a:rPr>
              <a:t>dp = decimal places · Minor Unit = smallest currency unit, ISO 4217 (EUR: 2 dp) · ± for 100 lines of 100 units, 19% VAT</a:t>
            </a:r>
          </a:p>
          <a:p>
            <a:pPr marL="0" indent="0" algn="l">
              <a:buNone/>
            </a:pPr>
            <a:r>
              <a:rPr lang="en-GB" sz="850" dirty="0">
                <a:solidFill>
                  <a:srgbClr val="D32F2F"/>
                </a:solidFill>
                <a:latin typeface="Inter SemiBold Text SemiBold" pitchFamily="34" charset="0"/>
                <a:ea typeface="Inter SemiBold Text SemiBold" pitchFamily="34" charset="-122"/>
                <a:cs typeface="Inter SemiBold Text SemiBold" pitchFamily="34" charset="-120"/>
              </a:rPr>
              <a:t>Rain</a:t>
            </a:r>
            <a:r>
              <a:rPr lang="en-GB" sz="850" dirty="0">
                <a:solidFill>
                  <a:srgbClr val="C79100"/>
                </a:solidFill>
                <a:latin typeface="Inter SemiBold Text SemiBold" pitchFamily="34" charset="0"/>
                <a:ea typeface="Inter SemiBold Text SemiBold" pitchFamily="34" charset="-122"/>
                <a:cs typeface="Inter SemiBold Text SemiBold" pitchFamily="34" charset="-120"/>
              </a:rPr>
              <a:t>bo</a:t>
            </a:r>
            <a:r>
              <a:rPr lang="en-GB" sz="850" dirty="0">
                <a:solidFill>
                  <a:srgbClr val="1565C0"/>
                </a:solidFill>
                <a:latin typeface="Inter SemiBold Text SemiBold" pitchFamily="34" charset="0"/>
                <a:ea typeface="Inter SemiBold Text SemiBold" pitchFamily="34" charset="-122"/>
                <a:cs typeface="Inter SemiBold Text SemiBold" pitchFamily="34" charset="-120"/>
              </a:rPr>
              <a:t>w</a:t>
            </a:r>
            <a:r>
              <a:rPr lang="en-GB" sz="850" dirty="0">
                <a:solidFill>
                  <a:srgbClr val="9AA4C2"/>
                </a:solidFill>
                <a:latin typeface="Inter Text" pitchFamily="34" charset="0"/>
                <a:ea typeface="Inter Text" pitchFamily="34" charset="-122"/>
                <a:cs typeface="Inter Text" pitchFamily="34" charset="-120"/>
              </a:rPr>
              <a:t> = order of the calculation steps; a BT keeps its colour where it is reused further down</a:t>
            </a:r>
          </a:p>
        </p:txBody>
      </p:sp>
      <p:sp>
        <p:nvSpPr>
          <p:cNvPr id="89" name="Card 89"/>
          <p:cNvSpPr/>
          <p:nvPr/>
        </p:nvSpPr>
        <p:spPr>
          <a:xfrm>
            <a:off x="822960" y="5715000"/>
            <a:ext cx="6766560" cy="457200"/>
          </a:xfrm>
          <a:prstGeom prst="roundRect">
            <a:avLst>
              <a:gd name="adj" fmla="val 11666"/>
            </a:avLst>
          </a:prstGeom>
          <a:solidFill>
            <a:srgbClr val="FFFFFF"/>
          </a:solidFill>
          <a:ln w="12700">
            <a:solidFill>
              <a:srgbClr val="E2E7F2"/>
            </a:solidFill>
            <a:prstDash val="solid"/>
          </a:ln>
          <a:effectLst>
            <a:outerShdw blurRad="101600" dist="38100" dir="5400000" algn="bl" rotWithShape="0">
              <a:srgbClr val="0A1230">
                <a:alpha val="8000"/>
              </a:srgbClr>
            </a:outerShdw>
          </a:effectLst>
        </p:spPr>
        <p:txBody>
          <a:bodyPr/>
          <a:lstStyle/>
          <a:p>
            <a:endParaRPr lang="en-GB"/>
          </a:p>
        </p:txBody>
      </p:sp>
      <p:sp>
        <p:nvSpPr>
          <p:cNvPr id="90" name="Pill 90"/>
          <p:cNvSpPr/>
          <p:nvPr/>
        </p:nvSpPr>
        <p:spPr>
          <a:xfrm>
            <a:off x="960120" y="5814060"/>
            <a:ext cx="685800" cy="259080"/>
          </a:xfrm>
          <a:prstGeom prst="roundRect">
            <a:avLst>
              <a:gd name="adj" fmla="val 50000"/>
            </a:avLst>
          </a:prstGeom>
          <a:solidFill>
            <a:srgbClr val="AD1457"/>
          </a:solidFill>
          <a:ln>
            <a:noFill/>
          </a:ln>
        </p:spPr>
        <p:txBody>
          <a:bodyPr wrap="square" lIns="36576" tIns="36576" rIns="36576" bIns="36576" rtlCol="0" anchor="ctr"/>
          <a:lstStyle/>
          <a:p>
            <a:pPr marL="0" indent="0" algn="ctr">
              <a:buNone/>
            </a:pPr>
            <a:r>
              <a:rPr lang="en-GB" sz="1150" dirty="0">
                <a:solidFill>
                  <a:srgbClr val="FFFFFF"/>
                </a:solidFill>
                <a:latin typeface="Inter SemiBold Text SemiBold" pitchFamily="34" charset="0"/>
                <a:ea typeface="Inter SemiBold Text SemiBold" pitchFamily="34" charset="-122"/>
                <a:cs typeface="Inter SemiBold Text SemiBold" pitchFamily="34" charset="-120"/>
              </a:rPr>
              <a:t>BT-115</a:t>
            </a:r>
          </a:p>
        </p:txBody>
      </p:sp>
      <p:sp>
        <p:nvSpPr>
          <p:cNvPr id="91" name="Text 91"/>
          <p:cNvSpPr txBox="1"/>
          <p:nvPr/>
        </p:nvSpPr>
        <p:spPr>
          <a:xfrm>
            <a:off x="1965960" y="5730240"/>
            <a:ext cx="2788920" cy="198120"/>
          </a:xfrm>
          <a:prstGeom prst="rect">
            <a:avLst/>
          </a:prstGeom>
          <a:noFill/>
          <a:ln/>
        </p:spPr>
        <p:txBody>
          <a:bodyPr wrap="none" lIns="0" tIns="0" rIns="0" bIns="0" rtlCol="0" anchor="ctr"/>
          <a:lstStyle/>
          <a:p>
            <a:pPr marL="0" indent="0" algn="l">
              <a:buNone/>
            </a:pPr>
            <a:r>
              <a:rPr lang="en-GB" sz="1150" dirty="0">
                <a:solidFill>
                  <a:srgbClr val="1A2B5E"/>
                </a:solidFill>
                <a:latin typeface="Inter SemiBold Text SemiBold" pitchFamily="34" charset="0"/>
                <a:ea typeface="Inter SemiBold Text SemiBold" pitchFamily="34" charset="-122"/>
                <a:cs typeface="Inter SemiBold Text SemiBold" pitchFamily="34" charset="-120"/>
              </a:rPr>
              <a:t>Amount due for payment</a:t>
            </a:r>
          </a:p>
        </p:txBody>
      </p:sp>
      <p:sp>
        <p:nvSpPr>
          <p:cNvPr id="92" name="Text 92"/>
          <p:cNvSpPr txBox="1"/>
          <p:nvPr/>
        </p:nvSpPr>
        <p:spPr>
          <a:xfrm>
            <a:off x="1965960" y="5920740"/>
            <a:ext cx="2788920" cy="243840"/>
          </a:xfrm>
          <a:prstGeom prst="rect">
            <a:avLst/>
          </a:prstGeom>
          <a:noFill/>
          <a:ln/>
        </p:spPr>
        <p:txBody>
          <a:bodyPr wrap="square" lIns="0" tIns="0" rIns="0" bIns="0" rtlCol="0" anchor="t"/>
          <a:lstStyle/>
          <a:p>
            <a:pPr marL="0" indent="0" algn="l">
              <a:lnSpc>
                <a:spcPct val="95000"/>
              </a:lnSpc>
              <a:buNone/>
            </a:pPr>
            <a:r>
              <a:rPr lang="en-GB" sz="800" dirty="0">
                <a:solidFill>
                  <a:srgbClr val="5B6890"/>
                </a:solidFill>
                <a:latin typeface="Inter Text" pitchFamily="34" charset="0"/>
                <a:ea typeface="Inter Text" pitchFamily="34" charset="-122"/>
                <a:cs typeface="Inter Text" pitchFamily="34" charset="-120"/>
              </a:rPr>
              <a:t>= </a:t>
            </a:r>
            <a:r>
              <a:rPr lang="en-GB" sz="800" b="1" dirty="0">
                <a:solidFill>
                  <a:srgbClr val="6A1B9A"/>
                </a:solidFill>
                <a:latin typeface="Inter SemiBold Text SemiBold" pitchFamily="34" charset="0"/>
                <a:ea typeface="Inter SemiBold Text SemiBold" pitchFamily="34" charset="-122"/>
                <a:cs typeface="Inter SemiBold Text SemiBold" pitchFamily="34" charset="-120"/>
              </a:rPr>
              <a:t>BT-110</a:t>
            </a:r>
            <a:r>
              <a:rPr lang="en-GB" sz="800" dirty="0">
                <a:solidFill>
                  <a:srgbClr val="5B6890"/>
                </a:solidFill>
                <a:latin typeface="Inter Text" pitchFamily="34" charset="0"/>
                <a:ea typeface="Inter Text" pitchFamily="34" charset="-122"/>
                <a:cs typeface="Inter Text" pitchFamily="34" charset="-120"/>
              </a:rPr>
              <a:t> + </a:t>
            </a:r>
            <a:r>
              <a:rPr lang="en-GB" sz="800" dirty="0">
                <a:solidFill>
                  <a:srgbClr val="1A2B5E"/>
                </a:solidFill>
                <a:latin typeface="Inter SemiBold Text SemiBold" pitchFamily="34" charset="0"/>
                <a:ea typeface="Inter SemiBold Text SemiBold" pitchFamily="34" charset="-122"/>
                <a:cs typeface="Inter SemiBold Text SemiBold" pitchFamily="34" charset="-120"/>
              </a:rPr>
              <a:t>BT-109</a:t>
            </a:r>
            <a:r>
              <a:rPr lang="en-GB" sz="800" dirty="0">
                <a:solidFill>
                  <a:srgbClr val="5B6890"/>
                </a:solidFill>
                <a:latin typeface="Inter Text" pitchFamily="34" charset="0"/>
                <a:ea typeface="Inter Text" pitchFamily="34" charset="-122"/>
                <a:cs typeface="Inter Text" pitchFamily="34" charset="-120"/>
              </a:rPr>
              <a:t> Invoice total amount without VAT</a:t>
            </a:r>
            <a:br>
              <a:rPr lang="en-GB" sz="800" dirty="0">
                <a:solidFill>
                  <a:srgbClr val="5B6890"/>
                </a:solidFill>
                <a:latin typeface="Inter Text" pitchFamily="34" charset="0"/>
                <a:ea typeface="Inter Text" pitchFamily="34" charset="-122"/>
                <a:cs typeface="Inter Text" pitchFamily="34" charset="-120"/>
              </a:rPr>
            </a:br>
            <a:r>
              <a:rPr lang="en-GB" sz="800" dirty="0">
                <a:solidFill>
                  <a:srgbClr val="5B6890"/>
                </a:solidFill>
                <a:latin typeface="Inter Text" pitchFamily="34" charset="0"/>
                <a:ea typeface="Inter Text" pitchFamily="34" charset="-122"/>
                <a:cs typeface="Inter Text" pitchFamily="34" charset="-120"/>
              </a:rPr>
              <a:t>− </a:t>
            </a:r>
            <a:r>
              <a:rPr lang="en-GB" sz="800" dirty="0">
                <a:solidFill>
                  <a:srgbClr val="1A2B5E"/>
                </a:solidFill>
                <a:latin typeface="Inter SemiBold Text SemiBold" pitchFamily="34" charset="0"/>
                <a:ea typeface="Inter SemiBold Text SemiBold" pitchFamily="34" charset="-122"/>
                <a:cs typeface="Inter SemiBold Text SemiBold" pitchFamily="34" charset="-120"/>
              </a:rPr>
              <a:t>BT-113</a:t>
            </a:r>
            <a:r>
              <a:rPr lang="en-GB" sz="800" dirty="0">
                <a:solidFill>
                  <a:srgbClr val="5B6890"/>
                </a:solidFill>
                <a:latin typeface="Inter Text" pitchFamily="34" charset="0"/>
                <a:ea typeface="Inter Text" pitchFamily="34" charset="-122"/>
                <a:cs typeface="Inter Text" pitchFamily="34" charset="-120"/>
              </a:rPr>
              <a:t> Paid amount + </a:t>
            </a:r>
            <a:r>
              <a:rPr lang="en-GB" sz="800" dirty="0">
                <a:solidFill>
                  <a:srgbClr val="1A2B5E"/>
                </a:solidFill>
                <a:latin typeface="Inter SemiBold Text SemiBold" pitchFamily="34" charset="0"/>
                <a:ea typeface="Inter SemiBold Text SemiBold" pitchFamily="34" charset="-122"/>
                <a:cs typeface="Inter SemiBold Text SemiBold" pitchFamily="34" charset="-120"/>
              </a:rPr>
              <a:t>BT-114</a:t>
            </a:r>
            <a:r>
              <a:rPr lang="en-GB" sz="800" dirty="0">
                <a:solidFill>
                  <a:srgbClr val="5B6890"/>
                </a:solidFill>
                <a:latin typeface="Inter Text" pitchFamily="34" charset="0"/>
                <a:ea typeface="Inter Text" pitchFamily="34" charset="-122"/>
                <a:cs typeface="Inter Text" pitchFamily="34" charset="-120"/>
              </a:rPr>
              <a:t> Rounding amount</a:t>
            </a:r>
          </a:p>
        </p:txBody>
      </p:sp>
      <p:sp>
        <p:nvSpPr>
          <p:cNvPr id="93" name="Pill 93"/>
          <p:cNvSpPr/>
          <p:nvPr/>
        </p:nvSpPr>
        <p:spPr>
          <a:xfrm>
            <a:off x="4773168" y="5768340"/>
            <a:ext cx="1207008" cy="350520"/>
          </a:xfrm>
          <a:prstGeom prst="roundRect">
            <a:avLst>
              <a:gd name="adj" fmla="val 50000"/>
            </a:avLst>
          </a:prstGeom>
          <a:solidFill>
            <a:srgbClr val="E8F6EE"/>
          </a:solidFill>
          <a:ln w="9525">
            <a:solidFill>
              <a:srgbClr val="B7E1C7"/>
            </a:solidFill>
            <a:prstDash val="solid"/>
          </a:ln>
        </p:spPr>
        <p:txBody>
          <a:bodyPr wrap="square" lIns="18288" tIns="18288" rIns="18288" bIns="18288" rtlCol="0" anchor="ctr"/>
          <a:lstStyle/>
          <a:p>
            <a:pPr marL="0" indent="0" algn="ctr">
              <a:buNone/>
            </a:pPr>
            <a:r>
              <a:rPr lang="en-GB" sz="1150" dirty="0">
                <a:solidFill>
                  <a:srgbClr val="1E8A4C"/>
                </a:solidFill>
                <a:latin typeface="Inter SemiBold Text SemiBold" pitchFamily="34" charset="0"/>
                <a:ea typeface="Inter SemiBold Text SemiBold" pitchFamily="34" charset="-122"/>
                <a:cs typeface="Inter SemiBold Text SemiBold" pitchFamily="34" charset="-120"/>
              </a:rPr>
              <a:t>Minor Unit</a:t>
            </a:r>
          </a:p>
          <a:p>
            <a:pPr marL="0" indent="0" algn="ctr">
              <a:buNone/>
            </a:pPr>
            <a:r>
              <a:rPr lang="en-GB" sz="800" dirty="0">
                <a:solidFill>
                  <a:srgbClr val="1E8A4C"/>
                </a:solidFill>
                <a:latin typeface="Inter Text" pitchFamily="34" charset="0"/>
                <a:ea typeface="Inter Text" pitchFamily="34" charset="-122"/>
                <a:cs typeface="Inter Text" pitchFamily="34" charset="-120"/>
              </a:rPr>
              <a:t>rounded once</a:t>
            </a:r>
          </a:p>
        </p:txBody>
      </p:sp>
      <p:sp>
        <p:nvSpPr>
          <p:cNvPr id="94" name="Text 94"/>
          <p:cNvSpPr txBox="1"/>
          <p:nvPr/>
        </p:nvSpPr>
        <p:spPr>
          <a:xfrm>
            <a:off x="5989320" y="5745480"/>
            <a:ext cx="1508760" cy="243840"/>
          </a:xfrm>
          <a:prstGeom prst="rect">
            <a:avLst/>
          </a:prstGeom>
          <a:noFill/>
          <a:ln/>
        </p:spPr>
        <p:txBody>
          <a:bodyPr wrap="square" lIns="0" tIns="0" rIns="0" bIns="0" rtlCol="0" anchor="ctr"/>
          <a:lstStyle/>
          <a:p>
            <a:pPr marL="0" indent="0" algn="r">
              <a:buNone/>
            </a:pPr>
            <a:r>
              <a:rPr lang="en-GB" sz="1300" b="1" dirty="0">
                <a:solidFill>
                  <a:srgbClr val="1E8A4C"/>
                </a:solidFill>
                <a:latin typeface="Consolas" pitchFamily="34" charset="0"/>
                <a:ea typeface="Consolas" pitchFamily="34" charset="-122"/>
                <a:cs typeface="Consolas" pitchFamily="34" charset="-120"/>
              </a:rPr>
              <a:t>± 0</a:t>
            </a:r>
          </a:p>
        </p:txBody>
      </p:sp>
      <p:sp>
        <p:nvSpPr>
          <p:cNvPr id="95" name="Text 95"/>
          <p:cNvSpPr txBox="1"/>
          <p:nvPr/>
        </p:nvSpPr>
        <p:spPr>
          <a:xfrm>
            <a:off x="5577840" y="5981700"/>
            <a:ext cx="1920240" cy="167640"/>
          </a:xfrm>
          <a:prstGeom prst="rect">
            <a:avLst/>
          </a:prstGeom>
          <a:noFill/>
          <a:ln/>
        </p:spPr>
        <p:txBody>
          <a:bodyPr wrap="square" lIns="0" tIns="0" rIns="0" bIns="0" rtlCol="0" anchor="ctr"/>
          <a:lstStyle/>
          <a:p>
            <a:pPr marL="0" indent="0" algn="r">
              <a:buNone/>
            </a:pPr>
            <a:r>
              <a:rPr lang="en-GB" sz="850" dirty="0">
                <a:solidFill>
                  <a:srgbClr val="9AA4C2"/>
                </a:solidFill>
                <a:latin typeface="Inter Text" pitchFamily="34" charset="0"/>
                <a:ea typeface="Inter Text" pitchFamily="34" charset="-122"/>
                <a:cs typeface="Inter Text" pitchFamily="34" charset="-120"/>
              </a:rPr>
              <a:t>BT-114 shows the rounding</a:t>
            </a:r>
          </a:p>
        </p:txBody>
      </p:sp>
      <p:cxnSp>
        <p:nvCxnSpPr>
          <p:cNvPr id="96" name="Connector 96"/>
          <p:cNvCxnSpPr/>
          <p:nvPr/>
        </p:nvCxnSpPr>
        <p:spPr>
          <a:xfrm>
            <a:off x="1303020" y="5678424"/>
            <a:ext cx="0" cy="36576"/>
          </a:xfrm>
          <a:prstGeom prst="line">
            <a:avLst/>
          </a:prstGeom>
          <a:ln w="15875">
            <a:solidFill>
              <a:srgbClr val="9AA4C2"/>
            </a:solidFill>
          </a:ln>
        </p:spPr>
      </p:cxnSp>
      <p:sp>
        <p:nvSpPr>
          <p:cNvPr id="97" name="Text 97"/>
          <p:cNvSpPr txBox="1"/>
          <p:nvPr/>
        </p:nvSpPr>
        <p:spPr>
          <a:xfrm>
            <a:off x="8065008" y="5175504"/>
            <a:ext cx="2514600" cy="274320"/>
          </a:xfrm>
          <a:prstGeom prst="rect">
            <a:avLst/>
          </a:prstGeom>
          <a:noFill/>
          <a:ln/>
        </p:spPr>
        <p:txBody>
          <a:bodyPr wrap="none" lIns="0" tIns="0" rIns="0" bIns="0" rtlCol="0" anchor="ctr"/>
          <a:lstStyle/>
          <a:p>
            <a:pPr marL="0" indent="0" algn="l">
              <a:buNone/>
            </a:pPr>
            <a:r>
              <a:rPr lang="en-GB" sz="1000" b="1" dirty="0">
                <a:solidFill>
                  <a:srgbClr val="F48FB1"/>
                </a:solidFill>
                <a:latin typeface="Inter SemiBold Text SemiBold" pitchFamily="34" charset="0"/>
                <a:ea typeface="Inter SemiBold Text SemiBold" pitchFamily="34" charset="-122"/>
                <a:cs typeface="Inter SemiBold Text SemiBold" pitchFamily="34" charset="-120"/>
              </a:rPr>
              <a:t>BT-115 </a:t>
            </a:r>
            <a:r>
              <a:rPr lang="en-GB" sz="1000" dirty="0">
                <a:solidFill>
                  <a:srgbClr val="9AA4C2"/>
                </a:solidFill>
                <a:latin typeface="Inter Text" pitchFamily="34" charset="0"/>
                <a:ea typeface="Inter Text" pitchFamily="34" charset="-122"/>
                <a:cs typeface="Inter Text" pitchFamily="34" charset="-120"/>
              </a:rPr>
              <a:t>Amount due for payment</a:t>
            </a:r>
          </a:p>
        </p:txBody>
      </p:sp>
      <p:sp>
        <p:nvSpPr>
          <p:cNvPr id="98" name="Text 98"/>
          <p:cNvSpPr txBox="1"/>
          <p:nvPr/>
        </p:nvSpPr>
        <p:spPr>
          <a:xfrm>
            <a:off x="9994392" y="5175504"/>
            <a:ext cx="1188720" cy="274320"/>
          </a:xfrm>
          <a:prstGeom prst="rect">
            <a:avLst/>
          </a:prstGeom>
          <a:noFill/>
          <a:ln/>
        </p:spPr>
        <p:txBody>
          <a:bodyPr wrap="none" lIns="0" tIns="0" rIns="0" bIns="0" rtlCol="0" anchor="ctr"/>
          <a:lstStyle/>
          <a:p>
            <a:pPr marL="0" indent="0" algn="r">
              <a:buNone/>
            </a:pPr>
            <a:r>
              <a:rPr lang="en-GB" sz="1000" dirty="0">
                <a:solidFill>
                  <a:srgbClr val="81C784"/>
                </a:solidFill>
                <a:latin typeface="Inter SemiBold Text SemiBold" pitchFamily="34" charset="0"/>
                <a:ea typeface="Inter SemiBold Text SemiBold" pitchFamily="34" charset="-122"/>
                <a:cs typeface="Inter SemiBold Text SemiBold" pitchFamily="34" charset="-120"/>
              </a:rPr>
              <a:t>Minor Unit</a:t>
            </a:r>
          </a:p>
        </p:txBody>
      </p:sp>
      <p:sp>
        <p:nvSpPr>
          <p:cNvPr id="99" name="Reuse 99"/>
          <p:cNvSpPr/>
          <p:nvPr/>
        </p:nvSpPr>
        <p:spPr>
          <a:xfrm>
            <a:off x="1645920" y="2679192"/>
            <a:ext cx="309067" cy="530351"/>
          </a:xfrm>
          <a:custGeom>
            <a:avLst/>
            <a:gdLst/>
            <a:ahLst/>
            <a:cxnLst/>
            <a:rect l="l" t="t" r="r" b="b"/>
            <a:pathLst>
              <a:path w="309067" h="530351" fill="none">
                <a:moveTo>
                  <a:pt x="0" y="0"/>
                </a:moveTo>
                <a:lnTo>
                  <a:pt x="256032" y="0"/>
                </a:lnTo>
                <a:lnTo>
                  <a:pt x="256032" y="530351"/>
                </a:lnTo>
                <a:lnTo>
                  <a:pt x="309067" y="530351"/>
                </a:lnTo>
              </a:path>
            </a:pathLst>
          </a:custGeom>
          <a:noFill/>
          <a:ln w="15875">
            <a:solidFill>
              <a:srgbClr val="D32F2F"/>
            </a:solidFill>
            <a:round/>
            <a:tailEnd type="triangle" w="sm" len="sm"/>
          </a:ln>
        </p:spPr>
        <p:txBody>
          <a:bodyPr/>
          <a:lstStyle/>
          <a:p>
            <a:endParaRPr lang="en-GB"/>
          </a:p>
        </p:txBody>
      </p:sp>
      <p:sp>
        <p:nvSpPr>
          <p:cNvPr id="100" name="Reuse 100"/>
          <p:cNvSpPr/>
          <p:nvPr/>
        </p:nvSpPr>
        <p:spPr>
          <a:xfrm>
            <a:off x="1645920" y="3172968"/>
            <a:ext cx="309067" cy="530352"/>
          </a:xfrm>
          <a:custGeom>
            <a:avLst/>
            <a:gdLst/>
            <a:ahLst/>
            <a:cxnLst/>
            <a:rect l="l" t="t" r="r" b="b"/>
            <a:pathLst>
              <a:path w="309067" h="530352" fill="none">
                <a:moveTo>
                  <a:pt x="0" y="0"/>
                </a:moveTo>
                <a:lnTo>
                  <a:pt x="210311" y="0"/>
                </a:lnTo>
                <a:lnTo>
                  <a:pt x="210311" y="530352"/>
                </a:lnTo>
                <a:lnTo>
                  <a:pt x="309067" y="530352"/>
                </a:lnTo>
              </a:path>
            </a:pathLst>
          </a:custGeom>
          <a:noFill/>
          <a:ln w="15875">
            <a:solidFill>
              <a:srgbClr val="EF6C00"/>
            </a:solidFill>
            <a:round/>
            <a:tailEnd type="triangle" w="sm" len="sm"/>
          </a:ln>
        </p:spPr>
        <p:txBody>
          <a:bodyPr/>
          <a:lstStyle/>
          <a:p>
            <a:endParaRPr lang="en-GB"/>
          </a:p>
        </p:txBody>
      </p:sp>
      <p:sp>
        <p:nvSpPr>
          <p:cNvPr id="101" name="Reuse 101"/>
          <p:cNvSpPr/>
          <p:nvPr/>
        </p:nvSpPr>
        <p:spPr>
          <a:xfrm>
            <a:off x="1645920" y="3172968"/>
            <a:ext cx="309067" cy="1325880"/>
          </a:xfrm>
          <a:custGeom>
            <a:avLst/>
            <a:gdLst/>
            <a:ahLst/>
            <a:cxnLst/>
            <a:rect l="l" t="t" r="r" b="b"/>
            <a:pathLst>
              <a:path w="309067" h="1325880" fill="none">
                <a:moveTo>
                  <a:pt x="0" y="0"/>
                </a:moveTo>
                <a:lnTo>
                  <a:pt x="210311" y="0"/>
                </a:lnTo>
                <a:lnTo>
                  <a:pt x="210311" y="1325880"/>
                </a:lnTo>
                <a:lnTo>
                  <a:pt x="309067" y="1325880"/>
                </a:lnTo>
              </a:path>
            </a:pathLst>
          </a:custGeom>
          <a:noFill/>
          <a:ln w="15875">
            <a:solidFill>
              <a:srgbClr val="EF6C00"/>
            </a:solidFill>
            <a:round/>
            <a:tailEnd type="triangle" w="sm" len="sm"/>
          </a:ln>
        </p:spPr>
        <p:txBody>
          <a:bodyPr/>
          <a:lstStyle/>
          <a:p>
            <a:endParaRPr lang="en-GB"/>
          </a:p>
        </p:txBody>
      </p:sp>
      <p:sp>
        <p:nvSpPr>
          <p:cNvPr id="102" name="Reuse 102"/>
          <p:cNvSpPr/>
          <p:nvPr/>
        </p:nvSpPr>
        <p:spPr>
          <a:xfrm>
            <a:off x="1645920" y="4462272"/>
            <a:ext cx="309067" cy="530352"/>
          </a:xfrm>
          <a:custGeom>
            <a:avLst/>
            <a:gdLst/>
            <a:ahLst/>
            <a:cxnLst/>
            <a:rect l="l" t="t" r="r" b="b"/>
            <a:pathLst>
              <a:path w="309067" h="530352" fill="none">
                <a:moveTo>
                  <a:pt x="0" y="0"/>
                </a:moveTo>
                <a:lnTo>
                  <a:pt x="164591" y="0"/>
                </a:lnTo>
                <a:lnTo>
                  <a:pt x="164591" y="530352"/>
                </a:lnTo>
                <a:lnTo>
                  <a:pt x="309067" y="530352"/>
                </a:lnTo>
              </a:path>
            </a:pathLst>
          </a:custGeom>
          <a:noFill/>
          <a:ln w="15875">
            <a:solidFill>
              <a:srgbClr val="2E7D32"/>
            </a:solidFill>
            <a:round/>
            <a:tailEnd type="triangle" w="sm" len="sm"/>
          </a:ln>
        </p:spPr>
        <p:txBody>
          <a:bodyPr/>
          <a:lstStyle/>
          <a:p>
            <a:endParaRPr lang="en-GB"/>
          </a:p>
        </p:txBody>
      </p:sp>
      <p:sp>
        <p:nvSpPr>
          <p:cNvPr id="103" name="Reuse 103"/>
          <p:cNvSpPr/>
          <p:nvPr/>
        </p:nvSpPr>
        <p:spPr>
          <a:xfrm>
            <a:off x="1645920" y="4956048"/>
            <a:ext cx="309067" cy="530352"/>
          </a:xfrm>
          <a:custGeom>
            <a:avLst/>
            <a:gdLst/>
            <a:ahLst/>
            <a:cxnLst/>
            <a:rect l="l" t="t" r="r" b="b"/>
            <a:pathLst>
              <a:path w="309067" h="530352" fill="none">
                <a:moveTo>
                  <a:pt x="0" y="0"/>
                </a:moveTo>
                <a:lnTo>
                  <a:pt x="118871" y="0"/>
                </a:lnTo>
                <a:lnTo>
                  <a:pt x="118871" y="530352"/>
                </a:lnTo>
                <a:lnTo>
                  <a:pt x="309067" y="530352"/>
                </a:lnTo>
              </a:path>
            </a:pathLst>
          </a:custGeom>
          <a:noFill/>
          <a:ln w="15875">
            <a:solidFill>
              <a:srgbClr val="1565C0"/>
            </a:solidFill>
            <a:round/>
            <a:tailEnd type="triangle" w="sm" len="sm"/>
          </a:ln>
        </p:spPr>
        <p:txBody>
          <a:bodyPr/>
          <a:lstStyle/>
          <a:p>
            <a:endParaRPr lang="en-GB"/>
          </a:p>
        </p:txBody>
      </p:sp>
      <p:sp>
        <p:nvSpPr>
          <p:cNvPr id="104" name="Reuse 104"/>
          <p:cNvSpPr/>
          <p:nvPr/>
        </p:nvSpPr>
        <p:spPr>
          <a:xfrm>
            <a:off x="1645920" y="5449824"/>
            <a:ext cx="309067" cy="530352"/>
          </a:xfrm>
          <a:custGeom>
            <a:avLst/>
            <a:gdLst/>
            <a:ahLst/>
            <a:cxnLst/>
            <a:rect l="l" t="t" r="r" b="b"/>
            <a:pathLst>
              <a:path w="309067" h="530352" fill="none">
                <a:moveTo>
                  <a:pt x="0" y="0"/>
                </a:moveTo>
                <a:lnTo>
                  <a:pt x="73151" y="0"/>
                </a:lnTo>
                <a:lnTo>
                  <a:pt x="73151" y="530352"/>
                </a:lnTo>
                <a:lnTo>
                  <a:pt x="309067" y="530352"/>
                </a:lnTo>
              </a:path>
            </a:pathLst>
          </a:custGeom>
          <a:noFill/>
          <a:ln w="15875">
            <a:solidFill>
              <a:srgbClr val="6A1B9A"/>
            </a:solidFill>
            <a:round/>
            <a:tailEnd type="triangle" w="sm" len="sm"/>
          </a:ln>
        </p:spPr>
        <p:txBody>
          <a:bodyPr/>
          <a:lstStyle/>
          <a:p>
            <a:endParaRPr lang="en-GB"/>
          </a:p>
        </p:txBody>
      </p:sp>
      <p:sp>
        <p:nvSpPr>
          <p:cNvPr id="105" name="Text 105"/>
          <p:cNvSpPr txBox="1"/>
          <p:nvPr/>
        </p:nvSpPr>
        <p:spPr>
          <a:xfrm>
            <a:off x="8065008" y="2542032"/>
            <a:ext cx="2514600" cy="113843"/>
          </a:xfrm>
          <a:prstGeom prst="rect">
            <a:avLst/>
          </a:prstGeom>
          <a:noFill/>
          <a:ln/>
        </p:spPr>
        <p:txBody>
          <a:bodyPr wrap="none" lIns="0" tIns="0" rIns="0" bIns="0" rtlCol="0" anchor="ctr"/>
          <a:lstStyle/>
          <a:p>
            <a:pPr marL="0" indent="0" algn="l">
              <a:buNone/>
            </a:pPr>
            <a:r>
              <a:rPr lang="en-GB" sz="700" dirty="0">
                <a:solidFill>
                  <a:srgbClr val="FFFFFF"/>
                </a:solidFill>
                <a:latin typeface="Inter SemiBold Text SemiBold" pitchFamily="34" charset="0"/>
                <a:ea typeface="Inter SemiBold Text SemiBold" pitchFamily="34" charset="-122"/>
                <a:cs typeface="Inter SemiBold Text SemiBold" pitchFamily="34" charset="-120"/>
              </a:rPr>
              <a:t>BT-148 </a:t>
            </a:r>
            <a:r>
              <a:rPr lang="en-GB" sz="700" dirty="0">
                <a:solidFill>
                  <a:srgbClr val="9AA4C2"/>
                </a:solidFill>
                <a:latin typeface="Inter Text" pitchFamily="34" charset="0"/>
                <a:ea typeface="Inter Text" pitchFamily="34" charset="-122"/>
                <a:cs typeface="Inter Text" pitchFamily="34" charset="-120"/>
              </a:rPr>
              <a:t>Item gross price</a:t>
            </a:r>
          </a:p>
        </p:txBody>
      </p:sp>
      <p:sp>
        <p:nvSpPr>
          <p:cNvPr id="106" name="Text 106"/>
          <p:cNvSpPr txBox="1"/>
          <p:nvPr/>
        </p:nvSpPr>
        <p:spPr>
          <a:xfrm>
            <a:off x="10515600" y="2542032"/>
            <a:ext cx="667512" cy="113843"/>
          </a:xfrm>
          <a:prstGeom prst="rect">
            <a:avLst/>
          </a:prstGeom>
          <a:noFill/>
          <a:ln/>
        </p:spPr>
        <p:txBody>
          <a:bodyPr wrap="square" lIns="0" tIns="0" rIns="0" bIns="0" rtlCol="0" anchor="ctr"/>
          <a:lstStyle/>
          <a:p>
            <a:pPr marL="0" indent="0" algn="r">
              <a:buNone/>
            </a:pPr>
            <a:r>
              <a:rPr lang="en-GB" sz="700" dirty="0">
                <a:solidFill>
                  <a:srgbClr val="58D6BB"/>
                </a:solidFill>
                <a:latin typeface="Inter SemiBold Text SemiBold" pitchFamily="34" charset="0"/>
                <a:ea typeface="Inter SemiBold Text SemiBold" pitchFamily="34" charset="-122"/>
                <a:cs typeface="Inter SemiBold Text SemiBold" pitchFamily="34" charset="-120"/>
              </a:rPr>
              <a:t>free</a:t>
            </a:r>
          </a:p>
        </p:txBody>
      </p:sp>
      <p:sp>
        <p:nvSpPr>
          <p:cNvPr id="107" name="Text 107"/>
          <p:cNvSpPr txBox="1"/>
          <p:nvPr/>
        </p:nvSpPr>
        <p:spPr>
          <a:xfrm>
            <a:off x="8065008" y="2655875"/>
            <a:ext cx="2514600" cy="113843"/>
          </a:xfrm>
          <a:prstGeom prst="rect">
            <a:avLst/>
          </a:prstGeom>
          <a:noFill/>
          <a:ln/>
        </p:spPr>
        <p:txBody>
          <a:bodyPr wrap="none" lIns="0" tIns="0" rIns="0" bIns="0" rtlCol="0" anchor="ctr"/>
          <a:lstStyle/>
          <a:p>
            <a:pPr marL="0" indent="0" algn="l">
              <a:buNone/>
            </a:pPr>
            <a:r>
              <a:rPr lang="en-GB" sz="700" dirty="0">
                <a:solidFill>
                  <a:srgbClr val="FFFFFF"/>
                </a:solidFill>
                <a:latin typeface="Inter SemiBold Text SemiBold" pitchFamily="34" charset="0"/>
                <a:ea typeface="Inter SemiBold Text SemiBold" pitchFamily="34" charset="-122"/>
                <a:cs typeface="Inter SemiBold Text SemiBold" pitchFamily="34" charset="-120"/>
              </a:rPr>
              <a:t>BT-147 </a:t>
            </a:r>
            <a:r>
              <a:rPr lang="en-GB" sz="700" dirty="0">
                <a:solidFill>
                  <a:srgbClr val="9AA4C2"/>
                </a:solidFill>
                <a:latin typeface="Inter Text" pitchFamily="34" charset="0"/>
                <a:ea typeface="Inter Text" pitchFamily="34" charset="-122"/>
                <a:cs typeface="Inter Text" pitchFamily="34" charset="-120"/>
              </a:rPr>
              <a:t>Item price discount</a:t>
            </a:r>
          </a:p>
        </p:txBody>
      </p:sp>
      <p:sp>
        <p:nvSpPr>
          <p:cNvPr id="108" name="Text 108"/>
          <p:cNvSpPr txBox="1"/>
          <p:nvPr/>
        </p:nvSpPr>
        <p:spPr>
          <a:xfrm>
            <a:off x="10515600" y="2655875"/>
            <a:ext cx="667512" cy="113843"/>
          </a:xfrm>
          <a:prstGeom prst="rect">
            <a:avLst/>
          </a:prstGeom>
          <a:noFill/>
          <a:ln/>
        </p:spPr>
        <p:txBody>
          <a:bodyPr wrap="square" lIns="0" tIns="0" rIns="0" bIns="0" rtlCol="0" anchor="ctr"/>
          <a:lstStyle/>
          <a:p>
            <a:pPr marL="0" indent="0" algn="r">
              <a:buNone/>
            </a:pPr>
            <a:r>
              <a:rPr lang="en-GB" sz="700" dirty="0">
                <a:solidFill>
                  <a:srgbClr val="58D6BB"/>
                </a:solidFill>
                <a:latin typeface="Inter SemiBold Text SemiBold" pitchFamily="34" charset="0"/>
                <a:ea typeface="Inter SemiBold Text SemiBold" pitchFamily="34" charset="-122"/>
                <a:cs typeface="Inter SemiBold Text SemiBold" pitchFamily="34" charset="-120"/>
              </a:rPr>
              <a:t>free</a:t>
            </a:r>
          </a:p>
        </p:txBody>
      </p:sp>
      <p:sp>
        <p:nvSpPr>
          <p:cNvPr id="109" name="Text 109"/>
          <p:cNvSpPr txBox="1"/>
          <p:nvPr/>
        </p:nvSpPr>
        <p:spPr>
          <a:xfrm>
            <a:off x="8065008" y="2769718"/>
            <a:ext cx="2514600" cy="113843"/>
          </a:xfrm>
          <a:prstGeom prst="rect">
            <a:avLst/>
          </a:prstGeom>
          <a:noFill/>
          <a:ln/>
        </p:spPr>
        <p:txBody>
          <a:bodyPr wrap="none" lIns="0" tIns="0" rIns="0" bIns="0" rtlCol="0" anchor="ctr"/>
          <a:lstStyle/>
          <a:p>
            <a:pPr marL="0" indent="0" algn="l">
              <a:buNone/>
            </a:pPr>
            <a:r>
              <a:rPr lang="en-GB" sz="700" b="1" dirty="0">
                <a:solidFill>
                  <a:srgbClr val="FF8A80"/>
                </a:solidFill>
                <a:latin typeface="Inter SemiBold Text SemiBold" pitchFamily="34" charset="0"/>
                <a:ea typeface="Inter SemiBold Text SemiBold" pitchFamily="34" charset="-122"/>
                <a:cs typeface="Inter SemiBold Text SemiBold" pitchFamily="34" charset="-120"/>
              </a:rPr>
              <a:t>BT-146 </a:t>
            </a:r>
            <a:r>
              <a:rPr lang="en-GB" sz="700" dirty="0">
                <a:solidFill>
                  <a:srgbClr val="9AA4C2"/>
                </a:solidFill>
                <a:latin typeface="Inter Text" pitchFamily="34" charset="0"/>
                <a:ea typeface="Inter Text" pitchFamily="34" charset="-122"/>
                <a:cs typeface="Inter Text" pitchFamily="34" charset="-120"/>
              </a:rPr>
              <a:t>Item net price</a:t>
            </a:r>
          </a:p>
        </p:txBody>
      </p:sp>
      <p:sp>
        <p:nvSpPr>
          <p:cNvPr id="110" name="Text 110"/>
          <p:cNvSpPr txBox="1"/>
          <p:nvPr/>
        </p:nvSpPr>
        <p:spPr>
          <a:xfrm>
            <a:off x="10515600" y="2769718"/>
            <a:ext cx="667512" cy="113843"/>
          </a:xfrm>
          <a:prstGeom prst="rect">
            <a:avLst/>
          </a:prstGeom>
          <a:noFill/>
          <a:ln/>
        </p:spPr>
        <p:txBody>
          <a:bodyPr wrap="square" lIns="0" tIns="0" rIns="0" bIns="0" rtlCol="0" anchor="ctr"/>
          <a:lstStyle/>
          <a:p>
            <a:pPr marL="0" indent="0" algn="r">
              <a:buNone/>
            </a:pPr>
            <a:r>
              <a:rPr lang="en-GB" sz="700" dirty="0">
                <a:solidFill>
                  <a:srgbClr val="58D6BB"/>
                </a:solidFill>
                <a:latin typeface="Inter SemiBold Text SemiBold" pitchFamily="34" charset="0"/>
                <a:ea typeface="Inter SemiBold Text SemiBold" pitchFamily="34" charset="-122"/>
                <a:cs typeface="Inter SemiBold Text SemiBold" pitchFamily="34" charset="-120"/>
              </a:rPr>
              <a:t>free</a:t>
            </a:r>
          </a:p>
        </p:txBody>
      </p:sp>
      <p:sp>
        <p:nvSpPr>
          <p:cNvPr id="111" name="Text 111"/>
          <p:cNvSpPr txBox="1"/>
          <p:nvPr/>
        </p:nvSpPr>
        <p:spPr>
          <a:xfrm>
            <a:off x="8065008" y="2883560"/>
            <a:ext cx="2514600" cy="113843"/>
          </a:xfrm>
          <a:prstGeom prst="rect">
            <a:avLst/>
          </a:prstGeom>
          <a:noFill/>
          <a:ln/>
        </p:spPr>
        <p:txBody>
          <a:bodyPr wrap="none" lIns="0" tIns="0" rIns="0" bIns="0" rtlCol="0" anchor="ctr"/>
          <a:lstStyle/>
          <a:p>
            <a:pPr marL="0" indent="0" algn="l">
              <a:buNone/>
            </a:pPr>
            <a:r>
              <a:rPr lang="en-GB" sz="700" dirty="0">
                <a:solidFill>
                  <a:srgbClr val="FFFFFF"/>
                </a:solidFill>
                <a:latin typeface="Inter SemiBold Text SemiBold" pitchFamily="34" charset="0"/>
                <a:ea typeface="Inter SemiBold Text SemiBold" pitchFamily="34" charset="-122"/>
                <a:cs typeface="Inter SemiBold Text SemiBold" pitchFamily="34" charset="-120"/>
              </a:rPr>
              <a:t>BT-129 </a:t>
            </a:r>
            <a:r>
              <a:rPr lang="en-GB" sz="700" dirty="0">
                <a:solidFill>
                  <a:srgbClr val="9AA4C2"/>
                </a:solidFill>
                <a:latin typeface="Inter Text" pitchFamily="34" charset="0"/>
                <a:ea typeface="Inter Text" pitchFamily="34" charset="-122"/>
                <a:cs typeface="Inter Text" pitchFamily="34" charset="-120"/>
              </a:rPr>
              <a:t>Invoiced quantity</a:t>
            </a:r>
          </a:p>
        </p:txBody>
      </p:sp>
      <p:sp>
        <p:nvSpPr>
          <p:cNvPr id="112" name="Text 112"/>
          <p:cNvSpPr txBox="1"/>
          <p:nvPr/>
        </p:nvSpPr>
        <p:spPr>
          <a:xfrm>
            <a:off x="10515600" y="2883560"/>
            <a:ext cx="667512" cy="113843"/>
          </a:xfrm>
          <a:prstGeom prst="rect">
            <a:avLst/>
          </a:prstGeom>
          <a:noFill/>
          <a:ln/>
        </p:spPr>
        <p:txBody>
          <a:bodyPr wrap="square" lIns="0" tIns="0" rIns="0" bIns="0" rtlCol="0" anchor="ctr"/>
          <a:lstStyle/>
          <a:p>
            <a:pPr marL="0" indent="0" algn="r">
              <a:buNone/>
            </a:pPr>
            <a:r>
              <a:rPr lang="en-GB" sz="700" dirty="0">
                <a:solidFill>
                  <a:srgbClr val="58D6BB"/>
                </a:solidFill>
                <a:latin typeface="Inter SemiBold Text SemiBold" pitchFamily="34" charset="0"/>
                <a:ea typeface="Inter SemiBold Text SemiBold" pitchFamily="34" charset="-122"/>
                <a:cs typeface="Inter SemiBold Text SemiBold" pitchFamily="34" charset="-120"/>
              </a:rPr>
              <a:t>free</a:t>
            </a:r>
          </a:p>
        </p:txBody>
      </p:sp>
      <p:sp>
        <p:nvSpPr>
          <p:cNvPr id="113" name="Text 113"/>
          <p:cNvSpPr txBox="1"/>
          <p:nvPr/>
        </p:nvSpPr>
        <p:spPr>
          <a:xfrm>
            <a:off x="8065008" y="2997403"/>
            <a:ext cx="2514600" cy="113843"/>
          </a:xfrm>
          <a:prstGeom prst="rect">
            <a:avLst/>
          </a:prstGeom>
          <a:noFill/>
          <a:ln/>
        </p:spPr>
        <p:txBody>
          <a:bodyPr wrap="none" lIns="0" tIns="0" rIns="0" bIns="0" rtlCol="0" anchor="ctr"/>
          <a:lstStyle/>
          <a:p>
            <a:pPr marL="0" indent="0" algn="l">
              <a:buNone/>
            </a:pPr>
            <a:r>
              <a:rPr lang="en-GB" sz="700" dirty="0">
                <a:solidFill>
                  <a:srgbClr val="FFFFFF"/>
                </a:solidFill>
                <a:latin typeface="Inter SemiBold Text SemiBold" pitchFamily="34" charset="0"/>
                <a:ea typeface="Inter SemiBold Text SemiBold" pitchFamily="34" charset="-122"/>
                <a:cs typeface="Inter SemiBold Text SemiBold" pitchFamily="34" charset="-120"/>
              </a:rPr>
              <a:t>BT-149 </a:t>
            </a:r>
            <a:r>
              <a:rPr lang="en-GB" sz="700" dirty="0">
                <a:solidFill>
                  <a:srgbClr val="9AA4C2"/>
                </a:solidFill>
                <a:latin typeface="Inter Text" pitchFamily="34" charset="0"/>
                <a:ea typeface="Inter Text" pitchFamily="34" charset="-122"/>
                <a:cs typeface="Inter Text" pitchFamily="34" charset="-120"/>
              </a:rPr>
              <a:t>Item price base quantity</a:t>
            </a:r>
          </a:p>
        </p:txBody>
      </p:sp>
      <p:sp>
        <p:nvSpPr>
          <p:cNvPr id="114" name="Text 114"/>
          <p:cNvSpPr txBox="1"/>
          <p:nvPr/>
        </p:nvSpPr>
        <p:spPr>
          <a:xfrm>
            <a:off x="10515600" y="2997403"/>
            <a:ext cx="667512" cy="113843"/>
          </a:xfrm>
          <a:prstGeom prst="rect">
            <a:avLst/>
          </a:prstGeom>
          <a:noFill/>
          <a:ln/>
        </p:spPr>
        <p:txBody>
          <a:bodyPr wrap="square" lIns="0" tIns="0" rIns="0" bIns="0" rtlCol="0" anchor="ctr"/>
          <a:lstStyle/>
          <a:p>
            <a:pPr marL="0" indent="0" algn="r">
              <a:buNone/>
            </a:pPr>
            <a:r>
              <a:rPr lang="en-GB" sz="700" dirty="0">
                <a:solidFill>
                  <a:srgbClr val="58D6BB"/>
                </a:solidFill>
                <a:latin typeface="Inter SemiBold Text SemiBold" pitchFamily="34" charset="0"/>
                <a:ea typeface="Inter SemiBold Text SemiBold" pitchFamily="34" charset="-122"/>
                <a:cs typeface="Inter SemiBold Text SemiBold" pitchFamily="34" charset="-120"/>
              </a:rPr>
              <a:t>free</a:t>
            </a:r>
          </a:p>
        </p:txBody>
      </p:sp>
      <p:sp>
        <p:nvSpPr>
          <p:cNvPr id="115" name="Text 115"/>
          <p:cNvSpPr txBox="1"/>
          <p:nvPr/>
        </p:nvSpPr>
        <p:spPr>
          <a:xfrm>
            <a:off x="8065008" y="3111246"/>
            <a:ext cx="2514600" cy="113843"/>
          </a:xfrm>
          <a:prstGeom prst="rect">
            <a:avLst/>
          </a:prstGeom>
          <a:noFill/>
          <a:ln/>
        </p:spPr>
        <p:txBody>
          <a:bodyPr wrap="none" lIns="0" tIns="0" rIns="0" bIns="0" rtlCol="0" anchor="ctr"/>
          <a:lstStyle/>
          <a:p>
            <a:pPr marL="0" indent="0" algn="l">
              <a:buNone/>
            </a:pPr>
            <a:r>
              <a:rPr lang="en-GB" sz="700" dirty="0">
                <a:solidFill>
                  <a:srgbClr val="FFFFFF"/>
                </a:solidFill>
                <a:latin typeface="Inter SemiBold Text SemiBold" pitchFamily="34" charset="0"/>
                <a:ea typeface="Inter SemiBold Text SemiBold" pitchFamily="34" charset="-122"/>
                <a:cs typeface="Inter SemiBold Text SemiBold" pitchFamily="34" charset="-120"/>
              </a:rPr>
              <a:t>BT-141 </a:t>
            </a:r>
            <a:r>
              <a:rPr lang="en-GB" sz="700" dirty="0">
                <a:solidFill>
                  <a:srgbClr val="9AA4C2"/>
                </a:solidFill>
                <a:latin typeface="Inter Text" pitchFamily="34" charset="0"/>
                <a:ea typeface="Inter Text" pitchFamily="34" charset="-122"/>
                <a:cs typeface="Inter Text" pitchFamily="34" charset="-120"/>
              </a:rPr>
              <a:t>Invoice line charge or tax amount</a:t>
            </a:r>
          </a:p>
        </p:txBody>
      </p:sp>
      <p:sp>
        <p:nvSpPr>
          <p:cNvPr id="116" name="Text 116"/>
          <p:cNvSpPr txBox="1"/>
          <p:nvPr/>
        </p:nvSpPr>
        <p:spPr>
          <a:xfrm>
            <a:off x="10515600" y="3111246"/>
            <a:ext cx="667512" cy="113843"/>
          </a:xfrm>
          <a:prstGeom prst="rect">
            <a:avLst/>
          </a:prstGeom>
          <a:noFill/>
          <a:ln/>
        </p:spPr>
        <p:txBody>
          <a:bodyPr wrap="square" lIns="0" tIns="0" rIns="0" bIns="0" rtlCol="0" anchor="ctr"/>
          <a:lstStyle/>
          <a:p>
            <a:pPr marL="0" indent="0" algn="r">
              <a:buNone/>
            </a:pPr>
            <a:r>
              <a:rPr lang="en-GB" sz="700" dirty="0">
                <a:solidFill>
                  <a:srgbClr val="58D6BB"/>
                </a:solidFill>
                <a:latin typeface="Inter SemiBold Text SemiBold" pitchFamily="34" charset="0"/>
                <a:ea typeface="Inter SemiBold Text SemiBold" pitchFamily="34" charset="-122"/>
                <a:cs typeface="Inter SemiBold Text SemiBold" pitchFamily="34" charset="-120"/>
              </a:rPr>
              <a:t>free</a:t>
            </a:r>
          </a:p>
        </p:txBody>
      </p:sp>
      <p:sp>
        <p:nvSpPr>
          <p:cNvPr id="117" name="Text 117"/>
          <p:cNvSpPr txBox="1"/>
          <p:nvPr/>
        </p:nvSpPr>
        <p:spPr>
          <a:xfrm>
            <a:off x="8065008" y="3225089"/>
            <a:ext cx="2514600" cy="113843"/>
          </a:xfrm>
          <a:prstGeom prst="rect">
            <a:avLst/>
          </a:prstGeom>
          <a:noFill/>
          <a:ln/>
        </p:spPr>
        <p:txBody>
          <a:bodyPr wrap="none" lIns="0" tIns="0" rIns="0" bIns="0" rtlCol="0" anchor="ctr"/>
          <a:lstStyle/>
          <a:p>
            <a:pPr marL="0" indent="0" algn="l">
              <a:buNone/>
            </a:pPr>
            <a:r>
              <a:rPr lang="en-GB" sz="700" dirty="0">
                <a:solidFill>
                  <a:srgbClr val="FFFFFF"/>
                </a:solidFill>
                <a:latin typeface="Inter SemiBold Text SemiBold" pitchFamily="34" charset="0"/>
                <a:ea typeface="Inter SemiBold Text SemiBold" pitchFamily="34" charset="-122"/>
                <a:cs typeface="Inter SemiBold Text SemiBold" pitchFamily="34" charset="-120"/>
              </a:rPr>
              <a:t>BT-136 </a:t>
            </a:r>
            <a:r>
              <a:rPr lang="en-GB" sz="700" dirty="0">
                <a:solidFill>
                  <a:srgbClr val="9AA4C2"/>
                </a:solidFill>
                <a:latin typeface="Inter Text" pitchFamily="34" charset="0"/>
                <a:ea typeface="Inter Text" pitchFamily="34" charset="-122"/>
                <a:cs typeface="Inter Text" pitchFamily="34" charset="-120"/>
              </a:rPr>
              <a:t>Invoice line allowance amount</a:t>
            </a:r>
          </a:p>
        </p:txBody>
      </p:sp>
      <p:sp>
        <p:nvSpPr>
          <p:cNvPr id="118" name="Text 118"/>
          <p:cNvSpPr txBox="1"/>
          <p:nvPr/>
        </p:nvSpPr>
        <p:spPr>
          <a:xfrm>
            <a:off x="10515600" y="3225089"/>
            <a:ext cx="667512" cy="113843"/>
          </a:xfrm>
          <a:prstGeom prst="rect">
            <a:avLst/>
          </a:prstGeom>
          <a:noFill/>
          <a:ln/>
        </p:spPr>
        <p:txBody>
          <a:bodyPr wrap="square" lIns="0" tIns="0" rIns="0" bIns="0" rtlCol="0" anchor="ctr"/>
          <a:lstStyle/>
          <a:p>
            <a:pPr marL="0" indent="0" algn="r">
              <a:buNone/>
            </a:pPr>
            <a:r>
              <a:rPr lang="en-GB" sz="700" dirty="0">
                <a:solidFill>
                  <a:srgbClr val="58D6BB"/>
                </a:solidFill>
                <a:latin typeface="Inter SemiBold Text SemiBold" pitchFamily="34" charset="0"/>
                <a:ea typeface="Inter SemiBold Text SemiBold" pitchFamily="34" charset="-122"/>
                <a:cs typeface="Inter SemiBold Text SemiBold" pitchFamily="34" charset="-120"/>
              </a:rPr>
              <a:t>free</a:t>
            </a:r>
          </a:p>
        </p:txBody>
      </p:sp>
      <p:sp>
        <p:nvSpPr>
          <p:cNvPr id="119" name="Text 119"/>
          <p:cNvSpPr txBox="1"/>
          <p:nvPr/>
        </p:nvSpPr>
        <p:spPr>
          <a:xfrm>
            <a:off x="8065008" y="3338932"/>
            <a:ext cx="2514600" cy="113843"/>
          </a:xfrm>
          <a:prstGeom prst="rect">
            <a:avLst/>
          </a:prstGeom>
          <a:noFill/>
          <a:ln/>
        </p:spPr>
        <p:txBody>
          <a:bodyPr wrap="none" lIns="0" tIns="0" rIns="0" bIns="0" rtlCol="0" anchor="ctr"/>
          <a:lstStyle/>
          <a:p>
            <a:pPr marL="0" indent="0" algn="l">
              <a:buNone/>
            </a:pPr>
            <a:r>
              <a:rPr lang="en-GB" sz="700" b="1" dirty="0">
                <a:solidFill>
                  <a:srgbClr val="FFB74D"/>
                </a:solidFill>
                <a:latin typeface="Inter SemiBold Text SemiBold" pitchFamily="34" charset="0"/>
                <a:ea typeface="Inter SemiBold Text SemiBold" pitchFamily="34" charset="-122"/>
                <a:cs typeface="Inter SemiBold Text SemiBold" pitchFamily="34" charset="-120"/>
              </a:rPr>
              <a:t>BT-131 </a:t>
            </a:r>
            <a:r>
              <a:rPr lang="en-GB" sz="700" dirty="0">
                <a:solidFill>
                  <a:srgbClr val="9AA4C2"/>
                </a:solidFill>
                <a:latin typeface="Inter Text" pitchFamily="34" charset="0"/>
                <a:ea typeface="Inter Text" pitchFamily="34" charset="-122"/>
                <a:cs typeface="Inter Text" pitchFamily="34" charset="-120"/>
              </a:rPr>
              <a:t>Invoice line net amount</a:t>
            </a:r>
          </a:p>
        </p:txBody>
      </p:sp>
      <p:sp>
        <p:nvSpPr>
          <p:cNvPr id="120" name="Text 120"/>
          <p:cNvSpPr txBox="1"/>
          <p:nvPr/>
        </p:nvSpPr>
        <p:spPr>
          <a:xfrm>
            <a:off x="10515600" y="3338932"/>
            <a:ext cx="667512" cy="113843"/>
          </a:xfrm>
          <a:prstGeom prst="rect">
            <a:avLst/>
          </a:prstGeom>
          <a:noFill/>
          <a:ln/>
        </p:spPr>
        <p:txBody>
          <a:bodyPr wrap="square" lIns="0" tIns="0" rIns="0" bIns="0" rtlCol="0" anchor="ctr"/>
          <a:lstStyle/>
          <a:p>
            <a:pPr marL="0" indent="0" algn="r">
              <a:buNone/>
            </a:pPr>
            <a:r>
              <a:rPr lang="en-GB" sz="700" dirty="0">
                <a:solidFill>
                  <a:srgbClr val="58D6BB"/>
                </a:solidFill>
                <a:latin typeface="Inter SemiBold Text SemiBold" pitchFamily="34" charset="0"/>
                <a:ea typeface="Inter SemiBold Text SemiBold" pitchFamily="34" charset="-122"/>
                <a:cs typeface="Inter SemiBold Text SemiBold" pitchFamily="34" charset="-120"/>
              </a:rPr>
              <a:t>free</a:t>
            </a:r>
          </a:p>
        </p:txBody>
      </p:sp>
      <p:sp>
        <p:nvSpPr>
          <p:cNvPr id="121" name="Text 121"/>
          <p:cNvSpPr txBox="1"/>
          <p:nvPr/>
        </p:nvSpPr>
        <p:spPr>
          <a:xfrm>
            <a:off x="8065008" y="3452774"/>
            <a:ext cx="2514600" cy="113843"/>
          </a:xfrm>
          <a:prstGeom prst="rect">
            <a:avLst/>
          </a:prstGeom>
          <a:noFill/>
          <a:ln/>
        </p:spPr>
        <p:txBody>
          <a:bodyPr wrap="none" lIns="0" tIns="0" rIns="0" bIns="0" rtlCol="0" anchor="ctr"/>
          <a:lstStyle/>
          <a:p>
            <a:pPr marL="0" indent="0" algn="l">
              <a:buNone/>
            </a:pPr>
            <a:r>
              <a:rPr lang="en-GB" sz="700" b="1" dirty="0">
                <a:solidFill>
                  <a:srgbClr val="FFE066"/>
                </a:solidFill>
                <a:latin typeface="Inter SemiBold Text SemiBold" pitchFamily="34" charset="0"/>
                <a:ea typeface="Inter SemiBold Text SemiBold" pitchFamily="34" charset="-122"/>
                <a:cs typeface="Inter SemiBold Text SemiBold" pitchFamily="34" charset="-120"/>
              </a:rPr>
              <a:t>BT-106 </a:t>
            </a:r>
            <a:r>
              <a:rPr lang="en-GB" sz="700" dirty="0">
                <a:solidFill>
                  <a:srgbClr val="9AA4C2"/>
                </a:solidFill>
                <a:latin typeface="Inter Text" pitchFamily="34" charset="0"/>
                <a:ea typeface="Inter Text" pitchFamily="34" charset="-122"/>
                <a:cs typeface="Inter Text" pitchFamily="34" charset="-120"/>
              </a:rPr>
              <a:t>Sum of invoice line net amount</a:t>
            </a:r>
          </a:p>
        </p:txBody>
      </p:sp>
      <p:sp>
        <p:nvSpPr>
          <p:cNvPr id="122" name="Text 122"/>
          <p:cNvSpPr txBox="1"/>
          <p:nvPr/>
        </p:nvSpPr>
        <p:spPr>
          <a:xfrm>
            <a:off x="10515600" y="3452774"/>
            <a:ext cx="667512" cy="113843"/>
          </a:xfrm>
          <a:prstGeom prst="rect">
            <a:avLst/>
          </a:prstGeom>
          <a:noFill/>
          <a:ln/>
        </p:spPr>
        <p:txBody>
          <a:bodyPr wrap="square" lIns="0" tIns="0" rIns="0" bIns="0" rtlCol="0" anchor="ctr"/>
          <a:lstStyle/>
          <a:p>
            <a:pPr marL="0" indent="0" algn="r">
              <a:buNone/>
            </a:pPr>
            <a:r>
              <a:rPr lang="en-GB" sz="700" dirty="0">
                <a:solidFill>
                  <a:srgbClr val="58D6BB"/>
                </a:solidFill>
                <a:latin typeface="Inter SemiBold Text SemiBold" pitchFamily="34" charset="0"/>
                <a:ea typeface="Inter SemiBold Text SemiBold" pitchFamily="34" charset="-122"/>
                <a:cs typeface="Inter SemiBold Text SemiBold" pitchFamily="34" charset="-120"/>
              </a:rPr>
              <a:t>free</a:t>
            </a:r>
          </a:p>
        </p:txBody>
      </p:sp>
      <p:sp>
        <p:nvSpPr>
          <p:cNvPr id="123" name="Text 123"/>
          <p:cNvSpPr txBox="1"/>
          <p:nvPr/>
        </p:nvSpPr>
        <p:spPr>
          <a:xfrm>
            <a:off x="8065008" y="3566617"/>
            <a:ext cx="2514600" cy="113843"/>
          </a:xfrm>
          <a:prstGeom prst="rect">
            <a:avLst/>
          </a:prstGeom>
          <a:noFill/>
          <a:ln/>
        </p:spPr>
        <p:txBody>
          <a:bodyPr wrap="none" lIns="0" tIns="0" rIns="0" bIns="0" rtlCol="0" anchor="ctr"/>
          <a:lstStyle/>
          <a:p>
            <a:pPr marL="0" indent="0" algn="l">
              <a:buNone/>
            </a:pPr>
            <a:r>
              <a:rPr lang="en-GB" sz="700" dirty="0">
                <a:solidFill>
                  <a:srgbClr val="FFFFFF"/>
                </a:solidFill>
                <a:latin typeface="Inter SemiBold Text SemiBold" pitchFamily="34" charset="0"/>
                <a:ea typeface="Inter SemiBold Text SemiBold" pitchFamily="34" charset="-122"/>
                <a:cs typeface="Inter SemiBold Text SemiBold" pitchFamily="34" charset="-120"/>
              </a:rPr>
              <a:t>BT-99 </a:t>
            </a:r>
            <a:r>
              <a:rPr lang="en-GB" sz="700" dirty="0">
                <a:solidFill>
                  <a:srgbClr val="9AA4C2"/>
                </a:solidFill>
                <a:latin typeface="Inter Text" pitchFamily="34" charset="0"/>
                <a:ea typeface="Inter Text" pitchFamily="34" charset="-122"/>
                <a:cs typeface="Inter Text" pitchFamily="34" charset="-120"/>
              </a:rPr>
              <a:t>Document level charge or tax amount</a:t>
            </a:r>
          </a:p>
        </p:txBody>
      </p:sp>
      <p:sp>
        <p:nvSpPr>
          <p:cNvPr id="124" name="Text 124"/>
          <p:cNvSpPr txBox="1"/>
          <p:nvPr/>
        </p:nvSpPr>
        <p:spPr>
          <a:xfrm>
            <a:off x="10515600" y="3566617"/>
            <a:ext cx="667512" cy="113843"/>
          </a:xfrm>
          <a:prstGeom prst="rect">
            <a:avLst/>
          </a:prstGeom>
          <a:noFill/>
          <a:ln/>
        </p:spPr>
        <p:txBody>
          <a:bodyPr wrap="square" lIns="0" tIns="0" rIns="0" bIns="0" rtlCol="0" anchor="ctr"/>
          <a:lstStyle/>
          <a:p>
            <a:pPr marL="0" indent="0" algn="r">
              <a:buNone/>
            </a:pPr>
            <a:r>
              <a:rPr lang="en-GB" sz="700" dirty="0">
                <a:solidFill>
                  <a:srgbClr val="58D6BB"/>
                </a:solidFill>
                <a:latin typeface="Inter SemiBold Text SemiBold" pitchFamily="34" charset="0"/>
                <a:ea typeface="Inter SemiBold Text SemiBold" pitchFamily="34" charset="-122"/>
                <a:cs typeface="Inter SemiBold Text SemiBold" pitchFamily="34" charset="-120"/>
              </a:rPr>
              <a:t>free</a:t>
            </a:r>
          </a:p>
        </p:txBody>
      </p:sp>
      <p:sp>
        <p:nvSpPr>
          <p:cNvPr id="125" name="Text 125"/>
          <p:cNvSpPr txBox="1"/>
          <p:nvPr/>
        </p:nvSpPr>
        <p:spPr>
          <a:xfrm>
            <a:off x="8065008" y="3680460"/>
            <a:ext cx="2514600" cy="113843"/>
          </a:xfrm>
          <a:prstGeom prst="rect">
            <a:avLst/>
          </a:prstGeom>
          <a:noFill/>
          <a:ln/>
        </p:spPr>
        <p:txBody>
          <a:bodyPr wrap="none" lIns="0" tIns="0" rIns="0" bIns="0" rtlCol="0" anchor="ctr"/>
          <a:lstStyle/>
          <a:p>
            <a:pPr marL="0" indent="0" algn="l">
              <a:buNone/>
            </a:pPr>
            <a:r>
              <a:rPr lang="en-GB" sz="700" dirty="0">
                <a:solidFill>
                  <a:srgbClr val="FFFFFF"/>
                </a:solidFill>
                <a:latin typeface="Inter SemiBold Text SemiBold" pitchFamily="34" charset="0"/>
                <a:ea typeface="Inter SemiBold Text SemiBold" pitchFamily="34" charset="-122"/>
                <a:cs typeface="Inter SemiBold Text SemiBold" pitchFamily="34" charset="-120"/>
              </a:rPr>
              <a:t>BT-92 </a:t>
            </a:r>
            <a:r>
              <a:rPr lang="en-GB" sz="700" dirty="0">
                <a:solidFill>
                  <a:srgbClr val="9AA4C2"/>
                </a:solidFill>
                <a:latin typeface="Inter Text" pitchFamily="34" charset="0"/>
                <a:ea typeface="Inter Text" pitchFamily="34" charset="-122"/>
                <a:cs typeface="Inter Text" pitchFamily="34" charset="-120"/>
              </a:rPr>
              <a:t>Document level allowance amount</a:t>
            </a:r>
          </a:p>
        </p:txBody>
      </p:sp>
      <p:sp>
        <p:nvSpPr>
          <p:cNvPr id="126" name="Text 126"/>
          <p:cNvSpPr txBox="1"/>
          <p:nvPr/>
        </p:nvSpPr>
        <p:spPr>
          <a:xfrm>
            <a:off x="10515600" y="3680460"/>
            <a:ext cx="667512" cy="113843"/>
          </a:xfrm>
          <a:prstGeom prst="rect">
            <a:avLst/>
          </a:prstGeom>
          <a:noFill/>
          <a:ln/>
        </p:spPr>
        <p:txBody>
          <a:bodyPr wrap="square" lIns="0" tIns="0" rIns="0" bIns="0" rtlCol="0" anchor="ctr"/>
          <a:lstStyle/>
          <a:p>
            <a:pPr marL="0" indent="0" algn="r">
              <a:buNone/>
            </a:pPr>
            <a:r>
              <a:rPr lang="en-GB" sz="700" dirty="0">
                <a:solidFill>
                  <a:srgbClr val="58D6BB"/>
                </a:solidFill>
                <a:latin typeface="Inter SemiBold Text SemiBold" pitchFamily="34" charset="0"/>
                <a:ea typeface="Inter SemiBold Text SemiBold" pitchFamily="34" charset="-122"/>
                <a:cs typeface="Inter SemiBold Text SemiBold" pitchFamily="34" charset="-120"/>
              </a:rPr>
              <a:t>free</a:t>
            </a:r>
          </a:p>
        </p:txBody>
      </p:sp>
      <p:sp>
        <p:nvSpPr>
          <p:cNvPr id="127" name="Text 127"/>
          <p:cNvSpPr txBox="1"/>
          <p:nvPr/>
        </p:nvSpPr>
        <p:spPr>
          <a:xfrm>
            <a:off x="8065008" y="3794303"/>
            <a:ext cx="2514600" cy="113843"/>
          </a:xfrm>
          <a:prstGeom prst="rect">
            <a:avLst/>
          </a:prstGeom>
          <a:noFill/>
          <a:ln/>
        </p:spPr>
        <p:txBody>
          <a:bodyPr wrap="none" lIns="0" tIns="0" rIns="0" bIns="0" rtlCol="0" anchor="ctr"/>
          <a:lstStyle/>
          <a:p>
            <a:pPr marL="0" indent="0" algn="l">
              <a:buNone/>
            </a:pPr>
            <a:r>
              <a:rPr lang="en-GB" sz="700" dirty="0">
                <a:solidFill>
                  <a:srgbClr val="FFFFFF"/>
                </a:solidFill>
                <a:latin typeface="Inter SemiBold Text SemiBold" pitchFamily="34" charset="0"/>
                <a:ea typeface="Inter SemiBold Text SemiBold" pitchFamily="34" charset="-122"/>
                <a:cs typeface="Inter SemiBold Text SemiBold" pitchFamily="34" charset="-120"/>
              </a:rPr>
              <a:t>BT-119 </a:t>
            </a:r>
            <a:r>
              <a:rPr lang="en-GB" sz="700" dirty="0">
                <a:solidFill>
                  <a:srgbClr val="9AA4C2"/>
                </a:solidFill>
                <a:latin typeface="Inter Text" pitchFamily="34" charset="0"/>
                <a:ea typeface="Inter Text" pitchFamily="34" charset="-122"/>
                <a:cs typeface="Inter Text" pitchFamily="34" charset="-120"/>
              </a:rPr>
              <a:t>VAT category rate (law)</a:t>
            </a:r>
          </a:p>
        </p:txBody>
      </p:sp>
      <p:sp>
        <p:nvSpPr>
          <p:cNvPr id="128" name="Text 128"/>
          <p:cNvSpPr txBox="1"/>
          <p:nvPr/>
        </p:nvSpPr>
        <p:spPr>
          <a:xfrm>
            <a:off x="10515600" y="3794303"/>
            <a:ext cx="667512" cy="113843"/>
          </a:xfrm>
          <a:prstGeom prst="rect">
            <a:avLst/>
          </a:prstGeom>
          <a:noFill/>
          <a:ln/>
        </p:spPr>
        <p:txBody>
          <a:bodyPr wrap="square" lIns="0" tIns="0" rIns="0" bIns="0" rtlCol="0" anchor="ctr"/>
          <a:lstStyle/>
          <a:p>
            <a:pPr marL="0" indent="0" algn="r">
              <a:buNone/>
            </a:pPr>
            <a:r>
              <a:rPr lang="en-GB" sz="700" dirty="0">
                <a:solidFill>
                  <a:srgbClr val="FFFFFF"/>
                </a:solidFill>
                <a:latin typeface="Inter SemiBold Text SemiBold" pitchFamily="34" charset="0"/>
                <a:ea typeface="Inter SemiBold Text SemiBold" pitchFamily="34" charset="-122"/>
                <a:cs typeface="Inter SemiBold Text SemiBold" pitchFamily="34" charset="-120"/>
              </a:rPr>
              <a:t>2 dp</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Folie 33">
    <p:bg>
      <p:bgPr>
        <a:solidFill>
          <a:srgbClr val="F4F6FB"/>
        </a:solidFill>
        <a:effectLst/>
      </p:bgPr>
    </p:bg>
    <p:spTree>
      <p:nvGrpSpPr>
        <p:cNvPr id="1" name=""/>
        <p:cNvGrpSpPr/>
        <p:nvPr/>
      </p:nvGrpSpPr>
      <p:grpSpPr>
        <a:xfrm>
          <a:off x="0" y="0"/>
          <a:ext cx="0" cy="0"/>
          <a:chOff x="0" y="0"/>
          <a:chExt cx="0" cy="0"/>
        </a:xfrm>
      </p:grpSpPr>
      <p:sp>
        <p:nvSpPr>
          <p:cNvPr id="3" name="Header 3"/>
          <p:cNvSpPr txBox="1"/>
          <p:nvPr/>
        </p:nvSpPr>
        <p:spPr>
          <a:xfrm>
            <a:off x="822960" y="384048"/>
            <a:ext cx="7315200" cy="274320"/>
          </a:xfrm>
          <a:prstGeom prst="rect">
            <a:avLst/>
          </a:prstGeom>
          <a:noFill/>
          <a:ln/>
        </p:spPr>
        <p:txBody>
          <a:bodyPr wrap="square" lIns="0" tIns="0" rIns="0" bIns="0" rtlCol="0" anchor="ctr"/>
          <a:lstStyle/>
          <a:p>
            <a:pPr marL="0" indent="0" algn="l">
              <a:buNone/>
            </a:pPr>
            <a:r>
              <a:rPr lang="en-GB" sz="950" spc="100" dirty="0">
                <a:solidFill>
                  <a:srgbClr val="5B6890"/>
                </a:solidFill>
                <a:latin typeface="Inter Medium Text Medium" pitchFamily="34" charset="0"/>
                <a:ea typeface="Inter Medium Text Medium" pitchFamily="34" charset="-122"/>
                <a:cs typeface="Inter Medium Text Medium" pitchFamily="34" charset="-120"/>
              </a:rPr>
              <a:t>CEN/TC 434 WG1</a:t>
            </a:r>
            <a:r>
              <a:rPr lang="en-GB" sz="950" spc="100" dirty="0">
                <a:solidFill>
                  <a:srgbClr val="C2CADE"/>
                </a:solidFill>
                <a:latin typeface="Inter Text" pitchFamily="34" charset="0"/>
                <a:ea typeface="Inter Text" pitchFamily="34" charset="-122"/>
                <a:cs typeface="Inter Text" pitchFamily="34" charset="-120"/>
              </a:rPr>
              <a:t>   ·   </a:t>
            </a:r>
            <a:r>
              <a:rPr lang="en-GB" sz="950" spc="100" dirty="0">
                <a:solidFill>
                  <a:srgbClr val="9AA4C2"/>
                </a:solidFill>
                <a:latin typeface="Inter Text" pitchFamily="34" charset="0"/>
                <a:ea typeface="Inter Text" pitchFamily="34" charset="-122"/>
                <a:cs typeface="Inter Text" pitchFamily="34" charset="-120"/>
              </a:rPr>
              <a:t>EN 16931-1:2026 amendment · Gross prices and rounding</a:t>
            </a:r>
          </a:p>
        </p:txBody>
      </p:sp>
      <p:sp>
        <p:nvSpPr>
          <p:cNvPr id="4" name="SectionLabel 4"/>
          <p:cNvSpPr txBox="1"/>
          <p:nvPr/>
        </p:nvSpPr>
        <p:spPr>
          <a:xfrm>
            <a:off x="822960" y="868680"/>
            <a:ext cx="8229600" cy="274320"/>
          </a:xfrm>
          <a:prstGeom prst="rect">
            <a:avLst/>
          </a:prstGeom>
          <a:noFill/>
          <a:ln/>
        </p:spPr>
        <p:txBody>
          <a:bodyPr wrap="square" lIns="0" tIns="0" rIns="0" bIns="0" rtlCol="0" anchor="ctr"/>
          <a:lstStyle/>
          <a:p>
            <a:pPr marL="0" indent="0" algn="l">
              <a:buNone/>
            </a:pPr>
            <a:r>
              <a:rPr lang="en-GB" sz="1100" spc="300" dirty="0">
                <a:solidFill>
                  <a:srgbClr val="19C3C8"/>
                </a:solidFill>
                <a:latin typeface="Inter SemiBold Text SemiBold" pitchFamily="34" charset="0"/>
                <a:ea typeface="Inter SemiBold Text SemiBold" pitchFamily="34" charset="-122"/>
                <a:cs typeface="Inter SemiBold Text SemiBold" pitchFamily="34" charset="-120"/>
              </a:rPr>
              <a:t>WORST CASE · PROPOSED AMENDMENT </a:t>
            </a:r>
            <a:r>
              <a:rPr lang="en-GB" sz="1100" spc="300" dirty="0">
                <a:solidFill>
                  <a:srgbClr val="19C3C8"/>
                </a:solidFill>
                <a:latin typeface="Inter SemiBold Text SemiBold" pitchFamily="34" charset="0"/>
                <a:ea typeface="Inter SemiBold Text SemiBold" pitchFamily="34" charset="-122"/>
                <a:cs typeface="Inter SemiBold Text SemiBold" pitchFamily="34" charset="-120"/>
                <a:hlinkClick r:id="rId6">
                  <a:extLst>
                    <a:ext uri="{A12FA001-AC4F-418D-AE19-62706E023703}">
                      <ahyp:hlinkClr xmlns:ahyp="http://schemas.microsoft.com/office/drawing/2018/hyperlinkcolor" val="tx"/>
                    </a:ext>
                  </a:extLst>
                </a:hlinkClick>
              </a:rPr>
              <a:t>(#163)</a:t>
            </a:r>
          </a:p>
        </p:txBody>
      </p:sp>
      <p:sp>
        <p:nvSpPr>
          <p:cNvPr id="5" name="Title 5"/>
          <p:cNvSpPr txBox="1"/>
          <p:nvPr/>
        </p:nvSpPr>
        <p:spPr>
          <a:xfrm>
            <a:off x="804672" y="1115568"/>
            <a:ext cx="10424160" cy="822960"/>
          </a:xfrm>
          <a:prstGeom prst="rect">
            <a:avLst/>
          </a:prstGeom>
          <a:noFill/>
          <a:ln/>
        </p:spPr>
        <p:txBody>
          <a:bodyPr wrap="square" lIns="0" tIns="0" rIns="0" bIns="0" rtlCol="0" anchor="t"/>
          <a:lstStyle/>
          <a:p>
            <a:pPr marL="0" indent="0" algn="l">
              <a:buNone/>
            </a:pPr>
            <a:r>
              <a:rPr lang="en-GB" sz="3800" b="1" dirty="0">
                <a:solidFill>
                  <a:srgbClr val="1A2B5E"/>
                </a:solidFill>
                <a:latin typeface="Inter Text" pitchFamily="34" charset="0"/>
                <a:ea typeface="Inter Text" pitchFamily="34" charset="-122"/>
                <a:cs typeface="Inter Text" pitchFamily="34" charset="-120"/>
              </a:rPr>
              <a:t>How large does the deviation get?</a:t>
            </a:r>
          </a:p>
        </p:txBody>
      </p:sp>
      <p:sp>
        <p:nvSpPr>
          <p:cNvPr id="6" name="Speaker 6">
            <a:hlinkClick r:id="rId3"/>
          </p:cNvPr>
          <p:cNvSpPr txBox="1"/>
          <p:nvPr/>
        </p:nvSpPr>
        <p:spPr>
          <a:xfrm>
            <a:off x="7680960" y="6514592"/>
            <a:ext cx="3154680" cy="292608"/>
          </a:xfrm>
          <a:prstGeom prst="rect">
            <a:avLst/>
          </a:prstGeom>
          <a:noFill/>
          <a:ln/>
        </p:spPr>
        <p:txBody>
          <a:bodyPr wrap="square" lIns="0" tIns="0" rIns="0" bIns="0" rtlCol="0" anchor="ctr"/>
          <a:lstStyle/>
          <a:p>
            <a:pPr marL="0" indent="0" algn="r">
              <a:buNone/>
            </a:pPr>
            <a:r>
              <a:rPr lang="en-GB" sz="1000" spc="100" dirty="0">
                <a:solidFill>
                  <a:srgbClr val="9AA4C2"/>
                </a:solidFill>
                <a:latin typeface="Inter Medium Text Medium" pitchFamily="34" charset="0"/>
                <a:ea typeface="Inter Medium Text Medium" pitchFamily="34" charset="-122"/>
                <a:cs typeface="Inter Medium Text Medium" pitchFamily="34" charset="-120"/>
              </a:rPr>
              <a:t>© Svante Schubert</a:t>
            </a:r>
          </a:p>
        </p:txBody>
      </p:sp>
      <p:sp>
        <p:nvSpPr>
          <p:cNvPr id="7" name="PageNum 7"/>
          <p:cNvSpPr txBox="1"/>
          <p:nvPr/>
        </p:nvSpPr>
        <p:spPr>
          <a:xfrm>
            <a:off x="10908792" y="6514592"/>
            <a:ext cx="822960" cy="292608"/>
          </a:xfrm>
          <a:prstGeom prst="rect">
            <a:avLst/>
          </a:prstGeom>
          <a:noFill/>
          <a:ln/>
        </p:spPr>
        <p:txBody>
          <a:bodyPr wrap="square" lIns="0" tIns="0" rIns="0" bIns="0" rtlCol="0" anchor="ctr"/>
          <a:lstStyle/>
          <a:p>
            <a:pPr marL="0" indent="0" algn="r">
              <a:buNone/>
            </a:pPr>
            <a:fld id="{B4244B92-B2BD-4779-B150-313396024C5D}" type="slidenum">
              <a:rPr lang="en-GB" sz="1000" spc="200" dirty="0">
                <a:solidFill>
                  <a:srgbClr val="5B6890"/>
                </a:solidFill>
                <a:latin typeface="Inter SemiBold Text SemiBold" pitchFamily="34" charset="0"/>
                <a:ea typeface="Inter SemiBold Text SemiBold" pitchFamily="34" charset="-122"/>
                <a:cs typeface="Inter SemiBold Text SemiBold" pitchFamily="34" charset="-120"/>
              </a:rPr>
              <a:t>16</a:t>
            </a:fld>
            <a:endParaRPr lang="en-GB" sz="1000" spc="200" dirty="0">
              <a:solidFill>
                <a:srgbClr val="5B6890"/>
              </a:solidFill>
              <a:latin typeface="Inter SemiBold Text SemiBold" pitchFamily="34" charset="0"/>
              <a:ea typeface="Inter SemiBold Text SemiBold" pitchFamily="34" charset="-122"/>
              <a:cs typeface="Inter SemiBold Text SemiBold" pitchFamily="34" charset="-120"/>
            </a:endParaRPr>
          </a:p>
        </p:txBody>
      </p:sp>
      <p:sp>
        <p:nvSpPr>
          <p:cNvPr id="8" name="Tagline 8"/>
          <p:cNvSpPr txBox="1"/>
          <p:nvPr/>
        </p:nvSpPr>
        <p:spPr>
          <a:xfrm>
            <a:off x="822960" y="1865376"/>
            <a:ext cx="10424160" cy="320040"/>
          </a:xfrm>
          <a:prstGeom prst="rect">
            <a:avLst/>
          </a:prstGeom>
          <a:noFill/>
          <a:ln/>
        </p:spPr>
        <p:txBody>
          <a:bodyPr wrap="square" lIns="0" tIns="0" rIns="0" bIns="0" rtlCol="0" anchor="ctr"/>
          <a:lstStyle/>
          <a:p>
            <a:pPr marL="0" indent="0" algn="l">
              <a:buNone/>
            </a:pPr>
            <a:r>
              <a:rPr lang="en-GB" sz="1300" dirty="0">
                <a:solidFill>
                  <a:srgbClr val="5B6890"/>
                </a:solidFill>
                <a:latin typeface="Inter Text" pitchFamily="34" charset="0"/>
                <a:ea typeface="Inter Text" pitchFamily="34" charset="-122"/>
                <a:cs typeface="Inter Text" pitchFamily="34" charset="-120"/>
              </a:rPr>
              <a:t>No factor: without intermediate rounding it stays at ± 0 — for any quantity and any number of lines.</a:t>
            </a:r>
          </a:p>
        </p:txBody>
      </p:sp>
      <p:sp>
        <p:nvSpPr>
          <p:cNvPr id="9" name="Card 9"/>
          <p:cNvSpPr/>
          <p:nvPr/>
        </p:nvSpPr>
        <p:spPr>
          <a:xfrm>
            <a:off x="822960" y="2331720"/>
            <a:ext cx="5166360" cy="1783080"/>
          </a:xfrm>
          <a:prstGeom prst="roundRect">
            <a:avLst>
              <a:gd name="adj" fmla="val 4102"/>
            </a:avLst>
          </a:prstGeom>
          <a:solidFill>
            <a:srgbClr val="FFFFFF"/>
          </a:solidFill>
          <a:ln w="12700">
            <a:solidFill>
              <a:srgbClr val="E2E7F2"/>
            </a:solidFill>
            <a:prstDash val="solid"/>
          </a:ln>
          <a:effectLst>
            <a:outerShdw blurRad="101600" dist="38100" dir="5400000" algn="bl" rotWithShape="0">
              <a:srgbClr val="0A1230">
                <a:alpha val="8000"/>
              </a:srgbClr>
            </a:outerShdw>
          </a:effectLst>
        </p:spPr>
        <p:txBody>
          <a:bodyPr/>
          <a:lstStyle/>
          <a:p>
            <a:endParaRPr lang="en-GB"/>
          </a:p>
        </p:txBody>
      </p:sp>
      <p:sp>
        <p:nvSpPr>
          <p:cNvPr id="10" name="IconCircle 10"/>
          <p:cNvSpPr/>
          <p:nvPr/>
        </p:nvSpPr>
        <p:spPr>
          <a:xfrm>
            <a:off x="1060704" y="2423160"/>
            <a:ext cx="402336" cy="402336"/>
          </a:xfrm>
          <a:prstGeom prst="ellipse">
            <a:avLst/>
          </a:prstGeom>
          <a:solidFill>
            <a:srgbClr val="C2CADE"/>
          </a:solidFill>
          <a:ln>
            <a:noFill/>
          </a:ln>
          <a:effectLst>
            <a:outerShdw blurRad="88900" dist="38100" dir="5400000" algn="bl" rotWithShape="0">
              <a:srgbClr val="0A1230">
                <a:alpha val="18000"/>
              </a:srgbClr>
            </a:outerShdw>
          </a:effectLst>
        </p:spPr>
        <p:txBody>
          <a:bodyPr/>
          <a:lstStyle/>
          <a:p>
            <a:endParaRPr lang="en-GB"/>
          </a:p>
        </p:txBody>
      </p:sp>
      <p:pic>
        <p:nvPicPr>
          <p:cNvPr id="11" name="Icon 11"/>
          <p:cNvPicPr>
            <a:picLocks noChangeAspect="1"/>
          </p:cNvPicPr>
          <p:nvPr/>
        </p:nvPicPr>
        <p:blipFill>
          <a:blip r:embed="rId4"/>
          <a:stretch>
            <a:fillRect/>
          </a:stretch>
        </p:blipFill>
        <p:spPr>
          <a:xfrm>
            <a:off x="1171346" y="2533802"/>
            <a:ext cx="181051" cy="181051"/>
          </a:xfrm>
          <a:prstGeom prst="rect">
            <a:avLst/>
          </a:prstGeom>
        </p:spPr>
      </p:pic>
      <p:sp>
        <p:nvSpPr>
          <p:cNvPr id="12" name="Text 12"/>
          <p:cNvSpPr txBox="1"/>
          <p:nvPr/>
        </p:nvSpPr>
        <p:spPr>
          <a:xfrm>
            <a:off x="1600200" y="2404872"/>
            <a:ext cx="4206240" cy="438912"/>
          </a:xfrm>
          <a:prstGeom prst="rect">
            <a:avLst/>
          </a:prstGeom>
          <a:noFill/>
          <a:ln/>
        </p:spPr>
        <p:txBody>
          <a:bodyPr wrap="square" lIns="0" tIns="0" rIns="0" bIns="0" rtlCol="0" anchor="ctr"/>
          <a:lstStyle/>
          <a:p>
            <a:pPr marL="0" indent="0" algn="l">
              <a:buNone/>
            </a:pPr>
            <a:r>
              <a:rPr lang="en-GB" sz="1400" dirty="0">
                <a:solidFill>
                  <a:srgbClr val="1A2B5E"/>
                </a:solidFill>
                <a:latin typeface="Inter SemiBold Text SemiBold" pitchFamily="34" charset="0"/>
                <a:ea typeface="Inter SemiBold Text SemiBold" pitchFamily="34" charset="-122"/>
                <a:cs typeface="Inter SemiBold Text SemiBold" pitchFamily="34" charset="-120"/>
              </a:rPr>
              <a:t>Factor 1 · price rounding × quantity Q</a:t>
            </a:r>
          </a:p>
        </p:txBody>
      </p:sp>
      <p:sp>
        <p:nvSpPr>
          <p:cNvPr id="13" name="Text 13"/>
          <p:cNvSpPr txBox="1"/>
          <p:nvPr/>
        </p:nvSpPr>
        <p:spPr>
          <a:xfrm>
            <a:off x="1097280" y="2926080"/>
            <a:ext cx="4663440" cy="768096"/>
          </a:xfrm>
          <a:prstGeom prst="rect">
            <a:avLst/>
          </a:prstGeom>
          <a:noFill/>
          <a:ln/>
        </p:spPr>
        <p:txBody>
          <a:bodyPr wrap="square" lIns="0" tIns="0" rIns="0" bIns="0" rtlCol="0" anchor="t"/>
          <a:lstStyle/>
          <a:p>
            <a:pPr marL="0" indent="0" algn="l">
              <a:lnSpc>
                <a:spcPct val="104000"/>
              </a:lnSpc>
              <a:buNone/>
            </a:pPr>
            <a:r>
              <a:rPr lang="en-GB" sz="1050" b="1" dirty="0">
                <a:solidFill>
                  <a:srgbClr val="D32F2F"/>
                </a:solidFill>
                <a:latin typeface="Inter SemiBold Text SemiBold" pitchFamily="34" charset="0"/>
                <a:ea typeface="Inter SemiBold Text SemiBold" pitchFamily="34" charset="-122"/>
                <a:cs typeface="Inter SemiBold Text SemiBold" pitchFamily="34" charset="-120"/>
              </a:rPr>
              <a:t>BT-146</a:t>
            </a:r>
            <a:r>
              <a:rPr lang="en-GB" sz="1050" dirty="0">
                <a:solidFill>
                  <a:srgbClr val="D32F2F"/>
                </a:solidFill>
                <a:latin typeface="Inter Text" pitchFamily="34" charset="0"/>
                <a:ea typeface="Inter Text" pitchFamily="34" charset="-122"/>
                <a:cs typeface="Inter Text" pitchFamily="34" charset="-120"/>
              </a:rPr>
              <a:t> Item net price</a:t>
            </a:r>
            <a:r>
              <a:rPr lang="en-GB" sz="1050" dirty="0">
                <a:solidFill>
                  <a:srgbClr val="5B6890"/>
                </a:solidFill>
                <a:latin typeface="Inter Text" pitchFamily="34" charset="0"/>
                <a:ea typeface="Inter Text" pitchFamily="34" charset="-122"/>
                <a:cs typeface="Inter Text" pitchFamily="34" charset="-120"/>
              </a:rPr>
              <a:t> and </a:t>
            </a:r>
            <a:r>
              <a:rPr lang="en-GB" sz="1050" b="1" dirty="0">
                <a:solidFill>
                  <a:srgbClr val="EF6C00"/>
                </a:solidFill>
                <a:latin typeface="Inter SemiBold Text SemiBold" pitchFamily="34" charset="0"/>
                <a:ea typeface="Inter SemiBold Text SemiBold" pitchFamily="34" charset="-122"/>
                <a:cs typeface="Inter SemiBold Text SemiBold" pitchFamily="34" charset="-120"/>
              </a:rPr>
              <a:t>BT-131</a:t>
            </a:r>
            <a:r>
              <a:rPr lang="en-GB" sz="1050" dirty="0">
                <a:solidFill>
                  <a:srgbClr val="EF6C00"/>
                </a:solidFill>
                <a:latin typeface="Inter Text" pitchFamily="34" charset="0"/>
                <a:ea typeface="Inter Text" pitchFamily="34" charset="-122"/>
                <a:cs typeface="Inter Text" pitchFamily="34" charset="-120"/>
              </a:rPr>
              <a:t> Invoice line net amount</a:t>
            </a:r>
            <a:r>
              <a:rPr lang="en-GB" sz="1050" dirty="0">
                <a:solidFill>
                  <a:srgbClr val="5B6890"/>
                </a:solidFill>
                <a:latin typeface="Inter Text" pitchFamily="34" charset="0"/>
                <a:ea typeface="Inter Text" pitchFamily="34" charset="-122"/>
                <a:cs typeface="Inter Text" pitchFamily="34" charset="-120"/>
              </a:rPr>
              <a:t> stay exact — the quantity magnifies no error.</a:t>
            </a:r>
          </a:p>
        </p:txBody>
      </p:sp>
      <p:sp>
        <p:nvSpPr>
          <p:cNvPr id="14" name="Pill 14"/>
          <p:cNvSpPr/>
          <p:nvPr/>
        </p:nvSpPr>
        <p:spPr>
          <a:xfrm>
            <a:off x="1097280" y="3712464"/>
            <a:ext cx="2377440" cy="310896"/>
          </a:xfrm>
          <a:prstGeom prst="roundRect">
            <a:avLst>
              <a:gd name="adj" fmla="val 50000"/>
            </a:avLst>
          </a:prstGeom>
          <a:solidFill>
            <a:srgbClr val="E8F6EE"/>
          </a:solidFill>
          <a:ln w="9525">
            <a:solidFill>
              <a:srgbClr val="B7E1C7"/>
            </a:solidFill>
            <a:prstDash val="solid"/>
          </a:ln>
        </p:spPr>
        <p:txBody>
          <a:bodyPr wrap="square" lIns="36576" tIns="36576" rIns="36576" bIns="36576" rtlCol="0" anchor="ctr"/>
          <a:lstStyle/>
          <a:p>
            <a:pPr marL="0" indent="0" algn="ctr">
              <a:buNone/>
            </a:pPr>
            <a:r>
              <a:rPr lang="en-GB" sz="1150" b="1" dirty="0">
                <a:solidFill>
                  <a:srgbClr val="1E8A4C"/>
                </a:solidFill>
                <a:latin typeface="Consolas" pitchFamily="34" charset="0"/>
                <a:ea typeface="Consolas" pitchFamily="34" charset="-122"/>
                <a:cs typeface="Consolas" pitchFamily="34" charset="-120"/>
              </a:rPr>
              <a:t>none</a:t>
            </a:r>
          </a:p>
        </p:txBody>
      </p:sp>
      <p:sp>
        <p:nvSpPr>
          <p:cNvPr id="15" name="Card 15"/>
          <p:cNvSpPr/>
          <p:nvPr/>
        </p:nvSpPr>
        <p:spPr>
          <a:xfrm>
            <a:off x="6199632" y="2331720"/>
            <a:ext cx="5166360" cy="1783080"/>
          </a:xfrm>
          <a:prstGeom prst="roundRect">
            <a:avLst>
              <a:gd name="adj" fmla="val 4102"/>
            </a:avLst>
          </a:prstGeom>
          <a:solidFill>
            <a:srgbClr val="FFFFFF"/>
          </a:solidFill>
          <a:ln w="12700">
            <a:solidFill>
              <a:srgbClr val="E2E7F2"/>
            </a:solidFill>
            <a:prstDash val="solid"/>
          </a:ln>
          <a:effectLst>
            <a:outerShdw blurRad="101600" dist="38100" dir="5400000" algn="bl" rotWithShape="0">
              <a:srgbClr val="0A1230">
                <a:alpha val="8000"/>
              </a:srgbClr>
            </a:outerShdw>
          </a:effectLst>
        </p:spPr>
        <p:txBody>
          <a:bodyPr/>
          <a:lstStyle/>
          <a:p>
            <a:endParaRPr lang="en-GB"/>
          </a:p>
        </p:txBody>
      </p:sp>
      <p:sp>
        <p:nvSpPr>
          <p:cNvPr id="16" name="IconCircle 16"/>
          <p:cNvSpPr/>
          <p:nvPr/>
        </p:nvSpPr>
        <p:spPr>
          <a:xfrm>
            <a:off x="6437376" y="2423160"/>
            <a:ext cx="402336" cy="402336"/>
          </a:xfrm>
          <a:prstGeom prst="ellipse">
            <a:avLst/>
          </a:prstGeom>
          <a:solidFill>
            <a:srgbClr val="C2CADE"/>
          </a:solidFill>
          <a:ln>
            <a:noFill/>
          </a:ln>
          <a:effectLst>
            <a:outerShdw blurRad="88900" dist="38100" dir="5400000" algn="bl" rotWithShape="0">
              <a:srgbClr val="0A1230">
                <a:alpha val="18000"/>
              </a:srgbClr>
            </a:outerShdw>
          </a:effectLst>
        </p:spPr>
        <p:txBody>
          <a:bodyPr/>
          <a:lstStyle/>
          <a:p>
            <a:endParaRPr lang="en-GB"/>
          </a:p>
        </p:txBody>
      </p:sp>
      <p:pic>
        <p:nvPicPr>
          <p:cNvPr id="17" name="Icon 17"/>
          <p:cNvPicPr>
            <a:picLocks noChangeAspect="1"/>
          </p:cNvPicPr>
          <p:nvPr/>
        </p:nvPicPr>
        <p:blipFill>
          <a:blip r:embed="rId5"/>
          <a:stretch>
            <a:fillRect/>
          </a:stretch>
        </p:blipFill>
        <p:spPr>
          <a:xfrm>
            <a:off x="6548018" y="2533802"/>
            <a:ext cx="181051" cy="181051"/>
          </a:xfrm>
          <a:prstGeom prst="rect">
            <a:avLst/>
          </a:prstGeom>
        </p:spPr>
      </p:pic>
      <p:sp>
        <p:nvSpPr>
          <p:cNvPr id="18" name="Text 18"/>
          <p:cNvSpPr txBox="1"/>
          <p:nvPr/>
        </p:nvSpPr>
        <p:spPr>
          <a:xfrm>
            <a:off x="6976872" y="2404872"/>
            <a:ext cx="4206240" cy="438912"/>
          </a:xfrm>
          <a:prstGeom prst="rect">
            <a:avLst/>
          </a:prstGeom>
          <a:noFill/>
          <a:ln/>
        </p:spPr>
        <p:txBody>
          <a:bodyPr wrap="square" lIns="0" tIns="0" rIns="0" bIns="0" rtlCol="0" anchor="ctr"/>
          <a:lstStyle/>
          <a:p>
            <a:pPr marL="0" indent="0" algn="l">
              <a:buNone/>
            </a:pPr>
            <a:r>
              <a:rPr lang="en-GB" sz="1400" dirty="0">
                <a:solidFill>
                  <a:srgbClr val="1A2B5E"/>
                </a:solidFill>
                <a:latin typeface="Inter SemiBold Text SemiBold" pitchFamily="34" charset="0"/>
                <a:ea typeface="Inter SemiBold Text SemiBold" pitchFamily="34" charset="-122"/>
                <a:cs typeface="Inter SemiBold Text SemiBold" pitchFamily="34" charset="-120"/>
              </a:rPr>
              <a:t>Factor 2 · number of lines n</a:t>
            </a:r>
          </a:p>
        </p:txBody>
      </p:sp>
      <p:sp>
        <p:nvSpPr>
          <p:cNvPr id="19" name="Text 19"/>
          <p:cNvSpPr txBox="1"/>
          <p:nvPr/>
        </p:nvSpPr>
        <p:spPr>
          <a:xfrm>
            <a:off x="6473952" y="2926080"/>
            <a:ext cx="4663440" cy="768096"/>
          </a:xfrm>
          <a:prstGeom prst="rect">
            <a:avLst/>
          </a:prstGeom>
          <a:noFill/>
          <a:ln/>
        </p:spPr>
        <p:txBody>
          <a:bodyPr wrap="square" lIns="0" tIns="0" rIns="0" bIns="0" rtlCol="0" anchor="t"/>
          <a:lstStyle/>
          <a:p>
            <a:pPr marL="0" indent="0" algn="l">
              <a:lnSpc>
                <a:spcPct val="104000"/>
              </a:lnSpc>
              <a:buNone/>
            </a:pPr>
            <a:r>
              <a:rPr lang="en-GB" sz="1050" b="1" dirty="0">
                <a:solidFill>
                  <a:srgbClr val="EF6C00"/>
                </a:solidFill>
                <a:latin typeface="Inter SemiBold Text SemiBold" pitchFamily="34" charset="0"/>
                <a:ea typeface="Inter SemiBold Text SemiBold" pitchFamily="34" charset="-122"/>
                <a:cs typeface="Inter SemiBold Text SemiBold" pitchFamily="34" charset="-120"/>
              </a:rPr>
              <a:t>BT-131</a:t>
            </a:r>
            <a:r>
              <a:rPr lang="en-GB" sz="1050" dirty="0">
                <a:solidFill>
                  <a:srgbClr val="EF6C00"/>
                </a:solidFill>
                <a:latin typeface="Inter Text" pitchFamily="34" charset="0"/>
                <a:ea typeface="Inter Text" pitchFamily="34" charset="-122"/>
                <a:cs typeface="Inter Text" pitchFamily="34" charset="-120"/>
              </a:rPr>
              <a:t> Invoice line net amount</a:t>
            </a:r>
            <a:r>
              <a:rPr lang="en-GB" sz="1050" dirty="0">
                <a:solidFill>
                  <a:srgbClr val="5B6890"/>
                </a:solidFill>
                <a:latin typeface="Inter Text" pitchFamily="34" charset="0"/>
                <a:ea typeface="Inter Text" pitchFamily="34" charset="-122"/>
                <a:cs typeface="Inter Text" pitchFamily="34" charset="-120"/>
              </a:rPr>
              <a:t> stays exact — it does not matter how many lines</a:t>
            </a:r>
            <a:r>
              <a:rPr lang="en-GB" sz="1050" b="1" dirty="0">
                <a:solidFill>
                  <a:srgbClr val="C79100"/>
                </a:solidFill>
                <a:latin typeface="Inter SemiBold Text SemiBold" pitchFamily="34" charset="0"/>
                <a:ea typeface="Inter SemiBold Text SemiBold" pitchFamily="34" charset="-122"/>
                <a:cs typeface="Inter SemiBold Text SemiBold" pitchFamily="34" charset="-120"/>
              </a:rPr>
              <a:t> BT-106</a:t>
            </a:r>
            <a:r>
              <a:rPr lang="en-GB" sz="1050" dirty="0">
                <a:solidFill>
                  <a:srgbClr val="C79100"/>
                </a:solidFill>
                <a:latin typeface="Inter Text" pitchFamily="34" charset="0"/>
                <a:ea typeface="Inter Text" pitchFamily="34" charset="-122"/>
                <a:cs typeface="Inter Text" pitchFamily="34" charset="-120"/>
              </a:rPr>
              <a:t> Sum of invoice line net amount</a:t>
            </a:r>
            <a:r>
              <a:rPr lang="en-GB" sz="1050" dirty="0">
                <a:solidFill>
                  <a:srgbClr val="5B6890"/>
                </a:solidFill>
                <a:latin typeface="Inter Text" pitchFamily="34" charset="0"/>
                <a:ea typeface="Inter Text" pitchFamily="34" charset="-122"/>
                <a:cs typeface="Inter Text" pitchFamily="34" charset="-120"/>
              </a:rPr>
              <a:t> and </a:t>
            </a:r>
            <a:r>
              <a:rPr lang="en-GB" sz="1050" b="1" dirty="0">
                <a:solidFill>
                  <a:srgbClr val="2E7D32"/>
                </a:solidFill>
                <a:latin typeface="Inter SemiBold Text SemiBold" pitchFamily="34" charset="0"/>
                <a:ea typeface="Inter SemiBold Text SemiBold" pitchFamily="34" charset="-122"/>
                <a:cs typeface="Inter SemiBold Text SemiBold" pitchFamily="34" charset="-120"/>
              </a:rPr>
              <a:t>BT-116</a:t>
            </a:r>
            <a:r>
              <a:rPr lang="en-GB" sz="1050" dirty="0">
                <a:solidFill>
                  <a:srgbClr val="2E7D32"/>
                </a:solidFill>
                <a:latin typeface="Inter Text" pitchFamily="34" charset="0"/>
                <a:ea typeface="Inter Text" pitchFamily="34" charset="-122"/>
                <a:cs typeface="Inter Text" pitchFamily="34" charset="-120"/>
              </a:rPr>
              <a:t> VAT category taxable amount</a:t>
            </a:r>
            <a:r>
              <a:rPr lang="en-GB" sz="1050" dirty="0">
                <a:solidFill>
                  <a:srgbClr val="5B6890"/>
                </a:solidFill>
                <a:latin typeface="Inter Text" pitchFamily="34" charset="0"/>
                <a:ea typeface="Inter Text" pitchFamily="34" charset="-122"/>
                <a:cs typeface="Inter Text" pitchFamily="34" charset="-120"/>
              </a:rPr>
              <a:t> add up.</a:t>
            </a:r>
          </a:p>
        </p:txBody>
      </p:sp>
      <p:sp>
        <p:nvSpPr>
          <p:cNvPr id="20" name="Pill 20"/>
          <p:cNvSpPr/>
          <p:nvPr/>
        </p:nvSpPr>
        <p:spPr>
          <a:xfrm>
            <a:off x="6473952" y="3712464"/>
            <a:ext cx="2377440" cy="310896"/>
          </a:xfrm>
          <a:prstGeom prst="roundRect">
            <a:avLst>
              <a:gd name="adj" fmla="val 50000"/>
            </a:avLst>
          </a:prstGeom>
          <a:solidFill>
            <a:srgbClr val="E8F6EE"/>
          </a:solidFill>
          <a:ln w="9525">
            <a:solidFill>
              <a:srgbClr val="B7E1C7"/>
            </a:solidFill>
            <a:prstDash val="solid"/>
          </a:ln>
        </p:spPr>
        <p:txBody>
          <a:bodyPr wrap="square" lIns="36576" tIns="36576" rIns="36576" bIns="36576" rtlCol="0" anchor="ctr"/>
          <a:lstStyle/>
          <a:p>
            <a:pPr marL="0" indent="0" algn="ctr">
              <a:buNone/>
            </a:pPr>
            <a:r>
              <a:rPr lang="en-GB" sz="1150" b="1" dirty="0">
                <a:solidFill>
                  <a:srgbClr val="1E8A4C"/>
                </a:solidFill>
                <a:latin typeface="Consolas" pitchFamily="34" charset="0"/>
                <a:ea typeface="Consolas" pitchFamily="34" charset="-122"/>
                <a:cs typeface="Consolas" pitchFamily="34" charset="-120"/>
              </a:rPr>
              <a:t>none</a:t>
            </a:r>
          </a:p>
        </p:txBody>
      </p:sp>
      <p:sp>
        <p:nvSpPr>
          <p:cNvPr id="21" name="Text 21"/>
          <p:cNvSpPr txBox="1"/>
          <p:nvPr/>
        </p:nvSpPr>
        <p:spPr>
          <a:xfrm>
            <a:off x="822960" y="4206240"/>
            <a:ext cx="6766560" cy="237744"/>
          </a:xfrm>
          <a:prstGeom prst="rect">
            <a:avLst/>
          </a:prstGeom>
          <a:noFill/>
          <a:ln/>
        </p:spPr>
        <p:txBody>
          <a:bodyPr wrap="square" lIns="0" tIns="0" rIns="0" bIns="0" rtlCol="0" anchor="ctr"/>
          <a:lstStyle/>
          <a:p>
            <a:pPr marL="0" indent="0" algn="l">
              <a:buNone/>
            </a:pPr>
            <a:r>
              <a:rPr lang="en-GB" sz="950" spc="120" dirty="0">
                <a:solidFill>
                  <a:srgbClr val="0E7E82"/>
                </a:solidFill>
                <a:latin typeface="Inter SemiBold Text SemiBold" pitchFamily="34" charset="0"/>
                <a:ea typeface="Inter SemiBold Text SemiBold" pitchFamily="34" charset="-122"/>
                <a:cs typeface="Inter SemiBold Text SemiBold" pitchFamily="34" charset="-120"/>
              </a:rPr>
              <a:t>NET DEVIATION  </a:t>
            </a:r>
            <a:r>
              <a:rPr lang="en-GB" sz="950" b="1" dirty="0">
                <a:solidFill>
                  <a:srgbClr val="C79100"/>
                </a:solidFill>
                <a:latin typeface="Inter SemiBold Text SemiBold" pitchFamily="34" charset="0"/>
                <a:ea typeface="Inter SemiBold Text SemiBold" pitchFamily="34" charset="-122"/>
                <a:cs typeface="Inter SemiBold Text SemiBold" pitchFamily="34" charset="-120"/>
              </a:rPr>
              <a:t>BT-106</a:t>
            </a:r>
            <a:r>
              <a:rPr lang="en-GB" sz="950" dirty="0">
                <a:solidFill>
                  <a:srgbClr val="C79100"/>
                </a:solidFill>
                <a:latin typeface="Inter Text" pitchFamily="34" charset="0"/>
                <a:ea typeface="Inter Text" pitchFamily="34" charset="-122"/>
                <a:cs typeface="Inter Text" pitchFamily="34" charset="-120"/>
              </a:rPr>
              <a:t> Sum of invoice line net amount</a:t>
            </a:r>
            <a:r>
              <a:rPr lang="en-GB" sz="950" dirty="0">
                <a:solidFill>
                  <a:srgbClr val="5B6890"/>
                </a:solidFill>
                <a:latin typeface="Inter Text" pitchFamily="34" charset="0"/>
                <a:ea typeface="Inter Text" pitchFamily="34" charset="-122"/>
                <a:cs typeface="Inter Text" pitchFamily="34" charset="-120"/>
              </a:rPr>
              <a:t> / </a:t>
            </a:r>
            <a:r>
              <a:rPr lang="en-GB" sz="950" b="1" dirty="0">
                <a:solidFill>
                  <a:srgbClr val="2E7D32"/>
                </a:solidFill>
                <a:latin typeface="Inter SemiBold Text SemiBold" pitchFamily="34" charset="0"/>
                <a:ea typeface="Inter SemiBold Text SemiBold" pitchFamily="34" charset="-122"/>
                <a:cs typeface="Inter SemiBold Text SemiBold" pitchFamily="34" charset="-120"/>
              </a:rPr>
              <a:t>BT-116</a:t>
            </a:r>
            <a:r>
              <a:rPr lang="en-GB" sz="950" dirty="0">
                <a:solidFill>
                  <a:srgbClr val="2E7D32"/>
                </a:solidFill>
                <a:latin typeface="Inter Text" pitchFamily="34" charset="0"/>
                <a:ea typeface="Inter Text" pitchFamily="34" charset="-122"/>
                <a:cs typeface="Inter Text" pitchFamily="34" charset="-120"/>
              </a:rPr>
              <a:t> VAT category taxable amount</a:t>
            </a:r>
          </a:p>
        </p:txBody>
      </p:sp>
      <p:graphicFrame>
        <p:nvGraphicFramePr>
          <p:cNvPr id="22" name="Table 22"/>
          <p:cNvGraphicFramePr>
            <a:graphicFrameLocks noGrp="1"/>
          </p:cNvGraphicFramePr>
          <p:nvPr/>
        </p:nvGraphicFramePr>
        <p:xfrm>
          <a:off x="822960" y="4480560"/>
          <a:ext cx="6766560" cy="1609344"/>
        </p:xfrm>
        <a:graphic>
          <a:graphicData uri="http://schemas.openxmlformats.org/drawingml/2006/table">
            <a:tbl>
              <a:tblPr firstRow="1" bandRow="1"/>
              <a:tblGrid>
                <a:gridCol w="1417320">
                  <a:extLst>
                    <a:ext uri="{9D8B030D-6E8A-4147-A177-3AD203B41FA5}">
                      <a16:colId xmlns:a16="http://schemas.microsoft.com/office/drawing/2014/main" val="20000"/>
                    </a:ext>
                  </a:extLst>
                </a:gridCol>
                <a:gridCol w="1783080">
                  <a:extLst>
                    <a:ext uri="{9D8B030D-6E8A-4147-A177-3AD203B41FA5}">
                      <a16:colId xmlns:a16="http://schemas.microsoft.com/office/drawing/2014/main" val="20001"/>
                    </a:ext>
                  </a:extLst>
                </a:gridCol>
                <a:gridCol w="1783080">
                  <a:extLst>
                    <a:ext uri="{9D8B030D-6E8A-4147-A177-3AD203B41FA5}">
                      <a16:colId xmlns:a16="http://schemas.microsoft.com/office/drawing/2014/main" val="20002"/>
                    </a:ext>
                  </a:extLst>
                </a:gridCol>
                <a:gridCol w="1783080">
                  <a:extLst>
                    <a:ext uri="{9D8B030D-6E8A-4147-A177-3AD203B41FA5}">
                      <a16:colId xmlns:a16="http://schemas.microsoft.com/office/drawing/2014/main" val="20003"/>
                    </a:ext>
                  </a:extLst>
                </a:gridCol>
              </a:tblGrid>
              <a:tr h="384048">
                <a:tc>
                  <a:txBody>
                    <a:bodyPr/>
                    <a:lstStyle/>
                    <a:p>
                      <a:pPr marL="0" indent="0" algn="r">
                        <a:buNone/>
                      </a:pPr>
                      <a:r>
                        <a:rPr lang="en-GB" sz="850" dirty="0">
                          <a:solidFill>
                            <a:srgbClr val="9FB0D8"/>
                          </a:solidFill>
                          <a:latin typeface="Inter Text" pitchFamily="34" charset="0"/>
                          <a:ea typeface="Inter Text" pitchFamily="34" charset="-122"/>
                          <a:cs typeface="Inter Text" pitchFamily="34" charset="-120"/>
                        </a:rPr>
                        <a:t>Units per line (Q) →</a:t>
                      </a:r>
                    </a:p>
                    <a:p>
                      <a:pPr marL="0" indent="0" algn="l">
                        <a:buNone/>
                      </a:pPr>
                      <a:r>
                        <a:rPr lang="en-GB" sz="850" dirty="0">
                          <a:solidFill>
                            <a:srgbClr val="9FB0D8"/>
                          </a:solidFill>
                          <a:latin typeface="Inter Text" pitchFamily="34" charset="0"/>
                          <a:ea typeface="Inter Text" pitchFamily="34" charset="-122"/>
                          <a:cs typeface="Inter Text" pitchFamily="34" charset="-120"/>
                        </a:rPr>
                        <a:t>↓ Lines (n)</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24356B"/>
                    </a:solidFill>
                  </a:tcPr>
                </a:tc>
                <a:tc>
                  <a:txBody>
                    <a:bodyPr/>
                    <a:lstStyle/>
                    <a:p>
                      <a:pPr marL="0" indent="0" algn="r">
                        <a:buNone/>
                      </a:pPr>
                      <a:r>
                        <a:rPr lang="en-GB" sz="1050" dirty="0">
                          <a:solidFill>
                            <a:srgbClr val="FFFFFF"/>
                          </a:solidFill>
                          <a:latin typeface="Inter SemiBold Text SemiBold" pitchFamily="34" charset="0"/>
                          <a:ea typeface="Inter SemiBold Text SemiBold" pitchFamily="34" charset="-122"/>
                          <a:cs typeface="Inter SemiBold Text SemiBold" pitchFamily="34" charset="-120"/>
                        </a:rPr>
                        <a:t>100 units</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1A2B5E"/>
                    </a:solidFill>
                  </a:tcPr>
                </a:tc>
                <a:tc>
                  <a:txBody>
                    <a:bodyPr/>
                    <a:lstStyle/>
                    <a:p>
                      <a:pPr marL="0" indent="0" algn="r">
                        <a:buNone/>
                      </a:pPr>
                      <a:r>
                        <a:rPr lang="en-GB" sz="1050" dirty="0">
                          <a:solidFill>
                            <a:srgbClr val="FFFFFF"/>
                          </a:solidFill>
                          <a:latin typeface="Inter SemiBold Text SemiBold" pitchFamily="34" charset="0"/>
                          <a:ea typeface="Inter SemiBold Text SemiBold" pitchFamily="34" charset="-122"/>
                          <a:cs typeface="Inter SemiBold Text SemiBold" pitchFamily="34" charset="-120"/>
                        </a:rPr>
                        <a:t>10,000 units</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1A2B5E"/>
                    </a:solidFill>
                  </a:tcPr>
                </a:tc>
                <a:tc>
                  <a:txBody>
                    <a:bodyPr/>
                    <a:lstStyle/>
                    <a:p>
                      <a:pPr marL="0" indent="0" algn="r">
                        <a:buNone/>
                      </a:pPr>
                      <a:r>
                        <a:rPr lang="en-GB" sz="1050" dirty="0">
                          <a:solidFill>
                            <a:srgbClr val="FFFFFF"/>
                          </a:solidFill>
                          <a:latin typeface="Inter SemiBold Text SemiBold" pitchFamily="34" charset="0"/>
                          <a:ea typeface="Inter SemiBold Text SemiBold" pitchFamily="34" charset="-122"/>
                          <a:cs typeface="Inter SemiBold Text SemiBold" pitchFamily="34" charset="-120"/>
                        </a:rPr>
                        <a:t>1,000,000 units</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1A2B5E"/>
                    </a:solidFill>
                  </a:tcPr>
                </a:tc>
                <a:extLst>
                  <a:ext uri="{0D108BD9-81ED-4DB2-BD59-A6C34878D82A}">
                    <a16:rowId xmlns:a16="http://schemas.microsoft.com/office/drawing/2014/main" val="10000"/>
                  </a:ext>
                </a:extLst>
              </a:tr>
              <a:tr h="603504">
                <a:tc>
                  <a:txBody>
                    <a:bodyPr/>
                    <a:lstStyle/>
                    <a:p>
                      <a:pPr marL="0" indent="0" algn="l">
                        <a:buNone/>
                      </a:pPr>
                      <a:r>
                        <a:rPr lang="en-GB" sz="1100" dirty="0">
                          <a:solidFill>
                            <a:srgbClr val="1A2B5E"/>
                          </a:solidFill>
                          <a:latin typeface="Inter SemiBold Text SemiBold" pitchFamily="34" charset="0"/>
                          <a:ea typeface="Inter SemiBold Text SemiBold" pitchFamily="34" charset="-122"/>
                          <a:cs typeface="Inter SemiBold Text SemiBold" pitchFamily="34" charset="-120"/>
                        </a:rPr>
                        <a:t>1 line</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FFF"/>
                    </a:solidFill>
                  </a:tcPr>
                </a:tc>
                <a:tc>
                  <a:txBody>
                    <a:bodyPr/>
                    <a:lstStyle/>
                    <a:p>
                      <a:pPr marL="0" indent="0" algn="r">
                        <a:buNone/>
                      </a:pPr>
                      <a:r>
                        <a:rPr lang="en-GB" sz="850" dirty="0">
                          <a:solidFill>
                            <a:srgbClr val="D32F2F"/>
                          </a:solidFill>
                          <a:latin typeface="Inter Text" pitchFamily="34" charset="0"/>
                          <a:ea typeface="Inter Text" pitchFamily="34" charset="-122"/>
                          <a:cs typeface="Inter Text" pitchFamily="34" charset="-120"/>
                        </a:rPr>
                        <a:t>Price × quantity  </a:t>
                      </a:r>
                      <a:r>
                        <a:rPr lang="en-GB" sz="850" b="1" dirty="0">
                          <a:solidFill>
                            <a:srgbClr val="D32F2F"/>
                          </a:solidFill>
                          <a:latin typeface="Consolas" pitchFamily="34" charset="0"/>
                          <a:ea typeface="Consolas" pitchFamily="34" charset="-122"/>
                          <a:cs typeface="Consolas" pitchFamily="34" charset="-120"/>
                        </a:rPr>
                        <a:t>± 0</a:t>
                      </a:r>
                    </a:p>
                    <a:p>
                      <a:pPr marL="0" indent="0" algn="r">
                        <a:buNone/>
                      </a:pPr>
                      <a:r>
                        <a:rPr lang="en-GB" sz="850" dirty="0">
                          <a:solidFill>
                            <a:srgbClr val="EF6C00"/>
                          </a:solidFill>
                          <a:latin typeface="Inter Text" pitchFamily="34" charset="0"/>
                          <a:ea typeface="Inter Text" pitchFamily="34" charset="-122"/>
                          <a:cs typeface="Inter Text" pitchFamily="34" charset="-120"/>
                        </a:rPr>
                        <a:t>+ rounding BT-131  </a:t>
                      </a:r>
                      <a:r>
                        <a:rPr lang="en-GB" sz="850" b="1" dirty="0">
                          <a:solidFill>
                            <a:srgbClr val="EF6C00"/>
                          </a:solidFill>
                          <a:latin typeface="Consolas" pitchFamily="34" charset="0"/>
                          <a:ea typeface="Consolas" pitchFamily="34" charset="-122"/>
                          <a:cs typeface="Consolas" pitchFamily="34" charset="-120"/>
                        </a:rPr>
                        <a:t>± 0</a:t>
                      </a:r>
                    </a:p>
                    <a:p>
                      <a:pPr marL="0" indent="0" algn="r">
                        <a:buNone/>
                      </a:pPr>
                      <a:r>
                        <a:rPr lang="en-GB" sz="1150" b="1" dirty="0">
                          <a:solidFill>
                            <a:srgbClr val="1E8A4C"/>
                          </a:solidFill>
                          <a:latin typeface="Consolas" pitchFamily="34" charset="0"/>
                          <a:ea typeface="Consolas" pitchFamily="34" charset="-122"/>
                          <a:cs typeface="Consolas" pitchFamily="34" charset="-120"/>
                        </a:rPr>
                        <a:t>= ± 0</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E8F6EE"/>
                    </a:solidFill>
                  </a:tcPr>
                </a:tc>
                <a:tc>
                  <a:txBody>
                    <a:bodyPr/>
                    <a:lstStyle/>
                    <a:p>
                      <a:pPr marL="0" indent="0" algn="r">
                        <a:buNone/>
                      </a:pPr>
                      <a:r>
                        <a:rPr lang="en-GB" sz="850" dirty="0">
                          <a:solidFill>
                            <a:srgbClr val="D32F2F"/>
                          </a:solidFill>
                          <a:latin typeface="Inter Text" pitchFamily="34" charset="0"/>
                          <a:ea typeface="Inter Text" pitchFamily="34" charset="-122"/>
                          <a:cs typeface="Inter Text" pitchFamily="34" charset="-120"/>
                        </a:rPr>
                        <a:t>Price × quantity  </a:t>
                      </a:r>
                      <a:r>
                        <a:rPr lang="en-GB" sz="850" b="1" dirty="0">
                          <a:solidFill>
                            <a:srgbClr val="D32F2F"/>
                          </a:solidFill>
                          <a:latin typeface="Consolas" pitchFamily="34" charset="0"/>
                          <a:ea typeface="Consolas" pitchFamily="34" charset="-122"/>
                          <a:cs typeface="Consolas" pitchFamily="34" charset="-120"/>
                        </a:rPr>
                        <a:t>± 0</a:t>
                      </a:r>
                    </a:p>
                    <a:p>
                      <a:pPr marL="0" indent="0" algn="r">
                        <a:buNone/>
                      </a:pPr>
                      <a:r>
                        <a:rPr lang="en-GB" sz="850" dirty="0">
                          <a:solidFill>
                            <a:srgbClr val="EF6C00"/>
                          </a:solidFill>
                          <a:latin typeface="Inter Text" pitchFamily="34" charset="0"/>
                          <a:ea typeface="Inter Text" pitchFamily="34" charset="-122"/>
                          <a:cs typeface="Inter Text" pitchFamily="34" charset="-120"/>
                        </a:rPr>
                        <a:t>+ rounding BT-131  </a:t>
                      </a:r>
                      <a:r>
                        <a:rPr lang="en-GB" sz="850" b="1" dirty="0">
                          <a:solidFill>
                            <a:srgbClr val="EF6C00"/>
                          </a:solidFill>
                          <a:latin typeface="Consolas" pitchFamily="34" charset="0"/>
                          <a:ea typeface="Consolas" pitchFamily="34" charset="-122"/>
                          <a:cs typeface="Consolas" pitchFamily="34" charset="-120"/>
                        </a:rPr>
                        <a:t>± 0</a:t>
                      </a:r>
                    </a:p>
                    <a:p>
                      <a:pPr marL="0" indent="0" algn="r">
                        <a:buNone/>
                      </a:pPr>
                      <a:r>
                        <a:rPr lang="en-GB" sz="1150" b="1" dirty="0">
                          <a:solidFill>
                            <a:srgbClr val="1E8A4C"/>
                          </a:solidFill>
                          <a:latin typeface="Consolas" pitchFamily="34" charset="0"/>
                          <a:ea typeface="Consolas" pitchFamily="34" charset="-122"/>
                          <a:cs typeface="Consolas" pitchFamily="34" charset="-120"/>
                        </a:rPr>
                        <a:t>= ± 0</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E8F6EE"/>
                    </a:solidFill>
                  </a:tcPr>
                </a:tc>
                <a:tc>
                  <a:txBody>
                    <a:bodyPr/>
                    <a:lstStyle/>
                    <a:p>
                      <a:pPr marL="0" indent="0" algn="r">
                        <a:buNone/>
                      </a:pPr>
                      <a:r>
                        <a:rPr lang="en-GB" sz="850" dirty="0">
                          <a:solidFill>
                            <a:srgbClr val="D32F2F"/>
                          </a:solidFill>
                          <a:latin typeface="Inter Text" pitchFamily="34" charset="0"/>
                          <a:ea typeface="Inter Text" pitchFamily="34" charset="-122"/>
                          <a:cs typeface="Inter Text" pitchFamily="34" charset="-120"/>
                        </a:rPr>
                        <a:t>Price × quantity  </a:t>
                      </a:r>
                      <a:r>
                        <a:rPr lang="en-GB" sz="850" b="1" dirty="0">
                          <a:solidFill>
                            <a:srgbClr val="D32F2F"/>
                          </a:solidFill>
                          <a:latin typeface="Consolas" pitchFamily="34" charset="0"/>
                          <a:ea typeface="Consolas" pitchFamily="34" charset="-122"/>
                          <a:cs typeface="Consolas" pitchFamily="34" charset="-120"/>
                        </a:rPr>
                        <a:t>± 0</a:t>
                      </a:r>
                    </a:p>
                    <a:p>
                      <a:pPr marL="0" indent="0" algn="r">
                        <a:buNone/>
                      </a:pPr>
                      <a:r>
                        <a:rPr lang="en-GB" sz="850" dirty="0">
                          <a:solidFill>
                            <a:srgbClr val="EF6C00"/>
                          </a:solidFill>
                          <a:latin typeface="Inter Text" pitchFamily="34" charset="0"/>
                          <a:ea typeface="Inter Text" pitchFamily="34" charset="-122"/>
                          <a:cs typeface="Inter Text" pitchFamily="34" charset="-120"/>
                        </a:rPr>
                        <a:t>+ rounding BT-131  </a:t>
                      </a:r>
                      <a:r>
                        <a:rPr lang="en-GB" sz="850" b="1" dirty="0">
                          <a:solidFill>
                            <a:srgbClr val="EF6C00"/>
                          </a:solidFill>
                          <a:latin typeface="Consolas" pitchFamily="34" charset="0"/>
                          <a:ea typeface="Consolas" pitchFamily="34" charset="-122"/>
                          <a:cs typeface="Consolas" pitchFamily="34" charset="-120"/>
                        </a:rPr>
                        <a:t>± 0</a:t>
                      </a:r>
                    </a:p>
                    <a:p>
                      <a:pPr marL="0" indent="0" algn="r">
                        <a:buNone/>
                      </a:pPr>
                      <a:r>
                        <a:rPr lang="en-GB" sz="1150" b="1" dirty="0">
                          <a:solidFill>
                            <a:srgbClr val="1E8A4C"/>
                          </a:solidFill>
                          <a:latin typeface="Consolas" pitchFamily="34" charset="0"/>
                          <a:ea typeface="Consolas" pitchFamily="34" charset="-122"/>
                          <a:cs typeface="Consolas" pitchFamily="34" charset="-120"/>
                        </a:rPr>
                        <a:t>= ± 0</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E8F6EE"/>
                    </a:solidFill>
                  </a:tcPr>
                </a:tc>
                <a:extLst>
                  <a:ext uri="{0D108BD9-81ED-4DB2-BD59-A6C34878D82A}">
                    <a16:rowId xmlns:a16="http://schemas.microsoft.com/office/drawing/2014/main" val="10001"/>
                  </a:ext>
                </a:extLst>
              </a:tr>
              <a:tr h="310896">
                <a:tc>
                  <a:txBody>
                    <a:bodyPr/>
                    <a:lstStyle/>
                    <a:p>
                      <a:pPr marL="0" indent="0" algn="l">
                        <a:buNone/>
                      </a:pPr>
                      <a:r>
                        <a:rPr lang="en-GB" sz="1100" dirty="0">
                          <a:solidFill>
                            <a:srgbClr val="1A2B5E"/>
                          </a:solidFill>
                          <a:latin typeface="Inter SemiBold Text SemiBold" pitchFamily="34" charset="0"/>
                          <a:ea typeface="Inter SemiBold Text SemiBold" pitchFamily="34" charset="-122"/>
                          <a:cs typeface="Inter SemiBold Text SemiBold" pitchFamily="34" charset="-120"/>
                        </a:rPr>
                        <a:t>100 lines</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FFF"/>
                    </a:solidFill>
                  </a:tcPr>
                </a:tc>
                <a:tc>
                  <a:txBody>
                    <a:bodyPr/>
                    <a:lstStyle/>
                    <a:p>
                      <a:pPr marL="0" indent="0" algn="r">
                        <a:buNone/>
                      </a:pPr>
                      <a:r>
                        <a:rPr lang="en-GB" sz="1150" b="1" dirty="0">
                          <a:solidFill>
                            <a:srgbClr val="1E8A4C"/>
                          </a:solidFill>
                          <a:latin typeface="Consolas" pitchFamily="34" charset="0"/>
                          <a:ea typeface="Consolas" pitchFamily="34" charset="-122"/>
                          <a:cs typeface="Consolas" pitchFamily="34" charset="-120"/>
                        </a:rPr>
                        <a:t>± 0</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E8F6EE"/>
                    </a:solidFill>
                  </a:tcPr>
                </a:tc>
                <a:tc>
                  <a:txBody>
                    <a:bodyPr/>
                    <a:lstStyle/>
                    <a:p>
                      <a:pPr marL="0" indent="0" algn="r">
                        <a:buNone/>
                      </a:pPr>
                      <a:r>
                        <a:rPr lang="en-GB" sz="1150" b="1" dirty="0">
                          <a:solidFill>
                            <a:srgbClr val="1E8A4C"/>
                          </a:solidFill>
                          <a:latin typeface="Consolas" pitchFamily="34" charset="0"/>
                          <a:ea typeface="Consolas" pitchFamily="34" charset="-122"/>
                          <a:cs typeface="Consolas" pitchFamily="34" charset="-120"/>
                        </a:rPr>
                        <a:t>± 0</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E8F6EE"/>
                    </a:solidFill>
                  </a:tcPr>
                </a:tc>
                <a:tc>
                  <a:txBody>
                    <a:bodyPr/>
                    <a:lstStyle/>
                    <a:p>
                      <a:pPr marL="0" indent="0" algn="r">
                        <a:buNone/>
                      </a:pPr>
                      <a:r>
                        <a:rPr lang="en-GB" sz="1150" b="1" dirty="0">
                          <a:solidFill>
                            <a:srgbClr val="1E8A4C"/>
                          </a:solidFill>
                          <a:latin typeface="Consolas" pitchFamily="34" charset="0"/>
                          <a:ea typeface="Consolas" pitchFamily="34" charset="-122"/>
                          <a:cs typeface="Consolas" pitchFamily="34" charset="-120"/>
                        </a:rPr>
                        <a:t>± 0</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E8F6EE"/>
                    </a:solidFill>
                  </a:tcPr>
                </a:tc>
                <a:extLst>
                  <a:ext uri="{0D108BD9-81ED-4DB2-BD59-A6C34878D82A}">
                    <a16:rowId xmlns:a16="http://schemas.microsoft.com/office/drawing/2014/main" val="10002"/>
                  </a:ext>
                </a:extLst>
              </a:tr>
              <a:tr h="310896">
                <a:tc>
                  <a:txBody>
                    <a:bodyPr/>
                    <a:lstStyle/>
                    <a:p>
                      <a:pPr marL="0" indent="0" algn="l">
                        <a:buNone/>
                      </a:pPr>
                      <a:r>
                        <a:rPr lang="en-GB" sz="1100" dirty="0">
                          <a:solidFill>
                            <a:srgbClr val="1A2B5E"/>
                          </a:solidFill>
                          <a:latin typeface="Inter SemiBold Text SemiBold" pitchFamily="34" charset="0"/>
                          <a:ea typeface="Inter SemiBold Text SemiBold" pitchFamily="34" charset="-122"/>
                          <a:cs typeface="Inter SemiBold Text SemiBold" pitchFamily="34" charset="-120"/>
                        </a:rPr>
                        <a:t>10,000 lines</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FFF"/>
                    </a:solidFill>
                  </a:tcPr>
                </a:tc>
                <a:tc>
                  <a:txBody>
                    <a:bodyPr/>
                    <a:lstStyle/>
                    <a:p>
                      <a:pPr marL="0" indent="0" algn="r">
                        <a:buNone/>
                      </a:pPr>
                      <a:r>
                        <a:rPr lang="en-GB" sz="1150" b="1" dirty="0">
                          <a:solidFill>
                            <a:srgbClr val="1E8A4C"/>
                          </a:solidFill>
                          <a:latin typeface="Consolas" pitchFamily="34" charset="0"/>
                          <a:ea typeface="Consolas" pitchFamily="34" charset="-122"/>
                          <a:cs typeface="Consolas" pitchFamily="34" charset="-120"/>
                        </a:rPr>
                        <a:t>± 0</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E8F6EE"/>
                    </a:solidFill>
                  </a:tcPr>
                </a:tc>
                <a:tc>
                  <a:txBody>
                    <a:bodyPr/>
                    <a:lstStyle/>
                    <a:p>
                      <a:pPr marL="0" indent="0" algn="r">
                        <a:buNone/>
                      </a:pPr>
                      <a:r>
                        <a:rPr lang="en-GB" sz="1150" b="1" dirty="0">
                          <a:solidFill>
                            <a:srgbClr val="1E8A4C"/>
                          </a:solidFill>
                          <a:latin typeface="Consolas" pitchFamily="34" charset="0"/>
                          <a:ea typeface="Consolas" pitchFamily="34" charset="-122"/>
                          <a:cs typeface="Consolas" pitchFamily="34" charset="-120"/>
                        </a:rPr>
                        <a:t>± 0</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E8F6EE"/>
                    </a:solidFill>
                  </a:tcPr>
                </a:tc>
                <a:tc>
                  <a:txBody>
                    <a:bodyPr/>
                    <a:lstStyle/>
                    <a:p>
                      <a:pPr marL="0" indent="0" algn="r">
                        <a:buNone/>
                      </a:pPr>
                      <a:r>
                        <a:rPr lang="en-GB" sz="1150" b="1" dirty="0">
                          <a:solidFill>
                            <a:srgbClr val="1E8A4C"/>
                          </a:solidFill>
                          <a:latin typeface="Consolas" pitchFamily="34" charset="0"/>
                          <a:ea typeface="Consolas" pitchFamily="34" charset="-122"/>
                          <a:cs typeface="Consolas" pitchFamily="34" charset="-120"/>
                        </a:rPr>
                        <a:t>± 0</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E8F6EE"/>
                    </a:solidFill>
                  </a:tcPr>
                </a:tc>
                <a:extLst>
                  <a:ext uri="{0D108BD9-81ED-4DB2-BD59-A6C34878D82A}">
                    <a16:rowId xmlns:a16="http://schemas.microsoft.com/office/drawing/2014/main" val="10003"/>
                  </a:ext>
                </a:extLst>
              </a:tr>
            </a:tbl>
          </a:graphicData>
        </a:graphic>
      </p:graphicFrame>
      <p:sp>
        <p:nvSpPr>
          <p:cNvPr id="23" name="Panel 23"/>
          <p:cNvSpPr/>
          <p:nvPr/>
        </p:nvSpPr>
        <p:spPr>
          <a:xfrm>
            <a:off x="7818120" y="4224528"/>
            <a:ext cx="3547872" cy="1883664"/>
          </a:xfrm>
          <a:prstGeom prst="roundRect">
            <a:avLst>
              <a:gd name="adj" fmla="val 4854"/>
            </a:avLst>
          </a:prstGeom>
          <a:solidFill>
            <a:srgbClr val="1A2B5E"/>
          </a:solidFill>
          <a:ln>
            <a:noFill/>
          </a:ln>
          <a:effectLst>
            <a:outerShdw blurRad="101600" dist="38100" dir="5400000" algn="bl" rotWithShape="0">
              <a:srgbClr val="0A1230">
                <a:alpha val="18000"/>
              </a:srgbClr>
            </a:outerShdw>
          </a:effectLst>
        </p:spPr>
        <p:txBody>
          <a:bodyPr/>
          <a:lstStyle/>
          <a:p>
            <a:endParaRPr lang="en-GB"/>
          </a:p>
        </p:txBody>
      </p:sp>
      <p:sp>
        <p:nvSpPr>
          <p:cNvPr id="24" name="Text 24"/>
          <p:cNvSpPr txBox="1"/>
          <p:nvPr/>
        </p:nvSpPr>
        <p:spPr>
          <a:xfrm>
            <a:off x="8092440" y="4334256"/>
            <a:ext cx="3017520" cy="256032"/>
          </a:xfrm>
          <a:prstGeom prst="rect">
            <a:avLst/>
          </a:prstGeom>
          <a:noFill/>
          <a:ln/>
        </p:spPr>
        <p:txBody>
          <a:bodyPr wrap="square" lIns="0" tIns="0" rIns="0" bIns="0" rtlCol="0" anchor="ctr"/>
          <a:lstStyle/>
          <a:p>
            <a:pPr marL="0" indent="0" algn="l">
              <a:buNone/>
            </a:pPr>
            <a:r>
              <a:rPr lang="en-GB" sz="1000" spc="150" dirty="0">
                <a:solidFill>
                  <a:srgbClr val="19C3C8"/>
                </a:solidFill>
                <a:latin typeface="Inter SemiBold Text SemiBold" pitchFamily="34" charset="0"/>
                <a:ea typeface="Inter SemiBold Text SemiBold" pitchFamily="34" charset="-122"/>
                <a:cs typeface="Inter SemiBold Text SemiBold" pitchFamily="34" charset="-120"/>
              </a:rPr>
              <a:t>TOTAL · NET</a:t>
            </a:r>
          </a:p>
        </p:txBody>
      </p:sp>
      <p:sp>
        <p:nvSpPr>
          <p:cNvPr id="25" name="Text 25"/>
          <p:cNvSpPr txBox="1"/>
          <p:nvPr/>
        </p:nvSpPr>
        <p:spPr>
          <a:xfrm>
            <a:off x="8092440" y="4608576"/>
            <a:ext cx="3108960" cy="384048"/>
          </a:xfrm>
          <a:prstGeom prst="rect">
            <a:avLst/>
          </a:prstGeom>
          <a:noFill/>
          <a:ln/>
        </p:spPr>
        <p:txBody>
          <a:bodyPr wrap="none" lIns="0" tIns="0" rIns="0" bIns="0" rtlCol="0" anchor="ctr"/>
          <a:lstStyle/>
          <a:p>
            <a:pPr marL="0" indent="0" algn="l">
              <a:buNone/>
            </a:pPr>
            <a:r>
              <a:rPr lang="en-GB" sz="1800" b="1" dirty="0">
                <a:solidFill>
                  <a:srgbClr val="FFFFFF"/>
                </a:solidFill>
                <a:latin typeface="Consolas" pitchFamily="34" charset="0"/>
                <a:ea typeface="Consolas" pitchFamily="34" charset="-122"/>
                <a:cs typeface="Consolas" pitchFamily="34" charset="-120"/>
              </a:rPr>
              <a:t>± 0</a:t>
            </a:r>
          </a:p>
        </p:txBody>
      </p:sp>
      <p:sp>
        <p:nvSpPr>
          <p:cNvPr id="26" name="Text 26"/>
          <p:cNvSpPr txBox="1"/>
          <p:nvPr/>
        </p:nvSpPr>
        <p:spPr>
          <a:xfrm>
            <a:off x="8092440" y="5029200"/>
            <a:ext cx="3063240" cy="457200"/>
          </a:xfrm>
          <a:prstGeom prst="rect">
            <a:avLst/>
          </a:prstGeom>
          <a:noFill/>
          <a:ln/>
        </p:spPr>
        <p:txBody>
          <a:bodyPr wrap="square" lIns="0" tIns="0" rIns="0" bIns="0" rtlCol="0" anchor="t"/>
          <a:lstStyle/>
          <a:p>
            <a:pPr marL="0" indent="0" algn="l">
              <a:lnSpc>
                <a:spcPct val="105000"/>
              </a:lnSpc>
              <a:buNone/>
            </a:pPr>
            <a:r>
              <a:rPr lang="en-GB" sz="1000" dirty="0">
                <a:solidFill>
                  <a:srgbClr val="C2CADE"/>
                </a:solidFill>
                <a:latin typeface="Inter Text" pitchFamily="34" charset="0"/>
                <a:ea typeface="Inter Text" pitchFamily="34" charset="-122"/>
                <a:cs typeface="Inter Text" pitchFamily="34" charset="-120"/>
              </a:rPr>
              <a:t>Only BT-115 Amount due for payment and BT-117 VAT category tax amount are rounded, once.</a:t>
            </a:r>
          </a:p>
        </p:txBody>
      </p:sp>
      <p:sp>
        <p:nvSpPr>
          <p:cNvPr id="27" name="Shape 27"/>
          <p:cNvSpPr/>
          <p:nvPr/>
        </p:nvSpPr>
        <p:spPr>
          <a:xfrm>
            <a:off x="8092440" y="5541264"/>
            <a:ext cx="3017520" cy="9144"/>
          </a:xfrm>
          <a:prstGeom prst="rect">
            <a:avLst/>
          </a:prstGeom>
          <a:solidFill>
            <a:srgbClr val="3A4A7A"/>
          </a:solidFill>
          <a:ln>
            <a:noFill/>
          </a:ln>
        </p:spPr>
        <p:txBody>
          <a:bodyPr/>
          <a:lstStyle/>
          <a:p>
            <a:endParaRPr lang="en-GB"/>
          </a:p>
        </p:txBody>
      </p:sp>
      <p:sp>
        <p:nvSpPr>
          <p:cNvPr id="28" name="Text 28"/>
          <p:cNvSpPr txBox="1"/>
          <p:nvPr/>
        </p:nvSpPr>
        <p:spPr>
          <a:xfrm>
            <a:off x="8092440" y="5596128"/>
            <a:ext cx="3108960" cy="420624"/>
          </a:xfrm>
          <a:prstGeom prst="rect">
            <a:avLst/>
          </a:prstGeom>
          <a:noFill/>
          <a:ln/>
        </p:spPr>
        <p:txBody>
          <a:bodyPr wrap="square" lIns="0" tIns="0" rIns="0" bIns="0" rtlCol="0" anchor="ctr"/>
          <a:lstStyle/>
          <a:p>
            <a:pPr marL="0" indent="0" algn="l">
              <a:buNone/>
            </a:pPr>
            <a:r>
              <a:rPr lang="en-GB" sz="950" dirty="0">
                <a:solidFill>
                  <a:srgbClr val="9AA4C2"/>
                </a:solidFill>
                <a:latin typeface="Inter Text" pitchFamily="34" charset="0"/>
                <a:ea typeface="Inter Text" pitchFamily="34" charset="-122"/>
                <a:cs typeface="Inter Text" pitchFamily="34" charset="-120"/>
              </a:rPr>
              <a:t>100 lines of 10,000 units</a:t>
            </a:r>
          </a:p>
          <a:p>
            <a:pPr marL="0" indent="0" algn="l">
              <a:buNone/>
            </a:pPr>
            <a:r>
              <a:rPr lang="en-GB" sz="1000" dirty="0">
                <a:solidFill>
                  <a:srgbClr val="C2CADE"/>
                </a:solidFill>
                <a:latin typeface="Inter Text" pitchFamily="34" charset="0"/>
                <a:ea typeface="Inter Text" pitchFamily="34" charset="-122"/>
                <a:cs typeface="Inter Text" pitchFamily="34" charset="-120"/>
              </a:rPr>
              <a:t>Net </a:t>
            </a:r>
            <a:r>
              <a:rPr lang="en-GB" sz="1100" b="1" dirty="0">
                <a:solidFill>
                  <a:srgbClr val="FFFFFF"/>
                </a:solidFill>
                <a:latin typeface="Consolas" pitchFamily="34" charset="0"/>
                <a:ea typeface="Consolas" pitchFamily="34" charset="-122"/>
                <a:cs typeface="Consolas" pitchFamily="34" charset="-120"/>
              </a:rPr>
              <a:t>± 0</a:t>
            </a:r>
            <a:r>
              <a:rPr lang="en-GB" sz="1000" dirty="0">
                <a:solidFill>
                  <a:srgbClr val="C2CADE"/>
                </a:solidFill>
                <a:latin typeface="Inter Text" pitchFamily="34" charset="0"/>
                <a:ea typeface="Inter Text" pitchFamily="34" charset="-122"/>
                <a:cs typeface="Inter Text" pitchFamily="34" charset="-120"/>
              </a:rPr>
              <a:t>   VAT </a:t>
            </a:r>
            <a:r>
              <a:rPr lang="en-GB" sz="1100" b="1" dirty="0">
                <a:solidFill>
                  <a:srgbClr val="FFFFFF"/>
                </a:solidFill>
                <a:latin typeface="Consolas" pitchFamily="34" charset="0"/>
                <a:ea typeface="Consolas" pitchFamily="34" charset="-122"/>
                <a:cs typeface="Consolas" pitchFamily="34" charset="-120"/>
              </a:rPr>
              <a:t>± 0</a:t>
            </a:r>
          </a:p>
        </p:txBody>
      </p:sp>
      <p:sp>
        <p:nvSpPr>
          <p:cNvPr id="29" name="Text 29"/>
          <p:cNvSpPr txBox="1"/>
          <p:nvPr/>
        </p:nvSpPr>
        <p:spPr>
          <a:xfrm>
            <a:off x="822960" y="6126480"/>
            <a:ext cx="6766560" cy="274320"/>
          </a:xfrm>
          <a:prstGeom prst="rect">
            <a:avLst/>
          </a:prstGeom>
          <a:noFill/>
          <a:ln/>
        </p:spPr>
        <p:txBody>
          <a:bodyPr wrap="square" lIns="0" tIns="0" rIns="0" bIns="0" rtlCol="0" anchor="t"/>
          <a:lstStyle/>
          <a:p>
            <a:pPr marL="0" indent="0" algn="l">
              <a:lnSpc>
                <a:spcPct val="100000"/>
              </a:lnSpc>
              <a:buNone/>
            </a:pPr>
            <a:r>
              <a:rPr lang="en-GB" sz="850" dirty="0">
                <a:solidFill>
                  <a:srgbClr val="9AA4C2"/>
                </a:solidFill>
                <a:latin typeface="Inter Text" pitchFamily="34" charset="0"/>
                <a:ea typeface="Inter Text" pitchFamily="34" charset="-122"/>
                <a:cs typeface="Inter Text" pitchFamily="34" charset="-120"/>
              </a:rPr>
              <a:t>Assumption: all roundings go in the same direction, BT-149 Item price base quantity = 1, 19% VAT.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Folie 32">
    <p:bg>
      <p:bgPr>
        <a:solidFill>
          <a:srgbClr val="F4F6FB"/>
        </a:solidFill>
        <a:effectLst/>
      </p:bgPr>
    </p:bg>
    <p:spTree>
      <p:nvGrpSpPr>
        <p:cNvPr id="1" name=""/>
        <p:cNvGrpSpPr/>
        <p:nvPr/>
      </p:nvGrpSpPr>
      <p:grpSpPr>
        <a:xfrm>
          <a:off x="0" y="0"/>
          <a:ext cx="0" cy="0"/>
          <a:chOff x="0" y="0"/>
          <a:chExt cx="0" cy="0"/>
        </a:xfrm>
      </p:grpSpPr>
      <p:sp>
        <p:nvSpPr>
          <p:cNvPr id="3" name="Header 3"/>
          <p:cNvSpPr txBox="1"/>
          <p:nvPr/>
        </p:nvSpPr>
        <p:spPr>
          <a:xfrm>
            <a:off x="822960" y="384048"/>
            <a:ext cx="7315200" cy="274320"/>
          </a:xfrm>
          <a:prstGeom prst="rect">
            <a:avLst/>
          </a:prstGeom>
          <a:noFill/>
          <a:ln/>
        </p:spPr>
        <p:txBody>
          <a:bodyPr wrap="square" lIns="0" tIns="0" rIns="0" bIns="0" rtlCol="0" anchor="ctr"/>
          <a:lstStyle/>
          <a:p>
            <a:pPr marL="0" indent="0" algn="l">
              <a:buNone/>
            </a:pPr>
            <a:r>
              <a:rPr lang="en-GB" sz="950" spc="100" dirty="0">
                <a:solidFill>
                  <a:srgbClr val="5B6890"/>
                </a:solidFill>
                <a:latin typeface="Inter Medium Text Medium" pitchFamily="34" charset="0"/>
                <a:ea typeface="Inter Medium Text Medium" pitchFamily="34" charset="-122"/>
                <a:cs typeface="Inter Medium Text Medium" pitchFamily="34" charset="-120"/>
              </a:rPr>
              <a:t>CEN/TC 434 WG1</a:t>
            </a:r>
            <a:r>
              <a:rPr lang="en-GB" sz="950" spc="100" dirty="0">
                <a:solidFill>
                  <a:srgbClr val="C2CADE"/>
                </a:solidFill>
                <a:latin typeface="Inter Text" pitchFamily="34" charset="0"/>
                <a:ea typeface="Inter Text" pitchFamily="34" charset="-122"/>
                <a:cs typeface="Inter Text" pitchFamily="34" charset="-120"/>
              </a:rPr>
              <a:t>   ·   </a:t>
            </a:r>
            <a:r>
              <a:rPr lang="en-GB" sz="950" spc="100" dirty="0">
                <a:solidFill>
                  <a:srgbClr val="9AA4C2"/>
                </a:solidFill>
                <a:latin typeface="Inter Text" pitchFamily="34" charset="0"/>
                <a:ea typeface="Inter Text" pitchFamily="34" charset="-122"/>
                <a:cs typeface="Inter Text" pitchFamily="34" charset="-120"/>
              </a:rPr>
              <a:t>EN 16931-1:2026 amendment · Gross prices and rounding</a:t>
            </a:r>
          </a:p>
        </p:txBody>
      </p:sp>
      <p:sp>
        <p:nvSpPr>
          <p:cNvPr id="4" name="SectionLabel 4"/>
          <p:cNvSpPr txBox="1"/>
          <p:nvPr/>
        </p:nvSpPr>
        <p:spPr>
          <a:xfrm>
            <a:off x="822960" y="868680"/>
            <a:ext cx="8229600" cy="274320"/>
          </a:xfrm>
          <a:prstGeom prst="rect">
            <a:avLst/>
          </a:prstGeom>
          <a:noFill/>
          <a:ln/>
        </p:spPr>
        <p:txBody>
          <a:bodyPr wrap="square" lIns="0" tIns="0" rIns="0" bIns="0" rtlCol="0" anchor="ctr"/>
          <a:lstStyle/>
          <a:p>
            <a:pPr marL="0" indent="0" algn="l">
              <a:buNone/>
            </a:pPr>
            <a:r>
              <a:rPr lang="en-GB" sz="1100" spc="300" dirty="0">
                <a:solidFill>
                  <a:srgbClr val="19C3C8"/>
                </a:solidFill>
                <a:latin typeface="Inter SemiBold Text SemiBold" pitchFamily="34" charset="0"/>
                <a:ea typeface="Inter SemiBold Text SemiBold" pitchFamily="34" charset="-122"/>
                <a:cs typeface="Inter SemiBold Text SemiBold" pitchFamily="34" charset="-120"/>
              </a:rPr>
              <a:t>IMPACT</a:t>
            </a:r>
          </a:p>
        </p:txBody>
      </p:sp>
      <p:sp>
        <p:nvSpPr>
          <p:cNvPr id="5" name="Title 5"/>
          <p:cNvSpPr txBox="1"/>
          <p:nvPr/>
        </p:nvSpPr>
        <p:spPr>
          <a:xfrm>
            <a:off x="804672" y="1115568"/>
            <a:ext cx="10424160" cy="822960"/>
          </a:xfrm>
          <a:prstGeom prst="rect">
            <a:avLst/>
          </a:prstGeom>
          <a:noFill/>
          <a:ln/>
        </p:spPr>
        <p:txBody>
          <a:bodyPr wrap="square" lIns="0" tIns="0" rIns="0" bIns="0" rtlCol="0" anchor="t"/>
          <a:lstStyle/>
          <a:p>
            <a:pPr marL="0" indent="0" algn="l">
              <a:buNone/>
            </a:pPr>
            <a:r>
              <a:rPr lang="en-GB" sz="3800" b="1" dirty="0">
                <a:solidFill>
                  <a:srgbClr val="1A2B5E"/>
                </a:solidFill>
                <a:latin typeface="Inter Text" pitchFamily="34" charset="0"/>
                <a:ea typeface="Inter Text" pitchFamily="34" charset="-122"/>
                <a:cs typeface="Inter Text" pitchFamily="34" charset="-120"/>
              </a:rPr>
              <a:t>What changes for existing implementations</a:t>
            </a:r>
          </a:p>
        </p:txBody>
      </p:sp>
      <p:sp>
        <p:nvSpPr>
          <p:cNvPr id="6" name="Tagline 6"/>
          <p:cNvSpPr txBox="1"/>
          <p:nvPr/>
        </p:nvSpPr>
        <p:spPr>
          <a:xfrm>
            <a:off x="822960" y="1865376"/>
            <a:ext cx="10424160" cy="320040"/>
          </a:xfrm>
          <a:prstGeom prst="rect">
            <a:avLst/>
          </a:prstGeom>
          <a:noFill/>
          <a:ln/>
        </p:spPr>
        <p:txBody>
          <a:bodyPr wrap="square" lIns="0" tIns="0" rIns="0" bIns="0" rtlCol="0" anchor="ctr"/>
          <a:lstStyle/>
          <a:p>
            <a:pPr marL="0" indent="0" algn="l">
              <a:buNone/>
            </a:pPr>
            <a:r>
              <a:rPr lang="en-GB" sz="1300" dirty="0">
                <a:solidFill>
                  <a:srgbClr val="5B6890"/>
                </a:solidFill>
                <a:latin typeface="Inter Text" pitchFamily="34" charset="0"/>
                <a:ea typeface="Inter Text" pitchFamily="34" charset="-122"/>
                <a:cs typeface="Inter Text" pitchFamily="34" charset="-120"/>
              </a:rPr>
              <a:t>Nothing that works today breaks — effort only where accuracy was impossible.</a:t>
            </a:r>
          </a:p>
        </p:txBody>
      </p:sp>
      <p:sp>
        <p:nvSpPr>
          <p:cNvPr id="7" name="PageNum 7"/>
          <p:cNvSpPr txBox="1"/>
          <p:nvPr/>
        </p:nvSpPr>
        <p:spPr>
          <a:xfrm>
            <a:off x="10908792" y="6514592"/>
            <a:ext cx="822960" cy="292608"/>
          </a:xfrm>
          <a:prstGeom prst="rect">
            <a:avLst/>
          </a:prstGeom>
          <a:noFill/>
          <a:ln/>
        </p:spPr>
        <p:txBody>
          <a:bodyPr wrap="square" lIns="0" tIns="0" rIns="0" bIns="0" rtlCol="0" anchor="ctr"/>
          <a:lstStyle/>
          <a:p>
            <a:pPr marL="0" indent="0" algn="r">
              <a:buNone/>
            </a:pPr>
            <a:fld id="{F34489CF-F034-4AFD-9989-E9C20810832A}" type="slidenum">
              <a:rPr lang="en-GB" sz="1000" spc="200" dirty="0">
                <a:solidFill>
                  <a:srgbClr val="5B6890"/>
                </a:solidFill>
                <a:latin typeface="Inter SemiBold Text SemiBold" pitchFamily="34" charset="0"/>
                <a:ea typeface="Inter SemiBold Text SemiBold" pitchFamily="34" charset="-122"/>
                <a:cs typeface="Inter SemiBold Text SemiBold" pitchFamily="34" charset="-120"/>
              </a:rPr>
              <a:t>17</a:t>
            </a:fld>
            <a:endParaRPr lang="en-GB" sz="1000" spc="200" dirty="0">
              <a:solidFill>
                <a:srgbClr val="5B6890"/>
              </a:solidFill>
              <a:latin typeface="Inter SemiBold Text SemiBold" pitchFamily="34" charset="0"/>
              <a:ea typeface="Inter SemiBold Text SemiBold" pitchFamily="34" charset="-122"/>
              <a:cs typeface="Inter SemiBold Text SemiBold" pitchFamily="34" charset="-120"/>
            </a:endParaRPr>
          </a:p>
        </p:txBody>
      </p:sp>
      <p:graphicFrame>
        <p:nvGraphicFramePr>
          <p:cNvPr id="8" name="Table 8"/>
          <p:cNvGraphicFramePr>
            <a:graphicFrameLocks noGrp="1"/>
          </p:cNvGraphicFramePr>
          <p:nvPr/>
        </p:nvGraphicFramePr>
        <p:xfrm>
          <a:off x="822960" y="2331720"/>
          <a:ext cx="6537960" cy="2487168"/>
        </p:xfrm>
        <a:graphic>
          <a:graphicData uri="http://schemas.openxmlformats.org/drawingml/2006/table">
            <a:tbl>
              <a:tblPr firstRow="1" bandRow="1"/>
              <a:tblGrid>
                <a:gridCol w="192024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tblGrid>
              <a:tr h="384048">
                <a:tc>
                  <a:txBody>
                    <a:bodyPr/>
                    <a:lstStyle/>
                    <a:p>
                      <a:pPr marL="0" indent="0" algn="l">
                        <a:buNone/>
                      </a:pPr>
                      <a:r>
                        <a:rPr lang="en-GB" sz="1050" dirty="0">
                          <a:solidFill>
                            <a:srgbClr val="FFFFFF"/>
                          </a:solidFill>
                          <a:latin typeface="Inter SemiBold Text SemiBold" pitchFamily="34" charset="0"/>
                          <a:ea typeface="Inter SemiBold Text SemiBold" pitchFamily="34" charset="-122"/>
                          <a:cs typeface="Inter SemiBold Text SemiBold" pitchFamily="34" charset="-120"/>
                        </a:rPr>
                        <a:t>Who</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1A2B5E"/>
                    </a:solidFill>
                  </a:tcPr>
                </a:tc>
                <a:tc>
                  <a:txBody>
                    <a:bodyPr/>
                    <a:lstStyle/>
                    <a:p>
                      <a:pPr marL="0" indent="0" algn="l">
                        <a:buNone/>
                      </a:pPr>
                      <a:r>
                        <a:rPr lang="en-GB" sz="1050" dirty="0">
                          <a:solidFill>
                            <a:srgbClr val="FFFFFF"/>
                          </a:solidFill>
                          <a:latin typeface="Inter SemiBold Text SemiBold" pitchFamily="34" charset="0"/>
                          <a:ea typeface="Inter SemiBold Text SemiBold" pitchFamily="34" charset="-122"/>
                          <a:cs typeface="Inter SemiBold Text SemiBold" pitchFamily="34" charset="-120"/>
                        </a:rPr>
                        <a:t>What changes</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1A2B5E"/>
                    </a:solidFill>
                  </a:tcPr>
                </a:tc>
                <a:tc>
                  <a:txBody>
                    <a:bodyPr/>
                    <a:lstStyle/>
                    <a:p>
                      <a:pPr marL="0" indent="0" algn="l">
                        <a:buNone/>
                      </a:pPr>
                      <a:r>
                        <a:rPr lang="en-GB" sz="1050" dirty="0">
                          <a:solidFill>
                            <a:srgbClr val="FFFFFF"/>
                          </a:solidFill>
                          <a:latin typeface="Inter SemiBold Text SemiBold" pitchFamily="34" charset="0"/>
                          <a:ea typeface="Inter SemiBold Text SemiBold" pitchFamily="34" charset="-122"/>
                          <a:cs typeface="Inter SemiBold Text SemiBold" pitchFamily="34" charset="-120"/>
                        </a:rPr>
                        <a:t>Effort</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1A2B5E"/>
                    </a:solidFill>
                  </a:tcPr>
                </a:tc>
                <a:extLst>
                  <a:ext uri="{0D108BD9-81ED-4DB2-BD59-A6C34878D82A}">
                    <a16:rowId xmlns:a16="http://schemas.microsoft.com/office/drawing/2014/main" val="10000"/>
                  </a:ext>
                </a:extLst>
              </a:tr>
              <a:tr h="402336">
                <a:tc>
                  <a:txBody>
                    <a:bodyPr/>
                    <a:lstStyle/>
                    <a:p>
                      <a:pPr marL="0" indent="0" algn="l">
                        <a:buNone/>
                      </a:pPr>
                      <a:r>
                        <a:rPr lang="en-GB" sz="1100" dirty="0">
                          <a:solidFill>
                            <a:srgbClr val="1A2B5E"/>
                          </a:solidFill>
                          <a:latin typeface="Inter SemiBold Text SemiBold" pitchFamily="34" charset="0"/>
                          <a:ea typeface="Inter SemiBold Text SemiBold" pitchFamily="34" charset="-122"/>
                          <a:cs typeface="Inter SemiBold Text SemiBold" pitchFamily="34" charset="-120"/>
                        </a:rPr>
                        <a:t>Issuers: net prices, 2 dp</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FFF"/>
                    </a:solidFill>
                  </a:tcPr>
                </a:tc>
                <a:tc>
                  <a:txBody>
                    <a:bodyPr/>
                    <a:lstStyle/>
                    <a:p>
                      <a:pPr marL="0" indent="0" algn="l">
                        <a:buNone/>
                      </a:pPr>
                      <a:r>
                        <a:rPr lang="en-GB" sz="1100" dirty="0">
                          <a:solidFill>
                            <a:srgbClr val="5B6890"/>
                          </a:solidFill>
                          <a:latin typeface="Inter Text" pitchFamily="34" charset="0"/>
                          <a:ea typeface="Inter Text" pitchFamily="34" charset="-122"/>
                          <a:cs typeface="Inter Text" pitchFamily="34" charset="-120"/>
                        </a:rPr>
                        <a:t>nothing</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FFF"/>
                    </a:solidFill>
                  </a:tcPr>
                </a:tc>
                <a:tc>
                  <a:txBody>
                    <a:bodyPr/>
                    <a:lstStyle/>
                    <a:p>
                      <a:pPr marL="0" indent="0" algn="l">
                        <a:buNone/>
                      </a:pPr>
                      <a:r>
                        <a:rPr lang="en-GB" sz="1100" dirty="0">
                          <a:solidFill>
                            <a:srgbClr val="5B6890"/>
                          </a:solidFill>
                          <a:latin typeface="Inter Text" pitchFamily="34" charset="0"/>
                          <a:ea typeface="Inter Text" pitchFamily="34" charset="-122"/>
                          <a:cs typeface="Inter Text" pitchFamily="34" charset="-120"/>
                        </a:rPr>
                        <a:t>none</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FFF"/>
                    </a:solidFill>
                  </a:tcPr>
                </a:tc>
                <a:extLst>
                  <a:ext uri="{0D108BD9-81ED-4DB2-BD59-A6C34878D82A}">
                    <a16:rowId xmlns:a16="http://schemas.microsoft.com/office/drawing/2014/main" val="10001"/>
                  </a:ext>
                </a:extLst>
              </a:tr>
              <a:tr h="402336">
                <a:tc>
                  <a:txBody>
                    <a:bodyPr/>
                    <a:lstStyle/>
                    <a:p>
                      <a:pPr marL="0" indent="0" algn="l">
                        <a:buNone/>
                      </a:pPr>
                      <a:r>
                        <a:rPr lang="en-GB" sz="1100" dirty="0">
                          <a:solidFill>
                            <a:srgbClr val="1A2B5E"/>
                          </a:solidFill>
                          <a:latin typeface="Inter SemiBold Text SemiBold" pitchFamily="34" charset="0"/>
                          <a:ea typeface="Inter SemiBold Text SemiBold" pitchFamily="34" charset="-122"/>
                          <a:cs typeface="Inter SemiBold Text SemiBold" pitchFamily="34" charset="-120"/>
                        </a:rPr>
                        <a:t>Receivers with 2 dp</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FFF"/>
                    </a:solidFill>
                  </a:tcPr>
                </a:tc>
                <a:tc>
                  <a:txBody>
                    <a:bodyPr/>
                    <a:lstStyle/>
                    <a:p>
                      <a:pPr marL="0" indent="0" algn="l">
                        <a:buNone/>
                      </a:pPr>
                      <a:r>
                        <a:rPr lang="en-GB" sz="1100" dirty="0">
                          <a:solidFill>
                            <a:srgbClr val="5B6890"/>
                          </a:solidFill>
                          <a:latin typeface="Inter Text" pitchFamily="34" charset="0"/>
                          <a:ea typeface="Inter Text" pitchFamily="34" charset="-122"/>
                          <a:cs typeface="Inter Text" pitchFamily="34" charset="-120"/>
                        </a:rPr>
                        <a:t>round precise values once on import</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FFF"/>
                    </a:solidFill>
                  </a:tcPr>
                </a:tc>
                <a:tc>
                  <a:txBody>
                    <a:bodyPr/>
                    <a:lstStyle/>
                    <a:p>
                      <a:pPr marL="0" indent="0" algn="l">
                        <a:buNone/>
                      </a:pPr>
                      <a:r>
                        <a:rPr lang="en-GB" sz="1100" dirty="0">
                          <a:solidFill>
                            <a:srgbClr val="5B6890"/>
                          </a:solidFill>
                          <a:latin typeface="Inter Text" pitchFamily="34" charset="0"/>
                          <a:ea typeface="Inter Text" pitchFamily="34" charset="-122"/>
                          <a:cs typeface="Inter Text" pitchFamily="34" charset="-120"/>
                        </a:rPr>
                        <a:t>small, only for precise invoices</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FFF"/>
                    </a:solidFill>
                  </a:tcPr>
                </a:tc>
                <a:extLst>
                  <a:ext uri="{0D108BD9-81ED-4DB2-BD59-A6C34878D82A}">
                    <a16:rowId xmlns:a16="http://schemas.microsoft.com/office/drawing/2014/main" val="10001"/>
                  </a:ext>
                </a:extLst>
              </a:tr>
              <a:tr h="402336">
                <a:tc>
                  <a:txBody>
                    <a:bodyPr/>
                    <a:lstStyle/>
                    <a:p>
                      <a:pPr marL="0" indent="0" algn="l">
                        <a:buNone/>
                      </a:pPr>
                      <a:r>
                        <a:rPr lang="en-GB" sz="1100" dirty="0">
                          <a:solidFill>
                            <a:srgbClr val="1A2B5E"/>
                          </a:solidFill>
                          <a:latin typeface="Inter SemiBold Text SemiBold" pitchFamily="34" charset="0"/>
                          <a:ea typeface="Inter SemiBold Text SemiBold" pitchFamily="34" charset="-122"/>
                          <a:cs typeface="Inter SemiBold Text SemiBold" pitchFamily="34" charset="-120"/>
                        </a:rPr>
                        <a:t>Gross-price invoices</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FFF"/>
                    </a:solidFill>
                  </a:tcPr>
                </a:tc>
                <a:tc>
                  <a:txBody>
                    <a:bodyPr/>
                    <a:lstStyle/>
                    <a:p>
                      <a:pPr marL="0" indent="0" algn="l">
                        <a:buNone/>
                      </a:pPr>
                      <a:r>
                        <a:rPr lang="en-GB" sz="1100" dirty="0">
                          <a:solidFill>
                            <a:srgbClr val="5B6890"/>
                          </a:solidFill>
                          <a:latin typeface="Inter Text" pitchFamily="34" charset="0"/>
                          <a:ea typeface="Inter Text" pitchFamily="34" charset="-122"/>
                          <a:cs typeface="Inter Text" pitchFamily="34" charset="-120"/>
                        </a:rPr>
                        <a:t>new “plus VAT” terms </a:t>
                      </a:r>
                      <a:r>
                        <a:rPr lang="en-GB" sz="1100" dirty="0">
                          <a:solidFill>
                            <a:srgbClr val="5B6890"/>
                          </a:solidFill>
                          <a:latin typeface="Inter Text" pitchFamily="34" charset="0"/>
                          <a:ea typeface="Inter Text" pitchFamily="34" charset="-122"/>
                          <a:cs typeface="Inter Text" pitchFamily="34" charset="-120"/>
                          <a:hlinkClick r:id="rId4">
                            <a:extLst>
                              <a:ext uri="{A12FA001-AC4F-418D-AE19-62706E023703}">
                                <ahyp:hlinkClr xmlns:ahyp="http://schemas.microsoft.com/office/drawing/2018/hyperlinkcolor" val="tx"/>
                              </a:ext>
                            </a:extLst>
                          </a:hlinkClick>
                        </a:rPr>
                        <a:t>(#164)</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FFF"/>
                    </a:solidFill>
                  </a:tcPr>
                </a:tc>
                <a:tc>
                  <a:txBody>
                    <a:bodyPr/>
                    <a:lstStyle/>
                    <a:p>
                      <a:pPr marL="0" indent="0" algn="l">
                        <a:buNone/>
                      </a:pPr>
                      <a:r>
                        <a:rPr lang="en-GB" sz="1100" dirty="0">
                          <a:solidFill>
                            <a:srgbClr val="5B6890"/>
                          </a:solidFill>
                          <a:latin typeface="Inter Text" pitchFamily="34" charset="0"/>
                          <a:ea typeface="Inter Text" pitchFamily="34" charset="-122"/>
                          <a:cs typeface="Inter Text" pitchFamily="34" charset="-120"/>
                        </a:rPr>
                        <a:t>new core feature; no correct way existed</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FFF"/>
                    </a:solidFill>
                  </a:tcPr>
                </a:tc>
                <a:extLst>
                  <a:ext uri="{0D108BD9-81ED-4DB2-BD59-A6C34878D82A}">
                    <a16:rowId xmlns:a16="http://schemas.microsoft.com/office/drawing/2014/main" val="10001"/>
                  </a:ext>
                </a:extLst>
              </a:tr>
              <a:tr h="402336">
                <a:tc>
                  <a:txBody>
                    <a:bodyPr/>
                    <a:lstStyle/>
                    <a:p>
                      <a:pPr marL="0" indent="0" algn="l">
                        <a:buNone/>
                      </a:pPr>
                      <a:r>
                        <a:rPr lang="en-GB" sz="1100" dirty="0">
                          <a:solidFill>
                            <a:srgbClr val="1A2B5E"/>
                          </a:solidFill>
                          <a:latin typeface="Inter SemiBold Text SemiBold" pitchFamily="34" charset="0"/>
                          <a:ea typeface="Inter SemiBold Text SemiBold" pitchFamily="34" charset="-122"/>
                          <a:cs typeface="Inter SemiBold Text SemiBold" pitchFamily="34" charset="-120"/>
                        </a:rPr>
                        <a:t>Validators</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FFF"/>
                    </a:solidFill>
                  </a:tcPr>
                </a:tc>
                <a:tc>
                  <a:txBody>
                    <a:bodyPr/>
                    <a:lstStyle/>
                    <a:p>
                      <a:pPr marL="0" indent="0" algn="l">
                        <a:buNone/>
                      </a:pPr>
                      <a:r>
                        <a:rPr lang="en-GB" sz="1100" dirty="0">
                          <a:solidFill>
                            <a:srgbClr val="5B6890"/>
                          </a:solidFill>
                          <a:latin typeface="Inter Text" pitchFamily="34" charset="0"/>
                          <a:ea typeface="Inter Text" pitchFamily="34" charset="-122"/>
                          <a:cs typeface="Inter Text" pitchFamily="34" charset="-120"/>
                        </a:rPr>
                        <a:t>exact decimal arithmetic (decimal128)</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FFF"/>
                    </a:solidFill>
                  </a:tcPr>
                </a:tc>
                <a:tc>
                  <a:txBody>
                    <a:bodyPr/>
                    <a:lstStyle/>
                    <a:p>
                      <a:pPr marL="0" indent="0" algn="l">
                        <a:buNone/>
                      </a:pPr>
                      <a:r>
                        <a:rPr lang="en-GB" sz="1100" dirty="0">
                          <a:solidFill>
                            <a:srgbClr val="5B6890"/>
                          </a:solidFill>
                          <a:latin typeface="Inter Text" pitchFamily="34" charset="0"/>
                          <a:ea typeface="Inter Text" pitchFamily="34" charset="-122"/>
                          <a:cs typeface="Inter Text" pitchFamily="34" charset="-120"/>
                        </a:rPr>
                        <a:t>test documents exist (</a:t>
                      </a:r>
                      <a:r>
                        <a:rPr lang="en-GB" sz="1100" dirty="0">
                          <a:solidFill>
                            <a:srgbClr val="5B6890"/>
                          </a:solidFill>
                          <a:latin typeface="Inter Text" pitchFamily="34" charset="0"/>
                          <a:ea typeface="Inter Text" pitchFamily="34" charset="-122"/>
                          <a:cs typeface="Inter Text" pitchFamily="34" charset="-120"/>
                          <a:hlinkClick r:id="rId6">
                            <a:extLst>
                              <a:ext uri="{A12FA001-AC4F-418D-AE19-62706E023703}">
                                <ahyp:hlinkClr xmlns:ahyp="http://schemas.microsoft.com/office/drawing/2018/hyperlinkcolor" val="tx"/>
                              </a:ext>
                            </a:extLst>
                          </a:hlinkClick>
                        </a:rPr>
                        <a:t>Svanton</a:t>
                      </a:r>
                      <a:r>
                        <a:rPr lang="en-GB" sz="1100" dirty="0">
                          <a:solidFill>
                            <a:srgbClr val="5B6890"/>
                          </a:solidFill>
                          <a:latin typeface="Inter Text" pitchFamily="34" charset="0"/>
                          <a:ea typeface="Inter Text" pitchFamily="34" charset="-122"/>
                          <a:cs typeface="Inter Text" pitchFamily="34" charset="-120"/>
                        </a:rPr>
                        <a:t>)</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FFF"/>
                    </a:solidFill>
                  </a:tcPr>
                </a:tc>
                <a:extLst>
                  <a:ext uri="{0D108BD9-81ED-4DB2-BD59-A6C34878D82A}">
                    <a16:rowId xmlns:a16="http://schemas.microsoft.com/office/drawing/2014/main" val="10001"/>
                  </a:ext>
                </a:extLst>
              </a:tr>
              <a:tr h="402336">
                <a:tc>
                  <a:txBody>
                    <a:bodyPr/>
                    <a:lstStyle/>
                    <a:p>
                      <a:pPr marL="0" indent="0" algn="l">
                        <a:buNone/>
                      </a:pPr>
                      <a:r>
                        <a:rPr lang="en-GB" sz="1100" dirty="0">
                          <a:solidFill>
                            <a:srgbClr val="1A2B5E"/>
                          </a:solidFill>
                          <a:latin typeface="Inter SemiBold Text SemiBold" pitchFamily="34" charset="0"/>
                          <a:ea typeface="Inter SemiBold Text SemiBold" pitchFamily="34" charset="-122"/>
                          <a:cs typeface="Inter SemiBold Text SemiBold" pitchFamily="34" charset="-120"/>
                        </a:rPr>
                        <a:t>Syntaxes UBL and CII</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FFF"/>
                    </a:solidFill>
                  </a:tcPr>
                </a:tc>
                <a:tc>
                  <a:txBody>
                    <a:bodyPr/>
                    <a:lstStyle/>
                    <a:p>
                      <a:pPr marL="0" indent="0" algn="l">
                        <a:buNone/>
                      </a:pPr>
                      <a:r>
                        <a:rPr lang="en-GB" sz="1100" dirty="0">
                          <a:solidFill>
                            <a:srgbClr val="5B6890"/>
                          </a:solidFill>
                          <a:latin typeface="Inter Text" pitchFamily="34" charset="0"/>
                          <a:ea typeface="Inter Text" pitchFamily="34" charset="-122"/>
                          <a:cs typeface="Inter Text" pitchFamily="34" charset="-120"/>
                        </a:rPr>
                        <a:t>none: amounts are xsd:decimal</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FFF"/>
                    </a:solidFill>
                  </a:tcPr>
                </a:tc>
                <a:tc>
                  <a:txBody>
                    <a:bodyPr/>
                    <a:lstStyle/>
                    <a:p>
                      <a:pPr marL="0" indent="0" algn="l">
                        <a:buNone/>
                      </a:pPr>
                      <a:r>
                        <a:rPr lang="en-GB" sz="1100" dirty="0">
                          <a:solidFill>
                            <a:srgbClr val="5B6890"/>
                          </a:solidFill>
                          <a:latin typeface="Inter Text" pitchFamily="34" charset="0"/>
                          <a:ea typeface="Inter Text" pitchFamily="34" charset="-122"/>
                          <a:cs typeface="Inter Text" pitchFamily="34" charset="-120"/>
                        </a:rPr>
                        <a:t>none</a:t>
                      </a:r>
                    </a:p>
                  </a:txBody>
                  <a:tcPr marL="73152" marR="73152" marT="36576" marB="36576" anchor="ctr">
                    <a:lnL w="9525">
                      <a:solidFill>
                        <a:srgbClr val="E2E7F2"/>
                      </a:solidFill>
                    </a:lnL>
                    <a:lnR w="9525">
                      <a:solidFill>
                        <a:srgbClr val="E2E7F2"/>
                      </a:solidFill>
                    </a:lnR>
                    <a:lnT w="9525">
                      <a:solidFill>
                        <a:srgbClr val="E2E7F2"/>
                      </a:solidFill>
                    </a:lnT>
                    <a:lnB w="9525">
                      <a:solidFill>
                        <a:srgbClr val="E2E7F2"/>
                      </a:solidFill>
                    </a:lnB>
                    <a:solidFill>
                      <a:srgbClr val="FFFFFF"/>
                    </a:solidFill>
                  </a:tcPr>
                </a:tc>
                <a:extLst>
                  <a:ext uri="{0D108BD9-81ED-4DB2-BD59-A6C34878D82A}">
                    <a16:rowId xmlns:a16="http://schemas.microsoft.com/office/drawing/2014/main" val="10001"/>
                  </a:ext>
                </a:extLst>
              </a:tr>
            </a:tbl>
          </a:graphicData>
        </a:graphic>
      </p:graphicFrame>
      <p:sp>
        <p:nvSpPr>
          <p:cNvPr id="9" name="Text 9"/>
          <p:cNvSpPr txBox="1"/>
          <p:nvPr/>
        </p:nvSpPr>
        <p:spPr>
          <a:xfrm>
            <a:off x="822960" y="4937760"/>
            <a:ext cx="6537960" cy="914400"/>
          </a:xfrm>
          <a:prstGeom prst="rect">
            <a:avLst/>
          </a:prstGeom>
          <a:noFill/>
          <a:ln/>
        </p:spPr>
        <p:txBody>
          <a:bodyPr wrap="square" lIns="0" tIns="0" rIns="0" bIns="0" rtlCol="0" anchor="t"/>
          <a:lstStyle/>
          <a:p>
            <a:pPr marL="0" indent="0" algn="l">
              <a:lnSpc>
                <a:spcPct val="110000"/>
              </a:lnSpc>
              <a:buNone/>
            </a:pPr>
            <a:r>
              <a:rPr lang="en-GB" sz="1100" dirty="0">
                <a:solidFill>
                  <a:srgbClr val="5B6890"/>
                </a:solidFill>
                <a:latin typeface="Inter Text" pitchFamily="34" charset="0"/>
                <a:ea typeface="Inter Text" pitchFamily="34" charset="-122"/>
                <a:cs typeface="Inter Text" pitchFamily="34" charset="-120"/>
              </a:rPr>
              <a:t>Removing a maximum is not a minimum: every invoice that is conformant today stays conformant, at most with a warning </a:t>
            </a:r>
            <a:r>
              <a:rPr lang="en-GB" sz="1100" dirty="0">
                <a:solidFill>
                  <a:srgbClr val="5B6890"/>
                </a:solidFill>
                <a:latin typeface="Inter Text" pitchFamily="34" charset="0"/>
                <a:ea typeface="Inter Text" pitchFamily="34" charset="-122"/>
                <a:cs typeface="Inter Text" pitchFamily="34" charset="-120"/>
                <a:hlinkClick r:id="rId5">
                  <a:extLst>
                    <a:ext uri="{A12FA001-AC4F-418D-AE19-62706E023703}">
                      <ahyp:hlinkClr xmlns:ahyp="http://schemas.microsoft.com/office/drawing/2018/hyperlinkcolor" val="tx"/>
                    </a:ext>
                  </a:extLst>
                </a:hlinkClick>
              </a:rPr>
              <a:t>(#163)</a:t>
            </a:r>
            <a:r>
              <a:rPr lang="en-GB" sz="1100" dirty="0">
                <a:solidFill>
                  <a:srgbClr val="5B6890"/>
                </a:solidFill>
                <a:latin typeface="Inter Text" pitchFamily="34" charset="0"/>
                <a:ea typeface="Inter Text" pitchFamily="34" charset="-122"/>
                <a:cs typeface="Inter Text" pitchFamily="34" charset="-120"/>
              </a:rPr>
              <a:t>.</a:t>
            </a:r>
          </a:p>
        </p:txBody>
      </p:sp>
      <p:sp>
        <p:nvSpPr>
          <p:cNvPr id="10" name="Panel 10"/>
          <p:cNvSpPr/>
          <p:nvPr/>
        </p:nvSpPr>
        <p:spPr>
          <a:xfrm>
            <a:off x="7589520" y="2331720"/>
            <a:ext cx="3776472" cy="3520440"/>
          </a:xfrm>
          <a:prstGeom prst="roundRect">
            <a:avLst>
              <a:gd name="adj" fmla="val 2597"/>
            </a:avLst>
          </a:prstGeom>
          <a:solidFill>
            <a:srgbClr val="1A2B5E"/>
          </a:solidFill>
          <a:ln>
            <a:noFill/>
          </a:ln>
          <a:effectLst>
            <a:outerShdw blurRad="101600" dist="38100" dir="5400000" algn="bl" rotWithShape="0">
              <a:srgbClr val="0A1230">
                <a:alpha val="18000"/>
              </a:srgbClr>
            </a:outerShdw>
          </a:effectLst>
        </p:spPr>
        <p:txBody>
          <a:bodyPr/>
          <a:lstStyle/>
          <a:p>
            <a:endParaRPr lang="en-GB"/>
          </a:p>
        </p:txBody>
      </p:sp>
      <p:sp>
        <p:nvSpPr>
          <p:cNvPr id="11" name="Text 11"/>
          <p:cNvSpPr txBox="1"/>
          <p:nvPr/>
        </p:nvSpPr>
        <p:spPr>
          <a:xfrm>
            <a:off x="7909560" y="2514600"/>
            <a:ext cx="3200400" cy="274320"/>
          </a:xfrm>
          <a:prstGeom prst="rect">
            <a:avLst/>
          </a:prstGeom>
          <a:noFill/>
          <a:ln/>
        </p:spPr>
        <p:txBody>
          <a:bodyPr wrap="square" lIns="0" tIns="0" rIns="0" bIns="0" rtlCol="0" anchor="ctr"/>
          <a:lstStyle/>
          <a:p>
            <a:pPr marL="0" indent="0" algn="l">
              <a:buNone/>
            </a:pPr>
            <a:r>
              <a:rPr lang="en-GB" sz="1050" spc="150" dirty="0">
                <a:solidFill>
                  <a:srgbClr val="19C3C8"/>
                </a:solidFill>
                <a:latin typeface="Inter SemiBold Text SemiBold" pitchFamily="34" charset="0"/>
                <a:ea typeface="Inter SemiBold Text SemiBold" pitchFamily="34" charset="-122"/>
                <a:cs typeface="Inter SemiBold Text SemiBold" pitchFamily="34" charset="-120"/>
              </a:rPr>
              <a:t>WHAT STAYS</a:t>
            </a:r>
          </a:p>
        </p:txBody>
      </p:sp>
      <p:sp>
        <p:nvSpPr>
          <p:cNvPr id="27" name="Pill 27"/>
          <p:cNvSpPr/>
          <p:nvPr/>
        </p:nvSpPr>
        <p:spPr>
          <a:xfrm>
            <a:off x="822960" y="5943600"/>
            <a:ext cx="10543032" cy="411480"/>
          </a:xfrm>
          <a:prstGeom prst="roundRect">
            <a:avLst>
              <a:gd name="adj" fmla="val 50000"/>
            </a:avLst>
          </a:prstGeom>
          <a:solidFill>
            <a:srgbClr val="E7F8F8"/>
          </a:solidFill>
          <a:ln w="9525">
            <a:solidFill>
              <a:srgbClr val="B5E9EA"/>
            </a:solidFill>
            <a:prstDash val="solid"/>
          </a:ln>
        </p:spPr>
        <p:txBody>
          <a:bodyPr wrap="square" lIns="36576" tIns="36576" rIns="36576" bIns="36576" rtlCol="0" anchor="ctr"/>
          <a:lstStyle/>
          <a:p>
            <a:pPr marL="0" indent="0" algn="ctr">
              <a:buNone/>
            </a:pPr>
            <a:r>
              <a:rPr lang="en-GB" sz="1200" dirty="0">
                <a:solidFill>
                  <a:srgbClr val="5B6890"/>
                </a:solidFill>
                <a:latin typeface="Inter SemiBold Text SemiBold" pitchFamily="34" charset="0"/>
                <a:ea typeface="Inter SemiBold Text SemiBold" pitchFamily="34" charset="-122"/>
                <a:cs typeface="Inter SemiBold Text SemiBold" pitchFamily="34" charset="-120"/>
              </a:rPr>
              <a:t>Impact study (</a:t>
            </a:r>
            <a:r>
              <a:rPr lang="en-GB" sz="1200" dirty="0">
                <a:solidFill>
                  <a:srgbClr val="5B6890"/>
                </a:solidFill>
                <a:latin typeface="Inter SemiBold Text SemiBold" pitchFamily="34" charset="0"/>
                <a:ea typeface="Inter SemiBold Text SemiBold" pitchFamily="34" charset="-122"/>
                <a:cs typeface="Inter SemiBold Text SemiBold" pitchFamily="34" charset="-120"/>
                <a:hlinkClick r:id="rId7">
                  <a:extLst>
                    <a:ext uri="{A12FA001-AC4F-418D-AE19-62706E023703}">
                      <ahyp:hlinkClr xmlns:ahyp="http://schemas.microsoft.com/office/drawing/2018/hyperlinkcolor" val="tx"/>
                    </a:ext>
                  </a:extLst>
                </a:hlinkClick>
              </a:rPr>
              <a:t>Cyrille Sautereau</a:t>
            </a:r>
            <a:r>
              <a:rPr lang="en-GB" sz="1200" dirty="0">
                <a:solidFill>
                  <a:srgbClr val="5B6890"/>
                </a:solidFill>
                <a:latin typeface="Inter SemiBold Text SemiBold" pitchFamily="34" charset="0"/>
                <a:ea typeface="Inter SemiBold Text SemiBold" pitchFamily="34" charset="-122"/>
                <a:cs typeface="Inter SemiBold Text SemiBold" pitchFamily="34" charset="-120"/>
              </a:rPr>
              <a:t>):  </a:t>
            </a:r>
            <a:r>
              <a:rPr lang="en-GB" sz="1200" dirty="0">
                <a:solidFill>
                  <a:srgbClr val="5B6890"/>
                </a:solidFill>
                <a:latin typeface="Inter Text" pitchFamily="34" charset="0"/>
                <a:ea typeface="Inter Text" pitchFamily="34" charset="-122"/>
                <a:cs typeface="Inter Text" pitchFamily="34" charset="-120"/>
              </a:rPr>
              <a:t>does a system round a precise value on import — or reject the invoice?</a:t>
            </a:r>
          </a:p>
        </p:txBody>
      </p:sp>
      <p:sp>
        <p:nvSpPr>
          <p:cNvPr id="28" name="Speaker 28">
            <a:hlinkClick r:id="rId3"/>
          </p:cNvPr>
          <p:cNvSpPr txBox="1"/>
          <p:nvPr/>
        </p:nvSpPr>
        <p:spPr>
          <a:xfrm>
            <a:off x="7680960" y="6514592"/>
            <a:ext cx="3154680" cy="292608"/>
          </a:xfrm>
          <a:prstGeom prst="rect">
            <a:avLst/>
          </a:prstGeom>
          <a:noFill/>
          <a:ln/>
        </p:spPr>
        <p:txBody>
          <a:bodyPr wrap="square" lIns="0" tIns="0" rIns="0" bIns="0" rtlCol="0" anchor="ctr"/>
          <a:lstStyle/>
          <a:p>
            <a:pPr marL="0" indent="0" algn="r">
              <a:buNone/>
            </a:pPr>
            <a:r>
              <a:rPr lang="en-GB" sz="1000" spc="100" dirty="0">
                <a:solidFill>
                  <a:srgbClr val="9AA4C2"/>
                </a:solidFill>
                <a:latin typeface="Inter Medium Text Medium" pitchFamily="34" charset="0"/>
                <a:ea typeface="Inter Medium Text Medium" pitchFamily="34" charset="-122"/>
                <a:cs typeface="Inter Medium Text Medium" pitchFamily="34" charset="-120"/>
              </a:rPr>
              <a:t>© Svante Schubert</a:t>
            </a:r>
          </a:p>
        </p:txBody>
      </p:sp>
      <p:sp>
        <p:nvSpPr>
          <p:cNvPr id="29" name="Callout 29"/>
          <p:cNvSpPr/>
          <p:nvPr/>
        </p:nvSpPr>
        <p:spPr>
          <a:xfrm>
            <a:off x="822960" y="5422392"/>
            <a:ext cx="6537960" cy="457200"/>
          </a:xfrm>
          <a:prstGeom prst="roundRect">
            <a:avLst>
              <a:gd name="adj" fmla="val 18000"/>
            </a:avLst>
          </a:prstGeom>
          <a:solidFill>
            <a:srgbClr val="FFF3E6"/>
          </a:solidFill>
          <a:ln w="9525">
            <a:solidFill>
              <a:srgbClr val="F5CFA3"/>
            </a:solidFill>
            <a:prstDash val="solid"/>
          </a:ln>
        </p:spPr>
        <p:txBody>
          <a:bodyPr wrap="square" lIns="91440" tIns="27432" rIns="91440" bIns="27432" rtlCol="0" anchor="ctr"/>
          <a:lstStyle/>
          <a:p>
            <a:pPr marL="0" indent="0" algn="l">
              <a:buNone/>
            </a:pPr>
            <a:r>
              <a:rPr lang="en-GB" sz="1050" dirty="0">
                <a:solidFill>
                  <a:srgbClr val="B85C0A"/>
                </a:solidFill>
                <a:latin typeface="Inter SemiBold Text SemiBold" pitchFamily="34" charset="0"/>
                <a:ea typeface="Inter SemiBold Text SemiBold" pitchFamily="34" charset="-122"/>
                <a:cs typeface="Inter SemiBold Text SemiBold" pitchFamily="34" charset="-120"/>
              </a:rPr>
              <a:t>Gross-price invoices never worked in the core: </a:t>
            </a:r>
            <a:r>
              <a:rPr lang="en-GB" sz="1050" dirty="0">
                <a:solidFill>
                  <a:srgbClr val="B85C0A"/>
                </a:solidFill>
                <a:latin typeface="Inter Text" pitchFamily="34" charset="0"/>
                <a:ea typeface="Inter Text" pitchFamily="34" charset="-122"/>
                <a:cs typeface="Inter Text" pitchFamily="34" charset="-120"/>
              </a:rPr>
              <a:t>BMF letter para. 18; workaround only until 31 Dec 2027 (para. 19).</a:t>
            </a:r>
          </a:p>
        </p:txBody>
      </p:sp>
      <p:sp>
        <p:nvSpPr>
          <p:cNvPr id="30" name="Shape 20 c30"/>
          <p:cNvSpPr/>
          <p:nvPr/>
        </p:nvSpPr>
        <p:spPr>
          <a:xfrm>
            <a:off x="7909560" y="2990088"/>
            <a:ext cx="292608" cy="292608"/>
          </a:xfrm>
          <a:prstGeom prst="ellipse">
            <a:avLst/>
          </a:prstGeom>
          <a:solidFill>
            <a:srgbClr val="19C3C8"/>
          </a:solidFill>
          <a:ln>
            <a:noFill/>
          </a:ln>
        </p:spPr>
        <p:txBody>
          <a:bodyPr/>
          <a:lstStyle/>
          <a:p>
            <a:endParaRPr lang="en-GB"/>
          </a:p>
        </p:txBody>
      </p:sp>
      <p:sp>
        <p:nvSpPr>
          <p:cNvPr id="31" name="Text 21 c31"/>
          <p:cNvSpPr txBox="1"/>
          <p:nvPr/>
        </p:nvSpPr>
        <p:spPr>
          <a:xfrm>
            <a:off x="7909560" y="2990088"/>
            <a:ext cx="292608" cy="292608"/>
          </a:xfrm>
          <a:prstGeom prst="rect">
            <a:avLst/>
          </a:prstGeom>
          <a:noFill/>
          <a:ln/>
        </p:spPr>
        <p:txBody>
          <a:bodyPr wrap="square" lIns="0" tIns="0" rIns="0" bIns="0" rtlCol="0" anchor="ctr"/>
          <a:lstStyle/>
          <a:p>
            <a:pPr marL="0" indent="0" algn="ctr">
              <a:buNone/>
            </a:pPr>
            <a:r>
              <a:rPr lang="en-GB" sz="1200" dirty="0">
                <a:solidFill>
                  <a:srgbClr val="1A2B5E"/>
                </a:solidFill>
                <a:latin typeface="Inter SemiBold Text SemiBold" pitchFamily="34" charset="0"/>
                <a:ea typeface="Inter SemiBold Text SemiBold" pitchFamily="34" charset="-122"/>
                <a:cs typeface="Inter SemiBold Text SemiBold" pitchFamily="34" charset="-120"/>
              </a:rPr>
              <a:t>✓</a:t>
            </a:r>
          </a:p>
        </p:txBody>
      </p:sp>
      <p:sp>
        <p:nvSpPr>
          <p:cNvPr id="32" name="Text 22 c32"/>
          <p:cNvSpPr txBox="1"/>
          <p:nvPr/>
        </p:nvSpPr>
        <p:spPr>
          <a:xfrm>
            <a:off x="8366760" y="2926080"/>
            <a:ext cx="2743200" cy="420624"/>
          </a:xfrm>
          <a:prstGeom prst="rect">
            <a:avLst/>
          </a:prstGeom>
          <a:noFill/>
          <a:ln/>
        </p:spPr>
        <p:txBody>
          <a:bodyPr wrap="square" lIns="0" tIns="0" rIns="0" bIns="0" rtlCol="0" anchor="ctr"/>
          <a:lstStyle/>
          <a:p>
            <a:pPr marL="0" indent="0" algn="l">
              <a:lnSpc>
                <a:spcPct val="105000"/>
              </a:lnSpc>
              <a:buNone/>
            </a:pPr>
            <a:r>
              <a:rPr lang="en-GB" sz="1250" dirty="0">
                <a:solidFill>
                  <a:srgbClr val="FFFFFF"/>
                </a:solidFill>
                <a:latin typeface="Inter Text" pitchFamily="34" charset="0"/>
                <a:ea typeface="Inter Text" pitchFamily="34" charset="-122"/>
                <a:cs typeface="Inter Text" pitchFamily="34" charset="-120"/>
              </a:rPr>
              <a:t>Invoices with 2 decimal places stay conformant</a:t>
            </a:r>
          </a:p>
        </p:txBody>
      </p:sp>
      <p:sp>
        <p:nvSpPr>
          <p:cNvPr id="33" name="Shape 20 c33"/>
          <p:cNvSpPr/>
          <p:nvPr/>
        </p:nvSpPr>
        <p:spPr>
          <a:xfrm>
            <a:off x="7909560" y="3557016"/>
            <a:ext cx="292608" cy="292608"/>
          </a:xfrm>
          <a:prstGeom prst="ellipse">
            <a:avLst/>
          </a:prstGeom>
          <a:solidFill>
            <a:srgbClr val="19C3C8"/>
          </a:solidFill>
          <a:ln>
            <a:noFill/>
          </a:ln>
        </p:spPr>
        <p:txBody>
          <a:bodyPr/>
          <a:lstStyle/>
          <a:p>
            <a:endParaRPr lang="en-GB"/>
          </a:p>
        </p:txBody>
      </p:sp>
      <p:sp>
        <p:nvSpPr>
          <p:cNvPr id="34" name="Text 21 c34"/>
          <p:cNvSpPr txBox="1"/>
          <p:nvPr/>
        </p:nvSpPr>
        <p:spPr>
          <a:xfrm>
            <a:off x="7909560" y="3557016"/>
            <a:ext cx="292608" cy="292608"/>
          </a:xfrm>
          <a:prstGeom prst="rect">
            <a:avLst/>
          </a:prstGeom>
          <a:noFill/>
          <a:ln/>
        </p:spPr>
        <p:txBody>
          <a:bodyPr wrap="square" lIns="0" tIns="0" rIns="0" bIns="0" rtlCol="0" anchor="ctr"/>
          <a:lstStyle/>
          <a:p>
            <a:pPr marL="0" indent="0" algn="ctr">
              <a:buNone/>
            </a:pPr>
            <a:r>
              <a:rPr lang="en-GB" sz="1200" dirty="0">
                <a:solidFill>
                  <a:srgbClr val="1A2B5E"/>
                </a:solidFill>
                <a:latin typeface="Inter SemiBold Text SemiBold" pitchFamily="34" charset="0"/>
                <a:ea typeface="Inter SemiBold Text SemiBold" pitchFamily="34" charset="-122"/>
                <a:cs typeface="Inter SemiBold Text SemiBold" pitchFamily="34" charset="-120"/>
              </a:rPr>
              <a:t>✓</a:t>
            </a:r>
          </a:p>
        </p:txBody>
      </p:sp>
      <p:sp>
        <p:nvSpPr>
          <p:cNvPr id="35" name="Text 22 c35"/>
          <p:cNvSpPr txBox="1"/>
          <p:nvPr/>
        </p:nvSpPr>
        <p:spPr>
          <a:xfrm>
            <a:off x="8366760" y="3493008"/>
            <a:ext cx="2743200" cy="420624"/>
          </a:xfrm>
          <a:prstGeom prst="rect">
            <a:avLst/>
          </a:prstGeom>
          <a:noFill/>
          <a:ln/>
        </p:spPr>
        <p:txBody>
          <a:bodyPr wrap="square" lIns="0" tIns="0" rIns="0" bIns="0" rtlCol="0" anchor="ctr"/>
          <a:lstStyle/>
          <a:p>
            <a:pPr marL="0" indent="0" algn="l">
              <a:lnSpc>
                <a:spcPct val="105000"/>
              </a:lnSpc>
              <a:buNone/>
            </a:pPr>
            <a:r>
              <a:rPr lang="en-GB" sz="1250" dirty="0">
                <a:solidFill>
                  <a:srgbClr val="FFFFFF"/>
                </a:solidFill>
                <a:latin typeface="Inter Text" pitchFamily="34" charset="0"/>
                <a:ea typeface="Inter Text" pitchFamily="34" charset="-122"/>
                <a:cs typeface="Inter Text" pitchFamily="34" charset="-120"/>
              </a:rPr>
              <a:t>The net model is unchanged</a:t>
            </a:r>
          </a:p>
        </p:txBody>
      </p:sp>
      <p:sp>
        <p:nvSpPr>
          <p:cNvPr id="36" name="Shape 20 c36"/>
          <p:cNvSpPr/>
          <p:nvPr/>
        </p:nvSpPr>
        <p:spPr>
          <a:xfrm>
            <a:off x="7909560" y="4123944"/>
            <a:ext cx="292608" cy="292608"/>
          </a:xfrm>
          <a:prstGeom prst="ellipse">
            <a:avLst/>
          </a:prstGeom>
          <a:solidFill>
            <a:srgbClr val="19C3C8"/>
          </a:solidFill>
          <a:ln>
            <a:noFill/>
          </a:ln>
        </p:spPr>
        <p:txBody>
          <a:bodyPr/>
          <a:lstStyle/>
          <a:p>
            <a:endParaRPr lang="en-GB"/>
          </a:p>
        </p:txBody>
      </p:sp>
      <p:sp>
        <p:nvSpPr>
          <p:cNvPr id="37" name="Text 21 c37"/>
          <p:cNvSpPr txBox="1"/>
          <p:nvPr/>
        </p:nvSpPr>
        <p:spPr>
          <a:xfrm>
            <a:off x="7909560" y="4123944"/>
            <a:ext cx="292608" cy="292608"/>
          </a:xfrm>
          <a:prstGeom prst="rect">
            <a:avLst/>
          </a:prstGeom>
          <a:noFill/>
          <a:ln/>
        </p:spPr>
        <p:txBody>
          <a:bodyPr wrap="square" lIns="0" tIns="0" rIns="0" bIns="0" rtlCol="0" anchor="ctr"/>
          <a:lstStyle/>
          <a:p>
            <a:pPr marL="0" indent="0" algn="ctr">
              <a:buNone/>
            </a:pPr>
            <a:r>
              <a:rPr lang="en-GB" sz="1200" dirty="0">
                <a:solidFill>
                  <a:srgbClr val="1A2B5E"/>
                </a:solidFill>
                <a:latin typeface="Inter SemiBold Text SemiBold" pitchFamily="34" charset="0"/>
                <a:ea typeface="Inter SemiBold Text SemiBold" pitchFamily="34" charset="-122"/>
                <a:cs typeface="Inter SemiBold Text SemiBold" pitchFamily="34" charset="-120"/>
              </a:rPr>
              <a:t>✓</a:t>
            </a:r>
          </a:p>
        </p:txBody>
      </p:sp>
      <p:sp>
        <p:nvSpPr>
          <p:cNvPr id="38" name="Text 22 c38"/>
          <p:cNvSpPr txBox="1"/>
          <p:nvPr/>
        </p:nvSpPr>
        <p:spPr>
          <a:xfrm>
            <a:off x="8366760" y="4059936"/>
            <a:ext cx="2743200" cy="420624"/>
          </a:xfrm>
          <a:prstGeom prst="rect">
            <a:avLst/>
          </a:prstGeom>
          <a:noFill/>
          <a:ln/>
        </p:spPr>
        <p:txBody>
          <a:bodyPr wrap="square" lIns="0" tIns="0" rIns="0" bIns="0" rtlCol="0" anchor="ctr"/>
          <a:lstStyle/>
          <a:p>
            <a:pPr marL="0" indent="0" algn="l">
              <a:lnSpc>
                <a:spcPct val="105000"/>
              </a:lnSpc>
              <a:buNone/>
            </a:pPr>
            <a:r>
              <a:rPr lang="en-GB" sz="1250" dirty="0">
                <a:solidFill>
                  <a:srgbClr val="FFFFFF"/>
                </a:solidFill>
                <a:latin typeface="Inter Text" pitchFamily="34" charset="0"/>
                <a:ea typeface="Inter Text" pitchFamily="34" charset="-122"/>
                <a:cs typeface="Inter Text" pitchFamily="34" charset="-120"/>
              </a:rPr>
              <a:t>BT-110, BT-115, BT-117 booked in cents as today</a:t>
            </a:r>
          </a:p>
        </p:txBody>
      </p:sp>
      <p:sp>
        <p:nvSpPr>
          <p:cNvPr id="39" name="Shape 20 c39"/>
          <p:cNvSpPr/>
          <p:nvPr/>
        </p:nvSpPr>
        <p:spPr>
          <a:xfrm>
            <a:off x="7909560" y="4690872"/>
            <a:ext cx="292608" cy="292608"/>
          </a:xfrm>
          <a:prstGeom prst="ellipse">
            <a:avLst/>
          </a:prstGeom>
          <a:solidFill>
            <a:srgbClr val="19C3C8"/>
          </a:solidFill>
          <a:ln>
            <a:noFill/>
          </a:ln>
        </p:spPr>
        <p:txBody>
          <a:bodyPr/>
          <a:lstStyle/>
          <a:p>
            <a:endParaRPr lang="en-GB"/>
          </a:p>
        </p:txBody>
      </p:sp>
      <p:sp>
        <p:nvSpPr>
          <p:cNvPr id="40" name="Text 21 c40"/>
          <p:cNvSpPr txBox="1"/>
          <p:nvPr/>
        </p:nvSpPr>
        <p:spPr>
          <a:xfrm>
            <a:off x="7909560" y="4690872"/>
            <a:ext cx="292608" cy="292608"/>
          </a:xfrm>
          <a:prstGeom prst="rect">
            <a:avLst/>
          </a:prstGeom>
          <a:noFill/>
          <a:ln/>
        </p:spPr>
        <p:txBody>
          <a:bodyPr wrap="square" lIns="0" tIns="0" rIns="0" bIns="0" rtlCol="0" anchor="ctr"/>
          <a:lstStyle/>
          <a:p>
            <a:pPr marL="0" indent="0" algn="ctr">
              <a:buNone/>
            </a:pPr>
            <a:r>
              <a:rPr lang="en-GB" sz="1200" dirty="0">
                <a:solidFill>
                  <a:srgbClr val="1A2B5E"/>
                </a:solidFill>
                <a:latin typeface="Inter SemiBold Text SemiBold" pitchFamily="34" charset="0"/>
                <a:ea typeface="Inter SemiBold Text SemiBold" pitchFamily="34" charset="-122"/>
                <a:cs typeface="Inter SemiBold Text SemiBold" pitchFamily="34" charset="-120"/>
              </a:rPr>
              <a:t>✓</a:t>
            </a:r>
          </a:p>
        </p:txBody>
      </p:sp>
      <p:sp>
        <p:nvSpPr>
          <p:cNvPr id="41" name="Text 22 c41"/>
          <p:cNvSpPr txBox="1"/>
          <p:nvPr/>
        </p:nvSpPr>
        <p:spPr>
          <a:xfrm>
            <a:off x="8366760" y="4626864"/>
            <a:ext cx="2743200" cy="420624"/>
          </a:xfrm>
          <a:prstGeom prst="rect">
            <a:avLst/>
          </a:prstGeom>
          <a:noFill/>
          <a:ln/>
        </p:spPr>
        <p:txBody>
          <a:bodyPr wrap="square" lIns="0" tIns="0" rIns="0" bIns="0" rtlCol="0" anchor="ctr"/>
          <a:lstStyle/>
          <a:p>
            <a:pPr marL="0" indent="0" algn="l">
              <a:lnSpc>
                <a:spcPct val="105000"/>
              </a:lnSpc>
              <a:buNone/>
            </a:pPr>
            <a:r>
              <a:rPr lang="en-GB" sz="1250" dirty="0">
                <a:solidFill>
                  <a:srgbClr val="FFFFFF"/>
                </a:solidFill>
                <a:latin typeface="Inter Text" pitchFamily="34" charset="0"/>
                <a:ea typeface="Inter Text" pitchFamily="34" charset="-122"/>
                <a:cs typeface="Inter Text" pitchFamily="34" charset="-120"/>
              </a:rPr>
              <a:t>Today's tolerances remain; warning only if the result changes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Folie 31">
    <p:bg>
      <p:bgPr>
        <a:solidFill>
          <a:srgbClr val="F4F6FB"/>
        </a:solidFill>
        <a:effectLst/>
      </p:bgPr>
    </p:bg>
    <p:spTree>
      <p:nvGrpSpPr>
        <p:cNvPr id="1" name=""/>
        <p:cNvGrpSpPr/>
        <p:nvPr/>
      </p:nvGrpSpPr>
      <p:grpSpPr>
        <a:xfrm>
          <a:off x="0" y="0"/>
          <a:ext cx="0" cy="0"/>
          <a:chOff x="0" y="0"/>
          <a:chExt cx="0" cy="0"/>
        </a:xfrm>
      </p:grpSpPr>
      <p:sp>
        <p:nvSpPr>
          <p:cNvPr id="3" name="Header 3"/>
          <p:cNvSpPr txBox="1"/>
          <p:nvPr/>
        </p:nvSpPr>
        <p:spPr>
          <a:xfrm>
            <a:off x="822960" y="384048"/>
            <a:ext cx="7315200" cy="274320"/>
          </a:xfrm>
          <a:prstGeom prst="rect">
            <a:avLst/>
          </a:prstGeom>
          <a:noFill/>
          <a:ln/>
        </p:spPr>
        <p:txBody>
          <a:bodyPr wrap="square" lIns="0" tIns="0" rIns="0" bIns="0" rtlCol="0" anchor="ctr"/>
          <a:lstStyle/>
          <a:p>
            <a:pPr marL="0" indent="0" algn="l">
              <a:buNone/>
            </a:pPr>
            <a:r>
              <a:rPr lang="en-GB" sz="950" spc="100" dirty="0">
                <a:solidFill>
                  <a:srgbClr val="5B6890"/>
                </a:solidFill>
                <a:latin typeface="Inter Medium Text Medium" pitchFamily="34" charset="0"/>
                <a:ea typeface="Inter Medium Text Medium" pitchFamily="34" charset="-122"/>
                <a:cs typeface="Inter Medium Text Medium" pitchFamily="34" charset="-120"/>
              </a:rPr>
              <a:t>CEN/TC 434 WG1</a:t>
            </a:r>
            <a:r>
              <a:rPr lang="en-GB" sz="950" spc="100" dirty="0">
                <a:solidFill>
                  <a:srgbClr val="C2CADE"/>
                </a:solidFill>
                <a:latin typeface="Inter Text" pitchFamily="34" charset="0"/>
                <a:ea typeface="Inter Text" pitchFamily="34" charset="-122"/>
                <a:cs typeface="Inter Text" pitchFamily="34" charset="-120"/>
              </a:rPr>
              <a:t>   ·   </a:t>
            </a:r>
            <a:r>
              <a:rPr lang="en-GB" sz="950" spc="100" dirty="0">
                <a:solidFill>
                  <a:srgbClr val="9AA4C2"/>
                </a:solidFill>
                <a:latin typeface="Inter Text" pitchFamily="34" charset="0"/>
                <a:ea typeface="Inter Text" pitchFamily="34" charset="-122"/>
                <a:cs typeface="Inter Text" pitchFamily="34" charset="-120"/>
              </a:rPr>
              <a:t>EN 16931-1:2026 amendment · Gross prices and rounding</a:t>
            </a:r>
          </a:p>
        </p:txBody>
      </p:sp>
      <p:sp>
        <p:nvSpPr>
          <p:cNvPr id="4" name="SectionLabel 4"/>
          <p:cNvSpPr txBox="1"/>
          <p:nvPr/>
        </p:nvSpPr>
        <p:spPr>
          <a:xfrm>
            <a:off x="822960" y="868680"/>
            <a:ext cx="8229600" cy="274320"/>
          </a:xfrm>
          <a:prstGeom prst="rect">
            <a:avLst/>
          </a:prstGeom>
          <a:noFill/>
          <a:ln/>
        </p:spPr>
        <p:txBody>
          <a:bodyPr wrap="square" lIns="0" tIns="0" rIns="0" bIns="0" rtlCol="0" anchor="ctr"/>
          <a:lstStyle/>
          <a:p>
            <a:pPr marL="0" indent="0" algn="l">
              <a:buNone/>
            </a:pPr>
            <a:r>
              <a:rPr lang="en-GB" sz="1100" spc="300" dirty="0">
                <a:solidFill>
                  <a:srgbClr val="19C3C8"/>
                </a:solidFill>
                <a:latin typeface="Inter SemiBold Text SemiBold" pitchFamily="34" charset="0"/>
                <a:ea typeface="Inter SemiBold Text SemiBold" pitchFamily="34" charset="-122"/>
                <a:cs typeface="Inter SemiBold Text SemiBold" pitchFamily="34" charset="-120"/>
              </a:rPr>
              <a:t>GROSS MODEL (#164) · WHERE</a:t>
            </a:r>
          </a:p>
        </p:txBody>
      </p:sp>
      <p:sp>
        <p:nvSpPr>
          <p:cNvPr id="5" name="Title 5"/>
          <p:cNvSpPr txBox="1"/>
          <p:nvPr/>
        </p:nvSpPr>
        <p:spPr>
          <a:xfrm>
            <a:off x="804672" y="1115568"/>
            <a:ext cx="10424160" cy="822960"/>
          </a:xfrm>
          <a:prstGeom prst="rect">
            <a:avLst/>
          </a:prstGeom>
          <a:noFill/>
          <a:ln/>
        </p:spPr>
        <p:txBody>
          <a:bodyPr wrap="square" lIns="0" tIns="0" rIns="0" bIns="0" rtlCol="0" anchor="t"/>
          <a:lstStyle/>
          <a:p>
            <a:pPr marL="0" indent="0" algn="l">
              <a:buNone/>
            </a:pPr>
            <a:r>
              <a:rPr lang="en-GB" sz="3800" b="1" dirty="0">
                <a:solidFill>
                  <a:srgbClr val="1A2B5E"/>
                </a:solidFill>
                <a:latin typeface="Inter Text" pitchFamily="34" charset="0"/>
                <a:ea typeface="Inter Text" pitchFamily="34" charset="-122"/>
                <a:cs typeface="Inter Text" pitchFamily="34" charset="-120"/>
              </a:rPr>
              <a:t>Why the gross model belongs in the core</a:t>
            </a:r>
          </a:p>
        </p:txBody>
      </p:sp>
      <p:sp>
        <p:nvSpPr>
          <p:cNvPr id="6" name="Tagline 6"/>
          <p:cNvSpPr txBox="1"/>
          <p:nvPr/>
        </p:nvSpPr>
        <p:spPr>
          <a:xfrm>
            <a:off x="822960" y="1865376"/>
            <a:ext cx="10424160" cy="320040"/>
          </a:xfrm>
          <a:prstGeom prst="rect">
            <a:avLst/>
          </a:prstGeom>
          <a:noFill/>
          <a:ln/>
        </p:spPr>
        <p:txBody>
          <a:bodyPr wrap="square" lIns="0" tIns="0" rIns="0" bIns="0" rtlCol="0" anchor="ctr"/>
          <a:lstStyle/>
          <a:p>
            <a:pPr marL="0" indent="0" algn="l">
              <a:buNone/>
            </a:pPr>
            <a:r>
              <a:rPr lang="en-GB" sz="1300" dirty="0">
                <a:solidFill>
                  <a:srgbClr val="5B6890"/>
                </a:solidFill>
                <a:latin typeface="Inter Text" pitchFamily="34" charset="0"/>
                <a:ea typeface="Inter Text" pitchFamily="34" charset="-122"/>
                <a:cs typeface="Inter Text" pitchFamily="34" charset="-120"/>
              </a:rPr>
              <a:t>Shops and cash registers have no prior agreement with their buyers.</a:t>
            </a:r>
          </a:p>
        </p:txBody>
      </p:sp>
      <p:sp>
        <p:nvSpPr>
          <p:cNvPr id="7" name="PageNum 7"/>
          <p:cNvSpPr txBox="1"/>
          <p:nvPr/>
        </p:nvSpPr>
        <p:spPr>
          <a:xfrm>
            <a:off x="10908792" y="6514592"/>
            <a:ext cx="822960" cy="292608"/>
          </a:xfrm>
          <a:prstGeom prst="rect">
            <a:avLst/>
          </a:prstGeom>
          <a:noFill/>
          <a:ln/>
        </p:spPr>
        <p:txBody>
          <a:bodyPr wrap="square" lIns="0" tIns="0" rIns="0" bIns="0" rtlCol="0" anchor="ctr"/>
          <a:lstStyle/>
          <a:p>
            <a:pPr marL="0" indent="0" algn="r">
              <a:buNone/>
            </a:pPr>
            <a:fld id="{67D73E2F-A595-473C-9F0C-80BA506D5B08}" type="slidenum">
              <a:rPr lang="en-GB" sz="1000" spc="200" dirty="0">
                <a:solidFill>
                  <a:srgbClr val="5B6890"/>
                </a:solidFill>
                <a:latin typeface="Inter SemiBold Text SemiBold" pitchFamily="34" charset="0"/>
                <a:ea typeface="Inter SemiBold Text SemiBold" pitchFamily="34" charset="-122"/>
                <a:cs typeface="Inter SemiBold Text SemiBold" pitchFamily="34" charset="-120"/>
              </a:rPr>
              <a:t>18</a:t>
            </a:fld>
            <a:endParaRPr lang="en-GB" sz="1000" spc="200" dirty="0">
              <a:solidFill>
                <a:srgbClr val="5B6890"/>
              </a:solidFill>
              <a:latin typeface="Inter SemiBold Text SemiBold" pitchFamily="34" charset="0"/>
              <a:ea typeface="Inter SemiBold Text SemiBold" pitchFamily="34" charset="-122"/>
              <a:cs typeface="Inter SemiBold Text SemiBold" pitchFamily="34" charset="-120"/>
            </a:endParaRPr>
          </a:p>
        </p:txBody>
      </p:sp>
      <p:sp>
        <p:nvSpPr>
          <p:cNvPr id="8" name="Card 8"/>
          <p:cNvSpPr/>
          <p:nvPr/>
        </p:nvSpPr>
        <p:spPr>
          <a:xfrm>
            <a:off x="822960" y="2331720"/>
            <a:ext cx="5166360" cy="1691640"/>
          </a:xfrm>
          <a:prstGeom prst="roundRect">
            <a:avLst>
              <a:gd name="adj" fmla="val 4324"/>
            </a:avLst>
          </a:prstGeom>
          <a:solidFill>
            <a:srgbClr val="FFFFFF"/>
          </a:solidFill>
          <a:ln w="12700">
            <a:solidFill>
              <a:srgbClr val="E2E7F2"/>
            </a:solidFill>
            <a:prstDash val="solid"/>
          </a:ln>
          <a:effectLst>
            <a:outerShdw blurRad="101600" dist="38100" dir="5400000" algn="bl" rotWithShape="0">
              <a:srgbClr val="0A1230">
                <a:alpha val="8000"/>
              </a:srgbClr>
            </a:outerShdw>
          </a:effectLst>
        </p:spPr>
        <p:txBody>
          <a:bodyPr/>
          <a:lstStyle/>
          <a:p>
            <a:endParaRPr lang="en-GB"/>
          </a:p>
        </p:txBody>
      </p:sp>
      <p:sp>
        <p:nvSpPr>
          <p:cNvPr id="9" name="IconCircle 9"/>
          <p:cNvSpPr/>
          <p:nvPr/>
        </p:nvSpPr>
        <p:spPr>
          <a:xfrm>
            <a:off x="1060704" y="2532888"/>
            <a:ext cx="402336" cy="402336"/>
          </a:xfrm>
          <a:prstGeom prst="ellipse">
            <a:avLst/>
          </a:prstGeom>
          <a:solidFill>
            <a:srgbClr val="19C3C8"/>
          </a:solidFill>
          <a:ln>
            <a:noFill/>
          </a:ln>
          <a:effectLst>
            <a:outerShdw blurRad="88900" dist="38100" dir="5400000" algn="bl" rotWithShape="0">
              <a:srgbClr val="0A1230">
                <a:alpha val="18000"/>
              </a:srgbClr>
            </a:outerShdw>
          </a:effectLst>
        </p:spPr>
        <p:txBody>
          <a:bodyPr/>
          <a:lstStyle/>
          <a:p>
            <a:endParaRPr lang="en-GB"/>
          </a:p>
        </p:txBody>
      </p:sp>
      <p:pic>
        <p:nvPicPr>
          <p:cNvPr id="10" name="Icon 10"/>
          <p:cNvPicPr>
            <a:picLocks noChangeAspect="1"/>
          </p:cNvPicPr>
          <p:nvPr/>
        </p:nvPicPr>
        <p:blipFill>
          <a:blip r:embed="rId3"/>
          <a:stretch>
            <a:fillRect/>
          </a:stretch>
        </p:blipFill>
        <p:spPr>
          <a:xfrm>
            <a:off x="1171346" y="2643530"/>
            <a:ext cx="181051" cy="181051"/>
          </a:xfrm>
          <a:prstGeom prst="rect">
            <a:avLst/>
          </a:prstGeom>
        </p:spPr>
      </p:pic>
      <p:sp>
        <p:nvSpPr>
          <p:cNvPr id="11" name="Text 11"/>
          <p:cNvSpPr txBox="1"/>
          <p:nvPr/>
        </p:nvSpPr>
        <p:spPr>
          <a:xfrm>
            <a:off x="1600200" y="2514600"/>
            <a:ext cx="4206240" cy="438912"/>
          </a:xfrm>
          <a:prstGeom prst="rect">
            <a:avLst/>
          </a:prstGeom>
          <a:noFill/>
          <a:ln/>
        </p:spPr>
        <p:txBody>
          <a:bodyPr wrap="square" lIns="0" tIns="0" rIns="0" bIns="0" rtlCol="0" anchor="ctr"/>
          <a:lstStyle/>
          <a:p>
            <a:pPr marL="0" indent="0" algn="l">
              <a:buNone/>
            </a:pPr>
            <a:r>
              <a:rPr lang="en-GB" sz="1500" dirty="0">
                <a:solidFill>
                  <a:srgbClr val="1A2B5E"/>
                </a:solidFill>
                <a:latin typeface="Inter SemiBold Text SemiBold" pitchFamily="34" charset="0"/>
                <a:ea typeface="Inter SemiBold Text SemiBold" pitchFamily="34" charset="-122"/>
                <a:cs typeface="Inter SemiBold Text SemiBold" pitchFamily="34" charset="-120"/>
              </a:rPr>
              <a:t>Only the core reaches every receiver</a:t>
            </a:r>
          </a:p>
        </p:txBody>
      </p:sp>
      <p:sp>
        <p:nvSpPr>
          <p:cNvPr id="12" name="Text 12"/>
          <p:cNvSpPr txBox="1"/>
          <p:nvPr/>
        </p:nvSpPr>
        <p:spPr>
          <a:xfrm>
            <a:off x="1133856" y="2990088"/>
            <a:ext cx="4663440" cy="1005840"/>
          </a:xfrm>
          <a:prstGeom prst="rect">
            <a:avLst/>
          </a:prstGeom>
          <a:noFill/>
          <a:ln/>
        </p:spPr>
        <p:txBody>
          <a:bodyPr wrap="square" lIns="0" tIns="0" rIns="0" bIns="0" rtlCol="0" anchor="t"/>
          <a:lstStyle/>
          <a:p>
            <a:pPr marL="164592" indent="-164592" algn="l">
              <a:spcAft>
                <a:spcPts val="200"/>
              </a:spcAft>
              <a:buSzPct val="100000"/>
              <a:buChar char="•"/>
            </a:pPr>
            <a:r>
              <a:rPr lang="en-GB" sz="1200" dirty="0">
                <a:solidFill>
                  <a:srgbClr val="5B6890"/>
                </a:solidFill>
                <a:latin typeface="Inter Text" pitchFamily="34" charset="0"/>
                <a:ea typeface="Inter Text" pitchFamily="34" charset="-122"/>
                <a:cs typeface="Inter Text" pitchFamily="34" charset="-120"/>
              </a:rPr>
              <a:t>No acceptance needed for EN 16931 invoices (</a:t>
            </a:r>
            <a:r>
              <a:rPr lang="en-GB" sz="1200" dirty="0">
                <a:solidFill>
                  <a:srgbClr val="5B6890"/>
                </a:solidFill>
                <a:latin typeface="Inter Text" pitchFamily="34" charset="0"/>
                <a:ea typeface="Inter Text" pitchFamily="34" charset="-122"/>
                <a:cs typeface="Inter Text" pitchFamily="34" charset="-120"/>
                <a:hlinkClick r:id="rId6">
                  <a:extLst>
                    <a:ext uri="{A12FA001-AC4F-418D-AE19-62706E023703}">
                      <ahyp:hlinkClr xmlns:ahyp="http://schemas.microsoft.com/office/drawing/2018/hyperlinkcolor" val="tx"/>
                    </a:ext>
                  </a:extLst>
                </a:hlinkClick>
              </a:rPr>
              <a:t>new Art. 232, ViDA</a:t>
            </a:r>
            <a:r>
              <a:rPr lang="en-GB" sz="1200" dirty="0">
                <a:solidFill>
                  <a:srgbClr val="5B6890"/>
                </a:solidFill>
                <a:latin typeface="Inter Text" pitchFamily="34" charset="0"/>
                <a:ea typeface="Inter Text" pitchFamily="34" charset="-122"/>
                <a:cs typeface="Inter Text" pitchFamily="34" charset="-120"/>
              </a:rPr>
              <a:t>)</a:t>
            </a:r>
          </a:p>
          <a:p>
            <a:pPr marL="164592" indent="-164592" algn="l">
              <a:spcAft>
                <a:spcPts val="200"/>
              </a:spcAft>
              <a:buSzPct val="100000"/>
              <a:buChar char="•"/>
            </a:pPr>
            <a:r>
              <a:rPr lang="en-GB" sz="1200" dirty="0">
                <a:solidFill>
                  <a:srgbClr val="5B6890"/>
                </a:solidFill>
                <a:latin typeface="Inter Text" pitchFamily="34" charset="0"/>
                <a:ea typeface="Inter Text" pitchFamily="34" charset="-122"/>
                <a:cs typeface="Inter Text" pitchFamily="34" charset="-120"/>
              </a:rPr>
              <a:t>DRR accepts EN-compliant data (</a:t>
            </a:r>
            <a:r>
              <a:rPr lang="en-GB" sz="1200" dirty="0">
                <a:solidFill>
                  <a:srgbClr val="5B6890"/>
                </a:solidFill>
                <a:latin typeface="Inter Text" pitchFamily="34" charset="0"/>
                <a:ea typeface="Inter Text" pitchFamily="34" charset="-122"/>
                <a:cs typeface="Inter Text" pitchFamily="34" charset="-120"/>
                <a:hlinkClick r:id="rId6">
                  <a:extLst>
                    <a:ext uri="{A12FA001-AC4F-418D-AE19-62706E023703}">
                      <ahyp:hlinkClr xmlns:ahyp="http://schemas.microsoft.com/office/drawing/2018/hyperlinkcolor" val="tx"/>
                    </a:ext>
                  </a:extLst>
                </a:hlinkClick>
              </a:rPr>
              <a:t>new Art. 263(3), ViDA</a:t>
            </a:r>
            <a:r>
              <a:rPr lang="en-GB" sz="1200" dirty="0">
                <a:solidFill>
                  <a:srgbClr val="5B6890"/>
                </a:solidFill>
                <a:latin typeface="Inter Text" pitchFamily="34" charset="0"/>
                <a:ea typeface="Inter Text" pitchFamily="34" charset="-122"/>
                <a:cs typeface="Inter Text" pitchFamily="34" charset="-120"/>
              </a:rPr>
              <a:t>)</a:t>
            </a:r>
          </a:p>
          <a:p>
            <a:pPr marL="164592" indent="-164592" algn="l">
              <a:spcAft>
                <a:spcPts val="200"/>
              </a:spcAft>
              <a:buSzPct val="100000"/>
              <a:buChar char="•"/>
            </a:pPr>
            <a:r>
              <a:rPr lang="en-GB" sz="1200" dirty="0">
                <a:solidFill>
                  <a:srgbClr val="5B6890"/>
                </a:solidFill>
                <a:latin typeface="Inter Text" pitchFamily="34" charset="0"/>
                <a:ea typeface="Inter Text" pitchFamily="34" charset="-122"/>
                <a:cs typeface="Inter Text" pitchFamily="34" charset="-120"/>
              </a:rPr>
              <a:t>A CIUS such as XRechnung can only restrict (7.1, Table 29)</a:t>
            </a:r>
          </a:p>
        </p:txBody>
      </p:sp>
      <p:sp>
        <p:nvSpPr>
          <p:cNvPr id="13" name="Card 13"/>
          <p:cNvSpPr/>
          <p:nvPr/>
        </p:nvSpPr>
        <p:spPr>
          <a:xfrm>
            <a:off x="822960" y="4160520"/>
            <a:ext cx="5166360" cy="1645920"/>
          </a:xfrm>
          <a:prstGeom prst="roundRect">
            <a:avLst>
              <a:gd name="adj" fmla="val 4444"/>
            </a:avLst>
          </a:prstGeom>
          <a:solidFill>
            <a:srgbClr val="FFFFFF"/>
          </a:solidFill>
          <a:ln w="12700">
            <a:solidFill>
              <a:srgbClr val="E2E7F2"/>
            </a:solidFill>
            <a:prstDash val="solid"/>
          </a:ln>
          <a:effectLst>
            <a:outerShdw blurRad="101600" dist="38100" dir="5400000" algn="bl" rotWithShape="0">
              <a:srgbClr val="0A1230">
                <a:alpha val="8000"/>
              </a:srgbClr>
            </a:outerShdw>
          </a:effectLst>
        </p:spPr>
        <p:txBody>
          <a:bodyPr/>
          <a:lstStyle/>
          <a:p>
            <a:endParaRPr lang="en-GB"/>
          </a:p>
        </p:txBody>
      </p:sp>
      <p:sp>
        <p:nvSpPr>
          <p:cNvPr id="14" name="IconCircle 14"/>
          <p:cNvSpPr/>
          <p:nvPr/>
        </p:nvSpPr>
        <p:spPr>
          <a:xfrm>
            <a:off x="1060704" y="4361688"/>
            <a:ext cx="402336" cy="402336"/>
          </a:xfrm>
          <a:prstGeom prst="ellipse">
            <a:avLst/>
          </a:prstGeom>
          <a:solidFill>
            <a:srgbClr val="1A2B5E"/>
          </a:solidFill>
          <a:ln>
            <a:noFill/>
          </a:ln>
          <a:effectLst>
            <a:outerShdw blurRad="88900" dist="38100" dir="5400000" algn="bl" rotWithShape="0">
              <a:srgbClr val="0A1230">
                <a:alpha val="18000"/>
              </a:srgbClr>
            </a:outerShdw>
          </a:effectLst>
        </p:spPr>
        <p:txBody>
          <a:bodyPr/>
          <a:lstStyle/>
          <a:p>
            <a:endParaRPr lang="en-GB"/>
          </a:p>
        </p:txBody>
      </p:sp>
      <p:pic>
        <p:nvPicPr>
          <p:cNvPr id="15" name="Icon 15"/>
          <p:cNvPicPr>
            <a:picLocks noChangeAspect="1"/>
          </p:cNvPicPr>
          <p:nvPr/>
        </p:nvPicPr>
        <p:blipFill>
          <a:blip r:embed="rId4"/>
          <a:stretch>
            <a:fillRect/>
          </a:stretch>
        </p:blipFill>
        <p:spPr>
          <a:xfrm>
            <a:off x="1171346" y="4472330"/>
            <a:ext cx="181051" cy="181051"/>
          </a:xfrm>
          <a:prstGeom prst="rect">
            <a:avLst/>
          </a:prstGeom>
        </p:spPr>
      </p:pic>
      <p:sp>
        <p:nvSpPr>
          <p:cNvPr id="16" name="Text 16"/>
          <p:cNvSpPr txBox="1"/>
          <p:nvPr/>
        </p:nvSpPr>
        <p:spPr>
          <a:xfrm>
            <a:off x="1600200" y="4343400"/>
            <a:ext cx="4206240" cy="438912"/>
          </a:xfrm>
          <a:prstGeom prst="rect">
            <a:avLst/>
          </a:prstGeom>
          <a:noFill/>
          <a:ln/>
        </p:spPr>
        <p:txBody>
          <a:bodyPr wrap="square" lIns="0" tIns="0" rIns="0" bIns="0" rtlCol="0" anchor="ctr"/>
          <a:lstStyle/>
          <a:p>
            <a:pPr marL="0" indent="0" algn="l">
              <a:buNone/>
            </a:pPr>
            <a:r>
              <a:rPr lang="en-GB" sz="1500" dirty="0">
                <a:solidFill>
                  <a:srgbClr val="1A2B5E"/>
                </a:solidFill>
                <a:latin typeface="Inter SemiBold Text SemiBold" pitchFamily="34" charset="0"/>
                <a:ea typeface="Inter SemiBold Text SemiBold" pitchFamily="34" charset="-122"/>
                <a:cs typeface="Inter SemiBold Text SemiBold" pitchFamily="34" charset="-120"/>
              </a:rPr>
              <a:t>The alternatives do not close the gap</a:t>
            </a:r>
          </a:p>
        </p:txBody>
      </p:sp>
      <p:sp>
        <p:nvSpPr>
          <p:cNvPr id="17" name="Text 17"/>
          <p:cNvSpPr txBox="1"/>
          <p:nvPr/>
        </p:nvSpPr>
        <p:spPr>
          <a:xfrm>
            <a:off x="1133856" y="4818888"/>
            <a:ext cx="4663440" cy="960120"/>
          </a:xfrm>
          <a:prstGeom prst="rect">
            <a:avLst/>
          </a:prstGeom>
          <a:noFill/>
          <a:ln/>
        </p:spPr>
        <p:txBody>
          <a:bodyPr wrap="square" lIns="0" tIns="0" rIns="0" bIns="0" rtlCol="0" anchor="t"/>
          <a:lstStyle/>
          <a:p>
            <a:pPr marL="164592" indent="-164592" algn="l">
              <a:spcAft>
                <a:spcPts val="200"/>
              </a:spcAft>
              <a:buSzPct val="100000"/>
              <a:buChar char="•"/>
            </a:pPr>
            <a:r>
              <a:rPr lang="en-GB" sz="1200" dirty="0">
                <a:solidFill>
                  <a:srgbClr val="5B6890"/>
                </a:solidFill>
                <a:latin typeface="Inter Text" pitchFamily="34" charset="0"/>
                <a:ea typeface="Inter Text" pitchFamily="34" charset="-122"/>
                <a:cs typeface="Inter Text" pitchFamily="34" charset="-120"/>
              </a:rPr>
              <a:t>Advanced profile or extension: only with prior agreement</a:t>
            </a:r>
          </a:p>
          <a:p>
            <a:pPr marL="164592" indent="-164592" algn="l">
              <a:spcAft>
                <a:spcPts val="200"/>
              </a:spcAft>
              <a:buSzPct val="100000"/>
              <a:buChar char="•"/>
            </a:pPr>
            <a:r>
              <a:rPr lang="en-GB" sz="1200" dirty="0">
                <a:solidFill>
                  <a:srgbClr val="5B6890"/>
                </a:solidFill>
                <a:latin typeface="Inter Text" pitchFamily="34" charset="0"/>
                <a:ea typeface="Inter Text" pitchFamily="34" charset="-122"/>
                <a:cs typeface="Inter Text" pitchFamily="34" charset="-120"/>
              </a:rPr>
              <a:t>Simplified invoice: small amounts only (</a:t>
            </a:r>
            <a:r>
              <a:rPr lang="en-GB" sz="1200" dirty="0">
                <a:solidFill>
                  <a:srgbClr val="5B6890"/>
                </a:solidFill>
                <a:latin typeface="Inter Text" pitchFamily="34" charset="0"/>
                <a:ea typeface="Inter Text" pitchFamily="34" charset="-122"/>
                <a:cs typeface="Inter Text" pitchFamily="34" charset="-120"/>
                <a:hlinkClick r:id="rId7">
                  <a:extLst>
                    <a:ext uri="{A12FA001-AC4F-418D-AE19-62706E023703}">
                      <ahyp:hlinkClr xmlns:ahyp="http://schemas.microsoft.com/office/drawing/2018/hyperlinkcolor" val="tx"/>
                    </a:ext>
                  </a:extLst>
                </a:hlinkClick>
              </a:rPr>
              <a:t>Art. 220a</a:t>
            </a:r>
            <a:r>
              <a:rPr lang="en-GB" sz="1200" dirty="0">
                <a:solidFill>
                  <a:srgbClr val="5B6890"/>
                </a:solidFill>
                <a:latin typeface="Inter Text" pitchFamily="34" charset="0"/>
                <a:ea typeface="Inter Text" pitchFamily="34" charset="-122"/>
                <a:cs typeface="Inter Text" pitchFamily="34" charset="-120"/>
              </a:rPr>
              <a:t>; </a:t>
            </a:r>
            <a:r>
              <a:rPr lang="en-GB" sz="1200" dirty="0">
                <a:solidFill>
                  <a:srgbClr val="5B6890"/>
                </a:solidFill>
                <a:latin typeface="Inter Text" pitchFamily="34" charset="0"/>
                <a:ea typeface="Inter Text" pitchFamily="34" charset="-122"/>
                <a:cs typeface="Inter Text" pitchFamily="34" charset="-120"/>
                <a:hlinkClick r:id="rId8">
                  <a:extLst>
                    <a:ext uri="{A12FA001-AC4F-418D-AE19-62706E023703}">
                      <ahyp:hlinkClr xmlns:ahyp="http://schemas.microsoft.com/office/drawing/2018/hyperlinkcolor" val="tx"/>
                    </a:ext>
                  </a:extLst>
                </a:hlinkClick>
              </a:rPr>
              <a:t>DE ≤ €250</a:t>
            </a:r>
            <a:r>
              <a:rPr lang="en-GB" sz="1200" dirty="0">
                <a:solidFill>
                  <a:srgbClr val="5B6890"/>
                </a:solidFill>
                <a:latin typeface="Inter Text" pitchFamily="34" charset="0"/>
                <a:ea typeface="Inter Text" pitchFamily="34" charset="-122"/>
                <a:cs typeface="Inter Text" pitchFamily="34" charset="-120"/>
              </a:rPr>
              <a:t>)</a:t>
            </a:r>
          </a:p>
          <a:p>
            <a:pPr marL="164592" indent="-164592" algn="l">
              <a:spcAft>
                <a:spcPts val="200"/>
              </a:spcAft>
              <a:buSzPct val="100000"/>
              <a:buChar char="•"/>
            </a:pPr>
            <a:r>
              <a:rPr lang="en-GB" sz="1200" dirty="0">
                <a:solidFill>
                  <a:srgbClr val="5B6890"/>
                </a:solidFill>
                <a:latin typeface="Inter Text" pitchFamily="34" charset="0"/>
                <a:ea typeface="Inter Text" pitchFamily="34" charset="-122"/>
                <a:cs typeface="Inter Text" pitchFamily="34" charset="-120"/>
              </a:rPr>
              <a:t>One line per rate + attachment: until 31 Dec 2027</a:t>
            </a:r>
          </a:p>
        </p:txBody>
      </p:sp>
      <p:sp>
        <p:nvSpPr>
          <p:cNvPr id="18" name="Panel 18"/>
          <p:cNvSpPr/>
          <p:nvPr/>
        </p:nvSpPr>
        <p:spPr>
          <a:xfrm>
            <a:off x="6172200" y="2331720"/>
            <a:ext cx="5193792" cy="3474720"/>
          </a:xfrm>
          <a:prstGeom prst="roundRect">
            <a:avLst>
              <a:gd name="adj" fmla="val 2631"/>
            </a:avLst>
          </a:prstGeom>
          <a:solidFill>
            <a:srgbClr val="1A2B5E"/>
          </a:solidFill>
          <a:ln>
            <a:noFill/>
          </a:ln>
          <a:effectLst>
            <a:outerShdw blurRad="101600" dist="38100" dir="5400000" algn="bl" rotWithShape="0">
              <a:srgbClr val="0A1230">
                <a:alpha val="18000"/>
              </a:srgbClr>
            </a:outerShdw>
          </a:effectLst>
        </p:spPr>
        <p:txBody>
          <a:bodyPr/>
          <a:lstStyle/>
          <a:p>
            <a:endParaRPr lang="en-GB"/>
          </a:p>
        </p:txBody>
      </p:sp>
      <p:sp>
        <p:nvSpPr>
          <p:cNvPr id="19" name="Text 19"/>
          <p:cNvSpPr txBox="1"/>
          <p:nvPr/>
        </p:nvSpPr>
        <p:spPr>
          <a:xfrm>
            <a:off x="6492240" y="2514600"/>
            <a:ext cx="4572000" cy="274320"/>
          </a:xfrm>
          <a:prstGeom prst="rect">
            <a:avLst/>
          </a:prstGeom>
          <a:noFill/>
          <a:ln/>
        </p:spPr>
        <p:txBody>
          <a:bodyPr wrap="square" lIns="0" tIns="0" rIns="0" bIns="0" rtlCol="0" anchor="ctr"/>
          <a:lstStyle/>
          <a:p>
            <a:pPr marL="0" indent="0" algn="l">
              <a:buNone/>
            </a:pPr>
            <a:r>
              <a:rPr lang="en-GB" sz="1100" spc="300" dirty="0">
                <a:solidFill>
                  <a:srgbClr val="19C3C8"/>
                </a:solidFill>
                <a:latin typeface="Inter SemiBold Text SemiBold" pitchFamily="34" charset="0"/>
                <a:ea typeface="Inter SemiBold Text SemiBold" pitchFamily="34" charset="-122"/>
                <a:cs typeface="Inter SemiBold Text SemiBold" pitchFamily="34" charset="-120"/>
                <a:hlinkClick r:id="rId9">
                  <a:extLst>
                    <a:ext uri="{A12FA001-AC4F-418D-AE19-62706E023703}">
                      <ahyp:hlinkClr xmlns:ahyp="http://schemas.microsoft.com/office/drawing/2018/hyperlinkcolor" val="tx"/>
                    </a:ext>
                  </a:extLst>
                </a:hlinkClick>
              </a:rPr>
              <a:t>BMF LETTER · 15 OCT 2026</a:t>
            </a:r>
          </a:p>
        </p:txBody>
      </p:sp>
      <p:sp>
        <p:nvSpPr>
          <p:cNvPr id="20" name="Shape 20"/>
          <p:cNvSpPr/>
          <p:nvPr/>
        </p:nvSpPr>
        <p:spPr>
          <a:xfrm>
            <a:off x="6492240" y="2944368"/>
            <a:ext cx="292608" cy="292608"/>
          </a:xfrm>
          <a:prstGeom prst="ellipse">
            <a:avLst/>
          </a:prstGeom>
          <a:solidFill>
            <a:srgbClr val="19C3C8"/>
          </a:solidFill>
          <a:ln>
            <a:noFill/>
          </a:ln>
        </p:spPr>
        <p:txBody>
          <a:bodyPr/>
          <a:lstStyle/>
          <a:p>
            <a:endParaRPr lang="en-GB"/>
          </a:p>
        </p:txBody>
      </p:sp>
      <p:sp>
        <p:nvSpPr>
          <p:cNvPr id="21" name="Text 21"/>
          <p:cNvSpPr txBox="1"/>
          <p:nvPr/>
        </p:nvSpPr>
        <p:spPr>
          <a:xfrm>
            <a:off x="6492240" y="2944368"/>
            <a:ext cx="292608" cy="292608"/>
          </a:xfrm>
          <a:prstGeom prst="rect">
            <a:avLst/>
          </a:prstGeom>
          <a:noFill/>
          <a:ln/>
        </p:spPr>
        <p:txBody>
          <a:bodyPr wrap="square" lIns="0" tIns="0" rIns="0" bIns="0" rtlCol="0" anchor="ctr"/>
          <a:lstStyle/>
          <a:p>
            <a:pPr marL="0" indent="0" algn="ctr">
              <a:buNone/>
            </a:pPr>
            <a:r>
              <a:rPr lang="en-GB" sz="1200" dirty="0">
                <a:solidFill>
                  <a:srgbClr val="1A2B5E"/>
                </a:solidFill>
                <a:latin typeface="Inter SemiBold Text SemiBold" pitchFamily="34" charset="0"/>
                <a:ea typeface="Inter SemiBold Text SemiBold" pitchFamily="34" charset="-122"/>
                <a:cs typeface="Inter SemiBold Text SemiBold" pitchFamily="34" charset="-120"/>
              </a:rPr>
              <a:t>✓</a:t>
            </a:r>
          </a:p>
        </p:txBody>
      </p:sp>
      <p:sp>
        <p:nvSpPr>
          <p:cNvPr id="22" name="Text 22"/>
          <p:cNvSpPr txBox="1"/>
          <p:nvPr/>
        </p:nvSpPr>
        <p:spPr>
          <a:xfrm>
            <a:off x="6949440" y="2880360"/>
            <a:ext cx="4251960" cy="420624"/>
          </a:xfrm>
          <a:prstGeom prst="rect">
            <a:avLst/>
          </a:prstGeom>
          <a:noFill/>
          <a:ln/>
        </p:spPr>
        <p:txBody>
          <a:bodyPr wrap="square" lIns="0" tIns="0" rIns="0" bIns="0" rtlCol="0" anchor="ctr"/>
          <a:lstStyle/>
          <a:p>
            <a:pPr marL="0" indent="0" algn="l">
              <a:lnSpc>
                <a:spcPct val="105000"/>
              </a:lnSpc>
              <a:buNone/>
            </a:pPr>
            <a:r>
              <a:rPr lang="en-GB" sz="1250" dirty="0">
                <a:solidFill>
                  <a:srgbClr val="FFFFFF"/>
                </a:solidFill>
                <a:latin typeface="Inter Text" pitchFamily="34" charset="0"/>
                <a:ea typeface="Inter Text" pitchFamily="34" charset="-122"/>
                <a:cs typeface="Inter Text" pitchFamily="34" charset="-120"/>
                <a:hlinkClick r:id="rId9">
                  <a:extLst>
                    <a:ext uri="{A12FA001-AC4F-418D-AE19-62706E023703}">
                      <ahyp:hlinkClr xmlns:ahyp="http://schemas.microsoft.com/office/drawing/2018/hyperlinkcolor" val="tx"/>
                    </a:ext>
                  </a:extLst>
                </a:hlinkClick>
              </a:rPr>
              <a:t>Para. 17</a:t>
            </a:r>
            <a:r>
              <a:rPr lang="en-GB" sz="1250" dirty="0">
                <a:solidFill>
                  <a:srgbClr val="FFFFFF"/>
                </a:solidFill>
                <a:latin typeface="Inter Text" pitchFamily="34" charset="0"/>
                <a:ea typeface="Inter Text" pitchFamily="34" charset="-122"/>
                <a:cs typeface="Inter Text" pitchFamily="34" charset="-120"/>
              </a:rPr>
              <a:t>: VAT to the cent; net amount = consideration minus VAT</a:t>
            </a:r>
          </a:p>
        </p:txBody>
      </p:sp>
      <p:sp>
        <p:nvSpPr>
          <p:cNvPr id="23" name="Shape 23"/>
          <p:cNvSpPr/>
          <p:nvPr/>
        </p:nvSpPr>
        <p:spPr>
          <a:xfrm>
            <a:off x="6492240" y="3511296"/>
            <a:ext cx="292608" cy="292608"/>
          </a:xfrm>
          <a:prstGeom prst="ellipse">
            <a:avLst/>
          </a:prstGeom>
          <a:solidFill>
            <a:srgbClr val="19C3C8"/>
          </a:solidFill>
          <a:ln>
            <a:noFill/>
          </a:ln>
        </p:spPr>
        <p:txBody>
          <a:bodyPr/>
          <a:lstStyle/>
          <a:p>
            <a:endParaRPr lang="en-GB"/>
          </a:p>
        </p:txBody>
      </p:sp>
      <p:sp>
        <p:nvSpPr>
          <p:cNvPr id="24" name="Text 24"/>
          <p:cNvSpPr txBox="1"/>
          <p:nvPr/>
        </p:nvSpPr>
        <p:spPr>
          <a:xfrm>
            <a:off x="6492240" y="3511296"/>
            <a:ext cx="292608" cy="292608"/>
          </a:xfrm>
          <a:prstGeom prst="rect">
            <a:avLst/>
          </a:prstGeom>
          <a:noFill/>
          <a:ln/>
        </p:spPr>
        <p:txBody>
          <a:bodyPr wrap="square" lIns="0" tIns="0" rIns="0" bIns="0" rtlCol="0" anchor="ctr"/>
          <a:lstStyle/>
          <a:p>
            <a:pPr marL="0" indent="0" algn="ctr">
              <a:buNone/>
            </a:pPr>
            <a:r>
              <a:rPr lang="en-GB" sz="1200" dirty="0">
                <a:solidFill>
                  <a:srgbClr val="1A2B5E"/>
                </a:solidFill>
                <a:latin typeface="Inter SemiBold Text SemiBold" pitchFamily="34" charset="0"/>
                <a:ea typeface="Inter SemiBold Text SemiBold" pitchFamily="34" charset="-122"/>
                <a:cs typeface="Inter SemiBold Text SemiBold" pitchFamily="34" charset="-120"/>
              </a:rPr>
              <a:t>✓</a:t>
            </a:r>
          </a:p>
        </p:txBody>
      </p:sp>
      <p:sp>
        <p:nvSpPr>
          <p:cNvPr id="25" name="Text 25"/>
          <p:cNvSpPr txBox="1"/>
          <p:nvPr/>
        </p:nvSpPr>
        <p:spPr>
          <a:xfrm>
            <a:off x="6949440" y="3447288"/>
            <a:ext cx="4251960" cy="420624"/>
          </a:xfrm>
          <a:prstGeom prst="rect">
            <a:avLst/>
          </a:prstGeom>
          <a:noFill/>
          <a:ln/>
        </p:spPr>
        <p:txBody>
          <a:bodyPr wrap="square" lIns="0" tIns="0" rIns="0" bIns="0" rtlCol="0" anchor="ctr"/>
          <a:lstStyle/>
          <a:p>
            <a:pPr marL="0" indent="0" algn="l">
              <a:lnSpc>
                <a:spcPct val="105000"/>
              </a:lnSpc>
              <a:buNone/>
            </a:pPr>
            <a:r>
              <a:rPr lang="en-GB" sz="1250" dirty="0">
                <a:solidFill>
                  <a:srgbClr val="FFFFFF"/>
                </a:solidFill>
                <a:latin typeface="Inter Text" pitchFamily="34" charset="0"/>
                <a:ea typeface="Inter Text" pitchFamily="34" charset="-122"/>
                <a:cs typeface="Inter Text" pitchFamily="34" charset="-120"/>
                <a:hlinkClick r:id="rId9">
                  <a:extLst>
                    <a:ext uri="{A12FA001-AC4F-418D-AE19-62706E023703}">
                      <ahyp:hlinkClr xmlns:ahyp="http://schemas.microsoft.com/office/drawing/2018/hyperlinkcolor" val="tx"/>
                    </a:ext>
                  </a:extLst>
                </a:hlinkClick>
              </a:rPr>
              <a:t>Para. 18</a:t>
            </a:r>
            <a:r>
              <a:rPr lang="en-GB" sz="1250" dirty="0">
                <a:solidFill>
                  <a:srgbClr val="FFFFFF"/>
                </a:solidFill>
                <a:latin typeface="Inter Text" pitchFamily="34" charset="0"/>
                <a:ea typeface="Inter Text" pitchFamily="34" charset="-122"/>
                <a:cs typeface="Inter Text" pitchFamily="34" charset="-120"/>
              </a:rPr>
              <a:t>: core model and tax rounding rule cannot both be met</a:t>
            </a:r>
          </a:p>
        </p:txBody>
      </p:sp>
      <p:sp>
        <p:nvSpPr>
          <p:cNvPr id="26" name="Shape 26"/>
          <p:cNvSpPr/>
          <p:nvPr/>
        </p:nvSpPr>
        <p:spPr>
          <a:xfrm>
            <a:off x="6492240" y="4078224"/>
            <a:ext cx="292608" cy="292608"/>
          </a:xfrm>
          <a:prstGeom prst="ellipse">
            <a:avLst/>
          </a:prstGeom>
          <a:solidFill>
            <a:srgbClr val="19C3C8"/>
          </a:solidFill>
          <a:ln>
            <a:noFill/>
          </a:ln>
        </p:spPr>
        <p:txBody>
          <a:bodyPr/>
          <a:lstStyle/>
          <a:p>
            <a:endParaRPr lang="en-GB"/>
          </a:p>
        </p:txBody>
      </p:sp>
      <p:sp>
        <p:nvSpPr>
          <p:cNvPr id="27" name="Text 27"/>
          <p:cNvSpPr txBox="1"/>
          <p:nvPr/>
        </p:nvSpPr>
        <p:spPr>
          <a:xfrm>
            <a:off x="6492240" y="4078224"/>
            <a:ext cx="292608" cy="292608"/>
          </a:xfrm>
          <a:prstGeom prst="rect">
            <a:avLst/>
          </a:prstGeom>
          <a:noFill/>
          <a:ln/>
        </p:spPr>
        <p:txBody>
          <a:bodyPr wrap="square" lIns="0" tIns="0" rIns="0" bIns="0" rtlCol="0" anchor="ctr"/>
          <a:lstStyle/>
          <a:p>
            <a:pPr marL="0" indent="0" algn="ctr">
              <a:buNone/>
            </a:pPr>
            <a:r>
              <a:rPr lang="en-GB" sz="1200" dirty="0">
                <a:solidFill>
                  <a:srgbClr val="1A2B5E"/>
                </a:solidFill>
                <a:latin typeface="Inter SemiBold Text SemiBold" pitchFamily="34" charset="0"/>
                <a:ea typeface="Inter SemiBold Text SemiBold" pitchFamily="34" charset="-122"/>
                <a:cs typeface="Inter SemiBold Text SemiBold" pitchFamily="34" charset="-120"/>
              </a:rPr>
              <a:t>✓</a:t>
            </a:r>
          </a:p>
        </p:txBody>
      </p:sp>
      <p:sp>
        <p:nvSpPr>
          <p:cNvPr id="28" name="Text 28"/>
          <p:cNvSpPr txBox="1"/>
          <p:nvPr/>
        </p:nvSpPr>
        <p:spPr>
          <a:xfrm>
            <a:off x="6949440" y="4014216"/>
            <a:ext cx="4251960" cy="420624"/>
          </a:xfrm>
          <a:prstGeom prst="rect">
            <a:avLst/>
          </a:prstGeom>
          <a:noFill/>
          <a:ln/>
        </p:spPr>
        <p:txBody>
          <a:bodyPr wrap="square" lIns="0" tIns="0" rIns="0" bIns="0" rtlCol="0" anchor="ctr"/>
          <a:lstStyle/>
          <a:p>
            <a:pPr marL="0" indent="0" algn="l">
              <a:lnSpc>
                <a:spcPct val="105000"/>
              </a:lnSpc>
              <a:buNone/>
            </a:pPr>
            <a:r>
              <a:rPr lang="en-GB" sz="1250" dirty="0">
                <a:solidFill>
                  <a:srgbClr val="FFFFFF"/>
                </a:solidFill>
                <a:latin typeface="Inter Text" pitchFamily="34" charset="0"/>
                <a:ea typeface="Inter Text" pitchFamily="34" charset="-122"/>
                <a:cs typeface="Inter Text" pitchFamily="34" charset="-120"/>
                <a:hlinkClick r:id="rId9">
                  <a:extLst>
                    <a:ext uri="{A12FA001-AC4F-418D-AE19-62706E023703}">
                      <ahyp:hlinkClr xmlns:ahyp="http://schemas.microsoft.com/office/drawing/2018/hyperlinkcolor" val="tx"/>
                    </a:ext>
                  </a:extLst>
                </a:hlinkClick>
              </a:rPr>
              <a:t>Para. 18</a:t>
            </a:r>
            <a:r>
              <a:rPr lang="en-GB" sz="1250" dirty="0">
                <a:solidFill>
                  <a:srgbClr val="FFFFFF"/>
                </a:solidFill>
                <a:latin typeface="Inter Text" pitchFamily="34" charset="0"/>
                <a:ea typeface="Inter Text" pitchFamily="34" charset="-122"/>
                <a:cs typeface="Inter Text" pitchFamily="34" charset="-120"/>
              </a:rPr>
              <a:t>: a format based on gross prices is recommended</a:t>
            </a:r>
          </a:p>
        </p:txBody>
      </p:sp>
      <p:sp>
        <p:nvSpPr>
          <p:cNvPr id="29" name="Shape 29"/>
          <p:cNvSpPr/>
          <p:nvPr/>
        </p:nvSpPr>
        <p:spPr>
          <a:xfrm>
            <a:off x="6492240" y="4645152"/>
            <a:ext cx="292608" cy="292608"/>
          </a:xfrm>
          <a:prstGeom prst="ellipse">
            <a:avLst/>
          </a:prstGeom>
          <a:solidFill>
            <a:srgbClr val="19C3C8"/>
          </a:solidFill>
          <a:ln>
            <a:noFill/>
          </a:ln>
        </p:spPr>
        <p:txBody>
          <a:bodyPr/>
          <a:lstStyle/>
          <a:p>
            <a:endParaRPr lang="en-GB"/>
          </a:p>
        </p:txBody>
      </p:sp>
      <p:sp>
        <p:nvSpPr>
          <p:cNvPr id="30" name="Text 30"/>
          <p:cNvSpPr txBox="1"/>
          <p:nvPr/>
        </p:nvSpPr>
        <p:spPr>
          <a:xfrm>
            <a:off x="6492240" y="4645152"/>
            <a:ext cx="292608" cy="292608"/>
          </a:xfrm>
          <a:prstGeom prst="rect">
            <a:avLst/>
          </a:prstGeom>
          <a:noFill/>
          <a:ln/>
        </p:spPr>
        <p:txBody>
          <a:bodyPr wrap="square" lIns="0" tIns="0" rIns="0" bIns="0" rtlCol="0" anchor="ctr"/>
          <a:lstStyle/>
          <a:p>
            <a:pPr marL="0" indent="0" algn="ctr">
              <a:buNone/>
            </a:pPr>
            <a:r>
              <a:rPr lang="en-GB" sz="1200" dirty="0">
                <a:solidFill>
                  <a:srgbClr val="1A2B5E"/>
                </a:solidFill>
                <a:latin typeface="Inter SemiBold Text SemiBold" pitchFamily="34" charset="0"/>
                <a:ea typeface="Inter SemiBold Text SemiBold" pitchFamily="34" charset="-122"/>
                <a:cs typeface="Inter SemiBold Text SemiBold" pitchFamily="34" charset="-120"/>
              </a:rPr>
              <a:t>✓</a:t>
            </a:r>
          </a:p>
        </p:txBody>
      </p:sp>
      <p:sp>
        <p:nvSpPr>
          <p:cNvPr id="31" name="Text 31"/>
          <p:cNvSpPr txBox="1"/>
          <p:nvPr/>
        </p:nvSpPr>
        <p:spPr>
          <a:xfrm>
            <a:off x="6949440" y="4581144"/>
            <a:ext cx="4251960" cy="420624"/>
          </a:xfrm>
          <a:prstGeom prst="rect">
            <a:avLst/>
          </a:prstGeom>
          <a:noFill/>
          <a:ln/>
        </p:spPr>
        <p:txBody>
          <a:bodyPr wrap="square" lIns="0" tIns="0" rIns="0" bIns="0" rtlCol="0" anchor="ctr"/>
          <a:lstStyle/>
          <a:p>
            <a:pPr marL="0" indent="0" algn="l">
              <a:lnSpc>
                <a:spcPct val="105000"/>
              </a:lnSpc>
              <a:buNone/>
            </a:pPr>
            <a:r>
              <a:rPr lang="en-GB" sz="1250" dirty="0">
                <a:solidFill>
                  <a:srgbClr val="FFFFFF"/>
                </a:solidFill>
                <a:latin typeface="Inter Text" pitchFamily="34" charset="0"/>
                <a:ea typeface="Inter Text" pitchFamily="34" charset="-122"/>
                <a:cs typeface="Inter Text" pitchFamily="34" charset="-120"/>
                <a:hlinkClick r:id="rId9">
                  <a:extLst>
                    <a:ext uri="{A12FA001-AC4F-418D-AE19-62706E023703}">
                      <ahyp:hlinkClr xmlns:ahyp="http://schemas.microsoft.com/office/drawing/2018/hyperlinkcolor" val="tx"/>
                    </a:ext>
                  </a:extLst>
                </a:hlinkClick>
              </a:rPr>
              <a:t>Para. 19</a:t>
            </a:r>
            <a:r>
              <a:rPr lang="en-GB" sz="1250" dirty="0">
                <a:solidFill>
                  <a:srgbClr val="FFFFFF"/>
                </a:solidFill>
                <a:latin typeface="Inter Text" pitchFamily="34" charset="0"/>
                <a:ea typeface="Inter Text" pitchFamily="34" charset="-122"/>
                <a:cs typeface="Inter Text" pitchFamily="34" charset="-120"/>
              </a:rPr>
              <a:t>: XRechnung and ZUGFeRD have no gross format yet</a:t>
            </a:r>
          </a:p>
        </p:txBody>
      </p:sp>
      <p:sp>
        <p:nvSpPr>
          <p:cNvPr id="35" name="Pill 35"/>
          <p:cNvSpPr/>
          <p:nvPr/>
        </p:nvSpPr>
        <p:spPr>
          <a:xfrm>
            <a:off x="822960" y="5943600"/>
            <a:ext cx="10543032" cy="411480"/>
          </a:xfrm>
          <a:prstGeom prst="roundRect">
            <a:avLst>
              <a:gd name="adj" fmla="val 50000"/>
            </a:avLst>
          </a:prstGeom>
          <a:solidFill>
            <a:srgbClr val="F4F6FB"/>
          </a:solidFill>
          <a:ln w="9525">
            <a:solidFill>
              <a:srgbClr val="E2E7F2"/>
            </a:solidFill>
            <a:prstDash val="solid"/>
          </a:ln>
        </p:spPr>
        <p:txBody>
          <a:bodyPr wrap="square" lIns="36576" tIns="36576" rIns="36576" bIns="36576" rtlCol="0" anchor="ctr"/>
          <a:lstStyle/>
          <a:p>
            <a:pPr marL="0" indent="0" algn="ctr">
              <a:buNone/>
            </a:pPr>
            <a:r>
              <a:rPr lang="en-GB" sz="1100" dirty="0">
                <a:solidFill>
                  <a:srgbClr val="5B6890"/>
                </a:solidFill>
                <a:latin typeface="Inter SemiBold Text SemiBold" pitchFamily="34" charset="0"/>
                <a:ea typeface="Inter SemiBold Text SemiBold" pitchFamily="34" charset="-122"/>
                <a:cs typeface="Inter SemiBold Text SemiBold" pitchFamily="34" charset="-120"/>
              </a:rPr>
              <a:t>Use cases:  </a:t>
            </a:r>
            <a:r>
              <a:rPr lang="en-GB" sz="1100" dirty="0">
                <a:solidFill>
                  <a:srgbClr val="5B6890"/>
                </a:solidFill>
                <a:latin typeface="Inter Text" pitchFamily="34" charset="0"/>
                <a:ea typeface="Inter Text" pitchFamily="34" charset="-122"/>
                <a:cs typeface="Inter Text" pitchFamily="34" charset="-120"/>
              </a:rPr>
              <a:t>fixed book prices · receipt → invoice · retail and marketplaces · fuel · statutory gross prices</a:t>
            </a:r>
          </a:p>
        </p:txBody>
      </p:sp>
      <p:sp>
        <p:nvSpPr>
          <p:cNvPr id="36" name="Speaker 36">
            <a:hlinkClick r:id="rId5"/>
          </p:cNvPr>
          <p:cNvSpPr txBox="1"/>
          <p:nvPr/>
        </p:nvSpPr>
        <p:spPr>
          <a:xfrm>
            <a:off x="7680960" y="6514592"/>
            <a:ext cx="3154680" cy="292608"/>
          </a:xfrm>
          <a:prstGeom prst="rect">
            <a:avLst/>
          </a:prstGeom>
          <a:noFill/>
          <a:ln/>
        </p:spPr>
        <p:txBody>
          <a:bodyPr wrap="square" lIns="0" tIns="0" rIns="0" bIns="0" rtlCol="0" anchor="ctr"/>
          <a:lstStyle/>
          <a:p>
            <a:pPr marL="0" indent="0" algn="r">
              <a:buNone/>
            </a:pPr>
            <a:r>
              <a:rPr lang="en-GB" sz="1000" spc="100" dirty="0">
                <a:solidFill>
                  <a:srgbClr val="9AA4C2"/>
                </a:solidFill>
                <a:latin typeface="Inter Medium Text Medium" pitchFamily="34" charset="0"/>
                <a:ea typeface="Inter Medium Text Medium" pitchFamily="34" charset="-122"/>
                <a:cs typeface="Inter Medium Text Medium" pitchFamily="34" charset="-120"/>
              </a:rPr>
              <a:t>© Svante Schubert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Folie 31">
    <p:bg>
      <p:bgPr>
        <a:solidFill>
          <a:srgbClr val="F4F6FB"/>
        </a:solidFill>
        <a:effectLst/>
      </p:bgPr>
    </p:bg>
    <p:spTree>
      <p:nvGrpSpPr>
        <p:cNvPr id="1" name=""/>
        <p:cNvGrpSpPr/>
        <p:nvPr/>
      </p:nvGrpSpPr>
      <p:grpSpPr>
        <a:xfrm>
          <a:off x="0" y="0"/>
          <a:ext cx="0" cy="0"/>
          <a:chOff x="0" y="0"/>
          <a:chExt cx="0" cy="0"/>
        </a:xfrm>
      </p:grpSpPr>
      <p:sp>
        <p:nvSpPr>
          <p:cNvPr id="3" name="Header 3"/>
          <p:cNvSpPr txBox="1"/>
          <p:nvPr/>
        </p:nvSpPr>
        <p:spPr>
          <a:xfrm>
            <a:off x="822960" y="384048"/>
            <a:ext cx="7315200" cy="274320"/>
          </a:xfrm>
          <a:prstGeom prst="rect">
            <a:avLst/>
          </a:prstGeom>
          <a:noFill/>
          <a:ln/>
        </p:spPr>
        <p:txBody>
          <a:bodyPr wrap="square" lIns="0" tIns="0" rIns="0" bIns="0" rtlCol="0" anchor="ctr"/>
          <a:lstStyle/>
          <a:p>
            <a:pPr marL="0" indent="0" algn="l">
              <a:buNone/>
            </a:pPr>
            <a:r>
              <a:rPr lang="en-GB" sz="950" spc="100" dirty="0">
                <a:solidFill>
                  <a:srgbClr val="5B6890"/>
                </a:solidFill>
                <a:latin typeface="Inter Medium Text Medium" pitchFamily="34" charset="0"/>
                <a:ea typeface="Inter Medium Text Medium" pitchFamily="34" charset="-122"/>
                <a:cs typeface="Inter Medium Text Medium" pitchFamily="34" charset="-120"/>
              </a:rPr>
              <a:t>CEN/TC 434 WG1</a:t>
            </a:r>
            <a:r>
              <a:rPr lang="en-GB" sz="950" spc="100" dirty="0">
                <a:solidFill>
                  <a:srgbClr val="C2CADE"/>
                </a:solidFill>
                <a:latin typeface="Inter Text" pitchFamily="34" charset="0"/>
                <a:ea typeface="Inter Text" pitchFamily="34" charset="-122"/>
                <a:cs typeface="Inter Text" pitchFamily="34" charset="-120"/>
              </a:rPr>
              <a:t>   ·   </a:t>
            </a:r>
            <a:r>
              <a:rPr lang="en-GB" sz="950" spc="100" dirty="0">
                <a:solidFill>
                  <a:srgbClr val="9AA4C2"/>
                </a:solidFill>
                <a:latin typeface="Inter Text" pitchFamily="34" charset="0"/>
                <a:ea typeface="Inter Text" pitchFamily="34" charset="-122"/>
                <a:cs typeface="Inter Text" pitchFamily="34" charset="-120"/>
              </a:rPr>
              <a:t>EN 16931-1:2026 amendment · Gross prices and rounding</a:t>
            </a:r>
          </a:p>
        </p:txBody>
      </p:sp>
      <p:sp>
        <p:nvSpPr>
          <p:cNvPr id="4" name="SectionLabel 4"/>
          <p:cNvSpPr txBox="1"/>
          <p:nvPr/>
        </p:nvSpPr>
        <p:spPr>
          <a:xfrm>
            <a:off x="822960" y="868680"/>
            <a:ext cx="8229600" cy="274320"/>
          </a:xfrm>
          <a:prstGeom prst="rect">
            <a:avLst/>
          </a:prstGeom>
          <a:noFill/>
          <a:ln/>
        </p:spPr>
        <p:txBody>
          <a:bodyPr wrap="square" lIns="0" tIns="0" rIns="0" bIns="0" rtlCol="0" anchor="ctr"/>
          <a:lstStyle/>
          <a:p>
            <a:pPr marL="0" indent="0" algn="l">
              <a:buNone/>
            </a:pPr>
            <a:r>
              <a:rPr lang="en-GB" sz="1100" spc="300" dirty="0">
                <a:solidFill>
                  <a:srgbClr val="19C3C8"/>
                </a:solidFill>
                <a:latin typeface="Inter SemiBold Text SemiBold" pitchFamily="34" charset="0"/>
                <a:ea typeface="Inter SemiBold Text SemiBold" pitchFamily="34" charset="-122"/>
                <a:cs typeface="Inter SemiBold Text SemiBold" pitchFamily="34" charset="-120"/>
              </a:rPr>
              <a:t>DECISIONS</a:t>
            </a:r>
          </a:p>
        </p:txBody>
      </p:sp>
      <p:sp>
        <p:nvSpPr>
          <p:cNvPr id="5" name="Title 5"/>
          <p:cNvSpPr txBox="1"/>
          <p:nvPr/>
        </p:nvSpPr>
        <p:spPr>
          <a:xfrm>
            <a:off x="804672" y="1115568"/>
            <a:ext cx="10424160" cy="822960"/>
          </a:xfrm>
          <a:prstGeom prst="rect">
            <a:avLst/>
          </a:prstGeom>
          <a:noFill/>
          <a:ln/>
        </p:spPr>
        <p:txBody>
          <a:bodyPr wrap="square" lIns="0" tIns="0" rIns="0" bIns="0" rtlCol="0" anchor="t"/>
          <a:lstStyle/>
          <a:p>
            <a:pPr marL="0" indent="0" algn="l">
              <a:buNone/>
            </a:pPr>
            <a:r>
              <a:rPr lang="en-GB" sz="3800" b="1" dirty="0">
                <a:solidFill>
                  <a:srgbClr val="1A2B5E"/>
                </a:solidFill>
                <a:latin typeface="Inter Text" pitchFamily="34" charset="0"/>
                <a:ea typeface="Inter Text" pitchFamily="34" charset="-122"/>
                <a:cs typeface="Inter Text" pitchFamily="34" charset="-120"/>
              </a:rPr>
              <a:t>Two decisions for WG1</a:t>
            </a:r>
          </a:p>
        </p:txBody>
      </p:sp>
      <p:sp>
        <p:nvSpPr>
          <p:cNvPr id="6" name="Tagline 6"/>
          <p:cNvSpPr txBox="1"/>
          <p:nvPr/>
        </p:nvSpPr>
        <p:spPr>
          <a:xfrm>
            <a:off x="822960" y="1865376"/>
            <a:ext cx="10424160" cy="320040"/>
          </a:xfrm>
          <a:prstGeom prst="rect">
            <a:avLst/>
          </a:prstGeom>
          <a:noFill/>
          <a:ln/>
        </p:spPr>
        <p:txBody>
          <a:bodyPr wrap="square" lIns="0" tIns="0" rIns="0" bIns="0" rtlCol="0" anchor="ctr"/>
          <a:lstStyle/>
          <a:p>
            <a:pPr marL="0" indent="0" algn="l">
              <a:buNone/>
            </a:pPr>
            <a:r>
              <a:rPr lang="en-GB" sz="1300" dirty="0">
                <a:solidFill>
                  <a:srgbClr val="5B6890"/>
                </a:solidFill>
                <a:latin typeface="Inter Text" pitchFamily="34" charset="0"/>
                <a:ea typeface="Inter Text" pitchFamily="34" charset="-122"/>
                <a:cs typeface="Inter Text" pitchFamily="34" charset="-120"/>
              </a:rPr>
              <a:t>Both keep every working implementation conformant.</a:t>
            </a:r>
          </a:p>
        </p:txBody>
      </p:sp>
      <p:sp>
        <p:nvSpPr>
          <p:cNvPr id="7" name="PageNum 7"/>
          <p:cNvSpPr txBox="1"/>
          <p:nvPr/>
        </p:nvSpPr>
        <p:spPr>
          <a:xfrm>
            <a:off x="10908792" y="6514592"/>
            <a:ext cx="822960" cy="292608"/>
          </a:xfrm>
          <a:prstGeom prst="rect">
            <a:avLst/>
          </a:prstGeom>
          <a:noFill/>
          <a:ln/>
        </p:spPr>
        <p:txBody>
          <a:bodyPr wrap="square" lIns="0" tIns="0" rIns="0" bIns="0" rtlCol="0" anchor="ctr"/>
          <a:lstStyle/>
          <a:p>
            <a:pPr marL="0" indent="0" algn="r">
              <a:buNone/>
            </a:pPr>
            <a:fld id="{67D73E2F-A595-473C-9F0C-80BA506D5B08}" type="slidenum">
              <a:rPr lang="en-GB" sz="1000" spc="200" dirty="0">
                <a:solidFill>
                  <a:srgbClr val="5B6890"/>
                </a:solidFill>
                <a:latin typeface="Inter SemiBold Text SemiBold" pitchFamily="34" charset="0"/>
                <a:ea typeface="Inter SemiBold Text SemiBold" pitchFamily="34" charset="-122"/>
                <a:cs typeface="Inter SemiBold Text SemiBold" pitchFamily="34" charset="-120"/>
              </a:rPr>
              <a:t>20</a:t>
            </a:fld>
            <a:endParaRPr lang="en-GB" sz="1000" spc="200" dirty="0">
              <a:solidFill>
                <a:srgbClr val="5B6890"/>
              </a:solidFill>
              <a:latin typeface="Inter SemiBold Text SemiBold" pitchFamily="34" charset="0"/>
              <a:ea typeface="Inter SemiBold Text SemiBold" pitchFamily="34" charset="-122"/>
              <a:cs typeface="Inter SemiBold Text SemiBold" pitchFamily="34" charset="-120"/>
            </a:endParaRPr>
          </a:p>
        </p:txBody>
      </p:sp>
      <p:sp>
        <p:nvSpPr>
          <p:cNvPr id="8" name="Card 8"/>
          <p:cNvSpPr/>
          <p:nvPr/>
        </p:nvSpPr>
        <p:spPr>
          <a:xfrm>
            <a:off x="822960" y="2331720"/>
            <a:ext cx="5166360" cy="1691640"/>
          </a:xfrm>
          <a:prstGeom prst="roundRect">
            <a:avLst>
              <a:gd name="adj" fmla="val 4324"/>
            </a:avLst>
          </a:prstGeom>
          <a:solidFill>
            <a:srgbClr val="FFFFFF"/>
          </a:solidFill>
          <a:ln w="12700">
            <a:solidFill>
              <a:srgbClr val="E2E7F2"/>
            </a:solidFill>
            <a:prstDash val="solid"/>
          </a:ln>
          <a:effectLst>
            <a:outerShdw blurRad="101600" dist="38100" dir="5400000" algn="bl" rotWithShape="0">
              <a:srgbClr val="0A1230">
                <a:alpha val="8000"/>
              </a:srgbClr>
            </a:outerShdw>
          </a:effectLst>
        </p:spPr>
        <p:txBody>
          <a:bodyPr/>
          <a:lstStyle/>
          <a:p>
            <a:endParaRPr lang="en-GB"/>
          </a:p>
        </p:txBody>
      </p:sp>
      <p:sp>
        <p:nvSpPr>
          <p:cNvPr id="9" name="IconCircle 9"/>
          <p:cNvSpPr/>
          <p:nvPr/>
        </p:nvSpPr>
        <p:spPr>
          <a:xfrm>
            <a:off x="1060704" y="2532888"/>
            <a:ext cx="402336" cy="402336"/>
          </a:xfrm>
          <a:prstGeom prst="ellipse">
            <a:avLst/>
          </a:prstGeom>
          <a:solidFill>
            <a:srgbClr val="19C3C8"/>
          </a:solidFill>
          <a:ln>
            <a:noFill/>
          </a:ln>
          <a:effectLst>
            <a:outerShdw blurRad="88900" dist="38100" dir="5400000" algn="bl" rotWithShape="0">
              <a:srgbClr val="0A1230">
                <a:alpha val="18000"/>
              </a:srgbClr>
            </a:outerShdw>
          </a:effectLst>
        </p:spPr>
        <p:txBody>
          <a:bodyPr/>
          <a:lstStyle/>
          <a:p>
            <a:endParaRPr lang="en-GB"/>
          </a:p>
        </p:txBody>
      </p:sp>
      <p:pic>
        <p:nvPicPr>
          <p:cNvPr id="10" name="Icon 10"/>
          <p:cNvPicPr>
            <a:picLocks noChangeAspect="1"/>
          </p:cNvPicPr>
          <p:nvPr/>
        </p:nvPicPr>
        <p:blipFill>
          <a:blip r:embed="rId3"/>
          <a:stretch>
            <a:fillRect/>
          </a:stretch>
        </p:blipFill>
        <p:spPr>
          <a:xfrm>
            <a:off x="1171346" y="2643530"/>
            <a:ext cx="181051" cy="181051"/>
          </a:xfrm>
          <a:prstGeom prst="rect">
            <a:avLst/>
          </a:prstGeom>
        </p:spPr>
      </p:pic>
      <p:sp>
        <p:nvSpPr>
          <p:cNvPr id="11" name="Text 11"/>
          <p:cNvSpPr txBox="1"/>
          <p:nvPr/>
        </p:nvSpPr>
        <p:spPr>
          <a:xfrm>
            <a:off x="1600200" y="2514600"/>
            <a:ext cx="4206240" cy="438912"/>
          </a:xfrm>
          <a:prstGeom prst="rect">
            <a:avLst/>
          </a:prstGeom>
          <a:noFill/>
          <a:ln/>
        </p:spPr>
        <p:txBody>
          <a:bodyPr wrap="square" lIns="0" tIns="0" rIns="0" bIns="0" rtlCol="0" anchor="ctr"/>
          <a:lstStyle/>
          <a:p>
            <a:pPr marL="0" indent="0" algn="l">
              <a:buNone/>
            </a:pPr>
            <a:r>
              <a:rPr lang="en-GB" sz="1500" dirty="0">
                <a:solidFill>
                  <a:srgbClr val="1A2B5E"/>
                </a:solidFill>
                <a:latin typeface="Inter SemiBold Text SemiBold" pitchFamily="34" charset="0"/>
                <a:ea typeface="Inter SemiBold Text SemiBold" pitchFamily="34" charset="-122"/>
                <a:cs typeface="Inter SemiBold Text SemiBold" pitchFamily="34" charset="-120"/>
              </a:rPr>
              <a:t>1 · Gross model in the core </a:t>
            </a:r>
            <a:r>
              <a:rPr lang="en-GB" sz="1500" dirty="0">
                <a:solidFill>
                  <a:srgbClr val="1A2B5E"/>
                </a:solidFill>
                <a:latin typeface="Inter SemiBold Text SemiBold" pitchFamily="34" charset="0"/>
                <a:ea typeface="Inter SemiBold Text SemiBold" pitchFamily="34" charset="-122"/>
                <a:cs typeface="Inter SemiBold Text SemiBold" pitchFamily="34" charset="-120"/>
                <a:hlinkClick r:id="rId6">
                  <a:extLst>
                    <a:ext uri="{A12FA001-AC4F-418D-AE19-62706E023703}">
                      <ahyp:hlinkClr xmlns:ahyp="http://schemas.microsoft.com/office/drawing/2018/hyperlinkcolor" val="tx"/>
                    </a:ext>
                  </a:extLst>
                </a:hlinkClick>
              </a:rPr>
              <a:t>(#164)</a:t>
            </a:r>
          </a:p>
        </p:txBody>
      </p:sp>
      <p:sp>
        <p:nvSpPr>
          <p:cNvPr id="12" name="Text 12"/>
          <p:cNvSpPr txBox="1"/>
          <p:nvPr/>
        </p:nvSpPr>
        <p:spPr>
          <a:xfrm>
            <a:off x="1133856" y="2990088"/>
            <a:ext cx="4663440" cy="1005840"/>
          </a:xfrm>
          <a:prstGeom prst="rect">
            <a:avLst/>
          </a:prstGeom>
          <a:noFill/>
          <a:ln/>
        </p:spPr>
        <p:txBody>
          <a:bodyPr wrap="square" lIns="0" tIns="0" rIns="0" bIns="0" rtlCol="0" anchor="t"/>
          <a:lstStyle/>
          <a:p>
            <a:pPr marL="164592" indent="-164592" algn="l">
              <a:spcAft>
                <a:spcPts val="200"/>
              </a:spcAft>
              <a:buSzPct val="100000"/>
              <a:buChar char="•"/>
            </a:pPr>
            <a:r>
              <a:rPr lang="en-GB" sz="1200" dirty="0">
                <a:solidFill>
                  <a:srgbClr val="5B6890"/>
                </a:solidFill>
                <a:latin typeface="Inter Text" pitchFamily="34" charset="0"/>
                <a:ea typeface="Inter Text" pitchFamily="34" charset="-122"/>
                <a:cs typeface="Inter Text" pitchFamily="34" charset="-120"/>
              </a:rPr>
              <a:t>“Plus VAT” terms such as BT-146V, BT-131V, BT-116V</a:t>
            </a:r>
          </a:p>
          <a:p>
            <a:pPr marL="164592" indent="-164592" algn="l">
              <a:spcAft>
                <a:spcPts val="200"/>
              </a:spcAft>
              <a:buSzPct val="100000"/>
              <a:buChar char="•"/>
            </a:pPr>
            <a:r>
              <a:rPr lang="en-GB" sz="1200" dirty="0">
                <a:solidFill>
                  <a:srgbClr val="5B6890"/>
                </a:solidFill>
                <a:latin typeface="Inter Text" pitchFamily="34" charset="0"/>
                <a:ea typeface="Inter Text" pitchFamily="34" charset="-122"/>
                <a:cs typeface="Inter Text" pitchFamily="34" charset="-120"/>
              </a:rPr>
              <a:t>VAT first: BT-117 rounded once, BT-116 = BT-116V − BT-117</a:t>
            </a:r>
          </a:p>
          <a:p>
            <a:pPr marL="164592" indent="-164592" algn="l">
              <a:spcAft>
                <a:spcPts val="200"/>
              </a:spcAft>
              <a:buSzPct val="100000"/>
              <a:buChar char="•"/>
            </a:pPr>
            <a:r>
              <a:rPr lang="en-GB" sz="1200" dirty="0">
                <a:solidFill>
                  <a:srgbClr val="5B6890"/>
                </a:solidFill>
                <a:latin typeface="Inter Text" pitchFamily="34" charset="0"/>
                <a:ea typeface="Inter Text" pitchFamily="34" charset="-122"/>
                <a:cs typeface="Inter Text" pitchFamily="34" charset="-120"/>
              </a:rPr>
              <a:t>No net intermediate values; BT-146 for information</a:t>
            </a:r>
          </a:p>
        </p:txBody>
      </p:sp>
      <p:sp>
        <p:nvSpPr>
          <p:cNvPr id="13" name="Card 13"/>
          <p:cNvSpPr/>
          <p:nvPr/>
        </p:nvSpPr>
        <p:spPr>
          <a:xfrm>
            <a:off x="822960" y="4160520"/>
            <a:ext cx="5166360" cy="1645920"/>
          </a:xfrm>
          <a:prstGeom prst="roundRect">
            <a:avLst>
              <a:gd name="adj" fmla="val 4444"/>
            </a:avLst>
          </a:prstGeom>
          <a:solidFill>
            <a:srgbClr val="FFFFFF"/>
          </a:solidFill>
          <a:ln w="12700">
            <a:solidFill>
              <a:srgbClr val="E2E7F2"/>
            </a:solidFill>
            <a:prstDash val="solid"/>
          </a:ln>
          <a:effectLst>
            <a:outerShdw blurRad="101600" dist="38100" dir="5400000" algn="bl" rotWithShape="0">
              <a:srgbClr val="0A1230">
                <a:alpha val="8000"/>
              </a:srgbClr>
            </a:outerShdw>
          </a:effectLst>
        </p:spPr>
        <p:txBody>
          <a:bodyPr/>
          <a:lstStyle/>
          <a:p>
            <a:endParaRPr lang="en-GB"/>
          </a:p>
        </p:txBody>
      </p:sp>
      <p:sp>
        <p:nvSpPr>
          <p:cNvPr id="14" name="IconCircle 14"/>
          <p:cNvSpPr/>
          <p:nvPr/>
        </p:nvSpPr>
        <p:spPr>
          <a:xfrm>
            <a:off x="1060704" y="4361688"/>
            <a:ext cx="402336" cy="402336"/>
          </a:xfrm>
          <a:prstGeom prst="ellipse">
            <a:avLst/>
          </a:prstGeom>
          <a:solidFill>
            <a:srgbClr val="1A2B5E"/>
          </a:solidFill>
          <a:ln>
            <a:noFill/>
          </a:ln>
          <a:effectLst>
            <a:outerShdw blurRad="88900" dist="38100" dir="5400000" algn="bl" rotWithShape="0">
              <a:srgbClr val="0A1230">
                <a:alpha val="18000"/>
              </a:srgbClr>
            </a:outerShdw>
          </a:effectLst>
        </p:spPr>
        <p:txBody>
          <a:bodyPr/>
          <a:lstStyle/>
          <a:p>
            <a:endParaRPr lang="en-GB"/>
          </a:p>
        </p:txBody>
      </p:sp>
      <p:pic>
        <p:nvPicPr>
          <p:cNvPr id="15" name="Icon 15"/>
          <p:cNvPicPr>
            <a:picLocks noChangeAspect="1"/>
          </p:cNvPicPr>
          <p:nvPr/>
        </p:nvPicPr>
        <p:blipFill>
          <a:blip r:embed="rId4"/>
          <a:stretch>
            <a:fillRect/>
          </a:stretch>
        </p:blipFill>
        <p:spPr>
          <a:xfrm>
            <a:off x="1171346" y="4472330"/>
            <a:ext cx="181051" cy="181051"/>
          </a:xfrm>
          <a:prstGeom prst="rect">
            <a:avLst/>
          </a:prstGeom>
        </p:spPr>
      </p:pic>
      <p:sp>
        <p:nvSpPr>
          <p:cNvPr id="16" name="Text 16"/>
          <p:cNvSpPr txBox="1"/>
          <p:nvPr/>
        </p:nvSpPr>
        <p:spPr>
          <a:xfrm>
            <a:off x="1600200" y="4343400"/>
            <a:ext cx="4206240" cy="438912"/>
          </a:xfrm>
          <a:prstGeom prst="rect">
            <a:avLst/>
          </a:prstGeom>
          <a:noFill/>
          <a:ln/>
        </p:spPr>
        <p:txBody>
          <a:bodyPr wrap="square" lIns="0" tIns="0" rIns="0" bIns="0" rtlCol="0" anchor="ctr"/>
          <a:lstStyle/>
          <a:p>
            <a:pPr marL="0" indent="0" algn="l">
              <a:buNone/>
            </a:pPr>
            <a:r>
              <a:rPr lang="en-GB" sz="1500" dirty="0">
                <a:solidFill>
                  <a:srgbClr val="1A2B5E"/>
                </a:solidFill>
                <a:latin typeface="Inter SemiBold Text SemiBold" pitchFamily="34" charset="0"/>
                <a:ea typeface="Inter SemiBold Text SemiBold" pitchFamily="34" charset="-122"/>
                <a:cs typeface="Inter SemiBold Text SemiBold" pitchFamily="34" charset="-120"/>
              </a:rPr>
              <a:t>2 · No forced rounding </a:t>
            </a:r>
            <a:r>
              <a:rPr lang="en-GB" sz="1500" dirty="0">
                <a:solidFill>
                  <a:srgbClr val="1A2B5E"/>
                </a:solidFill>
                <a:latin typeface="Inter SemiBold Text SemiBold" pitchFamily="34" charset="0"/>
                <a:ea typeface="Inter SemiBold Text SemiBold" pitchFamily="34" charset="-122"/>
                <a:cs typeface="Inter SemiBold Text SemiBold" pitchFamily="34" charset="-120"/>
                <a:hlinkClick r:id="rId7">
                  <a:extLst>
                    <a:ext uri="{A12FA001-AC4F-418D-AE19-62706E023703}">
                      <ahyp:hlinkClr xmlns:ahyp="http://schemas.microsoft.com/office/drawing/2018/hyperlinkcolor" val="tx"/>
                    </a:ext>
                  </a:extLst>
                </a:hlinkClick>
              </a:rPr>
              <a:t>(#163)</a:t>
            </a:r>
          </a:p>
        </p:txBody>
      </p:sp>
      <p:sp>
        <p:nvSpPr>
          <p:cNvPr id="17" name="Text 17"/>
          <p:cNvSpPr txBox="1"/>
          <p:nvPr/>
        </p:nvSpPr>
        <p:spPr>
          <a:xfrm>
            <a:off x="1133856" y="4818888"/>
            <a:ext cx="4663440" cy="960120"/>
          </a:xfrm>
          <a:prstGeom prst="rect">
            <a:avLst/>
          </a:prstGeom>
          <a:noFill/>
          <a:ln/>
        </p:spPr>
        <p:txBody>
          <a:bodyPr wrap="square" lIns="0" tIns="0" rIns="0" bIns="0" rtlCol="0" anchor="t"/>
          <a:lstStyle/>
          <a:p>
            <a:pPr marL="164592" indent="-164592" algn="l">
              <a:spcAft>
                <a:spcPts val="200"/>
              </a:spcAft>
              <a:buSzPct val="100000"/>
              <a:buChar char="•"/>
            </a:pPr>
            <a:r>
              <a:rPr lang="en-GB" sz="1200" dirty="0">
                <a:solidFill>
                  <a:srgbClr val="5B6890"/>
                </a:solidFill>
                <a:latin typeface="Inter Text" pitchFamily="34" charset="0"/>
                <a:ea typeface="Inter Text" pitchFamily="34" charset="-122"/>
                <a:cs typeface="Inter Text" pitchFamily="34" charset="-120"/>
              </a:rPr>
              <a:t>No maximum dp for prices, quantities, intermediate values</a:t>
            </a:r>
          </a:p>
          <a:p>
            <a:pPr marL="164592" indent="-164592" algn="l">
              <a:spcAft>
                <a:spcPts val="200"/>
              </a:spcAft>
              <a:buSzPct val="100000"/>
              <a:buChar char="•"/>
            </a:pPr>
            <a:r>
              <a:rPr lang="en-GB" sz="1200" dirty="0">
                <a:solidFill>
                  <a:srgbClr val="5B6890"/>
                </a:solidFill>
                <a:latin typeface="Inter Text" pitchFamily="34" charset="0"/>
                <a:ea typeface="Inter Text" pitchFamily="34" charset="-122"/>
                <a:cs typeface="Inter Text" pitchFamily="34" charset="-120"/>
              </a:rPr>
              <a:t>Only paid amounts and VAT rounded, once; BT-114 shows it</a:t>
            </a:r>
          </a:p>
          <a:p>
            <a:pPr marL="164592" indent="-164592" algn="l">
              <a:spcAft>
                <a:spcPts val="200"/>
              </a:spcAft>
              <a:buSzPct val="100000"/>
              <a:buChar char="•"/>
            </a:pPr>
            <a:r>
              <a:rPr lang="en-GB" sz="1200" dirty="0">
                <a:solidFill>
                  <a:srgbClr val="5B6890"/>
                </a:solidFill>
                <a:latin typeface="Inter Text" pitchFamily="34" charset="0"/>
                <a:ea typeface="Inter Text" pitchFamily="34" charset="-122"/>
                <a:cs typeface="Inter Text" pitchFamily="34" charset="-120"/>
              </a:rPr>
              <a:t>Today's tolerances stay; warning only if the result changes</a:t>
            </a:r>
          </a:p>
        </p:txBody>
      </p:sp>
      <p:sp>
        <p:nvSpPr>
          <p:cNvPr id="18" name="Panel 18"/>
          <p:cNvSpPr/>
          <p:nvPr/>
        </p:nvSpPr>
        <p:spPr>
          <a:xfrm>
            <a:off x="6172200" y="2331720"/>
            <a:ext cx="5193792" cy="3474720"/>
          </a:xfrm>
          <a:prstGeom prst="roundRect">
            <a:avLst>
              <a:gd name="adj" fmla="val 2631"/>
            </a:avLst>
          </a:prstGeom>
          <a:solidFill>
            <a:srgbClr val="1A2B5E"/>
          </a:solidFill>
          <a:ln>
            <a:noFill/>
          </a:ln>
          <a:effectLst>
            <a:outerShdw blurRad="101600" dist="38100" dir="5400000" algn="bl" rotWithShape="0">
              <a:srgbClr val="0A1230">
                <a:alpha val="18000"/>
              </a:srgbClr>
            </a:outerShdw>
          </a:effectLst>
        </p:spPr>
        <p:txBody>
          <a:bodyPr/>
          <a:lstStyle/>
          <a:p>
            <a:endParaRPr lang="en-GB"/>
          </a:p>
        </p:txBody>
      </p:sp>
      <p:sp>
        <p:nvSpPr>
          <p:cNvPr id="19" name="Text 19"/>
          <p:cNvSpPr txBox="1"/>
          <p:nvPr/>
        </p:nvSpPr>
        <p:spPr>
          <a:xfrm>
            <a:off x="6492240" y="2514600"/>
            <a:ext cx="4572000" cy="274320"/>
          </a:xfrm>
          <a:prstGeom prst="rect">
            <a:avLst/>
          </a:prstGeom>
          <a:noFill/>
          <a:ln/>
        </p:spPr>
        <p:txBody>
          <a:bodyPr wrap="square" lIns="0" tIns="0" rIns="0" bIns="0" rtlCol="0" anchor="ctr"/>
          <a:lstStyle/>
          <a:p>
            <a:pPr marL="0" indent="0" algn="l">
              <a:buNone/>
            </a:pPr>
            <a:r>
              <a:rPr lang="en-GB" sz="1100" spc="300" dirty="0">
                <a:solidFill>
                  <a:srgbClr val="19C3C8"/>
                </a:solidFill>
                <a:latin typeface="Inter SemiBold Text SemiBold" pitchFamily="34" charset="0"/>
                <a:ea typeface="Inter SemiBold Text SemiBold" pitchFamily="34" charset="-122"/>
                <a:cs typeface="Inter SemiBold Text SemiBold" pitchFamily="34" charset="-120"/>
              </a:rPr>
              <a:t>NEXT STEPS</a:t>
            </a:r>
          </a:p>
        </p:txBody>
      </p:sp>
      <p:sp>
        <p:nvSpPr>
          <p:cNvPr id="20" name="Shape 20"/>
          <p:cNvSpPr/>
          <p:nvPr/>
        </p:nvSpPr>
        <p:spPr>
          <a:xfrm>
            <a:off x="6492240" y="2944368"/>
            <a:ext cx="292608" cy="292608"/>
          </a:xfrm>
          <a:prstGeom prst="ellipse">
            <a:avLst/>
          </a:prstGeom>
          <a:solidFill>
            <a:srgbClr val="19C3C8"/>
          </a:solidFill>
          <a:ln>
            <a:noFill/>
          </a:ln>
        </p:spPr>
        <p:txBody>
          <a:bodyPr/>
          <a:lstStyle/>
          <a:p>
            <a:endParaRPr lang="en-GB"/>
          </a:p>
        </p:txBody>
      </p:sp>
      <p:sp>
        <p:nvSpPr>
          <p:cNvPr id="21" name="Text 21"/>
          <p:cNvSpPr txBox="1"/>
          <p:nvPr/>
        </p:nvSpPr>
        <p:spPr>
          <a:xfrm>
            <a:off x="6492240" y="2944368"/>
            <a:ext cx="292608" cy="292608"/>
          </a:xfrm>
          <a:prstGeom prst="rect">
            <a:avLst/>
          </a:prstGeom>
          <a:noFill/>
          <a:ln/>
        </p:spPr>
        <p:txBody>
          <a:bodyPr wrap="square" lIns="0" tIns="0" rIns="0" bIns="0" rtlCol="0" anchor="ctr"/>
          <a:lstStyle/>
          <a:p>
            <a:pPr marL="0" indent="0" algn="ctr">
              <a:buNone/>
            </a:pPr>
            <a:r>
              <a:rPr lang="en-GB" sz="1200" dirty="0">
                <a:solidFill>
                  <a:srgbClr val="1A2B5E"/>
                </a:solidFill>
                <a:latin typeface="Inter SemiBold Text SemiBold" pitchFamily="34" charset="0"/>
                <a:ea typeface="Inter SemiBold Text SemiBold" pitchFamily="34" charset="-122"/>
                <a:cs typeface="Inter SemiBold Text SemiBold" pitchFamily="34" charset="-120"/>
              </a:rPr>
              <a:t>✓</a:t>
            </a:r>
          </a:p>
        </p:txBody>
      </p:sp>
      <p:sp>
        <p:nvSpPr>
          <p:cNvPr id="22" name="Text 22"/>
          <p:cNvSpPr txBox="1"/>
          <p:nvPr/>
        </p:nvSpPr>
        <p:spPr>
          <a:xfrm>
            <a:off x="6949440" y="2880360"/>
            <a:ext cx="4251960" cy="420624"/>
          </a:xfrm>
          <a:prstGeom prst="rect">
            <a:avLst/>
          </a:prstGeom>
          <a:noFill/>
          <a:ln/>
        </p:spPr>
        <p:txBody>
          <a:bodyPr wrap="square" lIns="0" tIns="0" rIns="0" bIns="0" rtlCol="0" anchor="ctr"/>
          <a:lstStyle/>
          <a:p>
            <a:pPr marL="0" indent="0" algn="l">
              <a:lnSpc>
                <a:spcPct val="105000"/>
              </a:lnSpc>
              <a:buNone/>
            </a:pPr>
            <a:r>
              <a:rPr lang="en-GB" sz="1250" dirty="0">
                <a:solidFill>
                  <a:srgbClr val="FFFFFF"/>
                </a:solidFill>
                <a:latin typeface="Inter Text" pitchFamily="34" charset="0"/>
                <a:ea typeface="Inter Text" pitchFamily="34" charset="-122"/>
                <a:cs typeface="Inter Text" pitchFamily="34" charset="-120"/>
              </a:rPr>
              <a:t>Confirm VAT first as the European method with TAXUD</a:t>
            </a:r>
          </a:p>
        </p:txBody>
      </p:sp>
      <p:sp>
        <p:nvSpPr>
          <p:cNvPr id="23" name="Shape 23"/>
          <p:cNvSpPr/>
          <p:nvPr/>
        </p:nvSpPr>
        <p:spPr>
          <a:xfrm>
            <a:off x="6492240" y="3511296"/>
            <a:ext cx="292608" cy="292608"/>
          </a:xfrm>
          <a:prstGeom prst="ellipse">
            <a:avLst/>
          </a:prstGeom>
          <a:solidFill>
            <a:srgbClr val="19C3C8"/>
          </a:solidFill>
          <a:ln>
            <a:noFill/>
          </a:ln>
        </p:spPr>
        <p:txBody>
          <a:bodyPr/>
          <a:lstStyle/>
          <a:p>
            <a:endParaRPr lang="en-GB"/>
          </a:p>
        </p:txBody>
      </p:sp>
      <p:sp>
        <p:nvSpPr>
          <p:cNvPr id="24" name="Text 24"/>
          <p:cNvSpPr txBox="1"/>
          <p:nvPr/>
        </p:nvSpPr>
        <p:spPr>
          <a:xfrm>
            <a:off x="6492240" y="3511296"/>
            <a:ext cx="292608" cy="292608"/>
          </a:xfrm>
          <a:prstGeom prst="rect">
            <a:avLst/>
          </a:prstGeom>
          <a:noFill/>
          <a:ln/>
        </p:spPr>
        <p:txBody>
          <a:bodyPr wrap="square" lIns="0" tIns="0" rIns="0" bIns="0" rtlCol="0" anchor="ctr"/>
          <a:lstStyle/>
          <a:p>
            <a:pPr marL="0" indent="0" algn="ctr">
              <a:buNone/>
            </a:pPr>
            <a:r>
              <a:rPr lang="en-GB" sz="1200" dirty="0">
                <a:solidFill>
                  <a:srgbClr val="1A2B5E"/>
                </a:solidFill>
                <a:latin typeface="Inter SemiBold Text SemiBold" pitchFamily="34" charset="0"/>
                <a:ea typeface="Inter SemiBold Text SemiBold" pitchFamily="34" charset="-122"/>
                <a:cs typeface="Inter SemiBold Text SemiBold" pitchFamily="34" charset="-120"/>
              </a:rPr>
              <a:t>✓</a:t>
            </a:r>
          </a:p>
        </p:txBody>
      </p:sp>
      <p:sp>
        <p:nvSpPr>
          <p:cNvPr id="25" name="Text 25"/>
          <p:cNvSpPr txBox="1"/>
          <p:nvPr/>
        </p:nvSpPr>
        <p:spPr>
          <a:xfrm>
            <a:off x="6949440" y="3447288"/>
            <a:ext cx="4251960" cy="420624"/>
          </a:xfrm>
          <a:prstGeom prst="rect">
            <a:avLst/>
          </a:prstGeom>
          <a:noFill/>
          <a:ln/>
        </p:spPr>
        <p:txBody>
          <a:bodyPr wrap="square" lIns="0" tIns="0" rIns="0" bIns="0" rtlCol="0" anchor="ctr"/>
          <a:lstStyle/>
          <a:p>
            <a:pPr marL="0" indent="0" algn="l">
              <a:lnSpc>
                <a:spcPct val="105000"/>
              </a:lnSpc>
              <a:buNone/>
            </a:pPr>
            <a:r>
              <a:rPr lang="en-GB" sz="1250" dirty="0">
                <a:solidFill>
                  <a:srgbClr val="FFFFFF"/>
                </a:solidFill>
                <a:latin typeface="Inter Text" pitchFamily="34" charset="0"/>
                <a:ea typeface="Inter Text" pitchFamily="34" charset="-122"/>
                <a:cs typeface="Inter Text" pitchFamily="34" charset="-120"/>
              </a:rPr>
              <a:t>Ask TAXUD: unit price exclusive of VAT optional for gross invoices?</a:t>
            </a:r>
          </a:p>
        </p:txBody>
      </p:sp>
      <p:sp>
        <p:nvSpPr>
          <p:cNvPr id="26" name="Shape 26"/>
          <p:cNvSpPr/>
          <p:nvPr/>
        </p:nvSpPr>
        <p:spPr>
          <a:xfrm>
            <a:off x="6492240" y="4078224"/>
            <a:ext cx="292608" cy="292608"/>
          </a:xfrm>
          <a:prstGeom prst="ellipse">
            <a:avLst/>
          </a:prstGeom>
          <a:solidFill>
            <a:srgbClr val="19C3C8"/>
          </a:solidFill>
          <a:ln>
            <a:noFill/>
          </a:ln>
        </p:spPr>
        <p:txBody>
          <a:bodyPr/>
          <a:lstStyle/>
          <a:p>
            <a:endParaRPr lang="en-GB"/>
          </a:p>
        </p:txBody>
      </p:sp>
      <p:sp>
        <p:nvSpPr>
          <p:cNvPr id="27" name="Text 27"/>
          <p:cNvSpPr txBox="1"/>
          <p:nvPr/>
        </p:nvSpPr>
        <p:spPr>
          <a:xfrm>
            <a:off x="6492240" y="4078224"/>
            <a:ext cx="292608" cy="292608"/>
          </a:xfrm>
          <a:prstGeom prst="rect">
            <a:avLst/>
          </a:prstGeom>
          <a:noFill/>
          <a:ln/>
        </p:spPr>
        <p:txBody>
          <a:bodyPr wrap="square" lIns="0" tIns="0" rIns="0" bIns="0" rtlCol="0" anchor="ctr"/>
          <a:lstStyle/>
          <a:p>
            <a:pPr marL="0" indent="0" algn="ctr">
              <a:buNone/>
            </a:pPr>
            <a:r>
              <a:rPr lang="en-GB" sz="1200" dirty="0">
                <a:solidFill>
                  <a:srgbClr val="1A2B5E"/>
                </a:solidFill>
                <a:latin typeface="Inter SemiBold Text SemiBold" pitchFamily="34" charset="0"/>
                <a:ea typeface="Inter SemiBold Text SemiBold" pitchFamily="34" charset="-122"/>
                <a:cs typeface="Inter SemiBold Text SemiBold" pitchFamily="34" charset="-120"/>
              </a:rPr>
              <a:t>✓</a:t>
            </a:r>
          </a:p>
        </p:txBody>
      </p:sp>
      <p:sp>
        <p:nvSpPr>
          <p:cNvPr id="28" name="Text 28"/>
          <p:cNvSpPr txBox="1"/>
          <p:nvPr/>
        </p:nvSpPr>
        <p:spPr>
          <a:xfrm>
            <a:off x="6949440" y="4014216"/>
            <a:ext cx="4251960" cy="420624"/>
          </a:xfrm>
          <a:prstGeom prst="rect">
            <a:avLst/>
          </a:prstGeom>
          <a:noFill/>
          <a:ln/>
        </p:spPr>
        <p:txBody>
          <a:bodyPr wrap="square" lIns="0" tIns="0" rIns="0" bIns="0" rtlCol="0" anchor="ctr"/>
          <a:lstStyle/>
          <a:p>
            <a:pPr marL="0" indent="0" algn="l">
              <a:lnSpc>
                <a:spcPct val="105000"/>
              </a:lnSpc>
              <a:buNone/>
            </a:pPr>
            <a:r>
              <a:rPr lang="en-GB" sz="1250" dirty="0">
                <a:solidFill>
                  <a:srgbClr val="FFFFFF"/>
                </a:solidFill>
                <a:latin typeface="Inter Text" pitchFamily="34" charset="0"/>
                <a:ea typeface="Inter Text" pitchFamily="34" charset="-122"/>
                <a:cs typeface="Inter Text" pitchFamily="34" charset="-120"/>
              </a:rPr>
              <a:t>Test documents for the decimal levels decimal32, 64 and 128</a:t>
            </a:r>
          </a:p>
        </p:txBody>
      </p:sp>
      <p:sp>
        <p:nvSpPr>
          <p:cNvPr id="29" name="Shape 29"/>
          <p:cNvSpPr/>
          <p:nvPr/>
        </p:nvSpPr>
        <p:spPr>
          <a:xfrm>
            <a:off x="6492240" y="4645152"/>
            <a:ext cx="292608" cy="292608"/>
          </a:xfrm>
          <a:prstGeom prst="ellipse">
            <a:avLst/>
          </a:prstGeom>
          <a:solidFill>
            <a:srgbClr val="19C3C8"/>
          </a:solidFill>
          <a:ln>
            <a:noFill/>
          </a:ln>
        </p:spPr>
        <p:txBody>
          <a:bodyPr/>
          <a:lstStyle/>
          <a:p>
            <a:endParaRPr lang="en-GB"/>
          </a:p>
        </p:txBody>
      </p:sp>
      <p:sp>
        <p:nvSpPr>
          <p:cNvPr id="30" name="Text 30"/>
          <p:cNvSpPr txBox="1"/>
          <p:nvPr/>
        </p:nvSpPr>
        <p:spPr>
          <a:xfrm>
            <a:off x="6492240" y="4645152"/>
            <a:ext cx="292608" cy="292608"/>
          </a:xfrm>
          <a:prstGeom prst="rect">
            <a:avLst/>
          </a:prstGeom>
          <a:noFill/>
          <a:ln/>
        </p:spPr>
        <p:txBody>
          <a:bodyPr wrap="square" lIns="0" tIns="0" rIns="0" bIns="0" rtlCol="0" anchor="ctr"/>
          <a:lstStyle/>
          <a:p>
            <a:pPr marL="0" indent="0" algn="ctr">
              <a:buNone/>
            </a:pPr>
            <a:r>
              <a:rPr lang="en-GB" sz="1200" dirty="0">
                <a:solidFill>
                  <a:srgbClr val="1A2B5E"/>
                </a:solidFill>
                <a:latin typeface="Inter SemiBold Text SemiBold" pitchFamily="34" charset="0"/>
                <a:ea typeface="Inter SemiBold Text SemiBold" pitchFamily="34" charset="-122"/>
                <a:cs typeface="Inter SemiBold Text SemiBold" pitchFamily="34" charset="-120"/>
              </a:rPr>
              <a:t>✓</a:t>
            </a:r>
          </a:p>
        </p:txBody>
      </p:sp>
      <p:sp>
        <p:nvSpPr>
          <p:cNvPr id="31" name="Text 31"/>
          <p:cNvSpPr txBox="1"/>
          <p:nvPr/>
        </p:nvSpPr>
        <p:spPr>
          <a:xfrm>
            <a:off x="6949440" y="4581144"/>
            <a:ext cx="4251960" cy="420624"/>
          </a:xfrm>
          <a:prstGeom prst="rect">
            <a:avLst/>
          </a:prstGeom>
          <a:noFill/>
          <a:ln/>
        </p:spPr>
        <p:txBody>
          <a:bodyPr wrap="square" lIns="0" tIns="0" rIns="0" bIns="0" rtlCol="0" anchor="ctr"/>
          <a:lstStyle/>
          <a:p>
            <a:pPr marL="0" indent="0" algn="l">
              <a:lnSpc>
                <a:spcPct val="105000"/>
              </a:lnSpc>
              <a:buNone/>
            </a:pPr>
            <a:r>
              <a:rPr lang="en-GB" sz="1250" dirty="0">
                <a:solidFill>
                  <a:srgbClr val="FFFFFF"/>
                </a:solidFill>
                <a:latin typeface="Inter Text" pitchFamily="34" charset="0"/>
                <a:ea typeface="Inter Text" pitchFamily="34" charset="-122"/>
                <a:cs typeface="Inter Text" pitchFamily="34" charset="-120"/>
              </a:rPr>
              <a:t>Impact test with ERP and e-invoicing vendors</a:t>
            </a:r>
          </a:p>
        </p:txBody>
      </p:sp>
      <p:sp>
        <p:nvSpPr>
          <p:cNvPr id="35" name="Pill 35"/>
          <p:cNvSpPr/>
          <p:nvPr/>
        </p:nvSpPr>
        <p:spPr>
          <a:xfrm>
            <a:off x="822960" y="5943600"/>
            <a:ext cx="10543032" cy="411480"/>
          </a:xfrm>
          <a:prstGeom prst="roundRect">
            <a:avLst>
              <a:gd name="adj" fmla="val 50000"/>
            </a:avLst>
          </a:prstGeom>
          <a:solidFill>
            <a:srgbClr val="F4F6FB"/>
          </a:solidFill>
          <a:ln w="9525">
            <a:solidFill>
              <a:srgbClr val="E2E7F2"/>
            </a:solidFill>
            <a:prstDash val="solid"/>
          </a:ln>
        </p:spPr>
        <p:txBody>
          <a:bodyPr wrap="square" lIns="36576" tIns="36576" rIns="36576" bIns="36576" rtlCol="0" anchor="ctr"/>
          <a:lstStyle/>
          <a:p>
            <a:pPr marL="0" indent="0" algn="ctr">
              <a:buNone/>
            </a:pPr>
            <a:r>
              <a:rPr lang="en-GB" sz="1100" dirty="0">
                <a:solidFill>
                  <a:srgbClr val="5B6890"/>
                </a:solidFill>
                <a:latin typeface="Inter SemiBold Text SemiBold" pitchFamily="34" charset="0"/>
                <a:ea typeface="Inter SemiBold Text SemiBold" pitchFamily="34" charset="-122"/>
                <a:cs typeface="Inter SemiBold Text SemiBold" pitchFamily="34" charset="-120"/>
              </a:rPr>
              <a:t>Issues:  </a:t>
            </a:r>
            <a:r>
              <a:rPr lang="en-GB" sz="1100" dirty="0">
                <a:solidFill>
                  <a:srgbClr val="5B6890"/>
                </a:solidFill>
                <a:latin typeface="Inter Text" pitchFamily="34" charset="0"/>
                <a:ea typeface="Inter Text" pitchFamily="34" charset="-122"/>
                <a:cs typeface="Inter Text" pitchFamily="34" charset="-120"/>
                <a:hlinkClick r:id="rId6">
                  <a:extLst>
                    <a:ext uri="{A12FA001-AC4F-418D-AE19-62706E023703}">
                      <ahyp:hlinkClr xmlns:ahyp="http://schemas.microsoft.com/office/drawing/2018/hyperlinkcolor" val="tx"/>
                    </a:ext>
                  </a:extLst>
                </a:hlinkClick>
              </a:rPr>
              <a:t>github.com/ConnectingEurope/CEN-TC434-WG1/issues/164</a:t>
            </a:r>
            <a:r>
              <a:rPr lang="en-GB" sz="1100" dirty="0">
                <a:solidFill>
                  <a:srgbClr val="5B6890"/>
                </a:solidFill>
                <a:latin typeface="Inter Text" pitchFamily="34" charset="0"/>
                <a:ea typeface="Inter Text" pitchFamily="34" charset="-122"/>
                <a:cs typeface="Inter Text" pitchFamily="34" charset="-120"/>
              </a:rPr>
              <a:t>  ·  </a:t>
            </a:r>
            <a:r>
              <a:rPr lang="en-GB" sz="1100" dirty="0">
                <a:solidFill>
                  <a:srgbClr val="5B6890"/>
                </a:solidFill>
                <a:latin typeface="Inter Text" pitchFamily="34" charset="0"/>
                <a:ea typeface="Inter Text" pitchFamily="34" charset="-122"/>
                <a:cs typeface="Inter Text" pitchFamily="34" charset="-120"/>
                <a:hlinkClick r:id="rId7">
                  <a:extLst>
                    <a:ext uri="{A12FA001-AC4F-418D-AE19-62706E023703}">
                      <ahyp:hlinkClr xmlns:ahyp="http://schemas.microsoft.com/office/drawing/2018/hyperlinkcolor" val="tx"/>
                    </a:ext>
                  </a:extLst>
                </a:hlinkClick>
              </a:rPr>
              <a:t>/163</a:t>
            </a:r>
          </a:p>
        </p:txBody>
      </p:sp>
      <p:sp>
        <p:nvSpPr>
          <p:cNvPr id="36" name="Speaker 36">
            <a:hlinkClick r:id="rId5"/>
          </p:cNvPr>
          <p:cNvSpPr txBox="1"/>
          <p:nvPr/>
        </p:nvSpPr>
        <p:spPr>
          <a:xfrm>
            <a:off x="7680960" y="6514592"/>
            <a:ext cx="3154680" cy="292608"/>
          </a:xfrm>
          <a:prstGeom prst="rect">
            <a:avLst/>
          </a:prstGeom>
          <a:noFill/>
          <a:ln/>
        </p:spPr>
        <p:txBody>
          <a:bodyPr wrap="square" lIns="0" tIns="0" rIns="0" bIns="0" rtlCol="0" anchor="ctr"/>
          <a:lstStyle/>
          <a:p>
            <a:pPr marL="0" indent="0" algn="r">
              <a:buNone/>
            </a:pPr>
            <a:r>
              <a:rPr lang="en-GB" sz="1000" spc="100" dirty="0">
                <a:solidFill>
                  <a:srgbClr val="9AA4C2"/>
                </a:solidFill>
                <a:latin typeface="Inter Medium Text Medium" pitchFamily="34" charset="0"/>
                <a:ea typeface="Inter Medium Text Medium" pitchFamily="34" charset="-122"/>
                <a:cs typeface="Inter Medium Text Medium" pitchFamily="34" charset="-120"/>
              </a:rPr>
              <a:t>© Svante Schubert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Folie 34">
    <p:bg>
      <p:bgPr>
        <a:solidFill>
          <a:srgbClr val="0F1B3D"/>
        </a:solidFill>
        <a:effectLst/>
      </p:bgPr>
    </p:bg>
    <p:spTree>
      <p:nvGrpSpPr>
        <p:cNvPr id="1" name=""/>
        <p:cNvGrpSpPr/>
        <p:nvPr/>
      </p:nvGrpSpPr>
      <p:grpSpPr>
        <a:xfrm>
          <a:off x="0" y="0"/>
          <a:ext cx="0" cy="0"/>
          <a:chOff x="0" y="0"/>
          <a:chExt cx="0" cy="0"/>
        </a:xfrm>
      </p:grpSpPr>
      <p:pic>
        <p:nvPicPr>
          <p:cNvPr id="3" name="Background 3"/>
          <p:cNvPicPr>
            <a:picLocks noChangeAspect="1"/>
          </p:cNvPicPr>
          <p:nvPr/>
        </p:nvPicPr>
        <p:blipFill>
          <a:blip r:embed="rId3"/>
          <a:stretch>
            <a:fillRect/>
          </a:stretch>
        </p:blipFill>
        <p:spPr>
          <a:xfrm>
            <a:off x="0" y="0"/>
            <a:ext cx="12191695" cy="6858000"/>
          </a:xfrm>
          <a:prstGeom prst="rect">
            <a:avLst/>
          </a:prstGeom>
        </p:spPr>
      </p:pic>
      <p:sp>
        <p:nvSpPr>
          <p:cNvPr id="4" name="Header 4"/>
          <p:cNvSpPr txBox="1"/>
          <p:nvPr/>
        </p:nvSpPr>
        <p:spPr>
          <a:xfrm>
            <a:off x="822960" y="384048"/>
            <a:ext cx="7315200" cy="274320"/>
          </a:xfrm>
          <a:prstGeom prst="rect">
            <a:avLst/>
          </a:prstGeom>
          <a:noFill/>
          <a:ln/>
        </p:spPr>
        <p:txBody>
          <a:bodyPr wrap="square" lIns="0" tIns="0" rIns="0" bIns="0" rtlCol="0" anchor="ctr"/>
          <a:lstStyle/>
          <a:p>
            <a:pPr marL="0" indent="0" algn="l">
              <a:buNone/>
            </a:pPr>
            <a:r>
              <a:rPr lang="en-GB" sz="950" spc="100" dirty="0">
                <a:solidFill>
                  <a:srgbClr val="9FB0D8"/>
                </a:solidFill>
                <a:latin typeface="Inter Medium Text Medium" pitchFamily="34" charset="0"/>
                <a:ea typeface="Inter Medium Text Medium" pitchFamily="34" charset="-122"/>
                <a:cs typeface="Inter Medium Text Medium" pitchFamily="34" charset="-120"/>
              </a:rPr>
              <a:t>CEN/TC 434 WG1</a:t>
            </a:r>
            <a:r>
              <a:rPr lang="en-GB" sz="950" spc="100" dirty="0">
                <a:solidFill>
                  <a:srgbClr val="44598F"/>
                </a:solidFill>
                <a:latin typeface="Inter Text" pitchFamily="34" charset="0"/>
                <a:ea typeface="Inter Text" pitchFamily="34" charset="-122"/>
                <a:cs typeface="Inter Text" pitchFamily="34" charset="-120"/>
              </a:rPr>
              <a:t>   ·   </a:t>
            </a:r>
            <a:r>
              <a:rPr lang="en-GB" sz="950" spc="100" dirty="0">
                <a:solidFill>
                  <a:srgbClr val="7E91C4"/>
                </a:solidFill>
                <a:latin typeface="Inter Text" pitchFamily="34" charset="0"/>
                <a:ea typeface="Inter Text" pitchFamily="34" charset="-122"/>
                <a:cs typeface="Inter Text" pitchFamily="34" charset="-120"/>
              </a:rPr>
              <a:t>EN 16931-1:2026 amendment · Gross prices and rounding</a:t>
            </a:r>
          </a:p>
        </p:txBody>
      </p:sp>
      <p:sp>
        <p:nvSpPr>
          <p:cNvPr id="5" name="SectionLabel 5"/>
          <p:cNvSpPr txBox="1"/>
          <p:nvPr/>
        </p:nvSpPr>
        <p:spPr>
          <a:xfrm>
            <a:off x="822960" y="868680"/>
            <a:ext cx="8229600" cy="274320"/>
          </a:xfrm>
          <a:prstGeom prst="rect">
            <a:avLst/>
          </a:prstGeom>
          <a:noFill/>
          <a:ln/>
        </p:spPr>
        <p:txBody>
          <a:bodyPr wrap="square" lIns="0" tIns="0" rIns="0" bIns="0" rtlCol="0" anchor="ctr"/>
          <a:lstStyle/>
          <a:p>
            <a:pPr marL="0" indent="0" algn="l">
              <a:buNone/>
            </a:pPr>
            <a:r>
              <a:rPr lang="en-GB" sz="1100" spc="300" dirty="0">
                <a:solidFill>
                  <a:srgbClr val="19C3C8"/>
                </a:solidFill>
                <a:latin typeface="Inter SemiBold Text SemiBold" pitchFamily="34" charset="0"/>
                <a:ea typeface="Inter SemiBold Text SemiBold" pitchFamily="34" charset="-122"/>
                <a:cs typeface="Inter SemiBold Text SemiBold" pitchFamily="34" charset="-120"/>
              </a:rPr>
              <a:t>CONTACT</a:t>
            </a:r>
          </a:p>
        </p:txBody>
      </p:sp>
      <p:sp>
        <p:nvSpPr>
          <p:cNvPr id="6" name="Title 6"/>
          <p:cNvSpPr txBox="1"/>
          <p:nvPr/>
        </p:nvSpPr>
        <p:spPr>
          <a:xfrm>
            <a:off x="804672" y="1115568"/>
            <a:ext cx="10424160" cy="822960"/>
          </a:xfrm>
          <a:prstGeom prst="rect">
            <a:avLst/>
          </a:prstGeom>
          <a:noFill/>
          <a:ln/>
        </p:spPr>
        <p:txBody>
          <a:bodyPr wrap="square" lIns="0" tIns="0" rIns="0" bIns="0" rtlCol="0" anchor="t"/>
          <a:lstStyle/>
          <a:p>
            <a:pPr marL="0" indent="0" algn="l">
              <a:buNone/>
            </a:pPr>
            <a:r>
              <a:rPr lang="en-GB" sz="3800" b="1" dirty="0">
                <a:solidFill>
                  <a:srgbClr val="FFFFFF"/>
                </a:solidFill>
                <a:latin typeface="Inter Text" pitchFamily="34" charset="0"/>
                <a:ea typeface="Inter Text" pitchFamily="34" charset="-122"/>
                <a:cs typeface="Inter Text" pitchFamily="34" charset="-120"/>
              </a:rPr>
              <a:t>Talk to me</a:t>
            </a:r>
          </a:p>
        </p:txBody>
      </p:sp>
      <p:sp>
        <p:nvSpPr>
          <p:cNvPr id="7" name="PageNum 7"/>
          <p:cNvSpPr txBox="1"/>
          <p:nvPr/>
        </p:nvSpPr>
        <p:spPr>
          <a:xfrm>
            <a:off x="10908792" y="6514592"/>
            <a:ext cx="822960" cy="292608"/>
          </a:xfrm>
          <a:prstGeom prst="rect">
            <a:avLst/>
          </a:prstGeom>
          <a:noFill/>
          <a:ln/>
        </p:spPr>
        <p:txBody>
          <a:bodyPr wrap="square" lIns="0" tIns="0" rIns="0" bIns="0" rtlCol="0" anchor="ctr"/>
          <a:lstStyle/>
          <a:p>
            <a:pPr marL="0" indent="0" algn="r">
              <a:buNone/>
            </a:pPr>
            <a:fld id="{87DA7C0F-D619-4F2F-88AE-3AFCE6D46308}" type="slidenum">
              <a:rPr lang="en-GB" sz="1000" spc="200" dirty="0">
                <a:solidFill>
                  <a:srgbClr val="8EA0CC"/>
                </a:solidFill>
                <a:latin typeface="Inter SemiBold Text SemiBold" pitchFamily="34" charset="0"/>
                <a:ea typeface="Inter SemiBold Text SemiBold" pitchFamily="34" charset="-122"/>
                <a:cs typeface="Inter SemiBold Text SemiBold" pitchFamily="34" charset="-120"/>
              </a:rPr>
              <a:t>21</a:t>
            </a:fld>
            <a:endParaRPr lang="en-GB" sz="1000" spc="200" dirty="0">
              <a:solidFill>
                <a:srgbClr val="8EA0CC"/>
              </a:solidFill>
              <a:latin typeface="Inter SemiBold Text SemiBold" pitchFamily="34" charset="0"/>
              <a:ea typeface="Inter SemiBold Text SemiBold" pitchFamily="34" charset="-122"/>
              <a:cs typeface="Inter SemiBold Text SemiBold" pitchFamily="34" charset="-120"/>
            </a:endParaRPr>
          </a:p>
        </p:txBody>
      </p:sp>
      <p:sp>
        <p:nvSpPr>
          <p:cNvPr id="8" name="Shape 8"/>
          <p:cNvSpPr/>
          <p:nvPr/>
        </p:nvSpPr>
        <p:spPr>
          <a:xfrm>
            <a:off x="822960" y="2743200"/>
            <a:ext cx="5074920" cy="1920240"/>
          </a:xfrm>
          <a:prstGeom prst="roundRect">
            <a:avLst>
              <a:gd name="adj" fmla="val 4761"/>
            </a:avLst>
          </a:prstGeom>
          <a:solidFill>
            <a:srgbClr val="FFFFFF">
              <a:alpha val="12000"/>
            </a:srgbClr>
          </a:solidFill>
          <a:ln w="12700">
            <a:solidFill>
              <a:srgbClr val="FFFFFF"/>
            </a:solidFill>
            <a:prstDash val="solid"/>
          </a:ln>
        </p:spPr>
        <p:txBody>
          <a:bodyPr/>
          <a:lstStyle/>
          <a:p>
            <a:endParaRPr lang="en-GB"/>
          </a:p>
        </p:txBody>
      </p:sp>
      <p:sp>
        <p:nvSpPr>
          <p:cNvPr id="9" name="Shape 9"/>
          <p:cNvSpPr/>
          <p:nvPr/>
        </p:nvSpPr>
        <p:spPr>
          <a:xfrm>
            <a:off x="1133856" y="3054096"/>
            <a:ext cx="640080" cy="640080"/>
          </a:xfrm>
          <a:prstGeom prst="ellipse">
            <a:avLst/>
          </a:prstGeom>
          <a:solidFill>
            <a:srgbClr val="19C3C8"/>
          </a:solidFill>
          <a:ln>
            <a:noFill/>
          </a:ln>
          <a:effectLst>
            <a:outerShdw blurRad="88900" dist="38100" dir="5400000" algn="bl" rotWithShape="0">
              <a:srgbClr val="0A1230">
                <a:alpha val="18000"/>
              </a:srgbClr>
            </a:outerShdw>
          </a:effectLst>
        </p:spPr>
        <p:txBody>
          <a:bodyPr/>
          <a:lstStyle/>
          <a:p>
            <a:endParaRPr lang="en-GB"/>
          </a:p>
        </p:txBody>
      </p:sp>
      <p:pic>
        <p:nvPicPr>
          <p:cNvPr id="10" name="Image 10"/>
          <p:cNvPicPr>
            <a:picLocks noChangeAspect="1"/>
          </p:cNvPicPr>
          <p:nvPr/>
        </p:nvPicPr>
        <p:blipFill>
          <a:blip r:embed="rId4"/>
          <a:stretch>
            <a:fillRect/>
          </a:stretch>
        </p:blipFill>
        <p:spPr>
          <a:xfrm>
            <a:off x="1307592" y="3227832"/>
            <a:ext cx="292608" cy="292608"/>
          </a:xfrm>
          <a:prstGeom prst="rect">
            <a:avLst/>
          </a:prstGeom>
        </p:spPr>
      </p:pic>
      <p:sp>
        <p:nvSpPr>
          <p:cNvPr id="11" name="Text 11"/>
          <p:cNvSpPr txBox="1"/>
          <p:nvPr/>
        </p:nvSpPr>
        <p:spPr>
          <a:xfrm>
            <a:off x="1965960" y="3063240"/>
            <a:ext cx="3749040" cy="1463040"/>
          </a:xfrm>
          <a:prstGeom prst="rect">
            <a:avLst/>
          </a:prstGeom>
          <a:noFill/>
          <a:ln/>
        </p:spPr>
        <p:txBody>
          <a:bodyPr wrap="square" lIns="0" tIns="0" rIns="0" bIns="0" rtlCol="0" anchor="t"/>
          <a:lstStyle/>
          <a:p>
            <a:pPr marL="0" indent="0" algn="l">
              <a:lnSpc>
                <a:spcPct val="110000"/>
              </a:lnSpc>
              <a:spcAft>
                <a:spcPts val="300"/>
              </a:spcAft>
              <a:buNone/>
            </a:pPr>
            <a:r>
              <a:rPr lang="en-GB" sz="1800" dirty="0">
                <a:solidFill>
                  <a:srgbClr val="FFFFFF"/>
                </a:solidFill>
                <a:latin typeface="Inter SemiBold Text SemiBold" pitchFamily="34" charset="0"/>
                <a:ea typeface="Inter SemiBold Text SemiBold" pitchFamily="34" charset="-122"/>
                <a:cs typeface="Inter SemiBold Text SemiBold" pitchFamily="34" charset="-120"/>
              </a:rPr>
              <a:t>Svante Schubert</a:t>
            </a:r>
          </a:p>
          <a:p>
            <a:pPr marL="0" indent="0" algn="l">
              <a:lnSpc>
                <a:spcPct val="110000"/>
              </a:lnSpc>
              <a:buNone/>
            </a:pPr>
            <a:r>
              <a:rPr lang="en-GB" sz="1200" dirty="0">
                <a:solidFill>
                  <a:srgbClr val="BFD0F4"/>
                </a:solidFill>
                <a:latin typeface="Inter Text" pitchFamily="34" charset="0"/>
                <a:ea typeface="Inter Text" pitchFamily="34" charset="-122"/>
                <a:cs typeface="Inter Text" pitchFamily="34" charset="-120"/>
              </a:rPr>
              <a:t>Syntax bindings · validation · tooling</a:t>
            </a:r>
          </a:p>
          <a:p>
            <a:pPr marL="0" indent="0" algn="l">
              <a:lnSpc>
                <a:spcPct val="110000"/>
              </a:lnSpc>
              <a:buNone/>
            </a:pPr>
            <a:r>
              <a:rPr lang="en-GB" sz="1200" dirty="0">
                <a:solidFill>
                  <a:srgbClr val="BFD0F4"/>
                </a:solidFill>
                <a:latin typeface="Inter Text" pitchFamily="34" charset="0"/>
                <a:ea typeface="Inter Text" pitchFamily="34" charset="-122"/>
                <a:cs typeface="Inter Text" pitchFamily="34" charset="-120"/>
              </a:rPr>
              <a:t>Editor of the syntax bindings, CEN/TC 434 WG3</a:t>
            </a:r>
          </a:p>
        </p:txBody>
      </p:sp>
      <p:sp>
        <p:nvSpPr>
          <p:cNvPr id="12" name="Shape 12"/>
          <p:cNvSpPr/>
          <p:nvPr/>
        </p:nvSpPr>
        <p:spPr>
          <a:xfrm>
            <a:off x="6263640" y="2743200"/>
            <a:ext cx="5074920" cy="1920240"/>
          </a:xfrm>
          <a:prstGeom prst="roundRect">
            <a:avLst>
              <a:gd name="adj" fmla="val 4761"/>
            </a:avLst>
          </a:prstGeom>
          <a:solidFill>
            <a:srgbClr val="FFFFFF">
              <a:alpha val="12000"/>
            </a:srgbClr>
          </a:solidFill>
          <a:ln w="12700">
            <a:solidFill>
              <a:srgbClr val="FFFFFF"/>
            </a:solidFill>
            <a:prstDash val="solid"/>
          </a:ln>
        </p:spPr>
        <p:txBody>
          <a:bodyPr/>
          <a:lstStyle/>
          <a:p>
            <a:endParaRPr lang="en-GB"/>
          </a:p>
        </p:txBody>
      </p:sp>
      <p:sp>
        <p:nvSpPr>
          <p:cNvPr id="13" name="Text 13"/>
          <p:cNvSpPr txBox="1"/>
          <p:nvPr/>
        </p:nvSpPr>
        <p:spPr>
          <a:xfrm>
            <a:off x="6583680" y="2880360"/>
            <a:ext cx="4572000" cy="365760"/>
          </a:xfrm>
          <a:prstGeom prst="rect">
            <a:avLst/>
          </a:prstGeom>
          <a:noFill/>
          <a:ln/>
        </p:spPr>
        <p:txBody>
          <a:bodyPr wrap="square" lIns="0" tIns="0" rIns="0" bIns="0" rtlCol="0" anchor="ctr"/>
          <a:lstStyle/>
          <a:p>
            <a:pPr marL="0" indent="0" algn="l">
              <a:buNone/>
            </a:pPr>
            <a:r>
              <a:rPr lang="en-GB" sz="1500" dirty="0">
                <a:solidFill>
                  <a:srgbClr val="FFFFFF"/>
                </a:solidFill>
                <a:latin typeface="Inter SemiBold Text SemiBold" pitchFamily="34" charset="0"/>
                <a:ea typeface="Inter SemiBold Text SemiBold" pitchFamily="34" charset="-122"/>
                <a:cs typeface="Inter SemiBold Text SemiBold" pitchFamily="34" charset="-120"/>
              </a:rPr>
              <a:t>Follow &amp; join in</a:t>
            </a:r>
          </a:p>
        </p:txBody>
      </p:sp>
      <p:sp>
        <p:nvSpPr>
          <p:cNvPr id="14" name="Text 14">
            <a:hlinkClick r:id="rId13"/>
          </p:cNvPr>
          <p:cNvSpPr txBox="1"/>
          <p:nvPr/>
        </p:nvSpPr>
        <p:spPr>
          <a:xfrm>
            <a:off x="6583680" y="3310128"/>
            <a:ext cx="4572000" cy="274320"/>
          </a:xfrm>
          <a:prstGeom prst="rect">
            <a:avLst/>
          </a:prstGeom>
          <a:noFill/>
          <a:ln/>
        </p:spPr>
        <p:txBody>
          <a:bodyPr wrap="square" lIns="0" tIns="0" rIns="0" bIns="0" rtlCol="0" anchor="ctr"/>
          <a:lstStyle/>
          <a:p>
            <a:pPr marL="0" indent="0" algn="l">
              <a:buNone/>
            </a:pPr>
            <a:r>
              <a:rPr lang="en-GB" sz="1200" dirty="0">
                <a:solidFill>
                  <a:srgbClr val="19C3C8"/>
                </a:solidFill>
                <a:latin typeface="Inter SemiBold Text SemiBold" pitchFamily="34" charset="0"/>
                <a:ea typeface="Inter SemiBold Text SemiBold" pitchFamily="34" charset="-122"/>
                <a:cs typeface="Inter SemiBold Text SemiBold" pitchFamily="34" charset="-120"/>
              </a:rPr>
              <a:t>›  </a:t>
            </a:r>
            <a:r>
              <a:rPr lang="en-GB" sz="1200" dirty="0">
                <a:solidFill>
                  <a:srgbClr val="BFD0F4"/>
                </a:solidFill>
                <a:latin typeface="Inter Text" pitchFamily="34" charset="0"/>
                <a:ea typeface="Inter Text" pitchFamily="34" charset="-122"/>
                <a:cs typeface="Inter Text" pitchFamily="34" charset="-120"/>
              </a:rPr>
              <a:t>WG1 issue #164 · gross price model</a:t>
            </a:r>
          </a:p>
        </p:txBody>
      </p:sp>
      <p:sp>
        <p:nvSpPr>
          <p:cNvPr id="15" name="Text 15">
            <a:hlinkClick r:id="rId5"/>
          </p:cNvPr>
          <p:cNvSpPr txBox="1"/>
          <p:nvPr/>
        </p:nvSpPr>
        <p:spPr>
          <a:xfrm>
            <a:off x="6583680" y="3611880"/>
            <a:ext cx="4572000" cy="274320"/>
          </a:xfrm>
          <a:prstGeom prst="rect">
            <a:avLst/>
          </a:prstGeom>
          <a:noFill/>
          <a:ln/>
        </p:spPr>
        <p:txBody>
          <a:bodyPr wrap="square" lIns="0" tIns="0" rIns="0" bIns="0" rtlCol="0" anchor="ctr"/>
          <a:lstStyle/>
          <a:p>
            <a:pPr marL="0" indent="0" algn="l">
              <a:buNone/>
            </a:pPr>
            <a:r>
              <a:rPr lang="en-GB" sz="1200" dirty="0">
                <a:solidFill>
                  <a:srgbClr val="19C3C8"/>
                </a:solidFill>
                <a:latin typeface="Inter SemiBold Text SemiBold" pitchFamily="34" charset="0"/>
                <a:ea typeface="Inter SemiBold Text SemiBold" pitchFamily="34" charset="-122"/>
                <a:cs typeface="Inter SemiBold Text SemiBold" pitchFamily="34" charset="-120"/>
              </a:rPr>
              <a:t>›  </a:t>
            </a:r>
            <a:r>
              <a:rPr lang="en-GB" sz="1200" dirty="0">
                <a:solidFill>
                  <a:srgbClr val="BFD0F4"/>
                </a:solidFill>
                <a:latin typeface="Inter Text" pitchFamily="34" charset="0"/>
                <a:ea typeface="Inter Text" pitchFamily="34" charset="-122"/>
                <a:cs typeface="Inter Text" pitchFamily="34" charset="-120"/>
              </a:rPr>
              <a:t>WG1 issue #163 · round only once</a:t>
            </a:r>
          </a:p>
        </p:txBody>
      </p:sp>
      <p:sp>
        <p:nvSpPr>
          <p:cNvPr id="16" name="Text 16">
            <a:hlinkClick r:id="rId14"/>
          </p:cNvPr>
          <p:cNvSpPr txBox="1"/>
          <p:nvPr/>
        </p:nvSpPr>
        <p:spPr>
          <a:xfrm>
            <a:off x="6583680" y="3913632"/>
            <a:ext cx="4572000" cy="274320"/>
          </a:xfrm>
          <a:prstGeom prst="rect">
            <a:avLst/>
          </a:prstGeom>
          <a:noFill/>
          <a:ln/>
        </p:spPr>
        <p:txBody>
          <a:bodyPr wrap="square" lIns="0" tIns="0" rIns="0" bIns="0" rtlCol="0" anchor="ctr"/>
          <a:lstStyle/>
          <a:p>
            <a:pPr marL="0" indent="0" algn="l">
              <a:buNone/>
            </a:pPr>
            <a:r>
              <a:rPr lang="en-GB" sz="1200" dirty="0">
                <a:solidFill>
                  <a:srgbClr val="19C3C8"/>
                </a:solidFill>
                <a:latin typeface="Inter SemiBold Text SemiBold" pitchFamily="34" charset="0"/>
                <a:ea typeface="Inter SemiBold Text SemiBold" pitchFamily="34" charset="-122"/>
                <a:cs typeface="Inter SemiBold Text SemiBold" pitchFamily="34" charset="-120"/>
              </a:rPr>
              <a:t>›  </a:t>
            </a:r>
            <a:r>
              <a:rPr lang="en-GB" sz="1200" dirty="0">
                <a:solidFill>
                  <a:srgbClr val="BFD0F4"/>
                </a:solidFill>
                <a:latin typeface="Inter Text" pitchFamily="34" charset="0"/>
                <a:ea typeface="Inter Text" pitchFamily="34" charset="-122"/>
                <a:cs typeface="Inter Text" pitchFamily="34" charset="-120"/>
              </a:rPr>
              <a:t>BMF letter of 15 Oct 2026, section 2.5</a:t>
            </a:r>
          </a:p>
        </p:txBody>
      </p:sp>
      <p:sp>
        <p:nvSpPr>
          <p:cNvPr id="17" name="Text 17">
            <a:hlinkClick r:id="rId7"/>
          </p:cNvPr>
          <p:cNvSpPr txBox="1"/>
          <p:nvPr/>
        </p:nvSpPr>
        <p:spPr>
          <a:xfrm>
            <a:off x="6583680" y="4215384"/>
            <a:ext cx="4572000" cy="274320"/>
          </a:xfrm>
          <a:prstGeom prst="rect">
            <a:avLst/>
          </a:prstGeom>
          <a:noFill/>
          <a:ln/>
        </p:spPr>
        <p:txBody>
          <a:bodyPr wrap="square" lIns="0" tIns="0" rIns="0" bIns="0" rtlCol="0" anchor="ctr"/>
          <a:lstStyle/>
          <a:p>
            <a:pPr marL="0" indent="0" algn="l">
              <a:buNone/>
            </a:pPr>
            <a:r>
              <a:rPr lang="en-GB" sz="1200" dirty="0">
                <a:solidFill>
                  <a:srgbClr val="19C3C8"/>
                </a:solidFill>
                <a:latin typeface="Inter SemiBold Text SemiBold" pitchFamily="34" charset="0"/>
                <a:ea typeface="Inter SemiBold Text SemiBold" pitchFamily="34" charset="-122"/>
                <a:cs typeface="Inter SemiBold Text SemiBold" pitchFamily="34" charset="-120"/>
              </a:rPr>
              <a:t>›  </a:t>
            </a:r>
            <a:r>
              <a:rPr lang="en-GB" sz="1200" dirty="0">
                <a:solidFill>
                  <a:srgbClr val="BFD0F4"/>
                </a:solidFill>
                <a:latin typeface="Inter Text" pitchFamily="34" charset="0"/>
                <a:ea typeface="Inter Text" pitchFamily="34" charset="-122"/>
                <a:cs typeface="Inter Text" pitchFamily="34" charset="-120"/>
              </a:rPr>
              <a:t>Svanton: exact decimal arithmetic for Saxon</a:t>
            </a:r>
          </a:p>
        </p:txBody>
      </p:sp>
      <p:sp>
        <p:nvSpPr>
          <p:cNvPr id="18" name="Text 18"/>
          <p:cNvSpPr txBox="1"/>
          <p:nvPr/>
        </p:nvSpPr>
        <p:spPr>
          <a:xfrm>
            <a:off x="822960" y="5074920"/>
            <a:ext cx="10058400" cy="548640"/>
          </a:xfrm>
          <a:prstGeom prst="rect">
            <a:avLst/>
          </a:prstGeom>
          <a:noFill/>
          <a:ln/>
        </p:spPr>
        <p:txBody>
          <a:bodyPr wrap="square" lIns="0" tIns="0" rIns="0" bIns="0" rtlCol="0" anchor="ctr"/>
          <a:lstStyle/>
          <a:p>
            <a:pPr marL="0" indent="0" algn="l">
              <a:lnSpc>
                <a:spcPct val="110000"/>
              </a:lnSpc>
              <a:buNone/>
            </a:pPr>
            <a:r>
              <a:rPr lang="en-GB" sz="1500" dirty="0">
                <a:solidFill>
                  <a:srgbClr val="FFFFFF"/>
                </a:solidFill>
                <a:latin typeface="Inter SemiBold Text SemiBold" pitchFamily="34" charset="0"/>
                <a:ea typeface="Inter SemiBold Text SemiBold" pitchFamily="34" charset="-122"/>
                <a:cs typeface="Inter SemiBold Text SemiBold" pitchFamily="34" charset="-120"/>
              </a:rPr>
              <a:t>Thank you for your attention </a:t>
            </a:r>
            <a:r>
              <a:rPr lang="en-GB" sz="1500" dirty="0">
                <a:solidFill>
                  <a:srgbClr val="FFFFFF"/>
                </a:solidFill>
                <a:latin typeface="Inter Text" pitchFamily="34" charset="0"/>
                <a:ea typeface="Inter Text" pitchFamily="34" charset="-122"/>
                <a:cs typeface="Inter Text" pitchFamily="34" charset="-120"/>
              </a:rPr>
              <a:t>— I look forward to the discussion in WG1.</a:t>
            </a:r>
          </a:p>
        </p:txBody>
      </p:sp>
      <p:sp>
        <p:nvSpPr>
          <p:cNvPr id="19" name="Speaker 19">
            <a:hlinkClick r:id="rId9"/>
          </p:cNvPr>
          <p:cNvSpPr txBox="1"/>
          <p:nvPr/>
        </p:nvSpPr>
        <p:spPr>
          <a:xfrm>
            <a:off x="7680960" y="6514592"/>
            <a:ext cx="3154680" cy="292608"/>
          </a:xfrm>
          <a:prstGeom prst="rect">
            <a:avLst/>
          </a:prstGeom>
          <a:noFill/>
          <a:ln/>
        </p:spPr>
        <p:txBody>
          <a:bodyPr wrap="square" lIns="0" tIns="0" rIns="0" bIns="0" rtlCol="0" anchor="ctr"/>
          <a:lstStyle/>
          <a:p>
            <a:pPr marL="0" indent="0" algn="r">
              <a:buNone/>
            </a:pPr>
            <a:r>
              <a:rPr lang="en-GB" sz="1000" spc="100" dirty="0">
                <a:solidFill>
                  <a:srgbClr val="8EA0CC"/>
                </a:solidFill>
                <a:latin typeface="Inter Medium Text Medium" pitchFamily="34" charset="0"/>
                <a:ea typeface="Inter Medium Text Medium" pitchFamily="34" charset="-122"/>
                <a:cs typeface="Inter Medium Text Medium" pitchFamily="34" charset="-120"/>
              </a:rPr>
              <a:t>© Svante Schubert</a:t>
            </a:r>
          </a:p>
        </p:txBody>
      </p:sp>
      <p:sp>
        <p:nvSpPr>
          <p:cNvPr id="20" name="QR Card pptx"/>
          <p:cNvSpPr/>
          <p:nvPr/>
        </p:nvSpPr>
        <p:spPr>
          <a:xfrm>
            <a:off x="9902952" y="822960"/>
            <a:ext cx="1463040" cy="1463040"/>
          </a:xfrm>
          <a:prstGeom prst="roundRect">
            <a:avLst>
              <a:gd name="adj" fmla="val 6000"/>
            </a:avLst>
          </a:prstGeom>
          <a:solidFill>
            <a:srgbClr val="FFFFFF"/>
          </a:solidFill>
          <a:ln>
            <a:noFill/>
          </a:ln>
          <a:effectLst>
            <a:outerShdw blurRad="101600" dist="38100" dir="5400000" algn="bl" rotWithShape="0">
              <a:srgbClr val="0A1230">
                <a:alpha val="30000"/>
              </a:srgbClr>
            </a:outerShdw>
          </a:effectLst>
        </p:spPr>
        <p:txBody>
          <a:bodyPr/>
          <a:lstStyle/>
          <a:p>
            <a:endParaRPr lang="en-GB"/>
          </a:p>
        </p:txBody>
      </p:sp>
      <p:pic>
        <p:nvPicPr>
          <p:cNvPr id="21" name="QR Slides pptx" descr="QR code: slides as PPTX (https://svanteschubert.github.io/testy/ZUGFeRD_Entwicklertage_2026_SvanteSchubert_Syntax-Binding_EN.pptx)">
            <a:hlinkClick r:id="rId16"/>
          </p:cNvPr>
          <p:cNvPicPr>
            <a:picLocks noChangeAspect="1"/>
          </p:cNvPicPr>
          <p:nvPr/>
        </p:nvPicPr>
        <p:blipFill>
          <a:blip r:embed="rId15"/>
          <a:stretch>
            <a:fillRect/>
          </a:stretch>
        </p:blipFill>
        <p:spPr>
          <a:xfrm>
            <a:off x="9976104" y="896112"/>
            <a:ext cx="1316736" cy="1316736"/>
          </a:xfrm>
          <a:prstGeom prst="rect">
            <a:avLst/>
          </a:prstGeom>
        </p:spPr>
      </p:pic>
      <p:sp>
        <p:nvSpPr>
          <p:cNvPr id="22" name="QR Caption pptx">
            <a:hlinkClick r:id="rId16"/>
          </p:cNvPr>
          <p:cNvSpPr txBox="1"/>
          <p:nvPr/>
        </p:nvSpPr>
        <p:spPr>
          <a:xfrm>
            <a:off x="9537192" y="2340864"/>
            <a:ext cx="2194560" cy="256032"/>
          </a:xfrm>
          <a:prstGeom prst="rect">
            <a:avLst/>
          </a:prstGeom>
          <a:noFill/>
          <a:ln/>
        </p:spPr>
        <p:txBody>
          <a:bodyPr wrap="square" lIns="0" tIns="0" rIns="0" bIns="0" rtlCol="0" anchor="ctr"/>
          <a:lstStyle/>
          <a:p>
            <a:pPr marL="0" indent="0" algn="ctr">
              <a:buNone/>
            </a:pPr>
            <a:r>
              <a:rPr lang="en-GB" sz="1000" spc="100" dirty="0">
                <a:solidFill>
                  <a:srgbClr val="C4D2F4"/>
                </a:solidFill>
                <a:latin typeface="Inter Medium Text Medium" pitchFamily="34" charset="0"/>
                <a:ea typeface="Inter Medium Text Medium" pitchFamily="34" charset="-122"/>
                <a:cs typeface="Inter Medium Text Medium" pitchFamily="34" charset="-120"/>
              </a:rPr>
              <a:t>Slides as PPTX</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Header 3"/>
          <p:cNvSpPr txBox="1"/>
          <p:nvPr/>
        </p:nvSpPr>
        <p:spPr>
          <a:xfrm>
            <a:off x="822960" y="384048"/>
            <a:ext cx="7315200" cy="274320"/>
          </a:xfrm>
          <a:prstGeom prst="rect">
            <a:avLst/>
          </a:prstGeom>
          <a:noFill/>
          <a:ln/>
        </p:spPr>
        <p:txBody>
          <a:bodyPr wrap="square" lIns="0" tIns="0" rIns="0" bIns="0" rtlCol="0" anchor="ctr"/>
          <a:lstStyle/>
          <a:p>
            <a:pPr marL="0" indent="0" algn="l">
              <a:buNone/>
            </a:pPr>
            <a:r>
              <a:rPr lang="en-GB" sz="950" spc="100" dirty="0">
                <a:solidFill>
                  <a:srgbClr val="5B6890"/>
                </a:solidFill>
                <a:latin typeface="Inter Medium Text Medium" pitchFamily="34" charset="0"/>
                <a:ea typeface="Inter Medium Text Medium" pitchFamily="34" charset="-122"/>
                <a:cs typeface="Inter Medium Text Medium" pitchFamily="34" charset="-120"/>
              </a:rPr>
              <a:t>CEN/TC 434 WG1</a:t>
            </a:r>
            <a:r>
              <a:rPr lang="en-GB" sz="950" spc="100" dirty="0">
                <a:solidFill>
                  <a:srgbClr val="C2CADE"/>
                </a:solidFill>
                <a:latin typeface="Inter Text" pitchFamily="34" charset="0"/>
                <a:ea typeface="Inter Text" pitchFamily="34" charset="-122"/>
                <a:cs typeface="Inter Text" pitchFamily="34" charset="-120"/>
              </a:rPr>
              <a:t>   ·   </a:t>
            </a:r>
            <a:r>
              <a:rPr lang="en-GB" sz="950" spc="100" dirty="0">
                <a:solidFill>
                  <a:srgbClr val="9AA4C2"/>
                </a:solidFill>
                <a:latin typeface="Inter Text" pitchFamily="34" charset="0"/>
                <a:ea typeface="Inter Text" pitchFamily="34" charset="-122"/>
                <a:cs typeface="Inter Text" pitchFamily="34" charset="-120"/>
              </a:rPr>
              <a:t>EN 16931-1:2026 amendment · Gross prices and rounding</a:t>
            </a:r>
          </a:p>
        </p:txBody>
      </p:sp>
      <p:sp>
        <p:nvSpPr>
          <p:cNvPr id="4" name="SectionLabel 4"/>
          <p:cNvSpPr txBox="1"/>
          <p:nvPr/>
        </p:nvSpPr>
        <p:spPr>
          <a:xfrm>
            <a:off x="822960" y="868680"/>
            <a:ext cx="8229600" cy="274320"/>
          </a:xfrm>
          <a:prstGeom prst="rect">
            <a:avLst/>
          </a:prstGeom>
          <a:noFill/>
          <a:ln/>
        </p:spPr>
        <p:txBody>
          <a:bodyPr wrap="square" lIns="0" tIns="0" rIns="0" bIns="0" rtlCol="0" anchor="ctr"/>
          <a:lstStyle/>
          <a:p>
            <a:pPr marL="0" indent="0" algn="l">
              <a:buNone/>
            </a:pPr>
            <a:r>
              <a:rPr lang="en-GB" sz="1100" spc="300" dirty="0">
                <a:solidFill>
                  <a:srgbClr val="19C3C8"/>
                </a:solidFill>
                <a:latin typeface="Inter SemiBold Text SemiBold" pitchFamily="34" charset="0"/>
                <a:ea typeface="Inter SemiBold Text SemiBold" pitchFamily="34" charset="-122"/>
                <a:cs typeface="Inter SemiBold Text SemiBold" pitchFamily="34" charset="-120"/>
              </a:rPr>
              <a:t>STATUS · 20 OCT 2026</a:t>
            </a:r>
          </a:p>
        </p:txBody>
      </p:sp>
      <p:sp>
        <p:nvSpPr>
          <p:cNvPr id="5" name="Title 5"/>
          <p:cNvSpPr txBox="1"/>
          <p:nvPr/>
        </p:nvSpPr>
        <p:spPr>
          <a:xfrm>
            <a:off x="804672" y="1115568"/>
            <a:ext cx="10424160" cy="822960"/>
          </a:xfrm>
          <a:prstGeom prst="rect">
            <a:avLst/>
          </a:prstGeom>
          <a:noFill/>
          <a:ln/>
        </p:spPr>
        <p:txBody>
          <a:bodyPr wrap="square" lIns="0" tIns="0" rIns="0" bIns="0" rtlCol="0" anchor="t"/>
          <a:lstStyle/>
          <a:p>
            <a:pPr marL="0" indent="0" algn="l">
              <a:buNone/>
            </a:pPr>
            <a:r>
              <a:rPr lang="en-GB" sz="3800" b="1" dirty="0">
                <a:solidFill>
                  <a:srgbClr val="1A2B5E"/>
                </a:solidFill>
                <a:latin typeface="Inter Text" pitchFamily="34" charset="0"/>
                <a:ea typeface="Inter Text" pitchFamily="34" charset="-122"/>
                <a:cs typeface="Inter Text" pitchFamily="34" charset="-120"/>
              </a:rPr>
              <a:t>Where the discussion stands</a:t>
            </a:r>
          </a:p>
        </p:txBody>
      </p:sp>
      <p:sp>
        <p:nvSpPr>
          <p:cNvPr id="6" name="Tagline 6"/>
          <p:cNvSpPr txBox="1"/>
          <p:nvPr/>
        </p:nvSpPr>
        <p:spPr>
          <a:xfrm>
            <a:off x="822960" y="1865376"/>
            <a:ext cx="10424160" cy="320040"/>
          </a:xfrm>
          <a:prstGeom prst="rect">
            <a:avLst/>
          </a:prstGeom>
          <a:noFill/>
          <a:ln/>
        </p:spPr>
        <p:txBody>
          <a:bodyPr wrap="square" lIns="0" tIns="0" rIns="0" bIns="0" rtlCol="0" anchor="ctr"/>
          <a:lstStyle/>
          <a:p>
            <a:pPr marL="0" indent="0" algn="l">
              <a:buNone/>
            </a:pPr>
            <a:r>
              <a:rPr lang="en-GB" sz="1300" dirty="0">
                <a:solidFill>
                  <a:srgbClr val="5B6890"/>
                </a:solidFill>
                <a:latin typeface="Inter Text" pitchFamily="34" charset="0"/>
                <a:ea typeface="Inter Text" pitchFamily="34" charset="-122"/>
                <a:cs typeface="Inter Text" pitchFamily="34" charset="-120"/>
              </a:rPr>
              <a:t>Much is agreed already — four points remain open.</a:t>
            </a:r>
          </a:p>
        </p:txBody>
      </p:sp>
      <p:sp>
        <p:nvSpPr>
          <p:cNvPr id="7" name="PageNum 7"/>
          <p:cNvSpPr txBox="1"/>
          <p:nvPr/>
        </p:nvSpPr>
        <p:spPr>
          <a:xfrm>
            <a:off x="10908792" y="6514592"/>
            <a:ext cx="822960" cy="292608"/>
          </a:xfrm>
          <a:prstGeom prst="rect">
            <a:avLst/>
          </a:prstGeom>
          <a:noFill/>
          <a:ln/>
        </p:spPr>
        <p:txBody>
          <a:bodyPr wrap="square" lIns="0" tIns="0" rIns="0" bIns="0" rtlCol="0" anchor="ctr"/>
          <a:lstStyle/>
          <a:p>
            <a:pPr marL="0" indent="0" algn="r">
              <a:buNone/>
            </a:pPr>
            <a:fld id="{67D73E2F-A595-473C-9F0C-80BA506D5B08}" type="slidenum">
              <a:rPr lang="en-GB" sz="1000" spc="200" dirty="0">
                <a:solidFill>
                  <a:srgbClr val="5B6890"/>
                </a:solidFill>
                <a:latin typeface="Inter SemiBold Text SemiBold" pitchFamily="34" charset="0"/>
                <a:ea typeface="Inter SemiBold Text SemiBold" pitchFamily="34" charset="-122"/>
                <a:cs typeface="Inter SemiBold Text SemiBold" pitchFamily="34" charset="-120"/>
              </a:rPr>
              <a:t>19</a:t>
            </a:fld>
            <a:endParaRPr lang="en-GB" sz="1000" spc="200" dirty="0">
              <a:solidFill>
                <a:srgbClr val="5B6890"/>
              </a:solidFill>
              <a:latin typeface="Inter SemiBold Text SemiBold" pitchFamily="34" charset="0"/>
              <a:ea typeface="Inter SemiBold Text SemiBold" pitchFamily="34" charset="-122"/>
              <a:cs typeface="Inter SemiBold Text SemiBold" pitchFamily="34" charset="-120"/>
            </a:endParaRPr>
          </a:p>
        </p:txBody>
      </p:sp>
      <p:sp>
        <p:nvSpPr>
          <p:cNvPr id="8" name="Card 8"/>
          <p:cNvSpPr/>
          <p:nvPr/>
        </p:nvSpPr>
        <p:spPr>
          <a:xfrm>
            <a:off x="822960" y="2331720"/>
            <a:ext cx="5166360" cy="1691640"/>
          </a:xfrm>
          <a:prstGeom prst="roundRect">
            <a:avLst>
              <a:gd name="adj" fmla="val 4324"/>
            </a:avLst>
          </a:prstGeom>
          <a:solidFill>
            <a:srgbClr val="FFFFFF"/>
          </a:solidFill>
          <a:ln w="12700">
            <a:solidFill>
              <a:srgbClr val="E2E7F2"/>
            </a:solidFill>
            <a:prstDash val="solid"/>
          </a:ln>
          <a:effectLst>
            <a:outerShdw blurRad="101600" dist="38100" dir="5400000" algn="bl" rotWithShape="0">
              <a:srgbClr val="0A1230">
                <a:alpha val="8000"/>
              </a:srgbClr>
            </a:outerShdw>
          </a:effectLst>
        </p:spPr>
        <p:txBody>
          <a:bodyPr/>
          <a:lstStyle/>
          <a:p>
            <a:endParaRPr lang="en-GB"/>
          </a:p>
        </p:txBody>
      </p:sp>
      <p:sp>
        <p:nvSpPr>
          <p:cNvPr id="9" name="IconCircle 9"/>
          <p:cNvSpPr/>
          <p:nvPr/>
        </p:nvSpPr>
        <p:spPr>
          <a:xfrm>
            <a:off x="1060704" y="2532888"/>
            <a:ext cx="402336" cy="402336"/>
          </a:xfrm>
          <a:prstGeom prst="ellipse">
            <a:avLst/>
          </a:prstGeom>
          <a:solidFill>
            <a:srgbClr val="19C3C8"/>
          </a:solidFill>
          <a:ln>
            <a:noFill/>
          </a:ln>
          <a:effectLst>
            <a:outerShdw blurRad="88900" dist="38100" dir="5400000" algn="bl" rotWithShape="0">
              <a:srgbClr val="0A1230">
                <a:alpha val="18000"/>
              </a:srgbClr>
            </a:outerShdw>
          </a:effectLst>
        </p:spPr>
        <p:txBody>
          <a:bodyPr/>
          <a:lstStyle/>
          <a:p>
            <a:endParaRPr lang="en-GB"/>
          </a:p>
        </p:txBody>
      </p:sp>
      <p:pic>
        <p:nvPicPr>
          <p:cNvPr id="10" name="Icon 10"/>
          <p:cNvPicPr>
            <a:picLocks noChangeAspect="1"/>
          </p:cNvPicPr>
          <p:nvPr/>
        </p:nvPicPr>
        <p:blipFill>
          <a:blip r:embed="rId2"/>
          <a:stretch>
            <a:fillRect/>
          </a:stretch>
        </p:blipFill>
        <p:spPr>
          <a:xfrm>
            <a:off x="1171346" y="2643530"/>
            <a:ext cx="181051" cy="181051"/>
          </a:xfrm>
          <a:prstGeom prst="rect">
            <a:avLst/>
          </a:prstGeom>
        </p:spPr>
      </p:pic>
      <p:sp>
        <p:nvSpPr>
          <p:cNvPr id="11" name="Text 11"/>
          <p:cNvSpPr txBox="1"/>
          <p:nvPr/>
        </p:nvSpPr>
        <p:spPr>
          <a:xfrm>
            <a:off x="1600200" y="2514600"/>
            <a:ext cx="4206240" cy="438912"/>
          </a:xfrm>
          <a:prstGeom prst="rect">
            <a:avLst/>
          </a:prstGeom>
          <a:noFill/>
          <a:ln/>
        </p:spPr>
        <p:txBody>
          <a:bodyPr wrap="square" lIns="0" tIns="0" rIns="0" bIns="0" rtlCol="0" anchor="ctr"/>
          <a:lstStyle/>
          <a:p>
            <a:pPr marL="0" indent="0" algn="l">
              <a:buNone/>
            </a:pPr>
            <a:r>
              <a:rPr lang="en-GB" sz="1500" dirty="0">
                <a:solidFill>
                  <a:srgbClr val="1A2B5E"/>
                </a:solidFill>
                <a:latin typeface="Inter SemiBold Text SemiBold" pitchFamily="34" charset="0"/>
                <a:ea typeface="Inter SemiBold Text SemiBold" pitchFamily="34" charset="-122"/>
                <a:cs typeface="Inter SemiBold Text SemiBold" pitchFamily="34" charset="-120"/>
              </a:rPr>
              <a:t>Where the proposals meet</a:t>
            </a:r>
          </a:p>
        </p:txBody>
      </p:sp>
      <p:sp>
        <p:nvSpPr>
          <p:cNvPr id="12" name="Text 12"/>
          <p:cNvSpPr txBox="1"/>
          <p:nvPr/>
        </p:nvSpPr>
        <p:spPr>
          <a:xfrm>
            <a:off x="1133856" y="2990088"/>
            <a:ext cx="4663440" cy="1005840"/>
          </a:xfrm>
          <a:prstGeom prst="rect">
            <a:avLst/>
          </a:prstGeom>
          <a:noFill/>
          <a:ln/>
        </p:spPr>
        <p:txBody>
          <a:bodyPr wrap="square" lIns="0" tIns="0" rIns="0" bIns="0" rtlCol="0" anchor="t"/>
          <a:lstStyle/>
          <a:p>
            <a:pPr marL="164592" indent="-164592" algn="l">
              <a:spcAft>
                <a:spcPts val="200"/>
              </a:spcAft>
              <a:buSzPct val="100000"/>
              <a:buChar char="•"/>
            </a:pPr>
            <a:r>
              <a:rPr lang="en-GB" sz="1200" dirty="0">
                <a:solidFill>
                  <a:srgbClr val="5B6890"/>
                </a:solidFill>
                <a:latin typeface="Inter Text" pitchFamily="34" charset="0"/>
                <a:ea typeface="Inter Text" pitchFamily="34" charset="-122"/>
                <a:cs typeface="Inter Text" pitchFamily="34" charset="-120"/>
              </a:rPr>
              <a:t>VAT in the Minor Unit, rounded once per VAT category</a:t>
            </a:r>
          </a:p>
          <a:p>
            <a:pPr marL="164592" indent="-164592" algn="l">
              <a:spcAft>
                <a:spcPts val="200"/>
              </a:spcAft>
              <a:buSzPct val="100000"/>
              <a:buChar char="•"/>
            </a:pPr>
            <a:r>
              <a:rPr lang="en-GB" sz="1200" dirty="0">
                <a:solidFill>
                  <a:srgbClr val="5B6890"/>
                </a:solidFill>
                <a:latin typeface="Inter Text" pitchFamily="34" charset="0"/>
                <a:ea typeface="Inter Text" pitchFamily="34" charset="-122"/>
                <a:cs typeface="Inter Text" pitchFamily="34" charset="-120"/>
              </a:rPr>
              <a:t>“Plus VAT” terms and an indicator in the core</a:t>
            </a:r>
          </a:p>
          <a:p>
            <a:pPr marL="164592" indent="-164592" algn="l">
              <a:spcAft>
                <a:spcPts val="200"/>
              </a:spcAft>
              <a:buSzPct val="100000"/>
              <a:buChar char="•"/>
            </a:pPr>
            <a:r>
              <a:rPr lang="en-GB" sz="1200" dirty="0">
                <a:solidFill>
                  <a:srgbClr val="5B6890"/>
                </a:solidFill>
                <a:latin typeface="Inter Text" pitchFamily="34" charset="0"/>
                <a:ea typeface="Inter Text" pitchFamily="34" charset="-122"/>
                <a:cs typeface="Inter Text" pitchFamily="34" charset="-120"/>
              </a:rPr>
              <a:t>Precise line values and more price decimals than today</a:t>
            </a:r>
          </a:p>
          <a:p>
            <a:pPr marL="164592" indent="-164592" algn="l">
              <a:spcAft>
                <a:spcPts val="200"/>
              </a:spcAft>
              <a:buSzPct val="100000"/>
              <a:buChar char="•"/>
            </a:pPr>
            <a:r>
              <a:rPr lang="en-GB" sz="1200" dirty="0">
                <a:solidFill>
                  <a:srgbClr val="5B6890"/>
                </a:solidFill>
                <a:latin typeface="Inter Text" pitchFamily="34" charset="0"/>
                <a:ea typeface="Inter Text" pitchFamily="34" charset="-122"/>
                <a:cs typeface="Inter Text" pitchFamily="34" charset="-120"/>
              </a:rPr>
              <a:t>Proposed by </a:t>
            </a:r>
            <a:r>
              <a:rPr lang="en-GB" sz="1200" dirty="0">
                <a:solidFill>
                  <a:srgbClr val="5B6890"/>
                </a:solidFill>
                <a:latin typeface="Inter Text" pitchFamily="34" charset="0"/>
                <a:ea typeface="Inter Text" pitchFamily="34" charset="-122"/>
                <a:cs typeface="Inter Text" pitchFamily="34" charset="-120"/>
                <a:hlinkClick r:id="rId11">
                  <a:extLst>
                    <a:ext uri="{A12FA001-AC4F-418D-AE19-62706E023703}">
                      <ahyp:hlinkClr xmlns:ahyp="http://schemas.microsoft.com/office/drawing/2018/hyperlinkcolor" val="tx"/>
                    </a:ext>
                  </a:extLst>
                </a:hlinkClick>
              </a:rPr>
              <a:t>Paul Simons</a:t>
            </a:r>
            <a:r>
              <a:rPr lang="en-GB" sz="1200" dirty="0">
                <a:solidFill>
                  <a:srgbClr val="5B6890"/>
                </a:solidFill>
                <a:latin typeface="Inter Text" pitchFamily="34" charset="0"/>
                <a:ea typeface="Inter Text" pitchFamily="34" charset="-122"/>
                <a:cs typeface="Inter Text" pitchFamily="34" charset="-120"/>
              </a:rPr>
              <a:t> and </a:t>
            </a:r>
            <a:r>
              <a:rPr lang="en-GB" sz="1200" dirty="0">
                <a:solidFill>
                  <a:srgbClr val="5B6890"/>
                </a:solidFill>
                <a:latin typeface="Inter Text" pitchFamily="34" charset="0"/>
                <a:ea typeface="Inter Text" pitchFamily="34" charset="-122"/>
                <a:cs typeface="Inter Text" pitchFamily="34" charset="-120"/>
                <a:hlinkClick r:id="rId12">
                  <a:extLst>
                    <a:ext uri="{A12FA001-AC4F-418D-AE19-62706E023703}">
                      <ahyp:hlinkClr xmlns:ahyp="http://schemas.microsoft.com/office/drawing/2018/hyperlinkcolor" val="tx"/>
                    </a:ext>
                  </a:extLst>
                </a:hlinkClick>
              </a:rPr>
              <a:t>Cyrille Sautereau</a:t>
            </a:r>
            <a:r>
              <a:rPr lang="en-GB" sz="1200" dirty="0">
                <a:solidFill>
                  <a:srgbClr val="5B6890"/>
                </a:solidFill>
                <a:latin typeface="Inter Text" pitchFamily="34" charset="0"/>
                <a:ea typeface="Inter Text" pitchFamily="34" charset="-122"/>
                <a:cs typeface="Inter Text" pitchFamily="34" charset="-120"/>
              </a:rPr>
              <a:t>, 16–19 Oct</a:t>
            </a:r>
          </a:p>
        </p:txBody>
      </p:sp>
      <p:sp>
        <p:nvSpPr>
          <p:cNvPr id="13" name="Card 13"/>
          <p:cNvSpPr/>
          <p:nvPr/>
        </p:nvSpPr>
        <p:spPr>
          <a:xfrm>
            <a:off x="822960" y="4160520"/>
            <a:ext cx="5166360" cy="1645920"/>
          </a:xfrm>
          <a:prstGeom prst="roundRect">
            <a:avLst>
              <a:gd name="adj" fmla="val 4444"/>
            </a:avLst>
          </a:prstGeom>
          <a:solidFill>
            <a:srgbClr val="FFFFFF"/>
          </a:solidFill>
          <a:ln w="12700">
            <a:solidFill>
              <a:srgbClr val="E2E7F2"/>
            </a:solidFill>
            <a:prstDash val="solid"/>
          </a:ln>
          <a:effectLst>
            <a:outerShdw blurRad="101600" dist="38100" dir="5400000" algn="bl" rotWithShape="0">
              <a:srgbClr val="0A1230">
                <a:alpha val="8000"/>
              </a:srgbClr>
            </a:outerShdw>
          </a:effectLst>
        </p:spPr>
        <p:txBody>
          <a:bodyPr/>
          <a:lstStyle/>
          <a:p>
            <a:endParaRPr lang="en-GB"/>
          </a:p>
        </p:txBody>
      </p:sp>
      <p:sp>
        <p:nvSpPr>
          <p:cNvPr id="14" name="IconCircle 14"/>
          <p:cNvSpPr/>
          <p:nvPr/>
        </p:nvSpPr>
        <p:spPr>
          <a:xfrm>
            <a:off x="1060704" y="4361688"/>
            <a:ext cx="402336" cy="402336"/>
          </a:xfrm>
          <a:prstGeom prst="ellipse">
            <a:avLst/>
          </a:prstGeom>
          <a:solidFill>
            <a:srgbClr val="1A2B5E"/>
          </a:solidFill>
          <a:ln>
            <a:noFill/>
          </a:ln>
          <a:effectLst>
            <a:outerShdw blurRad="88900" dist="38100" dir="5400000" algn="bl" rotWithShape="0">
              <a:srgbClr val="0A1230">
                <a:alpha val="18000"/>
              </a:srgbClr>
            </a:outerShdw>
          </a:effectLst>
        </p:spPr>
        <p:txBody>
          <a:bodyPr/>
          <a:lstStyle/>
          <a:p>
            <a:endParaRPr lang="en-GB"/>
          </a:p>
        </p:txBody>
      </p:sp>
      <p:pic>
        <p:nvPicPr>
          <p:cNvPr id="15" name="Icon 15"/>
          <p:cNvPicPr>
            <a:picLocks noChangeAspect="1"/>
          </p:cNvPicPr>
          <p:nvPr/>
        </p:nvPicPr>
        <p:blipFill>
          <a:blip r:embed="rId3"/>
          <a:stretch>
            <a:fillRect/>
          </a:stretch>
        </p:blipFill>
        <p:spPr>
          <a:xfrm>
            <a:off x="1171346" y="4472330"/>
            <a:ext cx="181051" cy="181051"/>
          </a:xfrm>
          <a:prstGeom prst="rect">
            <a:avLst/>
          </a:prstGeom>
        </p:spPr>
      </p:pic>
      <p:sp>
        <p:nvSpPr>
          <p:cNvPr id="16" name="Text 16"/>
          <p:cNvSpPr txBox="1"/>
          <p:nvPr/>
        </p:nvSpPr>
        <p:spPr>
          <a:xfrm>
            <a:off x="1600200" y="4343400"/>
            <a:ext cx="4206240" cy="438912"/>
          </a:xfrm>
          <a:prstGeom prst="rect">
            <a:avLst/>
          </a:prstGeom>
          <a:noFill/>
          <a:ln/>
        </p:spPr>
        <p:txBody>
          <a:bodyPr wrap="square" lIns="0" tIns="0" rIns="0" bIns="0" rtlCol="0" anchor="ctr"/>
          <a:lstStyle/>
          <a:p>
            <a:pPr marL="0" indent="0" algn="l">
              <a:buNone/>
            </a:pPr>
            <a:r>
              <a:rPr lang="en-GB" sz="1500" dirty="0">
                <a:solidFill>
                  <a:srgbClr val="1A2B5E"/>
                </a:solidFill>
                <a:latin typeface="Inter SemiBold Text SemiBold" pitchFamily="34" charset="0"/>
                <a:ea typeface="Inter SemiBold Text SemiBold" pitchFamily="34" charset="-122"/>
                <a:cs typeface="Inter SemiBold Text SemiBold" pitchFamily="34" charset="-120"/>
              </a:rPr>
              <a:t>Still open</a:t>
            </a:r>
          </a:p>
        </p:txBody>
      </p:sp>
      <p:sp>
        <p:nvSpPr>
          <p:cNvPr id="17" name="Text 17"/>
          <p:cNvSpPr txBox="1"/>
          <p:nvPr/>
        </p:nvSpPr>
        <p:spPr>
          <a:xfrm>
            <a:off x="1133856" y="4818888"/>
            <a:ext cx="4663440" cy="960120"/>
          </a:xfrm>
          <a:prstGeom prst="rect">
            <a:avLst/>
          </a:prstGeom>
          <a:noFill/>
          <a:ln/>
        </p:spPr>
        <p:txBody>
          <a:bodyPr wrap="square" lIns="0" tIns="0" rIns="0" bIns="0" rtlCol="0" anchor="t"/>
          <a:lstStyle/>
          <a:p>
            <a:pPr marL="164592" indent="-164592" algn="l">
              <a:spcAft>
                <a:spcPts val="200"/>
              </a:spcAft>
              <a:buSzPct val="100000"/>
              <a:buChar char="•"/>
            </a:pPr>
            <a:r>
              <a:rPr lang="en-GB" sz="1200" dirty="0">
                <a:solidFill>
                  <a:srgbClr val="5B6890"/>
                </a:solidFill>
                <a:latin typeface="Inter Text" pitchFamily="34" charset="0"/>
                <a:ea typeface="Inter Text" pitchFamily="34" charset="-122"/>
                <a:cs typeface="Inter Text" pitchFamily="34" charset="-120"/>
              </a:rPr>
              <a:t>One line amount, or a second precise one (BT-131NR)</a:t>
            </a:r>
          </a:p>
          <a:p>
            <a:pPr marL="164592" indent="-164592" algn="l">
              <a:spcAft>
                <a:spcPts val="200"/>
              </a:spcAft>
              <a:buSzPct val="100000"/>
              <a:buChar char="•"/>
            </a:pPr>
            <a:r>
              <a:rPr lang="en-GB" sz="1200" dirty="0">
                <a:solidFill>
                  <a:srgbClr val="5B6890"/>
                </a:solidFill>
                <a:latin typeface="Inter Text" pitchFamily="34" charset="0"/>
                <a:ea typeface="Inter Text" pitchFamily="34" charset="-122"/>
                <a:cs typeface="Inter Text" pitchFamily="34" charset="-120"/>
              </a:rPr>
              <a:t>A maximum of 8 decimals, or none</a:t>
            </a:r>
          </a:p>
          <a:p>
            <a:pPr marL="164592" indent="-164592" algn="l">
              <a:spcAft>
                <a:spcPts val="200"/>
              </a:spcAft>
              <a:buSzPct val="100000"/>
              <a:buChar char="•"/>
            </a:pPr>
            <a:r>
              <a:rPr lang="en-GB" sz="1200" dirty="0">
                <a:solidFill>
                  <a:srgbClr val="5B6890"/>
                </a:solidFill>
                <a:latin typeface="Inter Text" pitchFamily="34" charset="0"/>
                <a:ea typeface="Inter Text" pitchFamily="34" charset="-122"/>
                <a:cs typeface="Inter Text" pitchFamily="34" charset="-120"/>
              </a:rPr>
              <a:t>BT-116 VAT category taxable amount: exact, or in cents</a:t>
            </a:r>
          </a:p>
          <a:p>
            <a:pPr marL="164592" indent="-164592" algn="l">
              <a:spcAft>
                <a:spcPts val="200"/>
              </a:spcAft>
              <a:buSzPct val="100000"/>
              <a:buChar char="•"/>
            </a:pPr>
            <a:r>
              <a:rPr lang="en-GB" sz="1200" dirty="0">
                <a:solidFill>
                  <a:srgbClr val="5B6890"/>
                </a:solidFill>
                <a:latin typeface="Inter Text" pitchFamily="34" charset="0"/>
                <a:ea typeface="Inter Text" pitchFamily="34" charset="-122"/>
                <a:cs typeface="Inter Text" pitchFamily="34" charset="-120"/>
              </a:rPr>
              <a:t>VAT first: a rule in the core, or guidance and CIUS</a:t>
            </a:r>
          </a:p>
        </p:txBody>
      </p:sp>
      <p:sp>
        <p:nvSpPr>
          <p:cNvPr id="18" name="Panel 18"/>
          <p:cNvSpPr/>
          <p:nvPr/>
        </p:nvSpPr>
        <p:spPr>
          <a:xfrm>
            <a:off x="6172200" y="2331720"/>
            <a:ext cx="5193792" cy="3474720"/>
          </a:xfrm>
          <a:prstGeom prst="roundRect">
            <a:avLst>
              <a:gd name="adj" fmla="val 2631"/>
            </a:avLst>
          </a:prstGeom>
          <a:solidFill>
            <a:srgbClr val="1A2B5E"/>
          </a:solidFill>
          <a:ln>
            <a:noFill/>
          </a:ln>
          <a:effectLst>
            <a:outerShdw blurRad="101600" dist="38100" dir="5400000" algn="bl" rotWithShape="0">
              <a:srgbClr val="0A1230">
                <a:alpha val="18000"/>
              </a:srgbClr>
            </a:outerShdw>
          </a:effectLst>
        </p:spPr>
        <p:txBody>
          <a:bodyPr/>
          <a:lstStyle/>
          <a:p>
            <a:endParaRPr lang="en-GB"/>
          </a:p>
        </p:txBody>
      </p:sp>
      <p:sp>
        <p:nvSpPr>
          <p:cNvPr id="19" name="Text 19"/>
          <p:cNvSpPr txBox="1"/>
          <p:nvPr/>
        </p:nvSpPr>
        <p:spPr>
          <a:xfrm>
            <a:off x="6492240" y="2514600"/>
            <a:ext cx="4572000" cy="274320"/>
          </a:xfrm>
          <a:prstGeom prst="rect">
            <a:avLst/>
          </a:prstGeom>
          <a:noFill/>
          <a:ln/>
        </p:spPr>
        <p:txBody>
          <a:bodyPr wrap="square" lIns="0" tIns="0" rIns="0" bIns="0" rtlCol="0" anchor="ctr"/>
          <a:lstStyle/>
          <a:p>
            <a:pPr marL="0" indent="0" algn="l">
              <a:buNone/>
            </a:pPr>
            <a:r>
              <a:rPr lang="en-GB" sz="1100" spc="300" dirty="0">
                <a:solidFill>
                  <a:srgbClr val="19C3C8"/>
                </a:solidFill>
                <a:latin typeface="Inter SemiBold Text SemiBold" pitchFamily="34" charset="0"/>
                <a:ea typeface="Inter SemiBold Text SemiBold" pitchFamily="34" charset="-122"/>
                <a:cs typeface="Inter SemiBold Text SemiBold" pitchFamily="34" charset="-120"/>
              </a:rPr>
              <a:t>IN THE END: ACCURATE DATA FOR ALL</a:t>
            </a:r>
          </a:p>
        </p:txBody>
      </p:sp>
      <p:sp>
        <p:nvSpPr>
          <p:cNvPr id="20" name="Shape 20"/>
          <p:cNvSpPr/>
          <p:nvPr/>
        </p:nvSpPr>
        <p:spPr>
          <a:xfrm>
            <a:off x="6492240" y="2944368"/>
            <a:ext cx="292608" cy="292608"/>
          </a:xfrm>
          <a:prstGeom prst="ellipse">
            <a:avLst/>
          </a:prstGeom>
          <a:solidFill>
            <a:srgbClr val="19C3C8"/>
          </a:solidFill>
          <a:ln>
            <a:noFill/>
          </a:ln>
        </p:spPr>
        <p:txBody>
          <a:bodyPr/>
          <a:lstStyle/>
          <a:p>
            <a:endParaRPr lang="en-GB"/>
          </a:p>
        </p:txBody>
      </p:sp>
      <p:sp>
        <p:nvSpPr>
          <p:cNvPr id="21" name="Text 21"/>
          <p:cNvSpPr txBox="1"/>
          <p:nvPr/>
        </p:nvSpPr>
        <p:spPr>
          <a:xfrm>
            <a:off x="6492240" y="2944368"/>
            <a:ext cx="292608" cy="292608"/>
          </a:xfrm>
          <a:prstGeom prst="rect">
            <a:avLst/>
          </a:prstGeom>
          <a:noFill/>
          <a:ln/>
        </p:spPr>
        <p:txBody>
          <a:bodyPr wrap="square" lIns="0" tIns="0" rIns="0" bIns="0" rtlCol="0" anchor="ctr"/>
          <a:lstStyle/>
          <a:p>
            <a:pPr marL="0" indent="0" algn="ctr">
              <a:buNone/>
            </a:pPr>
            <a:r>
              <a:rPr lang="en-GB" sz="1200" dirty="0">
                <a:solidFill>
                  <a:srgbClr val="1A2B5E"/>
                </a:solidFill>
                <a:latin typeface="Inter SemiBold Text SemiBold" pitchFamily="34" charset="0"/>
                <a:ea typeface="Inter SemiBold Text SemiBold" pitchFamily="34" charset="-122"/>
                <a:cs typeface="Inter SemiBold Text SemiBold" pitchFamily="34" charset="-120"/>
              </a:rPr>
              <a:t>✓</a:t>
            </a:r>
          </a:p>
        </p:txBody>
      </p:sp>
      <p:sp>
        <p:nvSpPr>
          <p:cNvPr id="22" name="Text 22"/>
          <p:cNvSpPr txBox="1"/>
          <p:nvPr/>
        </p:nvSpPr>
        <p:spPr>
          <a:xfrm>
            <a:off x="6949440" y="2880360"/>
            <a:ext cx="4251960" cy="420624"/>
          </a:xfrm>
          <a:prstGeom prst="rect">
            <a:avLst/>
          </a:prstGeom>
          <a:noFill/>
          <a:ln/>
        </p:spPr>
        <p:txBody>
          <a:bodyPr wrap="square" lIns="0" tIns="0" rIns="0" bIns="0" rtlCol="0" anchor="ctr"/>
          <a:lstStyle/>
          <a:p>
            <a:pPr marL="0" indent="0" algn="l">
              <a:lnSpc>
                <a:spcPct val="105000"/>
              </a:lnSpc>
              <a:buNone/>
            </a:pPr>
            <a:r>
              <a:rPr lang="en-GB" sz="1250" dirty="0">
                <a:solidFill>
                  <a:srgbClr val="FFFFFF"/>
                </a:solidFill>
                <a:latin typeface="Inter Text" pitchFamily="34" charset="0"/>
                <a:ea typeface="Inter Text" pitchFamily="34" charset="-122"/>
                <a:cs typeface="Inter Text" pitchFamily="34" charset="-120"/>
              </a:rPr>
              <a:t>Conformant to the EN and compliant with national VAT law</a:t>
            </a:r>
          </a:p>
        </p:txBody>
      </p:sp>
      <p:sp>
        <p:nvSpPr>
          <p:cNvPr id="23" name="Shape 23"/>
          <p:cNvSpPr/>
          <p:nvPr/>
        </p:nvSpPr>
        <p:spPr>
          <a:xfrm>
            <a:off x="6492240" y="3511296"/>
            <a:ext cx="292608" cy="292608"/>
          </a:xfrm>
          <a:prstGeom prst="ellipse">
            <a:avLst/>
          </a:prstGeom>
          <a:solidFill>
            <a:srgbClr val="19C3C8"/>
          </a:solidFill>
          <a:ln>
            <a:noFill/>
          </a:ln>
        </p:spPr>
        <p:txBody>
          <a:bodyPr/>
          <a:lstStyle/>
          <a:p>
            <a:endParaRPr lang="en-GB"/>
          </a:p>
        </p:txBody>
      </p:sp>
      <p:sp>
        <p:nvSpPr>
          <p:cNvPr id="24" name="Text 24"/>
          <p:cNvSpPr txBox="1"/>
          <p:nvPr/>
        </p:nvSpPr>
        <p:spPr>
          <a:xfrm>
            <a:off x="6492240" y="3511296"/>
            <a:ext cx="292608" cy="292608"/>
          </a:xfrm>
          <a:prstGeom prst="rect">
            <a:avLst/>
          </a:prstGeom>
          <a:noFill/>
          <a:ln/>
        </p:spPr>
        <p:txBody>
          <a:bodyPr wrap="square" lIns="0" tIns="0" rIns="0" bIns="0" rtlCol="0" anchor="ctr"/>
          <a:lstStyle/>
          <a:p>
            <a:pPr marL="0" indent="0" algn="ctr">
              <a:buNone/>
            </a:pPr>
            <a:r>
              <a:rPr lang="en-GB" sz="1200" dirty="0">
                <a:solidFill>
                  <a:srgbClr val="1A2B5E"/>
                </a:solidFill>
                <a:latin typeface="Inter SemiBold Text SemiBold" pitchFamily="34" charset="0"/>
                <a:ea typeface="Inter SemiBold Text SemiBold" pitchFamily="34" charset="-122"/>
                <a:cs typeface="Inter SemiBold Text SemiBold" pitchFamily="34" charset="-120"/>
              </a:rPr>
              <a:t>✓</a:t>
            </a:r>
          </a:p>
        </p:txBody>
      </p:sp>
      <p:sp>
        <p:nvSpPr>
          <p:cNvPr id="25" name="Text 25"/>
          <p:cNvSpPr txBox="1"/>
          <p:nvPr/>
        </p:nvSpPr>
        <p:spPr>
          <a:xfrm>
            <a:off x="6949440" y="3447288"/>
            <a:ext cx="4251960" cy="420624"/>
          </a:xfrm>
          <a:prstGeom prst="rect">
            <a:avLst/>
          </a:prstGeom>
          <a:noFill/>
          <a:ln/>
        </p:spPr>
        <p:txBody>
          <a:bodyPr wrap="square" lIns="0" tIns="0" rIns="0" bIns="0" rtlCol="0" anchor="ctr"/>
          <a:lstStyle/>
          <a:p>
            <a:pPr marL="0" indent="0" algn="l">
              <a:lnSpc>
                <a:spcPct val="105000"/>
              </a:lnSpc>
              <a:buNone/>
            </a:pPr>
            <a:r>
              <a:rPr lang="en-GB" sz="1250" dirty="0">
                <a:solidFill>
                  <a:srgbClr val="FFFFFF"/>
                </a:solidFill>
                <a:latin typeface="Inter Text" pitchFamily="34" charset="0"/>
                <a:ea typeface="Inter Text" pitchFamily="34" charset="-122"/>
                <a:cs typeface="Inter Text" pitchFamily="34" charset="-120"/>
              </a:rPr>
              <a:t>A tolerance for those who accept it, no barrier for others</a:t>
            </a:r>
          </a:p>
        </p:txBody>
      </p:sp>
      <p:sp>
        <p:nvSpPr>
          <p:cNvPr id="26" name="Shape 26"/>
          <p:cNvSpPr/>
          <p:nvPr/>
        </p:nvSpPr>
        <p:spPr>
          <a:xfrm>
            <a:off x="6492240" y="4078224"/>
            <a:ext cx="292608" cy="292608"/>
          </a:xfrm>
          <a:prstGeom prst="ellipse">
            <a:avLst/>
          </a:prstGeom>
          <a:solidFill>
            <a:srgbClr val="19C3C8"/>
          </a:solidFill>
          <a:ln>
            <a:noFill/>
          </a:ln>
        </p:spPr>
        <p:txBody>
          <a:bodyPr/>
          <a:lstStyle/>
          <a:p>
            <a:endParaRPr lang="en-GB"/>
          </a:p>
        </p:txBody>
      </p:sp>
      <p:sp>
        <p:nvSpPr>
          <p:cNvPr id="27" name="Text 27"/>
          <p:cNvSpPr txBox="1"/>
          <p:nvPr/>
        </p:nvSpPr>
        <p:spPr>
          <a:xfrm>
            <a:off x="6492240" y="4078224"/>
            <a:ext cx="292608" cy="292608"/>
          </a:xfrm>
          <a:prstGeom prst="rect">
            <a:avLst/>
          </a:prstGeom>
          <a:noFill/>
          <a:ln/>
        </p:spPr>
        <p:txBody>
          <a:bodyPr wrap="square" lIns="0" tIns="0" rIns="0" bIns="0" rtlCol="0" anchor="ctr"/>
          <a:lstStyle/>
          <a:p>
            <a:pPr marL="0" indent="0" algn="ctr">
              <a:buNone/>
            </a:pPr>
            <a:r>
              <a:rPr lang="en-GB" sz="1200" dirty="0">
                <a:solidFill>
                  <a:srgbClr val="1A2B5E"/>
                </a:solidFill>
                <a:latin typeface="Inter SemiBold Text SemiBold" pitchFamily="34" charset="0"/>
                <a:ea typeface="Inter SemiBold Text SemiBold" pitchFamily="34" charset="-122"/>
                <a:cs typeface="Inter SemiBold Text SemiBold" pitchFamily="34" charset="-120"/>
              </a:rPr>
              <a:t>✓</a:t>
            </a:r>
          </a:p>
        </p:txBody>
      </p:sp>
      <p:sp>
        <p:nvSpPr>
          <p:cNvPr id="28" name="Text 28"/>
          <p:cNvSpPr txBox="1"/>
          <p:nvPr/>
        </p:nvSpPr>
        <p:spPr>
          <a:xfrm>
            <a:off x="6949440" y="4014216"/>
            <a:ext cx="4251960" cy="420624"/>
          </a:xfrm>
          <a:prstGeom prst="rect">
            <a:avLst/>
          </a:prstGeom>
          <a:noFill/>
          <a:ln/>
        </p:spPr>
        <p:txBody>
          <a:bodyPr wrap="square" lIns="0" tIns="0" rIns="0" bIns="0" rtlCol="0" anchor="ctr"/>
          <a:lstStyle/>
          <a:p>
            <a:pPr marL="0" indent="0" algn="l">
              <a:lnSpc>
                <a:spcPct val="105000"/>
              </a:lnSpc>
              <a:buNone/>
            </a:pPr>
            <a:r>
              <a:rPr lang="en-GB" sz="1250" dirty="0">
                <a:solidFill>
                  <a:srgbClr val="FFFFFF"/>
                </a:solidFill>
                <a:latin typeface="Inter Text" pitchFamily="34" charset="0"/>
                <a:ea typeface="Inter Text" pitchFamily="34" charset="-122"/>
                <a:cs typeface="Inter Text" pitchFamily="34" charset="-120"/>
              </a:rPr>
              <a:t>Receivers round on import, not reject (</a:t>
            </a:r>
            <a:r>
              <a:rPr lang="en-GB" sz="1250" dirty="0">
                <a:solidFill>
                  <a:srgbClr val="FFFFFF"/>
                </a:solidFill>
                <a:latin typeface="Inter Text" pitchFamily="34" charset="0"/>
                <a:ea typeface="Inter Text" pitchFamily="34" charset="-122"/>
                <a:cs typeface="Inter Text" pitchFamily="34" charset="-120"/>
                <a:hlinkClick r:id="rId13">
                  <a:extLst>
                    <a:ext uri="{A12FA001-AC4F-418D-AE19-62706E023703}">
                      <ahyp:hlinkClr xmlns:ahyp="http://schemas.microsoft.com/office/drawing/2018/hyperlinkcolor" val="tx"/>
                    </a:ext>
                  </a:extLst>
                </a:hlinkClick>
              </a:rPr>
              <a:t>new Art. 232, ViDA</a:t>
            </a:r>
            <a:r>
              <a:rPr lang="en-GB" sz="1250" dirty="0">
                <a:solidFill>
                  <a:srgbClr val="FFFFFF"/>
                </a:solidFill>
                <a:latin typeface="Inter Text" pitchFamily="34" charset="0"/>
                <a:ea typeface="Inter Text" pitchFamily="34" charset="-122"/>
                <a:cs typeface="Inter Text" pitchFamily="34" charset="-120"/>
              </a:rPr>
              <a:t>)</a:t>
            </a:r>
          </a:p>
        </p:txBody>
      </p:sp>
      <p:sp>
        <p:nvSpPr>
          <p:cNvPr id="29" name="Shape 29"/>
          <p:cNvSpPr/>
          <p:nvPr/>
        </p:nvSpPr>
        <p:spPr>
          <a:xfrm>
            <a:off x="6492240" y="4645152"/>
            <a:ext cx="292608" cy="292608"/>
          </a:xfrm>
          <a:prstGeom prst="ellipse">
            <a:avLst/>
          </a:prstGeom>
          <a:solidFill>
            <a:srgbClr val="19C3C8"/>
          </a:solidFill>
          <a:ln>
            <a:noFill/>
          </a:ln>
        </p:spPr>
        <p:txBody>
          <a:bodyPr/>
          <a:lstStyle/>
          <a:p>
            <a:endParaRPr lang="en-GB"/>
          </a:p>
        </p:txBody>
      </p:sp>
      <p:sp>
        <p:nvSpPr>
          <p:cNvPr id="30" name="Text 30"/>
          <p:cNvSpPr txBox="1"/>
          <p:nvPr/>
        </p:nvSpPr>
        <p:spPr>
          <a:xfrm>
            <a:off x="6492240" y="4645152"/>
            <a:ext cx="292608" cy="292608"/>
          </a:xfrm>
          <a:prstGeom prst="rect">
            <a:avLst/>
          </a:prstGeom>
          <a:noFill/>
          <a:ln/>
        </p:spPr>
        <p:txBody>
          <a:bodyPr wrap="square" lIns="0" tIns="0" rIns="0" bIns="0" rtlCol="0" anchor="ctr"/>
          <a:lstStyle/>
          <a:p>
            <a:pPr marL="0" indent="0" algn="ctr">
              <a:buNone/>
            </a:pPr>
            <a:r>
              <a:rPr lang="en-GB" sz="1200" dirty="0">
                <a:solidFill>
                  <a:srgbClr val="1A2B5E"/>
                </a:solidFill>
                <a:latin typeface="Inter SemiBold Text SemiBold" pitchFamily="34" charset="0"/>
                <a:ea typeface="Inter SemiBold Text SemiBold" pitchFamily="34" charset="-122"/>
                <a:cs typeface="Inter SemiBold Text SemiBold" pitchFamily="34" charset="-120"/>
              </a:rPr>
              <a:t>✓</a:t>
            </a:r>
          </a:p>
        </p:txBody>
      </p:sp>
      <p:sp>
        <p:nvSpPr>
          <p:cNvPr id="31" name="Text 31"/>
          <p:cNvSpPr txBox="1"/>
          <p:nvPr/>
        </p:nvSpPr>
        <p:spPr>
          <a:xfrm>
            <a:off x="6949440" y="4581144"/>
            <a:ext cx="4251960" cy="420624"/>
          </a:xfrm>
          <a:prstGeom prst="rect">
            <a:avLst/>
          </a:prstGeom>
          <a:noFill/>
          <a:ln/>
        </p:spPr>
        <p:txBody>
          <a:bodyPr wrap="square" lIns="0" tIns="0" rIns="0" bIns="0" rtlCol="0" anchor="ctr"/>
          <a:lstStyle/>
          <a:p>
            <a:pPr marL="0" indent="0" algn="l">
              <a:lnSpc>
                <a:spcPct val="105000"/>
              </a:lnSpc>
              <a:buNone/>
            </a:pPr>
            <a:r>
              <a:rPr lang="en-GB" sz="1250" dirty="0">
                <a:solidFill>
                  <a:srgbClr val="FFFFFF"/>
                </a:solidFill>
                <a:latin typeface="Inter Text" pitchFamily="34" charset="0"/>
                <a:ea typeface="Inter Text" pitchFamily="34" charset="-122"/>
                <a:cs typeface="Inter Text" pitchFamily="34" charset="-120"/>
              </a:rPr>
              <a:t>Software states its precision (decimal32, 64, 128); the market chooses</a:t>
            </a:r>
          </a:p>
        </p:txBody>
      </p:sp>
      <p:sp>
        <p:nvSpPr>
          <p:cNvPr id="35" name="Pill 35"/>
          <p:cNvSpPr/>
          <p:nvPr/>
        </p:nvSpPr>
        <p:spPr>
          <a:xfrm>
            <a:off x="822960" y="5943600"/>
            <a:ext cx="10543032" cy="411480"/>
          </a:xfrm>
          <a:prstGeom prst="roundRect">
            <a:avLst>
              <a:gd name="adj" fmla="val 50000"/>
            </a:avLst>
          </a:prstGeom>
          <a:solidFill>
            <a:srgbClr val="F4F6FB"/>
          </a:solidFill>
          <a:ln w="9525">
            <a:solidFill>
              <a:srgbClr val="E2E7F2"/>
            </a:solidFill>
            <a:prstDash val="solid"/>
          </a:ln>
        </p:spPr>
        <p:txBody>
          <a:bodyPr wrap="square" lIns="36576" tIns="36576" rIns="36576" bIns="36576" rtlCol="0" anchor="ctr"/>
          <a:lstStyle/>
          <a:p>
            <a:pPr marL="0" indent="0" algn="ctr">
              <a:buNone/>
            </a:pPr>
            <a:r>
              <a:rPr lang="en-GB" sz="1100" dirty="0">
                <a:solidFill>
                  <a:srgbClr val="5B6890"/>
                </a:solidFill>
                <a:latin typeface="Inter SemiBold Text SemiBold" pitchFamily="34" charset="0"/>
                <a:ea typeface="Inter SemiBold Text SemiBold" pitchFamily="34" charset="-122"/>
                <a:cs typeface="Inter SemiBold Text SemiBold" pitchFamily="34" charset="-120"/>
              </a:rPr>
              <a:t>Conformant ≠ compliant:  </a:t>
            </a:r>
            <a:r>
              <a:rPr lang="en-GB" sz="1100" dirty="0">
                <a:solidFill>
                  <a:srgbClr val="5B6890"/>
                </a:solidFill>
                <a:latin typeface="Inter Text" pitchFamily="34" charset="0"/>
                <a:ea typeface="Inter Text" pitchFamily="34" charset="-122"/>
                <a:cs typeface="Inter Text" pitchFamily="34" charset="-120"/>
              </a:rPr>
              <a:t>for the same supply, the example of </a:t>
            </a:r>
            <a:r>
              <a:rPr lang="en-GB" sz="1100" dirty="0">
                <a:solidFill>
                  <a:srgbClr val="5B6890"/>
                </a:solidFill>
                <a:latin typeface="Inter Text" pitchFamily="34" charset="0"/>
                <a:ea typeface="Inter Text" pitchFamily="34" charset="-122"/>
                <a:cs typeface="Inter Text" pitchFamily="34" charset="-120"/>
                <a:hlinkClick r:id="rId14">
                  <a:extLst>
                    <a:ext uri="{A12FA001-AC4F-418D-AE19-62706E023703}">
                      <ahyp:hlinkClr xmlns:ahyp="http://schemas.microsoft.com/office/drawing/2018/hyperlinkcolor" val="tx"/>
                    </a:ext>
                  </a:extLst>
                </a:hlinkClick>
              </a:rPr>
              <a:t>Paul Simons</a:t>
            </a:r>
            <a:r>
              <a:rPr lang="en-GB" sz="1100" dirty="0">
                <a:solidFill>
                  <a:srgbClr val="5B6890"/>
                </a:solidFill>
                <a:latin typeface="Inter Text" pitchFamily="34" charset="0"/>
                <a:ea typeface="Inter Text" pitchFamily="34" charset="-122"/>
                <a:cs typeface="Inter Text" pitchFamily="34" charset="-120"/>
              </a:rPr>
              <a:t> gives €1.20 or €1.21; the EN tolerates it, German law has no tolerance</a:t>
            </a:r>
          </a:p>
        </p:txBody>
      </p:sp>
      <p:sp>
        <p:nvSpPr>
          <p:cNvPr id="36" name="Speaker 36">
            <a:hlinkClick r:id="rId4"/>
          </p:cNvPr>
          <p:cNvSpPr txBox="1"/>
          <p:nvPr/>
        </p:nvSpPr>
        <p:spPr>
          <a:xfrm>
            <a:off x="7680960" y="6514592"/>
            <a:ext cx="3154680" cy="292608"/>
          </a:xfrm>
          <a:prstGeom prst="rect">
            <a:avLst/>
          </a:prstGeom>
          <a:noFill/>
          <a:ln/>
        </p:spPr>
        <p:txBody>
          <a:bodyPr wrap="square" lIns="0" tIns="0" rIns="0" bIns="0" rtlCol="0" anchor="ctr"/>
          <a:lstStyle/>
          <a:p>
            <a:pPr marL="0" indent="0" algn="r">
              <a:buNone/>
            </a:pPr>
            <a:r>
              <a:rPr lang="en-GB" sz="1000" spc="100" dirty="0">
                <a:solidFill>
                  <a:srgbClr val="9AA4C2"/>
                </a:solidFill>
                <a:latin typeface="Inter Medium Text Medium" pitchFamily="34" charset="0"/>
                <a:ea typeface="Inter Medium Text Medium" pitchFamily="34" charset="-122"/>
                <a:cs typeface="Inter Medium Text Medium" pitchFamily="34" charset="-120"/>
              </a:rPr>
              <a:t>© Svante Schubert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1144</TotalTime>
  <Words>13885</Words>
  <Application>Microsoft Macintosh PowerPoint</Application>
  <PresentationFormat>Widescreen</PresentationFormat>
  <Paragraphs>1503</Paragraphs>
  <Slides>10</Slides>
  <Notes>10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37</vt:i4>
      </vt:variant>
    </vt:vector>
  </HeadingPairs>
  <TitlesOfParts>
    <vt:vector size="44" baseType="lpstr">
      <vt:lpstr>Consolas</vt:lpstr>
      <vt:lpstr>Inter Text</vt:lpstr>
      <vt:lpstr>Arial</vt:lpstr>
      <vt:lpstr>Inter SemiBold Text SemiBold</vt:lpstr>
      <vt:lpstr>Inter Medium Text Medium</vt:lpstr>
      <vt:lpstr>Inter Light Text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Schubert Consulting</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Rounding and gross prices in EN 16931 (excerpt)</dc:title>
  <dc:subject>Update on the syntax binding (EN)</dc:subject>
  <dc:creator>Svante Schubert</dc:creator>
  <cp:keywords/>
  <dc:description>ZUGFeRD Entwicklertage 2026</dc:description>
  <cp:lastModifiedBy>Svante Schubert</cp:lastModifiedBy>
  <cp:revision>58</cp:revision>
  <dcterms:created xsi:type="dcterms:W3CDTF">2026-06-19T07:48:12Z</dcterms:created>
  <dcterms:modified xsi:type="dcterms:W3CDTF">2026-10-15T08:47:41Z</dcterms:modified>
  <cp:category/>
</cp:coreProperties>
</file>