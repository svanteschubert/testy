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3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9"/>
  </p:notesMasterIdLst>
  <p:sldIdLst>
    <p:sldId id="301" r:id="rId2"/>
    <p:sldId id="338" r:id="rId53"/>
    <p:sldId id="339" r:id="rId54"/>
    <p:sldId id="340" r:id="rId55"/>
    <p:sldId id="328" r:id="rId26"/>
    <p:sldId id="329" r:id="rId27"/>
    <p:sldId id="337" r:id="rId29"/>
    <p:sldId id="336" r:id="rId30"/>
    <p:sldId id="345" r:id="rId60"/>
    <p:sldId id="341" r:id="rId56"/>
    <p:sldId id="332" r:id="rId32"/>
    <p:sldId id="344" r:id="rId59"/>
    <p:sldId id="346" r:id="rId61"/>
    <p:sldId id="331" r:id="rId25"/>
    <p:sldId id="330" r:id="rId28"/>
    <p:sldId id="335" r:id="rId31"/>
    <p:sldId id="347" r:id="rId62"/>
    <p:sldId id="342" r:id="rId57"/>
    <p:sldId id="343" r:id="rId58"/>
    <p:sldId id="334" r:id="rId38"/>
  </p:sldIdLst>
  <p:sldSz cx="12192000" cy="6858000"/>
  <p:notesSz cx="6858000" cy="12192000"/>
  <p:embeddedFontLst>
    <p:embeddedFont>
      <p:font typeface="Consolas" panose="020B0609020204030204" pitchFamily="49" charset="0"/>
      <p:regular r:id="rId40"/>
      <p:bold r:id="rId41"/>
      <p:italic r:id="rId42"/>
      <p:boldItalic r:id="rId43"/>
    </p:embeddedFont>
    <p:embeddedFont>
      <p:font typeface="Inter Light Text Light" panose="02000503000000020004" pitchFamily="2" charset="0"/>
      <p:regular r:id="rId44"/>
    </p:embeddedFont>
    <p:embeddedFont>
      <p:font typeface="Inter Medium Text Medium" panose="02000503000000020004" pitchFamily="2" charset="0"/>
      <p:regular r:id="rId45"/>
    </p:embeddedFont>
    <p:embeddedFont>
      <p:font typeface="Inter SemiBold Text SemiBold" panose="02000503000000020004" pitchFamily="2" charset="0"/>
      <p:regular r:id="rId46"/>
    </p:embeddedFont>
    <p:embeddedFont>
      <p:font typeface="Inter Text" panose="02000503000000020004" pitchFamily="2" charset="0"/>
      <p:regular r:id="rId47"/>
      <p:bold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66"/>
    <p:restoredTop sz="94610"/>
  </p:normalViewPr>
  <p:slideViewPr>
    <p:cSldViewPr snapToGrid="0" snapToObjects="1">
      <p:cViewPr varScale="1">
        <p:scale>
          <a:sx n="114" d="100"/>
          <a:sy n="114" d="100"/>
        </p:scale>
        <p:origin x="17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5" Type="http://schemas.openxmlformats.org/officeDocument/2006/relationships/slide" Target="slides/slide1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15.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16.xml"/><Relationship Id="rId32" Type="http://schemas.openxmlformats.org/officeDocument/2006/relationships/slide" Target="slides/slide11.xml"/><Relationship Id="rId38" Type="http://schemas.openxmlformats.org/officeDocument/2006/relationships/slide" Target="slides/slide20.xml"/><Relationship Id="rId39" Type="http://schemas.openxmlformats.org/officeDocument/2006/relationships/notesMaster" Target="notesMasters/notesMaster1.xml"/><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 Id="rId44" Type="http://schemas.openxmlformats.org/officeDocument/2006/relationships/font" Target="fonts/font5.fntdata"/><Relationship Id="rId45" Type="http://schemas.openxmlformats.org/officeDocument/2006/relationships/font" Target="fonts/font6.fntdata"/><Relationship Id="rId46" Type="http://schemas.openxmlformats.org/officeDocument/2006/relationships/font" Target="fonts/font7.fntdata"/><Relationship Id="rId47" Type="http://schemas.openxmlformats.org/officeDocument/2006/relationships/font" Target="fonts/font8.fntdata"/><Relationship Id="rId48" Type="http://schemas.openxmlformats.org/officeDocument/2006/relationships/font" Target="fonts/font9.fnt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53" Type="http://schemas.openxmlformats.org/officeDocument/2006/relationships/slide" Target="slides/slide2.xml"/><Relationship Id="rId54" Type="http://schemas.openxmlformats.org/officeDocument/2006/relationships/slide" Target="slides/slide3.xml"/><Relationship Id="rId55" Type="http://schemas.openxmlformats.org/officeDocument/2006/relationships/slide" Target="slides/slide4.xml"/><Relationship Id="rId56" Type="http://schemas.openxmlformats.org/officeDocument/2006/relationships/slide" Target="slides/slide10.xml"/><Relationship Id="rId57" Type="http://schemas.openxmlformats.org/officeDocument/2006/relationships/slide" Target="slides/slide18.xml"/><Relationship Id="rId58" Type="http://schemas.openxmlformats.org/officeDocument/2006/relationships/slide" Target="slides/slide19.xml"/><Relationship Id="rId59" Type="http://schemas.openxmlformats.org/officeDocument/2006/relationships/slide" Target="slides/slide12.xml"/><Relationship Id="rId60" Type="http://schemas.openxmlformats.org/officeDocument/2006/relationships/slide" Target="slides/slide9.xml"/><Relationship Id="rId61" Type="http://schemas.openxmlformats.org/officeDocument/2006/relationships/slide" Target="slides/slide13.xml"/><Relationship Id="rId6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900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WG1 session on the two amendment proposals: #164 'Gross price model' and #163 'Round only once'. Goal: two decisions — the gross model in the core, and no forced rounding of intermediate values. The deck starts with what we agree on and with the legal requirements, shows why today's specification cannot meet them for gross prices, and ends with the impact on existing implementations and the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Start with the common ground. Paul Simons (#163): 'Accounting is 100% correct or it is not.' Cyrille Sautereau (#164): his point is 'not to force companies' to give up revenue because of rounding; he cites more than 5 million companies exchanging e-invoices in France and 1.2 million in Belgium. Both goals — correct VAT and working software — are compatible: removing a maximum is not a new minimum, and the gross model is an additional, optional path.</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BMF letter of 15 October 2026, section 2.5, para. 17: the invoice states the net amount per rate and the tax amount (§ 14 (4) sentence 1 no. 7 and 8 UStG); the net amount is the consideration minus the VAT (§ 10 (1) UStG); the tax amount is calculated to the cent and rounded commercially (UStAE 14.5 (20)). CJEU Ahold (C-484/06): Member States decide on rounding, within neutrality and proportionality; VAT is exactly proportional to the price (para. 38); where rounding is necessary, as closely as possible to the VAT of the rate (para. 39). VAT Directive: Art. 226(8) taxable amount per rate and unit price exclusive of VAT; Art. 206 net VAT paid with the return. ViDA: new Art. 232 (no acceptance needed), new Art. 263(3) (DRR).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Clause 6.5.14 of EN 16931-1:2026 requires rounding on the final calculation results and not on intermediate results; the 2017 edition said the same. Table 28 however sets maximum decimal places for intermediate values: BT-146 to BT-148 Minor Unit + 2, BT-131 and all sums to the Minor Unit, BT-129 to 4 and BT-149 to 2 decimal places. The limits for prices and quantities are new in 2026; in 2017 only amounts were limited. The BMF letter of 15 October 2026 (para. 18) states that the requirements of the standard or of the tax rounding rule cannot be met in certain constellations.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Root cause of the rounding problems: the conversion between net and gross. 9.99 / 1.19 never ends, 8.40 × 1.19 = 9.996 is not a cent amount. Any fixed maximum of decimal places fails at some quantity: a price cut at the d-th decimal moves the line by up to quantity × 0.5 × 10^-d (8 dp and 10,000,000 units: €0.05). Cyrille Sautereau's spreadsheet shows the same: with 1,000 units, 6 instead of 4 decimal places remove a deviation of €0.05. Therefore: the original price leads, there is no conversion per line, and the VAT is extracted only once per VAT rate, VAT first (VAT rounded, net amount the remainder).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Only the core is what every receiver has to accept: from 1 July 2030 an EN 16931 compliant invoice needs no acceptance (new Art. 232, ViDA), the DRR accepts EN-compliant data (new Art. 263(3)), and a CIUS can only restrict the core (EN 16931-1, 7.1 and Table 29). An advanced profile, like an extension, is only processed by receivers that agreed to it. Simplified invoices are limited to small amounts (Art. 220a; Germany up to €250, § 33 UStDV); above that a full invoice with the details of Art. 226 is required. The BMF accepts one line per rate with an attachment only until 31 December 2027.</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Decision 1 (#164): add the gross model to the core — the 'plus VAT' business terms (BT-146V, BT-131V, BT-116V and the others), VAT first (BT-117 = BT-116V × rate ÷ (100 + rate), rounded once; BT-116 = BT-116V − BT-117), no net intermediate values in the gross model, BT-146 Item net price for information (Art. 226(8)). Decision 2 (#163): no maximum decimal places for prices, quantities and intermediate values; only the paid amounts in the Minor Unit, BT-114 shows the one rounding; exact validation, within today's tolerance a warning, outside an error. Next steps: TAXUD on VAT first and on making the unit price exclusive of VAT optional for gross-price invoices; test documents; an impact test as Cyrille Sautereau requests.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With net amounts and VAT in cents, an invoice at 19% VAT reaches only 100 of every 119 gross amounts: each cent of net amount adds 1.19 cents of gross amount on average, so 19 of 119 (16%) are skipped. €9.99 is one of them: 8.39 + 1.59 = 9.98 and 8.40 + 1.60 = 10.00. At 7% the share is 7/107, at 20% 20/120, at 21% 21/121. Simulation with decimal arithmetic and random gross line amounts (0.01 to 100.00 EUR): 1 line 16%, 2 lines 34%, 5 lines 52%, 10 lines 66%, 35 lines 81% miss the receipt total when each line is converted to a net amount in cents. Only the tolerance of BR-S-9 lets an issuer state 8.39 + 1.60, whose VAT is not 19% of the net amount. BMF letter of 15 October 2026: para. 17 VAT to the cent, para. 18 the core and the tax rounding rule cannot both be met, para. 19 no gross format yet; until 31 December 2027 only totals per rate in the structured part and the line items in an embedded attachment.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Fuel shows that the amounts of the gross model stay in cents: the tenth of a cent is in the price (1.799 EUR per litre), not in the amount. 45.37 litres × 1.799 = 81.62063, charged and paid at the pump as 81.62. That is the line amount plus VAT (BT-131V). VAT first: 81.62 × 19 ÷ 119 = 13.0317 → 13.03 (BT-117); the net amount is the remainder, 68.59 (BT-116). BT-116V, BT-112 and BT-115 are 81.62. The informational BT-146 Item net price is 1.799 ÷ 1.19 = 1.51176470…; it is not used in any calculation. A validator can still use it to confirm the VAT, but only with enough decimal places: in the book example of #164, 23.3178 × 1,000 gives 1,632.25 VAT, while 23.317757 × 1,000 gives the correct 1,632.24. How many decimal places are enough depends on the quantity, so the standard must not fix a maximum.</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Impact on existing implementations. Issuers with net prices and 2 decimal places: nothing changes. Receivers with 2 decimal places: they round a received value once to their own precision when importing it — only for invoices that use more decimals, which are invalid today. Gross-price invoices: the new 'plus VAT' terms of #164 are a new core feature, like any amendment; a correct gross-price invoice was not possible before (BMF letter, para. 18; workaround until 31 December 2027, para. 19). Validators: exact decimal arithmetic at decimal128, test documents exist in Svanton. Syntaxes: no change, amounts are xsd:decimal. Every invoice that is valid today stays valid, at most with a warning (#163). For the impact study Cyrille Sautereau asks for, the precise question is whether a system rounds a precise value on import or rejects it.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Data flow of both models side by side. Left the net model of EN 16931-1, right the gross model of #164, in the middle the business terms both models share. The steps are the same: price, line, allowances and charges, sums, VAT category. Every net term has a 'plus VAT' counterpart with the suffix V (teal). The models differ only where the VAT enters (orange): the net model adds the VAT to the taxable amount, the gross model extracts it from the gross amount per VAT rate, VAT first (the VAT is rounded once, the net amount BT-116 is the remainder, as § 10 (1) UStG defines it), and derives BT-109 from BT-112 instead of the other way round. BT-115 is the same in both models. Footnotes: which business terms the law requires — Art. 226(6), (8), (9), (10) of the VAT Directive, and in Germany § 14 (4) no. 7 and 8 UStG with the tax amount calculated to the cent and rounded commercially, half up (UStAE 14.5 (20); BMF letter of 15 October 2026, para. 17). In the gross model BT-146 Item net price remains for information only (Art. 226(8)).</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github.com/ConnectingEurope/CEN-TC434-WG1/issues/163 — 'Round only once: no rounding of intermediate values, only of the amounts that are paid are being rounded' (Update 3 of 14 Oct 2026).</a:t>
            </a:r>
          </a:p>
          <a:p>
            <a:r>
              <a:rPr lang="en-GB" dirty="0"/>
              <a:t>EN 16931-1:2026 already says the right thing in 6.5.14: the final result is rounded, not intermediate results. But that only applies per rule; Table 28 and the first indent of 6.5.14 force every result back to cents before it enters the next rule. That is why tolerances of up to EUR 1 are needed (BR-S-9, BR-IG-9, BR-IP-9).</a:t>
            </a:r>
          </a:p>
          <a:p>
            <a:r>
              <a:rPr lang="en-GB" dirty="0"/>
              <a:t>Update 3: only what is paid gets rounded — BT-115 Amount due for payment and the amounts that change it: BT-113 Paid amount, BT-172 Discount amount (early payment), BT-179 Charge amount collected on behalf of a third party, BT-183 Penalty amount (late payment). They are stated in the currency's Minor Unit (ISO 4217, column 'minor unit'; EUR: cent) — the bank does not transfer smaller amounts. BT-114 Rounding amount carries the one rounding. Everything else, VAT included, is stated as precisely as the issuer calculates.</a:t>
            </a:r>
          </a:p>
          <a:p>
            <a:r>
              <a:rPr lang="en-GB" dirty="0"/>
              <a:t>VAT is not transferred per invoice but with the VAT return (Art. 206 VAT Directive). How the VAT of an invoice is rounded is national law: if it requires cents — in Germany UStAE 14.5 (20) 'accurate to the cent' —, a national CIUS restricts BT-110 and BT-117 to the Minor Unit (EN 16931-1:2026, Table 29: 'Restrict allowed fraction digits'). The core validation reports this as a warning.</a:t>
            </a:r>
          </a:p>
          <a:p>
            <a:r>
              <a:rPr lang="en-GB" dirty="0"/>
              <a:t>Validation: exact from the stated values, with 34 digits for non-terminating divisions (IEEE 754 decimal128). Equal: valid. Within today's tolerance: valid with a warning — whether the deviation is accepted is decided by the tax administration; a warning does not protect against penalties. Outside: error. For sums 0.005 × (1 + number of addends) applies, as proposed in #164. The tolerances remain, no transition period is needed: every invoice valid today stays valid, at most with a warning.</a:t>
            </a:r>
          </a:p>
          <a:p>
            <a:r>
              <a:rPr lang="en-GB" dirty="0"/>
              <a:t>Recipients validate with this precision, book BT-115 Amount due for payment and may round all other values internally; the original invoice remains stored (Art. 233 and 244 VAT Directive). From 1 July 2030 an EN 16931 compliant e-invoice no longer needs the recipient's consent (new Art. 232, ViDA).</a:t>
            </a:r>
          </a:p>
          <a:p>
            <a:r>
              <a:rPr lang="en-GB" dirty="0"/>
              <a:t>Example receipt → invoice (#148): 1,000 × €9.99 incl. 19% VAT = €9,990.00 with €1,595.04 VAT. Today (BT-146 with 4 digits: 8.3950) the invoice gives €9,990.05 — 5 cents too much, VAT 1 cent too high. With #163 and 10 digits (8.3949579832): amount due €9,990.00, BT-114 = −0.000000008. With VAT in cents where the law requires it: €1,595.04 (warning), amount due €9,990.00.</a:t>
            </a:r>
          </a:p>
          <a:p>
            <a:r>
              <a:rPr lang="en-GB" dirty="0"/>
              <a:t>Discussion: the split into warning and error takes up the third option of Cyrille Sautereau (FR). Open are DRR reports with cent lines (FR: the PPF accepts up to 6 digits) and backward compatibility (Paul Simons). In 2020 WG1 already decided to lift the limitation of BT-131 (issue #7).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slide pairs with identical layout — when paging through you only see the differences.</a:t>
            </a:r>
          </a:p>
          <a:p>
            <a:r>
              <a:rPr lang="en-GB" dirty="0"/>
              <a:t>Rainbow: the seven calculated BTs run through the rainbow from top to bottom — BT-146 red, BT-131 orange, BT-106 yellow, BT-116 green, BT-117 blue, BT-110 violet, BT-115 magenta. Where a later line reuses one of them, it appears there in bold in the same colour (BT-146 in BT-131, BT-131 in BT-106 and BT-116, BT-116 in BT-117, BT-117 in BT-110, BT-110 in BT-115). Input values stay dark blue.</a:t>
            </a:r>
          </a:p>
          <a:p>
            <a:r>
              <a:rPr lang="en-GB" dirty="0"/>
              <a:t>Frames: blue = input and intermediate values, violet = final results. The formulas show only the BT identifiers; the card titles and the panel on the right give the names from EN 16931-1. The panel lists every BT of the chain with its allowed decimal places, the calculated ones in their rainbow colour. All input values — including document level allowances and charges and the VAT rate — are in the upper box, below are the final results BT-116, BT-117, BT-110 and BT-115 Amount due for payment.</a:t>
            </a:r>
          </a:p>
          <a:p>
            <a:r>
              <a:rPr lang="en-GB" dirty="0"/>
              <a:t>The ± values on the left apply to 100 lines of 100 units, 19% VAT, all roundings in the same direction. How far this can grow is shown on the slides 'How large does the deviation get?' (worst case with number of lines and quantity).</a:t>
            </a:r>
          </a:p>
          <a:p>
            <a:r>
              <a:rPr lang="en-GB" dirty="0"/>
              <a:t>Colours of the decimal places: red = rounding forced by the standard on a value that is not paid (2017/2026: BT-131, BT-106, BT-116, BT-117, BT-110; 2026 also BT-146); green = paid amount, rounded once: BT-115 Amount due for payment — in 2017 fixed to 2 decimal places (Table 26), since 2026 to the currency's Minor Unit (ISO 4217; EUR: cent, JPY: whole yen, KWD: 3 decimal places); orange = input value that has to be rounded because of a limitation; 'free' = no limitation (#163). The VAT rate is a statutory constant and is not rounded.</a:t>
            </a:r>
          </a:p>
          <a:p>
            <a:r>
              <a:rPr lang="en-GB" dirty="0"/>
              <a:t>Why BT-116, BT-117 and BT-110 are no longer final values: according to Update 3 of #163 (14 Oct 2026) only what is paid gets rounded. VAT is paid with the VAT return, not per invoice (Art. 206 VAT Directive); the German advance VAT return even takes the taxable amount in whole euros only (BMF instructions 2026). If national law requires the VAT per invoice in cents (UStAE 14.5 (20)), a national CIUS restricts BT-117 and BT-110 to the Minor Unit (Table 29) — the core validation reports this as a warning.</a:t>
            </a:r>
          </a:p>
          <a:p>
            <a:r>
              <a:rPr lang="en-GB" dirty="0"/>
              <a:t>BT-115 Amount due for payment = BT-112 Invoice total amount with VAT (BT-109 Invoice total amount without VAT + BT-110 Invoice total VAT amount) − BT-113 Paid amount + Σ BT-179 Charge amount collected on behalf of a third party + BT-114 Rounding amount (BR-CO-16). In 2017 and 2026 the errors of all intermediate roundings end up in BT-115 (± €0.60 and ± €1.19 respectively for 100 lines of 100 units); with #163 it is rounded once, and BT-114 shows this rounding.</a:t>
            </a:r>
          </a:p>
          <a:p>
            <a:r>
              <a:rPr lang="en-GB" dirty="0"/>
              <a:t>2017 (Table 26): only amounts are limited — fixed to 2 decimal places, regardless of the currency; prices, quantities, base quantities and rates are unlimited. One intermediate rounding: BT-131 deviates by up to €0.005 per line, over 100 lines by up to €0.50; the VAT on it by up to €0.10 (9.5 cents, rounded).</a:t>
            </a:r>
          </a:p>
          <a:p>
            <a:r>
              <a:rPr lang="en-GB" dirty="0"/>
              <a:t>Already in 2017 the table contradicts the text of the standard: 'Rounding shall be done on the final calculation results not on any intermediate results'.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Rainbow: the seven calculated BTs run through the rainbow from top to bottom — BT-146 red, BT-131 orange, BT-106 yellow, BT-116 green, BT-117 blue, BT-110 violet, BT-115 magenta. Where a later line reuses one of them, it appears there in bold in the same colour (BT-146 in BT-131, BT-131 in BT-106 and BT-116, BT-116 in BT-117, BT-117 in BT-110, BT-110 in BT-115). Input values stay dark blue.</a:t>
            </a:r>
          </a:p>
          <a:p>
            <a:r>
              <a:rPr lang="en-GB" dirty="0"/>
              <a:t>Frames: blue = input and intermediate values, violet = final results. The formulas show only the BT identifiers; the card titles and the panel on the right give the names from EN 16931-1. The panel lists every BT of the chain with its allowed decimal places, the calculated ones in their rainbow colour. All input values — including document level allowances and charges and the VAT rate — are in the upper box, below are the final results BT-116, BT-117, BT-110 and BT-115 Amount due for payment.</a:t>
            </a:r>
          </a:p>
          <a:p>
            <a:r>
              <a:rPr lang="en-GB" dirty="0"/>
              <a:t>The ± values on the left apply to 100 lines of 100 units, 19% VAT, all roundings in the same direction. How far this can grow is shown on the slides 'How large does the deviation get?' (worst case with number of lines and quantity).</a:t>
            </a:r>
          </a:p>
          <a:p>
            <a:r>
              <a:rPr lang="en-GB" dirty="0"/>
              <a:t>Colours of the decimal places: red = rounding forced by the standard on a value that is not paid (2017/2026: BT-131, BT-106, BT-116, BT-117, BT-110; 2026 also BT-146); green = paid amount, rounded once: BT-115 Amount due for payment, to the currency's Minor Unit (ISO 4217; EUR: cent, JPY: whole yen, KWD: 3 decimal places); orange = input value that has to be rounded because of a limitation; 'free' = no limitation (#163). The VAT rate is a statutory constant and is not rounded.</a:t>
            </a:r>
          </a:p>
          <a:p>
            <a:r>
              <a:rPr lang="en-GB" dirty="0"/>
              <a:t>Why BT-116, BT-117 and BT-110 are no longer final values: according to Update 3 of #163 (14 Oct 2026) only what is paid gets rounded. VAT is paid with the VAT return, not per invoice (Art. 206 VAT Directive); the German advance VAT return even takes the taxable amount in whole euros only (BMF instructions 2026). If national law requires the VAT per invoice in cents (UStAE 14.5 (20)), a national CIUS restricts BT-117 and BT-110 to the Minor Unit (Table 29) — the core validation reports this as a warning.</a:t>
            </a:r>
          </a:p>
          <a:p>
            <a:r>
              <a:rPr lang="en-GB" dirty="0"/>
              <a:t>BT-115 Amount due for payment = BT-112 Invoice total amount with VAT (BT-109 Invoice total amount without VAT + BT-110 Invoice total VAT amount) − BT-113 Paid amount + Σ BT-179 Charge amount collected on behalf of a third party + BT-114 Rounding amount (BR-CO-16). In 2017 and 2026 the errors of all intermediate roundings end up in BT-115 (± €0.60 and ± €1.19 respectively for 100 lines of 100 units); with #163 it is rounded once, and BT-114 shows this rounding.</a:t>
            </a:r>
          </a:p>
          <a:p>
            <a:r>
              <a:rPr lang="en-GB" dirty="0"/>
              <a:t>2026 (Table 28): BT-146 to BT-148 to 'minor unit + 2' (EUR: 4), BT-129 to 4, BT-149 to 2, rates to 2, all amounts to the minor unit (EUR: 2). Two intermediate roundings: BT-146 (up to €0.00005 per unit) and BT-131.</a:t>
            </a:r>
          </a:p>
          <a:p>
            <a:r>
              <a:rPr lang="en-GB" dirty="0"/>
              <a:t>Per line: 100 × €0.00005 from the price + €0.005 from the line rounding = €0.01. Over 100 lines: €1.00 net; VAT €1.00 × 19% = €0.19 (the offset of exactly 19 cents survives the rounding); total €1.19.</a:t>
            </a:r>
          </a:p>
          <a:p>
            <a:r>
              <a:rPr lang="en-GB" dirty="0"/>
              <a:t>The tolerances of the 2026 rules absorb such differences (up to EUR 1 for BR-S-9) — but they also hide them. With #163 they separate warning from error: the deviation becomes visible. A concrete example with figures (receipt 1,000 × €9.99): see the notes on #163.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Rainbow: the seven calculated BTs run through the rainbow from top to bottom — BT-146 red, BT-131 orange, BT-106 yellow, BT-116 green, BT-117 blue, BT-110 violet, BT-115 magenta. Where a later line reuses one of them, it appears there in bold in the same colour (BT-146 in BT-131, BT-131 in BT-106 and BT-116, BT-116 in BT-117, BT-117 in BT-110, BT-110 in BT-115). Input values stay dark blue.</a:t>
            </a:r>
          </a:p>
          <a:p>
            <a:r>
              <a:rPr lang="en-GB" dirty="0"/>
              <a:t>Frames: blue = input and intermediate values, violet = final results. The formulas show only the BT identifiers; the card titles and the panel on the right give the names from EN 16931-1. The panel lists every BT of the chain with its allowed decimal places, the calculated ones in their rainbow colour. All input values — including document level allowances and charges and the VAT rate — are in the upper box, below are the final results BT-116, BT-117, BT-110 and BT-115 Amount due for payment.</a:t>
            </a:r>
          </a:p>
          <a:p>
            <a:r>
              <a:rPr lang="en-GB" dirty="0"/>
              <a:t>The ± values on the left apply to 100 lines of 100 units, 19% VAT, all roundings in the same direction. How far this can grow is shown on the slides 'How large does the deviation get?' (worst case with number of lines and quantity).</a:t>
            </a:r>
          </a:p>
          <a:p>
            <a:r>
              <a:rPr lang="en-GB" dirty="0"/>
              <a:t>Colours of the decimal places: red = rounding forced by the standard on a value that is not paid (2017/2026: BT-131, BT-106, BT-116, BT-117, BT-110; 2026 also BT-146); green = paid amount, rounded once: BT-115 Amount due for payment, to the currency's Minor Unit (ISO 4217; EUR: cent, JPY: whole yen, KWD: 3 decimal places); orange = input value that has to be rounded because of a limitation; 'free' = no limitation (#163). The VAT rate is a statutory constant and is not rounded.</a:t>
            </a:r>
          </a:p>
          <a:p>
            <a:r>
              <a:rPr lang="en-GB" dirty="0"/>
              <a:t>Why BT-116, BT-117 and BT-110 are no longer final values: according to Update 3 of #163 (14 Oct 2026) only what is paid gets rounded. VAT is paid with the VAT return, not per invoice (Art. 206 VAT Directive); the German advance VAT return even takes the taxable amount in whole euros only (BMF instructions 2026). If national law requires the VAT per invoice in cents (UStAE 14.5 (20)), a national CIUS restricts BT-117 and BT-110 to the Minor Unit (Table 29) — the core validation reports this as a warning.</a:t>
            </a:r>
          </a:p>
          <a:p>
            <a:r>
              <a:rPr lang="en-GB" dirty="0"/>
              <a:t>BT-115 Amount due for payment = BT-112 Invoice total amount with VAT (BT-109 Invoice total amount without VAT + BT-110 Invoice total VAT amount) − BT-113 Paid amount + Σ BT-179 Charge amount collected on behalf of a third party + BT-114 Rounding amount (BR-CO-16). In 2017 and 2026 the errors of all intermediate roundings end up in BT-115 (± €0.60 and ± €1.19 respectively for 100 lines of 100 units); with #163 it is rounded once, and BT-114 shows this rounding.</a:t>
            </a:r>
          </a:p>
          <a:p>
            <a:r>
              <a:rPr lang="en-GB" dirty="0"/>
              <a:t>Proposal #163: intermediate values are no longer rounded by force, input values (quantities, prices, percentages) no longer limited; the VAT rate stays at 2 decimal places as a statutory constant.</a:t>
            </a:r>
          </a:p>
          <a:p>
            <a:r>
              <a:rPr lang="en-GB" dirty="0"/>
              <a:t>Only BT-115 Amount due for payment is rounded (plus BT-113, BT-172, BT-179 and BT-183, which change it); BT-114 Rounding amount makes the one rounding visible. VAT stays as precise as calculated; cents only via a national CIUS, as a warning. So there is no deviation from intermediate rounding — for any number of lines.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deviation arises — step by step (EN 16931-1:2017):</a:t>
            </a:r>
          </a:p>
          <a:p>
            <a:r>
              <a:rPr lang="en-GB" dirty="0"/>
              <a:t>1. BT-146 Item net price: unlimited in 2017. The price stays exact, e.g. €0.123449. Factor 1 (price rounding × quantity) does not apply.</a:t>
            </a:r>
          </a:p>
          <a:p>
            <a:r>
              <a:rPr lang="en-GB" dirty="0"/>
              <a:t>2. BT-131 Invoice line net amount = price × quantity: must be rounded to 2 decimal places — fixed in 2017, regardless of the currency (Table 26). Worst case: the exact amount ends exactly on half a cent, e.g. €12.345 → €12.35. That is €0.005 deviation — in every line.</a:t>
            </a:r>
          </a:p>
          <a:p>
            <a:r>
              <a:rPr lang="en-GB" dirty="0"/>
              <a:t>3. BT-106 Sum of invoice line net amount and BT-116 VAT category taxable amount add up n rounded lines. If all lines round in the same direction, the half cents add up: n × €0.005. 100 lines: €0.50; 10,000 lines: €50.00.</a:t>
            </a:r>
          </a:p>
          <a:p>
            <a:r>
              <a:rPr lang="en-GB" dirty="0"/>
              <a:t>4. BT-117 VAT category tax amount = 19% of BT-116: 19% × €0.50 = €0.095 → up to €0.10 after rounding to 2 decimal places.</a:t>
            </a:r>
          </a:p>
          <a:p>
            <a:r>
              <a:rPr lang="en-GB" dirty="0"/>
              <a:t>Result: the deviation grows linearly with the number of lines, without an upper limit. In 2017 the quantity per line plays no role — that is why all columns of the table are the same.</a:t>
            </a:r>
          </a:p>
          <a:p>
            <a:r>
              <a:rPr lang="en-GB" dirty="0"/>
              <a:t>The table shows the upper limit. In practice lines round sometimes up, sometimes down and partly cancel each other out.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deviation arises — step by step (EN 16931-1:2026):</a:t>
            </a:r>
          </a:p>
          <a:p>
            <a:r>
              <a:rPr lang="en-GB" dirty="0"/>
              <a:t>1. BT-146 Item net price (factor 1): may only have Minor Unit + 2 decimal places (Table 28; EUR: 4). The exact price — e.g. €0.123449 from gross price minus discount or from a gross receipt — is 'squeezed' once into 4 digits: €0.1234. Error €0.000049, at most €0.00005 (half a unit of the 4th digit).</a:t>
            </a:r>
          </a:p>
          <a:p>
            <a:r>
              <a:rPr lang="en-GB" dirty="0"/>
              <a:t>2. BT-131 Invoice line net amount = price × quantity: it is not rounded per unit — but the rounded price is in every unit. The quantity multiplies the one price error: 10,000 units × €0.000049 = €0.49 (WG1 issue #148: €1,234.00 instead of €1,234.49). At most Q × €0.00005.</a:t>
            </a:r>
          </a:p>
          <a:p>
            <a:r>
              <a:rPr lang="en-GB" dirty="0"/>
              <a:t>3. In addition BT-131 is rounded to the Minor Unit (EUR: cent): once more up to €0.005. So per line up to Q × €0.00005 + €0.005 — that is what the first table row shows (100 units: €0.005 + €0.005 = €0.01; 10,000 units: €0.50 + €0.005 = €0.505; 1,000,000 units: €50.00 + €0.005 = €50.005).</a:t>
            </a:r>
          </a:p>
          <a:p>
            <a:r>
              <a:rPr lang="en-GB" dirty="0"/>
              <a:t>4. BT-106 Sum of invoice line net amount and BT-116 VAT category taxable amount (factor 2) add up n lines. In the worst case in the same direction: n × (Q × €0.00005 + €0.005). The first table row shows the error per line as the sum of both parts (price × quantity + cent rounding); every further row is the number of lines × this value.</a:t>
            </a:r>
          </a:p>
          <a:p>
            <a:r>
              <a:rPr lang="en-GB" dirty="0"/>
              <a:t>To recalculate: 100 lines of 10,000 units → per line 10,000 × €0.00005 + €0.005 = €0.505 → × 100 lines = €50.50 net. VAT: 19% × €50.50 = €9.595 → up to €9.60.</a:t>
            </a:r>
          </a:p>
          <a:p>
            <a:r>
              <a:rPr lang="en-GB" dirty="0"/>
              <a:t>The corner of the table: 10,000 lines of 1,000,000 units → per line 1,000,000 × €0.00005 + €0.005 = €50.005 → × 10,000 lines = €500,050. Extreme, but it shows: open-ended. Large quantities occur e.g. in energy (kWh), small parts or data volume.</a:t>
            </a:r>
          </a:p>
          <a:p>
            <a:r>
              <a:rPr lang="en-GB" dirty="0"/>
              <a:t>Why the price weighs more than the lines: the price error never cancels out within a line, it is multiplied in full by the quantity. Across many lines, however, roundings partly cancel out; the table shows the upper limit.</a:t>
            </a:r>
          </a:p>
          <a:p>
            <a:r>
              <a:rPr lang="en-GB" dirty="0"/>
              <a:t>Likewise BT-129 Invoiced quantity is limited to 4 decimal places: for expensive items up to 0.00005 × price is missing per line (e.g. 0.00005 kg × €20,000/kg = €1.00).</a:t>
            </a:r>
          </a:p>
          <a:p>
            <a:r>
              <a:rPr lang="en-GB" dirty="0"/>
              <a:t>The tolerances of the 2026 rules (up to EUR 1, e.g. BR-S-9) only absorb small deviations — and hide the cause. With #163 the same tolerances separate warning from error: the deviation becomes visible instead of hidden.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the deviation stays at zero — step by step (proposal #163):</a:t>
            </a:r>
          </a:p>
          <a:p>
            <a:r>
              <a:rPr lang="en-GB" dirty="0"/>
              <a:t>1. BT-146 Item net price and BT-129 Invoiced quantity stay exact, their decimal places are not limited. Factor 1 (price rounding × quantity) does not apply.</a:t>
            </a:r>
          </a:p>
          <a:p>
            <a:r>
              <a:rPr lang="en-GB" dirty="0"/>
              <a:t>2. BT-131 Invoice line net amount and BT-106 Sum of invoice line net amount are not rounded but carried forward exactly. Factor 2 (number of lines) does not apply — no matter how many lines.</a:t>
            </a:r>
          </a:p>
          <a:p>
            <a:r>
              <a:rPr lang="en-GB" dirty="0"/>
              <a:t>3. Only what is paid gets rounded: BT-115 Amount due for payment, once from the exact total to the currency's Minor Unit (EUR: cent); BT-114 Rounding amount shows this one rounding. BT-117 VAT category tax amount and BT-116 VAT category taxable amount stay as precise as calculated. If national law requires the VAT in cents (UStAE 14.5 (20)), a national CIUS restricts it — validation reports this as a warning, not as an error.</a:t>
            </a:r>
          </a:p>
          <a:p>
            <a:r>
              <a:rPr lang="en-GB" dirty="0"/>
              <a:t>Result: ± 0 deviation from intermediate rounding, for any quantity and any number of lines. The prerequisite is exact decimal arithmetic — see the slides on exact invoice arithmetic.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github.com/ConnectingEurope/CEN-TC434-WG1/issues/164 — 'Gross price model: use Item net price plus VAT as the leading price and extract the VAT once per VAT category'.</a:t>
            </a:r>
          </a:p>
          <a:p>
            <a:r>
              <a:t>EN 16931 only knows the net model: add up net prices, add VAT on top. But many prices are fixed including VAT: fixed book prices (§ 5 BuchPrG), receipts above the small-amount threshold, retailers and marketplaces, statutory prices.</a:t>
            </a:r>
          </a:p>
          <a:p>
            <a:r>
              <a:t>Proposal: two calculation models, each invoice uses exactly one. In the gross model the VAT is extracted once per category: BT-117 = BT-116V × BT-119 ÷ (100 + BT-119), rounded once to the cent, VAT first, as German law requires (BMF letter of 15 October 2026, para. 17); BT-116 = BT-116V − BT-117. New business terms with the suffix V ('plus VAT'), e.g. BT-146V, BT-131V, BT-116V — 'gross' is already taken in EN 16931 for the price before discount (BT-148).</a:t>
            </a:r>
          </a:p>
          <a:p>
            <a:r>
              <a:t>Example: 1,000 books at €24.95 incl. 7% VAT = €24,950.00 with €1,632.24 VAT. The net model of EN 16931-1:2026 (BT-146 with 4 decimal places: 23.3178) gives €24,950.05 and €1,632.25 VAT. There is no value within the tolerance of BR-CO-32 that gives €24,950.00 with correctly rounded VAT.</a:t>
            </a:r>
          </a:p>
          <a:p>
            <a:r>
              <a:t>Complements #163: in both models only the paid amounts are rounded, such as BT-115 Amount due for payment; the extracted BT-117 VAT category tax amount is stated as calculated, in cents only under national law (warning). In the example that is the only rounding: VAT first, €1,632.24299… becomes €1,632.24, the net amount is the remainder. In the gross model BT-146 is checked as a derived information price with half a unit of its last digit — without a warning, because it does not enter any calculation. In the discussion Paul Simons alternatively proposes category N with an exemption reason; Cyrille Sautereau supports gross prices in the model, with an indicator.</a:t>
            </a:r>
          </a:p>
          <a:p>
            <a:r>
              <a:t>Often impossible today (#163, section 'Gross prices'): with net and VAT in the Minor Unit (EUR: cent), an invoice at 19% VAT reaches only 100 of 119 gross amounts; 19 of 119 (16%) are lost, e.g. €9.99 (8.39 + 1.59 = 9.98; 8.40 + 1.60 = 10.00). At 7% VAT it is 7/107 (7%), at 20% 20/120 (17%), at 21% 21/121 (17%). Simulation with decimal arithmetic, random gross amounts: 1 line 16%, 2 lines 34%, 5 lines 52%, 10 lines 66%, 35 lines 81% miss the receipt total without a workaround.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Thanks and an invitation to follow and discuss the issues #164 and #163 on GitHub.</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hyperlink" Target="https://github.com/ConnectingEurope/CEN-TC434-WG1/issues/164" TargetMode="External"/><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6.png"/><Relationship Id="rId9" Type="http://schemas.openxmlformats.org/officeDocument/2006/relationships/hyperlink" Target="https://svanteschubert.github.io/testy/CEN-TC434-WG1_2026_SvanteSchubert_Gross-Prices_EN.pdf" TargetMode="External"/><Relationship Id="rId10" Type="http://schemas.openxmlformats.org/officeDocument/2006/relationships/hyperlink" Target="https://github.com/ConnectingEurope/CEN-TC434-WG1/issues/16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3#issuecomment-6194501602" TargetMode="External"/><Relationship Id="rId7" Type="http://schemas.openxmlformats.org/officeDocument/2006/relationships/hyperlink" Target="https://github.com/ConnectingEurope/CEN-TC434-WG1/issues/164#issuecomment-6172327671" TargetMode="External"/><Relationship Id="rId8" Type="http://schemas.openxmlformats.org/officeDocument/2006/relationships/hyperlink" Target="https://github.com/ConnectingEurope/CEN-TC434-WG1/issues/163#issuecomment-6211803475" TargetMode="External"/><Relationship Id="rId9" Type="http://schemas.openxmlformats.org/officeDocument/2006/relationships/hyperlink" Target="https://github.com/ConnectingEurope/CEN-TC434-WG1/issues/164" TargetMode="External"/><Relationship Id="rId10" Type="http://schemas.openxmlformats.org/officeDocument/2006/relationships/hyperlink" Target="https://github.com/ConnectingEurope/CEN-TC434-WG1/issues/16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 Id="rId7" Type="http://schemas.openxmlformats.org/officeDocument/2006/relationships/hyperlink" Target="https://usth.bundesfinanzministerium.de/usth/2024/A-Umsatzsteuergesetz/IV-Steuer-und-Vorsteuer/Paragraf-14/inhalt.html" TargetMode="External"/><Relationship Id="rId8" Type="http://schemas.openxmlformats.org/officeDocument/2006/relationships/hyperlink" Target="https://www.gesetze-im-internet.de/ustg_1980/__10.html" TargetMode="External"/><Relationship Id="rId9" Type="http://schemas.openxmlformats.org/officeDocument/2006/relationships/hyperlink" Target="https://eur-lex.europa.eu/legal-content/EN/TXT/?uri=CELEX:62006CJ0484" TargetMode="External"/><Relationship Id="rId10" Type="http://schemas.openxmlformats.org/officeDocument/2006/relationships/hyperlink" Target="https://eur-lex.europa.eu/eli/dir/2006/112/2025-04-14/eng#art_226" TargetMode="External"/><Relationship Id="rId11" Type="http://schemas.openxmlformats.org/officeDocument/2006/relationships/hyperlink" Target="https://eur-lex.europa.eu/eli/dir/2006/112/2025-04-14/eng#art_206" TargetMode="External"/><Relationship Id="rId12" Type="http://schemas.openxmlformats.org/officeDocument/2006/relationships/hyperlink" Target="https://eur-lex.europa.eu/eli/dir/2025/516/oj/eng#art_5" TargetMode="External"/><Relationship Id="rId13" Type="http://schemas.openxmlformats.org/officeDocument/2006/relationships/hyperlink" Target="https://eur-lex.europa.eu/eli/dir/2006/112/2025-04-14/e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linkedin.com/in/svante-schubert-291323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linkedin.com/in/svante-schubert-291323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www.linkedin.com/in/svante-schubert-2913232/" TargetMode="External"/><Relationship Id="rId4" Type="http://schemas.openxmlformats.org/officeDocument/2006/relationships/image" Target="../media/image30.png"/><Relationship Id="rId5"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linkedin.com/in/svante-schubert-2913232/" TargetMode="External"/><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hyperlink" Target="https://github.com/ConnectingEurope/CEN-TC434-WG1/issues/14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linkedin.com/in/svante-schubert-2913232/" TargetMode="External"/><Relationship Id="rId4"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4#issuecomment-619788143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4" TargetMode="External"/><Relationship Id="rId5" Type="http://schemas.openxmlformats.org/officeDocument/2006/relationships/hyperlink" Target="https://eur-lex.europa.eu/eli/dir/2006/112/2025-04-14/eng#art_22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4" TargetMode="External"/><Relationship Id="rId7" Type="http://schemas.openxmlformats.org/officeDocument/2006/relationships/hyperlink" Target="https://eur-lex.europa.eu/eli/dir/2006/112/2025-04-14/eng#art_226" TargetMode="External"/><Relationship Id="rId8" Type="http://schemas.openxmlformats.org/officeDocument/2006/relationships/hyperlink" Target="https://www.gesetze-im-internet.de/ustg_1980/__14.html" TargetMode="External"/><Relationship Id="rId9" Type="http://schemas.openxmlformats.org/officeDocument/2006/relationships/hyperlink" Target="https://usth.bundesfinanzministerium.de/usth/2024/A-Umsatzsteuergesetz/IV-Steuer-und-Vorsteuer/Paragraf-14/inhalt.html" TargetMode="External"/><Relationship Id="rId10"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 Id="rId11" Type="http://schemas.openxmlformats.org/officeDocument/2006/relationships/hyperlink" Target="https://www.gesetze-im-internet.de/ustg_1980/__10.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3" TargetMode="External"/><Relationship Id="rId7" Type="http://schemas.openxmlformats.org/officeDocument/2006/relationships/hyperlink" Target="https://github.com/ConnectingEurope/CEN-TC434-WG1/issues/164#issuecomment-614364129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linkedin.com/in/svante-schubert-2913232/" TargetMode="External"/><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hyperlink" Target="https://github.com/ConnectingEurope/CEN-TC434-WG1/issues/16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linkedin.com/in/svante-schubert-2913232/" TargetMode="External"/><Relationship Id="rId4" Type="http://schemas.openxmlformats.org/officeDocument/2006/relationships/hyperlink" Target="https://github.com/ConnectingEurope/CEN-TC434-WG1/issues/164" TargetMode="External"/><Relationship Id="rId5" Type="http://schemas.openxmlformats.org/officeDocument/2006/relationships/hyperlink" Target="https://github.com/ConnectingEurope/CEN-TC434-WG1/issues/163" TargetMode="External"/><Relationship Id="rId6" Type="http://schemas.openxmlformats.org/officeDocument/2006/relationships/hyperlink" Target="https://github.com/svanteschubert/Saxon-HE-enhanced-accuracy" TargetMode="External"/><Relationship Id="rId7" Type="http://schemas.openxmlformats.org/officeDocument/2006/relationships/hyperlink" Target="https://github.com/ConnectingEurope/CEN-TC434-WG1/issues/163#issuecomment-619375885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eur-lex.europa.eu/eli/dir/2025/516/oj/eng#art_5" TargetMode="External"/><Relationship Id="rId7" Type="http://schemas.openxmlformats.org/officeDocument/2006/relationships/hyperlink" Target="https://eur-lex.europa.eu/eli/dir/2006/112/2025-04-14/eng#art_220a" TargetMode="External"/><Relationship Id="rId8" Type="http://schemas.openxmlformats.org/officeDocument/2006/relationships/hyperlink" Target="https://www.gesetze-im-internet.de/ustdv_1980/__33.html" TargetMode="External"/><Relationship Id="rId9"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hyperlink" Target="https://www.linkedin.com/in/svante-schubert-2913232/" TargetMode="External"/><Relationship Id="rId6" Type="http://schemas.openxmlformats.org/officeDocument/2006/relationships/hyperlink" Target="https://github.com/ConnectingEurope/CEN-TC434-WG1/issues/164" TargetMode="External"/><Relationship Id="rId7" Type="http://schemas.openxmlformats.org/officeDocument/2006/relationships/hyperlink" Target="https://github.com/ConnectingEurope/CEN-TC434-WG1/issues/16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jpg"/><Relationship Id="rId4" Type="http://schemas.openxmlformats.org/officeDocument/2006/relationships/image" Target="../media/image2.png"/><Relationship Id="rId5" Type="http://schemas.openxmlformats.org/officeDocument/2006/relationships/hyperlink" Target="https://github.com/ConnectingEurope/CEN-TC434-WG1/issues/163" TargetMode="External"/><Relationship Id="rId6" Type="http://schemas.openxmlformats.org/officeDocument/2006/relationships/hyperlink" Target="https://github.com/svanteschubert/CEN-TC434-WG3/issues" TargetMode="External"/><Relationship Id="rId7" Type="http://schemas.openxmlformats.org/officeDocument/2006/relationships/hyperlink" Target="https://github.com/svanteschubert/Saxon-HE-enhanced-accuracy" TargetMode="External"/><Relationship Id="rId8" Type="http://schemas.openxmlformats.org/officeDocument/2006/relationships/hyperlink" Target="https://github.com/qt4cg/qtspecs/issues/2935" TargetMode="External"/><Relationship Id="rId9" Type="http://schemas.openxmlformats.org/officeDocument/2006/relationships/hyperlink" Target="https://www.linkedin.com/in/svante-schubert-2913232/" TargetMode="External"/><Relationship Id="rId10" Type="http://schemas.openxmlformats.org/officeDocument/2006/relationships/hyperlink" Target="https://github.com/ConnectingEurope/CEN-TC434-WG1/issues/163" TargetMode="External"/><Relationship Id="rId11" Type="http://schemas.openxmlformats.org/officeDocument/2006/relationships/image" Target="../media/image38.png"/><Relationship Id="rId12" Type="http://schemas.openxmlformats.org/officeDocument/2006/relationships/image" Target="../media/image5.png"/><Relationship Id="rId13" Type="http://schemas.openxmlformats.org/officeDocument/2006/relationships/hyperlink" Target="https://github.com/ConnectingEurope/CEN-TC434-WG1/issues/164" TargetMode="External"/><Relationship Id="rId14" Type="http://schemas.openxmlformats.org/officeDocument/2006/relationships/hyperlink" Target="https://www.bundesfinanzministerium.de/Content/DE/Downloads/BMF_Schreiben/Steuerarten/Umsatzsteuer/Umsatzsteuer-Anwendungserlass/2026-10-15-obligatorische-elektronische-rechnung.pdf?__blob=publicationFile&amp;v=1" TargetMode="External"/><Relationship Id="rId15" Type="http://schemas.openxmlformats.org/officeDocument/2006/relationships/image" Target="../media/image7.png"/><Relationship Id="rId16" Type="http://schemas.openxmlformats.org/officeDocument/2006/relationships/hyperlink" Target="https://svanteschubert.github.io/testy/CEN-TC434-WG1_2026_SvanteSchubert_Gross-Prices_EN.pptx"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Folie 1">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9FB0D8"/>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44598F"/>
                </a:solidFill>
                <a:latin typeface="Inter Text" pitchFamily="34" charset="0"/>
                <a:ea typeface="Inter Text" pitchFamily="34" charset="-122"/>
                <a:cs typeface="Inter Text" pitchFamily="34" charset="-120"/>
              </a:rPr>
              <a:t>   ·   </a:t>
            </a:r>
            <a:r>
              <a:rPr lang="en-GB" sz="950" spc="100" dirty="0">
                <a:solidFill>
                  <a:srgbClr val="7E91C4"/>
                </a:solidFill>
                <a:latin typeface="Inter Text" pitchFamily="34" charset="0"/>
                <a:ea typeface="Inter Text" pitchFamily="34" charset="-122"/>
                <a:cs typeface="Inter Text" pitchFamily="34" charset="-120"/>
              </a:rPr>
              <a:t>EN 16931-1:2026 amendment · Gross prices and rounding</a:t>
            </a:r>
          </a:p>
        </p:txBody>
      </p:sp>
      <p:sp>
        <p:nvSpPr>
          <p:cNvPr id="5" name="Text 5"/>
          <p:cNvSpPr txBox="1"/>
          <p:nvPr/>
        </p:nvSpPr>
        <p:spPr>
          <a:xfrm>
            <a:off x="822960" y="1783080"/>
            <a:ext cx="8229600" cy="365760"/>
          </a:xfrm>
          <a:prstGeom prst="rect">
            <a:avLst/>
          </a:prstGeom>
          <a:noFill/>
          <a:ln/>
        </p:spPr>
        <p:txBody>
          <a:bodyPr wrap="square" lIns="0" tIns="0" rIns="0" bIns="0" rtlCol="0" anchor="ctr"/>
          <a:lstStyle/>
          <a:p>
            <a:pPr marL="0" indent="0" algn="l">
              <a:buNone/>
            </a:pPr>
            <a:r>
              <a:rPr lang="en-GB" sz="1400" spc="400" dirty="0">
                <a:solidFill>
                  <a:srgbClr val="19C3C8"/>
                </a:solidFill>
                <a:latin typeface="Inter SemiBold Text SemiBold" pitchFamily="34" charset="0"/>
                <a:ea typeface="Inter SemiBold Text SemiBold" pitchFamily="34" charset="-122"/>
                <a:cs typeface="Inter SemiBold Text SemiBold" pitchFamily="34" charset="-120"/>
              </a:rPr>
              <a:t>CEN/TC 434 WG1 · EN 16931-1:2026 AMENDMENT</a:t>
            </a:r>
          </a:p>
        </p:txBody>
      </p:sp>
      <p:sp>
        <p:nvSpPr>
          <p:cNvPr id="6" name="Text 6"/>
          <p:cNvSpPr txBox="1"/>
          <p:nvPr/>
        </p:nvSpPr>
        <p:spPr>
          <a:xfrm>
            <a:off x="795528" y="2240280"/>
            <a:ext cx="10515600" cy="2011680"/>
          </a:xfrm>
          <a:prstGeom prst="rect">
            <a:avLst/>
          </a:prstGeom>
          <a:noFill/>
          <a:ln/>
        </p:spPr>
        <p:txBody>
          <a:bodyPr wrap="square" lIns="0" tIns="0" rIns="0" bIns="0" rtlCol="0" anchor="t"/>
          <a:lstStyle/>
          <a:p>
            <a:pPr marL="0" indent="0" algn="l">
              <a:lnSpc>
                <a:spcPct val="98000"/>
              </a:lnSpc>
              <a:buNone/>
            </a:pPr>
            <a:r>
              <a:rPr lang="en-GB" sz="6000" dirty="0">
                <a:solidFill>
                  <a:srgbClr val="DCE6FF"/>
                </a:solidFill>
                <a:latin typeface="Inter Light Text Light" pitchFamily="34" charset="0"/>
                <a:ea typeface="Inter Light Text Light" pitchFamily="34" charset="-122"/>
                <a:cs typeface="Inter Light Text Light" pitchFamily="34" charset="-120"/>
              </a:rPr>
              <a:t>Gross prices in</a:t>
            </a:r>
          </a:p>
          <a:p>
            <a:pPr marL="0" indent="0" algn="l">
              <a:lnSpc>
                <a:spcPct val="98000"/>
              </a:lnSpc>
              <a:buNone/>
            </a:pPr>
            <a:r>
              <a:rPr lang="en-GB" sz="6600" b="1" dirty="0">
                <a:solidFill>
                  <a:srgbClr val="FFFFFF"/>
                </a:solidFill>
                <a:latin typeface="Inter Text" pitchFamily="34" charset="0"/>
                <a:ea typeface="Inter Text" pitchFamily="34" charset="-122"/>
                <a:cs typeface="Inter Text" pitchFamily="34" charset="-120"/>
              </a:rPr>
              <a:t>EN 16931-1:2026</a:t>
            </a:r>
          </a:p>
        </p:txBody>
      </p:sp>
      <p:sp>
        <p:nvSpPr>
          <p:cNvPr id="7" name="Text 7"/>
          <p:cNvSpPr txBox="1"/>
          <p:nvPr/>
        </p:nvSpPr>
        <p:spPr>
          <a:xfrm>
            <a:off x="822960" y="4343400"/>
            <a:ext cx="8412480" cy="685800"/>
          </a:xfrm>
          <a:prstGeom prst="rect">
            <a:avLst/>
          </a:prstGeom>
          <a:noFill/>
          <a:ln/>
        </p:spPr>
        <p:txBody>
          <a:bodyPr wrap="square" lIns="0" tIns="0" rIns="0" bIns="0" rtlCol="0" anchor="t"/>
          <a:lstStyle/>
          <a:p>
            <a:pPr marL="0" indent="0" algn="l">
              <a:lnSpc>
                <a:spcPct val="115000"/>
              </a:lnSpc>
              <a:buNone/>
            </a:pPr>
            <a:r>
              <a:rPr lang="en-GB" sz="1600" dirty="0">
                <a:solidFill>
                  <a:srgbClr val="C4D2F4"/>
                </a:solidFill>
                <a:latin typeface="Inter Text" pitchFamily="34" charset="0"/>
                <a:ea typeface="Inter Text" pitchFamily="34" charset="-122"/>
                <a:cs typeface="Inter Text" pitchFamily="34" charset="-120"/>
              </a:rPr>
              <a:t>Calculate from the agreed price, round only once — issues </a:t>
            </a:r>
            <a:r>
              <a:rPr lang="en-GB" sz="1600" dirty="0">
                <a:solidFill>
                  <a:srgbClr val="C4D2F4"/>
                </a:solidFill>
                <a:latin typeface="Inter Text" pitchFamily="34" charset="0"/>
                <a:ea typeface="Inter Text" pitchFamily="34" charset="-122"/>
                <a:cs typeface="Inter Text" pitchFamily="34" charset="-120"/>
                <a:hlinkClick r:id="rId5">
                  <a:extLst>
                    <a:ext uri="{A12FA001-AC4F-418D-AE19-62706E023703}">
                      <ahyp:hlinkClr xmlns:ahyp="http://schemas.microsoft.com/office/drawing/2018/hyperlinkcolor" val="tx"/>
                    </a:ext>
                  </a:extLst>
                </a:hlinkClick>
              </a:rPr>
              <a:t>#164</a:t>
            </a:r>
            <a:r>
              <a:rPr lang="en-GB" sz="1600" dirty="0">
                <a:solidFill>
                  <a:srgbClr val="C4D2F4"/>
                </a:solidFill>
                <a:latin typeface="Inter Text" pitchFamily="34" charset="0"/>
                <a:ea typeface="Inter Text" pitchFamily="34" charset="-122"/>
                <a:cs typeface="Inter Text" pitchFamily="34" charset="-120"/>
              </a:rPr>
              <a:t> and </a:t>
            </a:r>
            <a:r>
              <a:rPr lang="en-GB" sz="1600" dirty="0">
                <a:solidFill>
                  <a:srgbClr val="C4D2F4"/>
                </a:solidFill>
                <a:latin typeface="Inter Text" pitchFamily="34" charset="0"/>
                <a:ea typeface="Inter Text" pitchFamily="34" charset="-122"/>
                <a:cs typeface="Inter Text" pitchFamily="34" charset="-120"/>
                <a:hlinkClick r:id="rId10">
                  <a:extLst>
                    <a:ext uri="{A12FA001-AC4F-418D-AE19-62706E023703}">
                      <ahyp:hlinkClr xmlns:ahyp="http://schemas.microsoft.com/office/drawing/2018/hyperlinkcolor" val="tx"/>
                    </a:ext>
                  </a:extLst>
                </a:hlinkClick>
              </a:rPr>
              <a:t>#163</a:t>
            </a:r>
            <a:r>
              <a:rPr lang="en-GB" sz="1600" dirty="0">
                <a:solidFill>
                  <a:srgbClr val="C4D2F4"/>
                </a:solidFill>
                <a:latin typeface="Inter Text" pitchFamily="34" charset="0"/>
                <a:ea typeface="Inter Text" pitchFamily="34" charset="-122"/>
                <a:cs typeface="Inter Text" pitchFamily="34" charset="-120"/>
              </a:rPr>
              <a:t>.</a:t>
            </a:r>
          </a:p>
        </p:txBody>
      </p:sp>
      <p:sp>
        <p:nvSpPr>
          <p:cNvPr id="8" name="Shape 8"/>
          <p:cNvSpPr/>
          <p:nvPr/>
        </p:nvSpPr>
        <p:spPr>
          <a:xfrm>
            <a:off x="822960" y="5532120"/>
            <a:ext cx="457200" cy="45720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9" name="Image 9"/>
          <p:cNvPicPr>
            <a:picLocks noChangeAspect="1"/>
          </p:cNvPicPr>
          <p:nvPr/>
        </p:nvPicPr>
        <p:blipFill>
          <a:blip r:embed="rId4"/>
          <a:stretch>
            <a:fillRect/>
          </a:stretch>
        </p:blipFill>
        <p:spPr>
          <a:xfrm>
            <a:off x="941832" y="5650992"/>
            <a:ext cx="219456" cy="219456"/>
          </a:xfrm>
          <a:prstGeom prst="rect">
            <a:avLst/>
          </a:prstGeom>
        </p:spPr>
      </p:pic>
      <p:sp>
        <p:nvSpPr>
          <p:cNvPr id="10" name="Text 10"/>
          <p:cNvSpPr txBox="1"/>
          <p:nvPr/>
        </p:nvSpPr>
        <p:spPr>
          <a:xfrm>
            <a:off x="1463040" y="5486400"/>
            <a:ext cx="7315200" cy="566928"/>
          </a:xfrm>
          <a:prstGeom prst="rect">
            <a:avLst/>
          </a:prstGeom>
          <a:noFill/>
          <a:ln/>
        </p:spPr>
        <p:txBody>
          <a:bodyPr wrap="square" lIns="0" tIns="0" rIns="0" bIns="0" rtlCol="0" anchor="ctr"/>
          <a:lstStyle/>
          <a:p>
            <a:pPr marL="0" indent="0" algn="l">
              <a:lnSpc>
                <a:spcPct val="105000"/>
              </a:lnSpc>
              <a:buNone/>
            </a:pPr>
            <a:r>
              <a:rPr lang="en-GB" sz="1400" dirty="0">
                <a:solidFill>
                  <a:srgbClr val="FFFFFF"/>
                </a:solidFill>
                <a:latin typeface="Inter SemiBold Text SemiBold" pitchFamily="34" charset="0"/>
                <a:ea typeface="Inter SemiBold Text SemiBold" pitchFamily="34" charset="-122"/>
                <a:cs typeface="Inter SemiBold Text SemiBold" pitchFamily="34" charset="-120"/>
              </a:rPr>
              <a:t>Svante Schubert</a:t>
            </a:r>
          </a:p>
          <a:p>
            <a:pPr marL="0" indent="0" algn="l">
              <a:lnSpc>
                <a:spcPct val="105000"/>
              </a:lnSpc>
              <a:buNone/>
            </a:pPr>
            <a:r>
              <a:rPr lang="en-GB" sz="1200" dirty="0">
                <a:solidFill>
                  <a:srgbClr val="C4D2F4"/>
                </a:solidFill>
                <a:latin typeface="Inter Text" pitchFamily="34" charset="0"/>
                <a:ea typeface="Inter Text" pitchFamily="34" charset="-122"/>
                <a:cs typeface="Inter Text" pitchFamily="34" charset="-120"/>
              </a:rPr>
              <a:t>Editor of the syntax bindings · CEN/TC 434 WG3 · for DIN</a:t>
            </a:r>
          </a:p>
        </p:txBody>
      </p:sp>
      <p:sp>
        <p:nvSpPr>
          <p:cNvPr id="11" name="QR Card pdf"/>
          <p:cNvSpPr/>
          <p:nvPr/>
        </p:nvSpPr>
        <p:spPr>
          <a:xfrm>
            <a:off x="9537192" y="2359152"/>
            <a:ext cx="1828800" cy="1828800"/>
          </a:xfrm>
          <a:prstGeom prst="roundRect">
            <a:avLst>
              <a:gd name="adj" fmla="val 6000"/>
            </a:avLst>
          </a:prstGeom>
          <a:solidFill>
            <a:srgbClr val="FFFFFF"/>
          </a:solidFill>
          <a:ln>
            <a:noFill/>
          </a:ln>
          <a:effectLst>
            <a:outerShdw blurRad="101600" dist="38100" dir="5400000" algn="bl" rotWithShape="0">
              <a:srgbClr val="0A1230">
                <a:alpha val="30000"/>
              </a:srgbClr>
            </a:outerShdw>
          </a:effectLst>
        </p:spPr>
        <p:txBody>
          <a:bodyPr/>
          <a:lstStyle/>
          <a:p>
            <a:endParaRPr lang="en-GB"/>
          </a:p>
        </p:txBody>
      </p:sp>
      <p:pic>
        <p:nvPicPr>
          <p:cNvPr id="12" name="QR Slides pdf" descr="QR code: slides as PDF (https://svanteschubert.github.io/testy/ZUGFeRD_Entwicklertage_2026_SvanteSchubert_Syntax-Binding_EN.pdf)">
            <a:hlinkClick r:id="rId9"/>
          </p:cNvPr>
          <p:cNvPicPr>
            <a:picLocks noChangeAspect="1"/>
          </p:cNvPicPr>
          <p:nvPr/>
        </p:nvPicPr>
        <p:blipFill>
          <a:blip r:embed="rId8"/>
          <a:stretch>
            <a:fillRect/>
          </a:stretch>
        </p:blipFill>
        <p:spPr>
          <a:xfrm>
            <a:off x="9610344" y="2432304"/>
            <a:ext cx="1682496" cy="1682496"/>
          </a:xfrm>
          <a:prstGeom prst="rect">
            <a:avLst/>
          </a:prstGeom>
        </p:spPr>
      </p:pic>
      <p:sp>
        <p:nvSpPr>
          <p:cNvPr id="13" name="QR Caption pdf">
            <a:hlinkClick r:id="rId9"/>
          </p:cNvPr>
          <p:cNvSpPr txBox="1"/>
          <p:nvPr/>
        </p:nvSpPr>
        <p:spPr>
          <a:xfrm>
            <a:off x="9171432" y="4242816"/>
            <a:ext cx="2560320" cy="256032"/>
          </a:xfrm>
          <a:prstGeom prst="rect">
            <a:avLst/>
          </a:prstGeom>
          <a:noFill/>
          <a:ln/>
        </p:spPr>
        <p:txBody>
          <a:bodyPr wrap="square" lIns="0" tIns="0" rIns="0" bIns="0" rtlCol="0" anchor="ctr"/>
          <a:lstStyle/>
          <a:p>
            <a:pPr marL="0" indent="0" algn="ctr">
              <a:buNone/>
            </a:pPr>
            <a:r>
              <a:rPr lang="en-GB" sz="1000" spc="100" dirty="0">
                <a:solidFill>
                  <a:srgbClr val="C4D2F4"/>
                </a:solidFill>
                <a:latin typeface="Inter Medium Text Medium" pitchFamily="34" charset="0"/>
                <a:ea typeface="Inter Medium Text Medium" pitchFamily="34" charset="-122"/>
                <a:cs typeface="Inter Medium Text Medium" pitchFamily="34" charset="-120"/>
              </a:rPr>
              <a:t>Slides as PDF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COMMON GROUND</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What we all want</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Three goals that WG1 shares — and that do not exclude each other.</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2</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Correct VAT, to the cent</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Every invoice reproduces the agreed price</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VAT exact to the cent, as tax law requires</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“Accounting is 100% correct or it is not” (</a:t>
            </a:r>
            <a:r>
              <a:rPr lang="en-GB"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Paul Simons</a:t>
            </a:r>
            <a:r>
              <a:rPr lang="en-GB" sz="1200" dirty="0">
                <a:solidFill>
                  <a:srgbClr val="5B6890"/>
                </a:solidFill>
                <a:latin typeface="Inter Text" pitchFamily="34" charset="0"/>
                <a:ea typeface="Inter Text" pitchFamily="34" charset="-122"/>
                <a:cs typeface="Inter Text" pitchFamily="34" charset="-120"/>
              </a:rPr>
              <a:t>)</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Working software keeps working</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Invoices with 2 decimal places stay valid</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“Not to force companies” (</a:t>
            </a:r>
            <a:r>
              <a:rPr lang="en-GB" sz="12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Cyrille Sautereau</a:t>
            </a:r>
            <a:r>
              <a:rPr lang="en-GB"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5 million companies in France, 1.2 million in Belgium</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 STABLE STANDARD</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The core is what every receiver accepts</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No requirement on software: no new minimum of decimal places</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Additions are optional paths; the net model stays as it is</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Syntax unchanged: amounts are xsd:decimal in UBL and CII</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Goal of this session:  </a:t>
            </a:r>
            <a:r>
              <a:rPr lang="en-GB" sz="1100" dirty="0">
                <a:solidFill>
                  <a:srgbClr val="5B6890"/>
                </a:solidFill>
                <a:latin typeface="Inter Text" pitchFamily="34" charset="0"/>
                <a:ea typeface="Inter Text" pitchFamily="34" charset="-122"/>
                <a:cs typeface="Inter Text" pitchFamily="34" charset="-120"/>
              </a:rPr>
              <a:t>two decisions for WG1 — gross prices in the core </a:t>
            </a:r>
            <a:r>
              <a:rPr lang="en-GB" sz="1100" dirty="0">
                <a:solidFill>
                  <a:srgbClr val="5B6890"/>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(#164)</a:t>
            </a:r>
            <a:r>
              <a:rPr lang="en-GB" sz="1100" dirty="0">
                <a:solidFill>
                  <a:srgbClr val="5B6890"/>
                </a:solidFill>
                <a:latin typeface="Inter Text" pitchFamily="34" charset="0"/>
                <a:ea typeface="Inter Text" pitchFamily="34" charset="-122"/>
                <a:cs typeface="Inter Text" pitchFamily="34" charset="-120"/>
              </a:rPr>
              <a:t> and no forced rounding </a:t>
            </a:r>
            <a:r>
              <a:rPr lang="en-GB" sz="1100" dirty="0">
                <a:solidFill>
                  <a:srgbClr val="5B6890"/>
                </a:solidFill>
                <a:latin typeface="Inter Text" pitchFamily="34" charset="0"/>
                <a:ea typeface="Inter Text" pitchFamily="34" charset="-122"/>
                <a:cs typeface="Inter Text" pitchFamily="34" charset="-120"/>
                <a:hlinkClick r:id="rId10">
                  <a:extLst>
                    <a:ext uri="{A12FA001-AC4F-418D-AE19-62706E023703}">
                      <ahyp:hlinkClr xmlns:ahyp="http://schemas.microsoft.com/office/drawing/2018/hyperlinkcolor" val="tx"/>
                    </a:ext>
                  </a:extLst>
                </a:hlinkClick>
              </a:rPr>
              <a:t>(#163)</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LEGAL BASIS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What the law requires</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The invoice must reproduce the consideration and the VAT exactly.</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3</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VAT to the cent</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Calculated to the cent, rounded commercially (</a:t>
            </a:r>
            <a:r>
              <a:rPr lang="en-GB"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BMF letter of 15 Oct 2026</a:t>
            </a:r>
            <a:r>
              <a:rPr lang="en-GB" sz="1200" dirty="0">
                <a:solidFill>
                  <a:srgbClr val="5B6890"/>
                </a:solidFill>
                <a:latin typeface="Inter Text" pitchFamily="34" charset="0"/>
                <a:ea typeface="Inter Text" pitchFamily="34" charset="-122"/>
                <a:cs typeface="Inter Text" pitchFamily="34" charset="-120"/>
              </a:rPr>
              <a:t>, para. 17; </a:t>
            </a:r>
            <a:r>
              <a:rPr lang="en-GB" sz="12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UStAE 14.5 (20)</a:t>
            </a:r>
            <a:r>
              <a:rPr lang="en-GB"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Net amount = consideration minus VAT (</a:t>
            </a:r>
            <a:r>
              <a:rPr lang="en-GB" sz="12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 10 (1) UStG</a:t>
            </a:r>
            <a:r>
              <a:rPr lang="en-GB" sz="1200" dirty="0">
                <a:solidFill>
                  <a:srgbClr val="5B6890"/>
                </a:solidFill>
                <a:latin typeface="Inter Text" pitchFamily="34" charset="0"/>
                <a:ea typeface="Inter Text" pitchFamily="34" charset="-122"/>
                <a:cs typeface="Inter Text" pitchFamily="34" charset="-120"/>
              </a:rPr>
              <a:t>)</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Proportional and exact</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VAT “exactly proportional to the price” (</a:t>
            </a:r>
            <a:r>
              <a:rPr lang="en-GB" sz="1200" dirty="0">
                <a:solidFill>
                  <a:srgbClr val="5B6890"/>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CJEU Ahold, C-484/06</a:t>
            </a:r>
            <a:r>
              <a:rPr lang="en-GB" sz="1200" dirty="0">
                <a:solidFill>
                  <a:srgbClr val="5B6890"/>
                </a:solidFill>
                <a:latin typeface="Inter Text" pitchFamily="34" charset="0"/>
                <a:ea typeface="Inter Text" pitchFamily="34" charset="-122"/>
                <a:cs typeface="Inter Text" pitchFamily="34" charset="-120"/>
              </a:rPr>
              <a:t>, para. 38)</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Rounding only where necessary, “as closely as possible” (para. 39)</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INVOICE CONTENT AND REPORTING</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10">
                  <a:extLst>
                    <a:ext uri="{A12FA001-AC4F-418D-AE19-62706E023703}">
                      <ahyp:hlinkClr xmlns:ahyp="http://schemas.microsoft.com/office/drawing/2018/hyperlinkcolor" val="tx"/>
                    </a:ext>
                  </a:extLst>
                </a:hlinkClick>
              </a:rPr>
              <a:t>Art. 226(8)</a:t>
            </a:r>
            <a:r>
              <a:rPr lang="en-GB" sz="1250" dirty="0">
                <a:solidFill>
                  <a:srgbClr val="FFFFFF"/>
                </a:solidFill>
                <a:latin typeface="Inter Text" pitchFamily="34" charset="0"/>
                <a:ea typeface="Inter Text" pitchFamily="34" charset="-122"/>
                <a:cs typeface="Inter Text" pitchFamily="34" charset="-120"/>
              </a:rPr>
              <a:t>: taxable amount per rate, unit price exclusive of VAT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11">
                  <a:extLst>
                    <a:ext uri="{A12FA001-AC4F-418D-AE19-62706E023703}">
                      <ahyp:hlinkClr xmlns:ahyp="http://schemas.microsoft.com/office/drawing/2018/hyperlinkcolor" val="tx"/>
                    </a:ext>
                  </a:extLst>
                </a:hlinkClick>
              </a:rPr>
              <a:t>Art. 206</a:t>
            </a:r>
            <a:r>
              <a:rPr lang="en-GB" sz="1250" dirty="0">
                <a:solidFill>
                  <a:srgbClr val="FFFFFF"/>
                </a:solidFill>
                <a:latin typeface="Inter Text" pitchFamily="34" charset="0"/>
                <a:ea typeface="Inter Text" pitchFamily="34" charset="-122"/>
                <a:cs typeface="Inter Text" pitchFamily="34" charset="-120"/>
              </a:rPr>
              <a:t>: the VAT is paid with the VAT return, not per invoice</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New Art. 232 (ViDA)</a:t>
            </a:r>
            <a:r>
              <a:rPr lang="en-GB" sz="1250" dirty="0">
                <a:solidFill>
                  <a:srgbClr val="FFFFFF"/>
                </a:solidFill>
                <a:latin typeface="Inter Text" pitchFamily="34" charset="0"/>
                <a:ea typeface="Inter Text" pitchFamily="34" charset="-122"/>
                <a:cs typeface="Inter Text" pitchFamily="34" charset="-120"/>
              </a:rPr>
              <a:t>: an EN 16931 invoice needs no acceptance</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New Art. 263(3) (ViDA)</a:t>
            </a:r>
            <a:r>
              <a:rPr lang="en-GB" sz="1250" dirty="0">
                <a:solidFill>
                  <a:srgbClr val="FFFFFF"/>
                </a:solidFill>
                <a:latin typeface="Inter Text" pitchFamily="34" charset="0"/>
                <a:ea typeface="Inter Text" pitchFamily="34" charset="-122"/>
                <a:cs typeface="Inter Text" pitchFamily="34" charset="-120"/>
              </a:rPr>
              <a:t>: DRR accepts data that complies with the EN</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Sources:  </a:t>
            </a:r>
            <a:r>
              <a:rPr lang="en-GB" sz="1100" dirty="0">
                <a:solidFill>
                  <a:srgbClr val="5B6890"/>
                </a:solidFill>
                <a:latin typeface="Inter Text" pitchFamily="34" charset="0"/>
                <a:ea typeface="Inter Text" pitchFamily="34" charset="-122"/>
                <a:cs typeface="Inter Text" pitchFamily="34" charset="-120"/>
                <a:hlinkClick r:id="rId13">
                  <a:extLst>
                    <a:ext uri="{A12FA001-AC4F-418D-AE19-62706E023703}">
                      <ahyp:hlinkClr xmlns:ahyp="http://schemas.microsoft.com/office/drawing/2018/hyperlinkcolor" val="tx"/>
                    </a:ext>
                  </a:extLst>
                </a:hlinkClick>
              </a:rPr>
              <a:t>VAT Directive 2006/112/EC</a:t>
            </a:r>
            <a:r>
              <a:rPr lang="en-GB" sz="1100" dirty="0">
                <a:solidFill>
                  <a:srgbClr val="5B6890"/>
                </a:solidFill>
                <a:latin typeface="Inter Text" pitchFamily="34" charset="0"/>
                <a:ea typeface="Inter Text" pitchFamily="34" charset="-122"/>
                <a:cs typeface="Inter Text" pitchFamily="34" charset="-120"/>
              </a:rPr>
              <a:t> · ViDA, </a:t>
            </a:r>
            <a:r>
              <a:rPr lang="en-GB" sz="1100" dirty="0">
                <a:solidFill>
                  <a:srgbClr val="5B6890"/>
                </a:solidFill>
                <a:latin typeface="Inter Text" pitchFamily="34" charset="0"/>
                <a:ea typeface="Inter Text" pitchFamily="34" charset="-122"/>
                <a:cs typeface="Inter Text" pitchFamily="34" charset="-120"/>
                <a:hlinkClick r:id="rId12">
                  <a:extLst>
                    <a:ext uri="{A12FA001-AC4F-418D-AE19-62706E023703}">
                      <ahyp:hlinkClr xmlns:ahyp="http://schemas.microsoft.com/office/drawing/2018/hyperlinkcolor" val="tx"/>
                    </a:ext>
                  </a:extLst>
                </a:hlinkClick>
              </a:rPr>
              <a:t>Directive (EU) 2025/516</a:t>
            </a:r>
            <a:r>
              <a:rPr lang="en-GB" sz="1100" dirty="0">
                <a:solidFill>
                  <a:srgbClr val="5B6890"/>
                </a:solidFill>
                <a:latin typeface="Inter Text" pitchFamily="34" charset="0"/>
                <a:ea typeface="Inter Text" pitchFamily="34" charset="-122"/>
                <a:cs typeface="Inter Text" pitchFamily="34" charset="-120"/>
              </a:rPr>
              <a:t> · </a:t>
            </a:r>
            <a:r>
              <a:rPr lang="en-GB" sz="1100" dirty="0">
                <a:solidFill>
                  <a:srgbClr val="5B6890"/>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CJEU C-484/06</a:t>
            </a:r>
            <a:r>
              <a:rPr lang="en-GB" sz="1100" dirty="0">
                <a:solidFill>
                  <a:srgbClr val="5B6890"/>
                </a:solidFill>
                <a:latin typeface="Inter Text" pitchFamily="34" charset="0"/>
                <a:ea typeface="Inter Text" pitchFamily="34" charset="-122"/>
                <a:cs typeface="Inter Text" pitchFamily="34" charset="-120"/>
              </a:rPr>
              <a:t> · </a:t>
            </a:r>
            <a:r>
              <a:rPr lang="en-GB" sz="11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BMF letter of 15 Oct 2026</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EN 16931-1:2026 · TODAY</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The specification contradicts itself</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6.5.14 forbids intermediate rounding — Table 28 forces it.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4</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6.5.14: round final results only</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 on the final calculation results and not on any intermediate results”</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The same principle was already in the 2017 edition</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Table 28: maximum decimal places</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BT-146 Item net price: Minor Unit + 2 (new in 2026)</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BT-131 Invoice line net amount and all sums: Minor Unit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BT-129 Invoiced quantity: 4 dp, BT-149: 2 dp (new in 2026)</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CONSEQUENCES</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Every rule starts from rounded values — the errors add up</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Tolerances of up to €1 (BR-S-9) hide the deviation</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BMF</a:t>
            </a:r>
            <a:r>
              <a:rPr lang="en-GB" sz="1250" dirty="0">
                <a:solidFill>
                  <a:srgbClr val="FFFFFF"/>
                </a:solidFill>
                <a:latin typeface="Inter Text" pitchFamily="34" charset="0"/>
                <a:ea typeface="Inter Text" pitchFamily="34" charset="-122"/>
                <a:cs typeface="Inter Text" pitchFamily="34" charset="-120"/>
              </a:rPr>
              <a:t>: the standard and the tax rounding rule cannot both be met (para. 18)</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Next: the calculation chains of 2017 and 2026 and their worst case</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2017:  </a:t>
            </a:r>
            <a:r>
              <a:rPr lang="en-GB" sz="1100" dirty="0">
                <a:solidFill>
                  <a:srgbClr val="5B6890"/>
                </a:solidFill>
                <a:latin typeface="Inter Text" pitchFamily="34" charset="0"/>
                <a:ea typeface="Inter Text" pitchFamily="34" charset="-122"/>
                <a:cs typeface="Inter Text" pitchFamily="34" charset="-120"/>
              </a:rPr>
              <a:t>only amounts were limited — prices and quantities had no maximum (Table 26)</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olie 28">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CALCULATION CHAIN · EN 16931-1:2017</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From gross price via net price to VAT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DCF4905E-37B2-437C-A529-BB0811F32B64}"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5</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177186" cy="329184"/>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One intermediate rounding:</a:t>
            </a:r>
          </a:p>
        </p:txBody>
      </p:sp>
      <p:sp>
        <p:nvSpPr>
          <p:cNvPr id="9" name="Pill 9"/>
          <p:cNvSpPr/>
          <p:nvPr/>
        </p:nvSpPr>
        <p:spPr>
          <a:xfrm>
            <a:off x="3109874" y="1856232"/>
            <a:ext cx="2368296" cy="310896"/>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en-GB" sz="1200" dirty="0">
                <a:solidFill>
                  <a:srgbClr val="C25700"/>
                </a:solidFill>
                <a:latin typeface="Inter SemiBold Text SemiBold" pitchFamily="34" charset="0"/>
                <a:ea typeface="Inter SemiBold Text SemiBold" pitchFamily="34" charset="-122"/>
                <a:cs typeface="Inter SemiBold Text SemiBold" pitchFamily="34" charset="-120"/>
              </a:rPr>
              <a:t>BT-131 to 2 decimal places</a:t>
            </a:r>
          </a:p>
        </p:txBody>
      </p:sp>
      <p:sp>
        <p:nvSpPr>
          <p:cNvPr id="10" name="Frame 10"/>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en-GB"/>
          </a:p>
        </p:txBody>
      </p:sp>
      <p:sp>
        <p:nvSpPr>
          <p:cNvPr id="11" name="Text 11"/>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en-GB" sz="850" spc="150" dirty="0">
                <a:solidFill>
                  <a:srgbClr val="2F7FD8"/>
                </a:solidFill>
                <a:latin typeface="Inter SemiBold Text SemiBold" pitchFamily="34" charset="0"/>
                <a:ea typeface="Inter SemiBold Text SemiBold" pitchFamily="34" charset="-122"/>
                <a:cs typeface="Inter SemiBold Text SemiBold" pitchFamily="34" charset="-120"/>
              </a:rPr>
              <a:t>INPUT &amp; INTERMEDIATE VALUES</a:t>
            </a:r>
          </a:p>
        </p:txBody>
      </p:sp>
      <p:sp>
        <p:nvSpPr>
          <p:cNvPr id="12" name="Frame 12"/>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en-GB"/>
          </a:p>
        </p:txBody>
      </p:sp>
      <p:sp>
        <p:nvSpPr>
          <p:cNvPr id="13" name="Text 13"/>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en-GB" sz="850" spc="150" dirty="0">
                <a:solidFill>
                  <a:srgbClr val="7B57D1"/>
                </a:solidFill>
                <a:latin typeface="Inter SemiBold Text SemiBold" pitchFamily="34" charset="0"/>
                <a:ea typeface="Inter SemiBold Text SemiBold" pitchFamily="34" charset="-122"/>
                <a:cs typeface="Inter SemiBold Text SemiBold" pitchFamily="34" charset="-120"/>
              </a:rPr>
              <a:t>FINAL RESULTS</a:t>
            </a:r>
          </a:p>
        </p:txBody>
      </p:sp>
      <p:sp>
        <p:nvSpPr>
          <p:cNvPr id="14" name="Card 14"/>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Pill 15"/>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6" name="Text 16"/>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Item net price</a:t>
            </a:r>
          </a:p>
        </p:txBody>
      </p:sp>
      <p:sp>
        <p:nvSpPr>
          <p:cNvPr id="17" name="Text 17"/>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en-GB" sz="800" dirty="0">
                <a:solidFill>
                  <a:srgbClr val="5B6890"/>
                </a:solidFill>
                <a:latin typeface="Inter Text" pitchFamily="34" charset="0"/>
                <a:ea typeface="Inter Text" pitchFamily="34" charset="-122"/>
                <a:cs typeface="Inter Text" pitchFamily="34" charset="-120"/>
              </a:rPr>
              <a:t/>
            </a:r>
          </a:p>
        </p:txBody>
      </p:sp>
      <p:sp>
        <p:nvSpPr>
          <p:cNvPr id="18" name="Pill 18"/>
          <p:cNvSpPr/>
          <p:nvPr/>
        </p:nvSpPr>
        <p:spPr>
          <a:xfrm>
            <a:off x="4773168" y="250393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unlimited</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19" name="Text 19"/>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en-GB" sz="1300" b="1" dirty="0">
                <a:solidFill>
                  <a:srgbClr val="1A2B5E"/>
                </a:solidFill>
                <a:latin typeface="Consolas" pitchFamily="34" charset="0"/>
                <a:ea typeface="Consolas" pitchFamily="34" charset="-122"/>
                <a:cs typeface="Consolas" pitchFamily="34" charset="-120"/>
              </a:rPr>
              <a:t>± 0</a:t>
            </a:r>
          </a:p>
        </p:txBody>
      </p:sp>
      <p:sp>
        <p:nvSpPr>
          <p:cNvPr id="20" name="Text 20"/>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stated exactly</a:t>
            </a:r>
          </a:p>
        </p:txBody>
      </p:sp>
      <p:cxnSp>
        <p:nvCxnSpPr>
          <p:cNvPr id="21" name="Connector 21"/>
          <p:cNvCxnSpPr/>
          <p:nvPr/>
        </p:nvCxnSpPr>
        <p:spPr>
          <a:xfrm>
            <a:off x="1303020" y="2907792"/>
            <a:ext cx="0" cy="36576"/>
          </a:xfrm>
          <a:prstGeom prst="line">
            <a:avLst/>
          </a:prstGeom>
          <a:ln w="15875">
            <a:solidFill>
              <a:srgbClr val="9AA4C2"/>
            </a:solidFill>
          </a:ln>
        </p:spPr>
      </p:cxnSp>
      <p:sp>
        <p:nvSpPr>
          <p:cNvPr id="22" name="Card 22"/>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3" name="Pill 23"/>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4" name="Text 24"/>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line net amount</a:t>
            </a:r>
          </a:p>
        </p:txBody>
      </p:sp>
      <p:sp>
        <p:nvSpPr>
          <p:cNvPr id="25" name="Text 25"/>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en-GB" sz="800" dirty="0">
                <a:solidFill>
                  <a:srgbClr val="5B6890"/>
                </a:solidFill>
                <a:latin typeface="Inter Text" pitchFamily="34" charset="0"/>
                <a:ea typeface="Inter Text" pitchFamily="34" charset="-122"/>
                <a:cs typeface="Inter Text" pitchFamily="34" charset="-120"/>
              </a:rPr>
              <a:t/>
            </a:r>
          </a:p>
        </p:txBody>
      </p:sp>
      <p:sp>
        <p:nvSpPr>
          <p:cNvPr id="26" name="Pill 26"/>
          <p:cNvSpPr/>
          <p:nvPr/>
        </p:nvSpPr>
        <p:spPr>
          <a:xfrm>
            <a:off x="4773168" y="299770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27" name="Text 27"/>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€0.005</a:t>
            </a:r>
          </a:p>
        </p:txBody>
      </p:sp>
      <p:sp>
        <p:nvSpPr>
          <p:cNvPr id="28" name="Text 28"/>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per line</a:t>
            </a:r>
          </a:p>
        </p:txBody>
      </p:sp>
      <p:cxnSp>
        <p:nvCxnSpPr>
          <p:cNvPr id="29" name="Connector 29"/>
          <p:cNvCxnSpPr/>
          <p:nvPr/>
        </p:nvCxnSpPr>
        <p:spPr>
          <a:xfrm>
            <a:off x="1303020" y="3401568"/>
            <a:ext cx="0" cy="36576"/>
          </a:xfrm>
          <a:prstGeom prst="line">
            <a:avLst/>
          </a:prstGeom>
          <a:ln w="15875">
            <a:solidFill>
              <a:srgbClr val="9AA4C2"/>
            </a:solidFill>
          </a:ln>
        </p:spPr>
      </p:cxnSp>
      <p:sp>
        <p:nvSpPr>
          <p:cNvPr id="30" name="Card 30"/>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1" name="Pill 31"/>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2" name="Text 32"/>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Sum of invoice line net amount</a:t>
            </a:r>
          </a:p>
        </p:txBody>
      </p:sp>
      <p:sp>
        <p:nvSpPr>
          <p:cNvPr id="33" name="Text 33"/>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a:r>
          </a:p>
        </p:txBody>
      </p:sp>
      <p:sp>
        <p:nvSpPr>
          <p:cNvPr id="34" name="Pill 34"/>
          <p:cNvSpPr/>
          <p:nvPr/>
        </p:nvSpPr>
        <p:spPr>
          <a:xfrm>
            <a:off x="4773168" y="349148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35" name="Text 35"/>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€0.50</a:t>
            </a:r>
          </a:p>
        </p:txBody>
      </p:sp>
      <p:sp>
        <p:nvSpPr>
          <p:cNvPr id="36" name="Text 36"/>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 100 lines</a:t>
            </a:r>
          </a:p>
        </p:txBody>
      </p:sp>
      <p:sp>
        <p:nvSpPr>
          <p:cNvPr id="37" name="Card 37"/>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8" name="Pill 38"/>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39" name="Text 39"/>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taxable amount</a:t>
            </a:r>
          </a:p>
        </p:txBody>
      </p:sp>
      <p:sp>
        <p:nvSpPr>
          <p:cNvPr id="40" name="Text 40"/>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en-GB" sz="800" dirty="0">
                <a:solidFill>
                  <a:srgbClr val="5B6890"/>
                </a:solidFill>
                <a:latin typeface="Inter Text" pitchFamily="34" charset="0"/>
                <a:ea typeface="Inter Text" pitchFamily="34" charset="-122"/>
                <a:cs typeface="Inter Text" pitchFamily="34" charset="-120"/>
              </a:rPr>
              <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en-GB" sz="800" dirty="0">
                <a:solidFill>
                  <a:srgbClr val="5B6890"/>
                </a:solidFill>
                <a:latin typeface="Inter Text" pitchFamily="34" charset="0"/>
                <a:ea typeface="Inter Text" pitchFamily="34" charset="-122"/>
                <a:cs typeface="Inter Text" pitchFamily="34" charset="-120"/>
              </a:rPr>
              <a:t/>
            </a:r>
          </a:p>
        </p:txBody>
      </p:sp>
      <p:sp>
        <p:nvSpPr>
          <p:cNvPr id="41" name="Pill 41"/>
          <p:cNvSpPr/>
          <p:nvPr/>
        </p:nvSpPr>
        <p:spPr>
          <a:xfrm>
            <a:off x="4773168" y="428701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42" name="Text 42"/>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€0.50</a:t>
            </a:r>
          </a:p>
        </p:txBody>
      </p:sp>
      <p:sp>
        <p:nvSpPr>
          <p:cNvPr id="43" name="Text 43"/>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Σ of rounded lines</a:t>
            </a:r>
          </a:p>
        </p:txBody>
      </p:sp>
      <p:cxnSp>
        <p:nvCxnSpPr>
          <p:cNvPr id="44" name="Connector 44"/>
          <p:cNvCxnSpPr/>
          <p:nvPr/>
        </p:nvCxnSpPr>
        <p:spPr>
          <a:xfrm>
            <a:off x="1303020" y="4690872"/>
            <a:ext cx="0" cy="36576"/>
          </a:xfrm>
          <a:prstGeom prst="line">
            <a:avLst/>
          </a:prstGeom>
          <a:ln w="15875">
            <a:solidFill>
              <a:srgbClr val="9AA4C2"/>
            </a:solidFill>
          </a:ln>
        </p:spPr>
      </p:cxnSp>
      <p:sp>
        <p:nvSpPr>
          <p:cNvPr id="45" name="Card 45"/>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6" name="Pill 46"/>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7" name="Text 47"/>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 amount</a:t>
            </a:r>
          </a:p>
        </p:txBody>
      </p:sp>
      <p:sp>
        <p:nvSpPr>
          <p:cNvPr id="48" name="Text 48"/>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en-GB" sz="800" dirty="0">
                <a:solidFill>
                  <a:srgbClr val="5B6890"/>
                </a:solidFill>
                <a:latin typeface="Inter Text" pitchFamily="34" charset="0"/>
                <a:ea typeface="Inter Text" pitchFamily="34" charset="-122"/>
                <a:cs typeface="Inter Text" pitchFamily="34" charset="-120"/>
              </a:rPr>
              <a:t> ÷ 100</a:t>
            </a:r>
          </a:p>
        </p:txBody>
      </p:sp>
      <p:sp>
        <p:nvSpPr>
          <p:cNvPr id="49" name="Pill 49"/>
          <p:cNvSpPr/>
          <p:nvPr/>
        </p:nvSpPr>
        <p:spPr>
          <a:xfrm>
            <a:off x="4773168" y="478078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50" name="Text 50"/>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€0.10</a:t>
            </a:r>
          </a:p>
        </p:txBody>
      </p:sp>
      <p:sp>
        <p:nvSpPr>
          <p:cNvPr id="51" name="Text 51"/>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€0.50 × 19%</a:t>
            </a:r>
          </a:p>
        </p:txBody>
      </p:sp>
      <p:cxnSp>
        <p:nvCxnSpPr>
          <p:cNvPr id="52" name="Connector 52"/>
          <p:cNvCxnSpPr/>
          <p:nvPr/>
        </p:nvCxnSpPr>
        <p:spPr>
          <a:xfrm>
            <a:off x="1303020" y="5184648"/>
            <a:ext cx="0" cy="36576"/>
          </a:xfrm>
          <a:prstGeom prst="line">
            <a:avLst/>
          </a:prstGeom>
          <a:ln w="15875">
            <a:solidFill>
              <a:srgbClr val="9AA4C2"/>
            </a:solidFill>
          </a:ln>
        </p:spPr>
      </p:cxnSp>
      <p:sp>
        <p:nvSpPr>
          <p:cNvPr id="53" name="Card 53"/>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54" name="Pill 54"/>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5" name="Text 55"/>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total VAT amount</a:t>
            </a:r>
          </a:p>
        </p:txBody>
      </p:sp>
      <p:sp>
        <p:nvSpPr>
          <p:cNvPr id="56" name="Text 56"/>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en-GB" sz="800" dirty="0">
                <a:solidFill>
                  <a:srgbClr val="5B6890"/>
                </a:solidFill>
                <a:latin typeface="Inter Text" pitchFamily="34" charset="0"/>
                <a:ea typeface="Inter Text" pitchFamily="34" charset="-122"/>
                <a:cs typeface="Inter Text" pitchFamily="34" charset="-120"/>
              </a:rPr>
              <a:t/>
            </a:r>
          </a:p>
        </p:txBody>
      </p:sp>
      <p:sp>
        <p:nvSpPr>
          <p:cNvPr id="57" name="Pill 57"/>
          <p:cNvSpPr/>
          <p:nvPr/>
        </p:nvSpPr>
        <p:spPr>
          <a:xfrm>
            <a:off x="4773168" y="527456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58" name="Text 58"/>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€0.10</a:t>
            </a:r>
          </a:p>
        </p:txBody>
      </p:sp>
      <p:sp>
        <p:nvSpPr>
          <p:cNvPr id="59" name="Panel 59"/>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en-GB"/>
          </a:p>
        </p:txBody>
      </p:sp>
      <p:sp>
        <p:nvSpPr>
          <p:cNvPr id="60" name="Text 60"/>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en-GB" sz="950" spc="120" dirty="0">
                <a:solidFill>
                  <a:srgbClr val="7DB3FF"/>
                </a:solidFill>
                <a:latin typeface="Inter SemiBold Text SemiBold" pitchFamily="34" charset="0"/>
                <a:ea typeface="Inter SemiBold Text SemiBold" pitchFamily="34" charset="-122"/>
                <a:cs typeface="Inter SemiBold Text SemiBold" pitchFamily="34" charset="-120"/>
              </a:rPr>
              <a:t>ALLOWED DECIMAL PLACES</a:t>
            </a:r>
          </a:p>
        </p:txBody>
      </p:sp>
      <p:sp>
        <p:nvSpPr>
          <p:cNvPr id="79" name="Panel 79"/>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en-GB"/>
          </a:p>
        </p:txBody>
      </p:sp>
      <p:sp>
        <p:nvSpPr>
          <p:cNvPr id="80" name="Text 80"/>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en-GB" sz="950" spc="120" dirty="0">
                <a:solidFill>
                  <a:srgbClr val="B9A2FF"/>
                </a:solidFill>
                <a:latin typeface="Inter SemiBold Text SemiBold" pitchFamily="34" charset="0"/>
                <a:ea typeface="Inter SemiBold Text SemiBold" pitchFamily="34" charset="-122"/>
                <a:cs typeface="Inter SemiBold Text SemiBold" pitchFamily="34" charset="-120"/>
              </a:rPr>
              <a:t>DECIMAL PLACES · FINAL VALUES</a:t>
            </a:r>
          </a:p>
        </p:txBody>
      </p:sp>
      <p:sp>
        <p:nvSpPr>
          <p:cNvPr id="81" name="Text 81"/>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en-GB" sz="100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en-GB" sz="1000" dirty="0">
                <a:solidFill>
                  <a:srgbClr val="9AA4C2"/>
                </a:solidFill>
                <a:latin typeface="Inter Text" pitchFamily="34" charset="0"/>
                <a:ea typeface="Inter Text" pitchFamily="34" charset="-122"/>
                <a:cs typeface="Inter Text" pitchFamily="34" charset="-120"/>
              </a:rPr>
              <a:t>VAT category taxable amount</a:t>
            </a:r>
          </a:p>
        </p:txBody>
      </p:sp>
      <p:sp>
        <p:nvSpPr>
          <p:cNvPr id="82" name="Text 82"/>
          <p:cNvSpPr txBox="1"/>
          <p:nvPr/>
        </p:nvSpPr>
        <p:spPr>
          <a:xfrm>
            <a:off x="10515600" y="4352544"/>
            <a:ext cx="667512" cy="274320"/>
          </a:xfrm>
          <a:prstGeom prst="rect">
            <a:avLst/>
          </a:prstGeom>
          <a:noFill/>
          <a:ln/>
        </p:spPr>
        <p:txBody>
          <a:bodyPr wrap="squar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83" name="Text 83"/>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en-GB" sz="100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en-GB" sz="1000" dirty="0">
                <a:solidFill>
                  <a:srgbClr val="9AA4C2"/>
                </a:solidFill>
                <a:latin typeface="Inter Text" pitchFamily="34" charset="0"/>
                <a:ea typeface="Inter Text" pitchFamily="34" charset="-122"/>
                <a:cs typeface="Inter Text" pitchFamily="34" charset="-120"/>
              </a:rPr>
              <a:t>VAT category tax amount</a:t>
            </a:r>
          </a:p>
        </p:txBody>
      </p:sp>
      <p:sp>
        <p:nvSpPr>
          <p:cNvPr id="84" name="Text 84"/>
          <p:cNvSpPr txBox="1"/>
          <p:nvPr/>
        </p:nvSpPr>
        <p:spPr>
          <a:xfrm>
            <a:off x="10515600" y="4626864"/>
            <a:ext cx="667512" cy="274320"/>
          </a:xfrm>
          <a:prstGeom prst="rect">
            <a:avLst/>
          </a:prstGeom>
          <a:noFill/>
          <a:ln/>
        </p:spPr>
        <p:txBody>
          <a:bodyPr wrap="squar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85" name="Text 85"/>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en-GB" sz="100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en-GB" sz="1000" dirty="0">
                <a:solidFill>
                  <a:srgbClr val="9AA4C2"/>
                </a:solidFill>
                <a:latin typeface="Inter Text" pitchFamily="34" charset="0"/>
                <a:ea typeface="Inter Text" pitchFamily="34" charset="-122"/>
                <a:cs typeface="Inter Text" pitchFamily="34" charset="-120"/>
              </a:rPr>
              <a:t>Invoice total VAT amount</a:t>
            </a:r>
          </a:p>
        </p:txBody>
      </p:sp>
      <p:sp>
        <p:nvSpPr>
          <p:cNvPr id="86" name="Text 86"/>
          <p:cNvSpPr txBox="1"/>
          <p:nvPr/>
        </p:nvSpPr>
        <p:spPr>
          <a:xfrm>
            <a:off x="10515600" y="4901184"/>
            <a:ext cx="667512" cy="274320"/>
          </a:xfrm>
          <a:prstGeom prst="rect">
            <a:avLst/>
          </a:prstGeom>
          <a:noFill/>
          <a:ln/>
        </p:spPr>
        <p:txBody>
          <a:bodyPr wrap="squar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87" name="Text 87"/>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en-GB"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en-GB" sz="950" dirty="0">
                <a:solidFill>
                  <a:srgbClr val="9AA4C2"/>
                </a:solidFill>
                <a:latin typeface="Inter Text" pitchFamily="34" charset="0"/>
                <a:ea typeface="Inter Text" pitchFamily="34" charset="-122"/>
                <a:cs typeface="Inter Text" pitchFamily="34" charset="-120"/>
              </a:rPr>
              <a:t>with number of lines and quantity:</a:t>
            </a:r>
          </a:p>
          <a:p>
            <a:pPr marL="0" indent="0" algn="l">
              <a:buNone/>
            </a:pPr>
            <a:r>
              <a:rPr lang="en-GB" sz="950" dirty="0">
                <a:solidFill>
                  <a:srgbClr val="9AA4C2"/>
                </a:solidFill>
                <a:latin typeface="Inter Text" pitchFamily="34" charset="0"/>
                <a:ea typeface="Inter Text" pitchFamily="34" charset="-122"/>
                <a:cs typeface="Inter Text" pitchFamily="34" charset="-120"/>
              </a:rPr>
              <a:t>→ “How large does the deviation get?”</a:t>
            </a:r>
          </a:p>
        </p:txBody>
      </p:sp>
      <p:sp>
        <p:nvSpPr>
          <p:cNvPr id="88" name="Text 88"/>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en-GB" sz="8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850" dirty="0">
                <a:solidFill>
                  <a:srgbClr val="9AA4C2"/>
                </a:solidFill>
                <a:latin typeface="Inter Text" pitchFamily="34" charset="0"/>
                <a:ea typeface="Inter Text" pitchFamily="34" charset="-122"/>
                <a:cs typeface="Inter Text" pitchFamily="34" charset="-120"/>
              </a:rPr>
              <a:t> = rounded intermediate value   </a:t>
            </a:r>
            <a:r>
              <a:rPr lang="en-GB" sz="8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850" dirty="0">
                <a:solidFill>
                  <a:srgbClr val="9AA4C2"/>
                </a:solidFill>
                <a:latin typeface="Inter Text" pitchFamily="34" charset="0"/>
                <a:ea typeface="Inter Text" pitchFamily="34" charset="-122"/>
                <a:cs typeface="Inter Text" pitchFamily="34" charset="-120"/>
              </a:rPr>
              <a:t> = paid amount, rounded once (bank)   </a:t>
            </a:r>
            <a:r>
              <a:rPr lang="en-GB"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en-GB" sz="850" dirty="0">
                <a:solidFill>
                  <a:srgbClr val="9AA4C2"/>
                </a:solidFill>
                <a:latin typeface="Inter Text" pitchFamily="34" charset="0"/>
                <a:ea typeface="Inter Text" pitchFamily="34" charset="-122"/>
                <a:cs typeface="Inter Text" pitchFamily="34" charset="-120"/>
              </a:rPr>
              <a:t> = rounded input value</a:t>
            </a:r>
          </a:p>
          <a:p>
            <a:pPr marL="0" indent="0" algn="l">
              <a:buNone/>
            </a:pPr>
            <a:r>
              <a:rPr lang="en-GB" sz="850" dirty="0">
                <a:solidFill>
                  <a:srgbClr val="9AA4C2"/>
                </a:solidFill>
                <a:latin typeface="Inter Text" pitchFamily="34" charset="0"/>
                <a:ea typeface="Inter Text" pitchFamily="34" charset="-122"/>
                <a:cs typeface="Inter Text" pitchFamily="34" charset="-120"/>
              </a:rPr>
              <a:t>dp = decimal places · 2017 (Tab. 26): all amounts fixed 2 dp, regardless of the currency · ± for 100 lines of 100 units, 19% VAT</a:t>
            </a:r>
          </a:p>
          <a:p>
            <a:pPr marL="0" indent="0" algn="l">
              <a:buNone/>
            </a:pPr>
            <a:r>
              <a:rPr lang="en-GB" sz="850" dirty="0">
                <a:solidFill>
                  <a:srgbClr val="D32F2F"/>
                </a:solidFill>
                <a:latin typeface="Inter SemiBold Text SemiBold" pitchFamily="34" charset="0"/>
                <a:ea typeface="Inter SemiBold Text SemiBold" pitchFamily="34" charset="-122"/>
                <a:cs typeface="Inter SemiBold Text SemiBold" pitchFamily="34" charset="-120"/>
              </a:rPr>
              <a:t>Rain</a:t>
            </a:r>
            <a:r>
              <a:rPr lang="en-GB"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en-GB" sz="850" dirty="0">
                <a:solidFill>
                  <a:srgbClr val="1565C0"/>
                </a:solidFill>
                <a:latin typeface="Inter SemiBold Text SemiBold" pitchFamily="34" charset="0"/>
                <a:ea typeface="Inter SemiBold Text SemiBold" pitchFamily="34" charset="-122"/>
                <a:cs typeface="Inter SemiBold Text SemiBold" pitchFamily="34" charset="-120"/>
              </a:rPr>
              <a:t>w</a:t>
            </a:r>
            <a:r>
              <a:rPr lang="en-GB" sz="850" dirty="0">
                <a:solidFill>
                  <a:srgbClr val="9AA4C2"/>
                </a:solidFill>
                <a:latin typeface="Inter Text" pitchFamily="34" charset="0"/>
                <a:ea typeface="Inter Text" pitchFamily="34" charset="-122"/>
                <a:cs typeface="Inter Text" pitchFamily="34" charset="-120"/>
              </a:rPr>
              <a:t> = order of the calculation steps; a BT keeps its colour where it is reused further down</a:t>
            </a:r>
          </a:p>
        </p:txBody>
      </p:sp>
      <p:sp>
        <p:nvSpPr>
          <p:cNvPr id="89" name="Card 89"/>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0" name="Pill 90"/>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1" name="Text 91"/>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Amount due for payment</a:t>
            </a:r>
          </a:p>
        </p:txBody>
      </p:sp>
      <p:sp>
        <p:nvSpPr>
          <p:cNvPr id="92" name="Text 92"/>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en-GB" sz="800" dirty="0">
                <a:solidFill>
                  <a:srgbClr val="5B6890"/>
                </a:solidFill>
                <a:latin typeface="Inter Text" pitchFamily="34" charset="0"/>
                <a:ea typeface="Inter Text" pitchFamily="34" charset="-122"/>
                <a:cs typeface="Inter Text" pitchFamily="34" charset="-120"/>
              </a:rPr>
              <a:t> Invoice total amount without VAT</a:t>
            </a:r>
            <a:br>
              <a:rPr lang="en-GB" sz="800" dirty="0">
                <a:solidFill>
                  <a:srgbClr val="5B6890"/>
                </a:solidFill>
                <a:latin typeface="Inter Text" pitchFamily="34" charset="0"/>
                <a:ea typeface="Inter Text" pitchFamily="34" charset="-122"/>
                <a:cs typeface="Inter Text" pitchFamily="34" charset="-120"/>
              </a:rPr>
            </a:b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en-GB" sz="800" dirty="0">
                <a:solidFill>
                  <a:srgbClr val="5B6890"/>
                </a:solidFill>
                <a:latin typeface="Inter Text" pitchFamily="34" charset="0"/>
                <a:ea typeface="Inter Text" pitchFamily="34" charset="-122"/>
                <a:cs typeface="Inter Text" pitchFamily="34" charset="-120"/>
              </a:rPr>
              <a:t> Paid amount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en-GB" sz="800" dirty="0">
                <a:solidFill>
                  <a:srgbClr val="5B6890"/>
                </a:solidFill>
                <a:latin typeface="Inter Text" pitchFamily="34" charset="0"/>
                <a:ea typeface="Inter Text" pitchFamily="34" charset="-122"/>
                <a:cs typeface="Inter Text" pitchFamily="34" charset="-120"/>
              </a:rPr>
              <a:t> Rounding amount</a:t>
            </a:r>
          </a:p>
        </p:txBody>
      </p:sp>
      <p:sp>
        <p:nvSpPr>
          <p:cNvPr id="93" name="Pill 93"/>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2 dp</a:t>
            </a:r>
          </a:p>
          <a:p>
            <a:pPr marL="0" indent="0" algn="ctr">
              <a:buNone/>
            </a:pPr>
            <a:r>
              <a:rPr lang="en-GB" sz="800" dirty="0">
                <a:solidFill>
                  <a:srgbClr val="1E8A4C"/>
                </a:solidFill>
                <a:latin typeface="Inter Text" pitchFamily="34" charset="0"/>
                <a:ea typeface="Inter Text" pitchFamily="34" charset="-122"/>
                <a:cs typeface="Inter Text" pitchFamily="34" charset="-120"/>
              </a:rPr>
              <a:t>final value · bank</a:t>
            </a:r>
          </a:p>
        </p:txBody>
      </p:sp>
      <p:sp>
        <p:nvSpPr>
          <p:cNvPr id="94" name="Text 94"/>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€0.60</a:t>
            </a:r>
          </a:p>
        </p:txBody>
      </p:sp>
      <p:sp>
        <p:nvSpPr>
          <p:cNvPr id="95" name="Text 95"/>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€0.50 + €0.10</a:t>
            </a:r>
          </a:p>
        </p:txBody>
      </p:sp>
      <p:cxnSp>
        <p:nvCxnSpPr>
          <p:cNvPr id="96" name="Connector 96"/>
          <p:cNvCxnSpPr/>
          <p:nvPr/>
        </p:nvCxnSpPr>
        <p:spPr>
          <a:xfrm>
            <a:off x="1303020" y="5678424"/>
            <a:ext cx="0" cy="36576"/>
          </a:xfrm>
          <a:prstGeom prst="line">
            <a:avLst/>
          </a:prstGeom>
          <a:ln w="15875">
            <a:solidFill>
              <a:srgbClr val="9AA4C2"/>
            </a:solidFill>
          </a:ln>
        </p:spPr>
      </p:cxnSp>
      <p:sp>
        <p:nvSpPr>
          <p:cNvPr id="97" name="Text 97"/>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en-GB" sz="100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en-GB" sz="1000" dirty="0">
                <a:solidFill>
                  <a:srgbClr val="9AA4C2"/>
                </a:solidFill>
                <a:latin typeface="Inter Text" pitchFamily="34" charset="0"/>
                <a:ea typeface="Inter Text" pitchFamily="34" charset="-122"/>
                <a:cs typeface="Inter Text" pitchFamily="34" charset="-120"/>
              </a:rPr>
              <a:t>Amount due for payment</a:t>
            </a:r>
          </a:p>
        </p:txBody>
      </p:sp>
      <p:sp>
        <p:nvSpPr>
          <p:cNvPr id="98" name="Text 98"/>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en-GB" sz="1000" dirty="0">
                <a:solidFill>
                  <a:srgbClr val="81C784"/>
                </a:solidFill>
                <a:latin typeface="Inter SemiBold Text SemiBold" pitchFamily="34" charset="0"/>
                <a:ea typeface="Inter SemiBold Text SemiBold" pitchFamily="34" charset="-122"/>
                <a:cs typeface="Inter SemiBold Text SemiBold" pitchFamily="34" charset="-120"/>
              </a:rPr>
              <a:t>2 dp</a:t>
            </a:r>
          </a:p>
        </p:txBody>
      </p:sp>
      <p:sp>
        <p:nvSpPr>
          <p:cNvPr id="99" name="Reuse 99"/>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en-GB"/>
          </a:p>
        </p:txBody>
      </p:sp>
      <p:sp>
        <p:nvSpPr>
          <p:cNvPr id="100" name="Reuse 100"/>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en-GB"/>
          </a:p>
        </p:txBody>
      </p:sp>
      <p:sp>
        <p:nvSpPr>
          <p:cNvPr id="101" name="Reuse 101"/>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en-GB"/>
          </a:p>
        </p:txBody>
      </p:sp>
      <p:sp>
        <p:nvSpPr>
          <p:cNvPr id="102" name="Reuse 102"/>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en-GB"/>
          </a:p>
        </p:txBody>
      </p:sp>
      <p:sp>
        <p:nvSpPr>
          <p:cNvPr id="103" name="Reuse 103"/>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en-GB"/>
          </a:p>
        </p:txBody>
      </p:sp>
      <p:sp>
        <p:nvSpPr>
          <p:cNvPr id="104" name="Reuse 104"/>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en-GB"/>
          </a:p>
        </p:txBody>
      </p:sp>
      <p:sp>
        <p:nvSpPr>
          <p:cNvPr id="105" name="Text 105"/>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en-GB" sz="700" dirty="0">
                <a:solidFill>
                  <a:srgbClr val="9AA4C2"/>
                </a:solidFill>
                <a:latin typeface="Inter Text" pitchFamily="34" charset="0"/>
                <a:ea typeface="Inter Text" pitchFamily="34" charset="-122"/>
                <a:cs typeface="Inter Text" pitchFamily="34" charset="-120"/>
              </a:rPr>
              <a:t>Item gross price</a:t>
            </a:r>
          </a:p>
        </p:txBody>
      </p:sp>
      <p:sp>
        <p:nvSpPr>
          <p:cNvPr id="106" name="Text 106"/>
          <p:cNvSpPr txBox="1"/>
          <p:nvPr/>
        </p:nvSpPr>
        <p:spPr>
          <a:xfrm>
            <a:off x="10515600" y="2542032"/>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07" name="Text 107"/>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en-GB" sz="700" dirty="0">
                <a:solidFill>
                  <a:srgbClr val="9AA4C2"/>
                </a:solidFill>
                <a:latin typeface="Inter Text" pitchFamily="34" charset="0"/>
                <a:ea typeface="Inter Text" pitchFamily="34" charset="-122"/>
                <a:cs typeface="Inter Text" pitchFamily="34" charset="-120"/>
              </a:rPr>
              <a:t>Item price discount</a:t>
            </a:r>
          </a:p>
        </p:txBody>
      </p:sp>
      <p:sp>
        <p:nvSpPr>
          <p:cNvPr id="108" name="Text 108"/>
          <p:cNvSpPr txBox="1"/>
          <p:nvPr/>
        </p:nvSpPr>
        <p:spPr>
          <a:xfrm>
            <a:off x="10515600" y="2655875"/>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09" name="Text 109"/>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en-GB" sz="70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en-GB" sz="700" dirty="0">
                <a:solidFill>
                  <a:srgbClr val="9AA4C2"/>
                </a:solidFill>
                <a:latin typeface="Inter Text" pitchFamily="34" charset="0"/>
                <a:ea typeface="Inter Text" pitchFamily="34" charset="-122"/>
                <a:cs typeface="Inter Text" pitchFamily="34" charset="-120"/>
              </a:rPr>
              <a:t>Item net price</a:t>
            </a:r>
          </a:p>
        </p:txBody>
      </p:sp>
      <p:sp>
        <p:nvSpPr>
          <p:cNvPr id="110" name="Text 110"/>
          <p:cNvSpPr txBox="1"/>
          <p:nvPr/>
        </p:nvSpPr>
        <p:spPr>
          <a:xfrm>
            <a:off x="10515600" y="2769718"/>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11" name="Text 111"/>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en-GB" sz="700" dirty="0">
                <a:solidFill>
                  <a:srgbClr val="9AA4C2"/>
                </a:solidFill>
                <a:latin typeface="Inter Text" pitchFamily="34" charset="0"/>
                <a:ea typeface="Inter Text" pitchFamily="34" charset="-122"/>
                <a:cs typeface="Inter Text" pitchFamily="34" charset="-120"/>
              </a:rPr>
              <a:t>Invoiced quantity</a:t>
            </a:r>
          </a:p>
        </p:txBody>
      </p:sp>
      <p:sp>
        <p:nvSpPr>
          <p:cNvPr id="112" name="Text 112"/>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13" name="Text 113"/>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en-GB" sz="700" dirty="0">
                <a:solidFill>
                  <a:srgbClr val="9AA4C2"/>
                </a:solidFill>
                <a:latin typeface="Inter Text" pitchFamily="34" charset="0"/>
                <a:ea typeface="Inter Text" pitchFamily="34" charset="-122"/>
                <a:cs typeface="Inter Text" pitchFamily="34" charset="-120"/>
              </a:rPr>
              <a:t>Item price base quantity</a:t>
            </a:r>
          </a:p>
        </p:txBody>
      </p:sp>
      <p:sp>
        <p:nvSpPr>
          <p:cNvPr id="114" name="Text 114"/>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
        <p:nvSpPr>
          <p:cNvPr id="115" name="Text 115"/>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en-GB" sz="700" dirty="0">
                <a:solidFill>
                  <a:srgbClr val="9AA4C2"/>
                </a:solidFill>
                <a:latin typeface="Inter Text" pitchFamily="34" charset="0"/>
                <a:ea typeface="Inter Text" pitchFamily="34" charset="-122"/>
                <a:cs typeface="Inter Text" pitchFamily="34" charset="-120"/>
              </a:rPr>
              <a:t>Invoice line charge or tax amount</a:t>
            </a:r>
          </a:p>
        </p:txBody>
      </p:sp>
      <p:sp>
        <p:nvSpPr>
          <p:cNvPr id="116" name="Text 116"/>
          <p:cNvSpPr txBox="1"/>
          <p:nvPr/>
        </p:nvSpPr>
        <p:spPr>
          <a:xfrm>
            <a:off x="10515600" y="3111246"/>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17" name="Text 117"/>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en-GB" sz="700" dirty="0">
                <a:solidFill>
                  <a:srgbClr val="9AA4C2"/>
                </a:solidFill>
                <a:latin typeface="Inter Text" pitchFamily="34" charset="0"/>
                <a:ea typeface="Inter Text" pitchFamily="34" charset="-122"/>
                <a:cs typeface="Inter Text" pitchFamily="34" charset="-120"/>
              </a:rPr>
              <a:t>Invoice line allowance amount</a:t>
            </a:r>
          </a:p>
        </p:txBody>
      </p:sp>
      <p:sp>
        <p:nvSpPr>
          <p:cNvPr id="118" name="Text 118"/>
          <p:cNvSpPr txBox="1"/>
          <p:nvPr/>
        </p:nvSpPr>
        <p:spPr>
          <a:xfrm>
            <a:off x="10515600" y="3225089"/>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19" name="Text 119"/>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en-GB" sz="70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en-GB" sz="700" dirty="0">
                <a:solidFill>
                  <a:srgbClr val="9AA4C2"/>
                </a:solidFill>
                <a:latin typeface="Inter Text" pitchFamily="34" charset="0"/>
                <a:ea typeface="Inter Text" pitchFamily="34" charset="-122"/>
                <a:cs typeface="Inter Text" pitchFamily="34" charset="-120"/>
              </a:rPr>
              <a:t>Invoice line net amount</a:t>
            </a:r>
          </a:p>
        </p:txBody>
      </p:sp>
      <p:sp>
        <p:nvSpPr>
          <p:cNvPr id="120" name="Text 120"/>
          <p:cNvSpPr txBox="1"/>
          <p:nvPr/>
        </p:nvSpPr>
        <p:spPr>
          <a:xfrm>
            <a:off x="10515600" y="3338932"/>
            <a:ext cx="667512" cy="113843"/>
          </a:xfrm>
          <a:prstGeom prst="rect">
            <a:avLst/>
          </a:prstGeom>
          <a:noFill/>
          <a:ln/>
        </p:spPr>
        <p:txBody>
          <a:bodyPr wrap="squar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121" name="Text 121"/>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en-GB" sz="70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en-GB" sz="700" dirty="0">
                <a:solidFill>
                  <a:srgbClr val="9AA4C2"/>
                </a:solidFill>
                <a:latin typeface="Inter Text" pitchFamily="34" charset="0"/>
                <a:ea typeface="Inter Text" pitchFamily="34" charset="-122"/>
                <a:cs typeface="Inter Text" pitchFamily="34" charset="-120"/>
              </a:rPr>
              <a:t>Sum of invoice line net amount</a:t>
            </a:r>
          </a:p>
        </p:txBody>
      </p:sp>
      <p:sp>
        <p:nvSpPr>
          <p:cNvPr id="122" name="Text 122"/>
          <p:cNvSpPr txBox="1"/>
          <p:nvPr/>
        </p:nvSpPr>
        <p:spPr>
          <a:xfrm>
            <a:off x="10515600" y="3452774"/>
            <a:ext cx="667512" cy="113843"/>
          </a:xfrm>
          <a:prstGeom prst="rect">
            <a:avLst/>
          </a:prstGeom>
          <a:noFill/>
          <a:ln/>
        </p:spPr>
        <p:txBody>
          <a:bodyPr wrap="squar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2 dp</a:t>
            </a:r>
          </a:p>
        </p:txBody>
      </p:sp>
      <p:sp>
        <p:nvSpPr>
          <p:cNvPr id="123" name="Text 123"/>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BT-99 </a:t>
            </a:r>
            <a:r>
              <a:rPr lang="en-GB" sz="700" dirty="0">
                <a:solidFill>
                  <a:srgbClr val="9AA4C2"/>
                </a:solidFill>
                <a:latin typeface="Inter Text" pitchFamily="34" charset="0"/>
                <a:ea typeface="Inter Text" pitchFamily="34" charset="-122"/>
                <a:cs typeface="Inter Text" pitchFamily="34" charset="-120"/>
              </a:rPr>
              <a:t>Document level charge or tax amount</a:t>
            </a:r>
          </a:p>
        </p:txBody>
      </p:sp>
      <p:sp>
        <p:nvSpPr>
          <p:cNvPr id="124" name="Text 124"/>
          <p:cNvSpPr txBox="1"/>
          <p:nvPr/>
        </p:nvSpPr>
        <p:spPr>
          <a:xfrm>
            <a:off x="10515600" y="3566617"/>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25" name="Text 125"/>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BT-92 </a:t>
            </a:r>
            <a:r>
              <a:rPr lang="en-GB" sz="700" dirty="0">
                <a:solidFill>
                  <a:srgbClr val="9AA4C2"/>
                </a:solidFill>
                <a:latin typeface="Inter Text" pitchFamily="34" charset="0"/>
                <a:ea typeface="Inter Text" pitchFamily="34" charset="-122"/>
                <a:cs typeface="Inter Text" pitchFamily="34" charset="-120"/>
              </a:rPr>
              <a:t>Document level allowance amount</a:t>
            </a:r>
          </a:p>
        </p:txBody>
      </p:sp>
      <p:sp>
        <p:nvSpPr>
          <p:cNvPr id="126" name="Text 126"/>
          <p:cNvSpPr txBox="1"/>
          <p:nvPr/>
        </p:nvSpPr>
        <p:spPr>
          <a:xfrm>
            <a:off x="10515600" y="3680460"/>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27" name="Text 127"/>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en-GB" sz="700" dirty="0">
                <a:solidFill>
                  <a:srgbClr val="9AA4C2"/>
                </a:solidFill>
                <a:latin typeface="Inter Text" pitchFamily="34" charset="0"/>
                <a:ea typeface="Inter Text" pitchFamily="34" charset="-122"/>
                <a:cs typeface="Inter Text" pitchFamily="34" charset="-120"/>
              </a:rPr>
              <a:t>VAT category rate (law)</a:t>
            </a:r>
          </a:p>
        </p:txBody>
      </p:sp>
      <p:sp>
        <p:nvSpPr>
          <p:cNvPr id="128" name="Text 128"/>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unlimited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Folie 30">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CALCULATION CHAIN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From gross price via net price to VAT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D3E2CDAE-2F23-4283-8153-FFAA4570C66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6</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ext 8"/>
          <p:cNvSpPr txBox="1"/>
          <p:nvPr/>
        </p:nvSpPr>
        <p:spPr>
          <a:xfrm>
            <a:off x="822960" y="1847088"/>
            <a:ext cx="2285086" cy="329184"/>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Two intermediate roundings:</a:t>
            </a:r>
          </a:p>
        </p:txBody>
      </p:sp>
      <p:sp>
        <p:nvSpPr>
          <p:cNvPr id="9" name="Pill 9"/>
          <p:cNvSpPr/>
          <p:nvPr/>
        </p:nvSpPr>
        <p:spPr>
          <a:xfrm>
            <a:off x="3217774" y="1856232"/>
            <a:ext cx="2209190" cy="310896"/>
          </a:xfrm>
          <a:prstGeom prst="roundRect">
            <a:avLst>
              <a:gd name="adj" fmla="val 50000"/>
            </a:avLst>
          </a:prstGeom>
          <a:solidFill>
            <a:srgbClr val="FDECEA"/>
          </a:solidFill>
          <a:ln w="9525">
            <a:solidFill>
              <a:srgbClr val="F5C2BF"/>
            </a:solidFill>
            <a:prstDash val="solid"/>
          </a:ln>
        </p:spPr>
        <p:txBody>
          <a:bodyPr wrap="square" lIns="36576" tIns="36576" rIns="36576" bIns="36576" rtlCol="0" anchor="ctr"/>
          <a:lstStyle/>
          <a:p>
            <a:pPr marL="0" indent="0" algn="ctr">
              <a:buNone/>
            </a:pPr>
            <a:r>
              <a:rPr lang="en-GB" sz="1200" dirty="0">
                <a:solidFill>
                  <a:srgbClr val="C62828"/>
                </a:solidFill>
                <a:latin typeface="Inter SemiBold Text SemiBold" pitchFamily="34" charset="0"/>
                <a:ea typeface="Inter SemiBold Text SemiBold" pitchFamily="34" charset="-122"/>
                <a:cs typeface="Inter SemiBold Text SemiBold" pitchFamily="34" charset="-120"/>
              </a:rPr>
              <a:t>BT-146 to Minor Unit + 2</a:t>
            </a:r>
          </a:p>
        </p:txBody>
      </p:sp>
      <p:sp>
        <p:nvSpPr>
          <p:cNvPr id="10" name="Pill 10"/>
          <p:cNvSpPr/>
          <p:nvPr/>
        </p:nvSpPr>
        <p:spPr>
          <a:xfrm>
            <a:off x="5554980" y="1856232"/>
            <a:ext cx="2209190" cy="310896"/>
          </a:xfrm>
          <a:prstGeom prst="roundRect">
            <a:avLst>
              <a:gd name="adj" fmla="val 50000"/>
            </a:avLst>
          </a:prstGeom>
          <a:solidFill>
            <a:srgbClr val="FFF3E6"/>
          </a:solidFill>
          <a:ln w="9525">
            <a:solidFill>
              <a:srgbClr val="F5CFA3"/>
            </a:solidFill>
            <a:prstDash val="solid"/>
          </a:ln>
        </p:spPr>
        <p:txBody>
          <a:bodyPr wrap="square" lIns="36576" tIns="36576" rIns="36576" bIns="36576" rtlCol="0" anchor="ctr"/>
          <a:lstStyle/>
          <a:p>
            <a:pPr marL="0" indent="0" algn="ctr">
              <a:buNone/>
            </a:pPr>
            <a:r>
              <a:rPr lang="en-GB" sz="1200" dirty="0">
                <a:solidFill>
                  <a:srgbClr val="C25700"/>
                </a:solidFill>
                <a:latin typeface="Inter SemiBold Text SemiBold" pitchFamily="34" charset="0"/>
                <a:ea typeface="Inter SemiBold Text SemiBold" pitchFamily="34" charset="-122"/>
                <a:cs typeface="Inter SemiBold Text SemiBold" pitchFamily="34" charset="-120"/>
              </a:rPr>
              <a:t>BT-131 to the Minor Unit</a:t>
            </a:r>
          </a:p>
        </p:txBody>
      </p:sp>
      <p:sp>
        <p:nvSpPr>
          <p:cNvPr id="11" name="Frame 11"/>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en-GB"/>
          </a:p>
        </p:txBody>
      </p:sp>
      <p:sp>
        <p:nvSpPr>
          <p:cNvPr id="12" name="Text 12"/>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en-GB" sz="850" spc="150" dirty="0">
                <a:solidFill>
                  <a:srgbClr val="2F7FD8"/>
                </a:solidFill>
                <a:latin typeface="Inter SemiBold Text SemiBold" pitchFamily="34" charset="0"/>
                <a:ea typeface="Inter SemiBold Text SemiBold" pitchFamily="34" charset="-122"/>
                <a:cs typeface="Inter SemiBold Text SemiBold" pitchFamily="34" charset="-120"/>
              </a:rPr>
              <a:t>INPUT &amp; INTERMEDIATE VALUES</a:t>
            </a:r>
          </a:p>
        </p:txBody>
      </p:sp>
      <p:sp>
        <p:nvSpPr>
          <p:cNvPr id="13" name="Frame 13"/>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en-GB"/>
          </a:p>
        </p:txBody>
      </p:sp>
      <p:sp>
        <p:nvSpPr>
          <p:cNvPr id="14" name="Text 14"/>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en-GB" sz="850" spc="150" dirty="0">
                <a:solidFill>
                  <a:srgbClr val="7B57D1"/>
                </a:solidFill>
                <a:latin typeface="Inter SemiBold Text SemiBold" pitchFamily="34" charset="0"/>
                <a:ea typeface="Inter SemiBold Text SemiBold" pitchFamily="34" charset="-122"/>
                <a:cs typeface="Inter SemiBold Text SemiBold" pitchFamily="34" charset="-120"/>
              </a:rPr>
              <a:t>FINAL RESULTS</a:t>
            </a:r>
          </a:p>
        </p:txBody>
      </p:sp>
      <p:sp>
        <p:nvSpPr>
          <p:cNvPr id="15" name="Card 15"/>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Pill 16"/>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7" name="Text 17"/>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Item net price</a:t>
            </a:r>
          </a:p>
        </p:txBody>
      </p:sp>
      <p:sp>
        <p:nvSpPr>
          <p:cNvPr id="18" name="Text 18"/>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en-GB" sz="800" dirty="0">
                <a:solidFill>
                  <a:srgbClr val="5B6890"/>
                </a:solidFill>
                <a:latin typeface="Inter Text" pitchFamily="34" charset="0"/>
                <a:ea typeface="Inter Text" pitchFamily="34" charset="-122"/>
                <a:cs typeface="Inter Text" pitchFamily="34" charset="-120"/>
              </a:rPr>
              <a:t/>
            </a:r>
          </a:p>
        </p:txBody>
      </p:sp>
      <p:sp>
        <p:nvSpPr>
          <p:cNvPr id="19" name="Pill 19"/>
          <p:cNvSpPr/>
          <p:nvPr/>
        </p:nvSpPr>
        <p:spPr>
          <a:xfrm>
            <a:off x="4773168" y="250393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000" dirty="0">
                <a:solidFill>
                  <a:srgbClr val="C0392B"/>
                </a:solidFill>
                <a:latin typeface="Inter SemiBold Text SemiBold" pitchFamily="34" charset="0"/>
                <a:ea typeface="Inter SemiBold Text SemiBold" pitchFamily="34" charset="-122"/>
                <a:cs typeface="Inter SemiBold Text SemiBold" pitchFamily="34" charset="-120"/>
              </a:rPr>
              <a:t>Minor Unit + 2</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20" name="Text 20"/>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€0.00005</a:t>
            </a:r>
          </a:p>
        </p:txBody>
      </p:sp>
      <p:sp>
        <p:nvSpPr>
          <p:cNvPr id="21" name="Text 21"/>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price rounded once</a:t>
            </a:r>
          </a:p>
        </p:txBody>
      </p:sp>
      <p:cxnSp>
        <p:nvCxnSpPr>
          <p:cNvPr id="22" name="Connector 22"/>
          <p:cNvCxnSpPr/>
          <p:nvPr/>
        </p:nvCxnSpPr>
        <p:spPr>
          <a:xfrm>
            <a:off x="1303020" y="2907792"/>
            <a:ext cx="0" cy="36576"/>
          </a:xfrm>
          <a:prstGeom prst="line">
            <a:avLst/>
          </a:prstGeom>
          <a:ln w="15875">
            <a:solidFill>
              <a:srgbClr val="9AA4C2"/>
            </a:solidFill>
          </a:ln>
        </p:spPr>
      </p:cxnSp>
      <p:sp>
        <p:nvSpPr>
          <p:cNvPr id="23" name="Card 23"/>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4" name="Pill 24"/>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5" name="Text 25"/>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line net amount</a:t>
            </a:r>
          </a:p>
        </p:txBody>
      </p:sp>
      <p:sp>
        <p:nvSpPr>
          <p:cNvPr id="26" name="Text 26"/>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en-GB" sz="800" dirty="0">
                <a:solidFill>
                  <a:srgbClr val="5B6890"/>
                </a:solidFill>
                <a:latin typeface="Inter Text" pitchFamily="34" charset="0"/>
                <a:ea typeface="Inter Text" pitchFamily="34" charset="-122"/>
                <a:cs typeface="Inter Text" pitchFamily="34" charset="-120"/>
              </a:rPr>
              <a:t/>
            </a:r>
          </a:p>
        </p:txBody>
      </p:sp>
      <p:sp>
        <p:nvSpPr>
          <p:cNvPr id="27" name="Pill 27"/>
          <p:cNvSpPr/>
          <p:nvPr/>
        </p:nvSpPr>
        <p:spPr>
          <a:xfrm>
            <a:off x="4773168" y="299770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28" name="Text 28"/>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€0.01</a:t>
            </a:r>
          </a:p>
        </p:txBody>
      </p:sp>
      <p:sp>
        <p:nvSpPr>
          <p:cNvPr id="29" name="Text 29"/>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€0.005 + 100 × €0.00005</a:t>
            </a:r>
          </a:p>
        </p:txBody>
      </p:sp>
      <p:cxnSp>
        <p:nvCxnSpPr>
          <p:cNvPr id="30" name="Connector 30"/>
          <p:cNvCxnSpPr/>
          <p:nvPr/>
        </p:nvCxnSpPr>
        <p:spPr>
          <a:xfrm>
            <a:off x="1303020" y="3401568"/>
            <a:ext cx="0" cy="36576"/>
          </a:xfrm>
          <a:prstGeom prst="line">
            <a:avLst/>
          </a:prstGeom>
          <a:ln w="15875">
            <a:solidFill>
              <a:srgbClr val="9AA4C2"/>
            </a:solidFill>
          </a:ln>
        </p:spPr>
      </p:cxnSp>
      <p:sp>
        <p:nvSpPr>
          <p:cNvPr id="31" name="Card 31"/>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2" name="Pill 32"/>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3" name="Text 33"/>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Sum of invoice line net amount</a:t>
            </a:r>
          </a:p>
        </p:txBody>
      </p:sp>
      <p:sp>
        <p:nvSpPr>
          <p:cNvPr id="34" name="Text 34"/>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a:r>
          </a:p>
        </p:txBody>
      </p:sp>
      <p:sp>
        <p:nvSpPr>
          <p:cNvPr id="35" name="Pill 35"/>
          <p:cNvSpPr/>
          <p:nvPr/>
        </p:nvSpPr>
        <p:spPr>
          <a:xfrm>
            <a:off x="4773168" y="349148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36" name="Text 36"/>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€1.00</a:t>
            </a:r>
          </a:p>
        </p:txBody>
      </p:sp>
      <p:sp>
        <p:nvSpPr>
          <p:cNvPr id="37" name="Text 37"/>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 100 lines</a:t>
            </a:r>
          </a:p>
        </p:txBody>
      </p:sp>
      <p:sp>
        <p:nvSpPr>
          <p:cNvPr id="38" name="Card 38"/>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9" name="Pill 39"/>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40" name="Text 40"/>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taxable amount</a:t>
            </a:r>
          </a:p>
        </p:txBody>
      </p:sp>
      <p:sp>
        <p:nvSpPr>
          <p:cNvPr id="41" name="Text 41"/>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en-GB" sz="800" dirty="0">
                <a:solidFill>
                  <a:srgbClr val="5B6890"/>
                </a:solidFill>
                <a:latin typeface="Inter Text" pitchFamily="34" charset="0"/>
                <a:ea typeface="Inter Text" pitchFamily="34" charset="-122"/>
                <a:cs typeface="Inter Text" pitchFamily="34" charset="-120"/>
              </a:rPr>
              <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en-GB" sz="800" dirty="0">
                <a:solidFill>
                  <a:srgbClr val="5B6890"/>
                </a:solidFill>
                <a:latin typeface="Inter Text" pitchFamily="34" charset="0"/>
                <a:ea typeface="Inter Text" pitchFamily="34" charset="-122"/>
                <a:cs typeface="Inter Text" pitchFamily="34" charset="-120"/>
              </a:rPr>
              <a:t/>
            </a:r>
          </a:p>
        </p:txBody>
      </p:sp>
      <p:sp>
        <p:nvSpPr>
          <p:cNvPr id="42" name="Pill 42"/>
          <p:cNvSpPr/>
          <p:nvPr/>
        </p:nvSpPr>
        <p:spPr>
          <a:xfrm>
            <a:off x="4773168" y="4287012"/>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43" name="Text 43"/>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€1.00</a:t>
            </a:r>
          </a:p>
        </p:txBody>
      </p:sp>
      <p:sp>
        <p:nvSpPr>
          <p:cNvPr id="44" name="Text 44"/>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Σ of rounded lines</a:t>
            </a:r>
          </a:p>
        </p:txBody>
      </p:sp>
      <p:cxnSp>
        <p:nvCxnSpPr>
          <p:cNvPr id="45" name="Connector 45"/>
          <p:cNvCxnSpPr/>
          <p:nvPr/>
        </p:nvCxnSpPr>
        <p:spPr>
          <a:xfrm>
            <a:off x="1303020" y="4690872"/>
            <a:ext cx="0" cy="36576"/>
          </a:xfrm>
          <a:prstGeom prst="line">
            <a:avLst/>
          </a:prstGeom>
          <a:ln w="15875">
            <a:solidFill>
              <a:srgbClr val="9AA4C2"/>
            </a:solidFill>
          </a:ln>
        </p:spPr>
      </p:cxnSp>
      <p:sp>
        <p:nvSpPr>
          <p:cNvPr id="46" name="Card 46"/>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7" name="Pill 47"/>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8" name="Text 48"/>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 amount</a:t>
            </a:r>
          </a:p>
        </p:txBody>
      </p:sp>
      <p:sp>
        <p:nvSpPr>
          <p:cNvPr id="49" name="Text 49"/>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en-GB" sz="800" dirty="0">
                <a:solidFill>
                  <a:srgbClr val="5B6890"/>
                </a:solidFill>
                <a:latin typeface="Inter Text" pitchFamily="34" charset="0"/>
                <a:ea typeface="Inter Text" pitchFamily="34" charset="-122"/>
                <a:cs typeface="Inter Text" pitchFamily="34" charset="-120"/>
              </a:rPr>
              <a:t> ÷ 100</a:t>
            </a:r>
          </a:p>
        </p:txBody>
      </p:sp>
      <p:sp>
        <p:nvSpPr>
          <p:cNvPr id="50" name="Pill 50"/>
          <p:cNvSpPr/>
          <p:nvPr/>
        </p:nvSpPr>
        <p:spPr>
          <a:xfrm>
            <a:off x="4773168" y="4780788"/>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interim rounding</a:t>
            </a:r>
          </a:p>
        </p:txBody>
      </p:sp>
      <p:sp>
        <p:nvSpPr>
          <p:cNvPr id="51" name="Text 51"/>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€0.19</a:t>
            </a:r>
          </a:p>
        </p:txBody>
      </p:sp>
      <p:sp>
        <p:nvSpPr>
          <p:cNvPr id="52" name="Text 52"/>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€1.00 × 19%</a:t>
            </a:r>
          </a:p>
        </p:txBody>
      </p:sp>
      <p:cxnSp>
        <p:nvCxnSpPr>
          <p:cNvPr id="53" name="Connector 53"/>
          <p:cNvCxnSpPr/>
          <p:nvPr/>
        </p:nvCxnSpPr>
        <p:spPr>
          <a:xfrm>
            <a:off x="1303020" y="5184648"/>
            <a:ext cx="0" cy="36576"/>
          </a:xfrm>
          <a:prstGeom prst="line">
            <a:avLst/>
          </a:prstGeom>
          <a:ln w="15875">
            <a:solidFill>
              <a:srgbClr val="9AA4C2"/>
            </a:solidFill>
          </a:ln>
        </p:spPr>
      </p:cxnSp>
      <p:sp>
        <p:nvSpPr>
          <p:cNvPr id="54" name="Card 54"/>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55" name="Pill 55"/>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6" name="Text 56"/>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total VAT amount</a:t>
            </a:r>
          </a:p>
        </p:txBody>
      </p:sp>
      <p:sp>
        <p:nvSpPr>
          <p:cNvPr id="57" name="Text 57"/>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en-GB" sz="800" dirty="0">
                <a:solidFill>
                  <a:srgbClr val="5B6890"/>
                </a:solidFill>
                <a:latin typeface="Inter Text" pitchFamily="34" charset="0"/>
                <a:ea typeface="Inter Text" pitchFamily="34" charset="-122"/>
                <a:cs typeface="Inter Text" pitchFamily="34" charset="-120"/>
              </a:rPr>
              <a:t/>
            </a:r>
          </a:p>
        </p:txBody>
      </p:sp>
      <p:sp>
        <p:nvSpPr>
          <p:cNvPr id="58" name="Pill 58"/>
          <p:cNvSpPr/>
          <p:nvPr/>
        </p:nvSpPr>
        <p:spPr>
          <a:xfrm>
            <a:off x="4773168" y="5274564"/>
            <a:ext cx="1207008" cy="350520"/>
          </a:xfrm>
          <a:prstGeom prst="roundRect">
            <a:avLst>
              <a:gd name="adj" fmla="val 50000"/>
            </a:avLst>
          </a:prstGeom>
          <a:solidFill>
            <a:srgbClr val="FCEDEB"/>
          </a:solidFill>
          <a:ln w="9525">
            <a:solidFill>
              <a:srgbClr val="F2C4BE"/>
            </a:solidFill>
            <a:prstDash val="solid"/>
          </a:ln>
        </p:spPr>
        <p:txBody>
          <a:bodyPr wrap="square" lIns="18288" tIns="18288" rIns="18288" bIns="18288" rtlCol="0" anchor="ctr"/>
          <a:lstStyle/>
          <a:p>
            <a:pPr marL="0" indent="0" algn="ctr">
              <a:buNone/>
            </a:pPr>
            <a:r>
              <a:rPr lang="en-GB" sz="1150" dirty="0">
                <a:solidFill>
                  <a:srgbClr val="C0392B"/>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C0392B"/>
                </a:solidFill>
                <a:latin typeface="Inter Text" pitchFamily="34" charset="0"/>
                <a:ea typeface="Inter Text" pitchFamily="34" charset="-122"/>
                <a:cs typeface="Inter Text" pitchFamily="34" charset="-120"/>
              </a:rPr>
              <a:t>Σ of rounded values</a:t>
            </a:r>
          </a:p>
        </p:txBody>
      </p:sp>
      <p:sp>
        <p:nvSpPr>
          <p:cNvPr id="59" name="Text 59"/>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€0.19</a:t>
            </a:r>
          </a:p>
        </p:txBody>
      </p:sp>
      <p:sp>
        <p:nvSpPr>
          <p:cNvPr id="60" name="Panel 60"/>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en-GB"/>
          </a:p>
        </p:txBody>
      </p:sp>
      <p:sp>
        <p:nvSpPr>
          <p:cNvPr id="61" name="Text 61"/>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en-GB" sz="950" spc="120" dirty="0">
                <a:solidFill>
                  <a:srgbClr val="7DB3FF"/>
                </a:solidFill>
                <a:latin typeface="Inter SemiBold Text SemiBold" pitchFamily="34" charset="0"/>
                <a:ea typeface="Inter SemiBold Text SemiBold" pitchFamily="34" charset="-122"/>
                <a:cs typeface="Inter SemiBold Text SemiBold" pitchFamily="34" charset="-120"/>
              </a:rPr>
              <a:t>ALLOWED DECIMAL PLACES</a:t>
            </a:r>
          </a:p>
        </p:txBody>
      </p:sp>
      <p:sp>
        <p:nvSpPr>
          <p:cNvPr id="80" name="Panel 80"/>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en-GB"/>
          </a:p>
        </p:txBody>
      </p:sp>
      <p:sp>
        <p:nvSpPr>
          <p:cNvPr id="81" name="Text 81"/>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en-GB" sz="950" spc="120" dirty="0">
                <a:solidFill>
                  <a:srgbClr val="B9A2FF"/>
                </a:solidFill>
                <a:latin typeface="Inter SemiBold Text SemiBold" pitchFamily="34" charset="0"/>
                <a:ea typeface="Inter SemiBold Text SemiBold" pitchFamily="34" charset="-122"/>
                <a:cs typeface="Inter SemiBold Text SemiBold" pitchFamily="34" charset="-120"/>
              </a:rPr>
              <a:t>DECIMAL PLACES · FINAL VALUES</a:t>
            </a:r>
          </a:p>
        </p:txBody>
      </p:sp>
      <p:sp>
        <p:nvSpPr>
          <p:cNvPr id="82" name="Text 82"/>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en-GB" sz="100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en-GB" sz="1000" dirty="0">
                <a:solidFill>
                  <a:srgbClr val="9AA4C2"/>
                </a:solidFill>
                <a:latin typeface="Inter Text" pitchFamily="34" charset="0"/>
                <a:ea typeface="Inter Text" pitchFamily="34" charset="-122"/>
                <a:cs typeface="Inter Text" pitchFamily="34" charset="-120"/>
              </a:rPr>
              <a:t>VAT category taxable amount</a:t>
            </a:r>
          </a:p>
        </p:txBody>
      </p:sp>
      <p:sp>
        <p:nvSpPr>
          <p:cNvPr id="83" name="Text 83"/>
          <p:cNvSpPr txBox="1"/>
          <p:nvPr/>
        </p:nvSpPr>
        <p:spPr>
          <a:xfrm>
            <a:off x="9994392" y="4352544"/>
            <a:ext cx="1188720" cy="274320"/>
          </a:xfrm>
          <a:prstGeom prst="rect">
            <a:avLst/>
          </a:prstGeom>
          <a:noFill/>
          <a:ln/>
        </p:spPr>
        <p:txBody>
          <a:bodyPr wrap="non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4" name="Text 84"/>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en-GB" sz="100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en-GB" sz="1000" dirty="0">
                <a:solidFill>
                  <a:srgbClr val="9AA4C2"/>
                </a:solidFill>
                <a:latin typeface="Inter Text" pitchFamily="34" charset="0"/>
                <a:ea typeface="Inter Text" pitchFamily="34" charset="-122"/>
                <a:cs typeface="Inter Text" pitchFamily="34" charset="-120"/>
              </a:rPr>
              <a:t>VAT category tax amount</a:t>
            </a:r>
          </a:p>
        </p:txBody>
      </p:sp>
      <p:sp>
        <p:nvSpPr>
          <p:cNvPr id="85" name="Text 85"/>
          <p:cNvSpPr txBox="1"/>
          <p:nvPr/>
        </p:nvSpPr>
        <p:spPr>
          <a:xfrm>
            <a:off x="9994392" y="4626864"/>
            <a:ext cx="1188720" cy="274320"/>
          </a:xfrm>
          <a:prstGeom prst="rect">
            <a:avLst/>
          </a:prstGeom>
          <a:noFill/>
          <a:ln/>
        </p:spPr>
        <p:txBody>
          <a:bodyPr wrap="non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6" name="Text 86"/>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en-GB" sz="100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en-GB" sz="1000" dirty="0">
                <a:solidFill>
                  <a:srgbClr val="9AA4C2"/>
                </a:solidFill>
                <a:latin typeface="Inter Text" pitchFamily="34" charset="0"/>
                <a:ea typeface="Inter Text" pitchFamily="34" charset="-122"/>
                <a:cs typeface="Inter Text" pitchFamily="34" charset="-120"/>
              </a:rPr>
              <a:t>Invoice total VAT amount</a:t>
            </a:r>
          </a:p>
        </p:txBody>
      </p:sp>
      <p:sp>
        <p:nvSpPr>
          <p:cNvPr id="87" name="Text 87"/>
          <p:cNvSpPr txBox="1"/>
          <p:nvPr/>
        </p:nvSpPr>
        <p:spPr>
          <a:xfrm>
            <a:off x="9994392" y="4901184"/>
            <a:ext cx="1188720" cy="274320"/>
          </a:xfrm>
          <a:prstGeom prst="rect">
            <a:avLst/>
          </a:prstGeom>
          <a:noFill/>
          <a:ln/>
        </p:spPr>
        <p:txBody>
          <a:bodyPr wrap="none" lIns="0" tIns="0" rIns="0" bIns="0" rtlCol="0" anchor="ctr"/>
          <a:lstStyle/>
          <a:p>
            <a:pPr marL="0" indent="0" algn="r">
              <a:buNone/>
            </a:pPr>
            <a:r>
              <a:rPr lang="en-GB" sz="10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88" name="Text 88"/>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en-GB"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en-GB" sz="950" dirty="0">
                <a:solidFill>
                  <a:srgbClr val="9AA4C2"/>
                </a:solidFill>
                <a:latin typeface="Inter Text" pitchFamily="34" charset="0"/>
                <a:ea typeface="Inter Text" pitchFamily="34" charset="-122"/>
                <a:cs typeface="Inter Text" pitchFamily="34" charset="-120"/>
              </a:rPr>
              <a:t>with number of lines and quantity:</a:t>
            </a:r>
          </a:p>
          <a:p>
            <a:pPr marL="0" indent="0" algn="l">
              <a:buNone/>
            </a:pPr>
            <a:r>
              <a:rPr lang="en-GB" sz="950" dirty="0">
                <a:solidFill>
                  <a:srgbClr val="9AA4C2"/>
                </a:solidFill>
                <a:latin typeface="Inter Text" pitchFamily="34" charset="0"/>
                <a:ea typeface="Inter Text" pitchFamily="34" charset="-122"/>
                <a:cs typeface="Inter Text" pitchFamily="34" charset="-120"/>
              </a:rPr>
              <a:t>→ “How large does the deviation get?”</a:t>
            </a:r>
          </a:p>
        </p:txBody>
      </p:sp>
      <p:sp>
        <p:nvSpPr>
          <p:cNvPr id="89" name="Text 89"/>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en-GB" sz="8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850" dirty="0">
                <a:solidFill>
                  <a:srgbClr val="9AA4C2"/>
                </a:solidFill>
                <a:latin typeface="Inter Text" pitchFamily="34" charset="0"/>
                <a:ea typeface="Inter Text" pitchFamily="34" charset="-122"/>
                <a:cs typeface="Inter Text" pitchFamily="34" charset="-120"/>
              </a:rPr>
              <a:t> = rounded intermediate value   </a:t>
            </a:r>
            <a:r>
              <a:rPr lang="en-GB" sz="8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850" dirty="0">
                <a:solidFill>
                  <a:srgbClr val="9AA4C2"/>
                </a:solidFill>
                <a:latin typeface="Inter Text" pitchFamily="34" charset="0"/>
                <a:ea typeface="Inter Text" pitchFamily="34" charset="-122"/>
                <a:cs typeface="Inter Text" pitchFamily="34" charset="-120"/>
              </a:rPr>
              <a:t> = paid amount, rounded once (bank)   </a:t>
            </a:r>
            <a:r>
              <a:rPr lang="en-GB"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en-GB" sz="850" dirty="0">
                <a:solidFill>
                  <a:srgbClr val="9AA4C2"/>
                </a:solidFill>
                <a:latin typeface="Inter Text" pitchFamily="34" charset="0"/>
                <a:ea typeface="Inter Text" pitchFamily="34" charset="-122"/>
                <a:cs typeface="Inter Text" pitchFamily="34" charset="-120"/>
              </a:rPr>
              <a:t> = rounded input value</a:t>
            </a:r>
          </a:p>
          <a:p>
            <a:pPr marL="0" indent="0" algn="l">
              <a:buNone/>
            </a:pPr>
            <a:r>
              <a:rPr lang="en-GB" sz="850" dirty="0">
                <a:solidFill>
                  <a:srgbClr val="9AA4C2"/>
                </a:solidFill>
                <a:latin typeface="Inter Text" pitchFamily="34" charset="0"/>
                <a:ea typeface="Inter Text" pitchFamily="34" charset="-122"/>
                <a:cs typeface="Inter Text" pitchFamily="34" charset="-120"/>
              </a:rPr>
              <a:t>dp = decimal places · Minor Unit = smallest currency unit, ISO 4217 (EUR: 2 dp) · ± for 100 lines of 100 units, 19% VAT</a:t>
            </a:r>
          </a:p>
          <a:p>
            <a:pPr marL="0" indent="0" algn="l">
              <a:buNone/>
            </a:pPr>
            <a:r>
              <a:rPr lang="en-GB" sz="850" dirty="0">
                <a:solidFill>
                  <a:srgbClr val="D32F2F"/>
                </a:solidFill>
                <a:latin typeface="Inter SemiBold Text SemiBold" pitchFamily="34" charset="0"/>
                <a:ea typeface="Inter SemiBold Text SemiBold" pitchFamily="34" charset="-122"/>
                <a:cs typeface="Inter SemiBold Text SemiBold" pitchFamily="34" charset="-120"/>
              </a:rPr>
              <a:t>Rain</a:t>
            </a:r>
            <a:r>
              <a:rPr lang="en-GB"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en-GB" sz="850" dirty="0">
                <a:solidFill>
                  <a:srgbClr val="1565C0"/>
                </a:solidFill>
                <a:latin typeface="Inter SemiBold Text SemiBold" pitchFamily="34" charset="0"/>
                <a:ea typeface="Inter SemiBold Text SemiBold" pitchFamily="34" charset="-122"/>
                <a:cs typeface="Inter SemiBold Text SemiBold" pitchFamily="34" charset="-120"/>
              </a:rPr>
              <a:t>w</a:t>
            </a:r>
            <a:r>
              <a:rPr lang="en-GB" sz="850" dirty="0">
                <a:solidFill>
                  <a:srgbClr val="9AA4C2"/>
                </a:solidFill>
                <a:latin typeface="Inter Text" pitchFamily="34" charset="0"/>
                <a:ea typeface="Inter Text" pitchFamily="34" charset="-122"/>
                <a:cs typeface="Inter Text" pitchFamily="34" charset="-120"/>
              </a:rPr>
              <a:t> = order of the calculation steps; a BT keeps its colour where it is reused further down</a:t>
            </a:r>
          </a:p>
        </p:txBody>
      </p:sp>
      <p:sp>
        <p:nvSpPr>
          <p:cNvPr id="90" name="Card 90"/>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1" name="Pill 91"/>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2" name="Text 92"/>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Amount due for payment</a:t>
            </a:r>
          </a:p>
        </p:txBody>
      </p:sp>
      <p:sp>
        <p:nvSpPr>
          <p:cNvPr id="93" name="Text 93"/>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en-GB" sz="800" dirty="0">
                <a:solidFill>
                  <a:srgbClr val="5B6890"/>
                </a:solidFill>
                <a:latin typeface="Inter Text" pitchFamily="34" charset="0"/>
                <a:ea typeface="Inter Text" pitchFamily="34" charset="-122"/>
                <a:cs typeface="Inter Text" pitchFamily="34" charset="-120"/>
              </a:rPr>
              <a:t> Invoice total amount without VAT</a:t>
            </a:r>
            <a:br>
              <a:rPr lang="en-GB" sz="800" dirty="0">
                <a:solidFill>
                  <a:srgbClr val="5B6890"/>
                </a:solidFill>
                <a:latin typeface="Inter Text" pitchFamily="34" charset="0"/>
                <a:ea typeface="Inter Text" pitchFamily="34" charset="-122"/>
                <a:cs typeface="Inter Text" pitchFamily="34" charset="-120"/>
              </a:rPr>
            </a:b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en-GB" sz="800" dirty="0">
                <a:solidFill>
                  <a:srgbClr val="5B6890"/>
                </a:solidFill>
                <a:latin typeface="Inter Text" pitchFamily="34" charset="0"/>
                <a:ea typeface="Inter Text" pitchFamily="34" charset="-122"/>
                <a:cs typeface="Inter Text" pitchFamily="34" charset="-120"/>
              </a:rPr>
              <a:t> Paid amount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en-GB" sz="800" dirty="0">
                <a:solidFill>
                  <a:srgbClr val="5B6890"/>
                </a:solidFill>
                <a:latin typeface="Inter Text" pitchFamily="34" charset="0"/>
                <a:ea typeface="Inter Text" pitchFamily="34" charset="-122"/>
                <a:cs typeface="Inter Text" pitchFamily="34" charset="-120"/>
              </a:rPr>
              <a:t> Rounding amount</a:t>
            </a:r>
          </a:p>
        </p:txBody>
      </p:sp>
      <p:sp>
        <p:nvSpPr>
          <p:cNvPr id="94" name="Pill 94"/>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1E8A4C"/>
                </a:solidFill>
                <a:latin typeface="Inter Text" pitchFamily="34" charset="0"/>
                <a:ea typeface="Inter Text" pitchFamily="34" charset="-122"/>
                <a:cs typeface="Inter Text" pitchFamily="34" charset="-120"/>
              </a:rPr>
              <a:t>final value · bank</a:t>
            </a:r>
          </a:p>
        </p:txBody>
      </p:sp>
      <p:sp>
        <p:nvSpPr>
          <p:cNvPr id="95" name="Text 95"/>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en-GB" sz="1300" b="1" dirty="0">
                <a:solidFill>
                  <a:srgbClr val="C0392B"/>
                </a:solidFill>
                <a:latin typeface="Consolas" pitchFamily="34" charset="0"/>
                <a:ea typeface="Consolas" pitchFamily="34" charset="-122"/>
                <a:cs typeface="Consolas" pitchFamily="34" charset="-120"/>
              </a:rPr>
              <a:t>± €1.19</a:t>
            </a:r>
          </a:p>
        </p:txBody>
      </p:sp>
      <p:sp>
        <p:nvSpPr>
          <p:cNvPr id="96" name="Text 96"/>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€1.00 + €0.19</a:t>
            </a:r>
          </a:p>
        </p:txBody>
      </p:sp>
      <p:cxnSp>
        <p:nvCxnSpPr>
          <p:cNvPr id="97" name="Connector 97"/>
          <p:cNvCxnSpPr/>
          <p:nvPr/>
        </p:nvCxnSpPr>
        <p:spPr>
          <a:xfrm>
            <a:off x="1303020" y="5678424"/>
            <a:ext cx="0" cy="36576"/>
          </a:xfrm>
          <a:prstGeom prst="line">
            <a:avLst/>
          </a:prstGeom>
          <a:ln w="15875">
            <a:solidFill>
              <a:srgbClr val="9AA4C2"/>
            </a:solidFill>
          </a:ln>
        </p:spPr>
      </p:cxnSp>
      <p:sp>
        <p:nvSpPr>
          <p:cNvPr id="98" name="Text 98"/>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en-GB" sz="100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en-GB" sz="1000" dirty="0">
                <a:solidFill>
                  <a:srgbClr val="9AA4C2"/>
                </a:solidFill>
                <a:latin typeface="Inter Text" pitchFamily="34" charset="0"/>
                <a:ea typeface="Inter Text" pitchFamily="34" charset="-122"/>
                <a:cs typeface="Inter Text" pitchFamily="34" charset="-120"/>
              </a:rPr>
              <a:t>Amount due for payment</a:t>
            </a:r>
          </a:p>
        </p:txBody>
      </p:sp>
      <p:sp>
        <p:nvSpPr>
          <p:cNvPr id="99" name="Text 99"/>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en-GB"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100" name="Reuse 100"/>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en-GB"/>
          </a:p>
        </p:txBody>
      </p:sp>
      <p:sp>
        <p:nvSpPr>
          <p:cNvPr id="101" name="Reuse 101"/>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en-GB"/>
          </a:p>
        </p:txBody>
      </p:sp>
      <p:sp>
        <p:nvSpPr>
          <p:cNvPr id="102" name="Reuse 102"/>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en-GB"/>
          </a:p>
        </p:txBody>
      </p:sp>
      <p:sp>
        <p:nvSpPr>
          <p:cNvPr id="103" name="Reuse 103"/>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en-GB"/>
          </a:p>
        </p:txBody>
      </p:sp>
      <p:sp>
        <p:nvSpPr>
          <p:cNvPr id="104" name="Reuse 104"/>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en-GB"/>
          </a:p>
        </p:txBody>
      </p:sp>
      <p:sp>
        <p:nvSpPr>
          <p:cNvPr id="105" name="Reuse 105"/>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en-GB"/>
          </a:p>
        </p:txBody>
      </p:sp>
      <p:sp>
        <p:nvSpPr>
          <p:cNvPr id="106" name="Text 106"/>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en-GB" sz="700" dirty="0">
                <a:solidFill>
                  <a:srgbClr val="9AA4C2"/>
                </a:solidFill>
                <a:latin typeface="Inter Text" pitchFamily="34" charset="0"/>
                <a:ea typeface="Inter Text" pitchFamily="34" charset="-122"/>
                <a:cs typeface="Inter Text" pitchFamily="34" charset="-120"/>
              </a:rPr>
              <a:t>Item gross price</a:t>
            </a:r>
          </a:p>
        </p:txBody>
      </p:sp>
      <p:sp>
        <p:nvSpPr>
          <p:cNvPr id="107" name="Text 107"/>
          <p:cNvSpPr txBox="1"/>
          <p:nvPr/>
        </p:nvSpPr>
        <p:spPr>
          <a:xfrm>
            <a:off x="9994392" y="2542032"/>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 + 2</a:t>
            </a:r>
          </a:p>
        </p:txBody>
      </p:sp>
      <p:sp>
        <p:nvSpPr>
          <p:cNvPr id="108" name="Text 108"/>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en-GB" sz="700" dirty="0">
                <a:solidFill>
                  <a:srgbClr val="9AA4C2"/>
                </a:solidFill>
                <a:latin typeface="Inter Text" pitchFamily="34" charset="0"/>
                <a:ea typeface="Inter Text" pitchFamily="34" charset="-122"/>
                <a:cs typeface="Inter Text" pitchFamily="34" charset="-120"/>
              </a:rPr>
              <a:t>Item price discount</a:t>
            </a:r>
          </a:p>
        </p:txBody>
      </p:sp>
      <p:sp>
        <p:nvSpPr>
          <p:cNvPr id="109" name="Text 109"/>
          <p:cNvSpPr txBox="1"/>
          <p:nvPr/>
        </p:nvSpPr>
        <p:spPr>
          <a:xfrm>
            <a:off x="9994392" y="2655875"/>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 + 2</a:t>
            </a:r>
          </a:p>
        </p:txBody>
      </p:sp>
      <p:sp>
        <p:nvSpPr>
          <p:cNvPr id="110" name="Text 110"/>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en-GB" sz="70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en-GB" sz="700" dirty="0">
                <a:solidFill>
                  <a:srgbClr val="9AA4C2"/>
                </a:solidFill>
                <a:latin typeface="Inter Text" pitchFamily="34" charset="0"/>
                <a:ea typeface="Inter Text" pitchFamily="34" charset="-122"/>
                <a:cs typeface="Inter Text" pitchFamily="34" charset="-120"/>
              </a:rPr>
              <a:t>Item net price</a:t>
            </a:r>
          </a:p>
        </p:txBody>
      </p:sp>
      <p:sp>
        <p:nvSpPr>
          <p:cNvPr id="111" name="Text 111"/>
          <p:cNvSpPr txBox="1"/>
          <p:nvPr/>
        </p:nvSpPr>
        <p:spPr>
          <a:xfrm>
            <a:off x="9994392" y="2769718"/>
            <a:ext cx="1188720" cy="113843"/>
          </a:xfrm>
          <a:prstGeom prst="rect">
            <a:avLst/>
          </a:prstGeom>
          <a:noFill/>
          <a:ln/>
        </p:spPr>
        <p:txBody>
          <a:bodyPr wrap="non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Minor Unit + 2</a:t>
            </a:r>
          </a:p>
        </p:txBody>
      </p:sp>
      <p:sp>
        <p:nvSpPr>
          <p:cNvPr id="112" name="Text 112"/>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en-GB" sz="700" dirty="0">
                <a:solidFill>
                  <a:srgbClr val="9AA4C2"/>
                </a:solidFill>
                <a:latin typeface="Inter Text" pitchFamily="34" charset="0"/>
                <a:ea typeface="Inter Text" pitchFamily="34" charset="-122"/>
                <a:cs typeface="Inter Text" pitchFamily="34" charset="-120"/>
              </a:rPr>
              <a:t>Invoiced quantity</a:t>
            </a:r>
          </a:p>
        </p:txBody>
      </p:sp>
      <p:sp>
        <p:nvSpPr>
          <p:cNvPr id="113" name="Text 113"/>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4 dp</a:t>
            </a:r>
          </a:p>
        </p:txBody>
      </p:sp>
      <p:sp>
        <p:nvSpPr>
          <p:cNvPr id="114" name="Text 114"/>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en-GB" sz="700" dirty="0">
                <a:solidFill>
                  <a:srgbClr val="9AA4C2"/>
                </a:solidFill>
                <a:latin typeface="Inter Text" pitchFamily="34" charset="0"/>
                <a:ea typeface="Inter Text" pitchFamily="34" charset="-122"/>
                <a:cs typeface="Inter Text" pitchFamily="34" charset="-120"/>
              </a:rPr>
              <a:t>Item price base quantity</a:t>
            </a:r>
          </a:p>
        </p:txBody>
      </p:sp>
      <p:sp>
        <p:nvSpPr>
          <p:cNvPr id="115" name="Text 115"/>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2 dp</a:t>
            </a:r>
          </a:p>
        </p:txBody>
      </p:sp>
      <p:sp>
        <p:nvSpPr>
          <p:cNvPr id="116" name="Text 116"/>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en-GB" sz="700" dirty="0">
                <a:solidFill>
                  <a:srgbClr val="9AA4C2"/>
                </a:solidFill>
                <a:latin typeface="Inter Text" pitchFamily="34" charset="0"/>
                <a:ea typeface="Inter Text" pitchFamily="34" charset="-122"/>
                <a:cs typeface="Inter Text" pitchFamily="34" charset="-120"/>
              </a:rPr>
              <a:t>Invoice line charge or tax amount</a:t>
            </a:r>
          </a:p>
        </p:txBody>
      </p:sp>
      <p:sp>
        <p:nvSpPr>
          <p:cNvPr id="117" name="Text 117"/>
          <p:cNvSpPr txBox="1"/>
          <p:nvPr/>
        </p:nvSpPr>
        <p:spPr>
          <a:xfrm>
            <a:off x="9994392" y="3111246"/>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18" name="Text 118"/>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en-GB" sz="700" dirty="0">
                <a:solidFill>
                  <a:srgbClr val="9AA4C2"/>
                </a:solidFill>
                <a:latin typeface="Inter Text" pitchFamily="34" charset="0"/>
                <a:ea typeface="Inter Text" pitchFamily="34" charset="-122"/>
                <a:cs typeface="Inter Text" pitchFamily="34" charset="-120"/>
              </a:rPr>
              <a:t>Invoice line allowance amount</a:t>
            </a:r>
          </a:p>
        </p:txBody>
      </p:sp>
      <p:sp>
        <p:nvSpPr>
          <p:cNvPr id="119" name="Text 119"/>
          <p:cNvSpPr txBox="1"/>
          <p:nvPr/>
        </p:nvSpPr>
        <p:spPr>
          <a:xfrm>
            <a:off x="9994392" y="3225089"/>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0" name="Text 120"/>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en-GB" sz="70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en-GB" sz="700" dirty="0">
                <a:solidFill>
                  <a:srgbClr val="9AA4C2"/>
                </a:solidFill>
                <a:latin typeface="Inter Text" pitchFamily="34" charset="0"/>
                <a:ea typeface="Inter Text" pitchFamily="34" charset="-122"/>
                <a:cs typeface="Inter Text" pitchFamily="34" charset="-120"/>
              </a:rPr>
              <a:t>Invoice line net amount</a:t>
            </a:r>
          </a:p>
        </p:txBody>
      </p:sp>
      <p:sp>
        <p:nvSpPr>
          <p:cNvPr id="121" name="Text 121"/>
          <p:cNvSpPr txBox="1"/>
          <p:nvPr/>
        </p:nvSpPr>
        <p:spPr>
          <a:xfrm>
            <a:off x="9994392" y="3338932"/>
            <a:ext cx="1188720" cy="113843"/>
          </a:xfrm>
          <a:prstGeom prst="rect">
            <a:avLst/>
          </a:prstGeom>
          <a:noFill/>
          <a:ln/>
        </p:spPr>
        <p:txBody>
          <a:bodyPr wrap="non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122" name="Text 122"/>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en-GB" sz="70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en-GB" sz="700" dirty="0">
                <a:solidFill>
                  <a:srgbClr val="9AA4C2"/>
                </a:solidFill>
                <a:latin typeface="Inter Text" pitchFamily="34" charset="0"/>
                <a:ea typeface="Inter Text" pitchFamily="34" charset="-122"/>
                <a:cs typeface="Inter Text" pitchFamily="34" charset="-120"/>
              </a:rPr>
              <a:t>Sum of invoice line net amount</a:t>
            </a:r>
          </a:p>
        </p:txBody>
      </p:sp>
      <p:sp>
        <p:nvSpPr>
          <p:cNvPr id="123" name="Text 123"/>
          <p:cNvSpPr txBox="1"/>
          <p:nvPr/>
        </p:nvSpPr>
        <p:spPr>
          <a:xfrm>
            <a:off x="9994392" y="3452774"/>
            <a:ext cx="1188720" cy="113843"/>
          </a:xfrm>
          <a:prstGeom prst="rect">
            <a:avLst/>
          </a:prstGeom>
          <a:noFill/>
          <a:ln/>
        </p:spPr>
        <p:txBody>
          <a:bodyPr wrap="none" lIns="0" tIns="0" rIns="0" bIns="0" rtlCol="0" anchor="ctr"/>
          <a:lstStyle/>
          <a:p>
            <a:pPr marL="0" indent="0" algn="r">
              <a:buNone/>
            </a:pPr>
            <a:r>
              <a:rPr lang="en-GB" sz="700" dirty="0">
                <a:solidFill>
                  <a:srgbClr val="FF8A80"/>
                </a:solidFill>
                <a:latin typeface="Inter SemiBold Text SemiBold" pitchFamily="34" charset="0"/>
                <a:ea typeface="Inter SemiBold Text SemiBold" pitchFamily="34" charset="-122"/>
                <a:cs typeface="Inter SemiBold Text SemiBold" pitchFamily="34" charset="-120"/>
              </a:rPr>
              <a:t>Minor Unit</a:t>
            </a:r>
          </a:p>
        </p:txBody>
      </p:sp>
      <p:sp>
        <p:nvSpPr>
          <p:cNvPr id="124" name="Text 124"/>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BT-99 </a:t>
            </a:r>
            <a:r>
              <a:rPr lang="en-GB" sz="700" dirty="0">
                <a:solidFill>
                  <a:srgbClr val="9AA4C2"/>
                </a:solidFill>
                <a:latin typeface="Inter Text" pitchFamily="34" charset="0"/>
                <a:ea typeface="Inter Text" pitchFamily="34" charset="-122"/>
                <a:cs typeface="Inter Text" pitchFamily="34" charset="-120"/>
              </a:rPr>
              <a:t>Document level charge or tax amount</a:t>
            </a:r>
          </a:p>
        </p:txBody>
      </p:sp>
      <p:sp>
        <p:nvSpPr>
          <p:cNvPr id="125" name="Text 125"/>
          <p:cNvSpPr txBox="1"/>
          <p:nvPr/>
        </p:nvSpPr>
        <p:spPr>
          <a:xfrm>
            <a:off x="9994392" y="3566617"/>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6" name="Text 126"/>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BT-92 </a:t>
            </a:r>
            <a:r>
              <a:rPr lang="en-GB" sz="700" dirty="0">
                <a:solidFill>
                  <a:srgbClr val="9AA4C2"/>
                </a:solidFill>
                <a:latin typeface="Inter Text" pitchFamily="34" charset="0"/>
                <a:ea typeface="Inter Text" pitchFamily="34" charset="-122"/>
                <a:cs typeface="Inter Text" pitchFamily="34" charset="-120"/>
              </a:rPr>
              <a:t>Document level allowance amount</a:t>
            </a:r>
          </a:p>
        </p:txBody>
      </p:sp>
      <p:sp>
        <p:nvSpPr>
          <p:cNvPr id="127" name="Text 127"/>
          <p:cNvSpPr txBox="1"/>
          <p:nvPr/>
        </p:nvSpPr>
        <p:spPr>
          <a:xfrm>
            <a:off x="9994392" y="3680460"/>
            <a:ext cx="1188720" cy="113843"/>
          </a:xfrm>
          <a:prstGeom prst="rect">
            <a:avLst/>
          </a:prstGeom>
          <a:noFill/>
          <a:ln/>
        </p:spPr>
        <p:txBody>
          <a:bodyPr wrap="none" lIns="0" tIns="0" rIns="0" bIns="0" rtlCol="0" anchor="ctr"/>
          <a:lstStyle/>
          <a:p>
            <a:pPr marL="0" indent="0" algn="r">
              <a:buNone/>
            </a:pPr>
            <a:r>
              <a:rPr lang="en-GB" sz="700" dirty="0">
                <a:solidFill>
                  <a:srgbClr val="FFB547"/>
                </a:solidFill>
                <a:latin typeface="Inter SemiBold Text SemiBold" pitchFamily="34" charset="0"/>
                <a:ea typeface="Inter SemiBold Text SemiBold" pitchFamily="34" charset="-122"/>
                <a:cs typeface="Inter SemiBold Text SemiBold" pitchFamily="34" charset="-120"/>
              </a:rPr>
              <a:t>Minor Unit</a:t>
            </a:r>
          </a:p>
        </p:txBody>
      </p:sp>
      <p:sp>
        <p:nvSpPr>
          <p:cNvPr id="128" name="Text 128"/>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en-GB" sz="700" dirty="0">
                <a:solidFill>
                  <a:srgbClr val="9AA4C2"/>
                </a:solidFill>
                <a:latin typeface="Inter Text" pitchFamily="34" charset="0"/>
                <a:ea typeface="Inter Text" pitchFamily="34" charset="-122"/>
                <a:cs typeface="Inter Text" pitchFamily="34" charset="-120"/>
              </a:rPr>
              <a:t>VAT category rate (law)</a:t>
            </a:r>
          </a:p>
        </p:txBody>
      </p:sp>
      <p:sp>
        <p:nvSpPr>
          <p:cNvPr id="129" name="Text 129"/>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2 dp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Folie 29">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EN 16931-1:2017</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How large does the deviation get?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CFF8C59E-DB43-45C8-AAB1-F463E6DDD355}"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7</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One factor: the number of lines n — each line rounds </a:t>
            </a:r>
            <a:r>
              <a:rPr lang="en-GB" sz="13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300" dirty="0">
                <a:solidFill>
                  <a:srgbClr val="EF6C00"/>
                </a:solidFill>
                <a:latin typeface="Inter Text" pitchFamily="34" charset="0"/>
                <a:ea typeface="Inter Text" pitchFamily="34" charset="-122"/>
                <a:cs typeface="Inter Text" pitchFamily="34" charset="-120"/>
              </a:rPr>
              <a:t> Invoice line net amount</a:t>
            </a:r>
            <a:r>
              <a:rPr lang="en-GB" sz="1300" dirty="0">
                <a:solidFill>
                  <a:srgbClr val="5B6890"/>
                </a:solidFill>
                <a:latin typeface="Inter Text" pitchFamily="34" charset="0"/>
                <a:ea typeface="Inter Text" pitchFamily="34" charset="-122"/>
                <a:cs typeface="Inter Text" pitchFamily="34" charset="-120"/>
              </a:rPr>
              <a:t> and loses up to ± €0.005.</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1 · price rounding × quantity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050" dirty="0">
                <a:solidFill>
                  <a:srgbClr val="D32F2F"/>
                </a:solidFill>
                <a:latin typeface="Inter Text" pitchFamily="34" charset="0"/>
                <a:ea typeface="Inter Text" pitchFamily="34" charset="-122"/>
                <a:cs typeface="Inter Text" pitchFamily="34" charset="-120"/>
              </a:rPr>
              <a:t> Item net price</a:t>
            </a:r>
            <a:r>
              <a:rPr lang="en-GB" sz="1050" dirty="0">
                <a:solidFill>
                  <a:srgbClr val="5B6890"/>
                </a:solidFill>
                <a:latin typeface="Inter Text" pitchFamily="34" charset="0"/>
                <a:ea typeface="Inter Text" pitchFamily="34" charset="-122"/>
                <a:cs typeface="Inter Text" pitchFamily="34" charset="-120"/>
              </a:rPr>
              <a:t> is unlimited in 2017 — the price is not rounded, so the quantity magnifies no error.</a:t>
            </a:r>
          </a:p>
        </p:txBody>
      </p:sp>
      <p:sp>
        <p:nvSpPr>
          <p:cNvPr id="14" name="Pill 14"/>
          <p:cNvSpPr/>
          <p:nvPr/>
        </p:nvSpPr>
        <p:spPr>
          <a:xfrm>
            <a:off x="1097280"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150" b="1" dirty="0">
                <a:solidFill>
                  <a:srgbClr val="1E8A4C"/>
                </a:solidFill>
                <a:latin typeface="Consolas" pitchFamily="34" charset="0"/>
                <a:ea typeface="Consolas" pitchFamily="34" charset="-122"/>
                <a:cs typeface="Consolas" pitchFamily="34" charset="-120"/>
              </a:rPr>
              <a:t>none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IconCircle 16"/>
          <p:cNvSpPr/>
          <p:nvPr/>
        </p:nvSpPr>
        <p:spPr>
          <a:xfrm>
            <a:off x="6437376"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2 · number of lines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en-GB" sz="1050" dirty="0">
                <a:solidFill>
                  <a:srgbClr val="5B6890"/>
                </a:solidFill>
                <a:latin typeface="Inter Text" pitchFamily="34" charset="0"/>
                <a:ea typeface="Inter Text" pitchFamily="34" charset="-122"/>
                <a:cs typeface="Inter Text" pitchFamily="34" charset="-120"/>
              </a:rPr>
              <a:t>Each line rounds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to</a:t>
            </a:r>
            <a:r>
              <a:rPr lang="en-GB" sz="1050" dirty="0">
                <a:solidFill>
                  <a:srgbClr val="5B6890"/>
                </a:solidFill>
                <a:latin typeface="Inter Text" pitchFamily="34" charset="0"/>
                <a:ea typeface="Inter Text" pitchFamily="34" charset="-122"/>
                <a:cs typeface="Inter Text" pitchFamily="34" charset="-120"/>
              </a:rPr>
              <a:t> 2 decimal places: up to ± €0.005. </a:t>
            </a:r>
            <a:r>
              <a:rPr lang="en-GB" sz="10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1050" dirty="0">
                <a:solidFill>
                  <a:srgbClr val="C79100"/>
                </a:solidFill>
                <a:latin typeface="Inter Text" pitchFamily="34" charset="0"/>
                <a:ea typeface="Inter Text" pitchFamily="34" charset="-122"/>
                <a:cs typeface="Inter Text" pitchFamily="34" charset="-120"/>
              </a:rPr>
              <a:t> Sum of invoice</a:t>
            </a:r>
            <a:r>
              <a:rPr lang="en-GB" sz="1050" dirty="0">
                <a:solidFill>
                  <a:srgbClr val="C79100"/>
                </a:solidFill>
                <a:latin typeface="Inter Text" pitchFamily="34" charset="0"/>
                <a:ea typeface="Inter Text" pitchFamily="34" charset="-122"/>
                <a:cs typeface="Inter Text" pitchFamily="34" charset="-120"/>
              </a:rPr>
              <a:t> line net amount</a:t>
            </a:r>
            <a:r>
              <a:rPr lang="en-GB" sz="1050" dirty="0">
                <a:solidFill>
                  <a:srgbClr val="5B6890"/>
                </a:solidFill>
                <a:latin typeface="Inter Text" pitchFamily="34" charset="0"/>
                <a:ea typeface="Inter Text" pitchFamily="34" charset="-122"/>
                <a:cs typeface="Inter Text" pitchFamily="34" charset="-120"/>
              </a:rPr>
              <a:t> and </a:t>
            </a:r>
            <a:r>
              <a:rPr lang="en-GB" sz="10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1050" dirty="0">
                <a:solidFill>
                  <a:srgbClr val="2E7D32"/>
                </a:solidFill>
                <a:latin typeface="Inter Text" pitchFamily="34" charset="0"/>
                <a:ea typeface="Inter Text" pitchFamily="34" charset="-122"/>
                <a:cs typeface="Inter Text" pitchFamily="34" charset="-120"/>
              </a:rPr>
              <a:t> VAT category taxable amount</a:t>
            </a:r>
            <a:r>
              <a:rPr lang="en-GB" sz="1050" dirty="0">
                <a:solidFill>
                  <a:srgbClr val="5B6890"/>
                </a:solidFill>
                <a:latin typeface="Inter Text" pitchFamily="34" charset="0"/>
                <a:ea typeface="Inter Text" pitchFamily="34" charset="-122"/>
                <a:cs typeface="Inter Text" pitchFamily="34" charset="-120"/>
              </a:rPr>
              <a:t> add up all n</a:t>
            </a:r>
            <a:r>
              <a:rPr lang="en-GB" sz="1050" dirty="0">
                <a:solidFill>
                  <a:srgbClr val="5B6890"/>
                </a:solidFill>
                <a:latin typeface="Inter Text" pitchFamily="34" charset="0"/>
                <a:ea typeface="Inter Text" pitchFamily="34" charset="-122"/>
                <a:cs typeface="Inter Text" pitchFamily="34" charset="-120"/>
              </a:rPr>
              <a:t> lines — and with them the errors of all lines.</a:t>
            </a:r>
          </a:p>
        </p:txBody>
      </p:sp>
      <p:sp>
        <p:nvSpPr>
          <p:cNvPr id="20" name="Pill 20"/>
          <p:cNvSpPr/>
          <p:nvPr/>
        </p:nvSpPr>
        <p:spPr>
          <a:xfrm>
            <a:off x="6473952"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marL="0" indent="0" algn="ctr">
              <a:buNone/>
            </a:pPr>
            <a:r>
              <a:rPr lang="en-GB" sz="1150" b="1" dirty="0">
                <a:solidFill>
                  <a:srgbClr val="C0392B"/>
                </a:solidFill>
                <a:latin typeface="Consolas" pitchFamily="34" charset="0"/>
                <a:ea typeface="Consolas" pitchFamily="34" charset="-122"/>
                <a:cs typeface="Consolas" pitchFamily="34" charset="-120"/>
              </a:rPr>
              <a:t>± n × €0.005</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en-GB" sz="950" spc="120" dirty="0">
                <a:solidFill>
                  <a:srgbClr val="0E7E82"/>
                </a:solidFill>
                <a:latin typeface="Inter SemiBold Text SemiBold" pitchFamily="34" charset="0"/>
                <a:ea typeface="Inter SemiBold Text SemiBold" pitchFamily="34" charset="-122"/>
                <a:cs typeface="Inter SemiBold Text SemiBold" pitchFamily="34" charset="-120"/>
              </a:rPr>
              <a:t>NET DEVIATION  </a:t>
            </a:r>
            <a:r>
              <a:rPr lang="en-GB"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950" dirty="0">
                <a:solidFill>
                  <a:srgbClr val="C79100"/>
                </a:solidFill>
                <a:latin typeface="Inter Text" pitchFamily="34" charset="0"/>
                <a:ea typeface="Inter Text" pitchFamily="34" charset="-122"/>
                <a:cs typeface="Inter Text" pitchFamily="34" charset="-120"/>
              </a:rPr>
              <a:t> Sum of invoice line net amount</a:t>
            </a:r>
            <a:r>
              <a:rPr lang="en-GB" sz="950" dirty="0">
                <a:solidFill>
                  <a:srgbClr val="5B6890"/>
                </a:solidFill>
                <a:latin typeface="Inter Text" pitchFamily="34" charset="0"/>
                <a:ea typeface="Inter Text" pitchFamily="34" charset="-122"/>
                <a:cs typeface="Inter Text" pitchFamily="34" charset="-120"/>
              </a:rPr>
              <a:t> / </a:t>
            </a:r>
            <a:r>
              <a:rPr lang="en-GB"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950" dirty="0">
                <a:solidFill>
                  <a:srgbClr val="2E7D32"/>
                </a:solidFill>
                <a:latin typeface="Inter Text" pitchFamily="34" charset="0"/>
                <a:ea typeface="Inter Text" pitchFamily="34" charset="-122"/>
                <a:cs typeface="Inter Text" pitchFamily="34" charset="-120"/>
              </a:rPr>
              <a:t> VAT category taxable amount</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en-GB" sz="850" dirty="0">
                          <a:solidFill>
                            <a:srgbClr val="9FB0D8"/>
                          </a:solidFill>
                          <a:latin typeface="Inter Text" pitchFamily="34" charset="0"/>
                          <a:ea typeface="Inter Text" pitchFamily="34" charset="-122"/>
                          <a:cs typeface="Inter Text" pitchFamily="34" charset="-120"/>
                        </a:rPr>
                        <a:t>Units per line (Q) →</a:t>
                      </a:r>
                    </a:p>
                    <a:p>
                      <a:pPr marL="0" indent="0" algn="l">
                        <a:buNone/>
                      </a:pPr>
                      <a:r>
                        <a:rPr lang="en-GB" sz="850" dirty="0">
                          <a:solidFill>
                            <a:srgbClr val="9FB0D8"/>
                          </a:solidFill>
                          <a:latin typeface="Inter Text" pitchFamily="34" charset="0"/>
                          <a:ea typeface="Inter Text" pitchFamily="34" charset="-122"/>
                          <a:cs typeface="Inter Text" pitchFamily="34" charset="-120"/>
                        </a:rPr>
                        <a:t>↓ Lines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 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extLst>
                  <a:ext uri="{0D108BD9-81ED-4DB2-BD59-A6C34878D82A}">
                    <a16:rowId xmlns:a16="http://schemas.microsoft.com/office/drawing/2014/main" val="10001"/>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B26A00"/>
                          </a:solidFill>
                          <a:latin typeface="Consolas" pitchFamily="34" charset="0"/>
                          <a:ea typeface="Consolas" pitchFamily="34" charset="-122"/>
                          <a:cs typeface="Consolas" pitchFamily="34" charset="-120"/>
                        </a:rPr>
                        <a:t>± €0.50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1150" b="1" dirty="0">
                          <a:solidFill>
                            <a:srgbClr val="B26A00"/>
                          </a:solidFill>
                          <a:latin typeface="Consolas" pitchFamily="34" charset="0"/>
                          <a:ea typeface="Consolas" pitchFamily="34" charset="-122"/>
                          <a:cs typeface="Consolas" pitchFamily="34" charset="-120"/>
                        </a:rPr>
                        <a:t>± €0.50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1150" b="1" dirty="0">
                          <a:solidFill>
                            <a:srgbClr val="B26A00"/>
                          </a:solidFill>
                          <a:latin typeface="Consolas" pitchFamily="34" charset="0"/>
                          <a:ea typeface="Consolas" pitchFamily="34" charset="-122"/>
                          <a:cs typeface="Consolas" pitchFamily="34" charset="-120"/>
                        </a:rPr>
                        <a:t>± €0.50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extLst>
                  <a:ext uri="{0D108BD9-81ED-4DB2-BD59-A6C34878D82A}">
                    <a16:rowId xmlns:a16="http://schemas.microsoft.com/office/drawing/2014/main" val="10002"/>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en-GB" sz="1000" spc="150" dirty="0">
                <a:solidFill>
                  <a:srgbClr val="19C3C8"/>
                </a:solidFill>
                <a:latin typeface="Inter SemiBold Text SemiBold" pitchFamily="34" charset="0"/>
                <a:ea typeface="Inter SemiBold Text SemiBold" pitchFamily="34" charset="-122"/>
                <a:cs typeface="Inter SemiBold Text SemiBold" pitchFamily="34" charset="-120"/>
              </a:rPr>
              <a:t>TOTAL · NET</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en-GB" sz="1800" b="1" dirty="0">
                <a:solidFill>
                  <a:srgbClr val="FFFFFF"/>
                </a:solidFill>
                <a:latin typeface="Consolas" pitchFamily="34" charset="0"/>
                <a:ea typeface="Consolas" pitchFamily="34" charset="-122"/>
                <a:cs typeface="Consolas" pitchFamily="34" charset="-120"/>
              </a:rPr>
              <a:t>n × €0.005</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en-GB" sz="1000" dirty="0">
                <a:solidFill>
                  <a:srgbClr val="C2CADE"/>
                </a:solidFill>
                <a:latin typeface="Inter Text" pitchFamily="34" charset="0"/>
                <a:ea typeface="Inter Text" pitchFamily="34" charset="-122"/>
                <a:cs typeface="Inter Text" pitchFamily="34" charset="-120"/>
              </a:rPr>
              <a:t>VAT: 19% of that. Open-ended — the more lines, the larger the deviation.</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en-GB"/>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en-GB" sz="950" dirty="0">
                <a:solidFill>
                  <a:srgbClr val="9AA4C2"/>
                </a:solidFill>
                <a:latin typeface="Inter Text" pitchFamily="34" charset="0"/>
                <a:ea typeface="Inter Text" pitchFamily="34" charset="-122"/>
                <a:cs typeface="Inter Text" pitchFamily="34" charset="-120"/>
              </a:rPr>
              <a:t>100 lines of 10,000 units</a:t>
            </a:r>
          </a:p>
          <a:p>
            <a:pPr marL="0" indent="0" algn="l">
              <a:buNone/>
            </a:pPr>
            <a:r>
              <a:rPr lang="en-GB" sz="1000" dirty="0">
                <a:solidFill>
                  <a:srgbClr val="C2CADE"/>
                </a:solidFill>
                <a:latin typeface="Inter Text" pitchFamily="34" charset="0"/>
                <a:ea typeface="Inter Text" pitchFamily="34" charset="-122"/>
                <a:cs typeface="Inter Text" pitchFamily="34" charset="-120"/>
              </a:rPr>
              <a:t>Net </a:t>
            </a:r>
            <a:r>
              <a:rPr lang="en-GB" sz="1100" b="1" dirty="0">
                <a:solidFill>
                  <a:srgbClr val="FFFFFF"/>
                </a:solidFill>
                <a:latin typeface="Consolas" pitchFamily="34" charset="0"/>
                <a:ea typeface="Consolas" pitchFamily="34" charset="-122"/>
                <a:cs typeface="Consolas" pitchFamily="34" charset="-120"/>
              </a:rPr>
              <a:t>± €0.50</a:t>
            </a:r>
            <a:r>
              <a:rPr lang="en-GB" sz="1000" dirty="0">
                <a:solidFill>
                  <a:srgbClr val="C2CADE"/>
                </a:solidFill>
                <a:latin typeface="Inter Text" pitchFamily="34" charset="0"/>
                <a:ea typeface="Inter Text" pitchFamily="34" charset="-122"/>
                <a:cs typeface="Inter Text" pitchFamily="34" charset="-120"/>
              </a:rPr>
              <a:t>   VAT </a:t>
            </a:r>
            <a:r>
              <a:rPr lang="en-GB" sz="1100" b="1" dirty="0">
                <a:solidFill>
                  <a:srgbClr val="FFFFFF"/>
                </a:solidFill>
                <a:latin typeface="Consolas" pitchFamily="34" charset="0"/>
                <a:ea typeface="Consolas" pitchFamily="34" charset="-122"/>
                <a:cs typeface="Consolas" pitchFamily="34" charset="-120"/>
              </a:rPr>
              <a:t>± €0.10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Assumption: all roundings go in the same direction, BT-149 Item price base quantity = 1, 19% VAT.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How large does the deviation get?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E655C58-AB39-491B-9C9F-468B34428247}"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8</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Two factors: first the quantity Q × rounded </a:t>
            </a:r>
            <a:r>
              <a:rPr lang="en-GB" sz="13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300" dirty="0">
                <a:solidFill>
                  <a:srgbClr val="D32F2F"/>
                </a:solidFill>
                <a:latin typeface="Inter Text" pitchFamily="34" charset="0"/>
                <a:ea typeface="Inter Text" pitchFamily="34" charset="-122"/>
                <a:cs typeface="Inter Text" pitchFamily="34" charset="-120"/>
              </a:rPr>
              <a:t> Item net price</a:t>
            </a:r>
            <a:r>
              <a:rPr lang="en-GB" sz="1300" dirty="0">
                <a:solidFill>
                  <a:srgbClr val="5B6890"/>
                </a:solidFill>
                <a:latin typeface="Inter Text" pitchFamily="34" charset="0"/>
                <a:ea typeface="Inter Text" pitchFamily="34" charset="-122"/>
                <a:cs typeface="Inter Text" pitchFamily="34" charset="-120"/>
              </a:rPr>
              <a:t>, then the number of lines n — open-ended.</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1 · price rounding × quantity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050" dirty="0">
                <a:solidFill>
                  <a:srgbClr val="D32F2F"/>
                </a:solidFill>
                <a:latin typeface="Inter Text" pitchFamily="34" charset="0"/>
                <a:ea typeface="Inter Text" pitchFamily="34" charset="-122"/>
                <a:cs typeface="Inter Text" pitchFamily="34" charset="-120"/>
              </a:rPr>
              <a:t> Item net price</a:t>
            </a:r>
            <a:r>
              <a:rPr lang="en-GB" sz="1050" dirty="0">
                <a:solidFill>
                  <a:srgbClr val="5B6890"/>
                </a:solidFill>
                <a:latin typeface="Inter Text" pitchFamily="34" charset="0"/>
                <a:ea typeface="Inter Text" pitchFamily="34" charset="-122"/>
                <a:cs typeface="Inter Text" pitchFamily="34" charset="-120"/>
              </a:rPr>
              <a:t> is “squeezed” once into Minor Unit + 2 (EUR: 4 dp): up to ± €0.00005.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multiplies this one error by </a:t>
            </a:r>
            <a:r>
              <a:rPr lang="en-GB" sz="105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1050" dirty="0">
                <a:solidFill>
                  <a:srgbClr val="5B6890"/>
                </a:solidFill>
                <a:latin typeface="Inter Text" pitchFamily="34" charset="0"/>
                <a:ea typeface="Inter Text" pitchFamily="34" charset="-122"/>
                <a:cs typeface="Inter Text" pitchFamily="34" charset="-120"/>
              </a:rPr>
              <a:t> Invoiced quantity. </a:t>
            </a:r>
            <a:r>
              <a:rPr lang="en-GB" sz="105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#148</a:t>
            </a:r>
            <a:r>
              <a:rPr lang="en-GB" sz="1050" dirty="0">
                <a:solidFill>
                  <a:srgbClr val="5B6890"/>
                </a:solidFill>
                <a:latin typeface="Inter Text" pitchFamily="34" charset="0"/>
                <a:ea typeface="Inter Text" pitchFamily="34" charset="-122"/>
                <a:cs typeface="Inter Text" pitchFamily="34" charset="-120"/>
              </a:rPr>
              <a:t>: €0.123449 → €0.1234; with 10,000 units €0.49 is missing.</a:t>
            </a:r>
          </a:p>
        </p:txBody>
      </p:sp>
      <p:sp>
        <p:nvSpPr>
          <p:cNvPr id="14" name="Pill 14"/>
          <p:cNvSpPr/>
          <p:nvPr/>
        </p:nvSpPr>
        <p:spPr>
          <a:xfrm>
            <a:off x="1097280"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marL="0" indent="0" algn="ctr">
              <a:buNone/>
            </a:pPr>
            <a:r>
              <a:rPr lang="en-GB" sz="1150" b="1" dirty="0">
                <a:solidFill>
                  <a:srgbClr val="C0392B"/>
                </a:solidFill>
                <a:latin typeface="Consolas" pitchFamily="34" charset="0"/>
                <a:ea typeface="Consolas" pitchFamily="34" charset="-122"/>
                <a:cs typeface="Consolas" pitchFamily="34" charset="-120"/>
              </a:rPr>
              <a:t>± Q × €0.00005 per line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IconCircle 16"/>
          <p:cNvSpPr/>
          <p:nvPr/>
        </p:nvSpPr>
        <p:spPr>
          <a:xfrm>
            <a:off x="6437376" y="2423160"/>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2 · number of lines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en-GB" sz="1050" dirty="0">
                <a:solidFill>
                  <a:srgbClr val="5B6890"/>
                </a:solidFill>
                <a:latin typeface="Inter Text" pitchFamily="34" charset="0"/>
                <a:ea typeface="Inter Text" pitchFamily="34" charset="-122"/>
                <a:cs typeface="Inter Text" pitchFamily="34" charset="-120"/>
              </a:rPr>
              <a:t>Each line rounds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additionally to the</a:t>
            </a:r>
            <a:r>
              <a:rPr lang="en-GB" sz="1050" dirty="0">
                <a:solidFill>
                  <a:srgbClr val="5B6890"/>
                </a:solidFill>
                <a:latin typeface="Inter Text" pitchFamily="34" charset="0"/>
                <a:ea typeface="Inter Text" pitchFamily="34" charset="-122"/>
                <a:cs typeface="Inter Text" pitchFamily="34" charset="-120"/>
              </a:rPr>
              <a:t> Minor Unit: up to ± €0.005. </a:t>
            </a:r>
            <a:r>
              <a:rPr lang="en-GB" sz="10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1050" dirty="0">
                <a:solidFill>
                  <a:srgbClr val="C79100"/>
                </a:solidFill>
                <a:latin typeface="Inter Text" pitchFamily="34" charset="0"/>
                <a:ea typeface="Inter Text" pitchFamily="34" charset="-122"/>
                <a:cs typeface="Inter Text" pitchFamily="34" charset="-120"/>
              </a:rPr>
              <a:t> Sum of invoice line net amount</a:t>
            </a:r>
            <a:r>
              <a:rPr lang="en-GB" sz="1050" dirty="0">
                <a:solidFill>
                  <a:srgbClr val="5B6890"/>
                </a:solidFill>
                <a:latin typeface="Inter Text" pitchFamily="34" charset="0"/>
                <a:ea typeface="Inter Text" pitchFamily="34" charset="-122"/>
                <a:cs typeface="Inter Text" pitchFamily="34" charset="-120"/>
              </a:rPr>
              <a:t> and</a:t>
            </a:r>
            <a:r>
              <a:rPr lang="en-GB" sz="1050" b="1" dirty="0">
                <a:solidFill>
                  <a:srgbClr val="2E7D32"/>
                </a:solidFill>
                <a:latin typeface="Inter SemiBold Text SemiBold" pitchFamily="34" charset="0"/>
                <a:ea typeface="Inter SemiBold Text SemiBold" pitchFamily="34" charset="-122"/>
                <a:cs typeface="Inter SemiBold Text SemiBold" pitchFamily="34" charset="-120"/>
              </a:rPr>
              <a:t> BT-116</a:t>
            </a:r>
            <a:r>
              <a:rPr lang="en-GB" sz="1050" dirty="0">
                <a:solidFill>
                  <a:srgbClr val="2E7D32"/>
                </a:solidFill>
                <a:latin typeface="Inter Text" pitchFamily="34" charset="0"/>
                <a:ea typeface="Inter Text" pitchFamily="34" charset="-122"/>
                <a:cs typeface="Inter Text" pitchFamily="34" charset="-120"/>
              </a:rPr>
              <a:t> VAT category taxable amount</a:t>
            </a:r>
            <a:r>
              <a:rPr lang="en-GB" sz="1050" dirty="0">
                <a:solidFill>
                  <a:srgbClr val="5B6890"/>
                </a:solidFill>
                <a:latin typeface="Inter Text" pitchFamily="34" charset="0"/>
                <a:ea typeface="Inter Text" pitchFamily="34" charset="-122"/>
                <a:cs typeface="Inter Text" pitchFamily="34" charset="-120"/>
              </a:rPr>
              <a:t> add up all n lines — and with them the</a:t>
            </a:r>
            <a:r>
              <a:rPr lang="en-GB" sz="1050" dirty="0">
                <a:solidFill>
                  <a:srgbClr val="5B6890"/>
                </a:solidFill>
                <a:latin typeface="Inter Text" pitchFamily="34" charset="0"/>
                <a:ea typeface="Inter Text" pitchFamily="34" charset="-122"/>
                <a:cs typeface="Inter Text" pitchFamily="34" charset="-120"/>
              </a:rPr>
              <a:t> errors of all lines.</a:t>
            </a:r>
          </a:p>
        </p:txBody>
      </p:sp>
      <p:sp>
        <p:nvSpPr>
          <p:cNvPr id="20" name="Pill 20"/>
          <p:cNvSpPr/>
          <p:nvPr/>
        </p:nvSpPr>
        <p:spPr>
          <a:xfrm>
            <a:off x="6473952" y="3712464"/>
            <a:ext cx="2377440" cy="310896"/>
          </a:xfrm>
          <a:prstGeom prst="roundRect">
            <a:avLst>
              <a:gd name="adj" fmla="val 50000"/>
            </a:avLst>
          </a:prstGeom>
          <a:solidFill>
            <a:srgbClr val="FCEDEB"/>
          </a:solidFill>
          <a:ln w="9525">
            <a:solidFill>
              <a:srgbClr val="F2C4BE"/>
            </a:solidFill>
            <a:prstDash val="solid"/>
          </a:ln>
        </p:spPr>
        <p:txBody>
          <a:bodyPr wrap="square" lIns="36576" tIns="36576" rIns="36576" bIns="36576" rtlCol="0" anchor="ctr"/>
          <a:lstStyle/>
          <a:p>
            <a:pPr algn="ctr"/>
            <a:r>
              <a:rPr lang="en-GB" sz="1150" b="1" dirty="0">
                <a:solidFill>
                  <a:srgbClr val="C0392B"/>
                </a:solidFill>
                <a:latin typeface="Consolas" pitchFamily="34" charset="0"/>
                <a:ea typeface="Consolas" pitchFamily="34" charset="-122"/>
                <a:cs typeface="Consolas" pitchFamily="34" charset="-120"/>
              </a:rPr>
              <a:t>± </a:t>
            </a:r>
            <a:r>
              <a:rPr lang="en-GB" sz="1150" b="1" dirty="0" err="1">
                <a:solidFill>
                  <a:srgbClr val="C0392B"/>
                </a:solidFill>
                <a:latin typeface="Consolas" pitchFamily="34" charset="0"/>
                <a:ea typeface="Consolas" pitchFamily="34" charset="-122"/>
                <a:cs typeface="Consolas" pitchFamily="34" charset="-120"/>
              </a:rPr>
              <a:t>n</a:t>
            </a:r>
            <a:r>
              <a:rPr lang="en-GB" sz="1150" b="1" dirty="0">
                <a:solidFill>
                  <a:srgbClr val="C0392B"/>
                </a:solidFill>
                <a:latin typeface="Consolas" pitchFamily="34" charset="0"/>
                <a:ea typeface="Consolas" pitchFamily="34" charset="-122"/>
                <a:cs typeface="Consolas" pitchFamily="34" charset="-120"/>
              </a:rPr>
              <a:t> × €0.005</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en-GB" sz="950" spc="120" dirty="0">
                <a:solidFill>
                  <a:srgbClr val="0E7E82"/>
                </a:solidFill>
                <a:latin typeface="Inter SemiBold Text SemiBold" pitchFamily="34" charset="0"/>
                <a:ea typeface="Inter SemiBold Text SemiBold" pitchFamily="34" charset="-122"/>
                <a:cs typeface="Inter SemiBold Text SemiBold" pitchFamily="34" charset="-120"/>
              </a:rPr>
              <a:t>NET DEVIATION  </a:t>
            </a:r>
            <a:r>
              <a:rPr lang="en-GB"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950" dirty="0">
                <a:solidFill>
                  <a:srgbClr val="C79100"/>
                </a:solidFill>
                <a:latin typeface="Inter Text" pitchFamily="34" charset="0"/>
                <a:ea typeface="Inter Text" pitchFamily="34" charset="-122"/>
                <a:cs typeface="Inter Text" pitchFamily="34" charset="-120"/>
              </a:rPr>
              <a:t> Sum of invoice line net amount</a:t>
            </a:r>
            <a:r>
              <a:rPr lang="en-GB" sz="950" dirty="0">
                <a:solidFill>
                  <a:srgbClr val="5B6890"/>
                </a:solidFill>
                <a:latin typeface="Inter Text" pitchFamily="34" charset="0"/>
                <a:ea typeface="Inter Text" pitchFamily="34" charset="-122"/>
                <a:cs typeface="Inter Text" pitchFamily="34" charset="-120"/>
              </a:rPr>
              <a:t> / </a:t>
            </a:r>
            <a:r>
              <a:rPr lang="en-GB"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950" dirty="0">
                <a:solidFill>
                  <a:srgbClr val="2E7D32"/>
                </a:solidFill>
                <a:latin typeface="Inter Text" pitchFamily="34" charset="0"/>
                <a:ea typeface="Inter Text" pitchFamily="34" charset="-122"/>
                <a:cs typeface="Inter Text" pitchFamily="34" charset="-120"/>
              </a:rPr>
              <a:t> VAT category taxable amount</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en-GB" sz="850" dirty="0">
                          <a:solidFill>
                            <a:srgbClr val="9FB0D8"/>
                          </a:solidFill>
                          <a:latin typeface="Inter Text" pitchFamily="34" charset="0"/>
                          <a:ea typeface="Inter Text" pitchFamily="34" charset="-122"/>
                          <a:cs typeface="Inter Text" pitchFamily="34" charset="-120"/>
                        </a:rPr>
                        <a:t>Units per line (Q) →</a:t>
                      </a:r>
                    </a:p>
                    <a:p>
                      <a:pPr marL="0" indent="0" algn="l">
                        <a:buNone/>
                      </a:pPr>
                      <a:r>
                        <a:rPr lang="en-GB" sz="850" dirty="0">
                          <a:solidFill>
                            <a:srgbClr val="9FB0D8"/>
                          </a:solidFill>
                          <a:latin typeface="Inter Text" pitchFamily="34" charset="0"/>
                          <a:ea typeface="Inter Text" pitchFamily="34" charset="-122"/>
                          <a:cs typeface="Inter Text" pitchFamily="34" charset="-120"/>
                        </a:rPr>
                        <a:t>↓ Lines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 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€0.005</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€0.01</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€0.50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B26A00"/>
                          </a:solidFill>
                          <a:latin typeface="Consolas" pitchFamily="34" charset="0"/>
                          <a:ea typeface="Consolas" pitchFamily="34" charset="-122"/>
                          <a:cs typeface="Consolas" pitchFamily="34" charset="-120"/>
                        </a:rPr>
                        <a:t>= ± €0.505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4E0"/>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€50.00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€0.005</a:t>
                      </a:r>
                    </a:p>
                    <a:p>
                      <a:pPr marL="0" indent="0" algn="r">
                        <a:buNone/>
                      </a:pPr>
                      <a:r>
                        <a:rPr lang="en-GB" sz="1150" b="1" dirty="0">
                          <a:solidFill>
                            <a:srgbClr val="C0392B"/>
                          </a:solidFill>
                          <a:latin typeface="Consolas" pitchFamily="34" charset="0"/>
                          <a:ea typeface="Consolas" pitchFamily="34" charset="-122"/>
                          <a:cs typeface="Consolas" pitchFamily="34" charset="-120"/>
                        </a:rPr>
                        <a:t>= ± €50.005</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1"/>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€1.00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€5,000.50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2"/>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€100.00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tc>
                  <a:txBody>
                    <a:bodyPr/>
                    <a:lstStyle/>
                    <a:p>
                      <a:pPr marL="0" indent="0" algn="r">
                        <a:buNone/>
                      </a:pPr>
                      <a:r>
                        <a:rPr lang="en-GB" sz="1150" b="1" dirty="0">
                          <a:solidFill>
                            <a:srgbClr val="C0392B"/>
                          </a:solidFill>
                          <a:latin typeface="Consolas" pitchFamily="34" charset="0"/>
                          <a:ea typeface="Consolas" pitchFamily="34" charset="-122"/>
                          <a:cs typeface="Consolas" pitchFamily="34" charset="-120"/>
                        </a:rPr>
                        <a:t>± €500,050.00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CEDEB"/>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en-GB" sz="1000" spc="150" dirty="0">
                <a:solidFill>
                  <a:srgbClr val="19C3C8"/>
                </a:solidFill>
                <a:latin typeface="Inter SemiBold Text SemiBold" pitchFamily="34" charset="0"/>
                <a:ea typeface="Inter SemiBold Text SemiBold" pitchFamily="34" charset="-122"/>
                <a:cs typeface="Inter SemiBold Text SemiBold" pitchFamily="34" charset="-120"/>
              </a:rPr>
              <a:t>TOTAL · NET</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en-GB" sz="1300" b="1" dirty="0">
                <a:solidFill>
                  <a:srgbClr val="FFFFFF"/>
                </a:solidFill>
                <a:latin typeface="Consolas" pitchFamily="34" charset="0"/>
                <a:ea typeface="Consolas" pitchFamily="34" charset="-122"/>
                <a:cs typeface="Consolas" pitchFamily="34" charset="-120"/>
              </a:rPr>
              <a:t>n × (Q × €0.00005 + €0.005)</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en-GB" sz="1000" dirty="0">
                <a:solidFill>
                  <a:srgbClr val="C2CADE"/>
                </a:solidFill>
                <a:latin typeface="Inter Text" pitchFamily="34" charset="0"/>
                <a:ea typeface="Inter Text" pitchFamily="34" charset="-122"/>
                <a:cs typeface="Inter Text" pitchFamily="34" charset="-120"/>
              </a:rPr>
              <a:t>VAT: 19% of that. Open-ended — more lines or larger quantities, more deviation.</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en-GB"/>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en-GB" sz="950" dirty="0">
                <a:solidFill>
                  <a:srgbClr val="9AA4C2"/>
                </a:solidFill>
                <a:latin typeface="Inter Text" pitchFamily="34" charset="0"/>
                <a:ea typeface="Inter Text" pitchFamily="34" charset="-122"/>
                <a:cs typeface="Inter Text" pitchFamily="34" charset="-120"/>
              </a:rPr>
              <a:t>100 lines of 10,000 units</a:t>
            </a:r>
          </a:p>
          <a:p>
            <a:pPr marL="0" indent="0" algn="l">
              <a:buNone/>
            </a:pPr>
            <a:r>
              <a:rPr lang="en-GB" sz="1000" dirty="0">
                <a:solidFill>
                  <a:srgbClr val="C2CADE"/>
                </a:solidFill>
                <a:latin typeface="Inter Text" pitchFamily="34" charset="0"/>
                <a:ea typeface="Inter Text" pitchFamily="34" charset="-122"/>
                <a:cs typeface="Inter Text" pitchFamily="34" charset="-120"/>
              </a:rPr>
              <a:t>Net </a:t>
            </a:r>
            <a:r>
              <a:rPr lang="en-GB" sz="1100" b="1" dirty="0">
                <a:solidFill>
                  <a:srgbClr val="FFFFFF"/>
                </a:solidFill>
                <a:latin typeface="Consolas" pitchFamily="34" charset="0"/>
                <a:ea typeface="Consolas" pitchFamily="34" charset="-122"/>
                <a:cs typeface="Consolas" pitchFamily="34" charset="-120"/>
              </a:rPr>
              <a:t>± €50.50</a:t>
            </a:r>
            <a:r>
              <a:rPr lang="en-GB" sz="1000" dirty="0">
                <a:solidFill>
                  <a:srgbClr val="C2CADE"/>
                </a:solidFill>
                <a:latin typeface="Inter Text" pitchFamily="34" charset="0"/>
                <a:ea typeface="Inter Text" pitchFamily="34" charset="-122"/>
                <a:cs typeface="Inter Text" pitchFamily="34" charset="-120"/>
              </a:rPr>
              <a:t>   VAT </a:t>
            </a:r>
            <a:r>
              <a:rPr lang="en-GB" sz="1100" b="1" dirty="0">
                <a:solidFill>
                  <a:srgbClr val="FFFFFF"/>
                </a:solidFill>
                <a:latin typeface="Consolas" pitchFamily="34" charset="0"/>
                <a:ea typeface="Consolas" pitchFamily="34" charset="-122"/>
                <a:cs typeface="Consolas" pitchFamily="34" charset="-120"/>
              </a:rPr>
              <a:t>± €9.60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Assumption: all roundings go in the same direction, BT-149 Item price base quantity = 1, 19% VAT. Likewise: BT-129 Invoiced quantity only 4 dp — up to ± 0.00005 × price per line for expensive items.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GROSS PRICES · EN 16931-1:2026</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Gross prices: often impossible today</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With net amounts and VAT in cents, many agreed gross amounts cannot be reached.</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9</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Gross amount, 19% 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Net in cents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Net + VAT in cents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€9.99 (receipt)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8.39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8.39 + 1.59 = 9.98  </a:t>
                      </a:r>
                      <a:r>
                        <a:rPr lang="en-GB" sz="1100" dirty="0">
                          <a:solidFill>
                            <a:srgbClr val="C0392B"/>
                          </a:solidFill>
                          <a:latin typeface="Inter SemiBold Text SemiBold" pitchFamily="34" charset="0"/>
                          <a:ea typeface="Inter SemiBold Text SemiBold" pitchFamily="34" charset="-122"/>
                          <a:cs typeface="Inter SemiBold Text SemiBold"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8.40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8.40 + 1.60 = 10.00  </a:t>
                      </a:r>
                      <a:r>
                        <a:rPr lang="en-GB" sz="1100" dirty="0">
                          <a:solidFill>
                            <a:srgbClr val="C0392B"/>
                          </a:solidFill>
                          <a:latin typeface="Inter SemiBold Text SemiBold" pitchFamily="34" charset="0"/>
                          <a:ea typeface="Inter SemiBold Text SemiBold" pitchFamily="34" charset="-122"/>
                          <a:cs typeface="Inter SemiBold Text SemiBold"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Not reachable at all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19 of 119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16% of all gross amounts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Invoices with 5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simulation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52% miss the receipt total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Invoices with 35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simulation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81% miss the receipt total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en-GB" sz="1100" dirty="0">
                <a:solidFill>
                  <a:srgbClr val="5B6890"/>
                </a:solidFill>
                <a:latin typeface="Inter Text" pitchFamily="34" charset="0"/>
                <a:ea typeface="Inter Text" pitchFamily="34" charset="-122"/>
                <a:cs typeface="Inter Text" pitchFamily="34" charset="-120"/>
              </a:rPr>
              <a:t>Each cent of net amount adds 1.19 cents of gross amount, so 19 of 119 gross amounts are skipped. At 7%: 7/107, at 20%: 20/120, at 21%: 21/121.</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en-GB" sz="1050" spc="150" dirty="0">
                <a:solidFill>
                  <a:srgbClr val="19C3C8"/>
                </a:solidFill>
                <a:latin typeface="Inter SemiBold Text SemiBold" pitchFamily="34" charset="0"/>
                <a:ea typeface="Inter SemiBold Text SemiBold" pitchFamily="34" charset="-122"/>
                <a:cs typeface="Inter SemiBold Text SemiBold" pitchFamily="34" charset="-120"/>
              </a:rPr>
              <a:t>THE BMF CONFIRMS IT</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en-GB" sz="1300" dirty="0">
                <a:solidFill>
                  <a:srgbClr val="FFFFFF"/>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Letter of 15 October 2026, section 2.5</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en-GB"/>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The workaround keeps only the totals per rate in the structured part; the line items move to an attachment.</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00" dirty="0">
                <a:solidFill>
                  <a:srgbClr val="5B6890"/>
                </a:solidFill>
                <a:latin typeface="Inter SemiBold Text SemiBold" pitchFamily="34" charset="0"/>
                <a:ea typeface="Inter SemiBold Text SemiBold" pitchFamily="34" charset="-122"/>
                <a:cs typeface="Inter SemiBold Text SemiBold" pitchFamily="34" charset="-120"/>
              </a:rPr>
              <a:t>Examples:  </a:t>
            </a:r>
            <a:r>
              <a:rPr lang="en-GB" sz="1200" dirty="0">
                <a:solidFill>
                  <a:srgbClr val="5B6890"/>
                </a:solidFill>
                <a:latin typeface="Inter Text" pitchFamily="34" charset="0"/>
                <a:ea typeface="Inter Text" pitchFamily="34" charset="-122"/>
                <a:cs typeface="Inter Text" pitchFamily="34" charset="-120"/>
              </a:rPr>
              <a:t>receipts · fixed book prices · retail and marketplaces · statutory gross prices</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en-GB" sz="1050" dirty="0">
                <a:solidFill>
                  <a:srgbClr val="B85C0A"/>
                </a:solidFill>
                <a:latin typeface="Inter SemiBold Text SemiBold" pitchFamily="34" charset="0"/>
                <a:ea typeface="Inter SemiBold Text SemiBold" pitchFamily="34" charset="-122"/>
                <a:cs typeface="Inter SemiBold Text SemiBold" pitchFamily="34" charset="-120"/>
              </a:rPr>
              <a:t>Only the tolerance of BR-S-9 </a:t>
            </a:r>
            <a:r>
              <a:rPr lang="en-GB" sz="1050" dirty="0">
                <a:solidFill>
                  <a:srgbClr val="B85C0A"/>
                </a:solidFill>
                <a:latin typeface="Inter Text" pitchFamily="34" charset="0"/>
                <a:ea typeface="Inter Text" pitchFamily="34" charset="-122"/>
                <a:cs typeface="Inter Text" pitchFamily="34" charset="-120"/>
              </a:rPr>
              <a:t>lets an issuer state 8.39 + 1.60 — with a VAT that is not 19% of the net amount.</a:t>
            </a:r>
          </a:p>
        </p:txBody>
      </p:sp>
      <p:sp>
        <p:nvSpPr>
          <p:cNvPr id="30" name="Shape 20 c30"/>
          <p:cNvSpPr/>
          <p:nvPr/>
        </p:nvSpPr>
        <p:spPr>
          <a:xfrm>
            <a:off x="7909560" y="3310128"/>
            <a:ext cx="292608" cy="292608"/>
          </a:xfrm>
          <a:prstGeom prst="ellipse">
            <a:avLst/>
          </a:prstGeom>
          <a:solidFill>
            <a:srgbClr val="19C3C8"/>
          </a:solidFill>
          <a:ln>
            <a:noFill/>
          </a:ln>
        </p:spPr>
        <p:txBody>
          <a:bodyPr/>
          <a:lstStyle/>
          <a:p>
            <a:endParaRPr lang="en-GB"/>
          </a:p>
        </p:txBody>
      </p:sp>
      <p:sp>
        <p:nvSpPr>
          <p:cNvPr id="31" name="Text 21 c31"/>
          <p:cNvSpPr txBox="1"/>
          <p:nvPr/>
        </p:nvSpPr>
        <p:spPr>
          <a:xfrm>
            <a:off x="7909560" y="331012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2" name="Text 22 c32"/>
          <p:cNvSpPr txBox="1"/>
          <p:nvPr/>
        </p:nvSpPr>
        <p:spPr>
          <a:xfrm>
            <a:off x="8366760" y="3246120"/>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Para. 17</a:t>
            </a:r>
            <a:r>
              <a:rPr lang="en-GB" sz="1250" dirty="0">
                <a:solidFill>
                  <a:srgbClr val="FFFFFF"/>
                </a:solidFill>
                <a:latin typeface="Inter Text" pitchFamily="34" charset="0"/>
                <a:ea typeface="Inter Text" pitchFamily="34" charset="-122"/>
                <a:cs typeface="Inter Text" pitchFamily="34" charset="-120"/>
              </a:rPr>
              <a:t>: VAT to the cent, rounded commercially</a:t>
            </a:r>
          </a:p>
        </p:txBody>
      </p:sp>
      <p:sp>
        <p:nvSpPr>
          <p:cNvPr id="33" name="Shape 20 c33"/>
          <p:cNvSpPr/>
          <p:nvPr/>
        </p:nvSpPr>
        <p:spPr>
          <a:xfrm>
            <a:off x="7909560" y="3877056"/>
            <a:ext cx="292608" cy="292608"/>
          </a:xfrm>
          <a:prstGeom prst="ellipse">
            <a:avLst/>
          </a:prstGeom>
          <a:solidFill>
            <a:srgbClr val="19C3C8"/>
          </a:solidFill>
          <a:ln>
            <a:noFill/>
          </a:ln>
        </p:spPr>
        <p:txBody>
          <a:bodyPr/>
          <a:lstStyle/>
          <a:p>
            <a:endParaRPr lang="en-GB"/>
          </a:p>
        </p:txBody>
      </p:sp>
      <p:sp>
        <p:nvSpPr>
          <p:cNvPr id="34" name="Text 21 c34"/>
          <p:cNvSpPr txBox="1"/>
          <p:nvPr/>
        </p:nvSpPr>
        <p:spPr>
          <a:xfrm>
            <a:off x="7909560" y="387705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5" name="Text 22 c35"/>
          <p:cNvSpPr txBox="1"/>
          <p:nvPr/>
        </p:nvSpPr>
        <p:spPr>
          <a:xfrm>
            <a:off x="8366760" y="3813048"/>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Para. 18</a:t>
            </a:r>
            <a:r>
              <a:rPr lang="en-GB" sz="1250" dirty="0">
                <a:solidFill>
                  <a:srgbClr val="FFFFFF"/>
                </a:solidFill>
                <a:latin typeface="Inter Text" pitchFamily="34" charset="0"/>
                <a:ea typeface="Inter Text" pitchFamily="34" charset="-122"/>
                <a:cs typeface="Inter Text" pitchFamily="34" charset="-120"/>
              </a:rPr>
              <a:t>: core and tax rounding rule cannot both be met</a:t>
            </a:r>
          </a:p>
        </p:txBody>
      </p:sp>
      <p:sp>
        <p:nvSpPr>
          <p:cNvPr id="36" name="Shape 20 c36"/>
          <p:cNvSpPr/>
          <p:nvPr/>
        </p:nvSpPr>
        <p:spPr>
          <a:xfrm>
            <a:off x="7909560" y="4443984"/>
            <a:ext cx="292608" cy="292608"/>
          </a:xfrm>
          <a:prstGeom prst="ellipse">
            <a:avLst/>
          </a:prstGeom>
          <a:solidFill>
            <a:srgbClr val="19C3C8"/>
          </a:solidFill>
          <a:ln>
            <a:noFill/>
          </a:ln>
        </p:spPr>
        <p:txBody>
          <a:bodyPr/>
          <a:lstStyle/>
          <a:p>
            <a:endParaRPr lang="en-GB"/>
          </a:p>
        </p:txBody>
      </p:sp>
      <p:sp>
        <p:nvSpPr>
          <p:cNvPr id="37" name="Text 21 c37"/>
          <p:cNvSpPr txBox="1"/>
          <p:nvPr/>
        </p:nvSpPr>
        <p:spPr>
          <a:xfrm>
            <a:off x="7909560" y="444398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8" name="Text 22 c38"/>
          <p:cNvSpPr txBox="1"/>
          <p:nvPr/>
        </p:nvSpPr>
        <p:spPr>
          <a:xfrm>
            <a:off x="8366760" y="4379976"/>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Para. 19</a:t>
            </a:r>
            <a:r>
              <a:rPr lang="en-GB" sz="1250" dirty="0">
                <a:solidFill>
                  <a:srgbClr val="FFFFFF"/>
                </a:solidFill>
                <a:latin typeface="Inter Text" pitchFamily="34" charset="0"/>
                <a:ea typeface="Inter Text" pitchFamily="34" charset="-122"/>
                <a:cs typeface="Inter Text" pitchFamily="34" charset="-120"/>
              </a:rPr>
              <a:t>: no gross format in XRechnung, ZUGFeRD — workaround until 31 Dec 2027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ROOT CAUSE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Converting net ↔ gross never ends</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Whichever price was agreed must lead — never convert it per line.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10</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Conversion never ends</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9.99 ÷ 1.19 = 8.394957983193… (periodic)</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8.40 × 1.19 = 9.996 — not a cent amount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Exact only with unlimited decimal places</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Every maximum fails at some quantity</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Price cut at the d-th dp: error ≤ BT-129 × 0.5 × 10⁻ᵈ</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8 dp and 10,000,000 units: up to €0.05</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Cyrille Sautereau's sheet</a:t>
            </a:r>
            <a:r>
              <a:rPr lang="en-GB" sz="1200" dirty="0">
                <a:solidFill>
                  <a:srgbClr val="5B6890"/>
                </a:solidFill>
                <a:latin typeface="Inter Text" pitchFamily="34" charset="0"/>
                <a:ea typeface="Inter Text" pitchFamily="34" charset="-122"/>
                <a:cs typeface="Inter Text" pitchFamily="34" charset="-120"/>
              </a:rPr>
              <a:t>: 6 instead of 4 dp remove €0.05</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THE RULE</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The price with fewer decimal places is the original one and leads</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No conversion per line: lines are net (net model) or gross (gross model)</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One conversion only: extract the VAT once per VAT rate (VAT first)</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Net values only where the law requires them</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Net model:  </a:t>
            </a:r>
            <a:r>
              <a:rPr lang="en-GB" sz="1100" dirty="0">
                <a:solidFill>
                  <a:srgbClr val="5B6890"/>
                </a:solidFill>
                <a:latin typeface="Inter Text" pitchFamily="34" charset="0"/>
                <a:ea typeface="Inter Text" pitchFamily="34" charset="-122"/>
                <a:cs typeface="Inter Text" pitchFamily="34" charset="-120"/>
              </a:rPr>
              <a:t>net price leads, VAT added  ·  Gross model (#164): price plus VAT leads, VAT extracted</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AMENDMENT · MY PROPOSAL 1/2</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Gross prices for the EN core </a:t>
            </a:r>
            <a:r>
              <a:rPr lang="en-GB" sz="3800" b="1" dirty="0">
                <a:solidFill>
                  <a:srgbClr val="1A2B5E"/>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(#164)</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If the price is fixed including VAT, it should lead the invoice.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11</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Step</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Net model (today)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Gross model (new)</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Price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BT-146 Item net price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BT-146V Item net price plus 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BT-131 = price × quantity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BT-131V = price plus VAT × quantity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2"/>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Per category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BT-116 = Σ BT-131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BT-116V = Σ BT-131V …</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BT-117 = BT-116 × rate</a:t>
                      </a:r>
                      <a:r>
                        <a:rPr lang="en-GB" sz="1000" dirty="0">
                          <a:solidFill>
                            <a:srgbClr val="9AA4C2"/>
                          </a:solidFill>
                          <a:latin typeface="Inter Text" pitchFamily="34" charset="0"/>
                          <a:ea typeface="Inter Text" pitchFamily="34" charset="-122"/>
                          <a:cs typeface="Inter Text" pitchFamily="34" charset="-120"/>
                        </a:rPr>
                        <a:t>  added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BT-117 = BT-116V × rate ÷ (100 + rate)</a:t>
                      </a:r>
                      <a:r>
                        <a:rPr lang="en-GB" sz="1000" dirty="0">
                          <a:solidFill>
                            <a:srgbClr val="0E7E82"/>
                          </a:solidFill>
                          <a:latin typeface="Inter SemiBold Text SemiBold" pitchFamily="34" charset="0"/>
                          <a:ea typeface="Inter SemiBold Text SemiBold" pitchFamily="34" charset="-122"/>
                          <a:cs typeface="Inter SemiBold Text SemiBold" pitchFamily="34" charset="-120"/>
                        </a:rPr>
                        <a:t>  extracted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7F9FD"/>
                    </a:solidFill>
                  </a:tcPr>
                </a:tc>
                <a:extLst>
                  <a:ext uri="{0D108BD9-81ED-4DB2-BD59-A6C34878D82A}">
                    <a16:rowId xmlns:a16="http://schemas.microsoft.com/office/drawing/2014/main" val="10004"/>
                  </a:ext>
                </a:extLst>
              </a:tr>
              <a:tr h="42062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Net per category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(given)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BT-116 = BT-116V − BT-117</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5"/>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en-GB" sz="1100" dirty="0">
                <a:solidFill>
                  <a:srgbClr val="5B6890"/>
                </a:solidFill>
                <a:latin typeface="Inter Text" pitchFamily="34" charset="0"/>
                <a:ea typeface="Inter Text" pitchFamily="34" charset="-122"/>
                <a:cs typeface="Inter Text" pitchFamily="34" charset="-120"/>
              </a:rPr>
              <a:t>The model is selected via BT-146V on each line — no indicator needed. BT-146 remains mandatory (</a:t>
            </a:r>
            <a:r>
              <a:rPr lang="en-GB" sz="1100" dirty="0">
                <a:solidFill>
                  <a:srgbClr val="5B6890"/>
                </a:solidFill>
                <a:latin typeface="Inter Text" pitchFamily="34" charset="0"/>
                <a:ea typeface="Inter Text" pitchFamily="34" charset="-122"/>
                <a:cs typeface="Inter Text" pitchFamily="34" charset="-120"/>
                <a:hlinkClick r:id="rId5">
                  <a:extLst>
                    <a:ext uri="{A12FA001-AC4F-418D-AE19-62706E023703}">
                      <ahyp:hlinkClr xmlns:ahyp="http://schemas.microsoft.com/office/drawing/2018/hyperlinkcolor" val="tx"/>
                    </a:ext>
                  </a:extLst>
                </a:hlinkClick>
              </a:rPr>
              <a:t>Art. 226(8) VAT Directive</a:t>
            </a:r>
            <a:r>
              <a:rPr lang="en-GB" sz="1100" dirty="0">
                <a:solidFill>
                  <a:srgbClr val="5B6890"/>
                </a:solidFill>
                <a:latin typeface="Inter Text" pitchFamily="34" charset="0"/>
                <a:ea typeface="Inter Text" pitchFamily="34" charset="-122"/>
                <a:cs typeface="Inter Text" pitchFamily="34" charset="-120"/>
              </a:rPr>
              <a:t>), in the gross model for information only. Not for categories N, D, F, I, J.</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en-GB" sz="1050" spc="150" dirty="0">
                <a:solidFill>
                  <a:srgbClr val="19C3C8"/>
                </a:solidFill>
                <a:latin typeface="Inter SemiBold Text SemiBold" pitchFamily="34" charset="0"/>
                <a:ea typeface="Inter SemiBold Text SemiBold" pitchFamily="34" charset="-122"/>
                <a:cs typeface="Inter SemiBold Text SemiBold" pitchFamily="34" charset="-120"/>
              </a:rPr>
              <a:t>EXAMPLE: FIXED BOOK PRICES</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en-GB" sz="1300" dirty="0">
                <a:solidFill>
                  <a:srgbClr val="FFFFFF"/>
                </a:solidFill>
                <a:latin typeface="Inter SemiBold Text SemiBold" pitchFamily="34" charset="0"/>
                <a:ea typeface="Inter SemiBold Text SemiBold" pitchFamily="34" charset="-122"/>
                <a:cs typeface="Inter SemiBold Text SemiBold" pitchFamily="34" charset="-120"/>
              </a:rPr>
              <a:t>1,000 books at €24.95 incl. 7% VAT</a:t>
            </a:r>
          </a:p>
        </p:txBody>
      </p:sp>
      <p:sp>
        <p:nvSpPr>
          <p:cNvPr id="13" name="Text 13"/>
          <p:cNvSpPr txBox="1"/>
          <p:nvPr/>
        </p:nvSpPr>
        <p:spPr>
          <a:xfrm>
            <a:off x="7909560" y="3291840"/>
            <a:ext cx="1143000" cy="274320"/>
          </a:xfrm>
          <a:prstGeom prst="rect">
            <a:avLst/>
          </a:prstGeom>
          <a:noFill/>
          <a:ln/>
        </p:spPr>
        <p:txBody>
          <a:bodyPr wrap="square" lIns="0" tIns="0" rIns="0" bIns="0" rtlCol="0" anchor="ctr"/>
          <a:lstStyle/>
          <a:p>
            <a:pPr marL="0" indent="0" algn="l">
              <a:buNone/>
            </a:pPr>
            <a:endParaRPr/>
          </a:p>
        </p:txBody>
      </p:sp>
      <p:sp>
        <p:nvSpPr>
          <p:cNvPr id="14" name="Text 14"/>
          <p:cNvSpPr txBox="1"/>
          <p:nvPr/>
        </p:nvSpPr>
        <p:spPr>
          <a:xfrm>
            <a:off x="9052560" y="3291840"/>
            <a:ext cx="1143000" cy="274320"/>
          </a:xfrm>
          <a:prstGeom prst="rect">
            <a:avLst/>
          </a:prstGeom>
          <a:noFill/>
          <a:ln/>
        </p:spPr>
        <p:txBody>
          <a:bodyPr wrap="square" lIns="0" tIns="0" rIns="0" bIns="0" rtlCol="0" anchor="ctr"/>
          <a:lstStyle/>
          <a:p>
            <a:pPr marL="0" indent="0" algn="r">
              <a:buNone/>
            </a:pPr>
            <a:r>
              <a:rPr lang="en-GB" sz="1000" dirty="0">
                <a:solidFill>
                  <a:srgbClr val="9AA4C2"/>
                </a:solidFill>
                <a:latin typeface="Inter SemiBold Text SemiBold" pitchFamily="34" charset="0"/>
                <a:ea typeface="Inter SemiBold Text SemiBold" pitchFamily="34" charset="-122"/>
                <a:cs typeface="Inter SemiBold Text SemiBold" pitchFamily="34" charset="-120"/>
              </a:rPr>
              <a:t>Total</a:t>
            </a:r>
          </a:p>
        </p:txBody>
      </p:sp>
      <p:sp>
        <p:nvSpPr>
          <p:cNvPr id="15" name="Text 15"/>
          <p:cNvSpPr txBox="1"/>
          <p:nvPr/>
        </p:nvSpPr>
        <p:spPr>
          <a:xfrm>
            <a:off x="10195560" y="3291840"/>
            <a:ext cx="914400" cy="274320"/>
          </a:xfrm>
          <a:prstGeom prst="rect">
            <a:avLst/>
          </a:prstGeom>
          <a:noFill/>
          <a:ln/>
        </p:spPr>
        <p:txBody>
          <a:bodyPr wrap="square" lIns="0" tIns="0" rIns="0" bIns="0" rtlCol="0" anchor="ctr"/>
          <a:lstStyle/>
          <a:p>
            <a:pPr marL="0" indent="0" algn="r">
              <a:buNone/>
            </a:pPr>
            <a:r>
              <a:rPr lang="en-GB" sz="1000" dirty="0">
                <a:solidFill>
                  <a:srgbClr val="9AA4C2"/>
                </a:solidFill>
                <a:latin typeface="Inter SemiBold Text SemiBold" pitchFamily="34" charset="0"/>
                <a:ea typeface="Inter SemiBold Text SemiBold" pitchFamily="34" charset="-122"/>
                <a:cs typeface="Inter SemiBold Text SemiBold" pitchFamily="34" charset="-120"/>
              </a:rPr>
              <a:t>VAT</a:t>
            </a:r>
          </a:p>
        </p:txBody>
      </p:sp>
      <p:sp>
        <p:nvSpPr>
          <p:cNvPr id="16" name="Text 16"/>
          <p:cNvSpPr txBox="1"/>
          <p:nvPr/>
        </p:nvSpPr>
        <p:spPr>
          <a:xfrm>
            <a:off x="7909560" y="3611880"/>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Target</a:t>
            </a:r>
          </a:p>
        </p:txBody>
      </p:sp>
      <p:sp>
        <p:nvSpPr>
          <p:cNvPr id="17" name="Text 17"/>
          <p:cNvSpPr txBox="1"/>
          <p:nvPr/>
        </p:nvSpPr>
        <p:spPr>
          <a:xfrm>
            <a:off x="9052560" y="3611880"/>
            <a:ext cx="11430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24,950.00</a:t>
            </a:r>
          </a:p>
        </p:txBody>
      </p:sp>
      <p:sp>
        <p:nvSpPr>
          <p:cNvPr id="18" name="Text 18"/>
          <p:cNvSpPr txBox="1"/>
          <p:nvPr/>
        </p:nvSpPr>
        <p:spPr>
          <a:xfrm>
            <a:off x="10195560" y="3611880"/>
            <a:ext cx="9144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1,632.24</a:t>
            </a:r>
          </a:p>
        </p:txBody>
      </p:sp>
      <p:sp>
        <p:nvSpPr>
          <p:cNvPr id="19" name="Text 19"/>
          <p:cNvSpPr txBox="1"/>
          <p:nvPr/>
        </p:nvSpPr>
        <p:spPr>
          <a:xfrm>
            <a:off x="7909560" y="4087368"/>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Net 2026</a:t>
            </a:r>
          </a:p>
        </p:txBody>
      </p:sp>
      <p:sp>
        <p:nvSpPr>
          <p:cNvPr id="20" name="Text 20"/>
          <p:cNvSpPr txBox="1"/>
          <p:nvPr/>
        </p:nvSpPr>
        <p:spPr>
          <a:xfrm>
            <a:off x="9052560" y="4087368"/>
            <a:ext cx="1143000" cy="365760"/>
          </a:xfrm>
          <a:prstGeom prst="rect">
            <a:avLst/>
          </a:prstGeom>
          <a:noFill/>
          <a:ln/>
        </p:spPr>
        <p:txBody>
          <a:bodyPr wrap="square" lIns="0" tIns="0" rIns="0" bIns="0" rtlCol="0" anchor="ctr"/>
          <a:lstStyle/>
          <a:p>
            <a:pPr marL="0" indent="0" algn="r">
              <a:buNone/>
            </a:pPr>
            <a:r>
              <a:rPr lang="en-GB" sz="1200" b="1" dirty="0">
                <a:solidFill>
                  <a:srgbClr val="FF8A80"/>
                </a:solidFill>
                <a:latin typeface="Consolas" pitchFamily="34" charset="0"/>
                <a:ea typeface="Consolas" pitchFamily="34" charset="-122"/>
                <a:cs typeface="Consolas" pitchFamily="34" charset="-120"/>
              </a:rPr>
              <a:t>24,950.05</a:t>
            </a:r>
          </a:p>
        </p:txBody>
      </p:sp>
      <p:sp>
        <p:nvSpPr>
          <p:cNvPr id="21" name="Text 21"/>
          <p:cNvSpPr txBox="1"/>
          <p:nvPr/>
        </p:nvSpPr>
        <p:spPr>
          <a:xfrm>
            <a:off x="10195560" y="4087368"/>
            <a:ext cx="914400" cy="365760"/>
          </a:xfrm>
          <a:prstGeom prst="rect">
            <a:avLst/>
          </a:prstGeom>
          <a:noFill/>
          <a:ln/>
        </p:spPr>
        <p:txBody>
          <a:bodyPr wrap="square" lIns="0" tIns="0" rIns="0" bIns="0" rtlCol="0" anchor="ctr"/>
          <a:lstStyle/>
          <a:p>
            <a:pPr marL="0" indent="0" algn="r">
              <a:buNone/>
            </a:pPr>
            <a:r>
              <a:rPr lang="en-GB" sz="1200" b="1" dirty="0">
                <a:solidFill>
                  <a:srgbClr val="FF8A80"/>
                </a:solidFill>
                <a:latin typeface="Consolas" pitchFamily="34" charset="0"/>
                <a:ea typeface="Consolas" pitchFamily="34" charset="-122"/>
                <a:cs typeface="Consolas" pitchFamily="34" charset="-120"/>
              </a:rPr>
              <a:t>1,632.25</a:t>
            </a:r>
          </a:p>
        </p:txBody>
      </p:sp>
      <p:sp>
        <p:nvSpPr>
          <p:cNvPr id="22" name="Text 22"/>
          <p:cNvSpPr txBox="1"/>
          <p:nvPr/>
        </p:nvSpPr>
        <p:spPr>
          <a:xfrm>
            <a:off x="7909560" y="4562856"/>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Gross model</a:t>
            </a:r>
          </a:p>
        </p:txBody>
      </p:sp>
      <p:sp>
        <p:nvSpPr>
          <p:cNvPr id="23" name="Text 23"/>
          <p:cNvSpPr txBox="1"/>
          <p:nvPr/>
        </p:nvSpPr>
        <p:spPr>
          <a:xfrm>
            <a:off x="9052560" y="4562856"/>
            <a:ext cx="1143000" cy="365760"/>
          </a:xfrm>
          <a:prstGeom prst="rect">
            <a:avLst/>
          </a:prstGeom>
          <a:noFill/>
          <a:ln/>
        </p:spPr>
        <p:txBody>
          <a:bodyPr wrap="square" lIns="0" tIns="0" rIns="0" bIns="0" rtlCol="0" anchor="ctr"/>
          <a:lstStyle/>
          <a:p>
            <a:pPr marL="0" indent="0" algn="r">
              <a:buNone/>
            </a:pPr>
            <a:r>
              <a:rPr lang="en-GB" sz="1200" b="1" dirty="0">
                <a:solidFill>
                  <a:srgbClr val="58D6BB"/>
                </a:solidFill>
                <a:latin typeface="Consolas" pitchFamily="34" charset="0"/>
                <a:ea typeface="Consolas" pitchFamily="34" charset="-122"/>
                <a:cs typeface="Consolas" pitchFamily="34" charset="-120"/>
              </a:rPr>
              <a:t>24,950.00</a:t>
            </a:r>
          </a:p>
        </p:txBody>
      </p:sp>
      <p:sp>
        <p:nvSpPr>
          <p:cNvPr id="24" name="Text 24"/>
          <p:cNvSpPr txBox="1"/>
          <p:nvPr/>
        </p:nvSpPr>
        <p:spPr>
          <a:xfrm>
            <a:off x="10195560" y="4562856"/>
            <a:ext cx="914400" cy="365760"/>
          </a:xfrm>
          <a:prstGeom prst="rect">
            <a:avLst/>
          </a:prstGeom>
          <a:noFill/>
          <a:ln/>
        </p:spPr>
        <p:txBody>
          <a:bodyPr wrap="square" lIns="0" tIns="0" rIns="0" bIns="0" rtlCol="0" anchor="ctr"/>
          <a:lstStyle/>
          <a:p>
            <a:pPr marL="0" indent="0" algn="r">
              <a:buNone/>
            </a:pPr>
            <a:r>
              <a:rPr lang="en-GB" sz="1200" b="1" dirty="0">
                <a:solidFill>
                  <a:srgbClr val="58D6BB"/>
                </a:solidFill>
                <a:latin typeface="Consolas" pitchFamily="34" charset="0"/>
                <a:ea typeface="Consolas" pitchFamily="34" charset="-122"/>
                <a:cs typeface="Consolas" pitchFamily="34" charset="-120"/>
              </a:rPr>
              <a:t>1,632.24</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en-GB"/>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Net model: 5 cents too much, VAT 1 cent too high. Gross model, VAT first: €1,632.24299… rounded once to €1,632.24; the net amount is the remainder.</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00" dirty="0">
                <a:solidFill>
                  <a:srgbClr val="5B6890"/>
                </a:solidFill>
                <a:latin typeface="Inter Text" pitchFamily="34" charset="0"/>
                <a:ea typeface="Inter Text" pitchFamily="34" charset="-122"/>
                <a:cs typeface="Inter Text" pitchFamily="34" charset="-120"/>
              </a:rPr>
              <a:t>Use cases:  </a:t>
            </a:r>
            <a:r>
              <a:rPr lang="en-GB" sz="1200" dirty="0">
                <a:solidFill>
                  <a:srgbClr val="0E7E82"/>
                </a:solidFill>
                <a:latin typeface="Inter SemiBold Text SemiBold" pitchFamily="34" charset="0"/>
                <a:ea typeface="Inter SemiBold Text SemiBold" pitchFamily="34" charset="-122"/>
                <a:cs typeface="Inter SemiBold Text SemiBold" pitchFamily="34" charset="-120"/>
              </a:rPr>
              <a:t>fixed book prices · receipt → invoice · retail and marketplaces · statutory gross prices</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en-GB" sz="1050" dirty="0">
                <a:solidFill>
                  <a:srgbClr val="B85C0A"/>
                </a:solidFill>
                <a:latin typeface="Inter SemiBold Text SemiBold" pitchFamily="34" charset="0"/>
                <a:ea typeface="Inter SemiBold Text SemiBold" pitchFamily="34" charset="-122"/>
                <a:cs typeface="Inter SemiBold Text SemiBold" pitchFamily="34" charset="-120"/>
              </a:rPr>
              <a:t>Often impossible today: </a:t>
            </a:r>
            <a:r>
              <a:rPr lang="en-GB" sz="1050" dirty="0">
                <a:solidFill>
                  <a:srgbClr val="5B6890"/>
                </a:solidFill>
                <a:latin typeface="Inter Text" pitchFamily="34" charset="0"/>
                <a:ea typeface="Inter Text" pitchFamily="34" charset="-122"/>
                <a:cs typeface="Inter Text" pitchFamily="34" charset="-120"/>
              </a:rPr>
              <a:t>At 19% VAT, 16% of all gross amounts cannot be reached with net and VAT in the Minor Unit — €9.99 = 8.39 + 1.59 → 9.98. With 5 lines 52%, with 35 lines 81% miss the receipt total.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GROSS MODEL </a:t>
            </a: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6">
                  <a:extLst>
                    <a:ext uri="{A12FA001-AC4F-418D-AE19-62706E023703}">
                      <ahyp:hlinkClr xmlns:ahyp="http://schemas.microsoft.com/office/drawing/2018/hyperlinkcolor" val="tx"/>
                    </a:ext>
                  </a:extLst>
                </a:hlinkClick>
              </a:rPr>
              <a:t>(#164)</a:t>
            </a: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 · DATA FLOW</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One data flow, two directions</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Same steps, mirrored business terms — they differ only where the VAT enters (orange).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12</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37" name="TextBox 36"/>
          <p:cNvSpPr txBox="1"/>
          <p:nvPr/>
        </p:nvSpPr>
        <p:spPr>
          <a:xfrm>
            <a:off x="822960" y="2231136"/>
            <a:ext cx="4041648" cy="219456"/>
          </a:xfrm>
          <a:prstGeom prst="rect">
            <a:avLst/>
          </a:prstGeom>
          <a:noFill/>
        </p:spPr>
        <p:txBody>
          <a:bodyPr wrap="none" lIns="0" rIns="0" tIns="0" bIns="0" anchor="ctr">
            <a:spAutoFit/>
          </a:bodyPr>
          <a:lstStyle/>
          <a:p>
            <a:pPr algn="l"/>
            <a:r>
              <a:rPr sz="950" spc="200">
                <a:solidFill>
                  <a:srgbClr val="5B6890"/>
                </a:solidFill>
                <a:latin typeface="Inter SemiBold Text SemiBold"/>
              </a:rPr>
              <a:t>NET MODEL · BT-146 LEADS</a:t>
            </a:r>
          </a:p>
        </p:txBody>
      </p:sp>
      <p:sp>
        <p:nvSpPr>
          <p:cNvPr id="38" name="TextBox 37"/>
          <p:cNvSpPr txBox="1"/>
          <p:nvPr/>
        </p:nvSpPr>
        <p:spPr>
          <a:xfrm>
            <a:off x="4974336" y="2231136"/>
            <a:ext cx="2240280" cy="219456"/>
          </a:xfrm>
          <a:prstGeom prst="rect">
            <a:avLst/>
          </a:prstGeom>
          <a:noFill/>
        </p:spPr>
        <p:txBody>
          <a:bodyPr wrap="none" lIns="0" rIns="0" tIns="0" bIns="0" anchor="ctr">
            <a:spAutoFit/>
          </a:bodyPr>
          <a:lstStyle/>
          <a:p>
            <a:pPr algn="ctr"/>
            <a:r>
              <a:rPr sz="950" spc="200">
                <a:solidFill>
                  <a:srgbClr val="1A2B5E"/>
                </a:solidFill>
                <a:latin typeface="Inter SemiBold Text SemiBold"/>
              </a:rPr>
              <a:t>SHARED</a:t>
            </a:r>
          </a:p>
        </p:txBody>
      </p:sp>
      <p:sp>
        <p:nvSpPr>
          <p:cNvPr id="39" name="TextBox 38"/>
          <p:cNvSpPr txBox="1"/>
          <p:nvPr/>
        </p:nvSpPr>
        <p:spPr>
          <a:xfrm>
            <a:off x="7324344" y="2231136"/>
            <a:ext cx="4041648" cy="219456"/>
          </a:xfrm>
          <a:prstGeom prst="rect">
            <a:avLst/>
          </a:prstGeom>
          <a:noFill/>
        </p:spPr>
        <p:txBody>
          <a:bodyPr wrap="none" lIns="0" rIns="0" tIns="0" bIns="0" anchor="ctr">
            <a:spAutoFit/>
          </a:bodyPr>
          <a:lstStyle/>
          <a:p>
            <a:pPr algn="l"/>
            <a:r>
              <a:rPr sz="950" spc="200">
                <a:solidFill>
                  <a:srgbClr val="0B7A7E"/>
                </a:solidFill>
                <a:latin typeface="Inter SemiBold Text SemiBold"/>
              </a:rPr>
              <a:t>GROSS MODEL </a:t>
            </a:r>
            <a:r>
              <a:rPr sz="950" spc="200">
                <a:solidFill>
                  <a:srgbClr val="0B7A7E"/>
                </a:solidFill>
                <a:latin typeface="Inter SemiBold Text SemiBold"/>
                <a:hlinkClick r:id="rId6">
                  <a:extLst>
                    <a:ext uri="{A12FA001-AC4F-418D-AE19-62706E023703}">
                      <ahyp:hlinkClr xmlns:ahyp="http://schemas.microsoft.com/office/drawing/2018/hyperlinkcolor" val="tx"/>
                    </a:ext>
                  </a:extLst>
                </a:hlinkClick>
              </a:rPr>
              <a:t>(#164)</a:t>
            </a:r>
            <a:r>
              <a:rPr sz="950" spc="200">
                <a:solidFill>
                  <a:srgbClr val="0B7A7E"/>
                </a:solidFill>
                <a:latin typeface="Inter SemiBold Text SemiBold"/>
              </a:rPr>
              <a:t> · BT-146V LEADS</a:t>
            </a:r>
          </a:p>
        </p:txBody>
      </p:sp>
      <p:sp>
        <p:nvSpPr>
          <p:cNvPr id="40" name="Rounded Rectangle 39"/>
          <p:cNvSpPr/>
          <p:nvPr/>
        </p:nvSpPr>
        <p:spPr>
          <a:xfrm>
            <a:off x="822960" y="2505456"/>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BT-146¹</a:t>
            </a:r>
            <a:r>
              <a:rPr sz="900">
                <a:solidFill>
                  <a:srgbClr val="5B6890"/>
                </a:solidFill>
                <a:latin typeface="Inter Text"/>
              </a:rPr>
              <a:t> = BT-148 − BT-147</a:t>
            </a:r>
          </a:p>
        </p:txBody>
      </p:sp>
      <p:sp>
        <p:nvSpPr>
          <p:cNvPr id="41" name="Rounded Rectangle 40"/>
          <p:cNvSpPr/>
          <p:nvPr/>
        </p:nvSpPr>
        <p:spPr>
          <a:xfrm>
            <a:off x="7324344" y="2505456"/>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BT-146V</a:t>
            </a:r>
            <a:r>
              <a:rPr sz="900">
                <a:solidFill>
                  <a:srgbClr val="1A2B5E"/>
                </a:solidFill>
                <a:latin typeface="Inter Text"/>
              </a:rPr>
              <a:t> = BT-148V − BT-147V  ·  BT-146¹ for information</a:t>
            </a:r>
          </a:p>
        </p:txBody>
      </p:sp>
      <p:sp>
        <p:nvSpPr>
          <p:cNvPr id="42" name="Rounded Rectangle 41"/>
          <p:cNvSpPr/>
          <p:nvPr/>
        </p:nvSpPr>
        <p:spPr>
          <a:xfrm>
            <a:off x="4974336" y="2505456"/>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Price</a:t>
            </a:r>
          </a:p>
        </p:txBody>
      </p:sp>
      <p:sp>
        <p:nvSpPr>
          <p:cNvPr id="43" name="Rounded Rectangle 42"/>
          <p:cNvSpPr/>
          <p:nvPr/>
        </p:nvSpPr>
        <p:spPr>
          <a:xfrm>
            <a:off x="822960" y="2820924"/>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BT-131</a:t>
            </a:r>
            <a:r>
              <a:rPr sz="900">
                <a:solidFill>
                  <a:srgbClr val="5B6890"/>
                </a:solidFill>
                <a:latin typeface="Inter Text"/>
              </a:rPr>
              <a:t> = BT-146 ÷ BT-149 × BT-129 + Σ BT-141 − Σ BT-136</a:t>
            </a:r>
          </a:p>
        </p:txBody>
      </p:sp>
      <p:sp>
        <p:nvSpPr>
          <p:cNvPr id="44" name="Rounded Rectangle 43"/>
          <p:cNvSpPr/>
          <p:nvPr/>
        </p:nvSpPr>
        <p:spPr>
          <a:xfrm>
            <a:off x="7324344" y="2820924"/>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BT-131V</a:t>
            </a:r>
            <a:r>
              <a:rPr sz="900">
                <a:solidFill>
                  <a:srgbClr val="1A2B5E"/>
                </a:solidFill>
                <a:latin typeface="Inter Text"/>
              </a:rPr>
              <a:t> = BT-146V ÷ BT-149 × BT-129 + Σ BT-141V − Σ BT-136V</a:t>
            </a:r>
          </a:p>
        </p:txBody>
      </p:sp>
      <p:sp>
        <p:nvSpPr>
          <p:cNvPr id="45" name="Rounded Rectangle 44"/>
          <p:cNvSpPr/>
          <p:nvPr/>
        </p:nvSpPr>
        <p:spPr>
          <a:xfrm>
            <a:off x="4974336" y="2820924"/>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Line</a:t>
            </a:r>
            <a:r>
              <a:rPr sz="850">
                <a:solidFill>
                  <a:srgbClr val="C2CADE"/>
                </a:solidFill>
                <a:latin typeface="Inter Text"/>
              </a:rPr>
              <a:t>  ·  BT-129¹, BT-149</a:t>
            </a:r>
          </a:p>
        </p:txBody>
      </p:sp>
      <p:sp>
        <p:nvSpPr>
          <p:cNvPr id="46" name="Rounded Rectangle 45"/>
          <p:cNvSpPr/>
          <p:nvPr/>
        </p:nvSpPr>
        <p:spPr>
          <a:xfrm>
            <a:off x="822960" y="3136392"/>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5B6890"/>
                </a:solidFill>
                <a:latin typeface="Inter Text"/>
              </a:rPr>
              <a:t>BT-136¹, BT-141 on the bases BT-137, BT-142</a:t>
            </a:r>
          </a:p>
        </p:txBody>
      </p:sp>
      <p:sp>
        <p:nvSpPr>
          <p:cNvPr id="47" name="Rounded Rectangle 46"/>
          <p:cNvSpPr/>
          <p:nvPr/>
        </p:nvSpPr>
        <p:spPr>
          <a:xfrm>
            <a:off x="7324344" y="3136392"/>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Text"/>
              </a:rPr>
              <a:t>BT-136V, BT-141V on the bases BT-137V, BT-142V</a:t>
            </a:r>
          </a:p>
        </p:txBody>
      </p:sp>
      <p:sp>
        <p:nvSpPr>
          <p:cNvPr id="48" name="Rounded Rectangle 47"/>
          <p:cNvSpPr/>
          <p:nvPr/>
        </p:nvSpPr>
        <p:spPr>
          <a:xfrm>
            <a:off x="4974336" y="3136392"/>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Line A/C</a:t>
            </a:r>
            <a:r>
              <a:rPr sz="850">
                <a:solidFill>
                  <a:srgbClr val="C2CADE"/>
                </a:solidFill>
                <a:latin typeface="Inter Text"/>
              </a:rPr>
              <a:t>  ·  BT-138, BT-143</a:t>
            </a:r>
          </a:p>
        </p:txBody>
      </p:sp>
      <p:sp>
        <p:nvSpPr>
          <p:cNvPr id="49" name="Rounded Rectangle 48"/>
          <p:cNvSpPr/>
          <p:nvPr/>
        </p:nvSpPr>
        <p:spPr>
          <a:xfrm>
            <a:off x="822960" y="3451860"/>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BT-92¹</a:t>
            </a:r>
            <a:r>
              <a:rPr sz="900">
                <a:solidFill>
                  <a:srgbClr val="5B6890"/>
                </a:solidFill>
                <a:latin typeface="Inter Text"/>
              </a:rPr>
              <a:t> = BT-94 × BT-93 ÷ 100  ·  BT-99 = BT-101 × BT-100 ÷ 100</a:t>
            </a:r>
          </a:p>
        </p:txBody>
      </p:sp>
      <p:sp>
        <p:nvSpPr>
          <p:cNvPr id="50" name="Rounded Rectangle 49"/>
          <p:cNvSpPr/>
          <p:nvPr/>
        </p:nvSpPr>
        <p:spPr>
          <a:xfrm>
            <a:off x="7324344" y="3451860"/>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BT-92V</a:t>
            </a:r>
            <a:r>
              <a:rPr sz="900">
                <a:solidFill>
                  <a:srgbClr val="1A2B5E"/>
                </a:solidFill>
                <a:latin typeface="Inter Text"/>
              </a:rPr>
              <a:t> = BT-94 × BT-93V ÷ 100  ·  BT-99V = BT-101 × BT-100V ÷ 100</a:t>
            </a:r>
          </a:p>
        </p:txBody>
      </p:sp>
      <p:sp>
        <p:nvSpPr>
          <p:cNvPr id="51" name="Rounded Rectangle 50"/>
          <p:cNvSpPr/>
          <p:nvPr/>
        </p:nvSpPr>
        <p:spPr>
          <a:xfrm>
            <a:off x="4974336" y="3451860"/>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Document A/C</a:t>
            </a:r>
            <a:r>
              <a:rPr sz="850">
                <a:solidFill>
                  <a:srgbClr val="C2CADE"/>
                </a:solidFill>
                <a:latin typeface="Inter Text"/>
              </a:rPr>
              <a:t>  ·  BT-94, BT-101</a:t>
            </a:r>
          </a:p>
        </p:txBody>
      </p:sp>
      <p:sp>
        <p:nvSpPr>
          <p:cNvPr id="52" name="Rounded Rectangle 51"/>
          <p:cNvSpPr/>
          <p:nvPr/>
        </p:nvSpPr>
        <p:spPr>
          <a:xfrm>
            <a:off x="822960" y="3767328"/>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BT-106</a:t>
            </a:r>
            <a:r>
              <a:rPr sz="900">
                <a:solidFill>
                  <a:srgbClr val="5B6890"/>
                </a:solidFill>
                <a:latin typeface="Inter Text"/>
              </a:rPr>
              <a:t> = Σ BT-131  ·  BT-107 = Σ BT-92  ·  BT-108 = Σ BT-99</a:t>
            </a:r>
          </a:p>
        </p:txBody>
      </p:sp>
      <p:sp>
        <p:nvSpPr>
          <p:cNvPr id="53" name="Rounded Rectangle 52"/>
          <p:cNvSpPr/>
          <p:nvPr/>
        </p:nvSpPr>
        <p:spPr>
          <a:xfrm>
            <a:off x="7324344" y="3767328"/>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BT-106V</a:t>
            </a:r>
            <a:r>
              <a:rPr sz="900">
                <a:solidFill>
                  <a:srgbClr val="1A2B5E"/>
                </a:solidFill>
                <a:latin typeface="Inter Text"/>
              </a:rPr>
              <a:t> = Σ BT-131V  ·  BT-107V = Σ BT-92V  ·  BT-108V = Σ BT-99V</a:t>
            </a:r>
          </a:p>
        </p:txBody>
      </p:sp>
      <p:sp>
        <p:nvSpPr>
          <p:cNvPr id="54" name="Rounded Rectangle 53"/>
          <p:cNvSpPr/>
          <p:nvPr/>
        </p:nvSpPr>
        <p:spPr>
          <a:xfrm>
            <a:off x="4974336" y="3767328"/>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Sums</a:t>
            </a:r>
          </a:p>
        </p:txBody>
      </p:sp>
      <p:sp>
        <p:nvSpPr>
          <p:cNvPr id="55" name="Rounded Rectangle 54"/>
          <p:cNvSpPr/>
          <p:nvPr/>
        </p:nvSpPr>
        <p:spPr>
          <a:xfrm>
            <a:off x="822960" y="4082796"/>
            <a:ext cx="4041648" cy="274320"/>
          </a:xfrm>
          <a:prstGeom prst="roundRect">
            <a:avLst>
              <a:gd name="adj" fmla="val 18000"/>
            </a:avLst>
          </a:prstGeom>
          <a:solidFill>
            <a:srgbClr val="F4F6FB"/>
          </a:solidFill>
          <a:ln w="9525">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1A2B5E"/>
                </a:solidFill>
                <a:latin typeface="Inter SemiBold Text SemiBold"/>
              </a:rPr>
              <a:t>BT-116</a:t>
            </a:r>
            <a:r>
              <a:rPr sz="900">
                <a:solidFill>
                  <a:srgbClr val="5B6890"/>
                </a:solidFill>
                <a:latin typeface="Inter Text"/>
              </a:rPr>
              <a:t> = Σ BT-131 + Σ BT-99 − Σ BT-92</a:t>
            </a:r>
          </a:p>
        </p:txBody>
      </p:sp>
      <p:sp>
        <p:nvSpPr>
          <p:cNvPr id="56" name="Rounded Rectangle 55"/>
          <p:cNvSpPr/>
          <p:nvPr/>
        </p:nvSpPr>
        <p:spPr>
          <a:xfrm>
            <a:off x="7324344" y="4082796"/>
            <a:ext cx="4041648" cy="274320"/>
          </a:xfrm>
          <a:prstGeom prst="roundRect">
            <a:avLst>
              <a:gd name="adj" fmla="val 18000"/>
            </a:avLst>
          </a:prstGeom>
          <a:solidFill>
            <a:srgbClr val="E6F8F8"/>
          </a:solidFill>
          <a:ln w="9525">
            <a:solidFill>
              <a:srgbClr val="A8E6E8"/>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0B7A7E"/>
                </a:solidFill>
                <a:latin typeface="Inter SemiBold Text SemiBold"/>
              </a:rPr>
              <a:t>BT-116V</a:t>
            </a:r>
            <a:r>
              <a:rPr sz="900">
                <a:solidFill>
                  <a:srgbClr val="1A2B5E"/>
                </a:solidFill>
                <a:latin typeface="Inter Text"/>
              </a:rPr>
              <a:t> = Σ BT-131V + Σ BT-99V − Σ BT-92V</a:t>
            </a:r>
          </a:p>
        </p:txBody>
      </p:sp>
      <p:sp>
        <p:nvSpPr>
          <p:cNvPr id="57" name="Rounded Rectangle 56"/>
          <p:cNvSpPr/>
          <p:nvPr/>
        </p:nvSpPr>
        <p:spPr>
          <a:xfrm>
            <a:off x="4974336" y="4082796"/>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VAT category</a:t>
            </a:r>
            <a:r>
              <a:rPr sz="850">
                <a:solidFill>
                  <a:srgbClr val="C2CADE"/>
                </a:solidFill>
                <a:latin typeface="Inter Text"/>
              </a:rPr>
              <a:t>  ·  BT-118, BT-119²³</a:t>
            </a:r>
          </a:p>
        </p:txBody>
      </p:sp>
      <p:sp>
        <p:nvSpPr>
          <p:cNvPr id="58" name="Rounded Rectangle 57"/>
          <p:cNvSpPr/>
          <p:nvPr/>
        </p:nvSpPr>
        <p:spPr>
          <a:xfrm>
            <a:off x="822960" y="4398264"/>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BT-117</a:t>
            </a:r>
            <a:r>
              <a:rPr sz="900">
                <a:solidFill>
                  <a:srgbClr val="5B6890"/>
                </a:solidFill>
                <a:latin typeface="Inter Text"/>
              </a:rPr>
              <a:t> = BT-116 × BT-119 ÷ 100  ·  added</a:t>
            </a:r>
          </a:p>
        </p:txBody>
      </p:sp>
      <p:sp>
        <p:nvSpPr>
          <p:cNvPr id="59" name="Rounded Rectangle 58"/>
          <p:cNvSpPr/>
          <p:nvPr/>
        </p:nvSpPr>
        <p:spPr>
          <a:xfrm>
            <a:off x="7324344" y="4398264"/>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BT-117</a:t>
            </a:r>
            <a:r>
              <a:rPr sz="900">
                <a:solidFill>
                  <a:srgbClr val="1A2B5E"/>
                </a:solidFill>
                <a:latin typeface="Inter Text"/>
              </a:rPr>
              <a:t> = BT-116V × BT-119 ÷ (100 + BT-119)  ·  extracted</a:t>
            </a:r>
          </a:p>
        </p:txBody>
      </p:sp>
      <p:sp>
        <p:nvSpPr>
          <p:cNvPr id="60" name="Rounded Rectangle 59"/>
          <p:cNvSpPr/>
          <p:nvPr/>
        </p:nvSpPr>
        <p:spPr>
          <a:xfrm>
            <a:off x="4974336" y="4398264"/>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VAT</a:t>
            </a:r>
            <a:r>
              <a:rPr sz="850">
                <a:solidFill>
                  <a:srgbClr val="C2CADE"/>
                </a:solidFill>
                <a:latin typeface="Inter Text"/>
              </a:rPr>
              <a:t>  ·  BT-117³</a:t>
            </a:r>
          </a:p>
        </p:txBody>
      </p:sp>
      <p:sp>
        <p:nvSpPr>
          <p:cNvPr id="61" name="Rounded Rectangle 60"/>
          <p:cNvSpPr/>
          <p:nvPr/>
        </p:nvSpPr>
        <p:spPr>
          <a:xfrm>
            <a:off x="822960" y="4713732"/>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5B6890"/>
                </a:solidFill>
                <a:latin typeface="Inter Text"/>
              </a:rPr>
              <a:t>BT-116 from the lines, see above</a:t>
            </a:r>
          </a:p>
        </p:txBody>
      </p:sp>
      <p:sp>
        <p:nvSpPr>
          <p:cNvPr id="62" name="Rounded Rectangle 61"/>
          <p:cNvSpPr/>
          <p:nvPr/>
        </p:nvSpPr>
        <p:spPr>
          <a:xfrm>
            <a:off x="7324344" y="4713732"/>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BT-116</a:t>
            </a:r>
            <a:r>
              <a:rPr sz="900">
                <a:solidFill>
                  <a:srgbClr val="1A2B5E"/>
                </a:solidFill>
                <a:latin typeface="Inter Text"/>
              </a:rPr>
              <a:t> = BT-116V − BT-117  ·  the remainder (VAT first)⁴</a:t>
            </a:r>
          </a:p>
        </p:txBody>
      </p:sp>
      <p:sp>
        <p:nvSpPr>
          <p:cNvPr id="63" name="Rounded Rectangle 62"/>
          <p:cNvSpPr/>
          <p:nvPr/>
        </p:nvSpPr>
        <p:spPr>
          <a:xfrm>
            <a:off x="4974336" y="4713732"/>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Taxable amount</a:t>
            </a:r>
            <a:r>
              <a:rPr sz="850">
                <a:solidFill>
                  <a:srgbClr val="C2CADE"/>
                </a:solidFill>
                <a:latin typeface="Inter Text"/>
              </a:rPr>
              <a:t>  ·  BT-116¹³</a:t>
            </a:r>
          </a:p>
        </p:txBody>
      </p:sp>
      <p:sp>
        <p:nvSpPr>
          <p:cNvPr id="64" name="Rounded Rectangle 63"/>
          <p:cNvSpPr/>
          <p:nvPr/>
        </p:nvSpPr>
        <p:spPr>
          <a:xfrm>
            <a:off x="822960" y="5029200"/>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BT-109</a:t>
            </a:r>
            <a:r>
              <a:rPr sz="900">
                <a:solidFill>
                  <a:srgbClr val="5B6890"/>
                </a:solidFill>
                <a:latin typeface="Inter Text"/>
              </a:rPr>
              <a:t> = BT-106 − BT-107 + BT-108  ·  BT-112 = BT-109 + BT-110</a:t>
            </a:r>
          </a:p>
        </p:txBody>
      </p:sp>
      <p:sp>
        <p:nvSpPr>
          <p:cNvPr id="65" name="Rounded Rectangle 64"/>
          <p:cNvSpPr/>
          <p:nvPr/>
        </p:nvSpPr>
        <p:spPr>
          <a:xfrm>
            <a:off x="7324344" y="5029200"/>
            <a:ext cx="4041648" cy="274320"/>
          </a:xfrm>
          <a:prstGeom prst="roundRect">
            <a:avLst>
              <a:gd name="adj" fmla="val 18000"/>
            </a:avLst>
          </a:prstGeom>
          <a:solidFill>
            <a:srgbClr val="FFF3E6"/>
          </a:solidFill>
          <a:ln w="9525">
            <a:solidFill>
              <a:srgbClr val="F5CFA3"/>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l"/>
            <a:r>
              <a:rPr sz="900">
                <a:solidFill>
                  <a:srgbClr val="B85C0A"/>
                </a:solidFill>
                <a:latin typeface="Inter SemiBold Text SemiBold"/>
              </a:rPr>
              <a:t>BT-112</a:t>
            </a:r>
            <a:r>
              <a:rPr sz="900">
                <a:solidFill>
                  <a:srgbClr val="1A2B5E"/>
                </a:solidFill>
                <a:latin typeface="Inter Text"/>
              </a:rPr>
              <a:t> = BT-106V − BT-107V + BT-108V  ·  BT-109 = BT-112 − BT-110</a:t>
            </a:r>
          </a:p>
        </p:txBody>
      </p:sp>
      <p:sp>
        <p:nvSpPr>
          <p:cNvPr id="66" name="Rounded Rectangle 65"/>
          <p:cNvSpPr/>
          <p:nvPr/>
        </p:nvSpPr>
        <p:spPr>
          <a:xfrm>
            <a:off x="4974336" y="5029200"/>
            <a:ext cx="2240280"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850">
                <a:solidFill>
                  <a:srgbClr val="FFFFFF"/>
                </a:solidFill>
                <a:latin typeface="Inter SemiBold Text SemiBold"/>
              </a:rPr>
              <a:t>Totals</a:t>
            </a:r>
            <a:r>
              <a:rPr sz="850">
                <a:solidFill>
                  <a:srgbClr val="C2CADE"/>
                </a:solidFill>
                <a:latin typeface="Inter Text"/>
              </a:rPr>
              <a:t>  ·  BT-110² = Σ BT-117</a:t>
            </a:r>
          </a:p>
        </p:txBody>
      </p:sp>
      <p:sp>
        <p:nvSpPr>
          <p:cNvPr id="67" name="Rounded Rectangle 66"/>
          <p:cNvSpPr/>
          <p:nvPr/>
        </p:nvSpPr>
        <p:spPr>
          <a:xfrm>
            <a:off x="822960" y="5344668"/>
            <a:ext cx="10543032" cy="274320"/>
          </a:xfrm>
          <a:prstGeom prst="roundRect">
            <a:avLst>
              <a:gd name="adj" fmla="val 18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square"/>
          <a:lstStyle/>
          <a:p>
            <a:pPr algn="ctr"/>
            <a:r>
              <a:rPr sz="900">
                <a:solidFill>
                  <a:srgbClr val="FFFFFF"/>
                </a:solidFill>
                <a:latin typeface="Inter SemiBold Text SemiBold"/>
              </a:rPr>
              <a:t>Payment  ·  </a:t>
            </a:r>
            <a:r>
              <a:rPr sz="900">
                <a:solidFill>
                  <a:srgbClr val="FFFFFF"/>
                </a:solidFill>
                <a:latin typeface="Inter Text"/>
              </a:rPr>
              <a:t>BT-115 = BT-112 − BT-113 + Σ BT-179 + BT-114 — the same in both models; BT-114 shows the one rounding</a:t>
            </a:r>
          </a:p>
        </p:txBody>
      </p:sp>
      <p:sp>
        <p:nvSpPr>
          <p:cNvPr id="68" name="TextBox 67"/>
          <p:cNvSpPr txBox="1"/>
          <p:nvPr/>
        </p:nvSpPr>
        <p:spPr>
          <a:xfrm>
            <a:off x="822960" y="5710428"/>
            <a:ext cx="10543032" cy="685800"/>
          </a:xfrm>
          <a:prstGeom prst="rect">
            <a:avLst/>
          </a:prstGeom>
          <a:noFill/>
        </p:spPr>
        <p:txBody>
          <a:bodyPr wrap="square" lIns="0" rIns="0" tIns="0" bIns="0">
            <a:spAutoFit/>
          </a:bodyPr>
          <a:lstStyle/>
          <a:p>
            <a:r>
              <a:rPr sz="750">
                <a:solidFill>
                  <a:srgbClr val="C9D1E3"/>
                </a:solidFill>
                <a:latin typeface="Inter Text"/>
              </a:rPr>
              <a:t>■ </a:t>
            </a:r>
            <a:r>
              <a:rPr sz="750">
                <a:solidFill>
                  <a:srgbClr val="5B6890"/>
                </a:solidFill>
                <a:latin typeface="Inter Text"/>
              </a:rPr>
              <a:t>net term   </a:t>
            </a:r>
            <a:r>
              <a:rPr sz="750">
                <a:solidFill>
                  <a:srgbClr val="7FD6D9"/>
                </a:solidFill>
                <a:latin typeface="Inter Text"/>
              </a:rPr>
              <a:t>■ </a:t>
            </a:r>
            <a:r>
              <a:rPr sz="750">
                <a:solidFill>
                  <a:srgbClr val="5B6890"/>
                </a:solidFill>
                <a:latin typeface="Inter Text"/>
              </a:rPr>
              <a:t>“plus VAT” counterpart   </a:t>
            </a:r>
            <a:r>
              <a:rPr sz="750">
                <a:solidFill>
                  <a:srgbClr val="1A2B5E"/>
                </a:solidFill>
                <a:latin typeface="Inter Text"/>
              </a:rPr>
              <a:t>■ </a:t>
            </a:r>
            <a:r>
              <a:rPr sz="750">
                <a:solidFill>
                  <a:srgbClr val="5B6890"/>
                </a:solidFill>
                <a:latin typeface="Inter Text"/>
              </a:rPr>
              <a:t>shared   </a:t>
            </a:r>
            <a:r>
              <a:rPr sz="750">
                <a:solidFill>
                  <a:srgbClr val="F0B27A"/>
                </a:solidFill>
                <a:latin typeface="Inter Text"/>
              </a:rPr>
              <a:t>■ </a:t>
            </a:r>
            <a:r>
              <a:rPr sz="750">
                <a:solidFill>
                  <a:srgbClr val="5B6890"/>
                </a:solidFill>
                <a:latin typeface="Inter Text"/>
              </a:rPr>
              <a:t>where the models differ   </a:t>
            </a:r>
            <a:r>
              <a:rPr sz="750">
                <a:solidFill>
                  <a:srgbClr val="5B6890"/>
                </a:solidFill>
                <a:latin typeface="Inter Text"/>
              </a:rPr>
              <a:t>A/C = allowances and charges   </a:t>
            </a:r>
            <a:r>
              <a:rPr sz="750">
                <a:solidFill>
                  <a:srgbClr val="1A2B5E"/>
                </a:solidFill>
                <a:latin typeface="Inter SemiBold Text SemiBold"/>
              </a:rPr>
              <a:t>¹ ² ³ ⁴ </a:t>
            </a:r>
            <a:r>
              <a:rPr sz="750">
                <a:solidFill>
                  <a:srgbClr val="5B6890"/>
                </a:solidFill>
                <a:latin typeface="Inter Text"/>
              </a:rPr>
              <a:t>required by law:</a:t>
            </a:r>
          </a:p>
          <a:p>
            <a:r>
              <a:rPr sz="750">
                <a:solidFill>
                  <a:srgbClr val="1A2B5E"/>
                </a:solidFill>
                <a:latin typeface="Inter SemiBold Text SemiBold"/>
              </a:rPr>
              <a:t>¹ </a:t>
            </a:r>
            <a:r>
              <a:rPr sz="750">
                <a:solidFill>
                  <a:srgbClr val="5B6890"/>
                </a:solidFill>
                <a:latin typeface="Inter Text"/>
                <a:hlinkClick r:id="rId7">
                  <a:extLst>
                    <a:ext uri="{A12FA001-AC4F-418D-AE19-62706E023703}">
                      <ahyp:hlinkClr xmlns:ahyp="http://schemas.microsoft.com/office/drawing/2018/hyperlinkcolor" val="tx"/>
                    </a:ext>
                  </a:extLst>
                </a:hlinkClick>
              </a:rPr>
              <a:t>VAT Directive 2006/112/EC, Art. 226(6) and (8)</a:t>
            </a:r>
            <a:r>
              <a:rPr sz="750">
                <a:solidFill>
                  <a:srgbClr val="5B6890"/>
                </a:solidFill>
                <a:latin typeface="Inter Text"/>
              </a:rPr>
              <a:t>: quantity, unit price exclusive of VAT, discounts not included in it, taxable amount per rate</a:t>
            </a:r>
          </a:p>
          <a:p>
            <a:r>
              <a:rPr sz="750">
                <a:solidFill>
                  <a:srgbClr val="1A2B5E"/>
                </a:solidFill>
                <a:latin typeface="Inter SemiBold Text SemiBold"/>
              </a:rPr>
              <a:t>² </a:t>
            </a:r>
            <a:r>
              <a:rPr sz="750">
                <a:solidFill>
                  <a:srgbClr val="5B6890"/>
                </a:solidFill>
                <a:latin typeface="Inter Text"/>
                <a:hlinkClick r:id="rId7">
                  <a:extLst>
                    <a:ext uri="{A12FA001-AC4F-418D-AE19-62706E023703}">
                      <ahyp:hlinkClr xmlns:ahyp="http://schemas.microsoft.com/office/drawing/2018/hyperlinkcolor" val="tx"/>
                    </a:ext>
                  </a:extLst>
                </a:hlinkClick>
              </a:rPr>
              <a:t>Art. 226(9) and (10)</a:t>
            </a:r>
            <a:r>
              <a:rPr sz="750">
                <a:solidFill>
                  <a:srgbClr val="5B6890"/>
                </a:solidFill>
                <a:latin typeface="Inter Text"/>
              </a:rPr>
              <a:t>: VAT rate and VAT amount payable (EN 16931-1:2026, Annex B)</a:t>
            </a:r>
          </a:p>
          <a:p>
            <a:r>
              <a:rPr sz="750">
                <a:solidFill>
                  <a:srgbClr val="1A2B5E"/>
                </a:solidFill>
                <a:latin typeface="Inter SemiBold Text SemiBold"/>
              </a:rPr>
              <a:t>³ </a:t>
            </a:r>
            <a:r>
              <a:rPr sz="750">
                <a:solidFill>
                  <a:srgbClr val="5B6890"/>
                </a:solidFill>
                <a:latin typeface="Inter Text"/>
              </a:rPr>
              <a:t>Germany, </a:t>
            </a:r>
            <a:r>
              <a:rPr sz="750">
                <a:solidFill>
                  <a:srgbClr val="5B6890"/>
                </a:solidFill>
                <a:latin typeface="Inter Text"/>
                <a:hlinkClick r:id="rId8">
                  <a:extLst>
                    <a:ext uri="{A12FA001-AC4F-418D-AE19-62706E023703}">
                      <ahyp:hlinkClr xmlns:ahyp="http://schemas.microsoft.com/office/drawing/2018/hyperlinkcolor" val="tx"/>
                    </a:ext>
                  </a:extLst>
                </a:hlinkClick>
              </a:rPr>
              <a:t>§ 14 (4) no. 7 and 8 UStG</a:t>
            </a:r>
            <a:r>
              <a:rPr sz="750">
                <a:solidFill>
                  <a:srgbClr val="5B6890"/>
                </a:solidFill>
                <a:latin typeface="Inter Text"/>
              </a:rPr>
              <a:t>: net amount per rate, rate and tax amount — the tax amount calculated to the cent and rounded commercially, half up (</a:t>
            </a:r>
            <a:r>
              <a:rPr sz="750">
                <a:solidFill>
                  <a:srgbClr val="5B6890"/>
                </a:solidFill>
                <a:latin typeface="Inter Text"/>
                <a:hlinkClick r:id="rId9">
                  <a:extLst>
                    <a:ext uri="{A12FA001-AC4F-418D-AE19-62706E023703}">
                      <ahyp:hlinkClr xmlns:ahyp="http://schemas.microsoft.com/office/drawing/2018/hyperlinkcolor" val="tx"/>
                    </a:ext>
                  </a:extLst>
                </a:hlinkClick>
              </a:rPr>
              <a:t>UStAE 14.5 (20)</a:t>
            </a:r>
            <a:r>
              <a:rPr sz="750">
                <a:solidFill>
                  <a:srgbClr val="5B6890"/>
                </a:solidFill>
                <a:latin typeface="Inter Text"/>
              </a:rPr>
              <a:t>; </a:t>
            </a:r>
            <a:r>
              <a:rPr sz="750">
                <a:solidFill>
                  <a:srgbClr val="5B6890"/>
                </a:solidFill>
                <a:latin typeface="Inter Text"/>
                <a:hlinkClick r:id="rId10">
                  <a:extLst>
                    <a:ext uri="{A12FA001-AC4F-418D-AE19-62706E023703}">
                      <ahyp:hlinkClr xmlns:ahyp="http://schemas.microsoft.com/office/drawing/2018/hyperlinkcolor" val="tx"/>
                    </a:ext>
                  </a:extLst>
                </a:hlinkClick>
              </a:rPr>
              <a:t>BMF letter of 15 Oct 2026, para. 17</a:t>
            </a:r>
            <a:r>
              <a:rPr sz="750">
                <a:solidFill>
                  <a:srgbClr val="5B6890"/>
                </a:solidFill>
                <a:latin typeface="Inter Text"/>
              </a:rPr>
              <a:t>)</a:t>
            </a:r>
          </a:p>
          <a:p>
            <a:r>
              <a:rPr sz="750">
                <a:solidFill>
                  <a:srgbClr val="1A2B5E"/>
                </a:solidFill>
                <a:latin typeface="Inter SemiBold Text SemiBold"/>
              </a:rPr>
              <a:t>⁴ </a:t>
            </a:r>
            <a:r>
              <a:rPr sz="750">
                <a:solidFill>
                  <a:srgbClr val="5B6890"/>
                </a:solidFill>
                <a:latin typeface="Inter Text"/>
                <a:hlinkClick r:id="rId11">
                  <a:extLst>
                    <a:ext uri="{A12FA001-AC4F-418D-AE19-62706E023703}">
                      <ahyp:hlinkClr xmlns:ahyp="http://schemas.microsoft.com/office/drawing/2018/hyperlinkcolor" val="tx"/>
                    </a:ext>
                  </a:extLst>
                </a:hlinkClick>
              </a:rPr>
              <a:t>§ 10 (1) UStG</a:t>
            </a:r>
            <a:r>
              <a:rPr sz="750">
                <a:solidFill>
                  <a:srgbClr val="5B6890"/>
                </a:solidFill>
                <a:latin typeface="Inter Text"/>
              </a:rPr>
              <a:t>: the net amount (Entgelt) is the consideration minus the VAT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GROSS MODEL </a:t>
            </a: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(#164)</a:t>
            </a: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 · EXAMPLE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Fuel: the tenth of a cent is in the price</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The amounts that are paid, booked and declared stay in cents.</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13</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Business term</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Value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Origin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BT-146V Item net price plus 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1.799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price at the pump</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BT-129 Invoiced quantity</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45.37 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dispensed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BT-131V Line amount plus VAT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81.62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81.62063, paid as 81.62</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BT-117 VAT category tax amount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13.03</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81.62 × 19 ÷ 119, rounded once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BT-116 VAT category taxable amount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68.59</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81.62 − 13.03, the remainder</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en-GB" sz="1100" dirty="0">
                <a:solidFill>
                  <a:srgbClr val="5B6890"/>
                </a:solidFill>
                <a:latin typeface="Inter Text" pitchFamily="34" charset="0"/>
                <a:ea typeface="Inter Text" pitchFamily="34" charset="-122"/>
                <a:cs typeface="Inter Text" pitchFamily="34" charset="-120"/>
              </a:rPr>
              <a:t>BT-116V = BT-112 = BT-115 = 81.62. BT-131 Invoice line net amount is not used in the gross model: no conversion per line, no tolerance.</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en-GB" sz="1050" spc="150" dirty="0">
                <a:solidFill>
                  <a:srgbClr val="19C3C8"/>
                </a:solidFill>
                <a:latin typeface="Inter SemiBold Text SemiBold" pitchFamily="34" charset="0"/>
                <a:ea typeface="Inter SemiBold Text SemiBold" pitchFamily="34" charset="-122"/>
                <a:cs typeface="Inter SemiBold Text SemiBold" pitchFamily="34" charset="-120"/>
              </a:rPr>
              <a:t>THE NET PRICE CONFIRMS THE VAT</a:t>
            </a:r>
          </a:p>
        </p:txBody>
      </p:sp>
      <p:sp>
        <p:nvSpPr>
          <p:cNvPr id="12" name="Text 12"/>
          <p:cNvSpPr txBox="1"/>
          <p:nvPr/>
        </p:nvSpPr>
        <p:spPr>
          <a:xfrm>
            <a:off x="7909560" y="2816352"/>
            <a:ext cx="3200400" cy="365760"/>
          </a:xfrm>
          <a:prstGeom prst="rect">
            <a:avLst/>
          </a:prstGeom>
          <a:noFill/>
          <a:ln/>
        </p:spPr>
        <p:txBody>
          <a:bodyPr wrap="square" lIns="0" tIns="0" rIns="0" bIns="0" rtlCol="0" anchor="ctr"/>
          <a:lstStyle/>
          <a:p>
            <a:pPr marL="0" indent="0" algn="l">
              <a:buNone/>
            </a:pPr>
            <a:r>
              <a:rPr lang="en-GB" sz="1300" dirty="0">
                <a:solidFill>
                  <a:srgbClr val="FFFFFF"/>
                </a:solidFill>
                <a:latin typeface="Inter SemiBold Text SemiBold" pitchFamily="34" charset="0"/>
                <a:ea typeface="Inter SemiBold Text SemiBold" pitchFamily="34" charset="-122"/>
                <a:cs typeface="Inter SemiBold Text SemiBold" pitchFamily="34" charset="-120"/>
              </a:rPr>
              <a:t>1,000 × €24.95 incl. 7% VAT </a:t>
            </a:r>
            <a:r>
              <a:rPr lang="en-GB" sz="1300" dirty="0">
                <a:solidFill>
                  <a:srgbClr val="FFFFFF"/>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(#164)</a:t>
            </a:r>
          </a:p>
        </p:txBody>
      </p:sp>
      <p:sp>
        <p:nvSpPr>
          <p:cNvPr id="13" name="Text 13"/>
          <p:cNvSpPr txBox="1"/>
          <p:nvPr/>
        </p:nvSpPr>
        <p:spPr>
          <a:xfrm>
            <a:off x="7909560" y="3291840"/>
            <a:ext cx="1143000" cy="274320"/>
          </a:xfrm>
          <a:prstGeom prst="rect">
            <a:avLst/>
          </a:prstGeom>
          <a:noFill/>
          <a:ln/>
        </p:spPr>
        <p:txBody>
          <a:bodyPr wrap="square" lIns="0" tIns="0" rIns="0" bIns="0" rtlCol="0" anchor="ctr"/>
          <a:lstStyle/>
          <a:p>
            <a:pPr marL="0" indent="0" algn="l">
              <a:buNone/>
            </a:pPr>
            <a:endParaRPr/>
          </a:p>
        </p:txBody>
      </p:sp>
      <p:sp>
        <p:nvSpPr>
          <p:cNvPr id="14" name="Text 14"/>
          <p:cNvSpPr txBox="1"/>
          <p:nvPr/>
        </p:nvSpPr>
        <p:spPr>
          <a:xfrm>
            <a:off x="9052560" y="3291840"/>
            <a:ext cx="1143000" cy="274320"/>
          </a:xfrm>
          <a:prstGeom prst="rect">
            <a:avLst/>
          </a:prstGeom>
          <a:noFill/>
          <a:ln/>
        </p:spPr>
        <p:txBody>
          <a:bodyPr wrap="square" lIns="0" tIns="0" rIns="0" bIns="0" rtlCol="0" anchor="ctr"/>
          <a:lstStyle/>
          <a:p>
            <a:pPr marL="0" indent="0" algn="r">
              <a:buNone/>
            </a:pPr>
            <a:r>
              <a:rPr lang="en-GB" sz="1000" dirty="0">
                <a:solidFill>
                  <a:srgbClr val="C2CADE"/>
                </a:solidFill>
                <a:latin typeface="Inter SemiBold Text SemiBold" pitchFamily="34" charset="0"/>
                <a:ea typeface="Inter SemiBold Text SemiBold" pitchFamily="34" charset="-122"/>
                <a:cs typeface="Inter SemiBold Text SemiBold" pitchFamily="34" charset="-120"/>
              </a:rPr>
              <a:t>Net</a:t>
            </a:r>
          </a:p>
        </p:txBody>
      </p:sp>
      <p:sp>
        <p:nvSpPr>
          <p:cNvPr id="15" name="Text 15"/>
          <p:cNvSpPr txBox="1"/>
          <p:nvPr/>
        </p:nvSpPr>
        <p:spPr>
          <a:xfrm>
            <a:off x="10195560" y="3291840"/>
            <a:ext cx="914400" cy="274320"/>
          </a:xfrm>
          <a:prstGeom prst="rect">
            <a:avLst/>
          </a:prstGeom>
          <a:noFill/>
          <a:ln/>
        </p:spPr>
        <p:txBody>
          <a:bodyPr wrap="square" lIns="0" tIns="0" rIns="0" bIns="0" rtlCol="0" anchor="ctr"/>
          <a:lstStyle/>
          <a:p>
            <a:pPr marL="0" indent="0" algn="r">
              <a:buNone/>
            </a:pPr>
            <a:r>
              <a:rPr lang="en-GB" sz="1000" dirty="0">
                <a:solidFill>
                  <a:srgbClr val="C2CADE"/>
                </a:solidFill>
                <a:latin typeface="Inter SemiBold Text SemiBold" pitchFamily="34" charset="0"/>
                <a:ea typeface="Inter SemiBold Text SemiBold" pitchFamily="34" charset="-122"/>
                <a:cs typeface="Inter SemiBold Text SemiBold" pitchFamily="34" charset="-120"/>
              </a:rPr>
              <a:t>VAT</a:t>
            </a:r>
          </a:p>
        </p:txBody>
      </p:sp>
      <p:sp>
        <p:nvSpPr>
          <p:cNvPr id="16" name="Text 16"/>
          <p:cNvSpPr txBox="1"/>
          <p:nvPr/>
        </p:nvSpPr>
        <p:spPr>
          <a:xfrm>
            <a:off x="7909560" y="3611880"/>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4 dp  ✗</a:t>
            </a:r>
          </a:p>
        </p:txBody>
      </p:sp>
      <p:sp>
        <p:nvSpPr>
          <p:cNvPr id="17" name="Text 17"/>
          <p:cNvSpPr txBox="1"/>
          <p:nvPr/>
        </p:nvSpPr>
        <p:spPr>
          <a:xfrm>
            <a:off x="9052560" y="3611880"/>
            <a:ext cx="1143000" cy="365760"/>
          </a:xfrm>
          <a:prstGeom prst="rect">
            <a:avLst/>
          </a:prstGeom>
          <a:noFill/>
          <a:ln/>
        </p:spPr>
        <p:txBody>
          <a:bodyPr wrap="square" lIns="0" tIns="0" rIns="0" bIns="0" rtlCol="0" anchor="ctr"/>
          <a:lstStyle/>
          <a:p>
            <a:pPr marL="0" indent="0" algn="r">
              <a:buNone/>
            </a:pPr>
            <a:r>
              <a:rPr lang="en-GB" sz="1200" b="1" dirty="0">
                <a:solidFill>
                  <a:srgbClr val="FF8A80"/>
                </a:solidFill>
                <a:latin typeface="Consolas" pitchFamily="34" charset="0"/>
                <a:ea typeface="Consolas" pitchFamily="34" charset="-122"/>
                <a:cs typeface="Consolas" pitchFamily="34" charset="-120"/>
              </a:rPr>
              <a:t>23,317.80</a:t>
            </a:r>
          </a:p>
        </p:txBody>
      </p:sp>
      <p:sp>
        <p:nvSpPr>
          <p:cNvPr id="18" name="Text 18"/>
          <p:cNvSpPr txBox="1"/>
          <p:nvPr/>
        </p:nvSpPr>
        <p:spPr>
          <a:xfrm>
            <a:off x="10195560" y="3611880"/>
            <a:ext cx="914400" cy="365760"/>
          </a:xfrm>
          <a:prstGeom prst="rect">
            <a:avLst/>
          </a:prstGeom>
          <a:noFill/>
          <a:ln/>
        </p:spPr>
        <p:txBody>
          <a:bodyPr wrap="square" lIns="0" tIns="0" rIns="0" bIns="0" rtlCol="0" anchor="ctr"/>
          <a:lstStyle/>
          <a:p>
            <a:pPr marL="0" indent="0" algn="r">
              <a:buNone/>
            </a:pPr>
            <a:r>
              <a:rPr lang="en-GB" sz="1200" b="1" dirty="0">
                <a:solidFill>
                  <a:srgbClr val="FF8A80"/>
                </a:solidFill>
                <a:latin typeface="Consolas" pitchFamily="34" charset="0"/>
                <a:ea typeface="Consolas" pitchFamily="34" charset="-122"/>
                <a:cs typeface="Consolas" pitchFamily="34" charset="-120"/>
              </a:rPr>
              <a:t>1,632.25</a:t>
            </a:r>
          </a:p>
        </p:txBody>
      </p:sp>
      <p:sp>
        <p:nvSpPr>
          <p:cNvPr id="19" name="Text 19"/>
          <p:cNvSpPr txBox="1"/>
          <p:nvPr/>
        </p:nvSpPr>
        <p:spPr>
          <a:xfrm>
            <a:off x="7909560" y="4087368"/>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6 dp  ✓</a:t>
            </a:r>
          </a:p>
        </p:txBody>
      </p:sp>
      <p:sp>
        <p:nvSpPr>
          <p:cNvPr id="20" name="Text 20"/>
          <p:cNvSpPr txBox="1"/>
          <p:nvPr/>
        </p:nvSpPr>
        <p:spPr>
          <a:xfrm>
            <a:off x="9052560" y="4087368"/>
            <a:ext cx="11430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23,317.757</a:t>
            </a:r>
          </a:p>
        </p:txBody>
      </p:sp>
      <p:sp>
        <p:nvSpPr>
          <p:cNvPr id="21" name="Text 21"/>
          <p:cNvSpPr txBox="1"/>
          <p:nvPr/>
        </p:nvSpPr>
        <p:spPr>
          <a:xfrm>
            <a:off x="10195560" y="4087368"/>
            <a:ext cx="9144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1,632.24</a:t>
            </a:r>
          </a:p>
        </p:txBody>
      </p:sp>
      <p:sp>
        <p:nvSpPr>
          <p:cNvPr id="22" name="Text 22"/>
          <p:cNvSpPr txBox="1"/>
          <p:nvPr/>
        </p:nvSpPr>
        <p:spPr>
          <a:xfrm>
            <a:off x="7909560" y="4562856"/>
            <a:ext cx="1143000" cy="365760"/>
          </a:xfrm>
          <a:prstGeom prst="rect">
            <a:avLst/>
          </a:prstGeom>
          <a:noFill/>
          <a:ln/>
        </p:spPr>
        <p:txBody>
          <a:bodyPr wrap="square" lIns="0" tIns="0" rIns="0" bIns="0" rtlCol="0" anchor="ctr"/>
          <a:lstStyle/>
          <a:p>
            <a:pPr marL="0" indent="0" algn="l">
              <a:buNone/>
            </a:pPr>
            <a:r>
              <a:rPr lang="en-GB" sz="1150" dirty="0">
                <a:solidFill>
                  <a:srgbClr val="C2CADE"/>
                </a:solidFill>
                <a:latin typeface="Inter Text" pitchFamily="34" charset="0"/>
                <a:ea typeface="Inter Text" pitchFamily="34" charset="-122"/>
                <a:cs typeface="Inter Text" pitchFamily="34" charset="-120"/>
              </a:rPr>
              <a:t>Extracted</a:t>
            </a:r>
          </a:p>
        </p:txBody>
      </p:sp>
      <p:sp>
        <p:nvSpPr>
          <p:cNvPr id="23" name="Text 23"/>
          <p:cNvSpPr txBox="1"/>
          <p:nvPr/>
        </p:nvSpPr>
        <p:spPr>
          <a:xfrm>
            <a:off x="9052560" y="4562856"/>
            <a:ext cx="11430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23,317.76</a:t>
            </a:r>
          </a:p>
        </p:txBody>
      </p:sp>
      <p:sp>
        <p:nvSpPr>
          <p:cNvPr id="24" name="Text 24"/>
          <p:cNvSpPr txBox="1"/>
          <p:nvPr/>
        </p:nvSpPr>
        <p:spPr>
          <a:xfrm>
            <a:off x="10195560" y="4562856"/>
            <a:ext cx="914400" cy="365760"/>
          </a:xfrm>
          <a:prstGeom prst="rect">
            <a:avLst/>
          </a:prstGeom>
          <a:noFill/>
          <a:ln/>
        </p:spPr>
        <p:txBody>
          <a:bodyPr wrap="square" lIns="0" tIns="0" rIns="0" bIns="0" rtlCol="0" anchor="ctr"/>
          <a:lstStyle/>
          <a:p>
            <a:pPr marL="0" indent="0" algn="r">
              <a:buNone/>
            </a:pPr>
            <a:r>
              <a:rPr lang="en-GB" sz="1200" b="1" dirty="0">
                <a:solidFill>
                  <a:srgbClr val="FFFFFF"/>
                </a:solidFill>
                <a:latin typeface="Consolas" pitchFamily="34" charset="0"/>
                <a:ea typeface="Consolas" pitchFamily="34" charset="-122"/>
                <a:cs typeface="Consolas" pitchFamily="34" charset="-120"/>
              </a:rPr>
              <a:t>1,632.24</a:t>
            </a:r>
          </a:p>
        </p:txBody>
      </p:sp>
      <p:sp>
        <p:nvSpPr>
          <p:cNvPr id="25" name="Shape 25"/>
          <p:cNvSpPr/>
          <p:nvPr/>
        </p:nvSpPr>
        <p:spPr>
          <a:xfrm>
            <a:off x="7909560" y="5120640"/>
            <a:ext cx="3154680" cy="9144"/>
          </a:xfrm>
          <a:prstGeom prst="rect">
            <a:avLst/>
          </a:prstGeom>
          <a:solidFill>
            <a:srgbClr val="3A4A7A"/>
          </a:solidFill>
          <a:ln>
            <a:noFill/>
          </a:ln>
        </p:spPr>
        <p:txBody>
          <a:bodyPr/>
          <a:lstStyle/>
          <a:p>
            <a:endParaRPr lang="en-GB"/>
          </a:p>
        </p:txBody>
      </p:sp>
      <p:sp>
        <p:nvSpPr>
          <p:cNvPr id="26" name="Text 26"/>
          <p:cNvSpPr txBox="1"/>
          <p:nvPr/>
        </p:nvSpPr>
        <p:spPr>
          <a:xfrm>
            <a:off x="7909560" y="5193792"/>
            <a:ext cx="3200400" cy="594360"/>
          </a:xfrm>
          <a:prstGeom prst="rect">
            <a:avLst/>
          </a:prstGeom>
          <a:noFill/>
          <a:ln/>
        </p:spPr>
        <p:txBody>
          <a:bodyPr wrap="square" lIns="0" tIns="0" rIns="0" bIns="0" rtlCol="0" anchor="t"/>
          <a:lstStyle/>
          <a:p>
            <a:pPr marL="0" indent="0" algn="l">
              <a:lnSpc>
                <a:spcPct val="105000"/>
              </a:lnSpc>
              <a:buNone/>
            </a:pPr>
            <a:r>
              <a:rPr lang="en-GB" sz="1050" dirty="0">
                <a:solidFill>
                  <a:srgbClr val="C2CADE"/>
                </a:solidFill>
                <a:latin typeface="Inter Text" pitchFamily="34" charset="0"/>
                <a:ea typeface="Inter Text" pitchFamily="34" charset="-122"/>
                <a:cs typeface="Inter Text" pitchFamily="34" charset="-120"/>
              </a:rPr>
              <a:t>BT-146 × BT-129 × 7%: with 4 dp the net price contradicts the extracted VAT, with 6 dp it confirms it.</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00" dirty="0">
                <a:solidFill>
                  <a:srgbClr val="5B6890"/>
                </a:solidFill>
                <a:latin typeface="Inter SemiBold Text SemiBold" pitchFamily="34" charset="0"/>
                <a:ea typeface="Inter SemiBold Text SemiBold" pitchFamily="34" charset="-122"/>
                <a:cs typeface="Inter SemiBold Text SemiBold" pitchFamily="34" charset="-120"/>
              </a:rPr>
              <a:t>Proposed check:  </a:t>
            </a:r>
            <a:r>
              <a:rPr lang="en-GB" sz="1200" dirty="0">
                <a:solidFill>
                  <a:srgbClr val="5B6890"/>
                </a:solidFill>
                <a:latin typeface="Inter Text" pitchFamily="34" charset="0"/>
                <a:ea typeface="Inter Text" pitchFamily="34" charset="-122"/>
                <a:cs typeface="Inter Text" pitchFamily="34" charset="-120"/>
              </a:rPr>
              <a:t>Σ BT-146 × BT-129 ÷ BT-149 × rate gives BT-117 to the cent — possible only without a maximum</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en-GB" sz="1050" dirty="0">
                <a:solidFill>
                  <a:srgbClr val="B85C0A"/>
                </a:solidFill>
                <a:latin typeface="Inter SemiBold Text SemiBold" pitchFamily="34" charset="0"/>
                <a:ea typeface="Inter SemiBold Text SemiBold" pitchFamily="34" charset="-122"/>
                <a:cs typeface="Inter SemiBold Text SemiBold" pitchFamily="34" charset="-120"/>
              </a:rPr>
              <a:t>For information only: </a:t>
            </a:r>
            <a:r>
              <a:rPr lang="en-GB" sz="1050" dirty="0">
                <a:solidFill>
                  <a:srgbClr val="B85C0A"/>
                </a:solidFill>
                <a:latin typeface="Inter Text" pitchFamily="34" charset="0"/>
                <a:ea typeface="Inter Text" pitchFamily="34" charset="-122"/>
                <a:cs typeface="Inter Text" pitchFamily="34" charset="-120"/>
              </a:rPr>
              <a:t>BT-146 Item net price = 1.799 ÷ 1.19 = 1.51176470… — the only value with endless decimals.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AMENDMENT · MY PROPOSAL 2/2</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Round only once </a:t>
            </a:r>
            <a:r>
              <a:rPr lang="en-GB" sz="3800" b="1" dirty="0">
                <a:solidFill>
                  <a:srgbClr val="1A2B5E"/>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(#163)</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Only what is paid gets rounded — nothing else.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14</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Paid amounts — rounded once</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BT-115 Amount due for payment, in the Minor Unit (EUR: cent)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BT-114 Rounding amount carries the one rounding</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BT-113, BT-172, BT-179, BT-183 likewise — they change the amount due</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Everything else, VAT included: as calculated</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Prices, lines, totals, taxable amount and VAT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Cent VAT only via a national CIUS (e.g. UStAE 14.5 (20))</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Rounding to the Minor Unit today stays valid (warning)</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WHAT CHANGES</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6.5.14 applies to the whole chain, not just per rule</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Exact validation (decimal128): equal → valid, within tolerance → warning, otherwise error</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Today's tolerances remain — they now separate warning from error</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No requirement on software: neither a maximum nor a minimum of decimal places</a:t>
            </a:r>
          </a:p>
        </p:txBody>
      </p:sp>
      <p:sp>
        <p:nvSpPr>
          <p:cNvPr id="32" name="Shape 32"/>
          <p:cNvSpPr/>
          <p:nvPr/>
        </p:nvSpPr>
        <p:spPr>
          <a:xfrm>
            <a:off x="6492240" y="5212080"/>
            <a:ext cx="292608" cy="292608"/>
          </a:xfrm>
          <a:prstGeom prst="ellipse">
            <a:avLst/>
          </a:prstGeom>
          <a:solidFill>
            <a:srgbClr val="19C3C8"/>
          </a:solidFill>
          <a:ln>
            <a:noFill/>
          </a:ln>
        </p:spPr>
        <p:txBody>
          <a:bodyPr/>
          <a:lstStyle/>
          <a:p>
            <a:endParaRPr lang="en-GB"/>
          </a:p>
        </p:txBody>
      </p:sp>
      <p:sp>
        <p:nvSpPr>
          <p:cNvPr id="33" name="Text 33"/>
          <p:cNvSpPr txBox="1"/>
          <p:nvPr/>
        </p:nvSpPr>
        <p:spPr>
          <a:xfrm>
            <a:off x="6492240" y="5212080"/>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4" name="Text 34"/>
          <p:cNvSpPr txBox="1"/>
          <p:nvPr/>
        </p:nvSpPr>
        <p:spPr>
          <a:xfrm>
            <a:off x="6949440" y="5148072"/>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Syntax unchanged: amounts in UBL and CII are xsd:decimal</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Status 14 Oct 2026: Update 3 in WG1  ·  </a:t>
            </a:r>
            <a:r>
              <a:rPr lang="en-GB" sz="1100" dirty="0">
                <a:solidFill>
                  <a:srgbClr val="5B6890"/>
                </a:solidFill>
                <a:latin typeface="Inter Text" pitchFamily="34" charset="0"/>
                <a:ea typeface="Inter Text" pitchFamily="34" charset="-122"/>
                <a:cs typeface="Inter Text" pitchFamily="34" charset="-120"/>
              </a:rPr>
              <a:t>warning/error following </a:t>
            </a:r>
            <a:r>
              <a:rPr lang="en-GB" sz="11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Cyrille Sautereau's 3rd option</a:t>
            </a:r>
            <a:r>
              <a:rPr lang="en-GB" sz="1100" dirty="0">
                <a:solidFill>
                  <a:srgbClr val="5B6890"/>
                </a:solidFill>
                <a:latin typeface="Inter Text" pitchFamily="34" charset="0"/>
                <a:ea typeface="Inter Text" pitchFamily="34" charset="-122"/>
                <a:cs typeface="Inter Text" pitchFamily="34" charset="-120"/>
              </a:rPr>
              <a:t> · open: DRR with cent lines (FR), backward compatibility</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CALCULATION CHAIN · PROPOSED EN 16931-1:2026 AMENDMENT </a:t>
            </a: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4">
                  <a:extLst>
                    <a:ext uri="{A12FA001-AC4F-418D-AE19-62706E023703}">
                      <ahyp:hlinkClr xmlns:ahyp="http://schemas.microsoft.com/office/drawing/2018/hyperlinkcolor" val="tx"/>
                    </a:ext>
                  </a:extLst>
                </a:hlinkClick>
              </a:rPr>
              <a:t>(#163)</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From gross price via net price to VAT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4055174-2971-41F0-AAA2-FCF21F98D99D}"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15</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Pill 8"/>
          <p:cNvSpPr/>
          <p:nvPr/>
        </p:nvSpPr>
        <p:spPr>
          <a:xfrm>
            <a:off x="822960" y="1856232"/>
            <a:ext cx="2291486"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200" dirty="0">
                <a:solidFill>
                  <a:srgbClr val="1E8A4C"/>
                </a:solidFill>
                <a:latin typeface="Inter SemiBold Text SemiBold" pitchFamily="34" charset="0"/>
                <a:ea typeface="Inter SemiBold Text SemiBold" pitchFamily="34" charset="-122"/>
                <a:cs typeface="Inter SemiBold Text SemiBold" pitchFamily="34" charset="-120"/>
              </a:rPr>
              <a:t>No intermediate rounding</a:t>
            </a:r>
          </a:p>
        </p:txBody>
      </p:sp>
      <p:sp>
        <p:nvSpPr>
          <p:cNvPr id="9" name="Text 9"/>
          <p:cNvSpPr txBox="1"/>
          <p:nvPr/>
        </p:nvSpPr>
        <p:spPr>
          <a:xfrm>
            <a:off x="3242462" y="1847088"/>
            <a:ext cx="7273138" cy="329184"/>
          </a:xfrm>
          <a:prstGeom prst="rect">
            <a:avLst/>
          </a:prstGeom>
          <a:noFill/>
          <a:ln/>
        </p:spPr>
        <p:txBody>
          <a:bodyPr wrap="non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 only BT-115 Amount due for payment is rounded; BT-114 Rounding amount shows it.</a:t>
            </a:r>
          </a:p>
        </p:txBody>
      </p:sp>
      <p:sp>
        <p:nvSpPr>
          <p:cNvPr id="10" name="Frame 10"/>
          <p:cNvSpPr/>
          <p:nvPr/>
        </p:nvSpPr>
        <p:spPr>
          <a:xfrm>
            <a:off x="694944" y="2240280"/>
            <a:ext cx="7022592" cy="1709928"/>
          </a:xfrm>
          <a:prstGeom prst="roundRect">
            <a:avLst>
              <a:gd name="adj" fmla="val 5529"/>
            </a:avLst>
          </a:prstGeom>
          <a:solidFill>
            <a:srgbClr val="EEF4FC"/>
          </a:solidFill>
          <a:ln w="19050">
            <a:solidFill>
              <a:srgbClr val="2F7FD8"/>
            </a:solidFill>
            <a:prstDash val="solid"/>
          </a:ln>
        </p:spPr>
        <p:txBody>
          <a:bodyPr/>
          <a:lstStyle/>
          <a:p>
            <a:endParaRPr lang="en-GB"/>
          </a:p>
        </p:txBody>
      </p:sp>
      <p:sp>
        <p:nvSpPr>
          <p:cNvPr id="11" name="Text 11"/>
          <p:cNvSpPr txBox="1"/>
          <p:nvPr/>
        </p:nvSpPr>
        <p:spPr>
          <a:xfrm>
            <a:off x="868680" y="2267712"/>
            <a:ext cx="4572000" cy="182880"/>
          </a:xfrm>
          <a:prstGeom prst="rect">
            <a:avLst/>
          </a:prstGeom>
          <a:noFill/>
          <a:ln/>
        </p:spPr>
        <p:txBody>
          <a:bodyPr wrap="square" lIns="0" tIns="0" rIns="0" bIns="0" rtlCol="0" anchor="ctr"/>
          <a:lstStyle/>
          <a:p>
            <a:pPr marL="0" indent="0" algn="l">
              <a:buNone/>
            </a:pPr>
            <a:r>
              <a:rPr lang="en-GB" sz="850" spc="150" dirty="0">
                <a:solidFill>
                  <a:srgbClr val="2F7FD8"/>
                </a:solidFill>
                <a:latin typeface="Inter SemiBold Text SemiBold" pitchFamily="34" charset="0"/>
                <a:ea typeface="Inter SemiBold Text SemiBold" pitchFamily="34" charset="-122"/>
                <a:cs typeface="Inter SemiBold Text SemiBold" pitchFamily="34" charset="-120"/>
              </a:rPr>
              <a:t>INPUT &amp; INTERMEDIATE VALUES</a:t>
            </a:r>
          </a:p>
        </p:txBody>
      </p:sp>
      <p:sp>
        <p:nvSpPr>
          <p:cNvPr id="12" name="Frame 12"/>
          <p:cNvSpPr/>
          <p:nvPr/>
        </p:nvSpPr>
        <p:spPr>
          <a:xfrm>
            <a:off x="694944" y="4023360"/>
            <a:ext cx="7022592" cy="2203704"/>
          </a:xfrm>
          <a:prstGeom prst="roundRect">
            <a:avLst>
              <a:gd name="adj" fmla="val 5529"/>
            </a:avLst>
          </a:prstGeom>
          <a:solidFill>
            <a:srgbClr val="F4F0FC"/>
          </a:solidFill>
          <a:ln w="19050">
            <a:solidFill>
              <a:srgbClr val="7B57D1"/>
            </a:solidFill>
            <a:prstDash val="solid"/>
          </a:ln>
        </p:spPr>
        <p:txBody>
          <a:bodyPr/>
          <a:lstStyle/>
          <a:p>
            <a:endParaRPr lang="en-GB"/>
          </a:p>
        </p:txBody>
      </p:sp>
      <p:sp>
        <p:nvSpPr>
          <p:cNvPr id="13" name="Text 13"/>
          <p:cNvSpPr txBox="1"/>
          <p:nvPr/>
        </p:nvSpPr>
        <p:spPr>
          <a:xfrm>
            <a:off x="868680" y="4050792"/>
            <a:ext cx="4572000" cy="182880"/>
          </a:xfrm>
          <a:prstGeom prst="rect">
            <a:avLst/>
          </a:prstGeom>
          <a:noFill/>
          <a:ln/>
        </p:spPr>
        <p:txBody>
          <a:bodyPr wrap="square" lIns="0" tIns="0" rIns="0" bIns="0" rtlCol="0" anchor="ctr"/>
          <a:lstStyle/>
          <a:p>
            <a:pPr marL="0" indent="0" algn="l">
              <a:buNone/>
            </a:pPr>
            <a:r>
              <a:rPr lang="en-GB" sz="850" spc="150" dirty="0">
                <a:solidFill>
                  <a:srgbClr val="7B57D1"/>
                </a:solidFill>
                <a:latin typeface="Inter SemiBold Text SemiBold" pitchFamily="34" charset="0"/>
                <a:ea typeface="Inter SemiBold Text SemiBold" pitchFamily="34" charset="-122"/>
                <a:cs typeface="Inter SemiBold Text SemiBold" pitchFamily="34" charset="-120"/>
              </a:rPr>
              <a:t>FINAL RESULTS</a:t>
            </a:r>
          </a:p>
        </p:txBody>
      </p:sp>
      <p:sp>
        <p:nvSpPr>
          <p:cNvPr id="14" name="Card 14"/>
          <p:cNvSpPr/>
          <p:nvPr/>
        </p:nvSpPr>
        <p:spPr>
          <a:xfrm>
            <a:off x="822960" y="245059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5" name="Pill 15"/>
          <p:cNvSpPr/>
          <p:nvPr/>
        </p:nvSpPr>
        <p:spPr>
          <a:xfrm>
            <a:off x="960120" y="2549652"/>
            <a:ext cx="685800" cy="259080"/>
          </a:xfrm>
          <a:prstGeom prst="roundRect">
            <a:avLst>
              <a:gd name="adj" fmla="val 50000"/>
            </a:avLst>
          </a:prstGeom>
          <a:solidFill>
            <a:srgbClr val="D32F2F"/>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BT-146</a:t>
            </a:r>
          </a:p>
        </p:txBody>
      </p:sp>
      <p:sp>
        <p:nvSpPr>
          <p:cNvPr id="16" name="Text 16"/>
          <p:cNvSpPr txBox="1"/>
          <p:nvPr/>
        </p:nvSpPr>
        <p:spPr>
          <a:xfrm>
            <a:off x="1965960" y="246583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Item net price</a:t>
            </a:r>
          </a:p>
        </p:txBody>
      </p:sp>
      <p:sp>
        <p:nvSpPr>
          <p:cNvPr id="17" name="Text 17"/>
          <p:cNvSpPr txBox="1"/>
          <p:nvPr/>
        </p:nvSpPr>
        <p:spPr>
          <a:xfrm>
            <a:off x="1965960" y="265633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BT-148</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BT-147</a:t>
            </a:r>
            <a:r>
              <a:rPr lang="en-GB" sz="800" dirty="0">
                <a:solidFill>
                  <a:srgbClr val="5B6890"/>
                </a:solidFill>
                <a:latin typeface="Inter Text" pitchFamily="34" charset="0"/>
                <a:ea typeface="Inter Text" pitchFamily="34" charset="-122"/>
                <a:cs typeface="Inter Text" pitchFamily="34" charset="-120"/>
              </a:rPr>
              <a:t/>
            </a:r>
          </a:p>
        </p:txBody>
      </p:sp>
      <p:sp>
        <p:nvSpPr>
          <p:cNvPr id="18" name="Pill 18"/>
          <p:cNvSpPr/>
          <p:nvPr/>
        </p:nvSpPr>
        <p:spPr>
          <a:xfrm>
            <a:off x="4773168" y="250393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19" name="Text 19"/>
          <p:cNvSpPr txBox="1"/>
          <p:nvPr/>
        </p:nvSpPr>
        <p:spPr>
          <a:xfrm>
            <a:off x="5989320" y="2481072"/>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20" name="Text 20"/>
          <p:cNvSpPr txBox="1"/>
          <p:nvPr/>
        </p:nvSpPr>
        <p:spPr>
          <a:xfrm>
            <a:off x="5577840" y="271729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as agreed</a:t>
            </a:r>
          </a:p>
        </p:txBody>
      </p:sp>
      <p:cxnSp>
        <p:nvCxnSpPr>
          <p:cNvPr id="21" name="Connector 21"/>
          <p:cNvCxnSpPr/>
          <p:nvPr/>
        </p:nvCxnSpPr>
        <p:spPr>
          <a:xfrm>
            <a:off x="1303020" y="2907792"/>
            <a:ext cx="0" cy="36576"/>
          </a:xfrm>
          <a:prstGeom prst="line">
            <a:avLst/>
          </a:prstGeom>
          <a:ln w="15875">
            <a:solidFill>
              <a:srgbClr val="9AA4C2"/>
            </a:solidFill>
          </a:ln>
        </p:spPr>
      </p:cxnSp>
      <p:sp>
        <p:nvSpPr>
          <p:cNvPr id="22" name="Card 22"/>
          <p:cNvSpPr/>
          <p:nvPr/>
        </p:nvSpPr>
        <p:spPr>
          <a:xfrm>
            <a:off x="822960" y="294436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23" name="Pill 23"/>
          <p:cNvSpPr/>
          <p:nvPr/>
        </p:nvSpPr>
        <p:spPr>
          <a:xfrm>
            <a:off x="960120" y="3043428"/>
            <a:ext cx="685800" cy="259080"/>
          </a:xfrm>
          <a:prstGeom prst="roundRect">
            <a:avLst>
              <a:gd name="adj" fmla="val 50000"/>
            </a:avLst>
          </a:prstGeom>
          <a:solidFill>
            <a:srgbClr val="EF6C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BT-131</a:t>
            </a:r>
          </a:p>
        </p:txBody>
      </p:sp>
      <p:sp>
        <p:nvSpPr>
          <p:cNvPr id="24" name="Text 24"/>
          <p:cNvSpPr txBox="1"/>
          <p:nvPr/>
        </p:nvSpPr>
        <p:spPr>
          <a:xfrm>
            <a:off x="1965960" y="295960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line net amount</a:t>
            </a:r>
          </a:p>
        </p:txBody>
      </p:sp>
      <p:sp>
        <p:nvSpPr>
          <p:cNvPr id="25" name="Text 25"/>
          <p:cNvSpPr txBox="1"/>
          <p:nvPr/>
        </p:nvSpPr>
        <p:spPr>
          <a:xfrm>
            <a:off x="1965960" y="315010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BT-129</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BT-149</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BT-141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BT-136</a:t>
            </a:r>
            <a:r>
              <a:rPr lang="en-GB" sz="800" dirty="0">
                <a:solidFill>
                  <a:srgbClr val="5B6890"/>
                </a:solidFill>
                <a:latin typeface="Inter Text" pitchFamily="34" charset="0"/>
                <a:ea typeface="Inter Text" pitchFamily="34" charset="-122"/>
                <a:cs typeface="Inter Text" pitchFamily="34" charset="-120"/>
              </a:rPr>
              <a:t/>
            </a:r>
          </a:p>
        </p:txBody>
      </p:sp>
      <p:sp>
        <p:nvSpPr>
          <p:cNvPr id="26" name="Pill 26"/>
          <p:cNvSpPr/>
          <p:nvPr/>
        </p:nvSpPr>
        <p:spPr>
          <a:xfrm>
            <a:off x="4773168" y="2997708"/>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27" name="Text 27"/>
          <p:cNvSpPr txBox="1"/>
          <p:nvPr/>
        </p:nvSpPr>
        <p:spPr>
          <a:xfrm>
            <a:off x="5989320" y="2974848"/>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28" name="Text 28"/>
          <p:cNvSpPr txBox="1"/>
          <p:nvPr/>
        </p:nvSpPr>
        <p:spPr>
          <a:xfrm>
            <a:off x="5577840" y="321106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exact</a:t>
            </a:r>
          </a:p>
        </p:txBody>
      </p:sp>
      <p:cxnSp>
        <p:nvCxnSpPr>
          <p:cNvPr id="29" name="Connector 29"/>
          <p:cNvCxnSpPr/>
          <p:nvPr/>
        </p:nvCxnSpPr>
        <p:spPr>
          <a:xfrm>
            <a:off x="1303020" y="3401568"/>
            <a:ext cx="0" cy="36576"/>
          </a:xfrm>
          <a:prstGeom prst="line">
            <a:avLst/>
          </a:prstGeom>
          <a:ln w="15875">
            <a:solidFill>
              <a:srgbClr val="9AA4C2"/>
            </a:solidFill>
          </a:ln>
        </p:spPr>
      </p:cxnSp>
      <p:sp>
        <p:nvSpPr>
          <p:cNvPr id="30" name="Card 30"/>
          <p:cNvSpPr/>
          <p:nvPr/>
        </p:nvSpPr>
        <p:spPr>
          <a:xfrm>
            <a:off x="822960" y="343814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1" name="Pill 31"/>
          <p:cNvSpPr/>
          <p:nvPr/>
        </p:nvSpPr>
        <p:spPr>
          <a:xfrm>
            <a:off x="960120" y="3537204"/>
            <a:ext cx="685800" cy="259080"/>
          </a:xfrm>
          <a:prstGeom prst="roundRect">
            <a:avLst>
              <a:gd name="adj" fmla="val 50000"/>
            </a:avLst>
          </a:prstGeom>
          <a:solidFill>
            <a:srgbClr val="C7910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BT-106</a:t>
            </a:r>
          </a:p>
        </p:txBody>
      </p:sp>
      <p:sp>
        <p:nvSpPr>
          <p:cNvPr id="32" name="Text 32"/>
          <p:cNvSpPr txBox="1"/>
          <p:nvPr/>
        </p:nvSpPr>
        <p:spPr>
          <a:xfrm>
            <a:off x="1965960" y="345338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Sum of invoice line net amount</a:t>
            </a:r>
          </a:p>
        </p:txBody>
      </p:sp>
      <p:sp>
        <p:nvSpPr>
          <p:cNvPr id="33" name="Text 33"/>
          <p:cNvSpPr txBox="1"/>
          <p:nvPr/>
        </p:nvSpPr>
        <p:spPr>
          <a:xfrm>
            <a:off x="1965960" y="364388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a:r>
          </a:p>
        </p:txBody>
      </p:sp>
      <p:sp>
        <p:nvSpPr>
          <p:cNvPr id="34" name="Pill 34"/>
          <p:cNvSpPr/>
          <p:nvPr/>
        </p:nvSpPr>
        <p:spPr>
          <a:xfrm>
            <a:off x="4773168" y="3491484"/>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35" name="Text 35"/>
          <p:cNvSpPr txBox="1"/>
          <p:nvPr/>
        </p:nvSpPr>
        <p:spPr>
          <a:xfrm>
            <a:off x="5989320" y="3468624"/>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36" name="Text 36"/>
          <p:cNvSpPr txBox="1"/>
          <p:nvPr/>
        </p:nvSpPr>
        <p:spPr>
          <a:xfrm>
            <a:off x="5577840" y="3704844"/>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exact sum</a:t>
            </a:r>
          </a:p>
        </p:txBody>
      </p:sp>
      <p:sp>
        <p:nvSpPr>
          <p:cNvPr id="37" name="Card 37"/>
          <p:cNvSpPr/>
          <p:nvPr/>
        </p:nvSpPr>
        <p:spPr>
          <a:xfrm>
            <a:off x="822960" y="4233672"/>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38" name="Pill 38"/>
          <p:cNvSpPr/>
          <p:nvPr/>
        </p:nvSpPr>
        <p:spPr>
          <a:xfrm>
            <a:off x="960120" y="4332732"/>
            <a:ext cx="685800" cy="259080"/>
          </a:xfrm>
          <a:prstGeom prst="roundRect">
            <a:avLst>
              <a:gd name="adj" fmla="val 50000"/>
            </a:avLst>
          </a:prstGeom>
          <a:solidFill>
            <a:srgbClr val="2E7D32"/>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BT-116</a:t>
            </a:r>
          </a:p>
        </p:txBody>
      </p:sp>
      <p:sp>
        <p:nvSpPr>
          <p:cNvPr id="39" name="Text 39"/>
          <p:cNvSpPr txBox="1"/>
          <p:nvPr/>
        </p:nvSpPr>
        <p:spPr>
          <a:xfrm>
            <a:off x="1965960" y="4248912"/>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taxable amount</a:t>
            </a:r>
          </a:p>
        </p:txBody>
      </p:sp>
      <p:sp>
        <p:nvSpPr>
          <p:cNvPr id="40" name="Text 40"/>
          <p:cNvSpPr txBox="1"/>
          <p:nvPr/>
        </p:nvSpPr>
        <p:spPr>
          <a:xfrm>
            <a:off x="1965960" y="4439412"/>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BT-99</a:t>
            </a:r>
            <a:r>
              <a:rPr lang="en-GB" sz="800" dirty="0">
                <a:solidFill>
                  <a:srgbClr val="5B6890"/>
                </a:solidFill>
                <a:latin typeface="Inter Text" pitchFamily="34" charset="0"/>
                <a:ea typeface="Inter Text" pitchFamily="34" charset="-122"/>
                <a:cs typeface="Inter Text" pitchFamily="34" charset="-120"/>
              </a:rPr>
              <a:t/>
            </a:r>
            <a:r>
              <a:rPr lang="en-GB" sz="800" dirty="0">
                <a:solidFill>
                  <a:srgbClr val="5B6890"/>
                </a:solidFill>
                <a:latin typeface="Inter Text" pitchFamily="34" charset="0"/>
                <a:ea typeface="Inter Text" pitchFamily="34" charset="-122"/>
                <a:cs typeface="Inter Text" pitchFamily="34" charset="-120"/>
              </a:rPr>
              <a:t> − Σ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BT-92</a:t>
            </a:r>
            <a:r>
              <a:rPr lang="en-GB" sz="800" dirty="0">
                <a:solidFill>
                  <a:srgbClr val="5B6890"/>
                </a:solidFill>
                <a:latin typeface="Inter Text" pitchFamily="34" charset="0"/>
                <a:ea typeface="Inter Text" pitchFamily="34" charset="-122"/>
                <a:cs typeface="Inter Text" pitchFamily="34" charset="-120"/>
              </a:rPr>
              <a:t/>
            </a:r>
          </a:p>
        </p:txBody>
      </p:sp>
      <p:sp>
        <p:nvSpPr>
          <p:cNvPr id="41" name="Pill 41"/>
          <p:cNvSpPr/>
          <p:nvPr/>
        </p:nvSpPr>
        <p:spPr>
          <a:xfrm>
            <a:off x="4773168" y="4287012"/>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42" name="Text 42"/>
          <p:cNvSpPr txBox="1"/>
          <p:nvPr/>
        </p:nvSpPr>
        <p:spPr>
          <a:xfrm>
            <a:off x="5989320" y="4264152"/>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43" name="Text 43"/>
          <p:cNvSpPr txBox="1"/>
          <p:nvPr/>
        </p:nvSpPr>
        <p:spPr>
          <a:xfrm>
            <a:off x="5577840" y="4500372"/>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exact</a:t>
            </a:r>
          </a:p>
        </p:txBody>
      </p:sp>
      <p:cxnSp>
        <p:nvCxnSpPr>
          <p:cNvPr id="44" name="Connector 44"/>
          <p:cNvCxnSpPr/>
          <p:nvPr/>
        </p:nvCxnSpPr>
        <p:spPr>
          <a:xfrm>
            <a:off x="1303020" y="4690872"/>
            <a:ext cx="0" cy="36576"/>
          </a:xfrm>
          <a:prstGeom prst="line">
            <a:avLst/>
          </a:prstGeom>
          <a:ln w="15875">
            <a:solidFill>
              <a:srgbClr val="9AA4C2"/>
            </a:solidFill>
          </a:ln>
        </p:spPr>
      </p:cxnSp>
      <p:sp>
        <p:nvSpPr>
          <p:cNvPr id="45" name="Card 45"/>
          <p:cNvSpPr/>
          <p:nvPr/>
        </p:nvSpPr>
        <p:spPr>
          <a:xfrm>
            <a:off x="822960" y="4727448"/>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46" name="Pill 46"/>
          <p:cNvSpPr/>
          <p:nvPr/>
        </p:nvSpPr>
        <p:spPr>
          <a:xfrm>
            <a:off x="960120" y="4826508"/>
            <a:ext cx="685800" cy="259080"/>
          </a:xfrm>
          <a:prstGeom prst="roundRect">
            <a:avLst>
              <a:gd name="adj" fmla="val 50000"/>
            </a:avLst>
          </a:prstGeom>
          <a:solidFill>
            <a:srgbClr val="1565C0"/>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BT-117</a:t>
            </a:r>
          </a:p>
        </p:txBody>
      </p:sp>
      <p:sp>
        <p:nvSpPr>
          <p:cNvPr id="47" name="Text 47"/>
          <p:cNvSpPr txBox="1"/>
          <p:nvPr/>
        </p:nvSpPr>
        <p:spPr>
          <a:xfrm>
            <a:off x="1965960" y="4742688"/>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VAT category tax amount</a:t>
            </a:r>
          </a:p>
        </p:txBody>
      </p:sp>
      <p:sp>
        <p:nvSpPr>
          <p:cNvPr id="48" name="Text 48"/>
          <p:cNvSpPr txBox="1"/>
          <p:nvPr/>
        </p:nvSpPr>
        <p:spPr>
          <a:xfrm>
            <a:off x="1965960" y="4933188"/>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BT-119</a:t>
            </a:r>
            <a:r>
              <a:rPr lang="en-GB" sz="800" dirty="0">
                <a:solidFill>
                  <a:srgbClr val="5B6890"/>
                </a:solidFill>
                <a:latin typeface="Inter Text" pitchFamily="34" charset="0"/>
                <a:ea typeface="Inter Text" pitchFamily="34" charset="-122"/>
                <a:cs typeface="Inter Text" pitchFamily="34" charset="-120"/>
              </a:rPr>
              <a:t> ÷ 100</a:t>
            </a:r>
          </a:p>
        </p:txBody>
      </p:sp>
      <p:sp>
        <p:nvSpPr>
          <p:cNvPr id="49" name="Pill 49"/>
          <p:cNvSpPr/>
          <p:nvPr/>
        </p:nvSpPr>
        <p:spPr>
          <a:xfrm>
            <a:off x="4773168" y="4780788"/>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50" name="Text 50"/>
          <p:cNvSpPr txBox="1"/>
          <p:nvPr/>
        </p:nvSpPr>
        <p:spPr>
          <a:xfrm>
            <a:off x="5989320" y="4757928"/>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51" name="Text 51"/>
          <p:cNvSpPr txBox="1"/>
          <p:nvPr/>
        </p:nvSpPr>
        <p:spPr>
          <a:xfrm>
            <a:off x="5577840" y="4994148"/>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Minor Unit only via CIUS → warning</a:t>
            </a:r>
          </a:p>
        </p:txBody>
      </p:sp>
      <p:cxnSp>
        <p:nvCxnSpPr>
          <p:cNvPr id="52" name="Connector 52"/>
          <p:cNvCxnSpPr/>
          <p:nvPr/>
        </p:nvCxnSpPr>
        <p:spPr>
          <a:xfrm>
            <a:off x="1303020" y="5184648"/>
            <a:ext cx="0" cy="36576"/>
          </a:xfrm>
          <a:prstGeom prst="line">
            <a:avLst/>
          </a:prstGeom>
          <a:ln w="15875">
            <a:solidFill>
              <a:srgbClr val="9AA4C2"/>
            </a:solidFill>
          </a:ln>
        </p:spPr>
      </p:cxnSp>
      <p:sp>
        <p:nvSpPr>
          <p:cNvPr id="53" name="Card 53"/>
          <p:cNvSpPr/>
          <p:nvPr/>
        </p:nvSpPr>
        <p:spPr>
          <a:xfrm>
            <a:off x="822960" y="5221224"/>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54" name="Pill 54"/>
          <p:cNvSpPr/>
          <p:nvPr/>
        </p:nvSpPr>
        <p:spPr>
          <a:xfrm>
            <a:off x="960120" y="5320284"/>
            <a:ext cx="685800" cy="259080"/>
          </a:xfrm>
          <a:prstGeom prst="roundRect">
            <a:avLst>
              <a:gd name="adj" fmla="val 50000"/>
            </a:avLst>
          </a:prstGeom>
          <a:solidFill>
            <a:srgbClr val="6A1B9A"/>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BT-110</a:t>
            </a:r>
          </a:p>
        </p:txBody>
      </p:sp>
      <p:sp>
        <p:nvSpPr>
          <p:cNvPr id="55" name="Text 55"/>
          <p:cNvSpPr txBox="1"/>
          <p:nvPr/>
        </p:nvSpPr>
        <p:spPr>
          <a:xfrm>
            <a:off x="1965960" y="5236464"/>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Invoice total VAT amount</a:t>
            </a:r>
          </a:p>
        </p:txBody>
      </p:sp>
      <p:sp>
        <p:nvSpPr>
          <p:cNvPr id="56" name="Text 56"/>
          <p:cNvSpPr txBox="1"/>
          <p:nvPr/>
        </p:nvSpPr>
        <p:spPr>
          <a:xfrm>
            <a:off x="1965960" y="5426964"/>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Σ </a:t>
            </a:r>
            <a:r>
              <a:rPr lang="en-GB" sz="800" b="1" dirty="0">
                <a:solidFill>
                  <a:srgbClr val="1565C0"/>
                </a:solidFill>
                <a:latin typeface="Inter SemiBold Text SemiBold" pitchFamily="34" charset="0"/>
                <a:ea typeface="Inter SemiBold Text SemiBold" pitchFamily="34" charset="-122"/>
                <a:cs typeface="Inter SemiBold Text SemiBold" pitchFamily="34" charset="-120"/>
              </a:rPr>
              <a:t>BT-117</a:t>
            </a:r>
            <a:r>
              <a:rPr lang="en-GB" sz="800" dirty="0">
                <a:solidFill>
                  <a:srgbClr val="5B6890"/>
                </a:solidFill>
                <a:latin typeface="Inter Text" pitchFamily="34" charset="0"/>
                <a:ea typeface="Inter Text" pitchFamily="34" charset="-122"/>
                <a:cs typeface="Inter Text" pitchFamily="34" charset="-120"/>
              </a:rPr>
              <a:t/>
            </a:r>
          </a:p>
        </p:txBody>
      </p:sp>
      <p:sp>
        <p:nvSpPr>
          <p:cNvPr id="57" name="Pill 57"/>
          <p:cNvSpPr/>
          <p:nvPr/>
        </p:nvSpPr>
        <p:spPr>
          <a:xfrm>
            <a:off x="4773168" y="5274564"/>
            <a:ext cx="1207008" cy="350520"/>
          </a:xfrm>
          <a:prstGeom prst="roundRect">
            <a:avLst>
              <a:gd name="adj" fmla="val 50000"/>
            </a:avLst>
          </a:prstGeom>
          <a:solidFill>
            <a:srgbClr val="F4F6FB"/>
          </a:solidFill>
          <a:ln w="9525">
            <a:solidFill>
              <a:srgbClr val="E2E7F2"/>
            </a:solidFill>
            <a:prstDash val="solid"/>
          </a:ln>
        </p:spPr>
        <p:txBody>
          <a:bodyPr wrap="square" lIns="18288" tIns="18288" rIns="18288" bIns="18288" rtlCol="0" anchor="ctr"/>
          <a:lstStyle/>
          <a:p>
            <a:pPr marL="0" indent="0" algn="ctr">
              <a:buNone/>
            </a:pPr>
            <a:r>
              <a:rPr lang="en-GB" sz="1150" dirty="0">
                <a:solidFill>
                  <a:srgbClr val="5B6890"/>
                </a:solidFill>
                <a:latin typeface="Inter SemiBold Text SemiBold" pitchFamily="34" charset="0"/>
                <a:ea typeface="Inter SemiBold Text SemiBold" pitchFamily="34" charset="-122"/>
                <a:cs typeface="Inter SemiBold Text SemiBold" pitchFamily="34" charset="-120"/>
              </a:rPr>
              <a:t>free</a:t>
            </a:r>
          </a:p>
          <a:p>
            <a:pPr marL="0" indent="0" algn="ctr">
              <a:buNone/>
            </a:pPr>
            <a:r>
              <a:rPr lang="en-GB" sz="800" dirty="0">
                <a:solidFill>
                  <a:srgbClr val="5B6890"/>
                </a:solidFill>
                <a:latin typeface="Inter Text" pitchFamily="34" charset="0"/>
                <a:ea typeface="Inter Text" pitchFamily="34" charset="-122"/>
                <a:cs typeface="Inter Text" pitchFamily="34" charset="-120"/>
              </a:rPr>
              <a:t>unrounded</a:t>
            </a:r>
          </a:p>
        </p:txBody>
      </p:sp>
      <p:sp>
        <p:nvSpPr>
          <p:cNvPr id="58" name="Text 58"/>
          <p:cNvSpPr txBox="1"/>
          <p:nvPr/>
        </p:nvSpPr>
        <p:spPr>
          <a:xfrm>
            <a:off x="5989320" y="5251704"/>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59" name="Panel 59"/>
          <p:cNvSpPr/>
          <p:nvPr/>
        </p:nvSpPr>
        <p:spPr>
          <a:xfrm>
            <a:off x="7845552" y="2240280"/>
            <a:ext cx="3520440" cy="1709928"/>
          </a:xfrm>
          <a:prstGeom prst="roundRect">
            <a:avLst>
              <a:gd name="adj" fmla="val 5529"/>
            </a:avLst>
          </a:prstGeom>
          <a:solidFill>
            <a:srgbClr val="1A2B5E"/>
          </a:solidFill>
          <a:ln w="19050">
            <a:solidFill>
              <a:srgbClr val="7DB3FF"/>
            </a:solidFill>
            <a:prstDash val="solid"/>
          </a:ln>
          <a:effectLst>
            <a:outerShdw blurRad="101600" dist="38100" dir="5400000" algn="bl" rotWithShape="0">
              <a:srgbClr val="0A1230">
                <a:alpha val="18000"/>
              </a:srgbClr>
            </a:outerShdw>
          </a:effectLst>
        </p:spPr>
        <p:txBody>
          <a:bodyPr/>
          <a:lstStyle/>
          <a:p>
            <a:endParaRPr lang="en-GB"/>
          </a:p>
        </p:txBody>
      </p:sp>
      <p:sp>
        <p:nvSpPr>
          <p:cNvPr id="60" name="Text 60"/>
          <p:cNvSpPr txBox="1"/>
          <p:nvPr/>
        </p:nvSpPr>
        <p:spPr>
          <a:xfrm>
            <a:off x="8065008" y="2295144"/>
            <a:ext cx="3154680" cy="237744"/>
          </a:xfrm>
          <a:prstGeom prst="rect">
            <a:avLst/>
          </a:prstGeom>
          <a:noFill/>
          <a:ln/>
        </p:spPr>
        <p:txBody>
          <a:bodyPr wrap="square" lIns="0" tIns="0" rIns="0" bIns="0" rtlCol="0" anchor="ctr"/>
          <a:lstStyle/>
          <a:p>
            <a:pPr marL="0" indent="0" algn="l">
              <a:buNone/>
            </a:pPr>
            <a:r>
              <a:rPr lang="en-GB" sz="950" spc="120" dirty="0">
                <a:solidFill>
                  <a:srgbClr val="7DB3FF"/>
                </a:solidFill>
                <a:latin typeface="Inter SemiBold Text SemiBold" pitchFamily="34" charset="0"/>
                <a:ea typeface="Inter SemiBold Text SemiBold" pitchFamily="34" charset="-122"/>
                <a:cs typeface="Inter SemiBold Text SemiBold" pitchFamily="34" charset="-120"/>
              </a:rPr>
              <a:t>ALLOWED DECIMAL PLACES</a:t>
            </a:r>
          </a:p>
        </p:txBody>
      </p:sp>
      <p:sp>
        <p:nvSpPr>
          <p:cNvPr id="79" name="Panel 79"/>
          <p:cNvSpPr/>
          <p:nvPr/>
        </p:nvSpPr>
        <p:spPr>
          <a:xfrm>
            <a:off x="7845552" y="4023360"/>
            <a:ext cx="3520440" cy="2203704"/>
          </a:xfrm>
          <a:prstGeom prst="roundRect">
            <a:avLst>
              <a:gd name="adj" fmla="val 5529"/>
            </a:avLst>
          </a:prstGeom>
          <a:solidFill>
            <a:srgbClr val="1A2B5E"/>
          </a:solidFill>
          <a:ln w="19050">
            <a:solidFill>
              <a:srgbClr val="B9A2FF"/>
            </a:solidFill>
            <a:prstDash val="solid"/>
          </a:ln>
          <a:effectLst>
            <a:outerShdw blurRad="101600" dist="38100" dir="5400000" algn="bl" rotWithShape="0">
              <a:srgbClr val="0A1230">
                <a:alpha val="18000"/>
              </a:srgbClr>
            </a:outerShdw>
          </a:effectLst>
        </p:spPr>
        <p:txBody>
          <a:bodyPr/>
          <a:lstStyle/>
          <a:p>
            <a:endParaRPr lang="en-GB"/>
          </a:p>
        </p:txBody>
      </p:sp>
      <p:sp>
        <p:nvSpPr>
          <p:cNvPr id="80" name="Text 80"/>
          <p:cNvSpPr txBox="1"/>
          <p:nvPr/>
        </p:nvSpPr>
        <p:spPr>
          <a:xfrm>
            <a:off x="8065008" y="4078224"/>
            <a:ext cx="3154680" cy="237744"/>
          </a:xfrm>
          <a:prstGeom prst="rect">
            <a:avLst/>
          </a:prstGeom>
          <a:noFill/>
          <a:ln/>
        </p:spPr>
        <p:txBody>
          <a:bodyPr wrap="square" lIns="0" tIns="0" rIns="0" bIns="0" rtlCol="0" anchor="ctr"/>
          <a:lstStyle/>
          <a:p>
            <a:pPr marL="0" indent="0" algn="l">
              <a:buNone/>
            </a:pPr>
            <a:r>
              <a:rPr lang="en-GB" sz="950" spc="120" dirty="0">
                <a:solidFill>
                  <a:srgbClr val="B9A2FF"/>
                </a:solidFill>
                <a:latin typeface="Inter SemiBold Text SemiBold" pitchFamily="34" charset="0"/>
                <a:ea typeface="Inter SemiBold Text SemiBold" pitchFamily="34" charset="-122"/>
                <a:cs typeface="Inter SemiBold Text SemiBold" pitchFamily="34" charset="-120"/>
              </a:rPr>
              <a:t>DECIMAL PLACES · FINAL VALUES</a:t>
            </a:r>
          </a:p>
        </p:txBody>
      </p:sp>
      <p:sp>
        <p:nvSpPr>
          <p:cNvPr id="81" name="Text 81"/>
          <p:cNvSpPr txBox="1"/>
          <p:nvPr/>
        </p:nvSpPr>
        <p:spPr>
          <a:xfrm>
            <a:off x="8065008" y="4352544"/>
            <a:ext cx="2514600" cy="274320"/>
          </a:xfrm>
          <a:prstGeom prst="rect">
            <a:avLst/>
          </a:prstGeom>
          <a:noFill/>
          <a:ln/>
        </p:spPr>
        <p:txBody>
          <a:bodyPr wrap="none" lIns="0" tIns="0" rIns="0" bIns="0" rtlCol="0" anchor="ctr"/>
          <a:lstStyle/>
          <a:p>
            <a:pPr marL="0" indent="0" algn="l">
              <a:buNone/>
            </a:pPr>
            <a:r>
              <a:rPr lang="en-GB" sz="1000" b="1" dirty="0">
                <a:solidFill>
                  <a:srgbClr val="81C784"/>
                </a:solidFill>
                <a:latin typeface="Inter SemiBold Text SemiBold" pitchFamily="34" charset="0"/>
                <a:ea typeface="Inter SemiBold Text SemiBold" pitchFamily="34" charset="-122"/>
                <a:cs typeface="Inter SemiBold Text SemiBold" pitchFamily="34" charset="-120"/>
              </a:rPr>
              <a:t>BT-116 </a:t>
            </a:r>
            <a:r>
              <a:rPr lang="en-GB" sz="1000" dirty="0">
                <a:solidFill>
                  <a:srgbClr val="9AA4C2"/>
                </a:solidFill>
                <a:latin typeface="Inter Text" pitchFamily="34" charset="0"/>
                <a:ea typeface="Inter Text" pitchFamily="34" charset="-122"/>
                <a:cs typeface="Inter Text" pitchFamily="34" charset="-120"/>
              </a:rPr>
              <a:t>VAT category taxable amount</a:t>
            </a:r>
          </a:p>
        </p:txBody>
      </p:sp>
      <p:sp>
        <p:nvSpPr>
          <p:cNvPr id="82" name="Text 82"/>
          <p:cNvSpPr txBox="1"/>
          <p:nvPr/>
        </p:nvSpPr>
        <p:spPr>
          <a:xfrm>
            <a:off x="10515600" y="4352544"/>
            <a:ext cx="667512" cy="274320"/>
          </a:xfrm>
          <a:prstGeom prst="rect">
            <a:avLst/>
          </a:prstGeom>
          <a:noFill/>
          <a:ln/>
        </p:spPr>
        <p:txBody>
          <a:bodyPr wrap="square" lIns="0" tIns="0" rIns="0" bIns="0" rtlCol="0" anchor="ctr"/>
          <a:lstStyle/>
          <a:p>
            <a:pPr marL="0" indent="0" algn="r">
              <a:buNone/>
            </a:pPr>
            <a:r>
              <a:rPr lang="en-GB" sz="10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83" name="Text 83"/>
          <p:cNvSpPr txBox="1"/>
          <p:nvPr/>
        </p:nvSpPr>
        <p:spPr>
          <a:xfrm>
            <a:off x="8065008" y="4626864"/>
            <a:ext cx="2514600" cy="274320"/>
          </a:xfrm>
          <a:prstGeom prst="rect">
            <a:avLst/>
          </a:prstGeom>
          <a:noFill/>
          <a:ln/>
        </p:spPr>
        <p:txBody>
          <a:bodyPr wrap="none" lIns="0" tIns="0" rIns="0" bIns="0" rtlCol="0" anchor="ctr"/>
          <a:lstStyle/>
          <a:p>
            <a:pPr marL="0" indent="0" algn="l">
              <a:buNone/>
            </a:pPr>
            <a:r>
              <a:rPr lang="en-GB" sz="1000" b="1" dirty="0">
                <a:solidFill>
                  <a:srgbClr val="82B1FF"/>
                </a:solidFill>
                <a:latin typeface="Inter SemiBold Text SemiBold" pitchFamily="34" charset="0"/>
                <a:ea typeface="Inter SemiBold Text SemiBold" pitchFamily="34" charset="-122"/>
                <a:cs typeface="Inter SemiBold Text SemiBold" pitchFamily="34" charset="-120"/>
              </a:rPr>
              <a:t>BT-117 </a:t>
            </a:r>
            <a:r>
              <a:rPr lang="en-GB" sz="1000" dirty="0">
                <a:solidFill>
                  <a:srgbClr val="9AA4C2"/>
                </a:solidFill>
                <a:latin typeface="Inter Text" pitchFamily="34" charset="0"/>
                <a:ea typeface="Inter Text" pitchFamily="34" charset="-122"/>
                <a:cs typeface="Inter Text" pitchFamily="34" charset="-120"/>
              </a:rPr>
              <a:t>VAT category tax amount</a:t>
            </a:r>
          </a:p>
        </p:txBody>
      </p:sp>
      <p:sp>
        <p:nvSpPr>
          <p:cNvPr id="84" name="Text 84"/>
          <p:cNvSpPr txBox="1"/>
          <p:nvPr/>
        </p:nvSpPr>
        <p:spPr>
          <a:xfrm>
            <a:off x="10515600" y="4626864"/>
            <a:ext cx="667512" cy="274320"/>
          </a:xfrm>
          <a:prstGeom prst="rect">
            <a:avLst/>
          </a:prstGeom>
          <a:noFill/>
          <a:ln/>
        </p:spPr>
        <p:txBody>
          <a:bodyPr wrap="square" lIns="0" tIns="0" rIns="0" bIns="0" rtlCol="0" anchor="ctr"/>
          <a:lstStyle/>
          <a:p>
            <a:pPr marL="0" indent="0" algn="r">
              <a:buNone/>
            </a:pPr>
            <a:r>
              <a:rPr lang="en-GB" sz="10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85" name="Text 85"/>
          <p:cNvSpPr txBox="1"/>
          <p:nvPr/>
        </p:nvSpPr>
        <p:spPr>
          <a:xfrm>
            <a:off x="8065008" y="4901184"/>
            <a:ext cx="2514600" cy="274320"/>
          </a:xfrm>
          <a:prstGeom prst="rect">
            <a:avLst/>
          </a:prstGeom>
          <a:noFill/>
          <a:ln/>
        </p:spPr>
        <p:txBody>
          <a:bodyPr wrap="none" lIns="0" tIns="0" rIns="0" bIns="0" rtlCol="0" anchor="ctr"/>
          <a:lstStyle/>
          <a:p>
            <a:pPr marL="0" indent="0" algn="l">
              <a:buNone/>
            </a:pPr>
            <a:r>
              <a:rPr lang="en-GB" sz="1000" b="1" dirty="0">
                <a:solidFill>
                  <a:srgbClr val="CE93D8"/>
                </a:solidFill>
                <a:latin typeface="Inter SemiBold Text SemiBold" pitchFamily="34" charset="0"/>
                <a:ea typeface="Inter SemiBold Text SemiBold" pitchFamily="34" charset="-122"/>
                <a:cs typeface="Inter SemiBold Text SemiBold" pitchFamily="34" charset="-120"/>
              </a:rPr>
              <a:t>BT-110 </a:t>
            </a:r>
            <a:r>
              <a:rPr lang="en-GB" sz="1000" dirty="0">
                <a:solidFill>
                  <a:srgbClr val="9AA4C2"/>
                </a:solidFill>
                <a:latin typeface="Inter Text" pitchFamily="34" charset="0"/>
                <a:ea typeface="Inter Text" pitchFamily="34" charset="-122"/>
                <a:cs typeface="Inter Text" pitchFamily="34" charset="-120"/>
              </a:rPr>
              <a:t>Invoice total VAT amount</a:t>
            </a:r>
          </a:p>
        </p:txBody>
      </p:sp>
      <p:sp>
        <p:nvSpPr>
          <p:cNvPr id="86" name="Text 86"/>
          <p:cNvSpPr txBox="1"/>
          <p:nvPr/>
        </p:nvSpPr>
        <p:spPr>
          <a:xfrm>
            <a:off x="10515600" y="4901184"/>
            <a:ext cx="667512" cy="274320"/>
          </a:xfrm>
          <a:prstGeom prst="rect">
            <a:avLst/>
          </a:prstGeom>
          <a:noFill/>
          <a:ln/>
        </p:spPr>
        <p:txBody>
          <a:bodyPr wrap="square" lIns="0" tIns="0" rIns="0" bIns="0" rtlCol="0" anchor="ctr"/>
          <a:lstStyle/>
          <a:p>
            <a:pPr marL="0" indent="0" algn="r">
              <a:buNone/>
            </a:pPr>
            <a:r>
              <a:rPr lang="en-GB" sz="10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87" name="Text 87"/>
          <p:cNvSpPr txBox="1"/>
          <p:nvPr/>
        </p:nvSpPr>
        <p:spPr>
          <a:xfrm>
            <a:off x="8065008" y="5669280"/>
            <a:ext cx="3108960" cy="457200"/>
          </a:xfrm>
          <a:prstGeom prst="rect">
            <a:avLst/>
          </a:prstGeom>
          <a:noFill/>
          <a:ln/>
        </p:spPr>
        <p:txBody>
          <a:bodyPr wrap="square" lIns="0" tIns="0" rIns="0" bIns="0" rtlCol="0" anchor="ctr"/>
          <a:lstStyle/>
          <a:p>
            <a:pPr marL="0" indent="0" algn="l">
              <a:buNone/>
            </a:pPr>
            <a:r>
              <a:rPr lang="en-GB" sz="950" dirty="0">
                <a:solidFill>
                  <a:srgbClr val="B9A2FF"/>
                </a:solidFill>
                <a:latin typeface="Inter SemiBold Text SemiBold" pitchFamily="34" charset="0"/>
                <a:ea typeface="Inter SemiBold Text SemiBold" pitchFamily="34" charset="-122"/>
                <a:cs typeface="Inter SemiBold Text SemiBold" pitchFamily="34" charset="-120"/>
              </a:rPr>
              <a:t>Worst case </a:t>
            </a:r>
            <a:r>
              <a:rPr lang="en-GB" sz="950" dirty="0">
                <a:solidFill>
                  <a:srgbClr val="9AA4C2"/>
                </a:solidFill>
                <a:latin typeface="Inter Text" pitchFamily="34" charset="0"/>
                <a:ea typeface="Inter Text" pitchFamily="34" charset="-122"/>
                <a:cs typeface="Inter Text" pitchFamily="34" charset="-120"/>
              </a:rPr>
              <a:t>with number of lines and quantity:</a:t>
            </a:r>
          </a:p>
          <a:p>
            <a:pPr marL="0" indent="0" algn="l">
              <a:buNone/>
            </a:pPr>
            <a:r>
              <a:rPr lang="en-GB" sz="950" dirty="0">
                <a:solidFill>
                  <a:srgbClr val="9AA4C2"/>
                </a:solidFill>
                <a:latin typeface="Inter Text" pitchFamily="34" charset="0"/>
                <a:ea typeface="Inter Text" pitchFamily="34" charset="-122"/>
                <a:cs typeface="Inter Text" pitchFamily="34" charset="-120"/>
              </a:rPr>
              <a:t>→ “How large does the deviation get?”</a:t>
            </a:r>
          </a:p>
        </p:txBody>
      </p:sp>
      <p:sp>
        <p:nvSpPr>
          <p:cNvPr id="88" name="Text 88"/>
          <p:cNvSpPr txBox="1"/>
          <p:nvPr/>
        </p:nvSpPr>
        <p:spPr>
          <a:xfrm>
            <a:off x="822960" y="6309360"/>
            <a:ext cx="6766560" cy="402336"/>
          </a:xfrm>
          <a:prstGeom prst="rect">
            <a:avLst/>
          </a:prstGeom>
          <a:noFill/>
          <a:ln/>
        </p:spPr>
        <p:txBody>
          <a:bodyPr wrap="square" lIns="0" tIns="0" rIns="0" bIns="0" rtlCol="0" anchor="ctr"/>
          <a:lstStyle/>
          <a:p>
            <a:pPr marL="0" indent="0" algn="l">
              <a:buNone/>
            </a:pPr>
            <a:r>
              <a:rPr lang="en-GB" sz="850" dirty="0">
                <a:solidFill>
                  <a:srgbClr val="C0392B"/>
                </a:solidFill>
                <a:latin typeface="Inter SemiBold Text SemiBold" pitchFamily="34" charset="0"/>
                <a:ea typeface="Inter SemiBold Text SemiBold" pitchFamily="34" charset="-122"/>
                <a:cs typeface="Inter SemiBold Text SemiBold" pitchFamily="34" charset="-120"/>
              </a:rPr>
              <a:t>Red</a:t>
            </a:r>
            <a:r>
              <a:rPr lang="en-GB" sz="850" dirty="0">
                <a:solidFill>
                  <a:srgbClr val="9AA4C2"/>
                </a:solidFill>
                <a:latin typeface="Inter Text" pitchFamily="34" charset="0"/>
                <a:ea typeface="Inter Text" pitchFamily="34" charset="-122"/>
                <a:cs typeface="Inter Text" pitchFamily="34" charset="-120"/>
              </a:rPr>
              <a:t> = rounded intermediate value   </a:t>
            </a:r>
            <a:r>
              <a:rPr lang="en-GB" sz="850" dirty="0">
                <a:solidFill>
                  <a:srgbClr val="1E8A4C"/>
                </a:solidFill>
                <a:latin typeface="Inter SemiBold Text SemiBold" pitchFamily="34" charset="0"/>
                <a:ea typeface="Inter SemiBold Text SemiBold" pitchFamily="34" charset="-122"/>
                <a:cs typeface="Inter SemiBold Text SemiBold" pitchFamily="34" charset="-120"/>
              </a:rPr>
              <a:t>Green</a:t>
            </a:r>
            <a:r>
              <a:rPr lang="en-GB" sz="850" dirty="0">
                <a:solidFill>
                  <a:srgbClr val="9AA4C2"/>
                </a:solidFill>
                <a:latin typeface="Inter Text" pitchFamily="34" charset="0"/>
                <a:ea typeface="Inter Text" pitchFamily="34" charset="-122"/>
                <a:cs typeface="Inter Text" pitchFamily="34" charset="-120"/>
              </a:rPr>
              <a:t> = paid amount, rounded once (bank)   </a:t>
            </a:r>
            <a:r>
              <a:rPr lang="en-GB" sz="850" dirty="0">
                <a:solidFill>
                  <a:srgbClr val="D98A00"/>
                </a:solidFill>
                <a:latin typeface="Inter SemiBold Text SemiBold" pitchFamily="34" charset="0"/>
                <a:ea typeface="Inter SemiBold Text SemiBold" pitchFamily="34" charset="-122"/>
                <a:cs typeface="Inter SemiBold Text SemiBold" pitchFamily="34" charset="-120"/>
              </a:rPr>
              <a:t>Orange</a:t>
            </a:r>
            <a:r>
              <a:rPr lang="en-GB" sz="850" dirty="0">
                <a:solidFill>
                  <a:srgbClr val="9AA4C2"/>
                </a:solidFill>
                <a:latin typeface="Inter Text" pitchFamily="34" charset="0"/>
                <a:ea typeface="Inter Text" pitchFamily="34" charset="-122"/>
                <a:cs typeface="Inter Text" pitchFamily="34" charset="-120"/>
              </a:rPr>
              <a:t> = rounded input value</a:t>
            </a:r>
          </a:p>
          <a:p>
            <a:pPr marL="0" indent="0" algn="l">
              <a:buNone/>
            </a:pPr>
            <a:r>
              <a:rPr lang="en-GB" sz="850" dirty="0">
                <a:solidFill>
                  <a:srgbClr val="9AA4C2"/>
                </a:solidFill>
                <a:latin typeface="Inter Text" pitchFamily="34" charset="0"/>
                <a:ea typeface="Inter Text" pitchFamily="34" charset="-122"/>
                <a:cs typeface="Inter Text" pitchFamily="34" charset="-120"/>
              </a:rPr>
              <a:t>dp = decimal places · Minor Unit = smallest currency unit, ISO 4217 (EUR: 2 dp) · ± for 100 lines of 100 units, 19% VAT</a:t>
            </a:r>
          </a:p>
          <a:p>
            <a:pPr marL="0" indent="0" algn="l">
              <a:buNone/>
            </a:pPr>
            <a:r>
              <a:rPr lang="en-GB" sz="850" dirty="0">
                <a:solidFill>
                  <a:srgbClr val="D32F2F"/>
                </a:solidFill>
                <a:latin typeface="Inter SemiBold Text SemiBold" pitchFamily="34" charset="0"/>
                <a:ea typeface="Inter SemiBold Text SemiBold" pitchFamily="34" charset="-122"/>
                <a:cs typeface="Inter SemiBold Text SemiBold" pitchFamily="34" charset="-120"/>
              </a:rPr>
              <a:t>Rain</a:t>
            </a:r>
            <a:r>
              <a:rPr lang="en-GB" sz="850" dirty="0">
                <a:solidFill>
                  <a:srgbClr val="C79100"/>
                </a:solidFill>
                <a:latin typeface="Inter SemiBold Text SemiBold" pitchFamily="34" charset="0"/>
                <a:ea typeface="Inter SemiBold Text SemiBold" pitchFamily="34" charset="-122"/>
                <a:cs typeface="Inter SemiBold Text SemiBold" pitchFamily="34" charset="-120"/>
              </a:rPr>
              <a:t>bo</a:t>
            </a:r>
            <a:r>
              <a:rPr lang="en-GB" sz="850" dirty="0">
                <a:solidFill>
                  <a:srgbClr val="1565C0"/>
                </a:solidFill>
                <a:latin typeface="Inter SemiBold Text SemiBold" pitchFamily="34" charset="0"/>
                <a:ea typeface="Inter SemiBold Text SemiBold" pitchFamily="34" charset="-122"/>
                <a:cs typeface="Inter SemiBold Text SemiBold" pitchFamily="34" charset="-120"/>
              </a:rPr>
              <a:t>w</a:t>
            </a:r>
            <a:r>
              <a:rPr lang="en-GB" sz="850" dirty="0">
                <a:solidFill>
                  <a:srgbClr val="9AA4C2"/>
                </a:solidFill>
                <a:latin typeface="Inter Text" pitchFamily="34" charset="0"/>
                <a:ea typeface="Inter Text" pitchFamily="34" charset="-122"/>
                <a:cs typeface="Inter Text" pitchFamily="34" charset="-120"/>
              </a:rPr>
              <a:t> = order of the calculation steps; a BT keeps its colour where it is reused further down</a:t>
            </a:r>
          </a:p>
        </p:txBody>
      </p:sp>
      <p:sp>
        <p:nvSpPr>
          <p:cNvPr id="89" name="Card 89"/>
          <p:cNvSpPr/>
          <p:nvPr/>
        </p:nvSpPr>
        <p:spPr>
          <a:xfrm>
            <a:off x="822960" y="5715000"/>
            <a:ext cx="6766560" cy="457200"/>
          </a:xfrm>
          <a:prstGeom prst="roundRect">
            <a:avLst>
              <a:gd name="adj" fmla="val 11666"/>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0" name="Pill 90"/>
          <p:cNvSpPr/>
          <p:nvPr/>
        </p:nvSpPr>
        <p:spPr>
          <a:xfrm>
            <a:off x="960120" y="5814060"/>
            <a:ext cx="685800" cy="259080"/>
          </a:xfrm>
          <a:prstGeom prst="roundRect">
            <a:avLst>
              <a:gd name="adj" fmla="val 50000"/>
            </a:avLst>
          </a:prstGeom>
          <a:solidFill>
            <a:srgbClr val="AD1457"/>
          </a:solidFill>
          <a:ln>
            <a:noFill/>
          </a:ln>
        </p:spPr>
        <p:txBody>
          <a:bodyPr wrap="square" lIns="36576" tIns="36576" rIns="36576" bIns="36576" rtlCol="0" anchor="ctr"/>
          <a:lstStyle/>
          <a:p>
            <a:pPr marL="0" indent="0" algn="ctr">
              <a:buNone/>
            </a:pPr>
            <a:r>
              <a:rPr lang="en-GB" sz="1150" dirty="0">
                <a:solidFill>
                  <a:srgbClr val="FFFFFF"/>
                </a:solidFill>
                <a:latin typeface="Inter SemiBold Text SemiBold" pitchFamily="34" charset="0"/>
                <a:ea typeface="Inter SemiBold Text SemiBold" pitchFamily="34" charset="-122"/>
                <a:cs typeface="Inter SemiBold Text SemiBold" pitchFamily="34" charset="-120"/>
              </a:rPr>
              <a:t>BT-115</a:t>
            </a:r>
          </a:p>
        </p:txBody>
      </p:sp>
      <p:sp>
        <p:nvSpPr>
          <p:cNvPr id="91" name="Text 91"/>
          <p:cNvSpPr txBox="1"/>
          <p:nvPr/>
        </p:nvSpPr>
        <p:spPr>
          <a:xfrm>
            <a:off x="1965960" y="5730240"/>
            <a:ext cx="2788920" cy="198120"/>
          </a:xfrm>
          <a:prstGeom prst="rect">
            <a:avLst/>
          </a:prstGeom>
          <a:noFill/>
          <a:ln/>
        </p:spPr>
        <p:txBody>
          <a:bodyPr wrap="none" lIns="0" tIns="0" rIns="0" bIns="0" rtlCol="0" anchor="ctr"/>
          <a:lstStyle/>
          <a:p>
            <a:pPr marL="0" indent="0" algn="l">
              <a:buNone/>
            </a:pPr>
            <a:r>
              <a:rPr lang="en-GB" sz="1150" dirty="0">
                <a:solidFill>
                  <a:srgbClr val="1A2B5E"/>
                </a:solidFill>
                <a:latin typeface="Inter SemiBold Text SemiBold" pitchFamily="34" charset="0"/>
                <a:ea typeface="Inter SemiBold Text SemiBold" pitchFamily="34" charset="-122"/>
                <a:cs typeface="Inter SemiBold Text SemiBold" pitchFamily="34" charset="-120"/>
              </a:rPr>
              <a:t>Amount due for payment</a:t>
            </a:r>
          </a:p>
        </p:txBody>
      </p:sp>
      <p:sp>
        <p:nvSpPr>
          <p:cNvPr id="92" name="Text 92"/>
          <p:cNvSpPr txBox="1"/>
          <p:nvPr/>
        </p:nvSpPr>
        <p:spPr>
          <a:xfrm>
            <a:off x="1965960" y="5920740"/>
            <a:ext cx="2788920" cy="243840"/>
          </a:xfrm>
          <a:prstGeom prst="rect">
            <a:avLst/>
          </a:prstGeom>
          <a:noFill/>
          <a:ln/>
        </p:spPr>
        <p:txBody>
          <a:bodyPr wrap="square" lIns="0" tIns="0" rIns="0" bIns="0" rtlCol="0" anchor="t"/>
          <a:lstStyle/>
          <a:p>
            <a:pPr marL="0" indent="0" algn="l">
              <a:lnSpc>
                <a:spcPct val="95000"/>
              </a:lnSpc>
              <a:buNone/>
            </a:pPr>
            <a:r>
              <a:rPr lang="en-GB" sz="800" dirty="0">
                <a:solidFill>
                  <a:srgbClr val="5B6890"/>
                </a:solidFill>
                <a:latin typeface="Inter Text" pitchFamily="34" charset="0"/>
                <a:ea typeface="Inter Text" pitchFamily="34" charset="-122"/>
                <a:cs typeface="Inter Text" pitchFamily="34" charset="-120"/>
              </a:rPr>
              <a:t>= </a:t>
            </a:r>
            <a:r>
              <a:rPr lang="en-GB" sz="800" b="1" dirty="0">
                <a:solidFill>
                  <a:srgbClr val="6A1B9A"/>
                </a:solidFill>
                <a:latin typeface="Inter SemiBold Text SemiBold" pitchFamily="34" charset="0"/>
                <a:ea typeface="Inter SemiBold Text SemiBold" pitchFamily="34" charset="-122"/>
                <a:cs typeface="Inter SemiBold Text SemiBold" pitchFamily="34" charset="-120"/>
              </a:rPr>
              <a:t>BT-110</a:t>
            </a:r>
            <a:r>
              <a:rPr lang="en-GB" sz="800" dirty="0">
                <a:solidFill>
                  <a:srgbClr val="5B6890"/>
                </a:solidFill>
                <a:latin typeface="Inter Text" pitchFamily="34" charset="0"/>
                <a:ea typeface="Inter Text" pitchFamily="34" charset="-122"/>
                <a:cs typeface="Inter Text" pitchFamily="34" charset="-120"/>
              </a:rPr>
              <a: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BT-109</a:t>
            </a:r>
            <a:r>
              <a:rPr lang="en-GB" sz="800" dirty="0">
                <a:solidFill>
                  <a:srgbClr val="5B6890"/>
                </a:solidFill>
                <a:latin typeface="Inter Text" pitchFamily="34" charset="0"/>
                <a:ea typeface="Inter Text" pitchFamily="34" charset="-122"/>
                <a:cs typeface="Inter Text" pitchFamily="34" charset="-120"/>
              </a:rPr>
              <a:t> Invoice total amount without VAT</a:t>
            </a:r>
            <a:br>
              <a:rPr lang="en-GB" sz="800" dirty="0">
                <a:solidFill>
                  <a:srgbClr val="5B6890"/>
                </a:solidFill>
                <a:latin typeface="Inter Text" pitchFamily="34" charset="0"/>
                <a:ea typeface="Inter Text" pitchFamily="34" charset="-122"/>
                <a:cs typeface="Inter Text" pitchFamily="34" charset="-120"/>
              </a:rPr>
            </a:br>
            <a:r>
              <a:rPr lang="en-GB" sz="800" dirty="0">
                <a:solidFill>
                  <a:srgbClr val="5B6890"/>
                </a:solidFill>
                <a:latin typeface="Inter Text" pitchFamily="34" charset="0"/>
                <a:ea typeface="Inter Text" pitchFamily="34" charset="-122"/>
                <a:cs typeface="Inter Text" pitchFamily="34" charset="-120"/>
              </a:rPr>
              <a:t>−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BT-113</a:t>
            </a:r>
            <a:r>
              <a:rPr lang="en-GB" sz="800" dirty="0">
                <a:solidFill>
                  <a:srgbClr val="5B6890"/>
                </a:solidFill>
                <a:latin typeface="Inter Text" pitchFamily="34" charset="0"/>
                <a:ea typeface="Inter Text" pitchFamily="34" charset="-122"/>
                <a:cs typeface="Inter Text" pitchFamily="34" charset="-120"/>
              </a:rPr>
              <a:t> Paid amount + </a:t>
            </a:r>
            <a:r>
              <a:rPr lang="en-GB" sz="800" dirty="0">
                <a:solidFill>
                  <a:srgbClr val="1A2B5E"/>
                </a:solidFill>
                <a:latin typeface="Inter SemiBold Text SemiBold" pitchFamily="34" charset="0"/>
                <a:ea typeface="Inter SemiBold Text SemiBold" pitchFamily="34" charset="-122"/>
                <a:cs typeface="Inter SemiBold Text SemiBold" pitchFamily="34" charset="-120"/>
              </a:rPr>
              <a:t>BT-114</a:t>
            </a:r>
            <a:r>
              <a:rPr lang="en-GB" sz="800" dirty="0">
                <a:solidFill>
                  <a:srgbClr val="5B6890"/>
                </a:solidFill>
                <a:latin typeface="Inter Text" pitchFamily="34" charset="0"/>
                <a:ea typeface="Inter Text" pitchFamily="34" charset="-122"/>
                <a:cs typeface="Inter Text" pitchFamily="34" charset="-120"/>
              </a:rPr>
              <a:t> Rounding amount</a:t>
            </a:r>
          </a:p>
        </p:txBody>
      </p:sp>
      <p:sp>
        <p:nvSpPr>
          <p:cNvPr id="93" name="Pill 93"/>
          <p:cNvSpPr/>
          <p:nvPr/>
        </p:nvSpPr>
        <p:spPr>
          <a:xfrm>
            <a:off x="4773168" y="5768340"/>
            <a:ext cx="1207008" cy="350520"/>
          </a:xfrm>
          <a:prstGeom prst="roundRect">
            <a:avLst>
              <a:gd name="adj" fmla="val 50000"/>
            </a:avLst>
          </a:prstGeom>
          <a:solidFill>
            <a:srgbClr val="E8F6EE"/>
          </a:solidFill>
          <a:ln w="9525">
            <a:solidFill>
              <a:srgbClr val="B7E1C7"/>
            </a:solidFill>
            <a:prstDash val="solid"/>
          </a:ln>
        </p:spPr>
        <p:txBody>
          <a:bodyPr wrap="square" lIns="18288" tIns="18288" rIns="18288" bIns="18288" rtlCol="0" anchor="ctr"/>
          <a:lstStyle/>
          <a:p>
            <a:pPr marL="0" indent="0" algn="ctr">
              <a:buNone/>
            </a:pPr>
            <a:r>
              <a:rPr lang="en-GB" sz="1150" dirty="0">
                <a:solidFill>
                  <a:srgbClr val="1E8A4C"/>
                </a:solidFill>
                <a:latin typeface="Inter SemiBold Text SemiBold" pitchFamily="34" charset="0"/>
                <a:ea typeface="Inter SemiBold Text SemiBold" pitchFamily="34" charset="-122"/>
                <a:cs typeface="Inter SemiBold Text SemiBold" pitchFamily="34" charset="-120"/>
              </a:rPr>
              <a:t>Minor Unit</a:t>
            </a:r>
          </a:p>
          <a:p>
            <a:pPr marL="0" indent="0" algn="ctr">
              <a:buNone/>
            </a:pPr>
            <a:r>
              <a:rPr lang="en-GB" sz="800" dirty="0">
                <a:solidFill>
                  <a:srgbClr val="1E8A4C"/>
                </a:solidFill>
                <a:latin typeface="Inter Text" pitchFamily="34" charset="0"/>
                <a:ea typeface="Inter Text" pitchFamily="34" charset="-122"/>
                <a:cs typeface="Inter Text" pitchFamily="34" charset="-120"/>
              </a:rPr>
              <a:t>rounded once</a:t>
            </a:r>
          </a:p>
        </p:txBody>
      </p:sp>
      <p:sp>
        <p:nvSpPr>
          <p:cNvPr id="94" name="Text 94"/>
          <p:cNvSpPr txBox="1"/>
          <p:nvPr/>
        </p:nvSpPr>
        <p:spPr>
          <a:xfrm>
            <a:off x="5989320" y="5745480"/>
            <a:ext cx="1508760" cy="243840"/>
          </a:xfrm>
          <a:prstGeom prst="rect">
            <a:avLst/>
          </a:prstGeom>
          <a:noFill/>
          <a:ln/>
        </p:spPr>
        <p:txBody>
          <a:bodyPr wrap="square" lIns="0" tIns="0" rIns="0" bIns="0" rtlCol="0" anchor="ctr"/>
          <a:lstStyle/>
          <a:p>
            <a:pPr marL="0" indent="0" algn="r">
              <a:buNone/>
            </a:pPr>
            <a:r>
              <a:rPr lang="en-GB" sz="1300" b="1" dirty="0">
                <a:solidFill>
                  <a:srgbClr val="1E8A4C"/>
                </a:solidFill>
                <a:latin typeface="Consolas" pitchFamily="34" charset="0"/>
                <a:ea typeface="Consolas" pitchFamily="34" charset="-122"/>
                <a:cs typeface="Consolas" pitchFamily="34" charset="-120"/>
              </a:rPr>
              <a:t>± 0</a:t>
            </a:r>
          </a:p>
        </p:txBody>
      </p:sp>
      <p:sp>
        <p:nvSpPr>
          <p:cNvPr id="95" name="Text 95"/>
          <p:cNvSpPr txBox="1"/>
          <p:nvPr/>
        </p:nvSpPr>
        <p:spPr>
          <a:xfrm>
            <a:off x="5577840" y="5981700"/>
            <a:ext cx="1920240" cy="167640"/>
          </a:xfrm>
          <a:prstGeom prst="rect">
            <a:avLst/>
          </a:prstGeom>
          <a:noFill/>
          <a:ln/>
        </p:spPr>
        <p:txBody>
          <a:bodyPr wrap="square" lIns="0" tIns="0" rIns="0" bIns="0" rtlCol="0" anchor="ctr"/>
          <a:lstStyle/>
          <a:p>
            <a:pPr marL="0" indent="0" algn="r">
              <a:buNone/>
            </a:pPr>
            <a:r>
              <a:rPr lang="en-GB" sz="850" dirty="0">
                <a:solidFill>
                  <a:srgbClr val="9AA4C2"/>
                </a:solidFill>
                <a:latin typeface="Inter Text" pitchFamily="34" charset="0"/>
                <a:ea typeface="Inter Text" pitchFamily="34" charset="-122"/>
                <a:cs typeface="Inter Text" pitchFamily="34" charset="-120"/>
              </a:rPr>
              <a:t>BT-114 shows the rounding</a:t>
            </a:r>
          </a:p>
        </p:txBody>
      </p:sp>
      <p:cxnSp>
        <p:nvCxnSpPr>
          <p:cNvPr id="96" name="Connector 96"/>
          <p:cNvCxnSpPr/>
          <p:nvPr/>
        </p:nvCxnSpPr>
        <p:spPr>
          <a:xfrm>
            <a:off x="1303020" y="5678424"/>
            <a:ext cx="0" cy="36576"/>
          </a:xfrm>
          <a:prstGeom prst="line">
            <a:avLst/>
          </a:prstGeom>
          <a:ln w="15875">
            <a:solidFill>
              <a:srgbClr val="9AA4C2"/>
            </a:solidFill>
          </a:ln>
        </p:spPr>
      </p:cxnSp>
      <p:sp>
        <p:nvSpPr>
          <p:cNvPr id="97" name="Text 97"/>
          <p:cNvSpPr txBox="1"/>
          <p:nvPr/>
        </p:nvSpPr>
        <p:spPr>
          <a:xfrm>
            <a:off x="8065008" y="5175504"/>
            <a:ext cx="2514600" cy="274320"/>
          </a:xfrm>
          <a:prstGeom prst="rect">
            <a:avLst/>
          </a:prstGeom>
          <a:noFill/>
          <a:ln/>
        </p:spPr>
        <p:txBody>
          <a:bodyPr wrap="none" lIns="0" tIns="0" rIns="0" bIns="0" rtlCol="0" anchor="ctr"/>
          <a:lstStyle/>
          <a:p>
            <a:pPr marL="0" indent="0" algn="l">
              <a:buNone/>
            </a:pPr>
            <a:r>
              <a:rPr lang="en-GB" sz="1000" b="1" dirty="0">
                <a:solidFill>
                  <a:srgbClr val="F48FB1"/>
                </a:solidFill>
                <a:latin typeface="Inter SemiBold Text SemiBold" pitchFamily="34" charset="0"/>
                <a:ea typeface="Inter SemiBold Text SemiBold" pitchFamily="34" charset="-122"/>
                <a:cs typeface="Inter SemiBold Text SemiBold" pitchFamily="34" charset="-120"/>
              </a:rPr>
              <a:t>BT-115 </a:t>
            </a:r>
            <a:r>
              <a:rPr lang="en-GB" sz="1000" dirty="0">
                <a:solidFill>
                  <a:srgbClr val="9AA4C2"/>
                </a:solidFill>
                <a:latin typeface="Inter Text" pitchFamily="34" charset="0"/>
                <a:ea typeface="Inter Text" pitchFamily="34" charset="-122"/>
                <a:cs typeface="Inter Text" pitchFamily="34" charset="-120"/>
              </a:rPr>
              <a:t>Amount due for payment</a:t>
            </a:r>
          </a:p>
        </p:txBody>
      </p:sp>
      <p:sp>
        <p:nvSpPr>
          <p:cNvPr id="98" name="Text 98"/>
          <p:cNvSpPr txBox="1"/>
          <p:nvPr/>
        </p:nvSpPr>
        <p:spPr>
          <a:xfrm>
            <a:off x="9994392" y="5175504"/>
            <a:ext cx="1188720" cy="274320"/>
          </a:xfrm>
          <a:prstGeom prst="rect">
            <a:avLst/>
          </a:prstGeom>
          <a:noFill/>
          <a:ln/>
        </p:spPr>
        <p:txBody>
          <a:bodyPr wrap="none" lIns="0" tIns="0" rIns="0" bIns="0" rtlCol="0" anchor="ctr"/>
          <a:lstStyle/>
          <a:p>
            <a:pPr marL="0" indent="0" algn="r">
              <a:buNone/>
            </a:pPr>
            <a:r>
              <a:rPr lang="en-GB" sz="1000" dirty="0">
                <a:solidFill>
                  <a:srgbClr val="81C784"/>
                </a:solidFill>
                <a:latin typeface="Inter SemiBold Text SemiBold" pitchFamily="34" charset="0"/>
                <a:ea typeface="Inter SemiBold Text SemiBold" pitchFamily="34" charset="-122"/>
                <a:cs typeface="Inter SemiBold Text SemiBold" pitchFamily="34" charset="-120"/>
              </a:rPr>
              <a:t>Minor Unit</a:t>
            </a:r>
          </a:p>
        </p:txBody>
      </p:sp>
      <p:sp>
        <p:nvSpPr>
          <p:cNvPr id="99" name="Reuse 99"/>
          <p:cNvSpPr/>
          <p:nvPr/>
        </p:nvSpPr>
        <p:spPr>
          <a:xfrm>
            <a:off x="1645920" y="2679192"/>
            <a:ext cx="309067" cy="530351"/>
          </a:xfrm>
          <a:custGeom>
            <a:avLst/>
            <a:gdLst/>
            <a:ahLst/>
            <a:cxnLst/>
            <a:rect l="l" t="t" r="r" b="b"/>
            <a:pathLst>
              <a:path w="309067" h="530351" fill="none">
                <a:moveTo>
                  <a:pt x="0" y="0"/>
                </a:moveTo>
                <a:lnTo>
                  <a:pt x="256032" y="0"/>
                </a:lnTo>
                <a:lnTo>
                  <a:pt x="256032" y="530351"/>
                </a:lnTo>
                <a:lnTo>
                  <a:pt x="309067" y="530351"/>
                </a:lnTo>
              </a:path>
            </a:pathLst>
          </a:custGeom>
          <a:noFill/>
          <a:ln w="15875">
            <a:solidFill>
              <a:srgbClr val="D32F2F"/>
            </a:solidFill>
            <a:round/>
            <a:tailEnd type="triangle" w="sm" len="sm"/>
          </a:ln>
        </p:spPr>
        <p:txBody>
          <a:bodyPr/>
          <a:lstStyle/>
          <a:p>
            <a:endParaRPr lang="en-GB"/>
          </a:p>
        </p:txBody>
      </p:sp>
      <p:sp>
        <p:nvSpPr>
          <p:cNvPr id="100" name="Reuse 100"/>
          <p:cNvSpPr/>
          <p:nvPr/>
        </p:nvSpPr>
        <p:spPr>
          <a:xfrm>
            <a:off x="1645920" y="3172968"/>
            <a:ext cx="309067" cy="530352"/>
          </a:xfrm>
          <a:custGeom>
            <a:avLst/>
            <a:gdLst/>
            <a:ahLst/>
            <a:cxnLst/>
            <a:rect l="l" t="t" r="r" b="b"/>
            <a:pathLst>
              <a:path w="309067" h="530352" fill="none">
                <a:moveTo>
                  <a:pt x="0" y="0"/>
                </a:moveTo>
                <a:lnTo>
                  <a:pt x="210311" y="0"/>
                </a:lnTo>
                <a:lnTo>
                  <a:pt x="210311" y="530352"/>
                </a:lnTo>
                <a:lnTo>
                  <a:pt x="309067" y="530352"/>
                </a:lnTo>
              </a:path>
            </a:pathLst>
          </a:custGeom>
          <a:noFill/>
          <a:ln w="15875">
            <a:solidFill>
              <a:srgbClr val="EF6C00"/>
            </a:solidFill>
            <a:round/>
            <a:tailEnd type="triangle" w="sm" len="sm"/>
          </a:ln>
        </p:spPr>
        <p:txBody>
          <a:bodyPr/>
          <a:lstStyle/>
          <a:p>
            <a:endParaRPr lang="en-GB"/>
          </a:p>
        </p:txBody>
      </p:sp>
      <p:sp>
        <p:nvSpPr>
          <p:cNvPr id="101" name="Reuse 101"/>
          <p:cNvSpPr/>
          <p:nvPr/>
        </p:nvSpPr>
        <p:spPr>
          <a:xfrm>
            <a:off x="1645920" y="3172968"/>
            <a:ext cx="309067" cy="1325880"/>
          </a:xfrm>
          <a:custGeom>
            <a:avLst/>
            <a:gdLst/>
            <a:ahLst/>
            <a:cxnLst/>
            <a:rect l="l" t="t" r="r" b="b"/>
            <a:pathLst>
              <a:path w="309067" h="1325880" fill="none">
                <a:moveTo>
                  <a:pt x="0" y="0"/>
                </a:moveTo>
                <a:lnTo>
                  <a:pt x="210311" y="0"/>
                </a:lnTo>
                <a:lnTo>
                  <a:pt x="210311" y="1325880"/>
                </a:lnTo>
                <a:lnTo>
                  <a:pt x="309067" y="1325880"/>
                </a:lnTo>
              </a:path>
            </a:pathLst>
          </a:custGeom>
          <a:noFill/>
          <a:ln w="15875">
            <a:solidFill>
              <a:srgbClr val="EF6C00"/>
            </a:solidFill>
            <a:round/>
            <a:tailEnd type="triangle" w="sm" len="sm"/>
          </a:ln>
        </p:spPr>
        <p:txBody>
          <a:bodyPr/>
          <a:lstStyle/>
          <a:p>
            <a:endParaRPr lang="en-GB"/>
          </a:p>
        </p:txBody>
      </p:sp>
      <p:sp>
        <p:nvSpPr>
          <p:cNvPr id="102" name="Reuse 102"/>
          <p:cNvSpPr/>
          <p:nvPr/>
        </p:nvSpPr>
        <p:spPr>
          <a:xfrm>
            <a:off x="1645920" y="4462272"/>
            <a:ext cx="309067" cy="530352"/>
          </a:xfrm>
          <a:custGeom>
            <a:avLst/>
            <a:gdLst/>
            <a:ahLst/>
            <a:cxnLst/>
            <a:rect l="l" t="t" r="r" b="b"/>
            <a:pathLst>
              <a:path w="309067" h="530352" fill="none">
                <a:moveTo>
                  <a:pt x="0" y="0"/>
                </a:moveTo>
                <a:lnTo>
                  <a:pt x="164591" y="0"/>
                </a:lnTo>
                <a:lnTo>
                  <a:pt x="164591" y="530352"/>
                </a:lnTo>
                <a:lnTo>
                  <a:pt x="309067" y="530352"/>
                </a:lnTo>
              </a:path>
            </a:pathLst>
          </a:custGeom>
          <a:noFill/>
          <a:ln w="15875">
            <a:solidFill>
              <a:srgbClr val="2E7D32"/>
            </a:solidFill>
            <a:round/>
            <a:tailEnd type="triangle" w="sm" len="sm"/>
          </a:ln>
        </p:spPr>
        <p:txBody>
          <a:bodyPr/>
          <a:lstStyle/>
          <a:p>
            <a:endParaRPr lang="en-GB"/>
          </a:p>
        </p:txBody>
      </p:sp>
      <p:sp>
        <p:nvSpPr>
          <p:cNvPr id="103" name="Reuse 103"/>
          <p:cNvSpPr/>
          <p:nvPr/>
        </p:nvSpPr>
        <p:spPr>
          <a:xfrm>
            <a:off x="1645920" y="4956048"/>
            <a:ext cx="309067" cy="530352"/>
          </a:xfrm>
          <a:custGeom>
            <a:avLst/>
            <a:gdLst/>
            <a:ahLst/>
            <a:cxnLst/>
            <a:rect l="l" t="t" r="r" b="b"/>
            <a:pathLst>
              <a:path w="309067" h="530352" fill="none">
                <a:moveTo>
                  <a:pt x="0" y="0"/>
                </a:moveTo>
                <a:lnTo>
                  <a:pt x="118871" y="0"/>
                </a:lnTo>
                <a:lnTo>
                  <a:pt x="118871" y="530352"/>
                </a:lnTo>
                <a:lnTo>
                  <a:pt x="309067" y="530352"/>
                </a:lnTo>
              </a:path>
            </a:pathLst>
          </a:custGeom>
          <a:noFill/>
          <a:ln w="15875">
            <a:solidFill>
              <a:srgbClr val="1565C0"/>
            </a:solidFill>
            <a:round/>
            <a:tailEnd type="triangle" w="sm" len="sm"/>
          </a:ln>
        </p:spPr>
        <p:txBody>
          <a:bodyPr/>
          <a:lstStyle/>
          <a:p>
            <a:endParaRPr lang="en-GB"/>
          </a:p>
        </p:txBody>
      </p:sp>
      <p:sp>
        <p:nvSpPr>
          <p:cNvPr id="104" name="Reuse 104"/>
          <p:cNvSpPr/>
          <p:nvPr/>
        </p:nvSpPr>
        <p:spPr>
          <a:xfrm>
            <a:off x="1645920" y="5449824"/>
            <a:ext cx="309067" cy="530352"/>
          </a:xfrm>
          <a:custGeom>
            <a:avLst/>
            <a:gdLst/>
            <a:ahLst/>
            <a:cxnLst/>
            <a:rect l="l" t="t" r="r" b="b"/>
            <a:pathLst>
              <a:path w="309067" h="530352" fill="none">
                <a:moveTo>
                  <a:pt x="0" y="0"/>
                </a:moveTo>
                <a:lnTo>
                  <a:pt x="73151" y="0"/>
                </a:lnTo>
                <a:lnTo>
                  <a:pt x="73151" y="530352"/>
                </a:lnTo>
                <a:lnTo>
                  <a:pt x="309067" y="530352"/>
                </a:lnTo>
              </a:path>
            </a:pathLst>
          </a:custGeom>
          <a:noFill/>
          <a:ln w="15875">
            <a:solidFill>
              <a:srgbClr val="6A1B9A"/>
            </a:solidFill>
            <a:round/>
            <a:tailEnd type="triangle" w="sm" len="sm"/>
          </a:ln>
        </p:spPr>
        <p:txBody>
          <a:bodyPr/>
          <a:lstStyle/>
          <a:p>
            <a:endParaRPr lang="en-GB"/>
          </a:p>
        </p:txBody>
      </p:sp>
      <p:sp>
        <p:nvSpPr>
          <p:cNvPr id="105" name="Text 105"/>
          <p:cNvSpPr txBox="1"/>
          <p:nvPr/>
        </p:nvSpPr>
        <p:spPr>
          <a:xfrm>
            <a:off x="8065008" y="2542032"/>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BT-148 </a:t>
            </a:r>
            <a:r>
              <a:rPr lang="en-GB" sz="700" dirty="0">
                <a:solidFill>
                  <a:srgbClr val="9AA4C2"/>
                </a:solidFill>
                <a:latin typeface="Inter Text" pitchFamily="34" charset="0"/>
                <a:ea typeface="Inter Text" pitchFamily="34" charset="-122"/>
                <a:cs typeface="Inter Text" pitchFamily="34" charset="-120"/>
              </a:rPr>
              <a:t>Item gross price</a:t>
            </a:r>
          </a:p>
        </p:txBody>
      </p:sp>
      <p:sp>
        <p:nvSpPr>
          <p:cNvPr id="106" name="Text 106"/>
          <p:cNvSpPr txBox="1"/>
          <p:nvPr/>
        </p:nvSpPr>
        <p:spPr>
          <a:xfrm>
            <a:off x="10515600" y="2542032"/>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07" name="Text 107"/>
          <p:cNvSpPr txBox="1"/>
          <p:nvPr/>
        </p:nvSpPr>
        <p:spPr>
          <a:xfrm>
            <a:off x="8065008" y="2655875"/>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BT-147 </a:t>
            </a:r>
            <a:r>
              <a:rPr lang="en-GB" sz="700" dirty="0">
                <a:solidFill>
                  <a:srgbClr val="9AA4C2"/>
                </a:solidFill>
                <a:latin typeface="Inter Text" pitchFamily="34" charset="0"/>
                <a:ea typeface="Inter Text" pitchFamily="34" charset="-122"/>
                <a:cs typeface="Inter Text" pitchFamily="34" charset="-120"/>
              </a:rPr>
              <a:t>Item price discount</a:t>
            </a:r>
          </a:p>
        </p:txBody>
      </p:sp>
      <p:sp>
        <p:nvSpPr>
          <p:cNvPr id="108" name="Text 108"/>
          <p:cNvSpPr txBox="1"/>
          <p:nvPr/>
        </p:nvSpPr>
        <p:spPr>
          <a:xfrm>
            <a:off x="10515600" y="2655875"/>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09" name="Text 109"/>
          <p:cNvSpPr txBox="1"/>
          <p:nvPr/>
        </p:nvSpPr>
        <p:spPr>
          <a:xfrm>
            <a:off x="8065008" y="2769718"/>
            <a:ext cx="2514600" cy="113843"/>
          </a:xfrm>
          <a:prstGeom prst="rect">
            <a:avLst/>
          </a:prstGeom>
          <a:noFill/>
          <a:ln/>
        </p:spPr>
        <p:txBody>
          <a:bodyPr wrap="none" lIns="0" tIns="0" rIns="0" bIns="0" rtlCol="0" anchor="ctr"/>
          <a:lstStyle/>
          <a:p>
            <a:pPr marL="0" indent="0" algn="l">
              <a:buNone/>
            </a:pPr>
            <a:r>
              <a:rPr lang="en-GB" sz="700" b="1" dirty="0">
                <a:solidFill>
                  <a:srgbClr val="FF8A80"/>
                </a:solidFill>
                <a:latin typeface="Inter SemiBold Text SemiBold" pitchFamily="34" charset="0"/>
                <a:ea typeface="Inter SemiBold Text SemiBold" pitchFamily="34" charset="-122"/>
                <a:cs typeface="Inter SemiBold Text SemiBold" pitchFamily="34" charset="-120"/>
              </a:rPr>
              <a:t>BT-146 </a:t>
            </a:r>
            <a:r>
              <a:rPr lang="en-GB" sz="700" dirty="0">
                <a:solidFill>
                  <a:srgbClr val="9AA4C2"/>
                </a:solidFill>
                <a:latin typeface="Inter Text" pitchFamily="34" charset="0"/>
                <a:ea typeface="Inter Text" pitchFamily="34" charset="-122"/>
                <a:cs typeface="Inter Text" pitchFamily="34" charset="-120"/>
              </a:rPr>
              <a:t>Item net price</a:t>
            </a:r>
          </a:p>
        </p:txBody>
      </p:sp>
      <p:sp>
        <p:nvSpPr>
          <p:cNvPr id="110" name="Text 110"/>
          <p:cNvSpPr txBox="1"/>
          <p:nvPr/>
        </p:nvSpPr>
        <p:spPr>
          <a:xfrm>
            <a:off x="10515600" y="2769718"/>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1" name="Text 111"/>
          <p:cNvSpPr txBox="1"/>
          <p:nvPr/>
        </p:nvSpPr>
        <p:spPr>
          <a:xfrm>
            <a:off x="8065008" y="28835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BT-129 </a:t>
            </a:r>
            <a:r>
              <a:rPr lang="en-GB" sz="700" dirty="0">
                <a:solidFill>
                  <a:srgbClr val="9AA4C2"/>
                </a:solidFill>
                <a:latin typeface="Inter Text" pitchFamily="34" charset="0"/>
                <a:ea typeface="Inter Text" pitchFamily="34" charset="-122"/>
                <a:cs typeface="Inter Text" pitchFamily="34" charset="-120"/>
              </a:rPr>
              <a:t>Invoiced quantity</a:t>
            </a:r>
          </a:p>
        </p:txBody>
      </p:sp>
      <p:sp>
        <p:nvSpPr>
          <p:cNvPr id="112" name="Text 112"/>
          <p:cNvSpPr txBox="1"/>
          <p:nvPr/>
        </p:nvSpPr>
        <p:spPr>
          <a:xfrm>
            <a:off x="10515600" y="2883560"/>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3" name="Text 113"/>
          <p:cNvSpPr txBox="1"/>
          <p:nvPr/>
        </p:nvSpPr>
        <p:spPr>
          <a:xfrm>
            <a:off x="8065008" y="29974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BT-149 </a:t>
            </a:r>
            <a:r>
              <a:rPr lang="en-GB" sz="700" dirty="0">
                <a:solidFill>
                  <a:srgbClr val="9AA4C2"/>
                </a:solidFill>
                <a:latin typeface="Inter Text" pitchFamily="34" charset="0"/>
                <a:ea typeface="Inter Text" pitchFamily="34" charset="-122"/>
                <a:cs typeface="Inter Text" pitchFamily="34" charset="-120"/>
              </a:rPr>
              <a:t>Item price base quantity</a:t>
            </a:r>
          </a:p>
        </p:txBody>
      </p:sp>
      <p:sp>
        <p:nvSpPr>
          <p:cNvPr id="114" name="Text 114"/>
          <p:cNvSpPr txBox="1"/>
          <p:nvPr/>
        </p:nvSpPr>
        <p:spPr>
          <a:xfrm>
            <a:off x="10515600" y="2997403"/>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5" name="Text 115"/>
          <p:cNvSpPr txBox="1"/>
          <p:nvPr/>
        </p:nvSpPr>
        <p:spPr>
          <a:xfrm>
            <a:off x="8065008" y="3111246"/>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BT-141 </a:t>
            </a:r>
            <a:r>
              <a:rPr lang="en-GB" sz="700" dirty="0">
                <a:solidFill>
                  <a:srgbClr val="9AA4C2"/>
                </a:solidFill>
                <a:latin typeface="Inter Text" pitchFamily="34" charset="0"/>
                <a:ea typeface="Inter Text" pitchFamily="34" charset="-122"/>
                <a:cs typeface="Inter Text" pitchFamily="34" charset="-120"/>
              </a:rPr>
              <a:t>Invoice line charge or tax amount</a:t>
            </a:r>
          </a:p>
        </p:txBody>
      </p:sp>
      <p:sp>
        <p:nvSpPr>
          <p:cNvPr id="116" name="Text 116"/>
          <p:cNvSpPr txBox="1"/>
          <p:nvPr/>
        </p:nvSpPr>
        <p:spPr>
          <a:xfrm>
            <a:off x="10515600" y="3111246"/>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7" name="Text 117"/>
          <p:cNvSpPr txBox="1"/>
          <p:nvPr/>
        </p:nvSpPr>
        <p:spPr>
          <a:xfrm>
            <a:off x="8065008" y="3225089"/>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BT-136 </a:t>
            </a:r>
            <a:r>
              <a:rPr lang="en-GB" sz="700" dirty="0">
                <a:solidFill>
                  <a:srgbClr val="9AA4C2"/>
                </a:solidFill>
                <a:latin typeface="Inter Text" pitchFamily="34" charset="0"/>
                <a:ea typeface="Inter Text" pitchFamily="34" charset="-122"/>
                <a:cs typeface="Inter Text" pitchFamily="34" charset="-120"/>
              </a:rPr>
              <a:t>Invoice line allowance amount</a:t>
            </a:r>
          </a:p>
        </p:txBody>
      </p:sp>
      <p:sp>
        <p:nvSpPr>
          <p:cNvPr id="118" name="Text 118"/>
          <p:cNvSpPr txBox="1"/>
          <p:nvPr/>
        </p:nvSpPr>
        <p:spPr>
          <a:xfrm>
            <a:off x="10515600" y="3225089"/>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19" name="Text 119"/>
          <p:cNvSpPr txBox="1"/>
          <p:nvPr/>
        </p:nvSpPr>
        <p:spPr>
          <a:xfrm>
            <a:off x="8065008" y="3338932"/>
            <a:ext cx="2514600" cy="113843"/>
          </a:xfrm>
          <a:prstGeom prst="rect">
            <a:avLst/>
          </a:prstGeom>
          <a:noFill/>
          <a:ln/>
        </p:spPr>
        <p:txBody>
          <a:bodyPr wrap="none" lIns="0" tIns="0" rIns="0" bIns="0" rtlCol="0" anchor="ctr"/>
          <a:lstStyle/>
          <a:p>
            <a:pPr marL="0" indent="0" algn="l">
              <a:buNone/>
            </a:pPr>
            <a:r>
              <a:rPr lang="en-GB" sz="700" b="1" dirty="0">
                <a:solidFill>
                  <a:srgbClr val="FFB74D"/>
                </a:solidFill>
                <a:latin typeface="Inter SemiBold Text SemiBold" pitchFamily="34" charset="0"/>
                <a:ea typeface="Inter SemiBold Text SemiBold" pitchFamily="34" charset="-122"/>
                <a:cs typeface="Inter SemiBold Text SemiBold" pitchFamily="34" charset="-120"/>
              </a:rPr>
              <a:t>BT-131 </a:t>
            </a:r>
            <a:r>
              <a:rPr lang="en-GB" sz="700" dirty="0">
                <a:solidFill>
                  <a:srgbClr val="9AA4C2"/>
                </a:solidFill>
                <a:latin typeface="Inter Text" pitchFamily="34" charset="0"/>
                <a:ea typeface="Inter Text" pitchFamily="34" charset="-122"/>
                <a:cs typeface="Inter Text" pitchFamily="34" charset="-120"/>
              </a:rPr>
              <a:t>Invoice line net amount</a:t>
            </a:r>
          </a:p>
        </p:txBody>
      </p:sp>
      <p:sp>
        <p:nvSpPr>
          <p:cNvPr id="120" name="Text 120"/>
          <p:cNvSpPr txBox="1"/>
          <p:nvPr/>
        </p:nvSpPr>
        <p:spPr>
          <a:xfrm>
            <a:off x="10515600" y="3338932"/>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1" name="Text 121"/>
          <p:cNvSpPr txBox="1"/>
          <p:nvPr/>
        </p:nvSpPr>
        <p:spPr>
          <a:xfrm>
            <a:off x="8065008" y="3452774"/>
            <a:ext cx="2514600" cy="113843"/>
          </a:xfrm>
          <a:prstGeom prst="rect">
            <a:avLst/>
          </a:prstGeom>
          <a:noFill/>
          <a:ln/>
        </p:spPr>
        <p:txBody>
          <a:bodyPr wrap="none" lIns="0" tIns="0" rIns="0" bIns="0" rtlCol="0" anchor="ctr"/>
          <a:lstStyle/>
          <a:p>
            <a:pPr marL="0" indent="0" algn="l">
              <a:buNone/>
            </a:pPr>
            <a:r>
              <a:rPr lang="en-GB" sz="700" b="1" dirty="0">
                <a:solidFill>
                  <a:srgbClr val="FFE066"/>
                </a:solidFill>
                <a:latin typeface="Inter SemiBold Text SemiBold" pitchFamily="34" charset="0"/>
                <a:ea typeface="Inter SemiBold Text SemiBold" pitchFamily="34" charset="-122"/>
                <a:cs typeface="Inter SemiBold Text SemiBold" pitchFamily="34" charset="-120"/>
              </a:rPr>
              <a:t>BT-106 </a:t>
            </a:r>
            <a:r>
              <a:rPr lang="en-GB" sz="700" dirty="0">
                <a:solidFill>
                  <a:srgbClr val="9AA4C2"/>
                </a:solidFill>
                <a:latin typeface="Inter Text" pitchFamily="34" charset="0"/>
                <a:ea typeface="Inter Text" pitchFamily="34" charset="-122"/>
                <a:cs typeface="Inter Text" pitchFamily="34" charset="-120"/>
              </a:rPr>
              <a:t>Sum of invoice line net amount</a:t>
            </a:r>
          </a:p>
        </p:txBody>
      </p:sp>
      <p:sp>
        <p:nvSpPr>
          <p:cNvPr id="122" name="Text 122"/>
          <p:cNvSpPr txBox="1"/>
          <p:nvPr/>
        </p:nvSpPr>
        <p:spPr>
          <a:xfrm>
            <a:off x="10515600" y="3452774"/>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3" name="Text 123"/>
          <p:cNvSpPr txBox="1"/>
          <p:nvPr/>
        </p:nvSpPr>
        <p:spPr>
          <a:xfrm>
            <a:off x="8065008" y="3566617"/>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BT-99 </a:t>
            </a:r>
            <a:r>
              <a:rPr lang="en-GB" sz="700" dirty="0">
                <a:solidFill>
                  <a:srgbClr val="9AA4C2"/>
                </a:solidFill>
                <a:latin typeface="Inter Text" pitchFamily="34" charset="0"/>
                <a:ea typeface="Inter Text" pitchFamily="34" charset="-122"/>
                <a:cs typeface="Inter Text" pitchFamily="34" charset="-120"/>
              </a:rPr>
              <a:t>Document level charge or tax amount</a:t>
            </a:r>
          </a:p>
        </p:txBody>
      </p:sp>
      <p:sp>
        <p:nvSpPr>
          <p:cNvPr id="124" name="Text 124"/>
          <p:cNvSpPr txBox="1"/>
          <p:nvPr/>
        </p:nvSpPr>
        <p:spPr>
          <a:xfrm>
            <a:off x="10515600" y="3566617"/>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5" name="Text 125"/>
          <p:cNvSpPr txBox="1"/>
          <p:nvPr/>
        </p:nvSpPr>
        <p:spPr>
          <a:xfrm>
            <a:off x="8065008" y="3680460"/>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BT-92 </a:t>
            </a:r>
            <a:r>
              <a:rPr lang="en-GB" sz="700" dirty="0">
                <a:solidFill>
                  <a:srgbClr val="9AA4C2"/>
                </a:solidFill>
                <a:latin typeface="Inter Text" pitchFamily="34" charset="0"/>
                <a:ea typeface="Inter Text" pitchFamily="34" charset="-122"/>
                <a:cs typeface="Inter Text" pitchFamily="34" charset="-120"/>
              </a:rPr>
              <a:t>Document level allowance amount</a:t>
            </a:r>
          </a:p>
        </p:txBody>
      </p:sp>
      <p:sp>
        <p:nvSpPr>
          <p:cNvPr id="126" name="Text 126"/>
          <p:cNvSpPr txBox="1"/>
          <p:nvPr/>
        </p:nvSpPr>
        <p:spPr>
          <a:xfrm>
            <a:off x="10515600" y="3680460"/>
            <a:ext cx="667512" cy="113843"/>
          </a:xfrm>
          <a:prstGeom prst="rect">
            <a:avLst/>
          </a:prstGeom>
          <a:noFill/>
          <a:ln/>
        </p:spPr>
        <p:txBody>
          <a:bodyPr wrap="square" lIns="0" tIns="0" rIns="0" bIns="0" rtlCol="0" anchor="ctr"/>
          <a:lstStyle/>
          <a:p>
            <a:pPr marL="0" indent="0" algn="r">
              <a:buNone/>
            </a:pPr>
            <a:r>
              <a:rPr lang="en-GB" sz="700" dirty="0">
                <a:solidFill>
                  <a:srgbClr val="58D6BB"/>
                </a:solidFill>
                <a:latin typeface="Inter SemiBold Text SemiBold" pitchFamily="34" charset="0"/>
                <a:ea typeface="Inter SemiBold Text SemiBold" pitchFamily="34" charset="-122"/>
                <a:cs typeface="Inter SemiBold Text SemiBold" pitchFamily="34" charset="-120"/>
              </a:rPr>
              <a:t>free</a:t>
            </a:r>
          </a:p>
        </p:txBody>
      </p:sp>
      <p:sp>
        <p:nvSpPr>
          <p:cNvPr id="127" name="Text 127"/>
          <p:cNvSpPr txBox="1"/>
          <p:nvPr/>
        </p:nvSpPr>
        <p:spPr>
          <a:xfrm>
            <a:off x="8065008" y="3794303"/>
            <a:ext cx="2514600" cy="113843"/>
          </a:xfrm>
          <a:prstGeom prst="rect">
            <a:avLst/>
          </a:prstGeom>
          <a:noFill/>
          <a:ln/>
        </p:spPr>
        <p:txBody>
          <a:bodyPr wrap="none" lIns="0" tIns="0" rIns="0" bIns="0" rtlCol="0" anchor="ctr"/>
          <a:lstStyle/>
          <a:p>
            <a:pPr marL="0" indent="0" algn="l">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BT-119 </a:t>
            </a:r>
            <a:r>
              <a:rPr lang="en-GB" sz="700" dirty="0">
                <a:solidFill>
                  <a:srgbClr val="9AA4C2"/>
                </a:solidFill>
                <a:latin typeface="Inter Text" pitchFamily="34" charset="0"/>
                <a:ea typeface="Inter Text" pitchFamily="34" charset="-122"/>
                <a:cs typeface="Inter Text" pitchFamily="34" charset="-120"/>
              </a:rPr>
              <a:t>VAT category rate (law)</a:t>
            </a:r>
          </a:p>
        </p:txBody>
      </p:sp>
      <p:sp>
        <p:nvSpPr>
          <p:cNvPr id="128" name="Text 128"/>
          <p:cNvSpPr txBox="1"/>
          <p:nvPr/>
        </p:nvSpPr>
        <p:spPr>
          <a:xfrm>
            <a:off x="10515600" y="3794303"/>
            <a:ext cx="667512" cy="113843"/>
          </a:xfrm>
          <a:prstGeom prst="rect">
            <a:avLst/>
          </a:prstGeom>
          <a:noFill/>
          <a:ln/>
        </p:spPr>
        <p:txBody>
          <a:bodyPr wrap="square" lIns="0" tIns="0" rIns="0" bIns="0" rtlCol="0" anchor="ctr"/>
          <a:lstStyle/>
          <a:p>
            <a:pPr marL="0" indent="0" algn="r">
              <a:buNone/>
            </a:pPr>
            <a:r>
              <a:rPr lang="en-GB" sz="700" dirty="0">
                <a:solidFill>
                  <a:srgbClr val="FFFFFF"/>
                </a:solidFill>
                <a:latin typeface="Inter SemiBold Text SemiBold" pitchFamily="34" charset="0"/>
                <a:ea typeface="Inter SemiBold Text SemiBold" pitchFamily="34" charset="-122"/>
                <a:cs typeface="Inter SemiBold Text SemiBold" pitchFamily="34" charset="-120"/>
              </a:rPr>
              <a:t>2 dp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Folie 33">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WORST CASE · PROPOSED AMENDMENT </a:t>
            </a: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6">
                  <a:extLst>
                    <a:ext uri="{A12FA001-AC4F-418D-AE19-62706E023703}">
                      <ahyp:hlinkClr xmlns:ahyp="http://schemas.microsoft.com/office/drawing/2018/hyperlinkcolor" val="tx"/>
                    </a:ext>
                  </a:extLst>
                </a:hlinkClick>
              </a:rPr>
              <a:t>(#163)</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How large does the deviation get?</a:t>
            </a:r>
          </a:p>
        </p:txBody>
      </p:sp>
      <p:sp>
        <p:nvSpPr>
          <p:cNvPr id="6" name="Speaker 6">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B4244B92-B2BD-4779-B150-313396024C5D}"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16</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Tagline 8"/>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No factor: without intermediate rounding it stays at ± 0 — for any quantity and any number of lines.</a:t>
            </a:r>
          </a:p>
        </p:txBody>
      </p:sp>
      <p:sp>
        <p:nvSpPr>
          <p:cNvPr id="9" name="Card 9"/>
          <p:cNvSpPr/>
          <p:nvPr/>
        </p:nvSpPr>
        <p:spPr>
          <a:xfrm>
            <a:off x="822960"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0" name="IconCircle 10"/>
          <p:cNvSpPr/>
          <p:nvPr/>
        </p:nvSpPr>
        <p:spPr>
          <a:xfrm>
            <a:off x="1060704"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en-GB"/>
          </a:p>
        </p:txBody>
      </p:sp>
      <p:pic>
        <p:nvPicPr>
          <p:cNvPr id="11" name="Icon 11"/>
          <p:cNvPicPr>
            <a:picLocks noChangeAspect="1"/>
          </p:cNvPicPr>
          <p:nvPr/>
        </p:nvPicPr>
        <p:blipFill>
          <a:blip r:embed="rId4"/>
          <a:stretch>
            <a:fillRect/>
          </a:stretch>
        </p:blipFill>
        <p:spPr>
          <a:xfrm>
            <a:off x="1171346" y="2533802"/>
            <a:ext cx="181051" cy="181051"/>
          </a:xfrm>
          <a:prstGeom prst="rect">
            <a:avLst/>
          </a:prstGeom>
        </p:spPr>
      </p:pic>
      <p:sp>
        <p:nvSpPr>
          <p:cNvPr id="12" name="Text 12"/>
          <p:cNvSpPr txBox="1"/>
          <p:nvPr/>
        </p:nvSpPr>
        <p:spPr>
          <a:xfrm>
            <a:off x="1600200"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1 · price rounding × quantity Q</a:t>
            </a:r>
          </a:p>
        </p:txBody>
      </p:sp>
      <p:sp>
        <p:nvSpPr>
          <p:cNvPr id="13" name="Text 13"/>
          <p:cNvSpPr txBox="1"/>
          <p:nvPr/>
        </p:nvSpPr>
        <p:spPr>
          <a:xfrm>
            <a:off x="1097280"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D32F2F"/>
                </a:solidFill>
                <a:latin typeface="Inter SemiBold Text SemiBold" pitchFamily="34" charset="0"/>
                <a:ea typeface="Inter SemiBold Text SemiBold" pitchFamily="34" charset="-122"/>
                <a:cs typeface="Inter SemiBold Text SemiBold" pitchFamily="34" charset="-120"/>
              </a:rPr>
              <a:t>BT-146</a:t>
            </a:r>
            <a:r>
              <a:rPr lang="en-GB" sz="1050" dirty="0">
                <a:solidFill>
                  <a:srgbClr val="D32F2F"/>
                </a:solidFill>
                <a:latin typeface="Inter Text" pitchFamily="34" charset="0"/>
                <a:ea typeface="Inter Text" pitchFamily="34" charset="-122"/>
                <a:cs typeface="Inter Text" pitchFamily="34" charset="-120"/>
              </a:rPr>
              <a:t> Item net price</a:t>
            </a:r>
            <a:r>
              <a:rPr lang="en-GB" sz="1050" dirty="0">
                <a:solidFill>
                  <a:srgbClr val="5B6890"/>
                </a:solidFill>
                <a:latin typeface="Inter Text" pitchFamily="34" charset="0"/>
                <a:ea typeface="Inter Text" pitchFamily="34" charset="-122"/>
                <a:cs typeface="Inter Text" pitchFamily="34" charset="-120"/>
              </a:rPr>
              <a:t> and </a:t>
            </a: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stay exact — the quantity magnifies no error.</a:t>
            </a:r>
          </a:p>
        </p:txBody>
      </p:sp>
      <p:sp>
        <p:nvSpPr>
          <p:cNvPr id="14" name="Pill 14"/>
          <p:cNvSpPr/>
          <p:nvPr/>
        </p:nvSpPr>
        <p:spPr>
          <a:xfrm>
            <a:off x="1097280"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150" b="1" dirty="0">
                <a:solidFill>
                  <a:srgbClr val="1E8A4C"/>
                </a:solidFill>
                <a:latin typeface="Consolas" pitchFamily="34" charset="0"/>
                <a:ea typeface="Consolas" pitchFamily="34" charset="-122"/>
                <a:cs typeface="Consolas" pitchFamily="34" charset="-120"/>
              </a:rPr>
              <a:t>none</a:t>
            </a:r>
          </a:p>
        </p:txBody>
      </p:sp>
      <p:sp>
        <p:nvSpPr>
          <p:cNvPr id="15" name="Card 15"/>
          <p:cNvSpPr/>
          <p:nvPr/>
        </p:nvSpPr>
        <p:spPr>
          <a:xfrm>
            <a:off x="6199632" y="2331720"/>
            <a:ext cx="5166360" cy="1783080"/>
          </a:xfrm>
          <a:prstGeom prst="roundRect">
            <a:avLst>
              <a:gd name="adj" fmla="val 4102"/>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6" name="IconCircle 16"/>
          <p:cNvSpPr/>
          <p:nvPr/>
        </p:nvSpPr>
        <p:spPr>
          <a:xfrm>
            <a:off x="6437376" y="2423160"/>
            <a:ext cx="402336" cy="402336"/>
          </a:xfrm>
          <a:prstGeom prst="ellipse">
            <a:avLst/>
          </a:prstGeom>
          <a:solidFill>
            <a:srgbClr val="C2CADE"/>
          </a:solidFill>
          <a:ln>
            <a:noFill/>
          </a:ln>
          <a:effectLst>
            <a:outerShdw blurRad="88900" dist="38100" dir="5400000" algn="bl" rotWithShape="0">
              <a:srgbClr val="0A1230">
                <a:alpha val="18000"/>
              </a:srgbClr>
            </a:outerShdw>
          </a:effectLst>
        </p:spPr>
        <p:txBody>
          <a:bodyPr/>
          <a:lstStyle/>
          <a:p>
            <a:endParaRPr lang="en-GB"/>
          </a:p>
        </p:txBody>
      </p:sp>
      <p:pic>
        <p:nvPicPr>
          <p:cNvPr id="17" name="Icon 17"/>
          <p:cNvPicPr>
            <a:picLocks noChangeAspect="1"/>
          </p:cNvPicPr>
          <p:nvPr/>
        </p:nvPicPr>
        <p:blipFill>
          <a:blip r:embed="rId5"/>
          <a:stretch>
            <a:fillRect/>
          </a:stretch>
        </p:blipFill>
        <p:spPr>
          <a:xfrm>
            <a:off x="6548018" y="2533802"/>
            <a:ext cx="181051" cy="181051"/>
          </a:xfrm>
          <a:prstGeom prst="rect">
            <a:avLst/>
          </a:prstGeom>
        </p:spPr>
      </p:pic>
      <p:sp>
        <p:nvSpPr>
          <p:cNvPr id="18" name="Text 18"/>
          <p:cNvSpPr txBox="1"/>
          <p:nvPr/>
        </p:nvSpPr>
        <p:spPr>
          <a:xfrm>
            <a:off x="6976872" y="2404872"/>
            <a:ext cx="4206240" cy="438912"/>
          </a:xfrm>
          <a:prstGeom prst="rect">
            <a:avLst/>
          </a:prstGeom>
          <a:noFill/>
          <a:ln/>
        </p:spPr>
        <p:txBody>
          <a:bodyPr wrap="square" lIns="0" tIns="0" rIns="0" bIns="0" rtlCol="0" anchor="ctr"/>
          <a:lstStyle/>
          <a:p>
            <a:pPr marL="0" indent="0" algn="l">
              <a:buNone/>
            </a:pPr>
            <a:r>
              <a:rPr lang="en-GB" sz="1400" dirty="0">
                <a:solidFill>
                  <a:srgbClr val="1A2B5E"/>
                </a:solidFill>
                <a:latin typeface="Inter SemiBold Text SemiBold" pitchFamily="34" charset="0"/>
                <a:ea typeface="Inter SemiBold Text SemiBold" pitchFamily="34" charset="-122"/>
                <a:cs typeface="Inter SemiBold Text SemiBold" pitchFamily="34" charset="-120"/>
              </a:rPr>
              <a:t>Factor 2 · number of lines n</a:t>
            </a:r>
          </a:p>
        </p:txBody>
      </p:sp>
      <p:sp>
        <p:nvSpPr>
          <p:cNvPr id="19" name="Text 19"/>
          <p:cNvSpPr txBox="1"/>
          <p:nvPr/>
        </p:nvSpPr>
        <p:spPr>
          <a:xfrm>
            <a:off x="6473952" y="2926080"/>
            <a:ext cx="4663440" cy="768096"/>
          </a:xfrm>
          <a:prstGeom prst="rect">
            <a:avLst/>
          </a:prstGeom>
          <a:noFill/>
          <a:ln/>
        </p:spPr>
        <p:txBody>
          <a:bodyPr wrap="square" lIns="0" tIns="0" rIns="0" bIns="0" rtlCol="0" anchor="t"/>
          <a:lstStyle/>
          <a:p>
            <a:pPr marL="0" indent="0" algn="l">
              <a:lnSpc>
                <a:spcPct val="104000"/>
              </a:lnSpc>
              <a:buNone/>
            </a:pPr>
            <a:r>
              <a:rPr lang="en-GB" sz="1050" b="1" dirty="0">
                <a:solidFill>
                  <a:srgbClr val="EF6C00"/>
                </a:solidFill>
                <a:latin typeface="Inter SemiBold Text SemiBold" pitchFamily="34" charset="0"/>
                <a:ea typeface="Inter SemiBold Text SemiBold" pitchFamily="34" charset="-122"/>
                <a:cs typeface="Inter SemiBold Text SemiBold" pitchFamily="34" charset="-120"/>
              </a:rPr>
              <a:t>BT-131</a:t>
            </a:r>
            <a:r>
              <a:rPr lang="en-GB" sz="1050" dirty="0">
                <a:solidFill>
                  <a:srgbClr val="EF6C00"/>
                </a:solidFill>
                <a:latin typeface="Inter Text" pitchFamily="34" charset="0"/>
                <a:ea typeface="Inter Text" pitchFamily="34" charset="-122"/>
                <a:cs typeface="Inter Text" pitchFamily="34" charset="-120"/>
              </a:rPr>
              <a:t> Invoice line net amount</a:t>
            </a:r>
            <a:r>
              <a:rPr lang="en-GB" sz="1050" dirty="0">
                <a:solidFill>
                  <a:srgbClr val="5B6890"/>
                </a:solidFill>
                <a:latin typeface="Inter Text" pitchFamily="34" charset="0"/>
                <a:ea typeface="Inter Text" pitchFamily="34" charset="-122"/>
                <a:cs typeface="Inter Text" pitchFamily="34" charset="-120"/>
              </a:rPr>
              <a:t> stays exact — it does not matter how many lines</a:t>
            </a:r>
            <a:r>
              <a:rPr lang="en-GB" sz="1050" b="1" dirty="0">
                <a:solidFill>
                  <a:srgbClr val="C79100"/>
                </a:solidFill>
                <a:latin typeface="Inter SemiBold Text SemiBold" pitchFamily="34" charset="0"/>
                <a:ea typeface="Inter SemiBold Text SemiBold" pitchFamily="34" charset="-122"/>
                <a:cs typeface="Inter SemiBold Text SemiBold" pitchFamily="34" charset="-120"/>
              </a:rPr>
              <a:t> BT-106</a:t>
            </a:r>
            <a:r>
              <a:rPr lang="en-GB" sz="1050" dirty="0">
                <a:solidFill>
                  <a:srgbClr val="C79100"/>
                </a:solidFill>
                <a:latin typeface="Inter Text" pitchFamily="34" charset="0"/>
                <a:ea typeface="Inter Text" pitchFamily="34" charset="-122"/>
                <a:cs typeface="Inter Text" pitchFamily="34" charset="-120"/>
              </a:rPr>
              <a:t> Sum of invoice line net amount</a:t>
            </a:r>
            <a:r>
              <a:rPr lang="en-GB" sz="1050" dirty="0">
                <a:solidFill>
                  <a:srgbClr val="5B6890"/>
                </a:solidFill>
                <a:latin typeface="Inter Text" pitchFamily="34" charset="0"/>
                <a:ea typeface="Inter Text" pitchFamily="34" charset="-122"/>
                <a:cs typeface="Inter Text" pitchFamily="34" charset="-120"/>
              </a:rPr>
              <a:t> and </a:t>
            </a:r>
            <a:r>
              <a:rPr lang="en-GB" sz="10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1050" dirty="0">
                <a:solidFill>
                  <a:srgbClr val="2E7D32"/>
                </a:solidFill>
                <a:latin typeface="Inter Text" pitchFamily="34" charset="0"/>
                <a:ea typeface="Inter Text" pitchFamily="34" charset="-122"/>
                <a:cs typeface="Inter Text" pitchFamily="34" charset="-120"/>
              </a:rPr>
              <a:t> VAT category taxable amount</a:t>
            </a:r>
            <a:r>
              <a:rPr lang="en-GB" sz="1050" dirty="0">
                <a:solidFill>
                  <a:srgbClr val="5B6890"/>
                </a:solidFill>
                <a:latin typeface="Inter Text" pitchFamily="34" charset="0"/>
                <a:ea typeface="Inter Text" pitchFamily="34" charset="-122"/>
                <a:cs typeface="Inter Text" pitchFamily="34" charset="-120"/>
              </a:rPr>
              <a:t> add up.</a:t>
            </a:r>
          </a:p>
        </p:txBody>
      </p:sp>
      <p:sp>
        <p:nvSpPr>
          <p:cNvPr id="20" name="Pill 20"/>
          <p:cNvSpPr/>
          <p:nvPr/>
        </p:nvSpPr>
        <p:spPr>
          <a:xfrm>
            <a:off x="6473952" y="3712464"/>
            <a:ext cx="2377440" cy="310896"/>
          </a:xfrm>
          <a:prstGeom prst="roundRect">
            <a:avLst>
              <a:gd name="adj" fmla="val 50000"/>
            </a:avLst>
          </a:prstGeom>
          <a:solidFill>
            <a:srgbClr val="E8F6EE"/>
          </a:solidFill>
          <a:ln w="9525">
            <a:solidFill>
              <a:srgbClr val="B7E1C7"/>
            </a:solidFill>
            <a:prstDash val="solid"/>
          </a:ln>
        </p:spPr>
        <p:txBody>
          <a:bodyPr wrap="square" lIns="36576" tIns="36576" rIns="36576" bIns="36576" rtlCol="0" anchor="ctr"/>
          <a:lstStyle/>
          <a:p>
            <a:pPr marL="0" indent="0" algn="ctr">
              <a:buNone/>
            </a:pPr>
            <a:r>
              <a:rPr lang="en-GB" sz="1150" b="1" dirty="0">
                <a:solidFill>
                  <a:srgbClr val="1E8A4C"/>
                </a:solidFill>
                <a:latin typeface="Consolas" pitchFamily="34" charset="0"/>
                <a:ea typeface="Consolas" pitchFamily="34" charset="-122"/>
                <a:cs typeface="Consolas" pitchFamily="34" charset="-120"/>
              </a:rPr>
              <a:t>none</a:t>
            </a:r>
          </a:p>
        </p:txBody>
      </p:sp>
      <p:sp>
        <p:nvSpPr>
          <p:cNvPr id="21" name="Text 21"/>
          <p:cNvSpPr txBox="1"/>
          <p:nvPr/>
        </p:nvSpPr>
        <p:spPr>
          <a:xfrm>
            <a:off x="822960" y="4206240"/>
            <a:ext cx="6766560" cy="237744"/>
          </a:xfrm>
          <a:prstGeom prst="rect">
            <a:avLst/>
          </a:prstGeom>
          <a:noFill/>
          <a:ln/>
        </p:spPr>
        <p:txBody>
          <a:bodyPr wrap="square" lIns="0" tIns="0" rIns="0" bIns="0" rtlCol="0" anchor="ctr"/>
          <a:lstStyle/>
          <a:p>
            <a:pPr marL="0" indent="0" algn="l">
              <a:buNone/>
            </a:pPr>
            <a:r>
              <a:rPr lang="en-GB" sz="950" spc="120" dirty="0">
                <a:solidFill>
                  <a:srgbClr val="0E7E82"/>
                </a:solidFill>
                <a:latin typeface="Inter SemiBold Text SemiBold" pitchFamily="34" charset="0"/>
                <a:ea typeface="Inter SemiBold Text SemiBold" pitchFamily="34" charset="-122"/>
                <a:cs typeface="Inter SemiBold Text SemiBold" pitchFamily="34" charset="-120"/>
              </a:rPr>
              <a:t>NET DEVIATION  </a:t>
            </a:r>
            <a:r>
              <a:rPr lang="en-GB" sz="950" b="1" dirty="0">
                <a:solidFill>
                  <a:srgbClr val="C79100"/>
                </a:solidFill>
                <a:latin typeface="Inter SemiBold Text SemiBold" pitchFamily="34" charset="0"/>
                <a:ea typeface="Inter SemiBold Text SemiBold" pitchFamily="34" charset="-122"/>
                <a:cs typeface="Inter SemiBold Text SemiBold" pitchFamily="34" charset="-120"/>
              </a:rPr>
              <a:t>BT-106</a:t>
            </a:r>
            <a:r>
              <a:rPr lang="en-GB" sz="950" dirty="0">
                <a:solidFill>
                  <a:srgbClr val="C79100"/>
                </a:solidFill>
                <a:latin typeface="Inter Text" pitchFamily="34" charset="0"/>
                <a:ea typeface="Inter Text" pitchFamily="34" charset="-122"/>
                <a:cs typeface="Inter Text" pitchFamily="34" charset="-120"/>
              </a:rPr>
              <a:t> Sum of invoice line net amount</a:t>
            </a:r>
            <a:r>
              <a:rPr lang="en-GB" sz="950" dirty="0">
                <a:solidFill>
                  <a:srgbClr val="5B6890"/>
                </a:solidFill>
                <a:latin typeface="Inter Text" pitchFamily="34" charset="0"/>
                <a:ea typeface="Inter Text" pitchFamily="34" charset="-122"/>
                <a:cs typeface="Inter Text" pitchFamily="34" charset="-120"/>
              </a:rPr>
              <a:t> / </a:t>
            </a:r>
            <a:r>
              <a:rPr lang="en-GB" sz="950" b="1" dirty="0">
                <a:solidFill>
                  <a:srgbClr val="2E7D32"/>
                </a:solidFill>
                <a:latin typeface="Inter SemiBold Text SemiBold" pitchFamily="34" charset="0"/>
                <a:ea typeface="Inter SemiBold Text SemiBold" pitchFamily="34" charset="-122"/>
                <a:cs typeface="Inter SemiBold Text SemiBold" pitchFamily="34" charset="-120"/>
              </a:rPr>
              <a:t>BT-116</a:t>
            </a:r>
            <a:r>
              <a:rPr lang="en-GB" sz="950" dirty="0">
                <a:solidFill>
                  <a:srgbClr val="2E7D32"/>
                </a:solidFill>
                <a:latin typeface="Inter Text" pitchFamily="34" charset="0"/>
                <a:ea typeface="Inter Text" pitchFamily="34" charset="-122"/>
                <a:cs typeface="Inter Text" pitchFamily="34" charset="-120"/>
              </a:rPr>
              <a:t> VAT category taxable amount</a:t>
            </a:r>
          </a:p>
        </p:txBody>
      </p:sp>
      <p:graphicFrame>
        <p:nvGraphicFramePr>
          <p:cNvPr id="22" name="Table 22"/>
          <p:cNvGraphicFramePr>
            <a:graphicFrameLocks noGrp="1"/>
          </p:cNvGraphicFramePr>
          <p:nvPr/>
        </p:nvGraphicFramePr>
        <p:xfrm>
          <a:off x="822960" y="4480560"/>
          <a:ext cx="6766560" cy="1609344"/>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84048">
                <a:tc>
                  <a:txBody>
                    <a:bodyPr/>
                    <a:lstStyle/>
                    <a:p>
                      <a:pPr marL="0" indent="0" algn="r">
                        <a:buNone/>
                      </a:pPr>
                      <a:r>
                        <a:rPr lang="en-GB" sz="850" dirty="0">
                          <a:solidFill>
                            <a:srgbClr val="9FB0D8"/>
                          </a:solidFill>
                          <a:latin typeface="Inter Text" pitchFamily="34" charset="0"/>
                          <a:ea typeface="Inter Text" pitchFamily="34" charset="-122"/>
                          <a:cs typeface="Inter Text" pitchFamily="34" charset="-120"/>
                        </a:rPr>
                        <a:t>Units per line (Q) →</a:t>
                      </a:r>
                    </a:p>
                    <a:p>
                      <a:pPr marL="0" indent="0" algn="l">
                        <a:buNone/>
                      </a:pPr>
                      <a:r>
                        <a:rPr lang="en-GB" sz="850" dirty="0">
                          <a:solidFill>
                            <a:srgbClr val="9FB0D8"/>
                          </a:solidFill>
                          <a:latin typeface="Inter Text" pitchFamily="34" charset="0"/>
                          <a:ea typeface="Inter Text" pitchFamily="34" charset="-122"/>
                          <a:cs typeface="Inter Text" pitchFamily="34" charset="-120"/>
                        </a:rPr>
                        <a:t>↓ Lines (n)</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24356B"/>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r">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1,000,000 units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603504">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 line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a:t>
                      </a:r>
                    </a:p>
                    <a:p>
                      <a:pPr marL="0" indent="0" algn="r">
                        <a:buNone/>
                      </a:pPr>
                      <a:r>
                        <a:rPr lang="en-GB"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a:t>
                      </a:r>
                    </a:p>
                    <a:p>
                      <a:pPr marL="0" indent="0" algn="r">
                        <a:buNone/>
                      </a:pPr>
                      <a:r>
                        <a:rPr lang="en-GB"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850" dirty="0">
                          <a:solidFill>
                            <a:srgbClr val="D32F2F"/>
                          </a:solidFill>
                          <a:latin typeface="Inter Text" pitchFamily="34" charset="0"/>
                          <a:ea typeface="Inter Text" pitchFamily="34" charset="-122"/>
                          <a:cs typeface="Inter Text" pitchFamily="34" charset="-120"/>
                        </a:rPr>
                        <a:t>Price × quantity  </a:t>
                      </a:r>
                      <a:r>
                        <a:rPr lang="en-GB" sz="850" b="1" dirty="0">
                          <a:solidFill>
                            <a:srgbClr val="D32F2F"/>
                          </a:solidFill>
                          <a:latin typeface="Consolas" pitchFamily="34" charset="0"/>
                          <a:ea typeface="Consolas" pitchFamily="34" charset="-122"/>
                          <a:cs typeface="Consolas" pitchFamily="34" charset="-120"/>
                        </a:rPr>
                        <a:t>± 0</a:t>
                      </a:r>
                    </a:p>
                    <a:p>
                      <a:pPr marL="0" indent="0" algn="r">
                        <a:buNone/>
                      </a:pPr>
                      <a:r>
                        <a:rPr lang="en-GB" sz="850" dirty="0">
                          <a:solidFill>
                            <a:srgbClr val="EF6C00"/>
                          </a:solidFill>
                          <a:latin typeface="Inter Text" pitchFamily="34" charset="0"/>
                          <a:ea typeface="Inter Text" pitchFamily="34" charset="-122"/>
                          <a:cs typeface="Inter Text" pitchFamily="34" charset="-120"/>
                        </a:rPr>
                        <a:t>+ rounding BT-131  </a:t>
                      </a:r>
                      <a:r>
                        <a:rPr lang="en-GB" sz="850" b="1" dirty="0">
                          <a:solidFill>
                            <a:srgbClr val="EF6C00"/>
                          </a:solidFill>
                          <a:latin typeface="Consolas" pitchFamily="34" charset="0"/>
                          <a:ea typeface="Consolas" pitchFamily="34" charset="-122"/>
                          <a:cs typeface="Consolas" pitchFamily="34" charset="-120"/>
                        </a:rPr>
                        <a:t>± 0</a:t>
                      </a:r>
                    </a:p>
                    <a:p>
                      <a:pPr marL="0" indent="0" algn="r">
                        <a:buNone/>
                      </a:pPr>
                      <a:r>
                        <a:rPr lang="en-GB" sz="1150" b="1" dirty="0">
                          <a:solidFill>
                            <a:srgbClr val="1E8A4C"/>
                          </a:solidFill>
                          <a:latin typeface="Consolas" pitchFamily="34" charset="0"/>
                          <a:ea typeface="Consolas" pitchFamily="34" charset="-122"/>
                          <a:cs typeface="Consolas" pitchFamily="34" charset="-120"/>
                        </a:rPr>
                        <a:t>= ±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1"/>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2"/>
                  </a:ext>
                </a:extLst>
              </a:tr>
              <a:tr h="31089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10,000 lines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tc>
                  <a:txBody>
                    <a:bodyPr/>
                    <a:lstStyle/>
                    <a:p>
                      <a:pPr marL="0" indent="0" algn="r">
                        <a:buNone/>
                      </a:pPr>
                      <a:r>
                        <a:rPr lang="en-GB" sz="1150" b="1" dirty="0">
                          <a:solidFill>
                            <a:srgbClr val="1E8A4C"/>
                          </a:solidFill>
                          <a:latin typeface="Consolas" pitchFamily="34" charset="0"/>
                          <a:ea typeface="Consolas" pitchFamily="34" charset="-122"/>
                          <a:cs typeface="Consolas" pitchFamily="34" charset="-120"/>
                        </a:rPr>
                        <a:t>± 0</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E8F6EE"/>
                    </a:solidFill>
                  </a:tcPr>
                </a:tc>
                <a:extLst>
                  <a:ext uri="{0D108BD9-81ED-4DB2-BD59-A6C34878D82A}">
                    <a16:rowId xmlns:a16="http://schemas.microsoft.com/office/drawing/2014/main" val="10003"/>
                  </a:ext>
                </a:extLst>
              </a:tr>
            </a:tbl>
          </a:graphicData>
        </a:graphic>
      </p:graphicFrame>
      <p:sp>
        <p:nvSpPr>
          <p:cNvPr id="23" name="Panel 23"/>
          <p:cNvSpPr/>
          <p:nvPr/>
        </p:nvSpPr>
        <p:spPr>
          <a:xfrm>
            <a:off x="7818120" y="4224528"/>
            <a:ext cx="3547872" cy="1883664"/>
          </a:xfrm>
          <a:prstGeom prst="roundRect">
            <a:avLst>
              <a:gd name="adj" fmla="val 4854"/>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24" name="Text 24"/>
          <p:cNvSpPr txBox="1"/>
          <p:nvPr/>
        </p:nvSpPr>
        <p:spPr>
          <a:xfrm>
            <a:off x="8092440" y="4334256"/>
            <a:ext cx="3017520" cy="256032"/>
          </a:xfrm>
          <a:prstGeom prst="rect">
            <a:avLst/>
          </a:prstGeom>
          <a:noFill/>
          <a:ln/>
        </p:spPr>
        <p:txBody>
          <a:bodyPr wrap="square" lIns="0" tIns="0" rIns="0" bIns="0" rtlCol="0" anchor="ctr"/>
          <a:lstStyle/>
          <a:p>
            <a:pPr marL="0" indent="0" algn="l">
              <a:buNone/>
            </a:pPr>
            <a:r>
              <a:rPr lang="en-GB" sz="1000" spc="150" dirty="0">
                <a:solidFill>
                  <a:srgbClr val="19C3C8"/>
                </a:solidFill>
                <a:latin typeface="Inter SemiBold Text SemiBold" pitchFamily="34" charset="0"/>
                <a:ea typeface="Inter SemiBold Text SemiBold" pitchFamily="34" charset="-122"/>
                <a:cs typeface="Inter SemiBold Text SemiBold" pitchFamily="34" charset="-120"/>
              </a:rPr>
              <a:t>TOTAL · NET</a:t>
            </a:r>
          </a:p>
        </p:txBody>
      </p:sp>
      <p:sp>
        <p:nvSpPr>
          <p:cNvPr id="25" name="Text 25"/>
          <p:cNvSpPr txBox="1"/>
          <p:nvPr/>
        </p:nvSpPr>
        <p:spPr>
          <a:xfrm>
            <a:off x="8092440" y="4608576"/>
            <a:ext cx="3108960" cy="384048"/>
          </a:xfrm>
          <a:prstGeom prst="rect">
            <a:avLst/>
          </a:prstGeom>
          <a:noFill/>
          <a:ln/>
        </p:spPr>
        <p:txBody>
          <a:bodyPr wrap="none" lIns="0" tIns="0" rIns="0" bIns="0" rtlCol="0" anchor="ctr"/>
          <a:lstStyle/>
          <a:p>
            <a:pPr marL="0" indent="0" algn="l">
              <a:buNone/>
            </a:pPr>
            <a:r>
              <a:rPr lang="en-GB" sz="1800" b="1" dirty="0">
                <a:solidFill>
                  <a:srgbClr val="FFFFFF"/>
                </a:solidFill>
                <a:latin typeface="Consolas" pitchFamily="34" charset="0"/>
                <a:ea typeface="Consolas" pitchFamily="34" charset="-122"/>
                <a:cs typeface="Consolas" pitchFamily="34" charset="-120"/>
              </a:rPr>
              <a:t>± 0</a:t>
            </a:r>
          </a:p>
        </p:txBody>
      </p:sp>
      <p:sp>
        <p:nvSpPr>
          <p:cNvPr id="26" name="Text 26"/>
          <p:cNvSpPr txBox="1"/>
          <p:nvPr/>
        </p:nvSpPr>
        <p:spPr>
          <a:xfrm>
            <a:off x="8092440" y="5029200"/>
            <a:ext cx="3063240" cy="457200"/>
          </a:xfrm>
          <a:prstGeom prst="rect">
            <a:avLst/>
          </a:prstGeom>
          <a:noFill/>
          <a:ln/>
        </p:spPr>
        <p:txBody>
          <a:bodyPr wrap="square" lIns="0" tIns="0" rIns="0" bIns="0" rtlCol="0" anchor="t"/>
          <a:lstStyle/>
          <a:p>
            <a:pPr marL="0" indent="0" algn="l">
              <a:lnSpc>
                <a:spcPct val="105000"/>
              </a:lnSpc>
              <a:buNone/>
            </a:pPr>
            <a:r>
              <a:rPr lang="en-GB" sz="1000" dirty="0">
                <a:solidFill>
                  <a:srgbClr val="C2CADE"/>
                </a:solidFill>
                <a:latin typeface="Inter Text" pitchFamily="34" charset="0"/>
                <a:ea typeface="Inter Text" pitchFamily="34" charset="-122"/>
                <a:cs typeface="Inter Text" pitchFamily="34" charset="-120"/>
              </a:rPr>
              <a:t>Only BT-115 Amount due for payment is rounded once; BT-114 Rounding amount shows it.</a:t>
            </a:r>
          </a:p>
        </p:txBody>
      </p:sp>
      <p:sp>
        <p:nvSpPr>
          <p:cNvPr id="27" name="Shape 27"/>
          <p:cNvSpPr/>
          <p:nvPr/>
        </p:nvSpPr>
        <p:spPr>
          <a:xfrm>
            <a:off x="8092440" y="5541264"/>
            <a:ext cx="3017520" cy="9144"/>
          </a:xfrm>
          <a:prstGeom prst="rect">
            <a:avLst/>
          </a:prstGeom>
          <a:solidFill>
            <a:srgbClr val="3A4A7A"/>
          </a:solidFill>
          <a:ln>
            <a:noFill/>
          </a:ln>
        </p:spPr>
        <p:txBody>
          <a:bodyPr/>
          <a:lstStyle/>
          <a:p>
            <a:endParaRPr lang="en-GB"/>
          </a:p>
        </p:txBody>
      </p:sp>
      <p:sp>
        <p:nvSpPr>
          <p:cNvPr id="28" name="Text 28"/>
          <p:cNvSpPr txBox="1"/>
          <p:nvPr/>
        </p:nvSpPr>
        <p:spPr>
          <a:xfrm>
            <a:off x="8092440" y="5596128"/>
            <a:ext cx="3108960" cy="420624"/>
          </a:xfrm>
          <a:prstGeom prst="rect">
            <a:avLst/>
          </a:prstGeom>
          <a:noFill/>
          <a:ln/>
        </p:spPr>
        <p:txBody>
          <a:bodyPr wrap="square" lIns="0" tIns="0" rIns="0" bIns="0" rtlCol="0" anchor="ctr"/>
          <a:lstStyle/>
          <a:p>
            <a:pPr marL="0" indent="0" algn="l">
              <a:buNone/>
            </a:pPr>
            <a:r>
              <a:rPr lang="en-GB" sz="950" dirty="0">
                <a:solidFill>
                  <a:srgbClr val="9AA4C2"/>
                </a:solidFill>
                <a:latin typeface="Inter Text" pitchFamily="34" charset="0"/>
                <a:ea typeface="Inter Text" pitchFamily="34" charset="-122"/>
                <a:cs typeface="Inter Text" pitchFamily="34" charset="-120"/>
              </a:rPr>
              <a:t>100 lines of 10,000 units</a:t>
            </a:r>
          </a:p>
          <a:p>
            <a:pPr marL="0" indent="0" algn="l">
              <a:buNone/>
            </a:pPr>
            <a:r>
              <a:rPr lang="en-GB" sz="1000" dirty="0">
                <a:solidFill>
                  <a:srgbClr val="C2CADE"/>
                </a:solidFill>
                <a:latin typeface="Inter Text" pitchFamily="34" charset="0"/>
                <a:ea typeface="Inter Text" pitchFamily="34" charset="-122"/>
                <a:cs typeface="Inter Text" pitchFamily="34" charset="-120"/>
              </a:rPr>
              <a:t>Net </a:t>
            </a:r>
            <a:r>
              <a:rPr lang="en-GB" sz="1100" b="1" dirty="0">
                <a:solidFill>
                  <a:srgbClr val="FFFFFF"/>
                </a:solidFill>
                <a:latin typeface="Consolas" pitchFamily="34" charset="0"/>
                <a:ea typeface="Consolas" pitchFamily="34" charset="-122"/>
                <a:cs typeface="Consolas" pitchFamily="34" charset="-120"/>
              </a:rPr>
              <a:t>± 0</a:t>
            </a:r>
            <a:r>
              <a:rPr lang="en-GB" sz="1000" dirty="0">
                <a:solidFill>
                  <a:srgbClr val="C2CADE"/>
                </a:solidFill>
                <a:latin typeface="Inter Text" pitchFamily="34" charset="0"/>
                <a:ea typeface="Inter Text" pitchFamily="34" charset="-122"/>
                <a:cs typeface="Inter Text" pitchFamily="34" charset="-120"/>
              </a:rPr>
              <a:t>   VAT </a:t>
            </a:r>
            <a:r>
              <a:rPr lang="en-GB" sz="1100" b="1" dirty="0">
                <a:solidFill>
                  <a:srgbClr val="FFFFFF"/>
                </a:solidFill>
                <a:latin typeface="Consolas" pitchFamily="34" charset="0"/>
                <a:ea typeface="Consolas" pitchFamily="34" charset="-122"/>
                <a:cs typeface="Consolas" pitchFamily="34" charset="-120"/>
              </a:rPr>
              <a:t>± 0</a:t>
            </a:r>
          </a:p>
        </p:txBody>
      </p:sp>
      <p:sp>
        <p:nvSpPr>
          <p:cNvPr id="29" name="Text 29"/>
          <p:cNvSpPr txBox="1"/>
          <p:nvPr/>
        </p:nvSpPr>
        <p:spPr>
          <a:xfrm>
            <a:off x="822960" y="6126480"/>
            <a:ext cx="6766560" cy="274320"/>
          </a:xfrm>
          <a:prstGeom prst="rect">
            <a:avLst/>
          </a:prstGeom>
          <a:noFill/>
          <a:ln/>
        </p:spPr>
        <p:txBody>
          <a:bodyPr wrap="square" lIns="0" tIns="0" rIns="0" bIns="0" rtlCol="0" anchor="t"/>
          <a:lstStyle/>
          <a:p>
            <a:pPr marL="0" indent="0" algn="l">
              <a:lnSpc>
                <a:spcPct val="100000"/>
              </a:lnSpc>
              <a:buNone/>
            </a:pPr>
            <a:r>
              <a:rPr lang="en-GB" sz="850" dirty="0">
                <a:solidFill>
                  <a:srgbClr val="9AA4C2"/>
                </a:solidFill>
                <a:latin typeface="Inter Text" pitchFamily="34" charset="0"/>
                <a:ea typeface="Inter Text" pitchFamily="34" charset="-122"/>
                <a:cs typeface="Inter Text" pitchFamily="34" charset="-120"/>
              </a:rPr>
              <a:t>Assumption: all roundings go in the same direction, BT-149 Item price base quantity = 1, 19% VAT.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Folie 32">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IMPACT</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What changes for existing implementations</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Nothing that works today breaks — effort only where accuracy was impossible.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F34489CF-F034-4AFD-9989-E9C20810832A}"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17</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graphicFrame>
        <p:nvGraphicFramePr>
          <p:cNvPr id="8" name="Table 8"/>
          <p:cNvGraphicFramePr>
            <a:graphicFrameLocks noGrp="1"/>
          </p:cNvGraphicFramePr>
          <p:nvPr/>
        </p:nvGraphicFramePr>
        <p:xfrm>
          <a:off x="822960" y="2331720"/>
          <a:ext cx="6537960" cy="2487168"/>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Who</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What changes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tc>
                  <a:txBody>
                    <a:bodyPr/>
                    <a:lstStyle/>
                    <a:p>
                      <a:pPr marL="0" indent="0" algn="l">
                        <a:buNone/>
                      </a:pPr>
                      <a:r>
                        <a:rPr lang="en-GB" sz="1050" dirty="0">
                          <a:solidFill>
                            <a:srgbClr val="FFFFFF"/>
                          </a:solidFill>
                          <a:latin typeface="Inter SemiBold Text SemiBold" pitchFamily="34" charset="0"/>
                          <a:ea typeface="Inter SemiBold Text SemiBold" pitchFamily="34" charset="-122"/>
                          <a:cs typeface="Inter SemiBold Text SemiBold" pitchFamily="34" charset="-120"/>
                        </a:rPr>
                        <a:t>Effort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1A2B5E"/>
                    </a:solidFill>
                  </a:tcPr>
                </a:tc>
                <a:extLst>
                  <a:ext uri="{0D108BD9-81ED-4DB2-BD59-A6C34878D82A}">
                    <a16:rowId xmlns:a16="http://schemas.microsoft.com/office/drawing/2014/main" val="10000"/>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Issuers: net prices, 2 dp</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nothing</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none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Receivers with 2 dp</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round precise values once on import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small, only for precise invoices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Gross-price invoices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new “plus VAT” terms </a:t>
                      </a:r>
                      <a:r>
                        <a:rPr lang="en-GB" sz="1100" dirty="0">
                          <a:solidFill>
                            <a:srgbClr val="5B6890"/>
                          </a:solidFill>
                          <a:latin typeface="Inter Text" pitchFamily="34" charset="0"/>
                          <a:ea typeface="Inter Text" pitchFamily="34" charset="-122"/>
                          <a:cs typeface="Inter Text" pitchFamily="34" charset="-120"/>
                          <a:hlinkClick r:id="rId4">
                            <a:extLst>
                              <a:ext uri="{A12FA001-AC4F-418D-AE19-62706E023703}">
                                <ahyp:hlinkClr xmlns:ahyp="http://schemas.microsoft.com/office/drawing/2018/hyperlinkcolor" val="tx"/>
                              </a:ext>
                            </a:extLst>
                          </a:hlinkClick>
                        </a:rPr>
                        <a:t>(#164)</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new core feature; no correct way existed</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Validators</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exact decimal arithmetic (decimal128)</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test documents exist (</a:t>
                      </a:r>
                      <a:r>
                        <a:rPr lang="en-GB" sz="11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Svanton</a:t>
                      </a:r>
                      <a:r>
                        <a:rPr lang="en-GB" sz="1100" dirty="0">
                          <a:solidFill>
                            <a:srgbClr val="5B6890"/>
                          </a:solidFill>
                          <a:latin typeface="Inter Text" pitchFamily="34" charset="0"/>
                          <a:ea typeface="Inter Text" pitchFamily="34" charset="-122"/>
                          <a:cs typeface="Inter Text" pitchFamily="34" charset="-120"/>
                        </a:rPr>
                        <a:t>)</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GB" sz="1100" dirty="0">
                          <a:solidFill>
                            <a:srgbClr val="1A2B5E"/>
                          </a:solidFill>
                          <a:latin typeface="Inter SemiBold Text SemiBold" pitchFamily="34" charset="0"/>
                          <a:ea typeface="Inter SemiBold Text SemiBold" pitchFamily="34" charset="-122"/>
                          <a:cs typeface="Inter SemiBold Text SemiBold" pitchFamily="34" charset="-120"/>
                        </a:rPr>
                        <a:t>Syntaxes UBL and CII</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none: amounts are xsd:decimal</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tc>
                  <a:txBody>
                    <a:bodyPr/>
                    <a:lstStyle/>
                    <a:p>
                      <a:pPr marL="0" indent="0" algn="l">
                        <a:buNone/>
                      </a:pPr>
                      <a:r>
                        <a:rPr lang="en-GB" sz="1100" dirty="0">
                          <a:solidFill>
                            <a:srgbClr val="5B6890"/>
                          </a:solidFill>
                          <a:latin typeface="Inter Text" pitchFamily="34" charset="0"/>
                          <a:ea typeface="Inter Text" pitchFamily="34" charset="-122"/>
                          <a:cs typeface="Inter Text" pitchFamily="34" charset="-120"/>
                        </a:rPr>
                        <a:t>none</a:t>
                      </a:r>
                    </a:p>
                  </a:txBody>
                  <a:tcPr marL="73152" marR="73152" marT="36576" marB="36576" anchor="ctr">
                    <a:lnL w="9525">
                      <a:solidFill>
                        <a:srgbClr val="E2E7F2"/>
                      </a:solidFill>
                    </a:lnL>
                    <a:lnR w="9525">
                      <a:solidFill>
                        <a:srgbClr val="E2E7F2"/>
                      </a:solidFill>
                    </a:lnR>
                    <a:lnT w="9525">
                      <a:solidFill>
                        <a:srgbClr val="E2E7F2"/>
                      </a:solidFill>
                    </a:lnT>
                    <a:lnB w="9525">
                      <a:solidFill>
                        <a:srgbClr val="E2E7F2"/>
                      </a:solidFill>
                    </a:lnB>
                    <a:solidFill>
                      <a:srgbClr val="FFFFFF"/>
                    </a:solidFill>
                  </a:tcPr>
                </a:tc>
                <a:extLst>
                  <a:ext uri="{0D108BD9-81ED-4DB2-BD59-A6C34878D82A}">
                    <a16:rowId xmlns:a16="http://schemas.microsoft.com/office/drawing/2014/main" val="10001"/>
                  </a:ext>
                </a:extLst>
              </a:tr>
            </a:tbl>
          </a:graphicData>
        </a:graphic>
      </p:graphicFrame>
      <p:sp>
        <p:nvSpPr>
          <p:cNvPr id="9" name="Text 9"/>
          <p:cNvSpPr txBox="1"/>
          <p:nvPr/>
        </p:nvSpPr>
        <p:spPr>
          <a:xfrm>
            <a:off x="822960" y="4937760"/>
            <a:ext cx="6537960" cy="914400"/>
          </a:xfrm>
          <a:prstGeom prst="rect">
            <a:avLst/>
          </a:prstGeom>
          <a:noFill/>
          <a:ln/>
        </p:spPr>
        <p:txBody>
          <a:bodyPr wrap="square" lIns="0" tIns="0" rIns="0" bIns="0" rtlCol="0" anchor="t"/>
          <a:lstStyle/>
          <a:p>
            <a:pPr marL="0" indent="0" algn="l">
              <a:lnSpc>
                <a:spcPct val="110000"/>
              </a:lnSpc>
              <a:buNone/>
            </a:pPr>
            <a:r>
              <a:rPr lang="en-GB" sz="1100" dirty="0">
                <a:solidFill>
                  <a:srgbClr val="5B6890"/>
                </a:solidFill>
                <a:latin typeface="Inter Text" pitchFamily="34" charset="0"/>
                <a:ea typeface="Inter Text" pitchFamily="34" charset="-122"/>
                <a:cs typeface="Inter Text" pitchFamily="34" charset="-120"/>
              </a:rPr>
              <a:t>Removing a maximum is not a minimum: every invoice that is valid today stays valid, at most with a warning </a:t>
            </a:r>
            <a:r>
              <a:rPr lang="en-GB" sz="1100" dirty="0">
                <a:solidFill>
                  <a:srgbClr val="5B6890"/>
                </a:solidFill>
                <a:latin typeface="Inter Text" pitchFamily="34" charset="0"/>
                <a:ea typeface="Inter Text" pitchFamily="34" charset="-122"/>
                <a:cs typeface="Inter Text" pitchFamily="34" charset="-120"/>
                <a:hlinkClick r:id="rId5">
                  <a:extLst>
                    <a:ext uri="{A12FA001-AC4F-418D-AE19-62706E023703}">
                      <ahyp:hlinkClr xmlns:ahyp="http://schemas.microsoft.com/office/drawing/2018/hyperlinkcolor" val="tx"/>
                    </a:ext>
                  </a:extLst>
                </a:hlinkClick>
              </a:rPr>
              <a:t>(#163)</a:t>
            </a:r>
            <a:r>
              <a:rPr lang="en-GB" sz="1100" dirty="0">
                <a:solidFill>
                  <a:srgbClr val="5B6890"/>
                </a:solidFill>
                <a:latin typeface="Inter Text" pitchFamily="34" charset="0"/>
                <a:ea typeface="Inter Text" pitchFamily="34" charset="-122"/>
                <a:cs typeface="Inter Text" pitchFamily="34" charset="-120"/>
              </a:rPr>
              <a:t>.</a:t>
            </a:r>
          </a:p>
        </p:txBody>
      </p:sp>
      <p:sp>
        <p:nvSpPr>
          <p:cNvPr id="10" name="Panel 10"/>
          <p:cNvSpPr/>
          <p:nvPr/>
        </p:nvSpPr>
        <p:spPr>
          <a:xfrm>
            <a:off x="7589520" y="2331720"/>
            <a:ext cx="3776472" cy="3520440"/>
          </a:xfrm>
          <a:prstGeom prst="roundRect">
            <a:avLst>
              <a:gd name="adj" fmla="val 2597"/>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1" name="Text 11"/>
          <p:cNvSpPr txBox="1"/>
          <p:nvPr/>
        </p:nvSpPr>
        <p:spPr>
          <a:xfrm>
            <a:off x="7909560" y="2514600"/>
            <a:ext cx="3200400" cy="274320"/>
          </a:xfrm>
          <a:prstGeom prst="rect">
            <a:avLst/>
          </a:prstGeom>
          <a:noFill/>
          <a:ln/>
        </p:spPr>
        <p:txBody>
          <a:bodyPr wrap="square" lIns="0" tIns="0" rIns="0" bIns="0" rtlCol="0" anchor="ctr"/>
          <a:lstStyle/>
          <a:p>
            <a:pPr marL="0" indent="0" algn="l">
              <a:buNone/>
            </a:pPr>
            <a:r>
              <a:rPr lang="en-GB" sz="1050" spc="150" dirty="0">
                <a:solidFill>
                  <a:srgbClr val="19C3C8"/>
                </a:solidFill>
                <a:latin typeface="Inter SemiBold Text SemiBold" pitchFamily="34" charset="0"/>
                <a:ea typeface="Inter SemiBold Text SemiBold" pitchFamily="34" charset="-122"/>
                <a:cs typeface="Inter SemiBold Text SemiBold" pitchFamily="34" charset="-120"/>
              </a:rPr>
              <a:t>WHAT STAYS</a:t>
            </a:r>
          </a:p>
        </p:txBody>
      </p:sp>
      <p:sp>
        <p:nvSpPr>
          <p:cNvPr id="27" name="Pill 27"/>
          <p:cNvSpPr/>
          <p:nvPr/>
        </p:nvSpPr>
        <p:spPr>
          <a:xfrm>
            <a:off x="822960" y="5943600"/>
            <a:ext cx="10543032" cy="411480"/>
          </a:xfrm>
          <a:prstGeom prst="roundRect">
            <a:avLst>
              <a:gd name="adj" fmla="val 50000"/>
            </a:avLst>
          </a:prstGeom>
          <a:solidFill>
            <a:srgbClr val="E7F8F8"/>
          </a:solidFill>
          <a:ln w="9525">
            <a:solidFill>
              <a:srgbClr val="B5E9EA"/>
            </a:solidFill>
            <a:prstDash val="solid"/>
          </a:ln>
        </p:spPr>
        <p:txBody>
          <a:bodyPr wrap="square" lIns="36576" tIns="36576" rIns="36576" bIns="36576" rtlCol="0" anchor="ctr"/>
          <a:lstStyle/>
          <a:p>
            <a:pPr marL="0" indent="0" algn="ctr">
              <a:buNone/>
            </a:pPr>
            <a:r>
              <a:rPr lang="en-GB" sz="1200" dirty="0">
                <a:solidFill>
                  <a:srgbClr val="5B6890"/>
                </a:solidFill>
                <a:latin typeface="Inter SemiBold Text SemiBold" pitchFamily="34" charset="0"/>
                <a:ea typeface="Inter SemiBold Text SemiBold" pitchFamily="34" charset="-122"/>
                <a:cs typeface="Inter SemiBold Text SemiBold" pitchFamily="34" charset="-120"/>
              </a:rPr>
              <a:t>Impact study (</a:t>
            </a:r>
            <a:r>
              <a:rPr lang="en-GB" sz="1200" dirty="0">
                <a:solidFill>
                  <a:srgbClr val="5B6890"/>
                </a:solidFill>
                <a:latin typeface="Inter SemiBold Text SemiBold" pitchFamily="34" charset="0"/>
                <a:ea typeface="Inter SemiBold Text SemiBold" pitchFamily="34" charset="-122"/>
                <a:cs typeface="Inter SemiBold Text SemiBold" pitchFamily="34" charset="-120"/>
                <a:hlinkClick r:id="rId7">
                  <a:extLst>
                    <a:ext uri="{A12FA001-AC4F-418D-AE19-62706E023703}">
                      <ahyp:hlinkClr xmlns:ahyp="http://schemas.microsoft.com/office/drawing/2018/hyperlinkcolor" val="tx"/>
                    </a:ext>
                  </a:extLst>
                </a:hlinkClick>
              </a:rPr>
              <a:t>Cyrille Sautereau</a:t>
            </a:r>
            <a:r>
              <a:rPr lang="en-GB" sz="1200" dirty="0">
                <a:solidFill>
                  <a:srgbClr val="5B6890"/>
                </a:solidFill>
                <a:latin typeface="Inter SemiBold Text SemiBold" pitchFamily="34" charset="0"/>
                <a:ea typeface="Inter SemiBold Text SemiBold" pitchFamily="34" charset="-122"/>
                <a:cs typeface="Inter SemiBold Text SemiBold" pitchFamily="34" charset="-120"/>
              </a:rPr>
              <a:t>):  </a:t>
            </a:r>
            <a:r>
              <a:rPr lang="en-GB" sz="1200" dirty="0">
                <a:solidFill>
                  <a:srgbClr val="5B6890"/>
                </a:solidFill>
                <a:latin typeface="Inter Text" pitchFamily="34" charset="0"/>
                <a:ea typeface="Inter Text" pitchFamily="34" charset="-122"/>
                <a:cs typeface="Inter Text" pitchFamily="34" charset="-120"/>
              </a:rPr>
              <a:t>does a system round a precise value on import — or reject the invoice?</a:t>
            </a:r>
          </a:p>
        </p:txBody>
      </p:sp>
      <p:sp>
        <p:nvSpPr>
          <p:cNvPr id="28" name="Speaker 28">
            <a:hlinkClick r:id="rId3"/>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
        <p:nvSpPr>
          <p:cNvPr id="29" name="Callout 29"/>
          <p:cNvSpPr/>
          <p:nvPr/>
        </p:nvSpPr>
        <p:spPr>
          <a:xfrm>
            <a:off x="822960" y="5422392"/>
            <a:ext cx="6537960" cy="457200"/>
          </a:xfrm>
          <a:prstGeom prst="roundRect">
            <a:avLst>
              <a:gd name="adj" fmla="val 18000"/>
            </a:avLst>
          </a:prstGeom>
          <a:solidFill>
            <a:srgbClr val="FFF3E6"/>
          </a:solidFill>
          <a:ln w="9525">
            <a:solidFill>
              <a:srgbClr val="F5CFA3"/>
            </a:solidFill>
            <a:prstDash val="solid"/>
          </a:ln>
        </p:spPr>
        <p:txBody>
          <a:bodyPr wrap="square" lIns="91440" tIns="27432" rIns="91440" bIns="27432" rtlCol="0" anchor="ctr"/>
          <a:lstStyle/>
          <a:p>
            <a:pPr marL="0" indent="0" algn="l">
              <a:buNone/>
            </a:pPr>
            <a:r>
              <a:rPr lang="en-GB" sz="1050" dirty="0">
                <a:solidFill>
                  <a:srgbClr val="B85C0A"/>
                </a:solidFill>
                <a:latin typeface="Inter SemiBold Text SemiBold" pitchFamily="34" charset="0"/>
                <a:ea typeface="Inter SemiBold Text SemiBold" pitchFamily="34" charset="-122"/>
                <a:cs typeface="Inter SemiBold Text SemiBold" pitchFamily="34" charset="-120"/>
              </a:rPr>
              <a:t>Gross-price invoices never worked in the core: </a:t>
            </a:r>
            <a:r>
              <a:rPr lang="en-GB" sz="1050" dirty="0">
                <a:solidFill>
                  <a:srgbClr val="B85C0A"/>
                </a:solidFill>
                <a:latin typeface="Inter Text" pitchFamily="34" charset="0"/>
                <a:ea typeface="Inter Text" pitchFamily="34" charset="-122"/>
                <a:cs typeface="Inter Text" pitchFamily="34" charset="-120"/>
              </a:rPr>
              <a:t>BMF letter para. 18; workaround only until 31 Dec 2027 (para. 19).</a:t>
            </a:r>
          </a:p>
        </p:txBody>
      </p:sp>
      <p:sp>
        <p:nvSpPr>
          <p:cNvPr id="30" name="Shape 20 c30"/>
          <p:cNvSpPr/>
          <p:nvPr/>
        </p:nvSpPr>
        <p:spPr>
          <a:xfrm>
            <a:off x="7909560" y="2990088"/>
            <a:ext cx="292608" cy="292608"/>
          </a:xfrm>
          <a:prstGeom prst="ellipse">
            <a:avLst/>
          </a:prstGeom>
          <a:solidFill>
            <a:srgbClr val="19C3C8"/>
          </a:solidFill>
          <a:ln>
            <a:noFill/>
          </a:ln>
        </p:spPr>
        <p:txBody>
          <a:bodyPr/>
          <a:lstStyle/>
          <a:p>
            <a:endParaRPr lang="en-GB"/>
          </a:p>
        </p:txBody>
      </p:sp>
      <p:sp>
        <p:nvSpPr>
          <p:cNvPr id="31" name="Text 21 c31"/>
          <p:cNvSpPr txBox="1"/>
          <p:nvPr/>
        </p:nvSpPr>
        <p:spPr>
          <a:xfrm>
            <a:off x="7909560" y="299008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2" name="Text 22 c32"/>
          <p:cNvSpPr txBox="1"/>
          <p:nvPr/>
        </p:nvSpPr>
        <p:spPr>
          <a:xfrm>
            <a:off x="8366760" y="2926080"/>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Invoices with 2 decimal places stay valid</a:t>
            </a:r>
          </a:p>
        </p:txBody>
      </p:sp>
      <p:sp>
        <p:nvSpPr>
          <p:cNvPr id="33" name="Shape 20 c33"/>
          <p:cNvSpPr/>
          <p:nvPr/>
        </p:nvSpPr>
        <p:spPr>
          <a:xfrm>
            <a:off x="7909560" y="3557016"/>
            <a:ext cx="292608" cy="292608"/>
          </a:xfrm>
          <a:prstGeom prst="ellipse">
            <a:avLst/>
          </a:prstGeom>
          <a:solidFill>
            <a:srgbClr val="19C3C8"/>
          </a:solidFill>
          <a:ln>
            <a:noFill/>
          </a:ln>
        </p:spPr>
        <p:txBody>
          <a:bodyPr/>
          <a:lstStyle/>
          <a:p>
            <a:endParaRPr lang="en-GB"/>
          </a:p>
        </p:txBody>
      </p:sp>
      <p:sp>
        <p:nvSpPr>
          <p:cNvPr id="34" name="Text 21 c34"/>
          <p:cNvSpPr txBox="1"/>
          <p:nvPr/>
        </p:nvSpPr>
        <p:spPr>
          <a:xfrm>
            <a:off x="7909560" y="355701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5" name="Text 22 c35"/>
          <p:cNvSpPr txBox="1"/>
          <p:nvPr/>
        </p:nvSpPr>
        <p:spPr>
          <a:xfrm>
            <a:off x="8366760" y="3493008"/>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The net model is unchanged</a:t>
            </a:r>
          </a:p>
        </p:txBody>
      </p:sp>
      <p:sp>
        <p:nvSpPr>
          <p:cNvPr id="36" name="Shape 20 c36"/>
          <p:cNvSpPr/>
          <p:nvPr/>
        </p:nvSpPr>
        <p:spPr>
          <a:xfrm>
            <a:off x="7909560" y="4123944"/>
            <a:ext cx="292608" cy="292608"/>
          </a:xfrm>
          <a:prstGeom prst="ellipse">
            <a:avLst/>
          </a:prstGeom>
          <a:solidFill>
            <a:srgbClr val="19C3C8"/>
          </a:solidFill>
          <a:ln>
            <a:noFill/>
          </a:ln>
        </p:spPr>
        <p:txBody>
          <a:bodyPr/>
          <a:lstStyle/>
          <a:p>
            <a:endParaRPr lang="en-GB"/>
          </a:p>
        </p:txBody>
      </p:sp>
      <p:sp>
        <p:nvSpPr>
          <p:cNvPr id="37" name="Text 21 c37"/>
          <p:cNvSpPr txBox="1"/>
          <p:nvPr/>
        </p:nvSpPr>
        <p:spPr>
          <a:xfrm>
            <a:off x="7909560" y="412394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8" name="Text 22 c38"/>
          <p:cNvSpPr txBox="1"/>
          <p:nvPr/>
        </p:nvSpPr>
        <p:spPr>
          <a:xfrm>
            <a:off x="8366760" y="4059936"/>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BT-110, BT-115, BT-117 booked in cents as today</a:t>
            </a:r>
          </a:p>
        </p:txBody>
      </p:sp>
      <p:sp>
        <p:nvSpPr>
          <p:cNvPr id="39" name="Shape 20 c39"/>
          <p:cNvSpPr/>
          <p:nvPr/>
        </p:nvSpPr>
        <p:spPr>
          <a:xfrm>
            <a:off x="7909560" y="4690872"/>
            <a:ext cx="292608" cy="292608"/>
          </a:xfrm>
          <a:prstGeom prst="ellipse">
            <a:avLst/>
          </a:prstGeom>
          <a:solidFill>
            <a:srgbClr val="19C3C8"/>
          </a:solidFill>
          <a:ln>
            <a:noFill/>
          </a:ln>
        </p:spPr>
        <p:txBody>
          <a:bodyPr/>
          <a:lstStyle/>
          <a:p>
            <a:endParaRPr lang="en-GB"/>
          </a:p>
        </p:txBody>
      </p:sp>
      <p:sp>
        <p:nvSpPr>
          <p:cNvPr id="40" name="Text 21 c40"/>
          <p:cNvSpPr txBox="1"/>
          <p:nvPr/>
        </p:nvSpPr>
        <p:spPr>
          <a:xfrm>
            <a:off x="7909560" y="469087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41" name="Text 22 c41"/>
          <p:cNvSpPr txBox="1"/>
          <p:nvPr/>
        </p:nvSpPr>
        <p:spPr>
          <a:xfrm>
            <a:off x="8366760" y="4626864"/>
            <a:ext cx="274320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Today's tolerances remain: a warning instead of silence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GROSS MODEL (#164) · WHERE</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Why the gross model belongs in the core</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Shops and cash registers have no prior agreement with their buyers.</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18</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Only the core reaches every receiver</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No acceptance needed for EN 16931 invoices (</a:t>
            </a:r>
            <a:r>
              <a:rPr lang="en-GB"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new Art. 232, ViDA</a:t>
            </a:r>
            <a:r>
              <a:rPr lang="en-GB"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DRR accepts EN-compliant data (</a:t>
            </a:r>
            <a:r>
              <a:rPr lang="en-GB" sz="12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new Art. 263(3), ViDA</a:t>
            </a:r>
            <a:r>
              <a:rPr lang="en-GB"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A CIUS such as XRechnung can only restrict (7.1, Table 29)</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The alternatives do not close the gap</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Advanced profile or extension: only with prior agreement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Simplified invoice: small amounts only (</a:t>
            </a:r>
            <a:r>
              <a:rPr lang="en-GB" sz="12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Art. 220a</a:t>
            </a:r>
            <a:r>
              <a:rPr lang="en-GB" sz="1200" dirty="0">
                <a:solidFill>
                  <a:srgbClr val="5B6890"/>
                </a:solidFill>
                <a:latin typeface="Inter Text" pitchFamily="34" charset="0"/>
                <a:ea typeface="Inter Text" pitchFamily="34" charset="-122"/>
                <a:cs typeface="Inter Text" pitchFamily="34" charset="-120"/>
              </a:rPr>
              <a:t>; </a:t>
            </a:r>
            <a:r>
              <a:rPr lang="en-GB" sz="1200" dirty="0">
                <a:solidFill>
                  <a:srgbClr val="5B6890"/>
                </a:solidFill>
                <a:latin typeface="Inter Text" pitchFamily="34" charset="0"/>
                <a:ea typeface="Inter Text" pitchFamily="34" charset="-122"/>
                <a:cs typeface="Inter Text" pitchFamily="34" charset="-120"/>
                <a:hlinkClick r:id="rId8">
                  <a:extLst>
                    <a:ext uri="{A12FA001-AC4F-418D-AE19-62706E023703}">
                      <ahyp:hlinkClr xmlns:ahyp="http://schemas.microsoft.com/office/drawing/2018/hyperlinkcolor" val="tx"/>
                    </a:ext>
                  </a:extLst>
                </a:hlinkClick>
              </a:rPr>
              <a:t>DE ≤ €250</a:t>
            </a:r>
            <a:r>
              <a:rPr lang="en-GB" sz="1200" dirty="0">
                <a:solidFill>
                  <a:srgbClr val="5B6890"/>
                </a:solidFill>
                <a:latin typeface="Inter Text" pitchFamily="34" charset="0"/>
                <a:ea typeface="Inter Text" pitchFamily="34" charset="-122"/>
                <a:cs typeface="Inter Text" pitchFamily="34" charset="-120"/>
              </a:rPr>
              <a: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One line per rate + attachment: until 31 Dec 2027</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hlinkClick r:id="rId9">
                  <a:extLst>
                    <a:ext uri="{A12FA001-AC4F-418D-AE19-62706E023703}">
                      <ahyp:hlinkClr xmlns:ahyp="http://schemas.microsoft.com/office/drawing/2018/hyperlinkcolor" val="tx"/>
                    </a:ext>
                  </a:extLst>
                </a:hlinkClick>
              </a:rPr>
              <a:t>BMF LETTER · 15 OCT 2026</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Para. 17</a:t>
            </a:r>
            <a:r>
              <a:rPr lang="en-GB" sz="1250" dirty="0">
                <a:solidFill>
                  <a:srgbClr val="FFFFFF"/>
                </a:solidFill>
                <a:latin typeface="Inter Text" pitchFamily="34" charset="0"/>
                <a:ea typeface="Inter Text" pitchFamily="34" charset="-122"/>
                <a:cs typeface="Inter Text" pitchFamily="34" charset="-120"/>
              </a:rPr>
              <a:t>: VAT to the cent; net amount = consideration minus VAT</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Para. 18</a:t>
            </a:r>
            <a:r>
              <a:rPr lang="en-GB" sz="1250" dirty="0">
                <a:solidFill>
                  <a:srgbClr val="FFFFFF"/>
                </a:solidFill>
                <a:latin typeface="Inter Text" pitchFamily="34" charset="0"/>
                <a:ea typeface="Inter Text" pitchFamily="34" charset="-122"/>
                <a:cs typeface="Inter Text" pitchFamily="34" charset="-120"/>
              </a:rPr>
              <a:t>: core model and tax rounding rule cannot both be met</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Para. 18</a:t>
            </a:r>
            <a:r>
              <a:rPr lang="en-GB" sz="1250" dirty="0">
                <a:solidFill>
                  <a:srgbClr val="FFFFFF"/>
                </a:solidFill>
                <a:latin typeface="Inter Text" pitchFamily="34" charset="0"/>
                <a:ea typeface="Inter Text" pitchFamily="34" charset="-122"/>
                <a:cs typeface="Inter Text" pitchFamily="34" charset="-120"/>
              </a:rPr>
              <a:t>: a format based on gross prices is recommended</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hlinkClick r:id="rId9">
                  <a:extLst>
                    <a:ext uri="{A12FA001-AC4F-418D-AE19-62706E023703}">
                      <ahyp:hlinkClr xmlns:ahyp="http://schemas.microsoft.com/office/drawing/2018/hyperlinkcolor" val="tx"/>
                    </a:ext>
                  </a:extLst>
                </a:hlinkClick>
              </a:rPr>
              <a:t>Para. 19</a:t>
            </a:r>
            <a:r>
              <a:rPr lang="en-GB" sz="1250" dirty="0">
                <a:solidFill>
                  <a:srgbClr val="FFFFFF"/>
                </a:solidFill>
                <a:latin typeface="Inter Text" pitchFamily="34" charset="0"/>
                <a:ea typeface="Inter Text" pitchFamily="34" charset="-122"/>
                <a:cs typeface="Inter Text" pitchFamily="34" charset="-120"/>
              </a:rPr>
              <a:t>: XRechnung and ZUGFeRD have no gross format yet</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Use cases:  </a:t>
            </a:r>
            <a:r>
              <a:rPr lang="en-GB" sz="1100" dirty="0">
                <a:solidFill>
                  <a:srgbClr val="5B6890"/>
                </a:solidFill>
                <a:latin typeface="Inter Text" pitchFamily="34" charset="0"/>
                <a:ea typeface="Inter Text" pitchFamily="34" charset="-122"/>
                <a:cs typeface="Inter Text" pitchFamily="34" charset="-120"/>
              </a:rPr>
              <a:t>fixed book prices · receipt → invoice · retail and marketplaces · fuel · statutory gross prices</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Folie 31">
    <p:bg>
      <p:bgPr>
        <a:solidFill>
          <a:srgbClr val="F4F6FB"/>
        </a:solidFill>
        <a:effectLst/>
      </p:bgPr>
    </p:bg>
    <p:spTree>
      <p:nvGrpSpPr>
        <p:cNvPr id="1" name=""/>
        <p:cNvGrpSpPr/>
        <p:nvPr/>
      </p:nvGrpSpPr>
      <p:grpSpPr>
        <a:xfrm>
          <a:off x="0" y="0"/>
          <a:ext cx="0" cy="0"/>
          <a:chOff x="0" y="0"/>
          <a:chExt cx="0" cy="0"/>
        </a:xfrm>
      </p:grpSpPr>
      <p:sp>
        <p:nvSpPr>
          <p:cNvPr id="3" name="Header 3"/>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5B6890"/>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C2CADE"/>
                </a:solidFill>
                <a:latin typeface="Inter Text" pitchFamily="34" charset="0"/>
                <a:ea typeface="Inter Text" pitchFamily="34" charset="-122"/>
                <a:cs typeface="Inter Text" pitchFamily="34" charset="-120"/>
              </a:rPr>
              <a:t>   ·   </a:t>
            </a:r>
            <a:r>
              <a:rPr lang="en-GB" sz="950" spc="100" dirty="0">
                <a:solidFill>
                  <a:srgbClr val="9AA4C2"/>
                </a:solidFill>
                <a:latin typeface="Inter Text" pitchFamily="34" charset="0"/>
                <a:ea typeface="Inter Text" pitchFamily="34" charset="-122"/>
                <a:cs typeface="Inter Text" pitchFamily="34" charset="-120"/>
              </a:rPr>
              <a:t>EN 16931-1:2026 amendment · Gross prices and rounding</a:t>
            </a:r>
          </a:p>
        </p:txBody>
      </p:sp>
      <p:sp>
        <p:nvSpPr>
          <p:cNvPr id="4" name="SectionLabel 4"/>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DECISIONS</a:t>
            </a:r>
          </a:p>
        </p:txBody>
      </p:sp>
      <p:sp>
        <p:nvSpPr>
          <p:cNvPr id="5" name="Title 5"/>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1A2B5E"/>
                </a:solidFill>
                <a:latin typeface="Inter Text" pitchFamily="34" charset="0"/>
                <a:ea typeface="Inter Text" pitchFamily="34" charset="-122"/>
                <a:cs typeface="Inter Text" pitchFamily="34" charset="-120"/>
              </a:rPr>
              <a:t>Two decisions for WG1</a:t>
            </a:r>
          </a:p>
        </p:txBody>
      </p:sp>
      <p:sp>
        <p:nvSpPr>
          <p:cNvPr id="6" name="Tagline 6"/>
          <p:cNvSpPr txBox="1"/>
          <p:nvPr/>
        </p:nvSpPr>
        <p:spPr>
          <a:xfrm>
            <a:off x="822960" y="1865376"/>
            <a:ext cx="10424160" cy="320040"/>
          </a:xfrm>
          <a:prstGeom prst="rect">
            <a:avLst/>
          </a:prstGeom>
          <a:noFill/>
          <a:ln/>
        </p:spPr>
        <p:txBody>
          <a:bodyPr wrap="square" lIns="0" tIns="0" rIns="0" bIns="0" rtlCol="0" anchor="ctr"/>
          <a:lstStyle/>
          <a:p>
            <a:pPr marL="0" indent="0" algn="l">
              <a:buNone/>
            </a:pPr>
            <a:r>
              <a:rPr lang="en-GB" sz="1300" dirty="0">
                <a:solidFill>
                  <a:srgbClr val="5B6890"/>
                </a:solidFill>
                <a:latin typeface="Inter Text" pitchFamily="34" charset="0"/>
                <a:ea typeface="Inter Text" pitchFamily="34" charset="-122"/>
                <a:cs typeface="Inter Text" pitchFamily="34" charset="-120"/>
              </a:rPr>
              <a:t>Both keep every working implementation valid.</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67D73E2F-A595-473C-9F0C-80BA506D5B08}" type="slidenum">
              <a:rPr lang="en-GB" sz="1000" spc="200" dirty="0">
                <a:solidFill>
                  <a:srgbClr val="5B6890"/>
                </a:solidFill>
                <a:latin typeface="Inter SemiBold Text SemiBold" pitchFamily="34" charset="0"/>
                <a:ea typeface="Inter SemiBold Text SemiBold" pitchFamily="34" charset="-122"/>
                <a:cs typeface="Inter SemiBold Text SemiBold" pitchFamily="34" charset="-120"/>
              </a:rPr>
              <a:t>19</a:t>
            </a:fld>
            <a:endParaRPr lang="en-GB" sz="1000" spc="200" dirty="0">
              <a:solidFill>
                <a:srgbClr val="5B6890"/>
              </a:solidFill>
              <a:latin typeface="Inter SemiBold Text SemiBold" pitchFamily="34" charset="0"/>
              <a:ea typeface="Inter SemiBold Text SemiBold" pitchFamily="34" charset="-122"/>
              <a:cs typeface="Inter SemiBold Text SemiBold" pitchFamily="34" charset="-120"/>
            </a:endParaRPr>
          </a:p>
        </p:txBody>
      </p:sp>
      <p:sp>
        <p:nvSpPr>
          <p:cNvPr id="8" name="Card 8"/>
          <p:cNvSpPr/>
          <p:nvPr/>
        </p:nvSpPr>
        <p:spPr>
          <a:xfrm>
            <a:off x="822960" y="2331720"/>
            <a:ext cx="5166360" cy="1691640"/>
          </a:xfrm>
          <a:prstGeom prst="roundRect">
            <a:avLst>
              <a:gd name="adj" fmla="val 432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9" name="IconCircle 9"/>
          <p:cNvSpPr/>
          <p:nvPr/>
        </p:nvSpPr>
        <p:spPr>
          <a:xfrm>
            <a:off x="1060704" y="2532888"/>
            <a:ext cx="402336" cy="402336"/>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con 10"/>
          <p:cNvPicPr>
            <a:picLocks noChangeAspect="1"/>
          </p:cNvPicPr>
          <p:nvPr/>
        </p:nvPicPr>
        <p:blipFill>
          <a:blip r:embed="rId3"/>
          <a:stretch>
            <a:fillRect/>
          </a:stretch>
        </p:blipFill>
        <p:spPr>
          <a:xfrm>
            <a:off x="1171346" y="2643530"/>
            <a:ext cx="181051" cy="181051"/>
          </a:xfrm>
          <a:prstGeom prst="rect">
            <a:avLst/>
          </a:prstGeom>
        </p:spPr>
      </p:pic>
      <p:sp>
        <p:nvSpPr>
          <p:cNvPr id="11" name="Text 11"/>
          <p:cNvSpPr txBox="1"/>
          <p:nvPr/>
        </p:nvSpPr>
        <p:spPr>
          <a:xfrm>
            <a:off x="1600200" y="25146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1 · Gross model in the core </a:t>
            </a:r>
            <a:r>
              <a:rPr lang="en-GB" sz="1500" dirty="0">
                <a:solidFill>
                  <a:srgbClr val="1A2B5E"/>
                </a:solidFill>
                <a:latin typeface="Inter SemiBold Text SemiBold" pitchFamily="34" charset="0"/>
                <a:ea typeface="Inter SemiBold Text SemiBold" pitchFamily="34" charset="-122"/>
                <a:cs typeface="Inter SemiBold Text SemiBold" pitchFamily="34" charset="-120"/>
                <a:hlinkClick r:id="rId6">
                  <a:extLst>
                    <a:ext uri="{A12FA001-AC4F-418D-AE19-62706E023703}">
                      <ahyp:hlinkClr xmlns:ahyp="http://schemas.microsoft.com/office/drawing/2018/hyperlinkcolor" val="tx"/>
                    </a:ext>
                  </a:extLst>
                </a:hlinkClick>
              </a:rPr>
              <a:t>(#164)</a:t>
            </a:r>
          </a:p>
        </p:txBody>
      </p:sp>
      <p:sp>
        <p:nvSpPr>
          <p:cNvPr id="12" name="Text 12"/>
          <p:cNvSpPr txBox="1"/>
          <p:nvPr/>
        </p:nvSpPr>
        <p:spPr>
          <a:xfrm>
            <a:off x="1133856" y="2990088"/>
            <a:ext cx="4663440" cy="100584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“Plus VAT” terms such as BT-146V, BT-131V, BT-116V</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VAT first: BT-117 rounded once, BT-116 = BT-116V − BT-117</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No net intermediate values; BT-146 for information</a:t>
            </a:r>
          </a:p>
        </p:txBody>
      </p:sp>
      <p:sp>
        <p:nvSpPr>
          <p:cNvPr id="13" name="Card 13"/>
          <p:cNvSpPr/>
          <p:nvPr/>
        </p:nvSpPr>
        <p:spPr>
          <a:xfrm>
            <a:off x="822960" y="4160520"/>
            <a:ext cx="5166360" cy="1645920"/>
          </a:xfrm>
          <a:prstGeom prst="roundRect">
            <a:avLst>
              <a:gd name="adj" fmla="val 4444"/>
            </a:avLst>
          </a:prstGeom>
          <a:solidFill>
            <a:srgbClr val="FFFFFF"/>
          </a:solidFill>
          <a:ln w="12700">
            <a:solidFill>
              <a:srgbClr val="E2E7F2"/>
            </a:solidFill>
            <a:prstDash val="solid"/>
          </a:ln>
          <a:effectLst>
            <a:outerShdw blurRad="101600" dist="38100" dir="5400000" algn="bl" rotWithShape="0">
              <a:srgbClr val="0A1230">
                <a:alpha val="8000"/>
              </a:srgbClr>
            </a:outerShdw>
          </a:effectLst>
        </p:spPr>
        <p:txBody>
          <a:bodyPr/>
          <a:lstStyle/>
          <a:p>
            <a:endParaRPr lang="en-GB"/>
          </a:p>
        </p:txBody>
      </p:sp>
      <p:sp>
        <p:nvSpPr>
          <p:cNvPr id="14" name="IconCircle 14"/>
          <p:cNvSpPr/>
          <p:nvPr/>
        </p:nvSpPr>
        <p:spPr>
          <a:xfrm>
            <a:off x="1060704" y="4361688"/>
            <a:ext cx="402336" cy="402336"/>
          </a:xfrm>
          <a:prstGeom prst="ellipse">
            <a:avLst/>
          </a:prstGeom>
          <a:solidFill>
            <a:srgbClr val="1A2B5E"/>
          </a:solidFill>
          <a:ln>
            <a:noFill/>
          </a:ln>
          <a:effectLst>
            <a:outerShdw blurRad="88900" dist="38100" dir="5400000" algn="bl" rotWithShape="0">
              <a:srgbClr val="0A1230">
                <a:alpha val="18000"/>
              </a:srgbClr>
            </a:outerShdw>
          </a:effectLst>
        </p:spPr>
        <p:txBody>
          <a:bodyPr/>
          <a:lstStyle/>
          <a:p>
            <a:endParaRPr lang="en-GB"/>
          </a:p>
        </p:txBody>
      </p:sp>
      <p:pic>
        <p:nvPicPr>
          <p:cNvPr id="15" name="Icon 15"/>
          <p:cNvPicPr>
            <a:picLocks noChangeAspect="1"/>
          </p:cNvPicPr>
          <p:nvPr/>
        </p:nvPicPr>
        <p:blipFill>
          <a:blip r:embed="rId4"/>
          <a:stretch>
            <a:fillRect/>
          </a:stretch>
        </p:blipFill>
        <p:spPr>
          <a:xfrm>
            <a:off x="1171346" y="4472330"/>
            <a:ext cx="181051" cy="181051"/>
          </a:xfrm>
          <a:prstGeom prst="rect">
            <a:avLst/>
          </a:prstGeom>
        </p:spPr>
      </p:pic>
      <p:sp>
        <p:nvSpPr>
          <p:cNvPr id="16" name="Text 16"/>
          <p:cNvSpPr txBox="1"/>
          <p:nvPr/>
        </p:nvSpPr>
        <p:spPr>
          <a:xfrm>
            <a:off x="1600200" y="4343400"/>
            <a:ext cx="4206240" cy="438912"/>
          </a:xfrm>
          <a:prstGeom prst="rect">
            <a:avLst/>
          </a:prstGeom>
          <a:noFill/>
          <a:ln/>
        </p:spPr>
        <p:txBody>
          <a:bodyPr wrap="square" lIns="0" tIns="0" rIns="0" bIns="0" rtlCol="0" anchor="ctr"/>
          <a:lstStyle/>
          <a:p>
            <a:pPr marL="0" indent="0" algn="l">
              <a:buNone/>
            </a:pPr>
            <a:r>
              <a:rPr lang="en-GB" sz="1500" dirty="0">
                <a:solidFill>
                  <a:srgbClr val="1A2B5E"/>
                </a:solidFill>
                <a:latin typeface="Inter SemiBold Text SemiBold" pitchFamily="34" charset="0"/>
                <a:ea typeface="Inter SemiBold Text SemiBold" pitchFamily="34" charset="-122"/>
                <a:cs typeface="Inter SemiBold Text SemiBold" pitchFamily="34" charset="-120"/>
              </a:rPr>
              <a:t>2 · No forced rounding </a:t>
            </a:r>
            <a:r>
              <a:rPr lang="en-GB" sz="1500" dirty="0">
                <a:solidFill>
                  <a:srgbClr val="1A2B5E"/>
                </a:solidFill>
                <a:latin typeface="Inter SemiBold Text SemiBold" pitchFamily="34" charset="0"/>
                <a:ea typeface="Inter SemiBold Text SemiBold" pitchFamily="34" charset="-122"/>
                <a:cs typeface="Inter SemiBold Text SemiBold" pitchFamily="34" charset="-120"/>
                <a:hlinkClick r:id="rId7">
                  <a:extLst>
                    <a:ext uri="{A12FA001-AC4F-418D-AE19-62706E023703}">
                      <ahyp:hlinkClr xmlns:ahyp="http://schemas.microsoft.com/office/drawing/2018/hyperlinkcolor" val="tx"/>
                    </a:ext>
                  </a:extLst>
                </a:hlinkClick>
              </a:rPr>
              <a:t>(#163)</a:t>
            </a:r>
          </a:p>
        </p:txBody>
      </p:sp>
      <p:sp>
        <p:nvSpPr>
          <p:cNvPr id="17" name="Text 17"/>
          <p:cNvSpPr txBox="1"/>
          <p:nvPr/>
        </p:nvSpPr>
        <p:spPr>
          <a:xfrm>
            <a:off x="1133856" y="4818888"/>
            <a:ext cx="4663440" cy="960120"/>
          </a:xfrm>
          <a:prstGeom prst="rect">
            <a:avLst/>
          </a:prstGeom>
          <a:noFill/>
          <a:ln/>
        </p:spPr>
        <p:txBody>
          <a:bodyPr wrap="square" lIns="0" tIns="0" rIns="0" bIns="0" rtlCol="0" anchor="t"/>
          <a:lstStyle/>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No maximum dp for prices, quantities, intermediate values</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Only paid amounts in the Minor Unit; BT-114 shows it</a:t>
            </a:r>
          </a:p>
          <a:p>
            <a:pPr marL="164592" indent="-164592" algn="l">
              <a:spcAft>
                <a:spcPts val="200"/>
              </a:spcAft>
              <a:buSzPct val="100000"/>
              <a:buChar char="•"/>
            </a:pPr>
            <a:r>
              <a:rPr lang="en-GB" sz="1200" dirty="0">
                <a:solidFill>
                  <a:srgbClr val="5B6890"/>
                </a:solidFill>
                <a:latin typeface="Inter Text" pitchFamily="34" charset="0"/>
                <a:ea typeface="Inter Text" pitchFamily="34" charset="-122"/>
                <a:cs typeface="Inter Text" pitchFamily="34" charset="-120"/>
              </a:rPr>
              <a:t>Exact validation: within tolerance warning, else error</a:t>
            </a:r>
          </a:p>
        </p:txBody>
      </p:sp>
      <p:sp>
        <p:nvSpPr>
          <p:cNvPr id="18" name="Panel 18"/>
          <p:cNvSpPr/>
          <p:nvPr/>
        </p:nvSpPr>
        <p:spPr>
          <a:xfrm>
            <a:off x="6172200" y="2331720"/>
            <a:ext cx="5193792" cy="3474720"/>
          </a:xfrm>
          <a:prstGeom prst="roundRect">
            <a:avLst>
              <a:gd name="adj" fmla="val 2631"/>
            </a:avLst>
          </a:prstGeom>
          <a:solidFill>
            <a:srgbClr val="1A2B5E"/>
          </a:solidFill>
          <a:ln>
            <a:noFill/>
          </a:ln>
          <a:effectLst>
            <a:outerShdw blurRad="101600" dist="38100" dir="5400000" algn="bl" rotWithShape="0">
              <a:srgbClr val="0A1230">
                <a:alpha val="18000"/>
              </a:srgbClr>
            </a:outerShdw>
          </a:effectLst>
        </p:spPr>
        <p:txBody>
          <a:bodyPr/>
          <a:lstStyle/>
          <a:p>
            <a:endParaRPr lang="en-GB"/>
          </a:p>
        </p:txBody>
      </p:sp>
      <p:sp>
        <p:nvSpPr>
          <p:cNvPr id="19" name="Text 19"/>
          <p:cNvSpPr txBox="1"/>
          <p:nvPr/>
        </p:nvSpPr>
        <p:spPr>
          <a:xfrm>
            <a:off x="6492240" y="2514600"/>
            <a:ext cx="45720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NEXT STEPS</a:t>
            </a:r>
          </a:p>
        </p:txBody>
      </p:sp>
      <p:sp>
        <p:nvSpPr>
          <p:cNvPr id="20" name="Shape 20"/>
          <p:cNvSpPr/>
          <p:nvPr/>
        </p:nvSpPr>
        <p:spPr>
          <a:xfrm>
            <a:off x="6492240" y="2944368"/>
            <a:ext cx="292608" cy="292608"/>
          </a:xfrm>
          <a:prstGeom prst="ellipse">
            <a:avLst/>
          </a:prstGeom>
          <a:solidFill>
            <a:srgbClr val="19C3C8"/>
          </a:solidFill>
          <a:ln>
            <a:noFill/>
          </a:ln>
        </p:spPr>
        <p:txBody>
          <a:bodyPr/>
          <a:lstStyle/>
          <a:p>
            <a:endParaRPr lang="en-GB"/>
          </a:p>
        </p:txBody>
      </p:sp>
      <p:sp>
        <p:nvSpPr>
          <p:cNvPr id="21" name="Text 21"/>
          <p:cNvSpPr txBox="1"/>
          <p:nvPr/>
        </p:nvSpPr>
        <p:spPr>
          <a:xfrm>
            <a:off x="6492240" y="2944368"/>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2" name="Text 22"/>
          <p:cNvSpPr txBox="1"/>
          <p:nvPr/>
        </p:nvSpPr>
        <p:spPr>
          <a:xfrm>
            <a:off x="6949440" y="2880360"/>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Confirm VAT first as the European method with TAXUD</a:t>
            </a:r>
          </a:p>
        </p:txBody>
      </p:sp>
      <p:sp>
        <p:nvSpPr>
          <p:cNvPr id="23" name="Shape 23"/>
          <p:cNvSpPr/>
          <p:nvPr/>
        </p:nvSpPr>
        <p:spPr>
          <a:xfrm>
            <a:off x="6492240" y="3511296"/>
            <a:ext cx="292608" cy="292608"/>
          </a:xfrm>
          <a:prstGeom prst="ellipse">
            <a:avLst/>
          </a:prstGeom>
          <a:solidFill>
            <a:srgbClr val="19C3C8"/>
          </a:solidFill>
          <a:ln>
            <a:noFill/>
          </a:ln>
        </p:spPr>
        <p:txBody>
          <a:bodyPr/>
          <a:lstStyle/>
          <a:p>
            <a:endParaRPr lang="en-GB"/>
          </a:p>
        </p:txBody>
      </p:sp>
      <p:sp>
        <p:nvSpPr>
          <p:cNvPr id="24" name="Text 24"/>
          <p:cNvSpPr txBox="1"/>
          <p:nvPr/>
        </p:nvSpPr>
        <p:spPr>
          <a:xfrm>
            <a:off x="6492240" y="3511296"/>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5" name="Text 25"/>
          <p:cNvSpPr txBox="1"/>
          <p:nvPr/>
        </p:nvSpPr>
        <p:spPr>
          <a:xfrm>
            <a:off x="6949440" y="3447288"/>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Ask TAXUD: unit price exclusive of VAT optional for gross invoices?</a:t>
            </a:r>
          </a:p>
        </p:txBody>
      </p:sp>
      <p:sp>
        <p:nvSpPr>
          <p:cNvPr id="26" name="Shape 26"/>
          <p:cNvSpPr/>
          <p:nvPr/>
        </p:nvSpPr>
        <p:spPr>
          <a:xfrm>
            <a:off x="6492240" y="4078224"/>
            <a:ext cx="292608" cy="292608"/>
          </a:xfrm>
          <a:prstGeom prst="ellipse">
            <a:avLst/>
          </a:prstGeom>
          <a:solidFill>
            <a:srgbClr val="19C3C8"/>
          </a:solidFill>
          <a:ln>
            <a:noFill/>
          </a:ln>
        </p:spPr>
        <p:txBody>
          <a:bodyPr/>
          <a:lstStyle/>
          <a:p>
            <a:endParaRPr lang="en-GB"/>
          </a:p>
        </p:txBody>
      </p:sp>
      <p:sp>
        <p:nvSpPr>
          <p:cNvPr id="27" name="Text 27"/>
          <p:cNvSpPr txBox="1"/>
          <p:nvPr/>
        </p:nvSpPr>
        <p:spPr>
          <a:xfrm>
            <a:off x="6492240" y="4078224"/>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28" name="Text 28"/>
          <p:cNvSpPr txBox="1"/>
          <p:nvPr/>
        </p:nvSpPr>
        <p:spPr>
          <a:xfrm>
            <a:off x="6949440" y="4014216"/>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Test documents for the decimal levels decimal32, 64 and 128</a:t>
            </a:r>
          </a:p>
        </p:txBody>
      </p:sp>
      <p:sp>
        <p:nvSpPr>
          <p:cNvPr id="29" name="Shape 29"/>
          <p:cNvSpPr/>
          <p:nvPr/>
        </p:nvSpPr>
        <p:spPr>
          <a:xfrm>
            <a:off x="6492240" y="4645152"/>
            <a:ext cx="292608" cy="292608"/>
          </a:xfrm>
          <a:prstGeom prst="ellipse">
            <a:avLst/>
          </a:prstGeom>
          <a:solidFill>
            <a:srgbClr val="19C3C8"/>
          </a:solidFill>
          <a:ln>
            <a:noFill/>
          </a:ln>
        </p:spPr>
        <p:txBody>
          <a:bodyPr/>
          <a:lstStyle/>
          <a:p>
            <a:endParaRPr lang="en-GB"/>
          </a:p>
        </p:txBody>
      </p:sp>
      <p:sp>
        <p:nvSpPr>
          <p:cNvPr id="30" name="Text 30"/>
          <p:cNvSpPr txBox="1"/>
          <p:nvPr/>
        </p:nvSpPr>
        <p:spPr>
          <a:xfrm>
            <a:off x="6492240" y="4645152"/>
            <a:ext cx="292608" cy="292608"/>
          </a:xfrm>
          <a:prstGeom prst="rect">
            <a:avLst/>
          </a:prstGeom>
          <a:noFill/>
          <a:ln/>
        </p:spPr>
        <p:txBody>
          <a:bodyPr wrap="square" lIns="0" tIns="0" rIns="0" bIns="0" rtlCol="0" anchor="ctr"/>
          <a:lstStyle/>
          <a:p>
            <a:pPr marL="0" indent="0" algn="ctr">
              <a:buNone/>
            </a:pPr>
            <a:r>
              <a:rPr lang="en-GB" sz="1200" dirty="0">
                <a:solidFill>
                  <a:srgbClr val="1A2B5E"/>
                </a:solidFill>
                <a:latin typeface="Inter SemiBold Text SemiBold" pitchFamily="34" charset="0"/>
                <a:ea typeface="Inter SemiBold Text SemiBold" pitchFamily="34" charset="-122"/>
                <a:cs typeface="Inter SemiBold Text SemiBold" pitchFamily="34" charset="-120"/>
              </a:rPr>
              <a:t>✓</a:t>
            </a:r>
          </a:p>
        </p:txBody>
      </p:sp>
      <p:sp>
        <p:nvSpPr>
          <p:cNvPr id="31" name="Text 31"/>
          <p:cNvSpPr txBox="1"/>
          <p:nvPr/>
        </p:nvSpPr>
        <p:spPr>
          <a:xfrm>
            <a:off x="6949440" y="4581144"/>
            <a:ext cx="4251960" cy="420624"/>
          </a:xfrm>
          <a:prstGeom prst="rect">
            <a:avLst/>
          </a:prstGeom>
          <a:noFill/>
          <a:ln/>
        </p:spPr>
        <p:txBody>
          <a:bodyPr wrap="square" lIns="0" tIns="0" rIns="0" bIns="0" rtlCol="0" anchor="ctr"/>
          <a:lstStyle/>
          <a:p>
            <a:pPr marL="0" indent="0" algn="l">
              <a:lnSpc>
                <a:spcPct val="105000"/>
              </a:lnSpc>
              <a:buNone/>
            </a:pPr>
            <a:r>
              <a:rPr lang="en-GB" sz="1250" dirty="0">
                <a:solidFill>
                  <a:srgbClr val="FFFFFF"/>
                </a:solidFill>
                <a:latin typeface="Inter Text" pitchFamily="34" charset="0"/>
                <a:ea typeface="Inter Text" pitchFamily="34" charset="-122"/>
                <a:cs typeface="Inter Text" pitchFamily="34" charset="-120"/>
              </a:rPr>
              <a:t>Impact test with ERP and e-invoicing vendors</a:t>
            </a:r>
          </a:p>
        </p:txBody>
      </p:sp>
      <p:sp>
        <p:nvSpPr>
          <p:cNvPr id="35" name="Pill 35"/>
          <p:cNvSpPr/>
          <p:nvPr/>
        </p:nvSpPr>
        <p:spPr>
          <a:xfrm>
            <a:off x="822960" y="5943600"/>
            <a:ext cx="10543032" cy="411480"/>
          </a:xfrm>
          <a:prstGeom prst="roundRect">
            <a:avLst>
              <a:gd name="adj" fmla="val 50000"/>
            </a:avLst>
          </a:prstGeom>
          <a:solidFill>
            <a:srgbClr val="F4F6FB"/>
          </a:solidFill>
          <a:ln w="9525">
            <a:solidFill>
              <a:srgbClr val="E2E7F2"/>
            </a:solidFill>
            <a:prstDash val="solid"/>
          </a:ln>
        </p:spPr>
        <p:txBody>
          <a:bodyPr wrap="square" lIns="36576" tIns="36576" rIns="36576" bIns="36576" rtlCol="0" anchor="ctr"/>
          <a:lstStyle/>
          <a:p>
            <a:pPr marL="0" indent="0" algn="ctr">
              <a:buNone/>
            </a:pPr>
            <a:r>
              <a:rPr lang="en-GB" sz="1100" dirty="0">
                <a:solidFill>
                  <a:srgbClr val="5B6890"/>
                </a:solidFill>
                <a:latin typeface="Inter SemiBold Text SemiBold" pitchFamily="34" charset="0"/>
                <a:ea typeface="Inter SemiBold Text SemiBold" pitchFamily="34" charset="-122"/>
                <a:cs typeface="Inter SemiBold Text SemiBold" pitchFamily="34" charset="-120"/>
              </a:rPr>
              <a:t>Issues:  </a:t>
            </a:r>
            <a:r>
              <a:rPr lang="en-GB" sz="1100" dirty="0">
                <a:solidFill>
                  <a:srgbClr val="5B6890"/>
                </a:solidFill>
                <a:latin typeface="Inter Text" pitchFamily="34" charset="0"/>
                <a:ea typeface="Inter Text" pitchFamily="34" charset="-122"/>
                <a:cs typeface="Inter Text" pitchFamily="34" charset="-120"/>
                <a:hlinkClick r:id="rId6">
                  <a:extLst>
                    <a:ext uri="{A12FA001-AC4F-418D-AE19-62706E023703}">
                      <ahyp:hlinkClr xmlns:ahyp="http://schemas.microsoft.com/office/drawing/2018/hyperlinkcolor" val="tx"/>
                    </a:ext>
                  </a:extLst>
                </a:hlinkClick>
              </a:rPr>
              <a:t>github.com/ConnectingEurope/CEN-TC434-WG1/issues/164</a:t>
            </a:r>
            <a:r>
              <a:rPr lang="en-GB" sz="1100" dirty="0">
                <a:solidFill>
                  <a:srgbClr val="5B6890"/>
                </a:solidFill>
                <a:latin typeface="Inter Text" pitchFamily="34" charset="0"/>
                <a:ea typeface="Inter Text" pitchFamily="34" charset="-122"/>
                <a:cs typeface="Inter Text" pitchFamily="34" charset="-120"/>
              </a:rPr>
              <a:t>  ·  </a:t>
            </a:r>
            <a:r>
              <a:rPr lang="en-GB" sz="1100" dirty="0">
                <a:solidFill>
                  <a:srgbClr val="5B6890"/>
                </a:solidFill>
                <a:latin typeface="Inter Text" pitchFamily="34" charset="0"/>
                <a:ea typeface="Inter Text" pitchFamily="34" charset="-122"/>
                <a:cs typeface="Inter Text" pitchFamily="34" charset="-120"/>
                <a:hlinkClick r:id="rId7">
                  <a:extLst>
                    <a:ext uri="{A12FA001-AC4F-418D-AE19-62706E023703}">
                      <ahyp:hlinkClr xmlns:ahyp="http://schemas.microsoft.com/office/drawing/2018/hyperlinkcolor" val="tx"/>
                    </a:ext>
                  </a:extLst>
                </a:hlinkClick>
              </a:rPr>
              <a:t>/163</a:t>
            </a:r>
          </a:p>
        </p:txBody>
      </p:sp>
      <p:sp>
        <p:nvSpPr>
          <p:cNvPr id="36" name="Speaker 36">
            <a:hlinkClick r:id="rId5"/>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9AA4C2"/>
                </a:solidFill>
                <a:latin typeface="Inter Medium Text Medium" pitchFamily="34" charset="0"/>
                <a:ea typeface="Inter Medium Text Medium" pitchFamily="34" charset="-122"/>
                <a:cs typeface="Inter Medium Text Medium" pitchFamily="34" charset="-120"/>
              </a:rPr>
              <a:t>© Svante Schubert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Folie 34">
    <p:bg>
      <p:bgPr>
        <a:solidFill>
          <a:srgbClr val="0F1B3D"/>
        </a:solidFill>
        <a:effectLst/>
      </p:bgPr>
    </p:bg>
    <p:spTree>
      <p:nvGrpSpPr>
        <p:cNvPr id="1" name=""/>
        <p:cNvGrpSpPr/>
        <p:nvPr/>
      </p:nvGrpSpPr>
      <p:grpSpPr>
        <a:xfrm>
          <a:off x="0" y="0"/>
          <a:ext cx="0" cy="0"/>
          <a:chOff x="0" y="0"/>
          <a:chExt cx="0" cy="0"/>
        </a:xfrm>
      </p:grpSpPr>
      <p:pic>
        <p:nvPicPr>
          <p:cNvPr id="3" name="Background 3"/>
          <p:cNvPicPr>
            <a:picLocks noChangeAspect="1"/>
          </p:cNvPicPr>
          <p:nvPr/>
        </p:nvPicPr>
        <p:blipFill>
          <a:blip r:embed="rId3"/>
          <a:stretch>
            <a:fillRect/>
          </a:stretch>
        </p:blipFill>
        <p:spPr>
          <a:xfrm>
            <a:off x="0" y="0"/>
            <a:ext cx="12191695" cy="6858000"/>
          </a:xfrm>
          <a:prstGeom prst="rect">
            <a:avLst/>
          </a:prstGeom>
        </p:spPr>
      </p:pic>
      <p:sp>
        <p:nvSpPr>
          <p:cNvPr id="4" name="Header 4"/>
          <p:cNvSpPr txBox="1"/>
          <p:nvPr/>
        </p:nvSpPr>
        <p:spPr>
          <a:xfrm>
            <a:off x="822960" y="384048"/>
            <a:ext cx="7315200" cy="274320"/>
          </a:xfrm>
          <a:prstGeom prst="rect">
            <a:avLst/>
          </a:prstGeom>
          <a:noFill/>
          <a:ln/>
        </p:spPr>
        <p:txBody>
          <a:bodyPr wrap="square" lIns="0" tIns="0" rIns="0" bIns="0" rtlCol="0" anchor="ctr"/>
          <a:lstStyle/>
          <a:p>
            <a:pPr marL="0" indent="0" algn="l">
              <a:buNone/>
            </a:pPr>
            <a:r>
              <a:rPr lang="en-GB" sz="950" spc="100" dirty="0">
                <a:solidFill>
                  <a:srgbClr val="9FB0D8"/>
                </a:solidFill>
                <a:latin typeface="Inter Medium Text Medium" pitchFamily="34" charset="0"/>
                <a:ea typeface="Inter Medium Text Medium" pitchFamily="34" charset="-122"/>
                <a:cs typeface="Inter Medium Text Medium" pitchFamily="34" charset="-120"/>
              </a:rPr>
              <a:t>CEN/TC 434 WG1</a:t>
            </a:r>
            <a:r>
              <a:rPr lang="en-GB" sz="950" spc="100" dirty="0">
                <a:solidFill>
                  <a:srgbClr val="44598F"/>
                </a:solidFill>
                <a:latin typeface="Inter Text" pitchFamily="34" charset="0"/>
                <a:ea typeface="Inter Text" pitchFamily="34" charset="-122"/>
                <a:cs typeface="Inter Text" pitchFamily="34" charset="-120"/>
              </a:rPr>
              <a:t>   ·   </a:t>
            </a:r>
            <a:r>
              <a:rPr lang="en-GB" sz="950" spc="100" dirty="0">
                <a:solidFill>
                  <a:srgbClr val="7E91C4"/>
                </a:solidFill>
                <a:latin typeface="Inter Text" pitchFamily="34" charset="0"/>
                <a:ea typeface="Inter Text" pitchFamily="34" charset="-122"/>
                <a:cs typeface="Inter Text" pitchFamily="34" charset="-120"/>
              </a:rPr>
              <a:t>EN 16931-1:2026 amendment · Gross prices and rounding</a:t>
            </a:r>
          </a:p>
        </p:txBody>
      </p:sp>
      <p:sp>
        <p:nvSpPr>
          <p:cNvPr id="5" name="SectionLabel 5"/>
          <p:cNvSpPr txBox="1"/>
          <p:nvPr/>
        </p:nvSpPr>
        <p:spPr>
          <a:xfrm>
            <a:off x="822960" y="868680"/>
            <a:ext cx="8229600" cy="274320"/>
          </a:xfrm>
          <a:prstGeom prst="rect">
            <a:avLst/>
          </a:prstGeom>
          <a:noFill/>
          <a:ln/>
        </p:spPr>
        <p:txBody>
          <a:bodyPr wrap="square" lIns="0" tIns="0" rIns="0" bIns="0" rtlCol="0" anchor="ctr"/>
          <a:lstStyle/>
          <a:p>
            <a:pPr marL="0" indent="0" algn="l">
              <a:buNone/>
            </a:pPr>
            <a:r>
              <a:rPr lang="en-GB" sz="1100" spc="300" dirty="0">
                <a:solidFill>
                  <a:srgbClr val="19C3C8"/>
                </a:solidFill>
                <a:latin typeface="Inter SemiBold Text SemiBold" pitchFamily="34" charset="0"/>
                <a:ea typeface="Inter SemiBold Text SemiBold" pitchFamily="34" charset="-122"/>
                <a:cs typeface="Inter SemiBold Text SemiBold" pitchFamily="34" charset="-120"/>
              </a:rPr>
              <a:t>CONTACT</a:t>
            </a:r>
          </a:p>
        </p:txBody>
      </p:sp>
      <p:sp>
        <p:nvSpPr>
          <p:cNvPr id="6" name="Title 6"/>
          <p:cNvSpPr txBox="1"/>
          <p:nvPr/>
        </p:nvSpPr>
        <p:spPr>
          <a:xfrm>
            <a:off x="804672" y="1115568"/>
            <a:ext cx="10424160" cy="822960"/>
          </a:xfrm>
          <a:prstGeom prst="rect">
            <a:avLst/>
          </a:prstGeom>
          <a:noFill/>
          <a:ln/>
        </p:spPr>
        <p:txBody>
          <a:bodyPr wrap="square" lIns="0" tIns="0" rIns="0" bIns="0" rtlCol="0" anchor="t"/>
          <a:lstStyle/>
          <a:p>
            <a:pPr marL="0" indent="0" algn="l">
              <a:buNone/>
            </a:pPr>
            <a:r>
              <a:rPr lang="en-GB" sz="3800" b="1" dirty="0">
                <a:solidFill>
                  <a:srgbClr val="FFFFFF"/>
                </a:solidFill>
                <a:latin typeface="Inter Text" pitchFamily="34" charset="0"/>
                <a:ea typeface="Inter Text" pitchFamily="34" charset="-122"/>
                <a:cs typeface="Inter Text" pitchFamily="34" charset="-120"/>
              </a:rPr>
              <a:t>Talk to me</a:t>
            </a:r>
          </a:p>
        </p:txBody>
      </p:sp>
      <p:sp>
        <p:nvSpPr>
          <p:cNvPr id="7" name="PageNum 7"/>
          <p:cNvSpPr txBox="1"/>
          <p:nvPr/>
        </p:nvSpPr>
        <p:spPr>
          <a:xfrm>
            <a:off x="10908792" y="6514592"/>
            <a:ext cx="822960" cy="292608"/>
          </a:xfrm>
          <a:prstGeom prst="rect">
            <a:avLst/>
          </a:prstGeom>
          <a:noFill/>
          <a:ln/>
        </p:spPr>
        <p:txBody>
          <a:bodyPr wrap="square" lIns="0" tIns="0" rIns="0" bIns="0" rtlCol="0" anchor="ctr"/>
          <a:lstStyle/>
          <a:p>
            <a:pPr marL="0" indent="0" algn="r">
              <a:buNone/>
            </a:pPr>
            <a:fld id="{87DA7C0F-D619-4F2F-88AE-3AFCE6D46308}" type="slidenum">
              <a:rPr lang="en-GB" sz="1000" spc="200" dirty="0">
                <a:solidFill>
                  <a:srgbClr val="8EA0CC"/>
                </a:solidFill>
                <a:latin typeface="Inter SemiBold Text SemiBold" pitchFamily="34" charset="0"/>
                <a:ea typeface="Inter SemiBold Text SemiBold" pitchFamily="34" charset="-122"/>
                <a:cs typeface="Inter SemiBold Text SemiBold" pitchFamily="34" charset="-120"/>
              </a:rPr>
              <a:t>20</a:t>
            </a:fld>
            <a:endParaRPr lang="en-GB" sz="1000" spc="200" dirty="0">
              <a:solidFill>
                <a:srgbClr val="8EA0CC"/>
              </a:solidFill>
              <a:latin typeface="Inter SemiBold Text SemiBold" pitchFamily="34" charset="0"/>
              <a:ea typeface="Inter SemiBold Text SemiBold" pitchFamily="34" charset="-122"/>
              <a:cs typeface="Inter SemiBold Text SemiBold" pitchFamily="34" charset="-120"/>
            </a:endParaRPr>
          </a:p>
        </p:txBody>
      </p:sp>
      <p:sp>
        <p:nvSpPr>
          <p:cNvPr id="8" name="Shape 8"/>
          <p:cNvSpPr/>
          <p:nvPr/>
        </p:nvSpPr>
        <p:spPr>
          <a:xfrm>
            <a:off x="822960" y="2743200"/>
            <a:ext cx="5074920" cy="1920240"/>
          </a:xfrm>
          <a:prstGeom prst="roundRect">
            <a:avLst>
              <a:gd name="adj" fmla="val 4761"/>
            </a:avLst>
          </a:prstGeom>
          <a:solidFill>
            <a:srgbClr val="FFFFFF">
              <a:alpha val="12000"/>
            </a:srgbClr>
          </a:solidFill>
          <a:ln w="12700">
            <a:solidFill>
              <a:srgbClr val="FFFFFF"/>
            </a:solidFill>
            <a:prstDash val="solid"/>
          </a:ln>
        </p:spPr>
        <p:txBody>
          <a:bodyPr/>
          <a:lstStyle/>
          <a:p>
            <a:endParaRPr lang="en-GB"/>
          </a:p>
        </p:txBody>
      </p:sp>
      <p:sp>
        <p:nvSpPr>
          <p:cNvPr id="9" name="Shape 9"/>
          <p:cNvSpPr/>
          <p:nvPr/>
        </p:nvSpPr>
        <p:spPr>
          <a:xfrm>
            <a:off x="1133856" y="3054096"/>
            <a:ext cx="640080" cy="640080"/>
          </a:xfrm>
          <a:prstGeom prst="ellipse">
            <a:avLst/>
          </a:prstGeom>
          <a:solidFill>
            <a:srgbClr val="19C3C8"/>
          </a:solidFill>
          <a:ln>
            <a:noFill/>
          </a:ln>
          <a:effectLst>
            <a:outerShdw blurRad="88900" dist="38100" dir="5400000" algn="bl" rotWithShape="0">
              <a:srgbClr val="0A1230">
                <a:alpha val="18000"/>
              </a:srgbClr>
            </a:outerShdw>
          </a:effectLst>
        </p:spPr>
        <p:txBody>
          <a:bodyPr/>
          <a:lstStyle/>
          <a:p>
            <a:endParaRPr lang="en-GB"/>
          </a:p>
        </p:txBody>
      </p:sp>
      <p:pic>
        <p:nvPicPr>
          <p:cNvPr id="10" name="Image 10"/>
          <p:cNvPicPr>
            <a:picLocks noChangeAspect="1"/>
          </p:cNvPicPr>
          <p:nvPr/>
        </p:nvPicPr>
        <p:blipFill>
          <a:blip r:embed="rId4"/>
          <a:stretch>
            <a:fillRect/>
          </a:stretch>
        </p:blipFill>
        <p:spPr>
          <a:xfrm>
            <a:off x="1307592" y="3227832"/>
            <a:ext cx="292608" cy="292608"/>
          </a:xfrm>
          <a:prstGeom prst="rect">
            <a:avLst/>
          </a:prstGeom>
        </p:spPr>
      </p:pic>
      <p:sp>
        <p:nvSpPr>
          <p:cNvPr id="11" name="Text 11"/>
          <p:cNvSpPr txBox="1"/>
          <p:nvPr/>
        </p:nvSpPr>
        <p:spPr>
          <a:xfrm>
            <a:off x="1965960" y="3063240"/>
            <a:ext cx="3749040" cy="1463040"/>
          </a:xfrm>
          <a:prstGeom prst="rect">
            <a:avLst/>
          </a:prstGeom>
          <a:noFill/>
          <a:ln/>
        </p:spPr>
        <p:txBody>
          <a:bodyPr wrap="square" lIns="0" tIns="0" rIns="0" bIns="0" rtlCol="0" anchor="t"/>
          <a:lstStyle/>
          <a:p>
            <a:pPr marL="0" indent="0" algn="l">
              <a:lnSpc>
                <a:spcPct val="110000"/>
              </a:lnSpc>
              <a:spcAft>
                <a:spcPts val="300"/>
              </a:spcAft>
              <a:buNone/>
            </a:pPr>
            <a:r>
              <a:rPr lang="en-GB" sz="1800" dirty="0">
                <a:solidFill>
                  <a:srgbClr val="FFFFFF"/>
                </a:solidFill>
                <a:latin typeface="Inter SemiBold Text SemiBold" pitchFamily="34" charset="0"/>
                <a:ea typeface="Inter SemiBold Text SemiBold" pitchFamily="34" charset="-122"/>
                <a:cs typeface="Inter SemiBold Text SemiBold" pitchFamily="34" charset="-120"/>
              </a:rPr>
              <a:t>Svante Schubert</a:t>
            </a:r>
          </a:p>
          <a:p>
            <a:pPr marL="0" indent="0" algn="l">
              <a:lnSpc>
                <a:spcPct val="110000"/>
              </a:lnSpc>
              <a:buNone/>
            </a:pPr>
            <a:r>
              <a:rPr lang="en-GB" sz="1200" dirty="0">
                <a:solidFill>
                  <a:srgbClr val="BFD0F4"/>
                </a:solidFill>
                <a:latin typeface="Inter Text" pitchFamily="34" charset="0"/>
                <a:ea typeface="Inter Text" pitchFamily="34" charset="-122"/>
                <a:cs typeface="Inter Text" pitchFamily="34" charset="-120"/>
              </a:rPr>
              <a:t>Syntax bindings · validation · tooling</a:t>
            </a:r>
          </a:p>
          <a:p>
            <a:pPr marL="0" indent="0" algn="l">
              <a:lnSpc>
                <a:spcPct val="110000"/>
              </a:lnSpc>
              <a:buNone/>
            </a:pPr>
            <a:r>
              <a:rPr lang="en-GB" sz="1200" dirty="0">
                <a:solidFill>
                  <a:srgbClr val="BFD0F4"/>
                </a:solidFill>
                <a:latin typeface="Inter Text" pitchFamily="34" charset="0"/>
                <a:ea typeface="Inter Text" pitchFamily="34" charset="-122"/>
                <a:cs typeface="Inter Text" pitchFamily="34" charset="-120"/>
              </a:rPr>
              <a:t>Editor of the syntax bindings, CEN/TC 434 WG3</a:t>
            </a:r>
          </a:p>
        </p:txBody>
      </p:sp>
      <p:sp>
        <p:nvSpPr>
          <p:cNvPr id="12" name="Shape 12"/>
          <p:cNvSpPr/>
          <p:nvPr/>
        </p:nvSpPr>
        <p:spPr>
          <a:xfrm>
            <a:off x="6263640" y="2743200"/>
            <a:ext cx="5074920" cy="1920240"/>
          </a:xfrm>
          <a:prstGeom prst="roundRect">
            <a:avLst>
              <a:gd name="adj" fmla="val 4761"/>
            </a:avLst>
          </a:prstGeom>
          <a:solidFill>
            <a:srgbClr val="FFFFFF">
              <a:alpha val="12000"/>
            </a:srgbClr>
          </a:solidFill>
          <a:ln w="12700">
            <a:solidFill>
              <a:srgbClr val="FFFFFF"/>
            </a:solidFill>
            <a:prstDash val="solid"/>
          </a:ln>
        </p:spPr>
        <p:txBody>
          <a:bodyPr/>
          <a:lstStyle/>
          <a:p>
            <a:endParaRPr lang="en-GB"/>
          </a:p>
        </p:txBody>
      </p:sp>
      <p:sp>
        <p:nvSpPr>
          <p:cNvPr id="13" name="Text 13"/>
          <p:cNvSpPr txBox="1"/>
          <p:nvPr/>
        </p:nvSpPr>
        <p:spPr>
          <a:xfrm>
            <a:off x="6583680" y="2880360"/>
            <a:ext cx="4572000" cy="365760"/>
          </a:xfrm>
          <a:prstGeom prst="rect">
            <a:avLst/>
          </a:prstGeom>
          <a:noFill/>
          <a:ln/>
        </p:spPr>
        <p:txBody>
          <a:bodyPr wrap="square" lIns="0" tIns="0" rIns="0" bIns="0" rtlCol="0" anchor="ctr"/>
          <a:lstStyle/>
          <a:p>
            <a:pPr marL="0" indent="0" algn="l">
              <a:buNone/>
            </a:pPr>
            <a:r>
              <a:rPr lang="en-GB" sz="1500" dirty="0">
                <a:solidFill>
                  <a:srgbClr val="FFFFFF"/>
                </a:solidFill>
                <a:latin typeface="Inter SemiBold Text SemiBold" pitchFamily="34" charset="0"/>
                <a:ea typeface="Inter SemiBold Text SemiBold" pitchFamily="34" charset="-122"/>
                <a:cs typeface="Inter SemiBold Text SemiBold" pitchFamily="34" charset="-120"/>
              </a:rPr>
              <a:t>Follow &amp; join in</a:t>
            </a:r>
          </a:p>
        </p:txBody>
      </p:sp>
      <p:sp>
        <p:nvSpPr>
          <p:cNvPr id="14" name="Text 14">
            <a:hlinkClick r:id="rId13"/>
          </p:cNvPr>
          <p:cNvSpPr txBox="1"/>
          <p:nvPr/>
        </p:nvSpPr>
        <p:spPr>
          <a:xfrm>
            <a:off x="6583680" y="3310128"/>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WG1 issue #164 · gross price model</a:t>
            </a:r>
          </a:p>
        </p:txBody>
      </p:sp>
      <p:sp>
        <p:nvSpPr>
          <p:cNvPr id="15" name="Text 15">
            <a:hlinkClick r:id="rId5"/>
          </p:cNvPr>
          <p:cNvSpPr txBox="1"/>
          <p:nvPr/>
        </p:nvSpPr>
        <p:spPr>
          <a:xfrm>
            <a:off x="6583680" y="3611880"/>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WG1 issue #163 · round only once</a:t>
            </a:r>
          </a:p>
        </p:txBody>
      </p:sp>
      <p:sp>
        <p:nvSpPr>
          <p:cNvPr id="16" name="Text 16">
            <a:hlinkClick r:id="rId14"/>
          </p:cNvPr>
          <p:cNvSpPr txBox="1"/>
          <p:nvPr/>
        </p:nvSpPr>
        <p:spPr>
          <a:xfrm>
            <a:off x="6583680" y="3913632"/>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BMF letter of 15 Oct 2026, section 2.5</a:t>
            </a:r>
          </a:p>
        </p:txBody>
      </p:sp>
      <p:sp>
        <p:nvSpPr>
          <p:cNvPr id="17" name="Text 17">
            <a:hlinkClick r:id="rId7"/>
          </p:cNvPr>
          <p:cNvSpPr txBox="1"/>
          <p:nvPr/>
        </p:nvSpPr>
        <p:spPr>
          <a:xfrm>
            <a:off x="6583680" y="4215384"/>
            <a:ext cx="4572000" cy="274320"/>
          </a:xfrm>
          <a:prstGeom prst="rect">
            <a:avLst/>
          </a:prstGeom>
          <a:noFill/>
          <a:ln/>
        </p:spPr>
        <p:txBody>
          <a:bodyPr wrap="square" lIns="0" tIns="0" rIns="0" bIns="0" rtlCol="0" anchor="ctr"/>
          <a:lstStyle/>
          <a:p>
            <a:pPr marL="0" indent="0" algn="l">
              <a:buNone/>
            </a:pPr>
            <a:r>
              <a:rPr lang="en-GB" sz="1200" dirty="0">
                <a:solidFill>
                  <a:srgbClr val="19C3C8"/>
                </a:solidFill>
                <a:latin typeface="Inter SemiBold Text SemiBold" pitchFamily="34" charset="0"/>
                <a:ea typeface="Inter SemiBold Text SemiBold" pitchFamily="34" charset="-122"/>
                <a:cs typeface="Inter SemiBold Text SemiBold" pitchFamily="34" charset="-120"/>
              </a:rPr>
              <a:t>›  </a:t>
            </a:r>
            <a:r>
              <a:rPr lang="en-GB" sz="1200" dirty="0">
                <a:solidFill>
                  <a:srgbClr val="BFD0F4"/>
                </a:solidFill>
                <a:latin typeface="Inter Text" pitchFamily="34" charset="0"/>
                <a:ea typeface="Inter Text" pitchFamily="34" charset="-122"/>
                <a:cs typeface="Inter Text" pitchFamily="34" charset="-120"/>
              </a:rPr>
              <a:t>Svanton: exact decimal arithmetic for Saxon</a:t>
            </a:r>
          </a:p>
        </p:txBody>
      </p:sp>
      <p:sp>
        <p:nvSpPr>
          <p:cNvPr id="18" name="Text 18"/>
          <p:cNvSpPr txBox="1"/>
          <p:nvPr/>
        </p:nvSpPr>
        <p:spPr>
          <a:xfrm>
            <a:off x="822960" y="5074920"/>
            <a:ext cx="10058400" cy="548640"/>
          </a:xfrm>
          <a:prstGeom prst="rect">
            <a:avLst/>
          </a:prstGeom>
          <a:noFill/>
          <a:ln/>
        </p:spPr>
        <p:txBody>
          <a:bodyPr wrap="square" lIns="0" tIns="0" rIns="0" bIns="0" rtlCol="0" anchor="ctr"/>
          <a:lstStyle/>
          <a:p>
            <a:pPr marL="0" indent="0" algn="l">
              <a:lnSpc>
                <a:spcPct val="110000"/>
              </a:lnSpc>
              <a:buNone/>
            </a:pPr>
            <a:r>
              <a:rPr lang="en-GB" sz="1500" dirty="0">
                <a:solidFill>
                  <a:srgbClr val="FFFFFF"/>
                </a:solidFill>
                <a:latin typeface="Inter SemiBold Text SemiBold" pitchFamily="34" charset="0"/>
                <a:ea typeface="Inter SemiBold Text SemiBold" pitchFamily="34" charset="-122"/>
                <a:cs typeface="Inter SemiBold Text SemiBold" pitchFamily="34" charset="-120"/>
              </a:rPr>
              <a:t>Thank you for your attention </a:t>
            </a:r>
            <a:r>
              <a:rPr lang="en-GB" sz="1500" dirty="0">
                <a:solidFill>
                  <a:srgbClr val="FFFFFF"/>
                </a:solidFill>
                <a:latin typeface="Inter Text" pitchFamily="34" charset="0"/>
                <a:ea typeface="Inter Text" pitchFamily="34" charset="-122"/>
                <a:cs typeface="Inter Text" pitchFamily="34" charset="-120"/>
              </a:rPr>
              <a:t>— I look forward to the discussion in WG1.</a:t>
            </a:r>
          </a:p>
        </p:txBody>
      </p:sp>
      <p:sp>
        <p:nvSpPr>
          <p:cNvPr id="19" name="Speaker 19">
            <a:hlinkClick r:id="rId9"/>
          </p:cNvPr>
          <p:cNvSpPr txBox="1"/>
          <p:nvPr/>
        </p:nvSpPr>
        <p:spPr>
          <a:xfrm>
            <a:off x="7680960" y="6514592"/>
            <a:ext cx="3154680" cy="292608"/>
          </a:xfrm>
          <a:prstGeom prst="rect">
            <a:avLst/>
          </a:prstGeom>
          <a:noFill/>
          <a:ln/>
        </p:spPr>
        <p:txBody>
          <a:bodyPr wrap="square" lIns="0" tIns="0" rIns="0" bIns="0" rtlCol="0" anchor="ctr"/>
          <a:lstStyle/>
          <a:p>
            <a:pPr marL="0" indent="0" algn="r">
              <a:buNone/>
            </a:pPr>
            <a:r>
              <a:rPr lang="en-GB" sz="1000" spc="100" dirty="0">
                <a:solidFill>
                  <a:srgbClr val="8EA0CC"/>
                </a:solidFill>
                <a:latin typeface="Inter Medium Text Medium" pitchFamily="34" charset="0"/>
                <a:ea typeface="Inter Medium Text Medium" pitchFamily="34" charset="-122"/>
                <a:cs typeface="Inter Medium Text Medium" pitchFamily="34" charset="-120"/>
              </a:rPr>
              <a:t>© Svante Schubert</a:t>
            </a:r>
          </a:p>
        </p:txBody>
      </p:sp>
      <p:sp>
        <p:nvSpPr>
          <p:cNvPr id="20" name="QR Card pptx"/>
          <p:cNvSpPr/>
          <p:nvPr/>
        </p:nvSpPr>
        <p:spPr>
          <a:xfrm>
            <a:off x="9902952" y="822960"/>
            <a:ext cx="1463040" cy="1463040"/>
          </a:xfrm>
          <a:prstGeom prst="roundRect">
            <a:avLst>
              <a:gd name="adj" fmla="val 6000"/>
            </a:avLst>
          </a:prstGeom>
          <a:solidFill>
            <a:srgbClr val="FFFFFF"/>
          </a:solidFill>
          <a:ln>
            <a:noFill/>
          </a:ln>
          <a:effectLst>
            <a:outerShdw blurRad="101600" dist="38100" dir="5400000" algn="bl" rotWithShape="0">
              <a:srgbClr val="0A1230">
                <a:alpha val="30000"/>
              </a:srgbClr>
            </a:outerShdw>
          </a:effectLst>
        </p:spPr>
        <p:txBody>
          <a:bodyPr/>
          <a:lstStyle/>
          <a:p>
            <a:endParaRPr lang="en-GB"/>
          </a:p>
        </p:txBody>
      </p:sp>
      <p:pic>
        <p:nvPicPr>
          <p:cNvPr id="21" name="QR Slides pptx" descr="QR code: slides as PPTX (https://svanteschubert.github.io/testy/ZUGFeRD_Entwicklertage_2026_SvanteSchubert_Syntax-Binding_EN.pptx)">
            <a:hlinkClick r:id="rId16"/>
          </p:cNvPr>
          <p:cNvPicPr>
            <a:picLocks noChangeAspect="1"/>
          </p:cNvPicPr>
          <p:nvPr/>
        </p:nvPicPr>
        <p:blipFill>
          <a:blip r:embed="rId15"/>
          <a:stretch>
            <a:fillRect/>
          </a:stretch>
        </p:blipFill>
        <p:spPr>
          <a:xfrm>
            <a:off x="9976104" y="896112"/>
            <a:ext cx="1316736" cy="1316736"/>
          </a:xfrm>
          <a:prstGeom prst="rect">
            <a:avLst/>
          </a:prstGeom>
        </p:spPr>
      </p:pic>
      <p:sp>
        <p:nvSpPr>
          <p:cNvPr id="22" name="QR Caption pptx">
            <a:hlinkClick r:id="rId16"/>
          </p:cNvPr>
          <p:cNvSpPr txBox="1"/>
          <p:nvPr/>
        </p:nvSpPr>
        <p:spPr>
          <a:xfrm>
            <a:off x="9537192" y="2340864"/>
            <a:ext cx="2194560" cy="256032"/>
          </a:xfrm>
          <a:prstGeom prst="rect">
            <a:avLst/>
          </a:prstGeom>
          <a:noFill/>
          <a:ln/>
        </p:spPr>
        <p:txBody>
          <a:bodyPr wrap="square" lIns="0" tIns="0" rIns="0" bIns="0" rtlCol="0" anchor="ctr"/>
          <a:lstStyle/>
          <a:p>
            <a:pPr marL="0" indent="0" algn="ctr">
              <a:buNone/>
            </a:pPr>
            <a:r>
              <a:rPr lang="en-GB" sz="1000" spc="100" dirty="0">
                <a:solidFill>
                  <a:srgbClr val="C4D2F4"/>
                </a:solidFill>
                <a:latin typeface="Inter Medium Text Medium" pitchFamily="34" charset="0"/>
                <a:ea typeface="Inter Medium Text Medium" pitchFamily="34" charset="-122"/>
                <a:cs typeface="Inter Medium Text Medium" pitchFamily="34" charset="-120"/>
              </a:rPr>
              <a:t>Slides as 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1144</TotalTime>
  <Words>13885</Words>
  <Application>Microsoft Macintosh PowerPoint</Application>
  <PresentationFormat>Widescreen</PresentationFormat>
  <Paragraphs>1503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Consolas</vt:lpstr>
      <vt:lpstr>Inter Text</vt:lpstr>
      <vt:lpstr>Arial</vt:lpstr>
      <vt:lpstr>Inter SemiBold Text SemiBold</vt:lpstr>
      <vt:lpstr>Inter Medium Text Medium</vt:lpstr>
      <vt:lpstr>Inter Light Text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Schubert Consulting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Rounding and gross prices in EN 16931 (excerpt)</dc:title>
  <dc:subject>Update on the syntax binding (EN)</dc:subject>
  <dc:creator>Svante Schubert</dc:creator>
  <cp:keywords/>
  <dc:description>ZUGFeRD Entwicklertage 2026</dc:description>
  <cp:lastModifiedBy>Svante Schubert</cp:lastModifiedBy>
  <cp:revision>58</cp:revision>
  <dcterms:created xsi:type="dcterms:W3CDTF">2026-06-19T07:48:12Z</dcterms:created>
  <dcterms:modified xsi:type="dcterms:W3CDTF">2026-10-15T08:47:41Z</dcterms:modified>
  <cp:category/>
</cp:coreProperties>
</file>