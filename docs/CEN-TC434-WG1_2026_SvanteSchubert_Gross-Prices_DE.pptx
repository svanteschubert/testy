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3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sldIdLst>
    <p:sldId id="301" r:id="rId2"/>
    <p:sldId id="338" r:id="rId53"/>
    <p:sldId id="339" r:id="rId54"/>
    <p:sldId id="340" r:id="rId55"/>
    <p:sldId id="328" r:id="rId26"/>
    <p:sldId id="329" r:id="rId27"/>
    <p:sldId id="337" r:id="rId29"/>
    <p:sldId id="336" r:id="rId30"/>
    <p:sldId id="345" r:id="rId60"/>
    <p:sldId id="341" r:id="rId56"/>
    <p:sldId id="332" r:id="rId32"/>
    <p:sldId id="344" r:id="rId59"/>
    <p:sldId id="346" r:id="rId61"/>
    <p:sldId id="331" r:id="rId25"/>
    <p:sldId id="330" r:id="rId28"/>
    <p:sldId id="335" r:id="rId31"/>
    <p:sldId id="347" r:id="rId62"/>
    <p:sldId id="342" r:id="rId57"/>
    <p:sldId id="348" r:id="rId36"/>
    <p:sldId id="343" r:id="rId58"/>
    <p:sldId id="334" r:id="rId38"/>
  </p:sldIdLst>
  <p:sldSz cx="12192000" cy="6858000"/>
  <p:notesSz cx="6858000" cy="12192000"/>
  <p:embeddedFontLst>
    <p:embeddedFont>
      <p:font typeface="Consolas" panose="020B0609020204030204" pitchFamily="49" charset="0"/>
      <p:regular r:id="rId40"/>
      <p:bold r:id="rId41"/>
      <p:italic r:id="rId42"/>
      <p:boldItalic r:id="rId43"/>
    </p:embeddedFont>
    <p:embeddedFont>
      <p:font typeface="Inter Light Text Light" panose="02000503000000020004" pitchFamily="2" charset="0"/>
      <p:regular r:id="rId44"/>
    </p:embeddedFont>
    <p:embeddedFont>
      <p:font typeface="Inter Medium Text Medium" panose="02000503000000020004" pitchFamily="2" charset="0"/>
      <p:regular r:id="rId45"/>
    </p:embeddedFont>
    <p:embeddedFont>
      <p:font typeface="Inter SemiBold Text SemiBold" panose="02000503000000020004" pitchFamily="2" charset="0"/>
      <p:regular r:id="rId46"/>
    </p:embeddedFont>
    <p:embeddedFont>
      <p:font typeface="Inter Text" panose="02000503000000020004" pitchFamily="2" charset="0"/>
      <p:regular r:id="rId47"/>
      <p:bold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66"/>
    <p:restoredTop sz="94610"/>
  </p:normalViewPr>
  <p:slideViewPr>
    <p:cSldViewPr snapToGrid="0" snapToObjects="1">
      <p:cViewPr varScale="1">
        <p:scale>
          <a:sx n="114" d="100"/>
          <a:sy n="114" d="100"/>
        </p:scale>
        <p:origin x="17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5" Type="http://schemas.openxmlformats.org/officeDocument/2006/relationships/slide" Target="slides/slide1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15.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16.xml"/><Relationship Id="rId32" Type="http://schemas.openxmlformats.org/officeDocument/2006/relationships/slide" Target="slides/slide11.xml"/><Relationship Id="rId36" Type="http://schemas.openxmlformats.org/officeDocument/2006/relationships/slide" Target="slides/slide19.xml"/><Relationship Id="rId38" Type="http://schemas.openxmlformats.org/officeDocument/2006/relationships/slide" Target="slides/slide21.xml"/><Relationship Id="rId39" Type="http://schemas.openxmlformats.org/officeDocument/2006/relationships/notesMaster" Target="notesMasters/notesMaster1.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5.fntdata"/><Relationship Id="rId45" Type="http://schemas.openxmlformats.org/officeDocument/2006/relationships/font" Target="fonts/font6.fntdata"/><Relationship Id="rId46" Type="http://schemas.openxmlformats.org/officeDocument/2006/relationships/font" Target="fonts/font7.fntdata"/><Relationship Id="rId47" Type="http://schemas.openxmlformats.org/officeDocument/2006/relationships/font" Target="fonts/font8.fntdata"/><Relationship Id="rId48" Type="http://schemas.openxmlformats.org/officeDocument/2006/relationships/font" Target="fonts/font9.fnt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53" Type="http://schemas.openxmlformats.org/officeDocument/2006/relationships/slide" Target="slides/slide2.xml"/><Relationship Id="rId54" Type="http://schemas.openxmlformats.org/officeDocument/2006/relationships/slide" Target="slides/slide3.xml"/><Relationship Id="rId55" Type="http://schemas.openxmlformats.org/officeDocument/2006/relationships/slide" Target="slides/slide4.xml"/><Relationship Id="rId56" Type="http://schemas.openxmlformats.org/officeDocument/2006/relationships/slide" Target="slides/slide10.xml"/><Relationship Id="rId57" Type="http://schemas.openxmlformats.org/officeDocument/2006/relationships/slide" Target="slides/slide18.xml"/><Relationship Id="rId58" Type="http://schemas.openxmlformats.org/officeDocument/2006/relationships/slide" Target="slides/slide20.xml"/><Relationship Id="rId59" Type="http://schemas.openxmlformats.org/officeDocument/2006/relationships/slide" Target="slides/slide12.xml"/><Relationship Id="rId60" Type="http://schemas.openxmlformats.org/officeDocument/2006/relationships/slide" Target="slides/slide9.xml"/><Relationship Id="rId61" Type="http://schemas.openxmlformats.org/officeDocument/2006/relationships/slide" Target="slides/slide13.xml"/><Relationship Id="rId6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90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WG1-Sitzung zu den beiden Amendment-Vorschlägen: #164 „Gross price model“ und #163 „Round only once“. Ziel: zwei Entscheidungen — das Bruttomodell im Kern und keine erzwungene Rundung von Zwischenwerten. Das Deck beginnt mit dem, worin wir übereinstimmen — am Ende genaue Daten — und mit den gesetzlichen Anforderungen, zeigt, warum die heutige Norm sie für Bruttopreise nicht erfüllen kann, und endet mit den Auswirkungen auf bestehende Implementierungen, dem Stand der Diskussion und den Entscheidungen.</a:t>
            </a:r>
          </a:p>
          <a:p>
            <a:r>
              <a:t>Die Namen der Business Terms stammen aus DIN EN 16931-1:2017+A1, Tabelle 2, weil es die EN 16931-1:2026 nur auf Englisch gibt. Business Terms, die 2026 neu sind (BT-171 bis BT-183), haben noch keinen deutschen Namen; die Notizen nennen dort den englischen.</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Mit der gemeinsamen Basis beginnen: Am Ende wollen wir alle genaue Daten, denen Verkäufer, Käufer und Finanzverwaltung vertrauen können. Paul Simons (#163): „Accounting is 100% correct or it is not.“ Cyrille Sautereau (#164): Ihm geht es darum, Unternehmen nicht zu zwingen („not to force companies“), wegen Rundungen auf Umsatz zu verzichten; er nennt mehr als 5 Millionen Unternehmen, die in Frankreich E-Rechnungen austauschen, und 1,2 Millionen in Belgien. Beide Ziele — richtige USt und funktionierende Software — passen zusammen: Ein gestrichenes Maximum ist kein neues Minimum, jede heute konforme Rechnung bleibt konform, und das Bruttomodell ist ein zusätzlicher, optionaler Weg.</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BMF-Schreiben vom 15. Oktober 2026, Abschnitt 2.5, Rn. 17: Die Rechnung nennt das nach Steuersätzen aufgeschlüsselte Entgelt und den darauf entfallenden Steuerbetrag (§ 14 Abs. 4 Satz 1 Nr. 7 und 8 UStG); das Entgelt ist die Gegenleistung abzüglich der Umsatzsteuer (§ 10 Abs. 1 UStG); der Steuerbetrag muss nach Cent genau berechnet und kaufmännisch gerundet werden (Abschnitt 14.5 Abs. 20 UStAE). EuGH Ahold (C-484/06): Die Mitgliedstaaten entscheiden über die Rundung, im Rahmen von Neutralität und Verhältnismäßigkeit; die USt ist genau proportional zum Preis (Rn. 38); wo Runden nötig ist, so nah wie möglich an der USt des Steuersatzes (Rn. 39). MwStSystRL: Art. 226 Nr. 8 Bemessungsgrundlage je Steuersatz und Preis je Einheit ohne Mehrwertsteuer; Art. 206: Der Verkäufer zahlt die USt mit der Steuererklärung; Art. 168: Der Käufer zieht sie als Vorsteuer ab. ViDA: neuer Art. 232 (keine Zustimmung nötig), neuer Art. 263 Abs. 3 (DRR).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Abschnitt 6.5.14 der EN 16931-1:2026 verlangt, auf die Endergebnisse zu runden und nicht auf Zwischenergebnisse; die Ausgabe 2017 sagte dasselbe. Die EN 16931-1:2026 gibt es nur auf Englisch, deshalb steht das Zitat im Original. Tabelle 28 setzt aber maximale Nachkommastellen für Zwischenwerte: BT-146 bis BT-148 Minor Unit + 2, BT-131 und alle Summen auf die Minor Unit, BT-129 auf 4 und BT-149 auf 2 Nachkommastellen. Die Grenzen für Preise und Mengen sind 2026 neu; 2017 waren nur Beträge begrenzt. Das BMF-Schreiben vom 15. Oktober 2026 (Rn. 18) stellt fest, dass in bestimmten Konstellationen die Vorgaben der Normenreihe oder der steuerlichen Rundungsregelung nicht eingehalten werden können.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Ursache der Rundungsprobleme: die Umrechnung zwischen netto und brutto. 9,99 / 1,19 endet nie, 8,40 × 1,19 = 9,996 ist kein Centbetrag. Jedes feste Maximum an Nachkommastellen scheitert an einer Menge: Ein an der d-ten Stelle gekappter Preis verschiebt die Zeile um bis zu Menge × 0,5 × 10^-d (8 NK und 10.000.000 Stück: 0,05 €). Die Tabelle von Cyrille Sautereau zeigt dasselbe: Bei 1.000 Stück beseitigen 6 statt 4 Nachkommastellen eine Abweichung von 0,05 €. Deshalb: Der ursprüngliche Preis führt, es gibt keine Umrechnung je Zeile, und die USt wird nur einmal je Steuersatz herausgerechnet, USt zuerst (USt gerundet, das Entgelt ist der Rest).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Nur den Kern muss jeder Empfänger annehmen: Ab 1. Juli 2030 braucht eine EN-16931-konforme Rechnung keine Zustimmung (neuer Art. 232, ViDA), der DRR nimmt EN-konforme Daten an (neuer Art. 263 Abs. 3), und eine CIUS kann den Kern nur einschränken (EN 16931-1, 7.1 und Tabelle 29). Ein erweitertes Profil wird wie eine Extension nur von Empfängern verarbeitet, die zugestimmt haben. Kleinbetragsrechnungen sind auf kleine Beträge begrenzt (Art. 220a; in Deutschland bis 250 €, § 33 UStDV); darüber ist eine vollständige Rechnung mit den Angaben von Art. 226 nötig. Das BMF akzeptiert eine Zeile je Steuersatz mit Anlage nur bis 31. Dezember 2027.</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Entscheidung 1 (#164): das Bruttomodell in den Kern — die „plus VAT“-Business-Terms (BT-146V, BT-131V, BT-116V und die anderen), USt zuerst (BT-117 = BT-116V × Satz ÷ (100 + Satz), einmal gerundet; BT-116 = BT-116V − BT-117), keine Netto-Zwischenwerte im Bruttomodell, BT-146 Nettopreis des Artikels zur Information (Art. 226 Nr. 8). Entscheidung 2 (#163): kein Maximum an Nachkommastellen für Preise, Mengen und Zwischenwerte; nur die gezahlten Beträge und die USt-Beträge in der Minor Unit, einmal gerundet (BT-117 einmal je Kategorie), BT-114 zeigt die Rundung von BT-115; exakte Validierung, jede Regel behält die heutige Toleranz und ist nur außerhalb ein Fehler, eine Warnung nur, wo eine Rundung BT-117 oder BT-112 ändert. Nächste Schritte: TAXUD zu „USt zuerst“ und dazu, den Preis ohne Mehrwertsteuer bei Bruttopreisrechnungen optional zu machen; Testdokumente; ein Impact-Test, wie ihn Cyrille Sautereau verlangt. Die offenen Punkte der vorigen Folie — ein Positionsbetrag oder zwei, ein Maximum oder keins, BT-116 exakt oder in Cent, USt zuerst als Regel oder als Leitfaden — lassen sich innerhalb dieser beiden Entscheidungen klären.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Mit Nettobeträgen und USt in Cent erreicht eine Rechnung bei 19 % USt nur 100 von 119 Bruttobeträgen: Jeder Cent netto bringt im Schnitt 1,19 Cent brutto, also fallen 19 von 119 (16 %) weg. 9,99 € ist einer davon: 8,39 + 1,59 = 9,98 und 8,40 + 1,60 = 10,00. Bei 7 % ist der Anteil 7/107, bei 20 % 20/120, bei 21 % 21/121. Simulation mit Dezimalarithmetik und zufälligen Brutto-Zeilenbeträgen (0,01 bis 100,00 €): 1 Zeile 16 %, 2 Zeilen 34 %, 5 Zeilen 52 %, 10 Zeilen 66 %, 35 Zeilen 81 % verfehlen die Bonsumme, wenn jede Zeile in einen Nettobetrag in Cent umgerechnet wird. Nur die Toleranz von BR-S-9 erlaubt 8,39 + 1,60, deren USt nicht 19 % des Entgelts ist. BMF-Schreiben vom 15. Oktober 2026: Rn. 17 Steuerbetrag nach Cent genau, Rn. 18 Kern und steuerliche Rundungsregel nicht beide einhaltbar, Rn. 19 noch kein Bruttoformat; bis 31. Dezember 2027 nur die Summen je Steuersatz im strukturierten Teil und die Einzelpositionen in einer eingebetteten Anlage.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Kraftstoff zeigt, dass die Beträge des Bruttomodells in Cent bleiben: Der Zehntelcent steckt im Preis (1,799 € je Liter), nicht im Betrag. 45,37 Liter × 1,799 = 81,62063, an der Zapfsäule als 81,62 berechnet und bezahlt. Das ist BT-131V Nettobetrag der Rechnungsposition plus Umsatzsteuer. USt zuerst: 81,62 × 19 ÷ 119 = 13,0317 → 13,03 (BT-117); das Entgelt ist der Rest, 68,59 (BT-116). BT-116V, BT-112 und BT-115 sind 81,62. Der informative BT-146 Nettopreis des Artikels ist 1,799 ÷ 1,19 = 1,51176470…; er geht in keine Berechnung ein. Ein Validator kann ihn trotzdem nutzen, um die USt zu bestätigen, aber nur mit genug Nachkommastellen: Im Buchbeispiel von #164 ergibt 23,3178 × 1.000 eine USt von 1.632,25, 23,317757 × 1.000 dagegen die richtige 1.632,24. Wie viele Nachkommastellen genügen, hängt von der Menge ab, deshalb darf die Norm kein Maximum festlegen.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Auswirkungen auf bestehende Implementierungen. Aussteller mit Nettopreisen und 2 Nachkommastellen: Es ändert sich nichts. Empfänger mit 2 Nachkommastellen: Sie runden einen empfangenen Wert beim Import einmal auf ihre eigene Genauigkeit — nur bei Rechnungen mit mehr Nachkommastellen, die heute nicht konform sind. Bruttopreisrechnungen: Die neuen „plus VAT“-Begriffe von #164 sind eine neue Kernfunktion, wie jedes Amendment; eine korrekte Bruttopreisrechnung war vorher nicht möglich (BMF-Schreiben, Rn. 18; Übergangslösung bis 31. Dezember 2027, Rn. 19). Validatoren: exakte Dezimalarithmetik mit decimal128, Testdokumente gibt es in Svanton. Syntaxen: keine Änderung, Beträge sind xsd:decimal. Jede heute konforme Rechnung bleibt konform, höchstens mit Warnung (#163): Jede Regel behält die heutige Toleranz, und eine Warnung gibt es nur, wo eine Rundung die USt oder die Gesamtsumme ändert. Für die Impact-Studie, die Cyrille Sautereau verlangt, lautet die genaue Frage, ob ein System einen genauen Wert beim Import rundet oder die Rechnung ablehnt.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Datenfluss beider Modelle nebeneinander. Links das Nettomodell der EN 16931-1, rechts das Bruttomodell von #164, in der Mitte die Business Terms, die beide Modelle teilen. Die Schritte sind gleich: Preis, Position, Ab- und Zuschläge, Summen, USt-Kategorie. Jeder Netto-Begriff hat ein Gegenstück „plus VAT“ mit dem Suffix V (türkis). Die Modelle unterscheiden sich nur, wo die USt hinzukommt (orange): Das Nettomodell schlägt die USt auf die Bemessungsgrundlage auf, das Bruttomodell rechnet sie je Steuersatz aus dem Bruttobetrag heraus, USt zuerst (die USt wird einmal gerundet, das Entgelt BT-116 ist der Rest, wie § 10 Abs. 1 UStG es bestimmt), und leitet BT-109 aus BT-112 ab statt umgekehrt. BT-115 ist in beiden Modellen gleich. Fußnoten: welche Business Terms das Gesetz verlangt — Art. 226 Nr. 6, 8, 9 und 10 MwStSystRL, und in Deutschland § 14 Abs. 4 Satz 1 Nr. 7 und 8 UStG mit dem Steuerbetrag nach Cent genau berechnet und kaufmännisch gerundet (UStAE 14.5 Abs. 20; BMF-Schreiben vom 15. Oktober 2026, Rn. 17). Im Bruttomodell bleibt BT-146 Nettopreis des Artikels nur zur Information (Art. 226 Nr. 8).</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Stand 20. Oktober 2026, nach den Kommentaren von Paul Simons und Cyrille Sautereau vom 16. bis 19. Oktober in #163 und #164. Paul Simons: „We need to find a solution. At least something we agree upon.“</a:t>
            </a:r>
          </a:p>
          <a:p>
            <a:r>
              <a:t>Wo sich die Vorschläge treffen: die USt-Beträge in der Minor Unit, einmal je Kategorie gerundet, weil das nationale Umsatzsteuerrecht den Steuerbetrag nach Cent genau verlangt (Paul Simons, 16.10.; Update 4 von #163). Die „plus VAT“-Begriffe wie BT-146V Nettopreis des Artikels plus Umsatzsteuer und BT-131V Nettobetrag der Rechnungsposition plus Umsatzsteuer und ein Indikator für Preise inklusive USt im Kern (Cyrille Sautereau, 16.10.; #164). Genaue Positionswerte neben den heutigen gerundeten und mehr Nachkommastellen für Preise als heute: Cyrille Sautereau schlägt BT-131NR, BT-92NR und BT-99NR mit 8 Nachkommastellen und den Nettopreis des Artikels mit 8 Nachkommastellen vor, Paul Simons einen Schatten-BT-131 mit 8 Nachkommastellen und einen Rundungsbetrag je USt-Aufschlüsselung. Heutige Rechnungen bleiben konform, mit einer Toleranz auf Summen: 0,005 × Anzahl der Summanden (Cyrille Sautereau) oder 0,005 × (1 + Anzahl der Summanden) (#163).</a:t>
            </a:r>
          </a:p>
          <a:p>
            <a:r>
              <a:t>Noch offen, jeweils mit der Begründung von #163: ein Positionsbetrag oder zwei — ein exakter BT-131 Nettobetrag der Rechnungsposition trägt beide Werte, weil der gerundete aus ihm folgt. Maximal 8 Nachkommastellen oder kein Maximum — jedes Maximum scheitert an einer Menge (8 Nachkommastellen und 10.000.000 Stück: bis zu 0,05 €), und decimal128 zählt seine 34 signifikanten Stellen vor und nach dem Komma zusammen. BT-116 exakt oder in Cent — seine Rundung je Kategorie summiert sich wieder auf; ein Mitgliedstaat kann ihn in seiner CIUS einschränken (Tabelle 29). USt zuerst als Regel im Kern oder als Leitfaden mit nationalen CIUS-Regeln — #164 behält die heutige Toleranz von BR-S-9, damit das Runden der Bemessungsgrundlage zuerst ebenfalls konform bleibt.</a:t>
            </a:r>
          </a:p>
          <a:p>
            <a:r>
              <a:t>Am Ende: genaue Daten, denen Verkäufer, Käufer und Finanzverwaltung vertrauen können. Normkonform ist nicht rechtskonform: Im Beispiel von Paul Simons (#163, 19.10.) ergibt dieselbe Leistung 1,20 € oder 1,21 €; die EN toleriert den Unterschied, das deutsche Recht verlangt Entgelt und Steuerbetrag (§ 14 Abs. 4 Satz 1 Nr. 7 und 8 UStG) ohne Toleranz. Niemand muss genauer rechnen als nötig. Empfänger runden beim Import, statt abzulehnen, weil eine EN-konforme Rechnung ab 1. Juli 2030 keine Zustimmung braucht (neuer Art. 232, ViDA). Jede Software nennt ihre Genauigkeit, und der Markt wählt.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github.com/ConnectingEurope/CEN-TC434-WG1/issues/163 — „Round only once: no rounding of intermediate values, only of the amounts that are paid are being rounded“ (Update 4 vom 16.10.2026).</a:t>
            </a:r>
          </a:p>
          <a:p>
            <a:r>
              <a:t>Die EN 16931-1:2026 sagt in 6.5.14 schon das Richtige: Gerundet wird das Endergebnis, nicht Zwischenergebnisse. Das gilt aber nur je Regel; Tabelle 28 und der erste Spiegelstrich von 6.5.14 zwingen jedes Ergebnis wieder auf Cent, bevor es in die nächste Regel geht. Deshalb braucht es Toleranzen bis 1 € (BR-S-9, BR-IG-9, BR-IP-9).</a:t>
            </a:r>
          </a:p>
          <a:p>
            <a:r>
              <a:t>Update 4: Gerundet wird nur, was bezahlt wird, und zwar einmal. BT-115 Fälliger Zahlungsbetrag und die Beträge, die ihn ändern — BT-113 Vorauszahlungsbetrag, BT-172 (Discount amount, Skonto), BT-179 (Charge amount collected on behalf of a third party), BT-183 (Penalty amount, Verzug) — stehen in der Minor Unit der Währung (ISO 4217; EUR: Cent), weil die Bank keine kleineren Beträge überweist. BT-114 Rundungsbetrag trägt die Rundung von BT-115. Auch die USt wird bezahlt: Der Verkäufer zahlt sie mit der Steuererklärung (Art. 206 MwStSystRL), der Käufer zieht sie ab (Art. 168). Deshalb wird BT-117 Kategoriespezifischer Steuerbetrag einmal je Kategorie aus dem exakten BT-116 gerundet, weil das nationale Umsatzsteuerrecht den Steuerbetrag nach Cent genau verlangt (UStAE 14.5 Abs. 20); BT-110 Gesamtbetrag der Rechnungsumsatzsteuer ist ihre Summe, BT-111 Steuergesamtbetrag in Buchungswährung steht in deren Minor Unit. BT-116 Kategoriespezifischer Steuerbasisbetrag bleibt exakt, weil sich seine Rundung je Kategorie wieder aufsummiert: Drei Kategorien, die je 0,4 Cent verlieren, machen die Rechnung um einen Cent falsch. Ein Mitgliedstaat, der ihn in Cent verlangt, kann ihn in seiner CIUS einschränken (Tabelle 29).</a:t>
            </a:r>
          </a:p>
          <a:p>
            <a:r>
              <a:t>Validierung: exakt aus den angegebenen Werten, bei unendlichen Divisionen mit 34 signifikanten Stellen (IEEE 754 decimal128). Jede Regel akzeptiert die heutige Toleranz; außerhalb ist die Rechnung fehlerhaft. Für Summen gilt 0,005 × (1 + Anzahl der Summanden), weil jeder gerundete Betrag um höchstens einen halben Cent abweicht. Eine Warnung gibt es nur, wo eine Rundung BT-117 oder BT-112 Rechnungsgesamtbetrag einschließlich Umsatzsteuer ändert, verglichen mit der exakten Berechnung aus den angegebenen Preisen, Mengen und Sätzen — nie einen Fehler, weil eine Rundung, die das nationale Recht verlangt, nicht von sich aus warnen soll (Paul Simons). Ob eine gewarnte Abweichung akzeptiert wird, entscheidet die Finanzverwaltung; eine Warnung schützt nicht vor Sanktionen. Keine Übergangszeit: Jede heute konforme Rechnung bleibt konform, höchstens mit Warnung.</a:t>
            </a:r>
          </a:p>
          <a:p>
            <a:r>
              <a:t>Empfänger validieren mit dieser Genauigkeit, buchen BT-115 und die USt-Beträge und dürfen alle anderen Werte intern runden; die Originalrechnung bleibt gespeichert (Art. 233 und 244 MwStSystRL). Ab 1. Juli 2030 braucht eine EN-16931-konforme E-Rechnung keine Zustimmung des Empfängers mehr (neuer Art. 232, ViDA).</a:t>
            </a:r>
          </a:p>
          <a:p>
            <a:r>
              <a:t>Beispiel Kassenbon → Rechnung (#148): 1.000 × 9,99 € inkl. 19 % USt = 9.990,00 € mit 1.595,04 € USt. Heute (BT-146 Nettopreis des Artikels mit 4 Nachkommastellen: 8,3950) ergibt die Rechnung 9.990,05 € — 5 Cent zu viel, USt 1 Cent zu hoch. Mit #163 und 10 Nachkommastellen (8,3949579832): BT-116 8.394,9579832, BT-117 1.595,04 € (einmal gerundet), BT-112 9.989,9979832, BT-114 0,0020168, BT-115 9.990,00 €. Sechs Nachkommastellen genügen hier auch (BT-114 = 0,002); die nötige Genauigkeit hängt von der Menge ab.</a:t>
            </a:r>
          </a:p>
          <a:p>
            <a:r>
              <a:t>Die WG1 hat 2020 schon beschlossen, die Begrenzung von BT-131 aufzuheben (Issue #7).</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Drei Folienpaare mit identischem Aufbau — beim Durchblättern sieht man nur die Unterschiede.</a:t>
            </a:r>
          </a:p>
          <a:p>
            <a:r>
              <a:t>Regenbogen: Die sieben berechneten BTs laufen von oben nach unten durch den Regenbogen — BT-146 rot, BT-131 orange, BT-106 gelb, BT-116 grün, BT-117 blau, BT-110 violett, BT-115 magenta. Wo eine spätere Zeile einen von ihnen wieder verwendet, steht er dort fett in derselben Farbe (BT-146 in BT-131, BT-131 in BT-106 und BT-116, BT-116 in BT-117, BT-117 in BT-110, BT-110 in BT-115). Eingangswerte bleiben dunkelblau.</a:t>
            </a:r>
          </a:p>
          <a:p>
            <a:r>
              <a:t>Rahmen: blau = Eingabe- und Zwischenwerte, violett = Endergebnisse. Die Formeln zeigen nur die BT-Kennungen; die Kartentitel und die Tafel rechts nennen die Namen aus DIN EN 16931-1. Die Tafel listet jeden BT der Kette mit seinen erlaubten Nachkommastellen, die berechneten in ihrer Regenbogenfarbe. Alle Eingangswerte — auch Ab- und Zuschläge auf Dokumentenebene und der USt-Satz — stehen im oberen Kasten, unten die Endergebnisse BT-116, BT-117, BT-110 und BT-115 Fälliger Zahlungsbetrag.</a:t>
            </a:r>
          </a:p>
          <a:p>
            <a:r>
              <a:t>Die ±-Werte links gelten für 100 Zeilen à 100 Stück, 19 % USt, alle Rundungen in dieselbe Richtung. Wie weit das wachsen kann, zeigen die Folien „Wie groß wird die Abweichung?“ (Worst Case mit Zeilenanzahl und Menge).</a:t>
            </a:r>
          </a:p>
          <a:p>
            <a:r>
              <a:t>Farben der Nachkommastellen: rot = von der Norm erzwungene Rundung eines Werts, der nicht bezahlt wird (2017/2026: BT-131, BT-106, BT-116, BT-117, BT-110; 2026 auch BT-146); grün = gezahlter Betrag, einmal gerundet: BT-115 Fälliger Zahlungsbetrag — 2017 fest auf 2 Nachkommastellen (Tabelle 26), seit 2026 auf die Minor Unit der Währung (ISO 4217; EUR: Cent, JPY: ganze Yen, KWD: 3 Nachkommastellen); orange = Eingangswert, der wegen einer Begrenzung gerundet werden muss; „frei“ = keine Begrenzung (#163). Der USt-Satz ist eine gesetzliche Konstante und wird nicht gerundet.</a:t>
            </a:r>
          </a:p>
          <a:p>
            <a:r>
              <a:t>Was #163 ändert (Update 4, 16.10.2026): Gerundet wird nur, was bezahlt wird, und zwar einmal — BT-115 Fälliger Zahlungsbetrag und die USt, die der Verkäufer mit der Steuererklärung zahlt (Art. 206 MwStSystRL) und der Käufer als Vorsteuer abzieht (Art. 168). BT-117 Kategoriespezifischer Steuerbetrag wird einmal je Kategorie aus dem exakten BT-116 Kategoriespezifischer Steuerbasisbetrag gerundet, weil das nationale Umsatzsteuerrecht den Steuerbetrag nach Cent genau verlangt (UStAE 14.5 Abs. 20); BT-110 Gesamtbetrag der Rechnungsumsatzsteuer ist ihre Summe. BT-116 bleibt exakt, weil sich seine Rundung je Kategorie wieder aufsummiert; ein Mitgliedstaat, der ihn in Cent verlangt, kann ihn in seiner CIUS einschränken (Tabelle 29).</a:t>
            </a:r>
          </a:p>
          <a:p>
            <a:r>
              <a:t>BT-115 Fälliger Zahlungsbetrag = BT-112 Rechnungsgesamtbetrag einschließlich Umsatzsteuer (BT-109 Rechnungsgesamtbetrag ohne Umsatzsteuer + BT-110 Gesamtbetrag der Rechnungsumsatzsteuer) − BT-113 Vorauszahlungsbetrag + Σ BT-179 (Charge amount collected on behalf of a third party) + BT-114 Rundungsbetrag (BR-CO-16). 2017 und 2026 landen die Fehler aller Zwischenrundungen in BT-115 (± 0,60 € bzw. ± 1,19 € bei 100 Zeilen à 100 Stück); mit #163 wird er einmal gerundet, und BT-114 zeigt diese Rundung.</a:t>
            </a:r>
          </a:p>
          <a:p>
            <a:r>
              <a:t>2017 (Tabelle 26): Nur Beträge sind begrenzt — fest auf 2 Nachkommastellen, unabhängig von der Währung; Preise, Mengen, Basismengen und Sätze sind unbegrenzt. Eine Zwischenrundung: BT-131 weicht je Zeile um bis zu 0,005 € ab, über 100 Zeilen um bis zu 0,50 €; die USt darauf um bis zu 0,10 € (9,5 Cent, gerundet).</a:t>
            </a:r>
          </a:p>
          <a:p>
            <a:r>
              <a:t>Schon 2017 widerspricht die Tabelle dem Text der Norm: „Rounding shall be done on the final calculation results not on any intermediate results“.</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Regenbogen: Die sieben berechneten BTs laufen von oben nach unten durch den Regenbogen — BT-146 rot, BT-131 orange, BT-106 gelb, BT-116 grün, BT-117 blau, BT-110 violett, BT-115 magenta. Wo eine spätere Zeile einen von ihnen wieder verwendet, steht er dort fett in derselben Farbe (BT-146 in BT-131, BT-131 in BT-106 und BT-116, BT-116 in BT-117, BT-117 in BT-110, BT-110 in BT-115). Eingangswerte bleiben dunkelblau.</a:t>
            </a:r>
          </a:p>
          <a:p>
            <a:r>
              <a:t>Rahmen: blau = Eingabe- und Zwischenwerte, violett = Endergebnisse. Die Formeln zeigen nur die BT-Kennungen; die Kartentitel und die Tafel rechts nennen die Namen aus DIN EN 16931-1. Die Tafel listet jeden BT der Kette mit seinen erlaubten Nachkommastellen, die berechneten in ihrer Regenbogenfarbe. Alle Eingangswerte — auch Ab- und Zuschläge auf Dokumentenebene und der USt-Satz — stehen im oberen Kasten, unten die Endergebnisse BT-116, BT-117, BT-110 und BT-115 Fälliger Zahlungsbetrag.</a:t>
            </a:r>
          </a:p>
          <a:p>
            <a:r>
              <a:t>Die ±-Werte links gelten für 100 Zeilen à 100 Stück, 19 % USt, alle Rundungen in dieselbe Richtung. Wie weit das wachsen kann, zeigen die Folien „Wie groß wird die Abweichung?“ (Worst Case mit Zeilenanzahl und Menge).</a:t>
            </a:r>
          </a:p>
          <a:p>
            <a:r>
              <a:t>Farben der Nachkommastellen: rot = von der Norm erzwungene Rundung eines Werts, der nicht bezahlt wird (2017/2026: BT-131, BT-106, BT-116, BT-117, BT-110; 2026 auch BT-146); grün = gezahlter Betrag, einmal gerundet: BT-115 Fälliger Zahlungsbetrag, auf die Minor Unit der Währung (ISO 4217; EUR: Cent, JPY: ganze Yen, KWD: 3 Nachkommastellen); orange = Eingangswert, der wegen einer Begrenzung gerundet werden muss; „frei“ = keine Begrenzung (#163). Der USt-Satz ist eine gesetzliche Konstante und wird nicht gerundet.</a:t>
            </a:r>
          </a:p>
          <a:p>
            <a:r>
              <a:t>Was #163 ändert (Update 4, 16.10.2026): Gerundet wird nur, was bezahlt wird, und zwar einmal — BT-115 Fälliger Zahlungsbetrag und die USt, die der Verkäufer mit der Steuererklärung zahlt (Art. 206 MwStSystRL) und der Käufer als Vorsteuer abzieht (Art. 168). BT-117 Kategoriespezifischer Steuerbetrag wird einmal je Kategorie aus dem exakten BT-116 Kategoriespezifischer Steuerbasisbetrag gerundet, weil das nationale Umsatzsteuerrecht den Steuerbetrag nach Cent genau verlangt (UStAE 14.5 Abs. 20); BT-110 Gesamtbetrag der Rechnungsumsatzsteuer ist ihre Summe. BT-116 bleibt exakt, weil sich seine Rundung je Kategorie wieder aufsummiert; ein Mitgliedstaat, der ihn in Cent verlangt, kann ihn in seiner CIUS einschränken (Tabelle 29).</a:t>
            </a:r>
          </a:p>
          <a:p>
            <a:r>
              <a:t>BT-115 Fälliger Zahlungsbetrag = BT-112 Rechnungsgesamtbetrag einschließlich Umsatzsteuer (BT-109 Rechnungsgesamtbetrag ohne Umsatzsteuer + BT-110 Gesamtbetrag der Rechnungsumsatzsteuer) − BT-113 Vorauszahlungsbetrag + Σ BT-179 (Charge amount collected on behalf of a third party) + BT-114 Rundungsbetrag (BR-CO-16). 2017 und 2026 landen die Fehler aller Zwischenrundungen in BT-115 (± 0,60 € bzw. ± 1,19 € bei 100 Zeilen à 100 Stück); mit #163 wird er einmal gerundet, und BT-114 zeigt diese Rundung.</a:t>
            </a:r>
          </a:p>
          <a:p>
            <a:r>
              <a:t>2026 (Tabelle 28): BT-146 bis BT-148 auf „minor unit + 2“ (EUR: 4), BT-129 auf 4, BT-149 auf 2, Sätze auf 2, alle Beträge auf die Minor Unit (EUR: 2). Zwei Zwischenrundungen: BT-146 (bis 0,00005 € je Stück) und BT-131.</a:t>
            </a:r>
          </a:p>
          <a:p>
            <a:r>
              <a:t>Je Zeile: 100 × 0,00005 € aus dem Preis + 0,005 € aus der Zeilenrundung = 0,01 €. Über 100 Zeilen: 1,00 € netto; USt 1,00 € × 19 % = 0,19 € (der Versatz um genau 19 Cent bleibt nach dem Runden erhalten); zusammen 1,19 €.</a:t>
            </a:r>
          </a:p>
          <a:p>
            <a:r>
              <a:t>Die Toleranzen der Regeln von 2026 fangen solche Differenzen auf (bis 1 € bei BR-S-9) — sie verstecken sie aber auch. Mit #163 behält jede Regel sie, und eine Warnung zeigt, wo eine Rundung die USt oder die Gesamtsumme ändert: Die Abweichung wird sichtbar. Ein Beispiel mit Zahlen (Kassenbon 1.000 × 9,99 €): siehe die Notizen zu #163.</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Regenbogen: Die sieben berechneten BTs laufen von oben nach unten durch den Regenbogen — BT-146 rot, BT-131 orange, BT-106 gelb, BT-116 grün, BT-117 blau, BT-110 violett, BT-115 magenta. Wo eine spätere Zeile einen von ihnen wieder verwendet, steht er dort fett in derselben Farbe (BT-146 in BT-131, BT-131 in BT-106 und BT-116, BT-116 in BT-117, BT-117 in BT-110, BT-110 in BT-115). Eingangswerte bleiben dunkelblau.</a:t>
            </a:r>
          </a:p>
          <a:p>
            <a:r>
              <a:t>Rahmen: blau = Eingabe- und Zwischenwerte, violett = Endergebnisse. Die Formeln zeigen nur die BT-Kennungen; die Kartentitel und die Tafel rechts nennen die Namen aus DIN EN 16931-1. Die Tafel listet jeden BT der Kette mit seinen erlaubten Nachkommastellen, die berechneten in ihrer Regenbogenfarbe. Alle Eingangswerte — auch Ab- und Zuschläge auf Dokumentenebene und der USt-Satz — stehen im oberen Kasten, unten die Endergebnisse BT-116, BT-117, BT-110 und BT-115 Fälliger Zahlungsbetrag.</a:t>
            </a:r>
          </a:p>
          <a:p>
            <a:r>
              <a:t>Die ±-Werte links gelten für 100 Zeilen à 100 Stück, 19 % USt, alle Rundungen in dieselbe Richtung. Wie weit das wachsen kann, zeigen die Folien „Wie groß wird die Abweichung?“ (Worst Case mit Zeilenanzahl und Menge).</a:t>
            </a:r>
          </a:p>
          <a:p>
            <a:r>
              <a:t>Farben der Nachkommastellen: rot = von der Norm erzwungene Rundung eines Werts, der nicht bezahlt wird (2017/2026: BT-131, BT-106, BT-116, BT-117, BT-110; 2026 auch BT-146); grün = einmal gerundet: BT-115 Fälliger Zahlungsbetrag und die USt-Beträge BT-117 und BT-110, auf die Minor Unit der Währung (ISO 4217; EUR: Cent, JPY: ganze Yen, KWD: 3 Nachkommastellen); orange = Eingangswert, der wegen einer Begrenzung gerundet werden muss; „frei“ = keine Begrenzung (#163). Der USt-Satz ist eine gesetzliche Konstante und wird nicht gerundet.</a:t>
            </a:r>
          </a:p>
          <a:p>
            <a:r>
              <a:t>Update 4 von #163 (16.10.2026): Gerundet wird nur, was bezahlt wird, und zwar einmal. Auch die USt wird bezahlt: Der Verkäufer zahlt sie mit der Steuererklärung (Art. 206 MwStSystRL), der Käufer zieht sie ab (Art. 168). Weil das nationale Umsatzsteuerrecht den Steuerbetrag nach Cent genau verlangt (UStAE 14.5 Abs. 20), wird BT-117 Kategoriespezifischer Steuerbetrag einmal je Kategorie aus dem exakten BT-116 gerundet, und BT-110 Gesamtbetrag der Rechnungsumsatzsteuer ist die Summe der BT-117. BT-116 Kategoriespezifischer Steuerbasisbetrag bleibt exakt, weil sich seine Rundung je Kategorie wieder aufsummiert; ein Mitgliedstaat, der ihn in Cent verlangt, kann ihn in seiner CIUS einschränken (Tabelle 29). Das ± 0 bei BT-117 heißt: Er entspricht der USt, einmal aus der exakten Bemessungsgrundlage gerundet — genau das verlangt das Gesetz.</a:t>
            </a:r>
          </a:p>
          <a:p>
            <a:r>
              <a:t>BT-115 Fälliger Zahlungsbetrag = BT-112 Rechnungsgesamtbetrag einschließlich Umsatzsteuer (BT-109 Rechnungsgesamtbetrag ohne Umsatzsteuer + BT-110 Gesamtbetrag der Rechnungsumsatzsteuer) − BT-113 Vorauszahlungsbetrag + Σ BT-179 (Charge amount collected on behalf of a third party) + BT-114 Rundungsbetrag (BR-CO-16). 2017 und 2026 landen die Fehler aller Zwischenrundungen in BT-115 (± 0,60 € bzw. ± 1,19 € bei 100 Zeilen à 100 Stück); mit #163 wird er einmal gerundet, und BT-114 zeigt diese Rundung.</a:t>
            </a:r>
          </a:p>
          <a:p>
            <a:r>
              <a:t>Vorschlag #163: Zwischenwerte werden nicht mehr zwangsweise gerundet, Eingangswerte (Mengen, Preise, Prozentsätze) nicht mehr begrenzt; der USt-Satz bleibt als gesetzliche Konstante bei 2 Nachkommastellen.</a:t>
            </a:r>
          </a:p>
          <a:p>
            <a:r>
              <a:t>Einmal gerundet: BT-115 Fälliger Zahlungsbetrag (dazu BT-113, BT-172, BT-179 und BT-183, die ihn ändern) und die USt-Beträge BT-117 und BT-110; BT-114 Rundungsbetrag macht die Rundung von BT-115 sichtbar. Damit gibt es keine Abweichung durch Zwischenrundung — bei jeder Zeilenanzahl.</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entsteht die Abweichung — Schritt für Schritt (EN 16931-1:2017):</a:t>
            </a:r>
          </a:p>
          <a:p>
            <a:r>
              <a:t>1. BT-146 Nettopreis des Artikels: 2017 nicht begrenzt. Der Preis bleibt exakt, z. B. 0,123449 €. Faktor 1 (Preisrundung × Menge) entfällt.</a:t>
            </a:r>
          </a:p>
          <a:p>
            <a:r>
              <a:t>2. BT-131 Nettobetrag der Rechnungsposition = Preis × Menge: muss auf 2 Nachkommastellen gerundet werden — 2017 fest, unabhängig von der Währung (Tabelle 26). Schlimmster Fall: Der exakte Betrag endet genau auf einen halben Cent, z. B. 12,345 € → 12,35 €. Das sind 0,005 € Abweichung — in jeder Zeile.</a:t>
            </a:r>
          </a:p>
          <a:p>
            <a:r>
              <a:t>3. BT-106 Summe der Nettobeträge aller Rechnungspositionen und BT-116 Kategoriespezifischer Steuerbasisbetrag addieren n gerundete Zeilen. Runden alle Zeilen in dieselbe Richtung, addieren sich die halben Cent: n × 0,005 €. 100 Zeilen: 0,50 €; 10.000 Zeilen: 50,00 €.</a:t>
            </a:r>
          </a:p>
          <a:p>
            <a:r>
              <a:t>4. BT-117 Kategoriespezifischer Steuerbetrag = 19 % von BT-116: 19 % × 0,50 € = 0,095 € → nach der Rundung auf 2 Nachkommastellen bis zu 0,10 €.</a:t>
            </a:r>
          </a:p>
          <a:p>
            <a:r>
              <a:t>Ergebnis: Die Abweichung wächst linear mit der Zeilenanzahl, ohne Obergrenze. Die Menge je Zeile spielt 2017 keine Rolle — deshalb sind alle Spalten der Tabelle gleich.</a:t>
            </a:r>
          </a:p>
          <a:p>
            <a:r>
              <a:t>Die Tabelle zeigt die Obergrenze. In der Praxis runden Zeilen mal auf, mal ab und gleichen sich teilweise aus.</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entsteht die Abweichung — Schritt für Schritt (EN 16931-1:2026):</a:t>
            </a:r>
          </a:p>
          <a:p>
            <a:r>
              <a:t>1. BT-146 Nettopreis des Artikels (Faktor 1): darf nur Minor Unit + 2 Nachkommastellen haben (Tabelle 28; EUR: 4). Der exakte Preis — z. B. 0,123449 € aus Bruttopreis minus Nachlass oder aus einem Brutto-Kassenbon — wird einmal in 4 Stellen „hineingedrückt“: 0,1234 €. Fehler 0,000049 €, höchstens 0,00005 € (eine halbe Einheit der 4. Stelle).</a:t>
            </a:r>
          </a:p>
          <a:p>
            <a:r>
              <a:t>2. BT-131 Nettobetrag der Rechnungsposition = Preis × Menge: Gerundet wird nicht je Stück — aber der gerundete Preis steckt in jedem Stück. Die Menge multipliziert den einen Preisfehler: 10.000 Stück × 0,000049 € = 0,49 € (WG1-Issue #148: 1.234,00 € statt 1.234,49 €). Höchstens Q × 0,00005 €.</a:t>
            </a:r>
          </a:p>
          <a:p>
            <a:r>
              <a:t>3. Dazu rundet BT-131 auf die Minor Unit (EUR: Cent): noch einmal bis zu 0,005 €. Je Zeile also bis zu Q × 0,00005 € + 0,005 € — das zeigt die erste Tabellenzeile (100 Stück: 0,005 € + 0,005 € = 0,01 €; 10.000 Stück: 0,50 € + 0,005 € = 0,505 €; 1.000.000 Stück: 50,00 € + 0,005 € = 50,005 €).</a:t>
            </a:r>
          </a:p>
          <a:p>
            <a:r>
              <a:t>4. BT-106 Summe der Nettobeträge aller Rechnungspositionen und BT-116 Kategoriespezifischer Steuerbasisbetrag (Faktor 2) addieren n Zeilen. Im schlimmsten Fall in dieselbe Richtung: n × (Q × 0,00005 € + 0,005 €). Die erste Tabellenzeile zeigt den Fehler je Zeile als Summe der beiden Teile (Preis × Menge + Cent-Rundung); jede weitere Zeile ist Zeilenanzahl × dieser Wert.</a:t>
            </a:r>
          </a:p>
          <a:p>
            <a:r>
              <a:t>Zum Nachrechnen: 100 Zeilen à 10.000 Stück → je Zeile 10.000 × 0,00005 € + 0,005 € = 0,505 € → × 100 Zeilen = 50,50 € netto. USt: 19 % × 50,50 € = 9,595 € → bis zu 9,60 €.</a:t>
            </a:r>
          </a:p>
          <a:p>
            <a:r>
              <a:t>Die Ecke der Tabelle: 10.000 Zeilen à 1.000.000 Stück → je Zeile 1.000.000 × 0,00005 € + 0,005 € = 50,005 € → × 10.000 Zeilen = 500.050 €. Extrem, aber es zeigt: nach oben offen. Große Mengen gibt es z. B. bei Energie (kWh), Kleinteilen oder Datenvolumen.</a:t>
            </a:r>
          </a:p>
          <a:p>
            <a:r>
              <a:t>Warum der Preis schwerer wiegt als die Zeilen: Der Preisfehler gleicht sich innerhalb einer Zeile nie aus, er wird mit der Menge voll multipliziert. Über viele Zeilen gleichen sich Rundungen dagegen teilweise aus; die Tabelle zeigt die Obergrenze.</a:t>
            </a:r>
          </a:p>
          <a:p>
            <a:r>
              <a:t>Ebenso ist BT-129 in Rechnung gestellte Menge auf 4 Nachkommastellen begrenzt: Bei teuren Artikeln fehlen je Zeile bis zu 0,00005 × Preis (z. B. 0,00005 kg × 20.000 €/kg = 1,00 €).</a:t>
            </a:r>
          </a:p>
          <a:p>
            <a:r>
              <a:t>Die Toleranzen der Regeln von 2026 (bis 1 €, z. B. BR-S-9) fangen nur kleine Abweichungen auf — und verstecken die Ursache. Mit #163 behält jede Regel dieselben Toleranzen, und eine Warnung zeigt, wo eine Rundung die USt oder die Gesamtsumme ändert: Die Abweichung wird sichtbar statt versteckt.</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bleibt die Abweichung bei null — Schritt für Schritt (Vorschlag #163):</a:t>
            </a:r>
          </a:p>
          <a:p>
            <a:r>
              <a:t>1. BT-146 Nettopreis des Artikels und BT-129 in Rechnung gestellte Menge bleiben exakt, ihre Nachkommastellen sind nicht begrenzt. Faktor 1 (Preisrundung × Menge) entfällt.</a:t>
            </a:r>
          </a:p>
          <a:p>
            <a:r>
              <a:t>2. BT-131 Nettobetrag der Rechnungsposition und BT-106 Summe der Nettobeträge aller Rechnungspositionen werden nicht gerundet, sondern exakt weitergerechnet. Faktor 2 (Zeilenanzahl) entfällt — egal wie viele Zeilen.</a:t>
            </a:r>
          </a:p>
          <a:p>
            <a:r>
              <a:t>3. Gerundet wird nur, was bezahlt wird, und zwar einmal: BT-115 Fälliger Zahlungsbetrag, aus dem exakten Gesamtbetrag auf die Minor Unit der Währung (EUR: Cent), und BT-117 Kategoriespezifischer Steuerbetrag, einmal je Kategorie aus dem exakten BT-116 Kategoriespezifischer Steuerbasisbetrag, weil das nationale Umsatzsteuerrecht den Steuerbetrag nach Cent genau verlangt (UStAE 14.5 Abs. 20). BT-114 Rundungsbetrag zeigt die Rundung von BT-115. BT-116 bleibt so genau wie gerechnet.</a:t>
            </a:r>
          </a:p>
          <a:p>
            <a:r>
              <a:t>Ergebnis: ± 0 Abweichung durch Zwischenrundung, für jede Menge und jede Zeilenanzahl; die USt entspricht der USt, einmal aus der exakten Bemessungsgrundlage gerundet. Voraussetzung ist exakte Dezimalarithmetik — siehe die Folien zur exakten Rechnungsarithmetik.</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github.com/ConnectingEurope/CEN-TC434-WG1/issues/164 — „Gross price model: use Item net price plus VAT as the leading price and extract the VAT once per VAT category“.</a:t>
            </a:r>
          </a:p>
          <a:p>
            <a:r>
              <a:t>Die EN 16931 kennt nur das Nettomodell: Nettopreise summieren, USt aufschlagen. Viele Preise sind aber inklusive USt festgelegt: Buchpreisbindung (§ 5 BuchPrG), Kassenbons oberhalb der Kleinbetragsgrenze, Händler und Marktplätze, gesetzlich festgesetzte Preise.</a:t>
            </a:r>
          </a:p>
          <a:p>
            <a:r>
              <a:t>Vorschlag: zwei Rechenmodelle, jede Rechnung nutzt genau eins. Im Bruttomodell wird die USt je Kategorie einmal herausgerechnet: BT-117 = BT-116V × BT-119 ÷ (100 + BT-119), einmal auf den Cent gerundet, USt zuerst, wie es das deutsche Recht verlangt (BMF-Schreiben vom 15. Oktober 2026, Rn. 17); BT-116 = BT-116V − BT-117. Neue Business Terms mit dem Suffix V („plus VAT“), z. B. BT-146V, BT-131V, BT-116V — „gross“ ist in der EN 16931 schon für den Preis vor Nachlass vergeben (BT-148 Bruttopreis des Artikels).</a:t>
            </a:r>
          </a:p>
          <a:p>
            <a:r>
              <a:t>Beispiel: 1.000 Bücher à 24,95 € inkl. 7 % USt = 24.950,00 € mit 1.632,24 € USt. Das Nettomodell der EN 16931-1:2026 (BT-146 mit 4 Nachkommastellen: 23,3178) ergibt 24.950,05 € und 1.632,25 € USt. Es gibt keinen Wert in der Toleranz von BR-CO-32, der 24.950,00 € mit korrekt gerundeter USt ergibt.</a:t>
            </a:r>
          </a:p>
          <a:p>
            <a:r>
              <a:t>Ergänzt #163: In beiden Modellen wird nur gerundet, was bezahlt wird, und zwar einmal: BT-115 Fälliger Zahlungsbetrag und die USt; der herausgerechnete BT-117 Kategoriespezifischer Steuerbetrag wird einmal je Kategorie auf den Cent gerundet. Die heutige Toleranz von BR-S-9 bleibt, damit das Runden der Bemessungsgrundlage zuerst, wie in Frankreich, ebenfalls konform bleibt. Im Beispiel ist das die einzige Rundung: USt zuerst, 1.632,24299… € werden 1.632,24 €, das Entgelt ist der Rest. BT-146 wird im Bruttomodell als abgeleiteter Informationspreis mit einer halben Einheit seiner letzten Stelle geprüft — ohne Warnung, weil er in keine Berechnung eingeht. In der Diskussion schlägt Paul Simons alternativ Kategorie N mit Befreiungsgrund vor; Cyrille Sautereau schlägt jetzt die „plus VAT“-Begriffe und einen Indikator für Preise inklusive USt im Kern vor (#163, 16.10.2026); BT-146V auf jeder Position wählt das Modell, ein Indikator darf es zusätzlich angeben.</a:t>
            </a:r>
          </a:p>
          <a:p>
            <a:r>
              <a:t>Heute oft unmöglich (#163, Abschnitt „Gross prices“): Mit Netto und USt in der Minor Unit (EUR: Cent) erreicht eine Rechnung bei 19 % USt nur 100 von 119 Bruttobeträgen; 19 von 119 (16 %) fallen weg, z. B. 9,99 € (8,39 + 1,59 = 9,98; 8,40 + 1,60 = 10,00). Bei 7 % USt sind es 7/107 (7 %), bei 20 % 20/120 (17 %), bei 21 % 21/121 (17 %). Simulation mit Dezimalarithmetik, zufällige Bruttobeträge: 1 Zeile 16 %, 2 Zeilen 34 %, 5 Zeilen 52 %, 10 Zeilen 66 %, 35 Zeilen 81 % treffen die Bonsumme ohne Umgehung nicht.</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Dank und Einladung, bei den Issues #164 und #163 auf GitHub mitzulesen und mitzudiskutieren.</a:t>
            </a:r>
          </a:p>
        </p:txBody>
      </p:sp>
      <p:sp>
        <p:nvSpPr>
          <p:cNvPr id="4" name="Slide Number Placeholder 3"/>
          <p:cNvSpPr>
            <a:spLocks noGrp="1"/>
          </p:cNvSpPr>
          <p:nvPr>
            <p:ph type="sldNum" sz="quarter" idx="10"/>
          </p:nvPr>
        </p:nvSpPr>
        <p:spPr/>
        <p:txBody>
          <a:bodyPr/>
          <a:lstStyle/>
          <a:p>
            <a:fld id="{F7021451-1387-4CA6-816F-3879F97B5CBC}" type="slidenum">
              <a:rPr lang="de-DE"/>
              <a:t>37</a:t>
            </a:fld>
            <a:endParaRPr lang="de-D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hyperlink" Target="https://github.com/ConnectingEurope/CEN-TC434-WG1/issues/164" TargetMode="External"/><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6.png"/><Relationship Id="rId9" Type="http://schemas.openxmlformats.org/officeDocument/2006/relationships/hyperlink" Target="https://svanteschubert.github.io/testy/CEN-TC434-WG1_2026_SvanteSchubert_Gross-Prices_DE.pdf" TargetMode="External"/><Relationship Id="rId10" Type="http://schemas.openxmlformats.org/officeDocument/2006/relationships/hyperlink" Target="https://github.com/ConnectingEurope/CEN-TC434-WG1/issues/163" TargetMode="External"/><Relationship Id="rId11"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3#issuecomment-6194501602" TargetMode="External"/><Relationship Id="rId7" Type="http://schemas.openxmlformats.org/officeDocument/2006/relationships/hyperlink" Target="https://github.com/ConnectingEurope/CEN-TC434-WG1/issues/164#issuecomment-6172327671" TargetMode="External"/><Relationship Id="rId8" Type="http://schemas.openxmlformats.org/officeDocument/2006/relationships/hyperlink" Target="https://github.com/ConnectingEurope/CEN-TC434-WG1/issues/163#issuecomment-6211803475" TargetMode="External"/><Relationship Id="rId9" Type="http://schemas.openxmlformats.org/officeDocument/2006/relationships/hyperlink" Target="https://github.com/ConnectingEurope/CEN-TC434-WG1/issues/164" TargetMode="External"/><Relationship Id="rId10" Type="http://schemas.openxmlformats.org/officeDocument/2006/relationships/hyperlink" Target="https://github.com/ConnectingEurope/CEN-TC434-WG1/issues/16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7" Type="http://schemas.openxmlformats.org/officeDocument/2006/relationships/hyperlink" Target="https://usth.bundesfinanzministerium.de/usth/2024/A-Umsatzsteuergesetz/IV-Steuer-und-Vorsteuer/Paragraf-14/inhalt.html" TargetMode="External"/><Relationship Id="rId8" Type="http://schemas.openxmlformats.org/officeDocument/2006/relationships/hyperlink" Target="https://www.gesetze-im-internet.de/ustg_1980/__10.html" TargetMode="External"/><Relationship Id="rId9" Type="http://schemas.openxmlformats.org/officeDocument/2006/relationships/hyperlink" Target="https://eur-lex.europa.eu/legal-content/DE/TXT/?uri=CELEX:62006CJ0484" TargetMode="External"/><Relationship Id="rId10" Type="http://schemas.openxmlformats.org/officeDocument/2006/relationships/hyperlink" Target="https://eur-lex.europa.eu/eli/dir/2006/112/2025-04-14/deu#art_226" TargetMode="External"/><Relationship Id="rId11" Type="http://schemas.openxmlformats.org/officeDocument/2006/relationships/hyperlink" Target="https://eur-lex.europa.eu/eli/dir/2006/112/2025-04-14/deu#art_206" TargetMode="External"/><Relationship Id="rId12" Type="http://schemas.openxmlformats.org/officeDocument/2006/relationships/hyperlink" Target="https://eur-lex.europa.eu/eli/dir/2025/516/oj/deu#art_5" TargetMode="External"/><Relationship Id="rId13" Type="http://schemas.openxmlformats.org/officeDocument/2006/relationships/hyperlink" Target="https://eur-lex.europa.eu/eli/dir/2006/112/2025-04-14/deu" TargetMode="External"/><Relationship Id="rId14" Type="http://schemas.openxmlformats.org/officeDocument/2006/relationships/hyperlink" Target="https://eur-lex.europa.eu/eli/dir/2006/112/2025-04-14/deu#art_16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linkedin.com/in/svante-schubert-291323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linkedin.com/in/svante-schubert-291323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hyperlink" Target="https://github.com/ConnectingEurope/CEN-TC434-WG1/issues/14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linkedin.com/in/svante-schubert-2913232/" TargetMode="External"/><Relationship Id="rId4"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issuecomment-619788143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 Id="rId5" Type="http://schemas.openxmlformats.org/officeDocument/2006/relationships/hyperlink" Target="https://eur-lex.europa.eu/eli/dir/2006/112/2025-04-14/deu#art_22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 TargetMode="External"/><Relationship Id="rId7" Type="http://schemas.openxmlformats.org/officeDocument/2006/relationships/hyperlink" Target="https://eur-lex.europa.eu/eli/dir/2006/112/2025-04-14/deu#art_226" TargetMode="External"/><Relationship Id="rId8" Type="http://schemas.openxmlformats.org/officeDocument/2006/relationships/hyperlink" Target="https://www.gesetze-im-internet.de/ustg_1980/__14.html" TargetMode="External"/><Relationship Id="rId9" Type="http://schemas.openxmlformats.org/officeDocument/2006/relationships/hyperlink" Target="https://usth.bundesfinanzministerium.de/usth/2024/A-Umsatzsteuergesetz/IV-Steuer-und-Vorsteuer/Paragraf-14/inhalt.html" TargetMode="External"/><Relationship Id="rId10"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11" Type="http://schemas.openxmlformats.org/officeDocument/2006/relationships/hyperlink" Target="https://www.gesetze-im-internet.de/ustg_1980/__10.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3" TargetMode="External"/><Relationship Id="rId7" Type="http://schemas.openxmlformats.org/officeDocument/2006/relationships/hyperlink" Target="https://github.com/ConnectingEurope/CEN-TC434-WG1/issues/164#issuecomment-6143641292" TargetMode="External"/><Relationship Id="rId8" Type="http://schemas.openxmlformats.org/officeDocument/2006/relationships/hyperlink" Target="https://github.com/ConnectingEurope/CEN-TC434-WG1/issues/163#issuecomment-621406280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hyperlink" Target="https://github.com/ConnectingEurope/CEN-TC434-WG1/issues/16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 Id="rId5" Type="http://schemas.openxmlformats.org/officeDocument/2006/relationships/hyperlink" Target="https://github.com/ConnectingEurope/CEN-TC434-WG1/issues/163" TargetMode="External"/><Relationship Id="rId6" Type="http://schemas.openxmlformats.org/officeDocument/2006/relationships/hyperlink" Target="https://github.com/svanteschubert/Saxon-HE-enhanced-accuracy" TargetMode="External"/><Relationship Id="rId7" Type="http://schemas.openxmlformats.org/officeDocument/2006/relationships/hyperlink" Target="https://github.com/ConnectingEurope/CEN-TC434-WG1/issues/163#issuecomment-619375885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eur-lex.europa.eu/eli/dir/2025/516/oj/deu#art_5" TargetMode="External"/><Relationship Id="rId7" Type="http://schemas.openxmlformats.org/officeDocument/2006/relationships/hyperlink" Target="https://eur-lex.europa.eu/eli/dir/2006/112/2025-04-14/deu#art_220a" TargetMode="External"/><Relationship Id="rId8" Type="http://schemas.openxmlformats.org/officeDocument/2006/relationships/hyperlink" Target="https://www.gesetze-im-internet.de/ustdv_1980/__33.html" TargetMode="External"/><Relationship Id="rId9"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32.png"/><Relationship Id="rId4" Type="http://schemas.openxmlformats.org/officeDocument/2006/relationships/hyperlink" Target="https://www.linkedin.com/in/svante-schubert-2913232/" TargetMode="External"/><Relationship Id="rId5" Type="http://schemas.openxmlformats.org/officeDocument/2006/relationships/hyperlink" Target="https://github.com/ConnectingEurope/CEN-TC434-WG1/issues/163#issuecomment-6194501602" TargetMode="External"/><Relationship Id="rId6" Type="http://schemas.openxmlformats.org/officeDocument/2006/relationships/hyperlink" Target="https://github.com/ConnectingEurope/CEN-TC434-WG1/issues/164#issuecomment-6172327671" TargetMode="External"/><Relationship Id="rId7" Type="http://schemas.openxmlformats.org/officeDocument/2006/relationships/hyperlink" Target="https://github.com/ConnectingEurope/CEN-TC434-WG1/issues/163#issuecomment-6211803475" TargetMode="External"/><Relationship Id="rId8" Type="http://schemas.openxmlformats.org/officeDocument/2006/relationships/hyperlink" Target="https://github.com/ConnectingEurope/CEN-TC434-WG1/issues/164" TargetMode="External"/><Relationship Id="rId9" Type="http://schemas.openxmlformats.org/officeDocument/2006/relationships/hyperlink" Target="https://github.com/ConnectingEurope/CEN-TC434-WG1/issues/163" TargetMode="External"/><Relationship Id="rId10" Type="http://schemas.openxmlformats.org/officeDocument/2006/relationships/notesSlide" Target="../notesSlides/notesSlide21.xml"/><Relationship Id="rId11" Type="http://schemas.openxmlformats.org/officeDocument/2006/relationships/hyperlink" Target="https://github.com/ConnectingEurope/CEN-TC434-WG1/issues/163#issuecomment-6214062803" TargetMode="External"/><Relationship Id="rId12" Type="http://schemas.openxmlformats.org/officeDocument/2006/relationships/hyperlink" Target="https://github.com/ConnectingEurope/CEN-TC434-WG1/issues/163#issuecomment-6222613541" TargetMode="External"/><Relationship Id="rId13" Type="http://schemas.openxmlformats.org/officeDocument/2006/relationships/hyperlink" Target="https://eur-lex.europa.eu/eli/dir/2025/516/oj/deu#art_5" TargetMode="External"/><Relationship Id="rId14" Type="http://schemas.openxmlformats.org/officeDocument/2006/relationships/hyperlink" Target="https://github.com/ConnectingEurope/CEN-TC434-WG1/issues/163#issuecomment-6263362779"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 TargetMode="External"/><Relationship Id="rId7" Type="http://schemas.openxmlformats.org/officeDocument/2006/relationships/hyperlink" Target="https://github.com/ConnectingEurope/CEN-TC434-WG1/issues/163"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jpg"/><Relationship Id="rId4" Type="http://schemas.openxmlformats.org/officeDocument/2006/relationships/image" Target="../media/image2.png"/><Relationship Id="rId5" Type="http://schemas.openxmlformats.org/officeDocument/2006/relationships/hyperlink" Target="https://github.com/ConnectingEurope/CEN-TC434-WG1/issues/163" TargetMode="External"/><Relationship Id="rId6" Type="http://schemas.openxmlformats.org/officeDocument/2006/relationships/hyperlink" Target="https://github.com/svanteschubert/CEN-TC434-WG3/issues" TargetMode="External"/><Relationship Id="rId7" Type="http://schemas.openxmlformats.org/officeDocument/2006/relationships/hyperlink" Target="https://github.com/svanteschubert/Saxon-HE-enhanced-accuracy" TargetMode="External"/><Relationship Id="rId8" Type="http://schemas.openxmlformats.org/officeDocument/2006/relationships/hyperlink" Target="https://github.com/qt4cg/qtspecs/issues/2935" TargetMode="External"/><Relationship Id="rId9" Type="http://schemas.openxmlformats.org/officeDocument/2006/relationships/hyperlink" Target="https://www.linkedin.com/in/svante-schubert-2913232/" TargetMode="External"/><Relationship Id="rId10" Type="http://schemas.openxmlformats.org/officeDocument/2006/relationships/hyperlink" Target="https://github.com/ConnectingEurope/CEN-TC434-WG1/issues/163" TargetMode="External"/><Relationship Id="rId11" Type="http://schemas.openxmlformats.org/officeDocument/2006/relationships/image" Target="../media/image38.png"/><Relationship Id="rId12" Type="http://schemas.openxmlformats.org/officeDocument/2006/relationships/image" Target="../media/image5.png"/><Relationship Id="rId13" Type="http://schemas.openxmlformats.org/officeDocument/2006/relationships/hyperlink" Target="https://github.com/ConnectingEurope/CEN-TC434-WG1/issues/164" TargetMode="External"/><Relationship Id="rId14"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15" Type="http://schemas.openxmlformats.org/officeDocument/2006/relationships/image" Target="../media/image7.png"/><Relationship Id="rId16" Type="http://schemas.openxmlformats.org/officeDocument/2006/relationships/hyperlink" Target="https://svanteschubert.github.io/testy/CEN-TC434-WG1_2026_SvanteSchubert_Gross-Prices_DE.pptx" TargetMode="External"/><Relationship Id="rId1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Folie 1">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9FB0D8"/>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44598F"/>
                </a:solidFill>
                <a:latin typeface="Inter Text" pitchFamily="34" charset="0"/>
                <a:ea typeface="Inter Text" pitchFamily="34" charset="-122"/>
                <a:cs typeface="Inter Text" pitchFamily="34" charset="-120"/>
              </a:rPr>
              <a:t>   ·   </a:t>
            </a:r>
            <a:r>
              <a:rPr lang="de-DE" sz="950" spc="100" dirty="0">
                <a:solidFill>
                  <a:srgbClr val="7E91C4"/>
                </a:solidFill>
                <a:latin typeface="Inter Text" pitchFamily="34" charset="0"/>
                <a:ea typeface="Inter Text" pitchFamily="34" charset="-122"/>
                <a:cs typeface="Inter Text" pitchFamily="34" charset="-120"/>
              </a:rPr>
              <a:t>EN 16931-1:2026 Amendment · Bruttopreise und Rundung</a:t>
            </a:r>
          </a:p>
        </p:txBody>
      </p:sp>
      <p:sp>
        <p:nvSpPr>
          <p:cNvPr id="5" name="Text 5"/>
          <p:cNvSpPr txBox="1"/>
          <p:nvPr/>
        </p:nvSpPr>
        <p:spPr>
          <a:xfrm>
            <a:off x="822960" y="1783080"/>
            <a:ext cx="8229600" cy="365760"/>
          </a:xfrm>
          <a:prstGeom prst="rect">
            <a:avLst/>
          </a:prstGeom>
          <a:noFill/>
          <a:ln/>
        </p:spPr>
        <p:txBody>
          <a:bodyPr wrap="square" lIns="0" tIns="0" rIns="0" bIns="0" rtlCol="0" anchor="ctr"/>
          <a:lstStyle/>
          <a:p>
            <a:pPr marL="0" indent="0" algn="l">
              <a:buNone/>
            </a:pPr>
            <a:r>
              <a:rPr lang="de-DE" sz="1400" spc="400" dirty="0">
                <a:solidFill>
                  <a:srgbClr val="19C3C8"/>
                </a:solidFill>
                <a:latin typeface="Inter SemiBold Text SemiBold" pitchFamily="34" charset="0"/>
                <a:ea typeface="Inter SemiBold Text SemiBold" pitchFamily="34" charset="-122"/>
                <a:cs typeface="Inter SemiBold Text SemiBold" pitchFamily="34" charset="-120"/>
              </a:rPr>
              <a:t>CEN/TC 434 WG1 · EN 16931-1:2026 AMENDMENT</a:t>
            </a:r>
          </a:p>
        </p:txBody>
      </p:sp>
      <p:sp>
        <p:nvSpPr>
          <p:cNvPr id="6" name="Text 6"/>
          <p:cNvSpPr txBox="1"/>
          <p:nvPr/>
        </p:nvSpPr>
        <p:spPr>
          <a:xfrm>
            <a:off x="795528" y="2240280"/>
            <a:ext cx="10515600" cy="2011680"/>
          </a:xfrm>
          <a:prstGeom prst="rect">
            <a:avLst/>
          </a:prstGeom>
          <a:noFill/>
          <a:ln/>
        </p:spPr>
        <p:txBody>
          <a:bodyPr wrap="square" lIns="0" tIns="0" rIns="0" bIns="0" rtlCol="0" anchor="t"/>
          <a:lstStyle/>
          <a:p>
            <a:pPr marL="0" indent="0" algn="l">
              <a:lnSpc>
                <a:spcPct val="98000"/>
              </a:lnSpc>
              <a:buNone/>
            </a:pPr>
            <a:r>
              <a:rPr lang="de-DE" sz="6000" dirty="0">
                <a:solidFill>
                  <a:srgbClr val="DCE6FF"/>
                </a:solidFill>
                <a:latin typeface="Inter Light Text Light" pitchFamily="34" charset="0"/>
                <a:ea typeface="Inter Light Text Light" pitchFamily="34" charset="-122"/>
                <a:cs typeface="Inter Light Text Light" pitchFamily="34" charset="-120"/>
              </a:rPr>
              <a:t>Bruttopreise in der</a:t>
            </a:r>
          </a:p>
          <a:p>
            <a:pPr marL="0" indent="0" algn="l">
              <a:lnSpc>
                <a:spcPct val="98000"/>
              </a:lnSpc>
              <a:buNone/>
            </a:pPr>
            <a:r>
              <a:rPr lang="de-DE" sz="6600" b="1" dirty="0">
                <a:solidFill>
                  <a:srgbClr val="FFFFFF"/>
                </a:solidFill>
                <a:latin typeface="Inter Text" pitchFamily="34" charset="0"/>
                <a:ea typeface="Inter Text" pitchFamily="34" charset="-122"/>
                <a:cs typeface="Inter Text" pitchFamily="34" charset="-120"/>
              </a:rPr>
              <a:t>EN 16931-1:2026</a:t>
            </a:r>
          </a:p>
        </p:txBody>
      </p:sp>
      <p:sp>
        <p:nvSpPr>
          <p:cNvPr id="7" name="Text 7"/>
          <p:cNvSpPr txBox="1"/>
          <p:nvPr/>
        </p:nvSpPr>
        <p:spPr>
          <a:xfrm>
            <a:off x="822960" y="4343400"/>
            <a:ext cx="8412480" cy="685800"/>
          </a:xfrm>
          <a:prstGeom prst="rect">
            <a:avLst/>
          </a:prstGeom>
          <a:noFill/>
          <a:ln/>
        </p:spPr>
        <p:txBody>
          <a:bodyPr wrap="square" lIns="0" tIns="0" rIns="0" bIns="0" rtlCol="0" anchor="t"/>
          <a:lstStyle/>
          <a:p>
            <a:pPr marL="0" indent="0" algn="l">
              <a:lnSpc>
                <a:spcPct val="115000"/>
              </a:lnSpc>
              <a:buNone/>
            </a:pPr>
            <a:r>
              <a:rPr lang="de-DE" sz="1600" dirty="0">
                <a:solidFill>
                  <a:srgbClr val="C4D2F4"/>
                </a:solidFill>
                <a:latin typeface="Inter Text" pitchFamily="34" charset="0"/>
                <a:ea typeface="Inter Text" pitchFamily="34" charset="-122"/>
                <a:cs typeface="Inter Text" pitchFamily="34" charset="-120"/>
              </a:rPr>
              <a:t>Vom vereinbarten Preis aus rechnen, nur einmal runden — Issues </a:t>
            </a:r>
            <a:r>
              <a:rPr lang="de-DE" sz="1600" dirty="0">
                <a:solidFill>
                  <a:srgbClr val="C4D2F4"/>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#164</a:t>
            </a:r>
            <a:r>
              <a:rPr lang="de-DE" sz="1600" dirty="0">
                <a:solidFill>
                  <a:srgbClr val="C4D2F4"/>
                </a:solidFill>
                <a:latin typeface="Inter Text" pitchFamily="34" charset="0"/>
                <a:ea typeface="Inter Text" pitchFamily="34" charset="-122"/>
                <a:cs typeface="Inter Text" pitchFamily="34" charset="-120"/>
              </a:rPr>
              <a:t> und </a:t>
            </a:r>
            <a:r>
              <a:rPr lang="de-DE" sz="1600" dirty="0">
                <a:solidFill>
                  <a:srgbClr val="C4D2F4"/>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#163</a:t>
            </a:r>
            <a:r>
              <a:rPr lang="de-DE" sz="1600" dirty="0">
                <a:solidFill>
                  <a:srgbClr val="C4D2F4"/>
                </a:solidFill>
                <a:latin typeface="Inter Text" pitchFamily="34" charset="0"/>
                <a:ea typeface="Inter Text" pitchFamily="34" charset="-122"/>
                <a:cs typeface="Inter Text" pitchFamily="34" charset="-120"/>
              </a:rPr>
              <a:t>.</a:t>
            </a:r>
          </a:p>
        </p:txBody>
      </p:sp>
      <p:sp>
        <p:nvSpPr>
          <p:cNvPr id="8" name="Shape 8"/>
          <p:cNvSpPr/>
          <p:nvPr/>
        </p:nvSpPr>
        <p:spPr>
          <a:xfrm>
            <a:off x="822960" y="5532120"/>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9" name="Image 9"/>
          <p:cNvPicPr>
            <a:picLocks noChangeAspect="1"/>
          </p:cNvPicPr>
          <p:nvPr/>
        </p:nvPicPr>
        <p:blipFill>
          <a:blip r:embed="rId4"/>
          <a:stretch>
            <a:fillRect/>
          </a:stretch>
        </p:blipFill>
        <p:spPr>
          <a:xfrm>
            <a:off x="941832" y="5650992"/>
            <a:ext cx="219456" cy="219456"/>
          </a:xfrm>
          <a:prstGeom prst="rect">
            <a:avLst/>
          </a:prstGeom>
        </p:spPr>
      </p:pic>
      <p:sp>
        <p:nvSpPr>
          <p:cNvPr id="10" name="Text 10"/>
          <p:cNvSpPr txBox="1"/>
          <p:nvPr/>
        </p:nvSpPr>
        <p:spPr>
          <a:xfrm>
            <a:off x="1463040" y="5486400"/>
            <a:ext cx="7315200" cy="566928"/>
          </a:xfrm>
          <a:prstGeom prst="rect">
            <a:avLst/>
          </a:prstGeom>
          <a:noFill/>
          <a:ln/>
        </p:spPr>
        <p:txBody>
          <a:bodyPr wrap="square" lIns="0" tIns="0" rIns="0" bIns="0" rtlCol="0" anchor="ctr"/>
          <a:lstStyle/>
          <a:p>
            <a:pPr marL="0" indent="0" algn="l">
              <a:lnSpc>
                <a:spcPct val="105000"/>
              </a:lnSpc>
              <a:buNone/>
            </a:pPr>
            <a:r>
              <a:rPr lang="de-DE" sz="14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05000"/>
              </a:lnSpc>
              <a:buNone/>
            </a:pPr>
            <a:r>
              <a:rPr lang="de-DE" sz="1200" dirty="0">
                <a:solidFill>
                  <a:srgbClr val="C4D2F4"/>
                </a:solidFill>
                <a:latin typeface="Inter Text" pitchFamily="34" charset="0"/>
                <a:ea typeface="Inter Text" pitchFamily="34" charset="-122"/>
                <a:cs typeface="Inter Text" pitchFamily="34" charset="-120"/>
              </a:rPr>
              <a:t>Editor der Syntax-Bindings · CEN/TC 434 WG3 · für DIN</a:t>
            </a:r>
          </a:p>
        </p:txBody>
      </p:sp>
      <p:sp>
        <p:nvSpPr>
          <p:cNvPr id="11" name="QR Card pdf"/>
          <p:cNvSpPr/>
          <p:nvPr/>
        </p:nvSpPr>
        <p:spPr>
          <a:xfrm>
            <a:off x="9537192" y="2359152"/>
            <a:ext cx="1828800" cy="182880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de-DE"/>
          </a:p>
        </p:txBody>
      </p:sp>
      <p:pic>
        <p:nvPicPr>
          <p:cNvPr id="12" name="QR Slides pdf" descr="QR code: slides as PDF (https://svanteschubert.github.io/testy/ZUGFeRD_Entwicklertage_2026_SvanteSchubert_Syntax-Binding_EN.pdf)">
            <a:hlinkClick r:id="rId9"/>
          </p:cNvPr>
          <p:cNvPicPr>
            <a:picLocks noChangeAspect="1"/>
          </p:cNvPicPr>
          <p:nvPr/>
        </p:nvPicPr>
        <p:blipFill>
          <a:blip r:embed="rId11"/>
          <a:stretch>
            <a:fillRect/>
          </a:stretch>
        </p:blipFill>
        <p:spPr>
          <a:xfrm>
            <a:off x="9610344" y="2432304"/>
            <a:ext cx="1682496" cy="1682496"/>
          </a:xfrm>
          <a:prstGeom prst="rect">
            <a:avLst/>
          </a:prstGeom>
        </p:spPr>
      </p:pic>
      <p:sp>
        <p:nvSpPr>
          <p:cNvPr id="13" name="QR Caption pdf">
            <a:hlinkClick r:id="rId9"/>
          </p:cNvPr>
          <p:cNvSpPr txBox="1"/>
          <p:nvPr/>
        </p:nvSpPr>
        <p:spPr>
          <a:xfrm>
            <a:off x="9171432" y="4242816"/>
            <a:ext cx="2560320" cy="256032"/>
          </a:xfrm>
          <a:prstGeom prst="rect">
            <a:avLst/>
          </a:prstGeom>
          <a:noFill/>
          <a:ln/>
        </p:spPr>
        <p:txBody>
          <a:bodyPr wrap="square" lIns="0" tIns="0" rIns="0" bIns="0" rtlCol="0" anchor="ctr"/>
          <a:lstStyle/>
          <a:p>
            <a:pPr marL="0" indent="0" algn="ctr">
              <a:buNone/>
            </a:pPr>
            <a:r>
              <a:rPr lang="de-DE" sz="1000" spc="100" dirty="0">
                <a:solidFill>
                  <a:srgbClr val="C4D2F4"/>
                </a:solidFill>
                <a:latin typeface="Inter Medium Text Medium" pitchFamily="34" charset="0"/>
                <a:ea typeface="Inter Medium Text Medium" pitchFamily="34" charset="-122"/>
                <a:cs typeface="Inter Medium Text Medium" pitchFamily="34" charset="-120"/>
              </a:rPr>
              <a:t>Folien als PDF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GEMEINSAME BASIS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Was wir alle wollen</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Am Ende wollen wir alle genaue Daten — und diese Ziele schließen sich nicht aus.</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2</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Richtige USt, auf den Cent</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Jede Rechnung gibt den vereinbarten Preis wieder</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USt centgenau, wie es das Steuerrecht verlangt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„Buchhaltung ist zu 100 % korrekt oder nicht“ (</a:t>
            </a:r>
            <a:r>
              <a:rPr lang="de-DE"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Paul Simons</a:t>
            </a:r>
            <a:r>
              <a:rPr lang="de-DE" sz="1200" dirty="0">
                <a:solidFill>
                  <a:srgbClr val="5B6890"/>
                </a:solidFill>
                <a:latin typeface="Inter Text" pitchFamily="34" charset="0"/>
                <a:ea typeface="Inter Text" pitchFamily="34" charset="-122"/>
                <a:cs typeface="Inter Text" pitchFamily="34" charset="-120"/>
              </a:rPr>
              <a:t>)</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Funktionierende Software funktioniert weiter</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Rechnungen mit 2 Nachkommastellen bleiben konform</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„Unternehmen nicht zwingen“ (</a:t>
            </a:r>
            <a:r>
              <a:rPr lang="de-DE"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Cyrille Sautereau</a:t>
            </a:r>
            <a:r>
              <a:rPr lang="de-DE"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5 Millionen Unternehmen in Frankreich, 1,2 Millionen in Belgien</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EINE STABILE NORM</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Der Kern ist, was jeder Empfänger annimmt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Keine Anforderung an Software: kein neues Minimum an Nachkommastellen</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Ergänzungen sind optionale Wege; das Nettomodell bleibt, wie es ist</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Syntax unverändert: Beträge sind xsd:decimal in UBL und CII</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Ziel dieser Sitzung:  </a:t>
            </a:r>
            <a:r>
              <a:rPr lang="de-DE" sz="1100" dirty="0">
                <a:solidFill>
                  <a:srgbClr val="5B6890"/>
                </a:solidFill>
                <a:latin typeface="Inter Text" pitchFamily="34" charset="0"/>
                <a:ea typeface="Inter Text" pitchFamily="34" charset="-122"/>
                <a:cs typeface="Inter Text" pitchFamily="34" charset="-120"/>
              </a:rPr>
              <a:t>zwei Entscheidungen der WG1 — Bruttopreise im Kern </a:t>
            </a:r>
            <a:r>
              <a:rPr lang="de-DE" sz="11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(#164)</a:t>
            </a:r>
            <a:r>
              <a:rPr lang="de-DE" sz="1100" dirty="0">
                <a:solidFill>
                  <a:srgbClr val="5B6890"/>
                </a:solidFill>
                <a:latin typeface="Inter Text" pitchFamily="34" charset="0"/>
                <a:ea typeface="Inter Text" pitchFamily="34" charset="-122"/>
                <a:cs typeface="Inter Text" pitchFamily="34" charset="-120"/>
              </a:rPr>
              <a:t> und keine erzwungene Rundung </a:t>
            </a:r>
            <a:r>
              <a:rPr lang="de-DE" sz="1100" dirty="0">
                <a:solidFill>
                  <a:srgbClr val="5B6890"/>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(#163)</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RECHTSGRUNDLAGE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Was das Gesetz verlangt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Die Rechnung muss Entgelt und USt genau wiedergeben.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3</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USt auf den Cent</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Nach Cent genau berechnet, kaufmännisch gerundet (</a:t>
            </a:r>
            <a:r>
              <a:rPr lang="de-DE"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BMF-Schreiben vom 15.10.2026</a:t>
            </a:r>
            <a:r>
              <a:rPr lang="de-DE" sz="1200" dirty="0">
                <a:solidFill>
                  <a:srgbClr val="5B6890"/>
                </a:solidFill>
                <a:latin typeface="Inter Text" pitchFamily="34" charset="0"/>
                <a:ea typeface="Inter Text" pitchFamily="34" charset="-122"/>
                <a:cs typeface="Inter Text" pitchFamily="34" charset="-120"/>
              </a:rPr>
              <a:t>, Rn. 17; </a:t>
            </a:r>
            <a:r>
              <a:rPr lang="de-DE"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UStAE 14.5 Abs. 20</a:t>
            </a:r>
            <a:r>
              <a:rPr lang="de-DE"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Entgelt = Gegenleistung abzüglich USt (</a:t>
            </a:r>
            <a:r>
              <a:rPr lang="de-DE"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 10 Abs. 1 UStG</a:t>
            </a:r>
            <a:r>
              <a:rPr lang="de-DE" sz="1200" dirty="0">
                <a:solidFill>
                  <a:srgbClr val="5B6890"/>
                </a:solidFill>
                <a:latin typeface="Inter Text" pitchFamily="34" charset="0"/>
                <a:ea typeface="Inter Text" pitchFamily="34" charset="-122"/>
                <a:cs typeface="Inter Text" pitchFamily="34" charset="-120"/>
              </a:rPr>
              <a:t>)</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Proportional und genau</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USt genau proportional zum Preis (</a:t>
            </a:r>
            <a:r>
              <a:rPr lang="de-DE" sz="12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EuGH Ahold, C-484/06</a:t>
            </a:r>
            <a:r>
              <a:rPr lang="de-DE" sz="1200" dirty="0">
                <a:solidFill>
                  <a:srgbClr val="5B6890"/>
                </a:solidFill>
                <a:latin typeface="Inter Text" pitchFamily="34" charset="0"/>
                <a:ea typeface="Inter Text" pitchFamily="34" charset="-122"/>
                <a:cs typeface="Inter Text" pitchFamily="34" charset="-120"/>
              </a:rPr>
              <a:t>, Rn. 38)</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Runden nur, wo nötig, und so genau wie möglich (Rn. 39)</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RECHNUNGSINHALT UND MELDUNG</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Art. 226 Nr. 8</a:t>
            </a:r>
            <a:r>
              <a:rPr lang="de-DE" sz="1250" dirty="0">
                <a:solidFill>
                  <a:srgbClr val="FFFFFF"/>
                </a:solidFill>
                <a:latin typeface="Inter Text" pitchFamily="34" charset="0"/>
                <a:ea typeface="Inter Text" pitchFamily="34" charset="-122"/>
                <a:cs typeface="Inter Text" pitchFamily="34" charset="-120"/>
              </a:rPr>
              <a:t>: Bemessungsgrundlage je Steuersatz, Preis je Einheit ohne MwSt.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11">
                  <a:extLst>
                    <a:ext uri="{A12FA001-AC4F-418D-AE19-62706E023703}">
                      <ahyp:hlinkClr xmlns:ahyp="http://schemas.microsoft.com/office/drawing/2018/hyperlinkcolor" val="tx"/>
                    </a:ext>
                  </a:extLst>
                </a:hlinkClick>
              </a:rPr>
              <a:t>Art. 206</a:t>
            </a:r>
            <a:r>
              <a:rPr lang="de-DE" sz="1250" dirty="0">
                <a:solidFill>
                  <a:srgbClr val="FFFFFF"/>
                </a:solidFill>
                <a:latin typeface="Inter Text" pitchFamily="34" charset="0"/>
                <a:ea typeface="Inter Text" pitchFamily="34" charset="-122"/>
                <a:cs typeface="Inter Text" pitchFamily="34" charset="-120"/>
              </a:rPr>
              <a:t>, </a:t>
            </a:r>
            <a:r>
              <a:rPr lang="de-DE" sz="1250" dirty="0">
                <a:solidFill>
                  <a:srgbClr val="FFFFFF"/>
                </a:solidFill>
                <a:latin typeface="Inter Text" pitchFamily="34" charset="0"/>
                <a:ea typeface="Inter Text" pitchFamily="34" charset="-122"/>
                <a:cs typeface="Inter Text" pitchFamily="34" charset="-120"/>
                <a:hlinkClick r:id="rId14">
                  <a:extLst>
                    <a:ext uri="{A12FA001-AC4F-418D-AE19-62706E023703}">
                      <ahyp:hlinkClr xmlns:ahyp="http://schemas.microsoft.com/office/drawing/2018/hyperlinkcolor" val="tx"/>
                    </a:ext>
                  </a:extLst>
                </a:hlinkClick>
              </a:rPr>
              <a:t>168</a:t>
            </a:r>
            <a:r>
              <a:rPr lang="de-DE" sz="1250" dirty="0">
                <a:solidFill>
                  <a:srgbClr val="FFFFFF"/>
                </a:solidFill>
                <a:latin typeface="Inter Text" pitchFamily="34" charset="0"/>
                <a:ea typeface="Inter Text" pitchFamily="34" charset="-122"/>
                <a:cs typeface="Inter Text" pitchFamily="34" charset="-120"/>
              </a:rPr>
              <a:t>: Der Verkäufer zahlt die USt, der Käufer zieht sie ab</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Neuer Art. 232 (ViDA)</a:t>
            </a:r>
            <a:r>
              <a:rPr lang="de-DE" sz="1250" dirty="0">
                <a:solidFill>
                  <a:srgbClr val="FFFFFF"/>
                </a:solidFill>
                <a:latin typeface="Inter Text" pitchFamily="34" charset="0"/>
                <a:ea typeface="Inter Text" pitchFamily="34" charset="-122"/>
                <a:cs typeface="Inter Text" pitchFamily="34" charset="-120"/>
              </a:rPr>
              <a:t>: Eine EN-16931-Rechnung braucht keine Zustimmung</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Neuer Art. 263 Abs. 3 (ViDA)</a:t>
            </a:r>
            <a:r>
              <a:rPr lang="de-DE" sz="1250" dirty="0">
                <a:solidFill>
                  <a:srgbClr val="FFFFFF"/>
                </a:solidFill>
                <a:latin typeface="Inter Text" pitchFamily="34" charset="0"/>
                <a:ea typeface="Inter Text" pitchFamily="34" charset="-122"/>
                <a:cs typeface="Inter Text" pitchFamily="34" charset="-120"/>
              </a:rPr>
              <a:t>: DRR nimmt EN-konforme Daten an</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Quellen:  </a:t>
            </a:r>
            <a:r>
              <a:rPr lang="de-DE" sz="1100" dirty="0">
                <a:solidFill>
                  <a:srgbClr val="5B6890"/>
                </a:solidFill>
                <a:latin typeface="Inter Text" pitchFamily="34" charset="0"/>
                <a:ea typeface="Inter Text" pitchFamily="34" charset="-122"/>
                <a:cs typeface="Inter Text" pitchFamily="34" charset="-120"/>
                <a:hlinkClick r:id="rId13">
                  <a:extLst>
                    <a:ext uri="{A12FA001-AC4F-418D-AE19-62706E023703}">
                      <ahyp:hlinkClr xmlns:ahyp="http://schemas.microsoft.com/office/drawing/2018/hyperlinkcolor" val="tx"/>
                    </a:ext>
                  </a:extLst>
                </a:hlinkClick>
              </a:rPr>
              <a:t>MwStSystRL 2006/112/EG</a:t>
            </a:r>
            <a:r>
              <a:rPr lang="de-DE" sz="1100" dirty="0">
                <a:solidFill>
                  <a:srgbClr val="5B6890"/>
                </a:solidFill>
                <a:latin typeface="Inter Text" pitchFamily="34" charset="0"/>
                <a:ea typeface="Inter Text" pitchFamily="34" charset="-122"/>
                <a:cs typeface="Inter Text" pitchFamily="34" charset="-120"/>
              </a:rPr>
              <a:t> · ViDA, </a:t>
            </a:r>
            <a:r>
              <a:rPr lang="de-DE" sz="1100" dirty="0">
                <a:solidFill>
                  <a:srgbClr val="5B6890"/>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Richtlinie (EU) 2025/516</a:t>
            </a:r>
            <a:r>
              <a:rPr lang="de-DE" sz="1100" dirty="0">
                <a:solidFill>
                  <a:srgbClr val="5B6890"/>
                </a:solidFill>
                <a:latin typeface="Inter Text" pitchFamily="34" charset="0"/>
                <a:ea typeface="Inter Text" pitchFamily="34" charset="-122"/>
                <a:cs typeface="Inter Text" pitchFamily="34" charset="-120"/>
              </a:rPr>
              <a:t> · </a:t>
            </a:r>
            <a:r>
              <a:rPr lang="de-DE" sz="11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EuGH C-484/06</a:t>
            </a:r>
            <a:r>
              <a:rPr lang="de-DE" sz="1100" dirty="0">
                <a:solidFill>
                  <a:srgbClr val="5B6890"/>
                </a:solidFill>
                <a:latin typeface="Inter Text" pitchFamily="34" charset="0"/>
                <a:ea typeface="Inter Text" pitchFamily="34" charset="-122"/>
                <a:cs typeface="Inter Text" pitchFamily="34" charset="-120"/>
              </a:rPr>
              <a:t> · </a:t>
            </a:r>
            <a:r>
              <a:rPr lang="de-DE"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BMF-Schreiben vom 15.10.2026</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EN 16931-1:2026 · HEUTE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Die Norm widerspricht sich selbst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6.5.14 verbietet Zwischenrundungen — Tabelle 28 erzwingt sie.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4</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6.5.14: nur Endergebnisse runden</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 on the final calculation results and not on any intermediate results”</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Dasselbe Prinzip stand schon in der Ausgabe 2017</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Tabelle 28: maximale Nachkommastellen</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100" dirty="0">
                <a:solidFill>
                  <a:srgbClr val="5B6890"/>
                </a:solidFill>
                <a:latin typeface="Inter Text" pitchFamily="34" charset="0"/>
                <a:ea typeface="Inter Text" pitchFamily="34" charset="-122"/>
                <a:cs typeface="Inter Text" pitchFamily="34" charset="-120"/>
              </a:rPr>
              <a:t>BT-146 Nettopreis des Artikels: Minor Unit + 2 (neu 2026)</a:t>
            </a:r>
          </a:p>
          <a:p>
            <a:pPr marL="164592" indent="-164592" algn="l">
              <a:spcAft>
                <a:spcPts val="200"/>
              </a:spcAft>
              <a:buSzPct val="100000"/>
              <a:buChar char="•"/>
            </a:pPr>
            <a:r>
              <a:rPr lang="de-DE" sz="1100" dirty="0">
                <a:solidFill>
                  <a:srgbClr val="5B6890"/>
                </a:solidFill>
                <a:latin typeface="Inter Text" pitchFamily="34" charset="0"/>
                <a:ea typeface="Inter Text" pitchFamily="34" charset="-122"/>
                <a:cs typeface="Inter Text" pitchFamily="34" charset="-120"/>
              </a:rPr>
              <a:t>BT-131 Nettobetrag der Rechnungsposition und alle Summen: Minor Unit</a:t>
            </a:r>
          </a:p>
          <a:p>
            <a:pPr marL="164592" indent="-164592" algn="l">
              <a:spcAft>
                <a:spcPts val="200"/>
              </a:spcAft>
              <a:buSzPct val="100000"/>
              <a:buChar char="•"/>
            </a:pPr>
            <a:r>
              <a:rPr lang="de-DE" sz="1100" dirty="0">
                <a:solidFill>
                  <a:srgbClr val="5B6890"/>
                </a:solidFill>
                <a:latin typeface="Inter Text" pitchFamily="34" charset="0"/>
                <a:ea typeface="Inter Text" pitchFamily="34" charset="-122"/>
                <a:cs typeface="Inter Text" pitchFamily="34" charset="-120"/>
              </a:rPr>
              <a:t>BT-129 in Rechnung gestellte Menge: 4 NK, BT-149: 2 NK (neu 2026)</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FOLGEN</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Jede Regel startet mit gerundeten Werten — die Fehler summieren sich</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Toleranzen bis 1 € (BR-S-9) verdecken die Abweichung</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a:t>
            </a:r>
            <a:r>
              <a:rPr lang="de-DE" sz="1250" dirty="0">
                <a:solidFill>
                  <a:srgbClr val="FFFFFF"/>
                </a:solidFill>
                <a:latin typeface="Inter Text" pitchFamily="34" charset="0"/>
                <a:ea typeface="Inter Text" pitchFamily="34" charset="-122"/>
                <a:cs typeface="Inter Text" pitchFamily="34" charset="-120"/>
              </a:rPr>
              <a:t>: Norm und steuerliche Rundungsregel nicht beide einhaltbar (Rn. 18)</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Als Nächstes: die Rechenketten 2017 und 2026 und ihr Worst Case</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2017:  </a:t>
            </a:r>
            <a:r>
              <a:rPr lang="de-DE" sz="1100" dirty="0">
                <a:solidFill>
                  <a:srgbClr val="5B6890"/>
                </a:solidFill>
                <a:latin typeface="Inter Text" pitchFamily="34" charset="0"/>
                <a:ea typeface="Inter Text" pitchFamily="34" charset="-122"/>
                <a:cs typeface="Inter Text" pitchFamily="34" charset="-120"/>
              </a:rPr>
              <a:t>nur Beträge waren begrenzt — Preise und Mengen hatten kein Maximum (Tabelle 26)</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olie 28">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RECHENKETTE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Vom Bruttopreis über Nettopreis zur USt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CF4905E-37B2-437C-A529-BB0811F32B64}"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5</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177186" cy="329184"/>
          </a:xfrm>
          <a:prstGeom prst="rect">
            <a:avLst/>
          </a:prstGeom>
          <a:noFill/>
          <a:ln/>
        </p:spPr>
        <p:txBody>
          <a:bodyPr wrap="non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Eine Zwischenrundung:</a:t>
            </a:r>
          </a:p>
        </p:txBody>
      </p:sp>
      <p:sp>
        <p:nvSpPr>
          <p:cNvPr id="9" name="Pill 9"/>
          <p:cNvSpPr/>
          <p:nvPr/>
        </p:nvSpPr>
        <p:spPr>
          <a:xfrm>
            <a:off x="3109874" y="1856232"/>
            <a:ext cx="2926080"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de-DE" sz="1200" dirty="0">
                <a:solidFill>
                  <a:srgbClr val="C25700"/>
                </a:solidFill>
                <a:latin typeface="Inter SemiBold Text SemiBold" pitchFamily="34" charset="0"/>
                <a:ea typeface="Inter SemiBold Text SemiBold" pitchFamily="34" charset="-122"/>
                <a:cs typeface="Inter SemiBold Text SemiBold" pitchFamily="34" charset="-120"/>
              </a:rPr>
              <a:t>BT-131 auf 2 Nachkommastellen</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de-DE"/>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de-DE" sz="850" spc="150" dirty="0">
                <a:solidFill>
                  <a:srgbClr val="2F7FD8"/>
                </a:solidFill>
                <a:latin typeface="Inter SemiBold Text SemiBold" pitchFamily="34" charset="0"/>
                <a:ea typeface="Inter SemiBold Text SemiBold" pitchFamily="34" charset="-122"/>
                <a:cs typeface="Inter SemiBold Text SemiBold" pitchFamily="34" charset="-120"/>
              </a:rPr>
              <a:t>EINGABE- &amp; ZWISCHENWERTE</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de-DE"/>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de-DE" sz="850" spc="150" dirty="0">
                <a:solidFill>
                  <a:srgbClr val="7B57D1"/>
                </a:solidFill>
                <a:latin typeface="Inter SemiBold Text SemiBold" pitchFamily="34" charset="0"/>
                <a:ea typeface="Inter SemiBold Text SemiBold" pitchFamily="34" charset="-122"/>
                <a:cs typeface="Inter SemiBold Text SemiBold" pitchFamily="34" charset="-120"/>
              </a:rPr>
              <a:t>ENDERGEBNISSE</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Nettopreis des Artikels</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de-DE"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de-DE" sz="1150" dirty="0">
                <a:solidFill>
                  <a:srgbClr val="5B6890"/>
                </a:solidFill>
                <a:latin typeface="Inter SemiBold Text SemiBold" pitchFamily="34" charset="0"/>
                <a:ea typeface="Inter SemiBold Text SemiBold" pitchFamily="34" charset="-122"/>
                <a:cs typeface="Inter SemiBold Text SemiBold" pitchFamily="34" charset="-120"/>
              </a:rPr>
              <a:t>unbegrenzt</a:t>
            </a:r>
          </a:p>
          <a:p>
            <a:pPr marL="0" indent="0" algn="ctr">
              <a:buNone/>
            </a:pPr>
            <a:r>
              <a:rPr lang="de-DE" sz="800" dirty="0">
                <a:solidFill>
                  <a:srgbClr val="5B6890"/>
                </a:solidFill>
                <a:latin typeface="Inter Text" pitchFamily="34" charset="0"/>
                <a:ea typeface="Inter Text" pitchFamily="34" charset="-122"/>
                <a:cs typeface="Inter Text" pitchFamily="34" charset="-120"/>
              </a:rPr>
              <a:t>ungerundet</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de-DE" sz="1300" b="1" dirty="0">
                <a:solidFill>
                  <a:srgbClr val="1A2B5E"/>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exakt angegeben</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Nettobetrag der Rechnungsposition</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de-DE"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0,005 €</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je Zeile</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de-DE" sz="850" dirty="0">
                <a:solidFill>
                  <a:srgbClr val="1A2B5E"/>
                </a:solidFill>
                <a:latin typeface="Inter SemiBold Text SemiBold" pitchFamily="34" charset="0"/>
                <a:ea typeface="Inter SemiBold Text SemiBold" pitchFamily="34" charset="-122"/>
                <a:cs typeface="Inter SemiBold Text SemiBold" pitchFamily="34" charset="-120"/>
              </a:rPr>
              <a:t>Summe der Nettobeträge aller Rechnungspositionen</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C0392B"/>
                </a:solidFill>
                <a:latin typeface="Inter Text" pitchFamily="34" charset="0"/>
                <a:ea typeface="Inter Text" pitchFamily="34" charset="-122"/>
                <a:cs typeface="Inter Text" pitchFamily="34" charset="-120"/>
              </a:rPr>
              <a:t>Σ gerundeter Werte</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0,50 €</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 100 Zeilen</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Steuerbasisbetrag</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de-DE" sz="800" dirty="0">
                <a:solidFill>
                  <a:srgbClr val="5B6890"/>
                </a:solidFill>
                <a:latin typeface="Inter Text" pitchFamily="34" charset="0"/>
                <a:ea typeface="Inter Text" pitchFamily="34" charset="-122"/>
                <a:cs typeface="Inter Text" pitchFamily="34" charset="-120"/>
              </a:rPr>
              <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de-DE"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0,50 €</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Σ gerundeter Zeilen</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Steuerbetrag</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de-DE"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0,10 €</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0,50 € × 19 %</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Gesamtbetrag der Rechnungsumsatzsteuer</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de-DE"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C0392B"/>
                </a:solidFill>
                <a:latin typeface="Inter Text" pitchFamily="34" charset="0"/>
                <a:ea typeface="Inter Text" pitchFamily="34" charset="-122"/>
                <a:cs typeface="Inter Text" pitchFamily="34" charset="-120"/>
              </a:rPr>
              <a:t>Σ gerundeter Werte</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0,10 €</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de-DE"/>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de-DE" sz="950" spc="120" dirty="0">
                <a:solidFill>
                  <a:srgbClr val="7DB3FF"/>
                </a:solidFill>
                <a:latin typeface="Inter SemiBold Text SemiBold" pitchFamily="34" charset="0"/>
                <a:ea typeface="Inter SemiBold Text SemiBold" pitchFamily="34" charset="-122"/>
                <a:cs typeface="Inter SemiBold Text SemiBold" pitchFamily="34" charset="-120"/>
              </a:rPr>
              <a:t>ERLAUBTE NACHKOMMASTELLEN</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de-DE"/>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de-DE" sz="950" spc="120" dirty="0">
                <a:solidFill>
                  <a:srgbClr val="B9A2FF"/>
                </a:solidFill>
                <a:latin typeface="Inter SemiBold Text SemiBold" pitchFamily="34" charset="0"/>
                <a:ea typeface="Inter SemiBold Text SemiBold" pitchFamily="34" charset="-122"/>
                <a:cs typeface="Inter SemiBold Text SemiBold" pitchFamily="34" charset="-120"/>
              </a:rPr>
              <a:t>NACHKOMMASTELLEN · ENDWERTE</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de-DE" sz="75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de-DE" sz="750" dirty="0">
                <a:solidFill>
                  <a:srgbClr val="9AA4C2"/>
                </a:solidFill>
                <a:latin typeface="Inter Text" pitchFamily="34" charset="0"/>
                <a:ea typeface="Inter Text" pitchFamily="34" charset="-122"/>
                <a:cs typeface="Inter Text" pitchFamily="34" charset="-120"/>
              </a:rPr>
              <a:t>Kategoriespezifischer Steuerbasisbetrag</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2 NK</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de-DE" sz="75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de-DE" sz="750" dirty="0">
                <a:solidFill>
                  <a:srgbClr val="9AA4C2"/>
                </a:solidFill>
                <a:latin typeface="Inter Text" pitchFamily="34" charset="0"/>
                <a:ea typeface="Inter Text" pitchFamily="34" charset="-122"/>
                <a:cs typeface="Inter Text" pitchFamily="34" charset="-120"/>
              </a:rPr>
              <a:t>Kategoriespezifischer Steuerbetrag</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2 NK</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de-DE" sz="75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de-DE" sz="750" dirty="0">
                <a:solidFill>
                  <a:srgbClr val="9AA4C2"/>
                </a:solidFill>
                <a:latin typeface="Inter Text" pitchFamily="34" charset="0"/>
                <a:ea typeface="Inter Text" pitchFamily="34" charset="-122"/>
                <a:cs typeface="Inter Text" pitchFamily="34" charset="-120"/>
              </a:rPr>
              <a:t>Gesamtbetrag der Rechnungsumsatzsteuer</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2 NK</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de-DE"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de-DE" sz="950" dirty="0">
                <a:solidFill>
                  <a:srgbClr val="9AA4C2"/>
                </a:solidFill>
                <a:latin typeface="Inter Text" pitchFamily="34" charset="0"/>
                <a:ea typeface="Inter Text" pitchFamily="34" charset="-122"/>
                <a:cs typeface="Inter Text" pitchFamily="34" charset="-120"/>
              </a:rPr>
              <a:t>mit Zeilenanzahl und Menge:</a:t>
            </a:r>
          </a:p>
          <a:p>
            <a:pPr marL="0" indent="0" algn="l">
              <a:buNone/>
            </a:pPr>
            <a:r>
              <a:rPr lang="de-DE" sz="950" dirty="0">
                <a:solidFill>
                  <a:srgbClr val="9AA4C2"/>
                </a:solidFill>
                <a:latin typeface="Inter Text" pitchFamily="34" charset="0"/>
                <a:ea typeface="Inter Text" pitchFamily="34" charset="-122"/>
                <a:cs typeface="Inter Text" pitchFamily="34" charset="-120"/>
              </a:rPr>
              <a:t>→ „Wie groß wird die Abweichung?“</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de-DE" sz="850" dirty="0">
                <a:solidFill>
                  <a:srgbClr val="C0392B"/>
                </a:solidFill>
                <a:latin typeface="Inter SemiBold Text SemiBold" pitchFamily="34" charset="0"/>
                <a:ea typeface="Inter SemiBold Text SemiBold" pitchFamily="34" charset="-122"/>
                <a:cs typeface="Inter SemiBold Text SemiBold" pitchFamily="34" charset="-120"/>
              </a:rPr>
              <a:t>Rot</a:t>
            </a:r>
            <a:r>
              <a:rPr lang="de-DE" sz="850" dirty="0">
                <a:solidFill>
                  <a:srgbClr val="9AA4C2"/>
                </a:solidFill>
                <a:latin typeface="Inter Text" pitchFamily="34" charset="0"/>
                <a:ea typeface="Inter Text" pitchFamily="34" charset="-122"/>
                <a:cs typeface="Inter Text" pitchFamily="34" charset="-120"/>
              </a:rPr>
              <a:t> = gerundeter Zwischenwert   </a:t>
            </a:r>
            <a:r>
              <a:rPr lang="de-DE" sz="850" dirty="0">
                <a:solidFill>
                  <a:srgbClr val="1E8A4C"/>
                </a:solidFill>
                <a:latin typeface="Inter SemiBold Text SemiBold" pitchFamily="34" charset="0"/>
                <a:ea typeface="Inter SemiBold Text SemiBold" pitchFamily="34" charset="-122"/>
                <a:cs typeface="Inter SemiBold Text SemiBold" pitchFamily="34" charset="-120"/>
              </a:rPr>
              <a:t>Grün</a:t>
            </a:r>
            <a:r>
              <a:rPr lang="de-DE" sz="850" dirty="0">
                <a:solidFill>
                  <a:srgbClr val="9AA4C2"/>
                </a:solidFill>
                <a:latin typeface="Inter Text" pitchFamily="34" charset="0"/>
                <a:ea typeface="Inter Text" pitchFamily="34" charset="-122"/>
                <a:cs typeface="Inter Text" pitchFamily="34" charset="-120"/>
              </a:rPr>
              <a:t> = gezahlter Betrag, einmal gerundet (Bank)   </a:t>
            </a:r>
            <a:r>
              <a:rPr lang="de-DE"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de-DE" sz="850" dirty="0">
                <a:solidFill>
                  <a:srgbClr val="9AA4C2"/>
                </a:solidFill>
                <a:latin typeface="Inter Text" pitchFamily="34" charset="0"/>
                <a:ea typeface="Inter Text" pitchFamily="34" charset="-122"/>
                <a:cs typeface="Inter Text" pitchFamily="34" charset="-120"/>
              </a:rPr>
              <a:t> = gerundeter Eingangswert</a:t>
            </a:r>
          </a:p>
          <a:p>
            <a:pPr marL="0" indent="0" algn="l">
              <a:buNone/>
            </a:pPr>
            <a:r>
              <a:rPr lang="de-DE" sz="850" dirty="0">
                <a:solidFill>
                  <a:srgbClr val="9AA4C2"/>
                </a:solidFill>
                <a:latin typeface="Inter Text" pitchFamily="34" charset="0"/>
                <a:ea typeface="Inter Text" pitchFamily="34" charset="-122"/>
                <a:cs typeface="Inter Text" pitchFamily="34" charset="-120"/>
              </a:rPr>
              <a:t>NK = Nachkommastellen · 2017 (Tab. 26): alle Beträge fest 2 NK, unabhängig von der Währung · ± bei 100 Zeilen à 100 Stück, 19 % USt</a:t>
            </a:r>
          </a:p>
          <a:p>
            <a:pPr marL="0" indent="0" algn="l">
              <a:buNone/>
            </a:pPr>
            <a:r>
              <a:rPr lang="de-DE" sz="850" dirty="0">
                <a:solidFill>
                  <a:srgbClr val="D32F2F"/>
                </a:solidFill>
                <a:latin typeface="Inter SemiBold Text SemiBold" pitchFamily="34" charset="0"/>
                <a:ea typeface="Inter SemiBold Text SemiBold" pitchFamily="34" charset="-122"/>
                <a:cs typeface="Inter SemiBold Text SemiBold" pitchFamily="34" charset="-120"/>
              </a:rPr>
              <a:t>Regen</a:t>
            </a:r>
            <a:r>
              <a:rPr lang="de-DE"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de-DE" sz="850" dirty="0">
                <a:solidFill>
                  <a:srgbClr val="1565C0"/>
                </a:solidFill>
                <a:latin typeface="Inter SemiBold Text SemiBold" pitchFamily="34" charset="0"/>
                <a:ea typeface="Inter SemiBold Text SemiBold" pitchFamily="34" charset="-122"/>
                <a:cs typeface="Inter SemiBold Text SemiBold" pitchFamily="34" charset="-120"/>
              </a:rPr>
              <a:t>gen</a:t>
            </a:r>
            <a:r>
              <a:rPr lang="de-DE" sz="850" dirty="0">
                <a:solidFill>
                  <a:srgbClr val="9AA4C2"/>
                </a:solidFill>
                <a:latin typeface="Inter Text" pitchFamily="34" charset="0"/>
                <a:ea typeface="Inter Text" pitchFamily="34" charset="-122"/>
                <a:cs typeface="Inter Text" pitchFamily="34" charset="-120"/>
              </a:rPr>
              <a:t> = Reihenfolge der Rechenschritte; ein BT behält seine Farbe, wo er weiter unten wieder verwendet wird</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Fälliger Zahlungsbetrag</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de-DE" sz="700" dirty="0">
                <a:solidFill>
                  <a:srgbClr val="5B6890"/>
                </a:solidFill>
                <a:latin typeface="Inter Text" pitchFamily="34" charset="0"/>
                <a:ea typeface="Inter Text" pitchFamily="34" charset="-122"/>
                <a:cs typeface="Inter Text" pitchFamily="34" charset="-120"/>
              </a:rPr>
              <a:t>= </a:t>
            </a:r>
            <a:r>
              <a:rPr lang="de-DE" sz="7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de-DE" sz="700" dirty="0">
                <a:solidFill>
                  <a:srgbClr val="5B6890"/>
                </a:solidFill>
                <a:latin typeface="Inter Text" pitchFamily="34" charset="0"/>
                <a:ea typeface="Inter Text" pitchFamily="34" charset="-122"/>
                <a:cs typeface="Inter Text" pitchFamily="34" charset="-120"/>
              </a:rPr>
              <a:t>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de-DE" sz="700" dirty="0">
                <a:solidFill>
                  <a:srgbClr val="5B6890"/>
                </a:solidFill>
                <a:latin typeface="Inter Text" pitchFamily="34" charset="0"/>
                <a:ea typeface="Inter Text" pitchFamily="34" charset="-122"/>
                <a:cs typeface="Inter Text" pitchFamily="34" charset="-120"/>
              </a:rPr>
              <a:t> Rechnungsgesamtbetrag ohne Umsatzsteuer</a:t>
            </a:r>
            <a:br>
              <a:rPr lang="de-DE" sz="700" dirty="0">
                <a:solidFill>
                  <a:srgbClr val="5B6890"/>
                </a:solidFill>
                <a:latin typeface="Inter Text" pitchFamily="34" charset="0"/>
                <a:ea typeface="Inter Text" pitchFamily="34" charset="-122"/>
                <a:cs typeface="Inter Text" pitchFamily="34" charset="-120"/>
              </a:rPr>
            </a:br>
            <a:r>
              <a:rPr lang="de-DE" sz="700" dirty="0">
                <a:solidFill>
                  <a:srgbClr val="5B6890"/>
                </a:solidFill>
                <a:latin typeface="Inter Text" pitchFamily="34" charset="0"/>
                <a:ea typeface="Inter Text" pitchFamily="34" charset="-122"/>
                <a:cs typeface="Inter Text" pitchFamily="34" charset="-120"/>
              </a:rPr>
              <a:t>−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de-DE" sz="700" dirty="0">
                <a:solidFill>
                  <a:srgbClr val="5B6890"/>
                </a:solidFill>
                <a:latin typeface="Inter Text" pitchFamily="34" charset="0"/>
                <a:ea typeface="Inter Text" pitchFamily="34" charset="-122"/>
                <a:cs typeface="Inter Text" pitchFamily="34" charset="-120"/>
              </a:rPr>
              <a:t> Vorauszahlungsbetrag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de-DE" sz="700" dirty="0">
                <a:solidFill>
                  <a:srgbClr val="5B6890"/>
                </a:solidFill>
                <a:latin typeface="Inter Text" pitchFamily="34" charset="0"/>
                <a:ea typeface="Inter Text" pitchFamily="34" charset="-122"/>
                <a:cs typeface="Inter Text" pitchFamily="34" charset="-120"/>
              </a:rPr>
              <a:t> Rundungsbetrag</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de-DE" sz="1150" dirty="0">
                <a:solidFill>
                  <a:srgbClr val="1E8A4C"/>
                </a:solidFill>
                <a:latin typeface="Inter SemiBold Text SemiBold" pitchFamily="34" charset="0"/>
                <a:ea typeface="Inter SemiBold Text SemiBold" pitchFamily="34" charset="-122"/>
                <a:cs typeface="Inter SemiBold Text SemiBold" pitchFamily="34" charset="-120"/>
              </a:rPr>
              <a:t>2 NK</a:t>
            </a:r>
          </a:p>
          <a:p>
            <a:pPr marL="0" indent="0" algn="ctr">
              <a:buNone/>
            </a:pPr>
            <a:r>
              <a:rPr lang="de-DE" sz="800" dirty="0">
                <a:solidFill>
                  <a:srgbClr val="1E8A4C"/>
                </a:solidFill>
                <a:latin typeface="Inter Text" pitchFamily="34" charset="0"/>
                <a:ea typeface="Inter Text" pitchFamily="34" charset="-122"/>
                <a:cs typeface="Inter Text" pitchFamily="34" charset="-120"/>
              </a:rPr>
              <a:t>Endwert · Bank</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0,60 €</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0,50 € + 0,10 €</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de-DE" sz="75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de-DE" sz="750" dirty="0">
                <a:solidFill>
                  <a:srgbClr val="9AA4C2"/>
                </a:solidFill>
                <a:latin typeface="Inter Text" pitchFamily="34" charset="0"/>
                <a:ea typeface="Inter Text" pitchFamily="34" charset="-122"/>
                <a:cs typeface="Inter Text" pitchFamily="34" charset="-120"/>
              </a:rPr>
              <a:t>Fälliger Zahlungsbetrag</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de-DE" sz="1000" dirty="0">
                <a:solidFill>
                  <a:srgbClr val="81C784"/>
                </a:solidFill>
                <a:latin typeface="Inter SemiBold Text SemiBold" pitchFamily="34" charset="0"/>
                <a:ea typeface="Inter SemiBold Text SemiBold" pitchFamily="34" charset="-122"/>
                <a:cs typeface="Inter SemiBold Text SemiBold" pitchFamily="34" charset="-120"/>
              </a:rPr>
              <a:t>2 NK</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de-DE"/>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de-DE"/>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de-DE"/>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de-DE"/>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de-DE"/>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de-DE"/>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de-DE" sz="650" dirty="0">
                <a:solidFill>
                  <a:srgbClr val="9AA4C2"/>
                </a:solidFill>
                <a:latin typeface="Inter Text" pitchFamily="34" charset="0"/>
                <a:ea typeface="Inter Text" pitchFamily="34" charset="-122"/>
                <a:cs typeface="Inter Text" pitchFamily="34" charset="-120"/>
              </a:rPr>
              <a:t>Bruttopreis des Artikels</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de-DE" sz="650" dirty="0">
                <a:solidFill>
                  <a:srgbClr val="9AA4C2"/>
                </a:solidFill>
                <a:latin typeface="Inter Text" pitchFamily="34" charset="0"/>
                <a:ea typeface="Inter Text" pitchFamily="34" charset="-122"/>
                <a:cs typeface="Inter Text" pitchFamily="34" charset="-120"/>
              </a:rPr>
              <a:t>Nachlass auf den Artikelpreis</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de-DE" sz="65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de-DE" sz="650" dirty="0">
                <a:solidFill>
                  <a:srgbClr val="9AA4C2"/>
                </a:solidFill>
                <a:latin typeface="Inter Text" pitchFamily="34" charset="0"/>
                <a:ea typeface="Inter Text" pitchFamily="34" charset="-122"/>
                <a:cs typeface="Inter Text" pitchFamily="34" charset="-120"/>
              </a:rPr>
              <a:t>Nettopreis des Artikels</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de-DE" sz="650" dirty="0">
                <a:solidFill>
                  <a:srgbClr val="9AA4C2"/>
                </a:solidFill>
                <a:latin typeface="Inter Text" pitchFamily="34" charset="0"/>
                <a:ea typeface="Inter Text" pitchFamily="34" charset="-122"/>
                <a:cs typeface="Inter Text" pitchFamily="34" charset="-120"/>
              </a:rPr>
              <a:t>in Rechnung gestellte Menge</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de-DE" sz="650" dirty="0">
                <a:solidFill>
                  <a:srgbClr val="9AA4C2"/>
                </a:solidFill>
                <a:latin typeface="Inter Text" pitchFamily="34" charset="0"/>
                <a:ea typeface="Inter Text" pitchFamily="34" charset="-122"/>
                <a:cs typeface="Inter Text" pitchFamily="34" charset="-120"/>
              </a:rPr>
              <a:t>Basismenge zum Artikelpreis</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de-DE" sz="650" dirty="0">
                <a:solidFill>
                  <a:srgbClr val="9AA4C2"/>
                </a:solidFill>
                <a:latin typeface="Inter Text" pitchFamily="34" charset="0"/>
                <a:ea typeface="Inter Text" pitchFamily="34" charset="-122"/>
                <a:cs typeface="Inter Text" pitchFamily="34" charset="-120"/>
              </a:rPr>
              <a:t>Betrag des Zuschlags auf Ebene der Rechnungsposition</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2 NK</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de-DE" sz="650" dirty="0">
                <a:solidFill>
                  <a:srgbClr val="9AA4C2"/>
                </a:solidFill>
                <a:latin typeface="Inter Text" pitchFamily="34" charset="0"/>
                <a:ea typeface="Inter Text" pitchFamily="34" charset="-122"/>
                <a:cs typeface="Inter Text" pitchFamily="34" charset="-120"/>
              </a:rPr>
              <a:t>Betrag des Abschlags auf Ebene der Rechnungsposition</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2 NK</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de-DE" sz="65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de-DE" sz="650" dirty="0">
                <a:solidFill>
                  <a:srgbClr val="9AA4C2"/>
                </a:solidFill>
                <a:latin typeface="Inter Text" pitchFamily="34" charset="0"/>
                <a:ea typeface="Inter Text" pitchFamily="34" charset="-122"/>
                <a:cs typeface="Inter Text" pitchFamily="34" charset="-120"/>
              </a:rPr>
              <a:t>Nettobetrag der Rechnungsposition</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de-DE" sz="700" dirty="0">
                <a:solidFill>
                  <a:srgbClr val="FF8A80"/>
                </a:solidFill>
                <a:latin typeface="Inter SemiBold Text SemiBold" pitchFamily="34" charset="0"/>
                <a:ea typeface="Inter SemiBold Text SemiBold" pitchFamily="34" charset="-122"/>
                <a:cs typeface="Inter SemiBold Text SemiBold" pitchFamily="34" charset="-120"/>
              </a:rPr>
              <a:t>2 NK</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de-DE" sz="65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de-DE" sz="650" dirty="0">
                <a:solidFill>
                  <a:srgbClr val="9AA4C2"/>
                </a:solidFill>
                <a:latin typeface="Inter Text" pitchFamily="34" charset="0"/>
                <a:ea typeface="Inter Text" pitchFamily="34" charset="-122"/>
                <a:cs typeface="Inter Text" pitchFamily="34" charset="-120"/>
              </a:rPr>
              <a:t>Summe der Nettobeträge aller Rechnungspositionen</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de-DE" sz="700" dirty="0">
                <a:solidFill>
                  <a:srgbClr val="FF8A80"/>
                </a:solidFill>
                <a:latin typeface="Inter SemiBold Text SemiBold" pitchFamily="34" charset="0"/>
                <a:ea typeface="Inter SemiBold Text SemiBold" pitchFamily="34" charset="-122"/>
                <a:cs typeface="Inter SemiBold Text SemiBold" pitchFamily="34" charset="-120"/>
              </a:rPr>
              <a:t>2 NK</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BT-99 </a:t>
            </a:r>
            <a:r>
              <a:rPr lang="de-DE" sz="650" dirty="0">
                <a:solidFill>
                  <a:srgbClr val="9AA4C2"/>
                </a:solidFill>
                <a:latin typeface="Inter Text" pitchFamily="34" charset="0"/>
                <a:ea typeface="Inter Text" pitchFamily="34" charset="-122"/>
                <a:cs typeface="Inter Text" pitchFamily="34" charset="-120"/>
              </a:rPr>
              <a:t>Betrag des Zuschlags auf Dokumentenebene</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2 NK</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BT-92 </a:t>
            </a:r>
            <a:r>
              <a:rPr lang="de-DE" sz="650" dirty="0">
                <a:solidFill>
                  <a:srgbClr val="9AA4C2"/>
                </a:solidFill>
                <a:latin typeface="Inter Text" pitchFamily="34" charset="0"/>
                <a:ea typeface="Inter Text" pitchFamily="34" charset="-122"/>
                <a:cs typeface="Inter Text" pitchFamily="34" charset="-120"/>
              </a:rPr>
              <a:t>Betrag des Abschlags auf Dokumentenebene</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2 NK</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de-DE" sz="650" dirty="0">
                <a:solidFill>
                  <a:srgbClr val="9AA4C2"/>
                </a:solidFill>
                <a:latin typeface="Inter Text" pitchFamily="34" charset="0"/>
                <a:ea typeface="Inter Text" pitchFamily="34" charset="-122"/>
                <a:cs typeface="Inter Text" pitchFamily="34" charset="-120"/>
              </a:rPr>
              <a:t>kategoriespezifischer Umsatzsteuersatz (Gesetz)</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unbegrenzt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olie 30">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RECHENKETTE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Vom Bruttopreis über Nettopreis zur USt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3E2CDAE-2F23-4283-8153-FFAA4570C66A}"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6</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285086" cy="329184"/>
          </a:xfrm>
          <a:prstGeom prst="rect">
            <a:avLst/>
          </a:prstGeom>
          <a:noFill/>
          <a:ln/>
        </p:spPr>
        <p:txBody>
          <a:bodyPr wrap="non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Zwei Zwischenrundungen:</a:t>
            </a:r>
          </a:p>
        </p:txBody>
      </p:sp>
      <p:sp>
        <p:nvSpPr>
          <p:cNvPr id="9" name="Pill 9"/>
          <p:cNvSpPr/>
          <p:nvPr/>
        </p:nvSpPr>
        <p:spPr>
          <a:xfrm>
            <a:off x="3217774" y="1856232"/>
            <a:ext cx="2209190" cy="310896"/>
          </a:xfrm>
          <a:prstGeom prst="roundRect">
            <a:avLst>
              <a:gd name="adj" fmla="val 50000"/>
            </a:avLst>
          </a:prstGeom>
          <a:solidFill>
            <a:srgbClr val="FDECEA"/>
          </a:solidFill>
          <a:ln w="9525">
            <a:solidFill>
              <a:srgbClr val="F5C2BF"/>
            </a:solidFill>
            <a:prstDash val="solid"/>
          </a:ln>
        </p:spPr>
        <p:txBody>
          <a:bodyPr wrap="square" lIns="36576" tIns="36576" rIns="36576" bIns="36576" rtlCol="0" anchor="ctr"/>
          <a:lstStyle/>
          <a:p>
            <a:pPr marL="0" indent="0" algn="ctr">
              <a:buNone/>
            </a:pPr>
            <a:r>
              <a:rPr lang="de-DE" sz="1200" dirty="0">
                <a:solidFill>
                  <a:srgbClr val="C62828"/>
                </a:solidFill>
                <a:latin typeface="Inter SemiBold Text SemiBold" pitchFamily="34" charset="0"/>
                <a:ea typeface="Inter SemiBold Text SemiBold" pitchFamily="34" charset="-122"/>
                <a:cs typeface="Inter SemiBold Text SemiBold" pitchFamily="34" charset="-120"/>
              </a:rPr>
              <a:t>BT-146 auf Minor Unit + 2</a:t>
            </a:r>
          </a:p>
        </p:txBody>
      </p:sp>
      <p:sp>
        <p:nvSpPr>
          <p:cNvPr id="10" name="Pill 10"/>
          <p:cNvSpPr/>
          <p:nvPr/>
        </p:nvSpPr>
        <p:spPr>
          <a:xfrm>
            <a:off x="5554980" y="1856232"/>
            <a:ext cx="2209190"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de-DE" sz="1200" dirty="0">
                <a:solidFill>
                  <a:srgbClr val="C25700"/>
                </a:solidFill>
                <a:latin typeface="Inter SemiBold Text SemiBold" pitchFamily="34" charset="0"/>
                <a:ea typeface="Inter SemiBold Text SemiBold" pitchFamily="34" charset="-122"/>
                <a:cs typeface="Inter SemiBold Text SemiBold" pitchFamily="34" charset="-120"/>
              </a:rPr>
              <a:t>BT-131 auf die Minor Unit</a:t>
            </a:r>
          </a:p>
        </p:txBody>
      </p:sp>
      <p:sp>
        <p:nvSpPr>
          <p:cNvPr id="11" name="Frame 11"/>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de-DE"/>
          </a:p>
        </p:txBody>
      </p:sp>
      <p:sp>
        <p:nvSpPr>
          <p:cNvPr id="12" name="Text 12"/>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de-DE" sz="850" spc="150" dirty="0">
                <a:solidFill>
                  <a:srgbClr val="2F7FD8"/>
                </a:solidFill>
                <a:latin typeface="Inter SemiBold Text SemiBold" pitchFamily="34" charset="0"/>
                <a:ea typeface="Inter SemiBold Text SemiBold" pitchFamily="34" charset="-122"/>
                <a:cs typeface="Inter SemiBold Text SemiBold" pitchFamily="34" charset="-120"/>
              </a:rPr>
              <a:t>EINGABE- &amp; ZWISCHENWERTE</a:t>
            </a:r>
          </a:p>
        </p:txBody>
      </p:sp>
      <p:sp>
        <p:nvSpPr>
          <p:cNvPr id="13" name="Frame 13"/>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de-DE"/>
          </a:p>
        </p:txBody>
      </p:sp>
      <p:sp>
        <p:nvSpPr>
          <p:cNvPr id="14" name="Text 14"/>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de-DE" sz="850" spc="150" dirty="0">
                <a:solidFill>
                  <a:srgbClr val="7B57D1"/>
                </a:solidFill>
                <a:latin typeface="Inter SemiBold Text SemiBold" pitchFamily="34" charset="0"/>
                <a:ea typeface="Inter SemiBold Text SemiBold" pitchFamily="34" charset="-122"/>
                <a:cs typeface="Inter SemiBold Text SemiBold" pitchFamily="34" charset="-120"/>
              </a:rPr>
              <a:t>ENDERGEBNISSE</a:t>
            </a:r>
          </a:p>
        </p:txBody>
      </p:sp>
      <p:sp>
        <p:nvSpPr>
          <p:cNvPr id="15" name="Card 15"/>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6" name="Pill 16"/>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7" name="Text 17"/>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Nettopreis des Artikels</a:t>
            </a:r>
          </a:p>
        </p:txBody>
      </p:sp>
      <p:sp>
        <p:nvSpPr>
          <p:cNvPr id="18" name="Text 18"/>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de-DE" sz="800" dirty="0">
                <a:solidFill>
                  <a:srgbClr val="5B6890"/>
                </a:solidFill>
                <a:latin typeface="Inter Text" pitchFamily="34" charset="0"/>
                <a:ea typeface="Inter Text" pitchFamily="34" charset="-122"/>
                <a:cs typeface="Inter Text" pitchFamily="34" charset="-120"/>
              </a:rPr>
              <a:t/>
            </a:r>
          </a:p>
        </p:txBody>
      </p:sp>
      <p:sp>
        <p:nvSpPr>
          <p:cNvPr id="19" name="Pill 19"/>
          <p:cNvSpPr/>
          <p:nvPr/>
        </p:nvSpPr>
        <p:spPr>
          <a:xfrm>
            <a:off x="4773168" y="250393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000" dirty="0">
                <a:solidFill>
                  <a:srgbClr val="C0392B"/>
                </a:solidFill>
                <a:latin typeface="Inter SemiBold Text SemiBold" pitchFamily="34" charset="0"/>
                <a:ea typeface="Inter SemiBold Text SemiBold" pitchFamily="34" charset="-122"/>
                <a:cs typeface="Inter SemiBold Text SemiBold" pitchFamily="34" charset="-120"/>
              </a:rPr>
              <a:t>Minor Unit + 2</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20" name="Text 20"/>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0,00005 €</a:t>
            </a:r>
          </a:p>
        </p:txBody>
      </p:sp>
      <p:sp>
        <p:nvSpPr>
          <p:cNvPr id="21" name="Text 21"/>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Preis einmal gerundet</a:t>
            </a:r>
          </a:p>
        </p:txBody>
      </p:sp>
      <p:cxnSp>
        <p:nvCxnSpPr>
          <p:cNvPr id="22" name="Connector 22"/>
          <p:cNvCxnSpPr/>
          <p:nvPr/>
        </p:nvCxnSpPr>
        <p:spPr>
          <a:xfrm>
            <a:off x="1303020" y="2907792"/>
            <a:ext cx="0" cy="36576"/>
          </a:xfrm>
          <a:prstGeom prst="line">
            <a:avLst/>
          </a:prstGeom>
          <a:ln w="15875">
            <a:solidFill>
              <a:srgbClr val="9AA4C2"/>
            </a:solidFill>
          </a:ln>
        </p:spPr>
      </p:cxnSp>
      <p:sp>
        <p:nvSpPr>
          <p:cNvPr id="23" name="Card 23"/>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24" name="Pill 24"/>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5" name="Text 25"/>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Nettobetrag der Rechnungsposition</a:t>
            </a:r>
          </a:p>
        </p:txBody>
      </p:sp>
      <p:sp>
        <p:nvSpPr>
          <p:cNvPr id="26" name="Text 26"/>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de-DE" sz="800" dirty="0">
                <a:solidFill>
                  <a:srgbClr val="5B6890"/>
                </a:solidFill>
                <a:latin typeface="Inter Text" pitchFamily="34" charset="0"/>
                <a:ea typeface="Inter Text" pitchFamily="34" charset="-122"/>
                <a:cs typeface="Inter Text" pitchFamily="34" charset="-120"/>
              </a:rPr>
              <a:t/>
            </a:r>
          </a:p>
        </p:txBody>
      </p:sp>
      <p:sp>
        <p:nvSpPr>
          <p:cNvPr id="27" name="Pill 27"/>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28" name="Text 28"/>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0,01 €</a:t>
            </a:r>
          </a:p>
        </p:txBody>
      </p:sp>
      <p:sp>
        <p:nvSpPr>
          <p:cNvPr id="29" name="Text 29"/>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0,005 € + 100 × 0,00005 €</a:t>
            </a:r>
          </a:p>
        </p:txBody>
      </p:sp>
      <p:cxnSp>
        <p:nvCxnSpPr>
          <p:cNvPr id="30" name="Connector 30"/>
          <p:cNvCxnSpPr/>
          <p:nvPr/>
        </p:nvCxnSpPr>
        <p:spPr>
          <a:xfrm>
            <a:off x="1303020" y="3401568"/>
            <a:ext cx="0" cy="36576"/>
          </a:xfrm>
          <a:prstGeom prst="line">
            <a:avLst/>
          </a:prstGeom>
          <a:ln w="15875">
            <a:solidFill>
              <a:srgbClr val="9AA4C2"/>
            </a:solidFill>
          </a:ln>
        </p:spPr>
      </p:cxnSp>
      <p:sp>
        <p:nvSpPr>
          <p:cNvPr id="31" name="Card 31"/>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2" name="Pill 32"/>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3" name="Text 33"/>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de-DE" sz="850" dirty="0">
                <a:solidFill>
                  <a:srgbClr val="1A2B5E"/>
                </a:solidFill>
                <a:latin typeface="Inter SemiBold Text SemiBold" pitchFamily="34" charset="0"/>
                <a:ea typeface="Inter SemiBold Text SemiBold" pitchFamily="34" charset="-122"/>
                <a:cs typeface="Inter SemiBold Text SemiBold" pitchFamily="34" charset="-120"/>
              </a:rPr>
              <a:t>Summe der Nettobeträge aller Rechnungspositionen</a:t>
            </a:r>
          </a:p>
        </p:txBody>
      </p:sp>
      <p:sp>
        <p:nvSpPr>
          <p:cNvPr id="34" name="Text 34"/>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a:r>
          </a:p>
        </p:txBody>
      </p:sp>
      <p:sp>
        <p:nvSpPr>
          <p:cNvPr id="35" name="Pill 35"/>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C0392B"/>
                </a:solidFill>
                <a:latin typeface="Inter Text" pitchFamily="34" charset="0"/>
                <a:ea typeface="Inter Text" pitchFamily="34" charset="-122"/>
                <a:cs typeface="Inter Text" pitchFamily="34" charset="-120"/>
              </a:rPr>
              <a:t>Σ gerundeter Werte</a:t>
            </a:r>
          </a:p>
        </p:txBody>
      </p:sp>
      <p:sp>
        <p:nvSpPr>
          <p:cNvPr id="36" name="Text 36"/>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1,00 €</a:t>
            </a:r>
          </a:p>
        </p:txBody>
      </p:sp>
      <p:sp>
        <p:nvSpPr>
          <p:cNvPr id="37" name="Text 37"/>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 100 Zeilen</a:t>
            </a:r>
          </a:p>
        </p:txBody>
      </p:sp>
      <p:sp>
        <p:nvSpPr>
          <p:cNvPr id="38" name="Card 38"/>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9" name="Pill 39"/>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40" name="Text 40"/>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Steuerbasisbetrag</a:t>
            </a:r>
          </a:p>
        </p:txBody>
      </p:sp>
      <p:sp>
        <p:nvSpPr>
          <p:cNvPr id="41" name="Text 41"/>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de-DE" sz="800" dirty="0">
                <a:solidFill>
                  <a:srgbClr val="5B6890"/>
                </a:solidFill>
                <a:latin typeface="Inter Text" pitchFamily="34" charset="0"/>
                <a:ea typeface="Inter Text" pitchFamily="34" charset="-122"/>
                <a:cs typeface="Inter Text" pitchFamily="34" charset="-120"/>
              </a:rPr>
              <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de-DE" sz="800" dirty="0">
                <a:solidFill>
                  <a:srgbClr val="5B6890"/>
                </a:solidFill>
                <a:latin typeface="Inter Text" pitchFamily="34" charset="0"/>
                <a:ea typeface="Inter Text" pitchFamily="34" charset="-122"/>
                <a:cs typeface="Inter Text" pitchFamily="34" charset="-120"/>
              </a:rPr>
              <a:t/>
            </a:r>
          </a:p>
        </p:txBody>
      </p:sp>
      <p:sp>
        <p:nvSpPr>
          <p:cNvPr id="42" name="Pill 42"/>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43" name="Text 43"/>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1,00 €</a:t>
            </a:r>
          </a:p>
        </p:txBody>
      </p:sp>
      <p:sp>
        <p:nvSpPr>
          <p:cNvPr id="44" name="Text 44"/>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Σ gerundeter Zeilen</a:t>
            </a:r>
          </a:p>
        </p:txBody>
      </p:sp>
      <p:cxnSp>
        <p:nvCxnSpPr>
          <p:cNvPr id="45" name="Connector 45"/>
          <p:cNvCxnSpPr/>
          <p:nvPr/>
        </p:nvCxnSpPr>
        <p:spPr>
          <a:xfrm>
            <a:off x="1303020" y="4690872"/>
            <a:ext cx="0" cy="36576"/>
          </a:xfrm>
          <a:prstGeom prst="line">
            <a:avLst/>
          </a:prstGeom>
          <a:ln w="15875">
            <a:solidFill>
              <a:srgbClr val="9AA4C2"/>
            </a:solidFill>
          </a:ln>
        </p:spPr>
      </p:cxnSp>
      <p:sp>
        <p:nvSpPr>
          <p:cNvPr id="46" name="Card 46"/>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47" name="Pill 47"/>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8" name="Text 48"/>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Steuerbetrag</a:t>
            </a:r>
          </a:p>
        </p:txBody>
      </p:sp>
      <p:sp>
        <p:nvSpPr>
          <p:cNvPr id="49" name="Text 49"/>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de-DE" sz="800" dirty="0">
                <a:solidFill>
                  <a:srgbClr val="5B6890"/>
                </a:solidFill>
                <a:latin typeface="Inter Text" pitchFamily="34" charset="0"/>
                <a:ea typeface="Inter Text" pitchFamily="34" charset="-122"/>
                <a:cs typeface="Inter Text" pitchFamily="34" charset="-120"/>
              </a:rPr>
              <a:t> ÷ 100</a:t>
            </a:r>
          </a:p>
        </p:txBody>
      </p:sp>
      <p:sp>
        <p:nvSpPr>
          <p:cNvPr id="50" name="Pill 50"/>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C0392B"/>
                </a:solidFill>
                <a:latin typeface="Inter Text" pitchFamily="34" charset="0"/>
                <a:ea typeface="Inter Text" pitchFamily="34" charset="-122"/>
                <a:cs typeface="Inter Text" pitchFamily="34" charset="-120"/>
              </a:rPr>
              <a:t>Zwischenrundung</a:t>
            </a:r>
          </a:p>
        </p:txBody>
      </p:sp>
      <p:sp>
        <p:nvSpPr>
          <p:cNvPr id="51" name="Text 51"/>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0,19 €</a:t>
            </a:r>
          </a:p>
        </p:txBody>
      </p:sp>
      <p:sp>
        <p:nvSpPr>
          <p:cNvPr id="52" name="Text 52"/>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1,00 € × 19 %</a:t>
            </a:r>
          </a:p>
        </p:txBody>
      </p:sp>
      <p:cxnSp>
        <p:nvCxnSpPr>
          <p:cNvPr id="53" name="Connector 53"/>
          <p:cNvCxnSpPr/>
          <p:nvPr/>
        </p:nvCxnSpPr>
        <p:spPr>
          <a:xfrm>
            <a:off x="1303020" y="5184648"/>
            <a:ext cx="0" cy="36576"/>
          </a:xfrm>
          <a:prstGeom prst="line">
            <a:avLst/>
          </a:prstGeom>
          <a:ln w="15875">
            <a:solidFill>
              <a:srgbClr val="9AA4C2"/>
            </a:solidFill>
          </a:ln>
        </p:spPr>
      </p:cxnSp>
      <p:sp>
        <p:nvSpPr>
          <p:cNvPr id="54" name="Card 54"/>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55" name="Pill 55"/>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6" name="Text 56"/>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Gesamtbetrag der Rechnungsumsatzsteuer</a:t>
            </a:r>
          </a:p>
        </p:txBody>
      </p:sp>
      <p:sp>
        <p:nvSpPr>
          <p:cNvPr id="57" name="Text 57"/>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de-DE" sz="800" dirty="0">
                <a:solidFill>
                  <a:srgbClr val="5B6890"/>
                </a:solidFill>
                <a:latin typeface="Inter Text" pitchFamily="34" charset="0"/>
                <a:ea typeface="Inter Text" pitchFamily="34" charset="-122"/>
                <a:cs typeface="Inter Text" pitchFamily="34" charset="-120"/>
              </a:rPr>
              <a:t/>
            </a:r>
          </a:p>
        </p:txBody>
      </p:sp>
      <p:sp>
        <p:nvSpPr>
          <p:cNvPr id="58" name="Pill 58"/>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de-DE"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C0392B"/>
                </a:solidFill>
                <a:latin typeface="Inter Text" pitchFamily="34" charset="0"/>
                <a:ea typeface="Inter Text" pitchFamily="34" charset="-122"/>
                <a:cs typeface="Inter Text" pitchFamily="34" charset="-120"/>
              </a:rPr>
              <a:t>Σ gerundeter Werte</a:t>
            </a:r>
          </a:p>
        </p:txBody>
      </p:sp>
      <p:sp>
        <p:nvSpPr>
          <p:cNvPr id="59" name="Text 59"/>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0,19 €</a:t>
            </a:r>
          </a:p>
        </p:txBody>
      </p:sp>
      <p:sp>
        <p:nvSpPr>
          <p:cNvPr id="60" name="Panel 60"/>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de-DE"/>
          </a:p>
        </p:txBody>
      </p:sp>
      <p:sp>
        <p:nvSpPr>
          <p:cNvPr id="61" name="Text 61"/>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de-DE" sz="950" spc="120" dirty="0">
                <a:solidFill>
                  <a:srgbClr val="7DB3FF"/>
                </a:solidFill>
                <a:latin typeface="Inter SemiBold Text SemiBold" pitchFamily="34" charset="0"/>
                <a:ea typeface="Inter SemiBold Text SemiBold" pitchFamily="34" charset="-122"/>
                <a:cs typeface="Inter SemiBold Text SemiBold" pitchFamily="34" charset="-120"/>
              </a:rPr>
              <a:t>ERLAUBTE NACHKOMMASTELLEN</a:t>
            </a:r>
          </a:p>
        </p:txBody>
      </p:sp>
      <p:sp>
        <p:nvSpPr>
          <p:cNvPr id="80" name="Panel 80"/>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de-DE"/>
          </a:p>
        </p:txBody>
      </p:sp>
      <p:sp>
        <p:nvSpPr>
          <p:cNvPr id="81" name="Text 81"/>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de-DE" sz="950" spc="120" dirty="0">
                <a:solidFill>
                  <a:srgbClr val="B9A2FF"/>
                </a:solidFill>
                <a:latin typeface="Inter SemiBold Text SemiBold" pitchFamily="34" charset="0"/>
                <a:ea typeface="Inter SemiBold Text SemiBold" pitchFamily="34" charset="-122"/>
                <a:cs typeface="Inter SemiBold Text SemiBold" pitchFamily="34" charset="-120"/>
              </a:rPr>
              <a:t>NACHKOMMASTELLEN · ENDWERTE</a:t>
            </a:r>
          </a:p>
        </p:txBody>
      </p:sp>
      <p:sp>
        <p:nvSpPr>
          <p:cNvPr id="82" name="Text 82"/>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de-DE" sz="75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de-DE" sz="750" dirty="0">
                <a:solidFill>
                  <a:srgbClr val="9AA4C2"/>
                </a:solidFill>
                <a:latin typeface="Inter Text" pitchFamily="34" charset="0"/>
                <a:ea typeface="Inter Text" pitchFamily="34" charset="-122"/>
                <a:cs typeface="Inter Text" pitchFamily="34" charset="-120"/>
              </a:rPr>
              <a:t>Kategoriespezifischer Steuerbasisbetrag</a:t>
            </a:r>
          </a:p>
        </p:txBody>
      </p:sp>
      <p:sp>
        <p:nvSpPr>
          <p:cNvPr id="83" name="Text 83"/>
          <p:cNvSpPr txBox="1"/>
          <p:nvPr/>
        </p:nvSpPr>
        <p:spPr>
          <a:xfrm>
            <a:off x="9994392" y="4352544"/>
            <a:ext cx="1188720" cy="274320"/>
          </a:xfrm>
          <a:prstGeom prst="rect">
            <a:avLst/>
          </a:prstGeom>
          <a:noFill/>
          <a:ln/>
        </p:spPr>
        <p:txBody>
          <a:bodyPr wrap="non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4" name="Text 84"/>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de-DE" sz="75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de-DE" sz="750" dirty="0">
                <a:solidFill>
                  <a:srgbClr val="9AA4C2"/>
                </a:solidFill>
                <a:latin typeface="Inter Text" pitchFamily="34" charset="0"/>
                <a:ea typeface="Inter Text" pitchFamily="34" charset="-122"/>
                <a:cs typeface="Inter Text" pitchFamily="34" charset="-120"/>
              </a:rPr>
              <a:t>Kategoriespezifischer Steuerbetrag</a:t>
            </a:r>
          </a:p>
        </p:txBody>
      </p:sp>
      <p:sp>
        <p:nvSpPr>
          <p:cNvPr id="85" name="Text 85"/>
          <p:cNvSpPr txBox="1"/>
          <p:nvPr/>
        </p:nvSpPr>
        <p:spPr>
          <a:xfrm>
            <a:off x="9994392" y="4626864"/>
            <a:ext cx="1188720" cy="274320"/>
          </a:xfrm>
          <a:prstGeom prst="rect">
            <a:avLst/>
          </a:prstGeom>
          <a:noFill/>
          <a:ln/>
        </p:spPr>
        <p:txBody>
          <a:bodyPr wrap="non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6" name="Text 86"/>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de-DE" sz="75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de-DE" sz="750" dirty="0">
                <a:solidFill>
                  <a:srgbClr val="9AA4C2"/>
                </a:solidFill>
                <a:latin typeface="Inter Text" pitchFamily="34" charset="0"/>
                <a:ea typeface="Inter Text" pitchFamily="34" charset="-122"/>
                <a:cs typeface="Inter Text" pitchFamily="34" charset="-120"/>
              </a:rPr>
              <a:t>Gesamtbetrag der Rechnungsumsatzsteuer</a:t>
            </a:r>
          </a:p>
        </p:txBody>
      </p:sp>
      <p:sp>
        <p:nvSpPr>
          <p:cNvPr id="87" name="Text 87"/>
          <p:cNvSpPr txBox="1"/>
          <p:nvPr/>
        </p:nvSpPr>
        <p:spPr>
          <a:xfrm>
            <a:off x="9994392" y="4901184"/>
            <a:ext cx="1188720" cy="274320"/>
          </a:xfrm>
          <a:prstGeom prst="rect">
            <a:avLst/>
          </a:prstGeom>
          <a:noFill/>
          <a:ln/>
        </p:spPr>
        <p:txBody>
          <a:bodyPr wrap="none" lIns="0" tIns="0" rIns="0" bIns="0" rtlCol="0" anchor="ctr"/>
          <a:lstStyle/>
          <a:p>
            <a:pPr marL="0" indent="0" algn="r">
              <a:buNone/>
            </a:pPr>
            <a:r>
              <a:rPr lang="de-DE"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8" name="Text 88"/>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de-DE"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de-DE" sz="950" dirty="0">
                <a:solidFill>
                  <a:srgbClr val="9AA4C2"/>
                </a:solidFill>
                <a:latin typeface="Inter Text" pitchFamily="34" charset="0"/>
                <a:ea typeface="Inter Text" pitchFamily="34" charset="-122"/>
                <a:cs typeface="Inter Text" pitchFamily="34" charset="-120"/>
              </a:rPr>
              <a:t>mit Zeilenanzahl und Menge:</a:t>
            </a:r>
          </a:p>
          <a:p>
            <a:pPr marL="0" indent="0" algn="l">
              <a:buNone/>
            </a:pPr>
            <a:r>
              <a:rPr lang="de-DE" sz="950" dirty="0">
                <a:solidFill>
                  <a:srgbClr val="9AA4C2"/>
                </a:solidFill>
                <a:latin typeface="Inter Text" pitchFamily="34" charset="0"/>
                <a:ea typeface="Inter Text" pitchFamily="34" charset="-122"/>
                <a:cs typeface="Inter Text" pitchFamily="34" charset="-120"/>
              </a:rPr>
              <a:t>→ „Wie groß wird die Abweichung?“</a:t>
            </a:r>
          </a:p>
        </p:txBody>
      </p:sp>
      <p:sp>
        <p:nvSpPr>
          <p:cNvPr id="89" name="Text 89"/>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de-DE" sz="850" dirty="0">
                <a:solidFill>
                  <a:srgbClr val="C0392B"/>
                </a:solidFill>
                <a:latin typeface="Inter SemiBold Text SemiBold" pitchFamily="34" charset="0"/>
                <a:ea typeface="Inter SemiBold Text SemiBold" pitchFamily="34" charset="-122"/>
                <a:cs typeface="Inter SemiBold Text SemiBold" pitchFamily="34" charset="-120"/>
              </a:rPr>
              <a:t>Rot</a:t>
            </a:r>
            <a:r>
              <a:rPr lang="de-DE" sz="850" dirty="0">
                <a:solidFill>
                  <a:srgbClr val="9AA4C2"/>
                </a:solidFill>
                <a:latin typeface="Inter Text" pitchFamily="34" charset="0"/>
                <a:ea typeface="Inter Text" pitchFamily="34" charset="-122"/>
                <a:cs typeface="Inter Text" pitchFamily="34" charset="-120"/>
              </a:rPr>
              <a:t> = gerundeter Zwischenwert   </a:t>
            </a:r>
            <a:r>
              <a:rPr lang="de-DE" sz="850" dirty="0">
                <a:solidFill>
                  <a:srgbClr val="1E8A4C"/>
                </a:solidFill>
                <a:latin typeface="Inter SemiBold Text SemiBold" pitchFamily="34" charset="0"/>
                <a:ea typeface="Inter SemiBold Text SemiBold" pitchFamily="34" charset="-122"/>
                <a:cs typeface="Inter SemiBold Text SemiBold" pitchFamily="34" charset="-120"/>
              </a:rPr>
              <a:t>Grün</a:t>
            </a:r>
            <a:r>
              <a:rPr lang="de-DE" sz="850" dirty="0">
                <a:solidFill>
                  <a:srgbClr val="9AA4C2"/>
                </a:solidFill>
                <a:latin typeface="Inter Text" pitchFamily="34" charset="0"/>
                <a:ea typeface="Inter Text" pitchFamily="34" charset="-122"/>
                <a:cs typeface="Inter Text" pitchFamily="34" charset="-120"/>
              </a:rPr>
              <a:t> = gezahlter Betrag, einmal gerundet (Bank)   </a:t>
            </a:r>
            <a:r>
              <a:rPr lang="de-DE"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de-DE" sz="850" dirty="0">
                <a:solidFill>
                  <a:srgbClr val="9AA4C2"/>
                </a:solidFill>
                <a:latin typeface="Inter Text" pitchFamily="34" charset="0"/>
                <a:ea typeface="Inter Text" pitchFamily="34" charset="-122"/>
                <a:cs typeface="Inter Text" pitchFamily="34" charset="-120"/>
              </a:rPr>
              <a:t> = gerundeter Eingangswert</a:t>
            </a:r>
          </a:p>
          <a:p>
            <a:pPr marL="0" indent="0" algn="l">
              <a:buNone/>
            </a:pPr>
            <a:r>
              <a:rPr lang="de-DE" sz="850" dirty="0">
                <a:solidFill>
                  <a:srgbClr val="9AA4C2"/>
                </a:solidFill>
                <a:latin typeface="Inter Text" pitchFamily="34" charset="0"/>
                <a:ea typeface="Inter Text" pitchFamily="34" charset="-122"/>
                <a:cs typeface="Inter Text" pitchFamily="34" charset="-120"/>
              </a:rPr>
              <a:t>NK = Nachkommastellen · Minor Unit = kleinste Währungseinheit, ISO 4217 (EUR: 2 NK) · ± bei 100 Zeilen à 100 Stück, 19 % USt</a:t>
            </a:r>
          </a:p>
          <a:p>
            <a:pPr marL="0" indent="0" algn="l">
              <a:buNone/>
            </a:pPr>
            <a:r>
              <a:rPr lang="de-DE" sz="850" dirty="0">
                <a:solidFill>
                  <a:srgbClr val="D32F2F"/>
                </a:solidFill>
                <a:latin typeface="Inter SemiBold Text SemiBold" pitchFamily="34" charset="0"/>
                <a:ea typeface="Inter SemiBold Text SemiBold" pitchFamily="34" charset="-122"/>
                <a:cs typeface="Inter SemiBold Text SemiBold" pitchFamily="34" charset="-120"/>
              </a:rPr>
              <a:t>Regen</a:t>
            </a:r>
            <a:r>
              <a:rPr lang="de-DE"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de-DE" sz="850" dirty="0">
                <a:solidFill>
                  <a:srgbClr val="1565C0"/>
                </a:solidFill>
                <a:latin typeface="Inter SemiBold Text SemiBold" pitchFamily="34" charset="0"/>
                <a:ea typeface="Inter SemiBold Text SemiBold" pitchFamily="34" charset="-122"/>
                <a:cs typeface="Inter SemiBold Text SemiBold" pitchFamily="34" charset="-120"/>
              </a:rPr>
              <a:t>gen</a:t>
            </a:r>
            <a:r>
              <a:rPr lang="de-DE" sz="850" dirty="0">
                <a:solidFill>
                  <a:srgbClr val="9AA4C2"/>
                </a:solidFill>
                <a:latin typeface="Inter Text" pitchFamily="34" charset="0"/>
                <a:ea typeface="Inter Text" pitchFamily="34" charset="-122"/>
                <a:cs typeface="Inter Text" pitchFamily="34" charset="-120"/>
              </a:rPr>
              <a:t> = Reihenfolge der Rechenschritte; ein BT behält seine Farbe, wo er weiter unten wieder verwendet wird</a:t>
            </a:r>
          </a:p>
        </p:txBody>
      </p:sp>
      <p:sp>
        <p:nvSpPr>
          <p:cNvPr id="90" name="Card 90"/>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1" name="Pill 91"/>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2" name="Text 92"/>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Fälliger Zahlungsbetrag</a:t>
            </a:r>
          </a:p>
        </p:txBody>
      </p:sp>
      <p:sp>
        <p:nvSpPr>
          <p:cNvPr id="93" name="Text 93"/>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de-DE" sz="700" dirty="0">
                <a:solidFill>
                  <a:srgbClr val="5B6890"/>
                </a:solidFill>
                <a:latin typeface="Inter Text" pitchFamily="34" charset="0"/>
                <a:ea typeface="Inter Text" pitchFamily="34" charset="-122"/>
                <a:cs typeface="Inter Text" pitchFamily="34" charset="-120"/>
              </a:rPr>
              <a:t>= </a:t>
            </a:r>
            <a:r>
              <a:rPr lang="de-DE" sz="7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de-DE" sz="700" dirty="0">
                <a:solidFill>
                  <a:srgbClr val="5B6890"/>
                </a:solidFill>
                <a:latin typeface="Inter Text" pitchFamily="34" charset="0"/>
                <a:ea typeface="Inter Text" pitchFamily="34" charset="-122"/>
                <a:cs typeface="Inter Text" pitchFamily="34" charset="-120"/>
              </a:rPr>
              <a:t>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de-DE" sz="700" dirty="0">
                <a:solidFill>
                  <a:srgbClr val="5B6890"/>
                </a:solidFill>
                <a:latin typeface="Inter Text" pitchFamily="34" charset="0"/>
                <a:ea typeface="Inter Text" pitchFamily="34" charset="-122"/>
                <a:cs typeface="Inter Text" pitchFamily="34" charset="-120"/>
              </a:rPr>
              <a:t> Rechnungsgesamtbetrag ohne Umsatzsteuer</a:t>
            </a:r>
            <a:br>
              <a:rPr lang="de-DE" sz="700" dirty="0">
                <a:solidFill>
                  <a:srgbClr val="5B6890"/>
                </a:solidFill>
                <a:latin typeface="Inter Text" pitchFamily="34" charset="0"/>
                <a:ea typeface="Inter Text" pitchFamily="34" charset="-122"/>
                <a:cs typeface="Inter Text" pitchFamily="34" charset="-120"/>
              </a:rPr>
            </a:br>
            <a:r>
              <a:rPr lang="de-DE" sz="700" dirty="0">
                <a:solidFill>
                  <a:srgbClr val="5B6890"/>
                </a:solidFill>
                <a:latin typeface="Inter Text" pitchFamily="34" charset="0"/>
                <a:ea typeface="Inter Text" pitchFamily="34" charset="-122"/>
                <a:cs typeface="Inter Text" pitchFamily="34" charset="-120"/>
              </a:rPr>
              <a:t>−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de-DE" sz="700" dirty="0">
                <a:solidFill>
                  <a:srgbClr val="5B6890"/>
                </a:solidFill>
                <a:latin typeface="Inter Text" pitchFamily="34" charset="0"/>
                <a:ea typeface="Inter Text" pitchFamily="34" charset="-122"/>
                <a:cs typeface="Inter Text" pitchFamily="34" charset="-120"/>
              </a:rPr>
              <a:t> Vorauszahlungsbetrag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de-DE" sz="700" dirty="0">
                <a:solidFill>
                  <a:srgbClr val="5B6890"/>
                </a:solidFill>
                <a:latin typeface="Inter Text" pitchFamily="34" charset="0"/>
                <a:ea typeface="Inter Text" pitchFamily="34" charset="-122"/>
                <a:cs typeface="Inter Text" pitchFamily="34" charset="-120"/>
              </a:rPr>
              <a:t> Rundungsbetrag</a:t>
            </a:r>
          </a:p>
        </p:txBody>
      </p:sp>
      <p:sp>
        <p:nvSpPr>
          <p:cNvPr id="94" name="Pill 94"/>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de-DE"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1E8A4C"/>
                </a:solidFill>
                <a:latin typeface="Inter Text" pitchFamily="34" charset="0"/>
                <a:ea typeface="Inter Text" pitchFamily="34" charset="-122"/>
                <a:cs typeface="Inter Text" pitchFamily="34" charset="-120"/>
              </a:rPr>
              <a:t>Endwert · Bank</a:t>
            </a:r>
          </a:p>
        </p:txBody>
      </p:sp>
      <p:sp>
        <p:nvSpPr>
          <p:cNvPr id="95" name="Text 95"/>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de-DE" sz="1300" b="1" dirty="0">
                <a:solidFill>
                  <a:srgbClr val="C0392B"/>
                </a:solidFill>
                <a:latin typeface="Consolas" pitchFamily="34" charset="0"/>
                <a:ea typeface="Consolas" pitchFamily="34" charset="-122"/>
                <a:cs typeface="Consolas" pitchFamily="34" charset="-120"/>
              </a:rPr>
              <a:t>± 1,19 €</a:t>
            </a:r>
          </a:p>
        </p:txBody>
      </p:sp>
      <p:sp>
        <p:nvSpPr>
          <p:cNvPr id="96" name="Text 96"/>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1,00 € + 0,19 €</a:t>
            </a:r>
          </a:p>
        </p:txBody>
      </p:sp>
      <p:cxnSp>
        <p:nvCxnSpPr>
          <p:cNvPr id="97" name="Connector 97"/>
          <p:cNvCxnSpPr/>
          <p:nvPr/>
        </p:nvCxnSpPr>
        <p:spPr>
          <a:xfrm>
            <a:off x="1303020" y="5678424"/>
            <a:ext cx="0" cy="36576"/>
          </a:xfrm>
          <a:prstGeom prst="line">
            <a:avLst/>
          </a:prstGeom>
          <a:ln w="15875">
            <a:solidFill>
              <a:srgbClr val="9AA4C2"/>
            </a:solidFill>
          </a:ln>
        </p:spPr>
      </p:cxnSp>
      <p:sp>
        <p:nvSpPr>
          <p:cNvPr id="98" name="Text 98"/>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de-DE" sz="75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de-DE" sz="750" dirty="0">
                <a:solidFill>
                  <a:srgbClr val="9AA4C2"/>
                </a:solidFill>
                <a:latin typeface="Inter Text" pitchFamily="34" charset="0"/>
                <a:ea typeface="Inter Text" pitchFamily="34" charset="-122"/>
                <a:cs typeface="Inter Text" pitchFamily="34" charset="-120"/>
              </a:rPr>
              <a:t>Fälliger Zahlungsbetrag</a:t>
            </a:r>
          </a:p>
        </p:txBody>
      </p:sp>
      <p:sp>
        <p:nvSpPr>
          <p:cNvPr id="99" name="Text 99"/>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de-DE"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100" name="Reuse 100"/>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de-DE"/>
          </a:p>
        </p:txBody>
      </p:sp>
      <p:sp>
        <p:nvSpPr>
          <p:cNvPr id="101" name="Reuse 101"/>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de-DE"/>
          </a:p>
        </p:txBody>
      </p:sp>
      <p:sp>
        <p:nvSpPr>
          <p:cNvPr id="102" name="Reuse 102"/>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de-DE"/>
          </a:p>
        </p:txBody>
      </p:sp>
      <p:sp>
        <p:nvSpPr>
          <p:cNvPr id="103" name="Reuse 103"/>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de-DE"/>
          </a:p>
        </p:txBody>
      </p:sp>
      <p:sp>
        <p:nvSpPr>
          <p:cNvPr id="104" name="Reuse 104"/>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de-DE"/>
          </a:p>
        </p:txBody>
      </p:sp>
      <p:sp>
        <p:nvSpPr>
          <p:cNvPr id="105" name="Reuse 105"/>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de-DE"/>
          </a:p>
        </p:txBody>
      </p:sp>
      <p:sp>
        <p:nvSpPr>
          <p:cNvPr id="106" name="Text 106"/>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de-DE" sz="650" dirty="0">
                <a:solidFill>
                  <a:srgbClr val="9AA4C2"/>
                </a:solidFill>
                <a:latin typeface="Inter Text" pitchFamily="34" charset="0"/>
                <a:ea typeface="Inter Text" pitchFamily="34" charset="-122"/>
                <a:cs typeface="Inter Text" pitchFamily="34" charset="-120"/>
              </a:rPr>
              <a:t>Bruttopreis des Artikels</a:t>
            </a:r>
          </a:p>
        </p:txBody>
      </p:sp>
      <p:sp>
        <p:nvSpPr>
          <p:cNvPr id="107" name="Text 107"/>
          <p:cNvSpPr txBox="1"/>
          <p:nvPr/>
        </p:nvSpPr>
        <p:spPr>
          <a:xfrm>
            <a:off x="9994392" y="2542032"/>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08" name="Text 108"/>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de-DE" sz="650" dirty="0">
                <a:solidFill>
                  <a:srgbClr val="9AA4C2"/>
                </a:solidFill>
                <a:latin typeface="Inter Text" pitchFamily="34" charset="0"/>
                <a:ea typeface="Inter Text" pitchFamily="34" charset="-122"/>
                <a:cs typeface="Inter Text" pitchFamily="34" charset="-120"/>
              </a:rPr>
              <a:t>Nachlass auf den Artikelpreis</a:t>
            </a:r>
          </a:p>
        </p:txBody>
      </p:sp>
      <p:sp>
        <p:nvSpPr>
          <p:cNvPr id="109" name="Text 109"/>
          <p:cNvSpPr txBox="1"/>
          <p:nvPr/>
        </p:nvSpPr>
        <p:spPr>
          <a:xfrm>
            <a:off x="9994392" y="2655875"/>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10" name="Text 110"/>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de-DE" sz="65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de-DE" sz="650" dirty="0">
                <a:solidFill>
                  <a:srgbClr val="9AA4C2"/>
                </a:solidFill>
                <a:latin typeface="Inter Text" pitchFamily="34" charset="0"/>
                <a:ea typeface="Inter Text" pitchFamily="34" charset="-122"/>
                <a:cs typeface="Inter Text" pitchFamily="34" charset="-120"/>
              </a:rPr>
              <a:t>Nettopreis des Artikels</a:t>
            </a:r>
          </a:p>
        </p:txBody>
      </p:sp>
      <p:sp>
        <p:nvSpPr>
          <p:cNvPr id="111" name="Text 111"/>
          <p:cNvSpPr txBox="1"/>
          <p:nvPr/>
        </p:nvSpPr>
        <p:spPr>
          <a:xfrm>
            <a:off x="9994392" y="2769718"/>
            <a:ext cx="1188720" cy="113843"/>
          </a:xfrm>
          <a:prstGeom prst="rect">
            <a:avLst/>
          </a:prstGeom>
          <a:noFill/>
          <a:ln/>
        </p:spPr>
        <p:txBody>
          <a:bodyPr wrap="none" lIns="0" tIns="0" rIns="0" bIns="0" rtlCol="0" anchor="ctr"/>
          <a:lstStyle/>
          <a:p>
            <a:pPr marL="0" indent="0" algn="r">
              <a:buNone/>
            </a:pPr>
            <a:r>
              <a:rPr lang="de-DE" sz="700" dirty="0">
                <a:solidFill>
                  <a:srgbClr val="FF8A80"/>
                </a:solidFill>
                <a:latin typeface="Inter SemiBold Text SemiBold" pitchFamily="34" charset="0"/>
                <a:ea typeface="Inter SemiBold Text SemiBold" pitchFamily="34" charset="-122"/>
                <a:cs typeface="Inter SemiBold Text SemiBold" pitchFamily="34" charset="-120"/>
              </a:rPr>
              <a:t>Minor Unit + 2</a:t>
            </a:r>
          </a:p>
        </p:txBody>
      </p:sp>
      <p:sp>
        <p:nvSpPr>
          <p:cNvPr id="112" name="Text 112"/>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de-DE" sz="650" dirty="0">
                <a:solidFill>
                  <a:srgbClr val="9AA4C2"/>
                </a:solidFill>
                <a:latin typeface="Inter Text" pitchFamily="34" charset="0"/>
                <a:ea typeface="Inter Text" pitchFamily="34" charset="-122"/>
                <a:cs typeface="Inter Text" pitchFamily="34" charset="-120"/>
              </a:rPr>
              <a:t>in Rechnung gestellte Menge</a:t>
            </a:r>
          </a:p>
        </p:txBody>
      </p:sp>
      <p:sp>
        <p:nvSpPr>
          <p:cNvPr id="113" name="Text 113"/>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4 NK</a:t>
            </a:r>
          </a:p>
        </p:txBody>
      </p:sp>
      <p:sp>
        <p:nvSpPr>
          <p:cNvPr id="114" name="Text 114"/>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de-DE" sz="650" dirty="0">
                <a:solidFill>
                  <a:srgbClr val="9AA4C2"/>
                </a:solidFill>
                <a:latin typeface="Inter Text" pitchFamily="34" charset="0"/>
                <a:ea typeface="Inter Text" pitchFamily="34" charset="-122"/>
                <a:cs typeface="Inter Text" pitchFamily="34" charset="-120"/>
              </a:rPr>
              <a:t>Basismenge zum Artikelpreis</a:t>
            </a:r>
          </a:p>
        </p:txBody>
      </p:sp>
      <p:sp>
        <p:nvSpPr>
          <p:cNvPr id="115" name="Text 115"/>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2 NK</a:t>
            </a:r>
          </a:p>
        </p:txBody>
      </p:sp>
      <p:sp>
        <p:nvSpPr>
          <p:cNvPr id="116" name="Text 116"/>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de-DE" sz="650" dirty="0">
                <a:solidFill>
                  <a:srgbClr val="9AA4C2"/>
                </a:solidFill>
                <a:latin typeface="Inter Text" pitchFamily="34" charset="0"/>
                <a:ea typeface="Inter Text" pitchFamily="34" charset="-122"/>
                <a:cs typeface="Inter Text" pitchFamily="34" charset="-120"/>
              </a:rPr>
              <a:t>Betrag des Zuschlags auf Ebene der Rechnungsposition</a:t>
            </a:r>
          </a:p>
        </p:txBody>
      </p:sp>
      <p:sp>
        <p:nvSpPr>
          <p:cNvPr id="117" name="Text 117"/>
          <p:cNvSpPr txBox="1"/>
          <p:nvPr/>
        </p:nvSpPr>
        <p:spPr>
          <a:xfrm>
            <a:off x="9994392" y="3111246"/>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18" name="Text 118"/>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de-DE" sz="650" dirty="0">
                <a:solidFill>
                  <a:srgbClr val="9AA4C2"/>
                </a:solidFill>
                <a:latin typeface="Inter Text" pitchFamily="34" charset="0"/>
                <a:ea typeface="Inter Text" pitchFamily="34" charset="-122"/>
                <a:cs typeface="Inter Text" pitchFamily="34" charset="-120"/>
              </a:rPr>
              <a:t>Betrag des Abschlags auf Ebene der Rechnungsposition</a:t>
            </a:r>
          </a:p>
        </p:txBody>
      </p:sp>
      <p:sp>
        <p:nvSpPr>
          <p:cNvPr id="119" name="Text 119"/>
          <p:cNvSpPr txBox="1"/>
          <p:nvPr/>
        </p:nvSpPr>
        <p:spPr>
          <a:xfrm>
            <a:off x="9994392" y="3225089"/>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0" name="Text 120"/>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de-DE" sz="65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de-DE" sz="650" dirty="0">
                <a:solidFill>
                  <a:srgbClr val="9AA4C2"/>
                </a:solidFill>
                <a:latin typeface="Inter Text" pitchFamily="34" charset="0"/>
                <a:ea typeface="Inter Text" pitchFamily="34" charset="-122"/>
                <a:cs typeface="Inter Text" pitchFamily="34" charset="-120"/>
              </a:rPr>
              <a:t>Nettobetrag der Rechnungsposition</a:t>
            </a:r>
          </a:p>
        </p:txBody>
      </p:sp>
      <p:sp>
        <p:nvSpPr>
          <p:cNvPr id="121" name="Text 121"/>
          <p:cNvSpPr txBox="1"/>
          <p:nvPr/>
        </p:nvSpPr>
        <p:spPr>
          <a:xfrm>
            <a:off x="9994392" y="3338932"/>
            <a:ext cx="1188720" cy="113843"/>
          </a:xfrm>
          <a:prstGeom prst="rect">
            <a:avLst/>
          </a:prstGeom>
          <a:noFill/>
          <a:ln/>
        </p:spPr>
        <p:txBody>
          <a:bodyPr wrap="none" lIns="0" tIns="0" rIns="0" bIns="0" rtlCol="0" anchor="ctr"/>
          <a:lstStyle/>
          <a:p>
            <a:pPr marL="0" indent="0" algn="r">
              <a:buNone/>
            </a:pPr>
            <a:r>
              <a:rPr lang="de-DE"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2" name="Text 122"/>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de-DE" sz="65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de-DE" sz="650" dirty="0">
                <a:solidFill>
                  <a:srgbClr val="9AA4C2"/>
                </a:solidFill>
                <a:latin typeface="Inter Text" pitchFamily="34" charset="0"/>
                <a:ea typeface="Inter Text" pitchFamily="34" charset="-122"/>
                <a:cs typeface="Inter Text" pitchFamily="34" charset="-120"/>
              </a:rPr>
              <a:t>Summe der Nettobeträge aller Rechnungspositionen</a:t>
            </a:r>
          </a:p>
        </p:txBody>
      </p:sp>
      <p:sp>
        <p:nvSpPr>
          <p:cNvPr id="123" name="Text 123"/>
          <p:cNvSpPr txBox="1"/>
          <p:nvPr/>
        </p:nvSpPr>
        <p:spPr>
          <a:xfrm>
            <a:off x="9994392" y="3452774"/>
            <a:ext cx="1188720" cy="113843"/>
          </a:xfrm>
          <a:prstGeom prst="rect">
            <a:avLst/>
          </a:prstGeom>
          <a:noFill/>
          <a:ln/>
        </p:spPr>
        <p:txBody>
          <a:bodyPr wrap="none" lIns="0" tIns="0" rIns="0" bIns="0" rtlCol="0" anchor="ctr"/>
          <a:lstStyle/>
          <a:p>
            <a:pPr marL="0" indent="0" algn="r">
              <a:buNone/>
            </a:pPr>
            <a:r>
              <a:rPr lang="de-DE"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4" name="Text 124"/>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BT-99 </a:t>
            </a:r>
            <a:r>
              <a:rPr lang="de-DE" sz="650" dirty="0">
                <a:solidFill>
                  <a:srgbClr val="9AA4C2"/>
                </a:solidFill>
                <a:latin typeface="Inter Text" pitchFamily="34" charset="0"/>
                <a:ea typeface="Inter Text" pitchFamily="34" charset="-122"/>
                <a:cs typeface="Inter Text" pitchFamily="34" charset="-120"/>
              </a:rPr>
              <a:t>Betrag des Zuschlags auf Dokumentenebene</a:t>
            </a:r>
          </a:p>
        </p:txBody>
      </p:sp>
      <p:sp>
        <p:nvSpPr>
          <p:cNvPr id="125" name="Text 125"/>
          <p:cNvSpPr txBox="1"/>
          <p:nvPr/>
        </p:nvSpPr>
        <p:spPr>
          <a:xfrm>
            <a:off x="9994392" y="3566617"/>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6" name="Text 126"/>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BT-92 </a:t>
            </a:r>
            <a:r>
              <a:rPr lang="de-DE" sz="650" dirty="0">
                <a:solidFill>
                  <a:srgbClr val="9AA4C2"/>
                </a:solidFill>
                <a:latin typeface="Inter Text" pitchFamily="34" charset="0"/>
                <a:ea typeface="Inter Text" pitchFamily="34" charset="-122"/>
                <a:cs typeface="Inter Text" pitchFamily="34" charset="-120"/>
              </a:rPr>
              <a:t>Betrag des Abschlags auf Dokumentenebene</a:t>
            </a:r>
          </a:p>
        </p:txBody>
      </p:sp>
      <p:sp>
        <p:nvSpPr>
          <p:cNvPr id="127" name="Text 127"/>
          <p:cNvSpPr txBox="1"/>
          <p:nvPr/>
        </p:nvSpPr>
        <p:spPr>
          <a:xfrm>
            <a:off x="9994392" y="3680460"/>
            <a:ext cx="1188720" cy="113843"/>
          </a:xfrm>
          <a:prstGeom prst="rect">
            <a:avLst/>
          </a:prstGeom>
          <a:noFill/>
          <a:ln/>
        </p:spPr>
        <p:txBody>
          <a:bodyPr wrap="none" lIns="0" tIns="0" rIns="0" bIns="0" rtlCol="0" anchor="ctr"/>
          <a:lstStyle/>
          <a:p>
            <a:pPr marL="0" indent="0" algn="r">
              <a:buNone/>
            </a:pPr>
            <a:r>
              <a:rPr lang="de-DE"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8" name="Text 128"/>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de-DE" sz="650" dirty="0">
                <a:solidFill>
                  <a:srgbClr val="9AA4C2"/>
                </a:solidFill>
                <a:latin typeface="Inter Text" pitchFamily="34" charset="0"/>
                <a:ea typeface="Inter Text" pitchFamily="34" charset="-122"/>
                <a:cs typeface="Inter Text" pitchFamily="34" charset="-120"/>
              </a:rPr>
              <a:t>kategoriespezifischer Umsatzsteuersatz (Gesetz)</a:t>
            </a:r>
          </a:p>
        </p:txBody>
      </p:sp>
      <p:sp>
        <p:nvSpPr>
          <p:cNvPr id="129" name="Text 129"/>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2 NK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Folie 29">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Wie groß wird die Abweichung?</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FF8C59E-DB43-45C8-AAB1-F463E6DDD355}"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7</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Ein Faktor: die Zeilenanzahl n — jede Zeile rundet </a:t>
            </a:r>
            <a:r>
              <a:rPr lang="de-DE" sz="13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1300" dirty="0">
                <a:solidFill>
                  <a:srgbClr val="EF6C00"/>
                </a:solidFill>
                <a:latin typeface="Inter Text" pitchFamily="34" charset="0"/>
                <a:ea typeface="Inter Text" pitchFamily="34" charset="-122"/>
                <a:cs typeface="Inter Text" pitchFamily="34" charset="-120"/>
              </a:rPr>
              <a:t> Nettobetrag der Rechnungsposition</a:t>
            </a:r>
            <a:r>
              <a:rPr lang="de-DE" sz="1300" dirty="0">
                <a:solidFill>
                  <a:srgbClr val="5B6890"/>
                </a:solidFill>
                <a:latin typeface="Inter Text" pitchFamily="34" charset="0"/>
                <a:ea typeface="Inter Text" pitchFamily="34" charset="-122"/>
                <a:cs typeface="Inter Text" pitchFamily="34" charset="-120"/>
              </a:rPr>
              <a:t> und verliert bis zu ± 0,005 €.</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de-DE"/>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1 · Preisrundung × Menge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de-DE" sz="9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950" dirty="0">
                <a:solidFill>
                  <a:srgbClr val="D32F2F"/>
                </a:solidFill>
                <a:latin typeface="Inter Text" pitchFamily="34" charset="0"/>
                <a:ea typeface="Inter Text" pitchFamily="34" charset="-122"/>
                <a:cs typeface="Inter Text" pitchFamily="34" charset="-120"/>
              </a:rPr>
              <a:t> Nettopreis des Artikels</a:t>
            </a:r>
            <a:r>
              <a:rPr lang="de-DE" sz="950" dirty="0">
                <a:solidFill>
                  <a:srgbClr val="5B6890"/>
                </a:solidFill>
                <a:latin typeface="Inter Text" pitchFamily="34" charset="0"/>
                <a:ea typeface="Inter Text" pitchFamily="34" charset="-122"/>
                <a:cs typeface="Inter Text" pitchFamily="34" charset="-120"/>
              </a:rPr>
              <a:t> ist 2017 nicht begrenzt — der Preis wird nicht gerundet, die Menge vergrößert keinen Fehler.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de-DE" sz="1150" b="1" dirty="0">
                <a:solidFill>
                  <a:srgbClr val="1E8A4C"/>
                </a:solidFill>
                <a:latin typeface="Consolas" pitchFamily="34" charset="0"/>
                <a:ea typeface="Consolas" pitchFamily="34" charset="-122"/>
                <a:cs typeface="Consolas" pitchFamily="34" charset="-120"/>
              </a:rPr>
              <a:t>entfällt</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2 · Zeilenanzahl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de-DE" sz="950" dirty="0">
                <a:solidFill>
                  <a:srgbClr val="5B6890"/>
                </a:solidFill>
                <a:latin typeface="Inter Text" pitchFamily="34" charset="0"/>
                <a:ea typeface="Inter Text" pitchFamily="34" charset="-122"/>
                <a:cs typeface="Inter Text" pitchFamily="34" charset="-120"/>
              </a:rPr>
              <a:t>Jede Zeile rundet </a:t>
            </a:r>
            <a:r>
              <a:rPr lang="de-DE" sz="9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950" dirty="0">
                <a:solidFill>
                  <a:srgbClr val="EF6C00"/>
                </a:solidFill>
                <a:latin typeface="Inter Text" pitchFamily="34" charset="0"/>
                <a:ea typeface="Inter Text" pitchFamily="34" charset="-122"/>
                <a:cs typeface="Inter Text" pitchFamily="34" charset="-120"/>
              </a:rPr>
              <a:t> Nettobetrag der Rechnungsposition</a:t>
            </a:r>
            <a:r>
              <a:rPr lang="de-DE" sz="950" dirty="0">
                <a:solidFill>
                  <a:srgbClr val="5B6890"/>
                </a:solidFill>
                <a:latin typeface="Inter Text" pitchFamily="34" charset="0"/>
                <a:ea typeface="Inter Text" pitchFamily="34" charset="-122"/>
                <a:cs typeface="Inter Text" pitchFamily="34" charset="-120"/>
              </a:rPr>
              <a:t> auf</a:t>
            </a:r>
            <a:r>
              <a:rPr lang="de-DE" sz="950" dirty="0">
                <a:solidFill>
                  <a:srgbClr val="5B6890"/>
                </a:solidFill>
                <a:latin typeface="Inter Text" pitchFamily="34" charset="0"/>
                <a:ea typeface="Inter Text" pitchFamily="34" charset="-122"/>
                <a:cs typeface="Inter Text" pitchFamily="34" charset="-120"/>
              </a:rPr>
              <a:t> 2 Nachkommastellen: bis zu ± 0,005 €. </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de-DE" sz="950" dirty="0">
                <a:solidFill>
                  <a:srgbClr val="C79100"/>
                </a:solidFill>
                <a:latin typeface="Inter Text" pitchFamily="34" charset="0"/>
                <a:ea typeface="Inter Text" pitchFamily="34" charset="-122"/>
                <a:cs typeface="Inter Text" pitchFamily="34" charset="-120"/>
              </a:rPr>
              <a:t> Summe der Nettobeträge</a:t>
            </a:r>
            <a:r>
              <a:rPr lang="de-DE" sz="950" dirty="0">
                <a:solidFill>
                  <a:srgbClr val="C79100"/>
                </a:solidFill>
                <a:latin typeface="Inter Text" pitchFamily="34" charset="0"/>
                <a:ea typeface="Inter Text" pitchFamily="34" charset="-122"/>
                <a:cs typeface="Inter Text" pitchFamily="34" charset="-120"/>
              </a:rPr>
              <a:t> aller Rechnungspositionen</a:t>
            </a:r>
            <a:r>
              <a:rPr lang="de-DE" sz="950" dirty="0">
                <a:solidFill>
                  <a:srgbClr val="5B6890"/>
                </a:solidFill>
                <a:latin typeface="Inter Text" pitchFamily="34" charset="0"/>
                <a:ea typeface="Inter Text" pitchFamily="34" charset="-122"/>
                <a:cs typeface="Inter Text" pitchFamily="34" charset="-120"/>
              </a:rPr>
              <a:t> und </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950" dirty="0">
                <a:solidFill>
                  <a:srgbClr val="2E7D32"/>
                </a:solidFill>
                <a:latin typeface="Inter Text" pitchFamily="34" charset="0"/>
                <a:ea typeface="Inter Text" pitchFamily="34" charset="-122"/>
                <a:cs typeface="Inter Text" pitchFamily="34" charset="-120"/>
              </a:rPr>
              <a:t> Kategoriespezifischer Steuerbasisbetrag</a:t>
            </a:r>
            <a:r>
              <a:rPr lang="de-DE" sz="950" dirty="0">
                <a:solidFill>
                  <a:srgbClr val="5B6890"/>
                </a:solidFill>
                <a:latin typeface="Inter Text" pitchFamily="34" charset="0"/>
                <a:ea typeface="Inter Text" pitchFamily="34" charset="-122"/>
                <a:cs typeface="Inter Text" pitchFamily="34" charset="-120"/>
              </a:rPr>
              <a:t> summieren alle n</a:t>
            </a:r>
            <a:r>
              <a:rPr lang="de-DE" sz="950" dirty="0">
                <a:solidFill>
                  <a:srgbClr val="5B6890"/>
                </a:solidFill>
                <a:latin typeface="Inter Text" pitchFamily="34" charset="0"/>
                <a:ea typeface="Inter Text" pitchFamily="34" charset="-122"/>
                <a:cs typeface="Inter Text" pitchFamily="34" charset="-120"/>
              </a:rPr>
              <a:t> Zeilen — und ihre Fehler.</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de-DE" sz="1150" b="1" dirty="0">
                <a:solidFill>
                  <a:srgbClr val="C0392B"/>
                </a:solidFill>
                <a:latin typeface="Consolas" pitchFamily="34" charset="0"/>
                <a:ea typeface="Consolas" pitchFamily="34" charset="-122"/>
                <a:cs typeface="Consolas" pitchFamily="34" charset="-120"/>
              </a:rPr>
              <a:t>± n × 0,005 €</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de-DE" sz="950" spc="120" dirty="0">
                <a:solidFill>
                  <a:srgbClr val="0E7E82"/>
                </a:solidFill>
                <a:latin typeface="Inter SemiBold Text SemiBold" pitchFamily="34" charset="0"/>
                <a:ea typeface="Inter SemiBold Text SemiBold" pitchFamily="34" charset="-122"/>
                <a:cs typeface="Inter SemiBold Text SemiBold" pitchFamily="34" charset="-120"/>
              </a:rPr>
              <a:t>ABWEICHUNG NETTO  </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de-DE" sz="950" dirty="0">
                <a:solidFill>
                  <a:srgbClr val="C79100"/>
                </a:solidFill>
                <a:latin typeface="Inter Text" pitchFamily="34" charset="0"/>
                <a:ea typeface="Inter Text" pitchFamily="34" charset="-122"/>
                <a:cs typeface="Inter Text" pitchFamily="34" charset="-120"/>
              </a:rPr>
              <a:t/>
            </a:r>
            <a:r>
              <a:rPr lang="de-DE" sz="950" dirty="0">
                <a:solidFill>
                  <a:srgbClr val="5B6890"/>
                </a:solidFill>
                <a:latin typeface="Inter Text" pitchFamily="34" charset="0"/>
                <a:ea typeface="Inter Text" pitchFamily="34" charset="-122"/>
                <a:cs typeface="Inter Text" pitchFamily="34" charset="-120"/>
              </a:rPr>
              <a:t> / </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950" dirty="0">
                <a:solidFill>
                  <a:srgbClr val="2E7D32"/>
                </a:solidFill>
                <a:latin typeface="Inter Text" pitchFamily="34" charset="0"/>
                <a:ea typeface="Inter Text" pitchFamily="34" charset="-122"/>
                <a:cs typeface="Inter Text" pitchFamily="34" charset="-120"/>
              </a:rPr>
              <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de-DE" sz="850" dirty="0">
                          <a:solidFill>
                            <a:srgbClr val="9FB0D8"/>
                          </a:solidFill>
                          <a:latin typeface="Inter Text" pitchFamily="34" charset="0"/>
                          <a:ea typeface="Inter Text" pitchFamily="34" charset="-122"/>
                          <a:cs typeface="Inter Text" pitchFamily="34" charset="-120"/>
                        </a:rPr>
                        <a:t>Stück je Zeile (Q) →</a:t>
                      </a:r>
                    </a:p>
                    <a:p>
                      <a:pPr marL="0" indent="0" algn="l">
                        <a:buNone/>
                      </a:pPr>
                      <a:r>
                        <a:rPr lang="de-DE" sz="850" dirty="0">
                          <a:solidFill>
                            <a:srgbClr val="9FB0D8"/>
                          </a:solidFill>
                          <a:latin typeface="Inter Text" pitchFamily="34" charset="0"/>
                          <a:ea typeface="Inter Text" pitchFamily="34" charset="-122"/>
                          <a:cs typeface="Inter Text" pitchFamily="34" charset="-120"/>
                        </a:rPr>
                        <a:t>↓ Zeilen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 Zeile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B26A00"/>
                          </a:solidFill>
                          <a:latin typeface="Consolas" pitchFamily="34" charset="0"/>
                          <a:ea typeface="Consolas" pitchFamily="34" charset="-122"/>
                          <a:cs typeface="Consolas" pitchFamily="34" charset="-120"/>
                        </a:rPr>
                        <a:t>= ± 0,005 €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B26A00"/>
                          </a:solidFill>
                          <a:latin typeface="Consolas" pitchFamily="34" charset="0"/>
                          <a:ea typeface="Consolas" pitchFamily="34" charset="-122"/>
                          <a:cs typeface="Consolas" pitchFamily="34" charset="-120"/>
                        </a:rPr>
                        <a:t>= ± 0,005 €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B26A00"/>
                          </a:solidFill>
                          <a:latin typeface="Consolas" pitchFamily="34" charset="0"/>
                          <a:ea typeface="Consolas" pitchFamily="34" charset="-122"/>
                          <a:cs typeface="Consolas" pitchFamily="34" charset="-120"/>
                        </a:rPr>
                        <a:t>= ± 0,005 €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1"/>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B26A00"/>
                          </a:solidFill>
                          <a:latin typeface="Consolas" pitchFamily="34" charset="0"/>
                          <a:ea typeface="Consolas" pitchFamily="34" charset="-122"/>
                          <a:cs typeface="Consolas" pitchFamily="34" charset="-120"/>
                        </a:rPr>
                        <a:t>± 0,50 €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1150" b="1" dirty="0">
                          <a:solidFill>
                            <a:srgbClr val="B26A00"/>
                          </a:solidFill>
                          <a:latin typeface="Consolas" pitchFamily="34" charset="0"/>
                          <a:ea typeface="Consolas" pitchFamily="34" charset="-122"/>
                          <a:cs typeface="Consolas" pitchFamily="34" charset="-120"/>
                        </a:rPr>
                        <a:t>± 0,50 €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1150" b="1" dirty="0">
                          <a:solidFill>
                            <a:srgbClr val="B26A00"/>
                          </a:solidFill>
                          <a:latin typeface="Consolas" pitchFamily="34" charset="0"/>
                          <a:ea typeface="Consolas" pitchFamily="34" charset="-122"/>
                          <a:cs typeface="Consolas" pitchFamily="34" charset="-120"/>
                        </a:rPr>
                        <a:t>± 0,50 €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2"/>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de-DE" sz="1000" spc="150" dirty="0">
                <a:solidFill>
                  <a:srgbClr val="19C3C8"/>
                </a:solidFill>
                <a:latin typeface="Inter SemiBold Text SemiBold" pitchFamily="34" charset="0"/>
                <a:ea typeface="Inter SemiBold Text SemiBold" pitchFamily="34" charset="-122"/>
                <a:cs typeface="Inter SemiBold Text SemiBold" pitchFamily="34" charset="-120"/>
              </a:rPr>
              <a:t>ZUSAMMEN · NETTO</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de-DE" sz="1800" b="1" dirty="0">
                <a:solidFill>
                  <a:srgbClr val="FFFFFF"/>
                </a:solidFill>
                <a:latin typeface="Consolas" pitchFamily="34" charset="0"/>
                <a:ea typeface="Consolas" pitchFamily="34" charset="-122"/>
                <a:cs typeface="Consolas" pitchFamily="34" charset="-120"/>
              </a:rPr>
              <a:t>n × 0,005 €</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de-DE" sz="1000" dirty="0">
                <a:solidFill>
                  <a:srgbClr val="C2CADE"/>
                </a:solidFill>
                <a:latin typeface="Inter Text" pitchFamily="34" charset="0"/>
                <a:ea typeface="Inter Text" pitchFamily="34" charset="-122"/>
                <a:cs typeface="Inter Text" pitchFamily="34" charset="-120"/>
              </a:rPr>
              <a:t>USt: 19 % davon. Nach oben offen — je mehr Zeilen, desto mehr Abweichung.</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de-DE"/>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de-DE" sz="950" dirty="0">
                <a:solidFill>
                  <a:srgbClr val="9AA4C2"/>
                </a:solidFill>
                <a:latin typeface="Inter Text" pitchFamily="34" charset="0"/>
                <a:ea typeface="Inter Text" pitchFamily="34" charset="-122"/>
                <a:cs typeface="Inter Text" pitchFamily="34" charset="-120"/>
              </a:rPr>
              <a:t>100 Zeilen à 10.000 Stück</a:t>
            </a:r>
          </a:p>
          <a:p>
            <a:pPr marL="0" indent="0" algn="l">
              <a:buNone/>
            </a:pPr>
            <a:r>
              <a:rPr lang="de-DE" sz="1000" dirty="0">
                <a:solidFill>
                  <a:srgbClr val="C2CADE"/>
                </a:solidFill>
                <a:latin typeface="Inter Text" pitchFamily="34" charset="0"/>
                <a:ea typeface="Inter Text" pitchFamily="34" charset="-122"/>
                <a:cs typeface="Inter Text" pitchFamily="34" charset="-120"/>
              </a:rPr>
              <a:t>Netto </a:t>
            </a:r>
            <a:r>
              <a:rPr lang="de-DE" sz="1100" b="1" dirty="0">
                <a:solidFill>
                  <a:srgbClr val="FFFFFF"/>
                </a:solidFill>
                <a:latin typeface="Consolas" pitchFamily="34" charset="0"/>
                <a:ea typeface="Consolas" pitchFamily="34" charset="-122"/>
                <a:cs typeface="Consolas" pitchFamily="34" charset="-120"/>
              </a:rPr>
              <a:t>± 0,50 €</a:t>
            </a:r>
            <a:r>
              <a:rPr lang="de-DE" sz="1000" dirty="0">
                <a:solidFill>
                  <a:srgbClr val="C2CADE"/>
                </a:solidFill>
                <a:latin typeface="Inter Text" pitchFamily="34" charset="0"/>
                <a:ea typeface="Inter Text" pitchFamily="34" charset="-122"/>
                <a:cs typeface="Inter Text" pitchFamily="34" charset="-120"/>
              </a:rPr>
              <a:t>   USt </a:t>
            </a:r>
            <a:r>
              <a:rPr lang="de-DE" sz="1100" b="1" dirty="0">
                <a:solidFill>
                  <a:srgbClr val="FFFFFF"/>
                </a:solidFill>
                <a:latin typeface="Consolas" pitchFamily="34" charset="0"/>
                <a:ea typeface="Consolas" pitchFamily="34" charset="-122"/>
                <a:cs typeface="Consolas" pitchFamily="34" charset="-120"/>
              </a:rPr>
              <a:t>± 0,10 €</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de-DE" sz="850" dirty="0">
                <a:solidFill>
                  <a:srgbClr val="9AA4C2"/>
                </a:solidFill>
                <a:latin typeface="Inter Text" pitchFamily="34" charset="0"/>
                <a:ea typeface="Inter Text" pitchFamily="34" charset="-122"/>
                <a:cs typeface="Inter Text" pitchFamily="34" charset="-120"/>
              </a:rPr>
              <a:t>Annahme: alle Rundungen fallen in dieselbe Richtung, BT-149 Basismenge zum Artikelpreis = 1, 19 % USt.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Wie groß wird die Abweichung?</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E655C58-AB39-491B-9C9F-468B34428247}"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8</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Zwei Faktoren: erst die Menge Q × gerundeter </a:t>
            </a:r>
            <a:r>
              <a:rPr lang="de-DE" sz="13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1300" dirty="0">
                <a:solidFill>
                  <a:srgbClr val="D32F2F"/>
                </a:solidFill>
                <a:latin typeface="Inter Text" pitchFamily="34" charset="0"/>
                <a:ea typeface="Inter Text" pitchFamily="34" charset="-122"/>
                <a:cs typeface="Inter Text" pitchFamily="34" charset="-120"/>
              </a:rPr>
              <a:t> Nettopreis des Artikels</a:t>
            </a:r>
            <a:r>
              <a:rPr lang="de-DE" sz="1300" dirty="0">
                <a:solidFill>
                  <a:srgbClr val="5B6890"/>
                </a:solidFill>
                <a:latin typeface="Inter Text" pitchFamily="34" charset="0"/>
                <a:ea typeface="Inter Text" pitchFamily="34" charset="-122"/>
                <a:cs typeface="Inter Text" pitchFamily="34" charset="-120"/>
              </a:rPr>
              <a:t>, dann die Zeilenanzahl n — nach oben offen.</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0" name="IconCircle 10"/>
          <p:cNvSpPr/>
          <p:nvPr/>
        </p:nvSpPr>
        <p:spPr>
          <a:xfrm>
            <a:off x="1060704"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1 · Preisrundung × Menge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de-DE" sz="9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950" dirty="0">
                <a:solidFill>
                  <a:srgbClr val="D32F2F"/>
                </a:solidFill>
                <a:latin typeface="Inter Text" pitchFamily="34" charset="0"/>
                <a:ea typeface="Inter Text" pitchFamily="34" charset="-122"/>
                <a:cs typeface="Inter Text" pitchFamily="34" charset="-120"/>
              </a:rPr>
              <a:t> Nettopreis des Artikels</a:t>
            </a:r>
            <a:r>
              <a:rPr lang="de-DE" sz="950" dirty="0">
                <a:solidFill>
                  <a:srgbClr val="5B6890"/>
                </a:solidFill>
                <a:latin typeface="Inter Text" pitchFamily="34" charset="0"/>
                <a:ea typeface="Inter Text" pitchFamily="34" charset="-122"/>
                <a:cs typeface="Inter Text" pitchFamily="34" charset="-120"/>
              </a:rPr>
              <a:t> wird einmal auf Minor Unit + 2 „hineingedrückt“ (EUR: 4 NK): bis zu ± 0,00005 €. </a:t>
            </a:r>
            <a:r>
              <a:rPr lang="de-DE" sz="9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950" dirty="0">
                <a:solidFill>
                  <a:srgbClr val="EF6C00"/>
                </a:solidFill>
                <a:latin typeface="Inter Text" pitchFamily="34" charset="0"/>
                <a:ea typeface="Inter Text" pitchFamily="34" charset="-122"/>
                <a:cs typeface="Inter Text" pitchFamily="34" charset="-120"/>
              </a:rPr>
              <a:t> Nettobetrag der Rechnungsposition</a:t>
            </a:r>
            <a:r>
              <a:rPr lang="de-DE" sz="950" dirty="0">
                <a:solidFill>
                  <a:srgbClr val="5B6890"/>
                </a:solidFill>
                <a:latin typeface="Inter Text" pitchFamily="34" charset="0"/>
                <a:ea typeface="Inter Text" pitchFamily="34" charset="-122"/>
                <a:cs typeface="Inter Text" pitchFamily="34" charset="-120"/>
              </a:rPr>
              <a:t> multipliziert diesen einen Fehler mit </a:t>
            </a:r>
            <a:r>
              <a:rPr lang="de-DE" sz="950" dirty="0">
                <a:solidFill>
                  <a:srgbClr val="1A2B5E"/>
                </a:solidFill>
                <a:latin typeface="Inter SemiBold Text SemiBold" pitchFamily="34" charset="0"/>
                <a:ea typeface="Inter SemiBold Text SemiBold" pitchFamily="34" charset="-122"/>
                <a:cs typeface="Inter SemiBold Text SemiBold" pitchFamily="34" charset="-120"/>
              </a:rPr>
              <a:t>BT-129</a:t>
            </a:r>
            <a:r>
              <a:rPr lang="de-DE" sz="950" dirty="0">
                <a:solidFill>
                  <a:srgbClr val="5B6890"/>
                </a:solidFill>
                <a:latin typeface="Inter Text" pitchFamily="34" charset="0"/>
                <a:ea typeface="Inter Text" pitchFamily="34" charset="-122"/>
                <a:cs typeface="Inter Text" pitchFamily="34" charset="-120"/>
              </a:rPr>
              <a:t> in Rechnung gestellte Menge. </a:t>
            </a:r>
            <a:r>
              <a:rPr lang="de-DE" sz="95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#148</a:t>
            </a:r>
            <a:r>
              <a:rPr lang="de-DE" sz="950" dirty="0">
                <a:solidFill>
                  <a:srgbClr val="5B6890"/>
                </a:solidFill>
                <a:latin typeface="Inter Text" pitchFamily="34" charset="0"/>
                <a:ea typeface="Inter Text" pitchFamily="34" charset="-122"/>
                <a:cs typeface="Inter Text" pitchFamily="34" charset="-120"/>
              </a:rPr>
              <a:t>: 0,123449 € → 0,1234 €; bei 10.000 Stück fehlen 0,49 €.</a:t>
            </a:r>
          </a:p>
        </p:txBody>
      </p:sp>
      <p:sp>
        <p:nvSpPr>
          <p:cNvPr id="14" name="Pill 14"/>
          <p:cNvSpPr/>
          <p:nvPr/>
        </p:nvSpPr>
        <p:spPr>
          <a:xfrm>
            <a:off x="1097280"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de-DE" sz="1150" b="1" dirty="0">
                <a:solidFill>
                  <a:srgbClr val="C0392B"/>
                </a:solidFill>
                <a:latin typeface="Consolas" pitchFamily="34" charset="0"/>
                <a:ea typeface="Consolas" pitchFamily="34" charset="-122"/>
                <a:cs typeface="Consolas" pitchFamily="34" charset="-120"/>
              </a:rPr>
              <a:t>± Q × 0,00005 € je Zeile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2 · Zeilenanzahl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de-DE" sz="950" dirty="0">
                <a:solidFill>
                  <a:srgbClr val="5B6890"/>
                </a:solidFill>
                <a:latin typeface="Inter Text" pitchFamily="34" charset="0"/>
                <a:ea typeface="Inter Text" pitchFamily="34" charset="-122"/>
                <a:cs typeface="Inter Text" pitchFamily="34" charset="-120"/>
              </a:rPr>
              <a:t>Jede Zeile rundet </a:t>
            </a:r>
            <a:r>
              <a:rPr lang="de-DE" sz="9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950" dirty="0">
                <a:solidFill>
                  <a:srgbClr val="EF6C00"/>
                </a:solidFill>
                <a:latin typeface="Inter Text" pitchFamily="34" charset="0"/>
                <a:ea typeface="Inter Text" pitchFamily="34" charset="-122"/>
                <a:cs typeface="Inter Text" pitchFamily="34" charset="-120"/>
              </a:rPr>
              <a:t> Nettobetrag der Rechnungsposition</a:t>
            </a:r>
            <a:r>
              <a:rPr lang="de-DE" sz="950" dirty="0">
                <a:solidFill>
                  <a:srgbClr val="5B6890"/>
                </a:solidFill>
                <a:latin typeface="Inter Text" pitchFamily="34" charset="0"/>
                <a:ea typeface="Inter Text" pitchFamily="34" charset="-122"/>
                <a:cs typeface="Inter Text" pitchFamily="34" charset="-120"/>
              </a:rPr>
              <a:t> zusätzlich auf die</a:t>
            </a:r>
            <a:r>
              <a:rPr lang="de-DE" sz="950" dirty="0">
                <a:solidFill>
                  <a:srgbClr val="5B6890"/>
                </a:solidFill>
                <a:latin typeface="Inter Text" pitchFamily="34" charset="0"/>
                <a:ea typeface="Inter Text" pitchFamily="34" charset="-122"/>
                <a:cs typeface="Inter Text" pitchFamily="34" charset="-120"/>
              </a:rPr>
              <a:t> Minor Unit: bis zu ± 0,005 €. </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de-DE" sz="950" dirty="0">
                <a:solidFill>
                  <a:srgbClr val="C79100"/>
                </a:solidFill>
                <a:latin typeface="Inter Text" pitchFamily="34" charset="0"/>
                <a:ea typeface="Inter Text" pitchFamily="34" charset="-122"/>
                <a:cs typeface="Inter Text" pitchFamily="34" charset="-120"/>
              </a:rPr>
              <a:t> Summe der Nettobeträge aller Rechnungspositionen</a:t>
            </a:r>
            <a:r>
              <a:rPr lang="de-DE" sz="950" dirty="0">
                <a:solidFill>
                  <a:srgbClr val="5B6890"/>
                </a:solidFill>
                <a:latin typeface="Inter Text" pitchFamily="34" charset="0"/>
                <a:ea typeface="Inter Text" pitchFamily="34" charset="-122"/>
                <a:cs typeface="Inter Text" pitchFamily="34" charset="-120"/>
              </a:rPr>
              <a:t> und</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 BT-116</a:t>
            </a:r>
            <a:r>
              <a:rPr lang="de-DE" sz="950" dirty="0">
                <a:solidFill>
                  <a:srgbClr val="2E7D32"/>
                </a:solidFill>
                <a:latin typeface="Inter Text" pitchFamily="34" charset="0"/>
                <a:ea typeface="Inter Text" pitchFamily="34" charset="-122"/>
                <a:cs typeface="Inter Text" pitchFamily="34" charset="-120"/>
              </a:rPr>
              <a:t> Kategoriespezifischer Steuerbasisbetrag</a:t>
            </a:r>
            <a:r>
              <a:rPr lang="de-DE" sz="950" dirty="0">
                <a:solidFill>
                  <a:srgbClr val="5B6890"/>
                </a:solidFill>
                <a:latin typeface="Inter Text" pitchFamily="34" charset="0"/>
                <a:ea typeface="Inter Text" pitchFamily="34" charset="-122"/>
                <a:cs typeface="Inter Text" pitchFamily="34" charset="-120"/>
              </a:rPr>
              <a:t> summieren alle n Zeilen — und ihre</a:t>
            </a:r>
            <a:r>
              <a:rPr lang="de-DE" sz="950" dirty="0">
                <a:solidFill>
                  <a:srgbClr val="5B6890"/>
                </a:solidFill>
                <a:latin typeface="Inter Text" pitchFamily="34" charset="0"/>
                <a:ea typeface="Inter Text" pitchFamily="34" charset="-122"/>
                <a:cs typeface="Inter Text" pitchFamily="34" charset="-120"/>
              </a:rPr>
              <a:t> Fehler.</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algn="ctr"/>
            <a:r>
              <a:rPr lang="de-DE" sz="1150" b="1" dirty="0">
                <a:solidFill>
                  <a:srgbClr val="C0392B"/>
                </a:solidFill>
                <a:latin typeface="Consolas" pitchFamily="34" charset="0"/>
                <a:ea typeface="Consolas" pitchFamily="34" charset="-122"/>
                <a:cs typeface="Consolas" pitchFamily="34" charset="-120"/>
              </a:rPr>
              <a:t>± </a:t>
            </a:r>
            <a:r>
              <a:rPr lang="de-DE" sz="1150" b="1" dirty="0" err="1">
                <a:solidFill>
                  <a:srgbClr val="C0392B"/>
                </a:solidFill>
                <a:latin typeface="Consolas" pitchFamily="34" charset="0"/>
                <a:ea typeface="Consolas" pitchFamily="34" charset="-122"/>
                <a:cs typeface="Consolas" pitchFamily="34" charset="-120"/>
              </a:rPr>
              <a:t>n</a:t>
            </a:r>
            <a:r>
              <a:rPr lang="de-DE" sz="1150" b="1" dirty="0">
                <a:solidFill>
                  <a:srgbClr val="C0392B"/>
                </a:solidFill>
                <a:latin typeface="Consolas" pitchFamily="34" charset="0"/>
                <a:ea typeface="Consolas" pitchFamily="34" charset="-122"/>
                <a:cs typeface="Consolas" pitchFamily="34" charset="-120"/>
              </a:rPr>
              <a:t> × 0,005 €</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de-DE" sz="950" spc="120" dirty="0">
                <a:solidFill>
                  <a:srgbClr val="0E7E82"/>
                </a:solidFill>
                <a:latin typeface="Inter SemiBold Text SemiBold" pitchFamily="34" charset="0"/>
                <a:ea typeface="Inter SemiBold Text SemiBold" pitchFamily="34" charset="-122"/>
                <a:cs typeface="Inter SemiBold Text SemiBold" pitchFamily="34" charset="-120"/>
              </a:rPr>
              <a:t>ABWEICHUNG NETTO  </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de-DE" sz="950" dirty="0">
                <a:solidFill>
                  <a:srgbClr val="C79100"/>
                </a:solidFill>
                <a:latin typeface="Inter Text" pitchFamily="34" charset="0"/>
                <a:ea typeface="Inter Text" pitchFamily="34" charset="-122"/>
                <a:cs typeface="Inter Text" pitchFamily="34" charset="-120"/>
              </a:rPr>
              <a:t/>
            </a:r>
            <a:r>
              <a:rPr lang="de-DE" sz="950" dirty="0">
                <a:solidFill>
                  <a:srgbClr val="5B6890"/>
                </a:solidFill>
                <a:latin typeface="Inter Text" pitchFamily="34" charset="0"/>
                <a:ea typeface="Inter Text" pitchFamily="34" charset="-122"/>
                <a:cs typeface="Inter Text" pitchFamily="34" charset="-120"/>
              </a:rPr>
              <a:t> / </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950" dirty="0">
                <a:solidFill>
                  <a:srgbClr val="2E7D32"/>
                </a:solidFill>
                <a:latin typeface="Inter Text" pitchFamily="34" charset="0"/>
                <a:ea typeface="Inter Text" pitchFamily="34" charset="-122"/>
                <a:cs typeface="Inter Text" pitchFamily="34" charset="-120"/>
              </a:rPr>
              <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de-DE" sz="850" dirty="0">
                          <a:solidFill>
                            <a:srgbClr val="9FB0D8"/>
                          </a:solidFill>
                          <a:latin typeface="Inter Text" pitchFamily="34" charset="0"/>
                          <a:ea typeface="Inter Text" pitchFamily="34" charset="-122"/>
                          <a:cs typeface="Inter Text" pitchFamily="34" charset="-120"/>
                        </a:rPr>
                        <a:t>Stück je Zeile (Q) →</a:t>
                      </a:r>
                    </a:p>
                    <a:p>
                      <a:pPr marL="0" indent="0" algn="l">
                        <a:buNone/>
                      </a:pPr>
                      <a:r>
                        <a:rPr lang="de-DE" sz="850" dirty="0">
                          <a:solidFill>
                            <a:srgbClr val="9FB0D8"/>
                          </a:solidFill>
                          <a:latin typeface="Inter Text" pitchFamily="34" charset="0"/>
                          <a:ea typeface="Inter Text" pitchFamily="34" charset="-122"/>
                          <a:cs typeface="Inter Text" pitchFamily="34" charset="-120"/>
                        </a:rPr>
                        <a:t>↓ Zeilen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 Zeile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0,005 €</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B26A00"/>
                          </a:solidFill>
                          <a:latin typeface="Consolas" pitchFamily="34" charset="0"/>
                          <a:ea typeface="Consolas" pitchFamily="34" charset="-122"/>
                          <a:cs typeface="Consolas" pitchFamily="34" charset="-120"/>
                        </a:rPr>
                        <a:t>= ± 0,01 €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0,50 €</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B26A00"/>
                          </a:solidFill>
                          <a:latin typeface="Consolas" pitchFamily="34" charset="0"/>
                          <a:ea typeface="Consolas" pitchFamily="34" charset="-122"/>
                          <a:cs typeface="Consolas" pitchFamily="34" charset="-120"/>
                        </a:rPr>
                        <a:t>= ± 0,505 €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50,00 €</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0,005 €</a:t>
                      </a:r>
                    </a:p>
                    <a:p>
                      <a:pPr marL="0" indent="0" algn="r">
                        <a:buNone/>
                      </a:pPr>
                      <a:r>
                        <a:rPr lang="de-DE" sz="1150" b="1" dirty="0">
                          <a:solidFill>
                            <a:srgbClr val="C0392B"/>
                          </a:solidFill>
                          <a:latin typeface="Consolas" pitchFamily="34" charset="0"/>
                          <a:ea typeface="Consolas" pitchFamily="34" charset="-122"/>
                          <a:cs typeface="Consolas" pitchFamily="34" charset="-120"/>
                        </a:rPr>
                        <a:t>= ± 50,005 €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1"/>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1,00 €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50,50 €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5.000,50 €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2"/>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100,00 €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5.050,00 €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de-DE" sz="1150" b="1" dirty="0">
                          <a:solidFill>
                            <a:srgbClr val="C0392B"/>
                          </a:solidFill>
                          <a:latin typeface="Consolas" pitchFamily="34" charset="0"/>
                          <a:ea typeface="Consolas" pitchFamily="34" charset="-122"/>
                          <a:cs typeface="Consolas" pitchFamily="34" charset="-120"/>
                        </a:rPr>
                        <a:t>± 500.050,00 €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de-DE" sz="1000" spc="150" dirty="0">
                <a:solidFill>
                  <a:srgbClr val="19C3C8"/>
                </a:solidFill>
                <a:latin typeface="Inter SemiBold Text SemiBold" pitchFamily="34" charset="0"/>
                <a:ea typeface="Inter SemiBold Text SemiBold" pitchFamily="34" charset="-122"/>
                <a:cs typeface="Inter SemiBold Text SemiBold" pitchFamily="34" charset="-120"/>
              </a:rPr>
              <a:t>ZUSAMMEN · NETTO</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de-DE" sz="1300" b="1" dirty="0">
                <a:solidFill>
                  <a:srgbClr val="FFFFFF"/>
                </a:solidFill>
                <a:latin typeface="Consolas" pitchFamily="34" charset="0"/>
                <a:ea typeface="Consolas" pitchFamily="34" charset="-122"/>
                <a:cs typeface="Consolas" pitchFamily="34" charset="-120"/>
              </a:rPr>
              <a:t>n × (Q × 0,00005 € + 0,005 €)</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de-DE" sz="1000" dirty="0">
                <a:solidFill>
                  <a:srgbClr val="C2CADE"/>
                </a:solidFill>
                <a:latin typeface="Inter Text" pitchFamily="34" charset="0"/>
                <a:ea typeface="Inter Text" pitchFamily="34" charset="-122"/>
                <a:cs typeface="Inter Text" pitchFamily="34" charset="-120"/>
              </a:rPr>
              <a:t>USt: 19 % davon. Nach oben offen — mehr Zeilen oder größere Mengen, mehr Abweichung.</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de-DE"/>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de-DE" sz="950" dirty="0">
                <a:solidFill>
                  <a:srgbClr val="9AA4C2"/>
                </a:solidFill>
                <a:latin typeface="Inter Text" pitchFamily="34" charset="0"/>
                <a:ea typeface="Inter Text" pitchFamily="34" charset="-122"/>
                <a:cs typeface="Inter Text" pitchFamily="34" charset="-120"/>
              </a:rPr>
              <a:t>100 Zeilen à 10.000 Stück</a:t>
            </a:r>
          </a:p>
          <a:p>
            <a:pPr marL="0" indent="0" algn="l">
              <a:buNone/>
            </a:pPr>
            <a:r>
              <a:rPr lang="de-DE" sz="1000" dirty="0">
                <a:solidFill>
                  <a:srgbClr val="C2CADE"/>
                </a:solidFill>
                <a:latin typeface="Inter Text" pitchFamily="34" charset="0"/>
                <a:ea typeface="Inter Text" pitchFamily="34" charset="-122"/>
                <a:cs typeface="Inter Text" pitchFamily="34" charset="-120"/>
              </a:rPr>
              <a:t>Netto </a:t>
            </a:r>
            <a:r>
              <a:rPr lang="de-DE" sz="1100" b="1" dirty="0">
                <a:solidFill>
                  <a:srgbClr val="FFFFFF"/>
                </a:solidFill>
                <a:latin typeface="Consolas" pitchFamily="34" charset="0"/>
                <a:ea typeface="Consolas" pitchFamily="34" charset="-122"/>
                <a:cs typeface="Consolas" pitchFamily="34" charset="-120"/>
              </a:rPr>
              <a:t>± 50,50 €</a:t>
            </a:r>
            <a:r>
              <a:rPr lang="de-DE" sz="1000" dirty="0">
                <a:solidFill>
                  <a:srgbClr val="C2CADE"/>
                </a:solidFill>
                <a:latin typeface="Inter Text" pitchFamily="34" charset="0"/>
                <a:ea typeface="Inter Text" pitchFamily="34" charset="-122"/>
                <a:cs typeface="Inter Text" pitchFamily="34" charset="-120"/>
              </a:rPr>
              <a:t>   USt </a:t>
            </a:r>
            <a:r>
              <a:rPr lang="de-DE" sz="1100" b="1" dirty="0">
                <a:solidFill>
                  <a:srgbClr val="FFFFFF"/>
                </a:solidFill>
                <a:latin typeface="Consolas" pitchFamily="34" charset="0"/>
                <a:ea typeface="Consolas" pitchFamily="34" charset="-122"/>
                <a:cs typeface="Consolas" pitchFamily="34" charset="-120"/>
              </a:rPr>
              <a:t>± 9,60 €</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de-DE" sz="850" dirty="0">
                <a:solidFill>
                  <a:srgbClr val="9AA4C2"/>
                </a:solidFill>
                <a:latin typeface="Inter Text" pitchFamily="34" charset="0"/>
                <a:ea typeface="Inter Text" pitchFamily="34" charset="-122"/>
                <a:cs typeface="Inter Text" pitchFamily="34" charset="-120"/>
              </a:rPr>
              <a:t>Annahme: alle Rundungen fallen in dieselbe Richtung, BT-149 Basismenge zum Artikelpreis = 1, 19 % USt. Ebenso: BT-129 in Rechnung gestellte Menge nur 4 NK — bis zu ± 0,00005 × Preis je Zeile bei teuren Artikeln.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BRUTTOPREISE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Bruttopreise: heute oft unmöglich</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Mit Nettobeträgen und USt in Cent sind viele vereinbarte Bruttobeträge nicht erreichbar.</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9</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Bruttobetrag, 19 % USt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Netto in Cent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Netto + USt in Cent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9,99 € (Kassenbon)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8,39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8,39 + 1,59 = 9,98  </a:t>
                      </a:r>
                      <a:r>
                        <a:rPr lang="de-DE" sz="1100" dirty="0">
                          <a:solidFill>
                            <a:srgbClr val="C0392B"/>
                          </a:solidFill>
                          <a:latin typeface="Inter SemiBold Text SemiBold" pitchFamily="34" charset="0"/>
                          <a:ea typeface="Inter SemiBold Text SemiBold" pitchFamily="34" charset="-122"/>
                          <a:cs typeface="Inter SemiBold Text SemiBold"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8,40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8,40 + 1,60 = 10,00  </a:t>
                      </a:r>
                      <a:r>
                        <a:rPr lang="de-DE" sz="1100" dirty="0">
                          <a:solidFill>
                            <a:srgbClr val="C0392B"/>
                          </a:solidFill>
                          <a:latin typeface="Inter SemiBold Text SemiBold" pitchFamily="34" charset="0"/>
                          <a:ea typeface="Inter SemiBold Text SemiBold" pitchFamily="34" charset="-122"/>
                          <a:cs typeface="Inter SemiBold Text SemiBold"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Überhaupt nicht erreichbar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19 von 119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16 % aller Bruttobeträge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Rechnungen mit 5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Simulation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52 % verfehlen die Bonsumme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Rechnungen mit 35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Simulation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81 % verfehlen die Bonsumme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de-DE" sz="1100" dirty="0">
                <a:solidFill>
                  <a:srgbClr val="5B6890"/>
                </a:solidFill>
                <a:latin typeface="Inter Text" pitchFamily="34" charset="0"/>
                <a:ea typeface="Inter Text" pitchFamily="34" charset="-122"/>
                <a:cs typeface="Inter Text" pitchFamily="34" charset="-120"/>
              </a:rPr>
              <a:t>Jeder Cent netto bringt 1,19 Cent brutto, also werden 19 von 119 Bruttobeträgen übersprungen. Bei 7 %: 7/107, bei 20 %: 20/120, bei 21 %: 21/121.</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de-DE" sz="1050" spc="150" dirty="0">
                <a:solidFill>
                  <a:srgbClr val="19C3C8"/>
                </a:solidFill>
                <a:latin typeface="Inter SemiBold Text SemiBold" pitchFamily="34" charset="0"/>
                <a:ea typeface="Inter SemiBold Text SemiBold" pitchFamily="34" charset="-122"/>
                <a:cs typeface="Inter SemiBold Text SemiBold" pitchFamily="34" charset="-120"/>
              </a:rPr>
              <a:t>DAS BMF BESTÄTIGT ES</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de-DE" sz="1300" dirty="0">
                <a:solidFill>
                  <a:srgbClr val="FFFFFF"/>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Schreiben vom 15.10.2026, Abschn. 2.5</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de-DE"/>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de-DE" sz="1050" dirty="0">
                <a:solidFill>
                  <a:srgbClr val="C2CADE"/>
                </a:solidFill>
                <a:latin typeface="Inter Text" pitchFamily="34" charset="0"/>
                <a:ea typeface="Inter Text" pitchFamily="34" charset="-122"/>
                <a:cs typeface="Inter Text" pitchFamily="34" charset="-120"/>
              </a:rPr>
              <a:t>Die Übergangslösung hält im strukturierten Teil nur die Summen je Steuersatz; die Einzelpositionen wandern in eine Anlage.</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de-DE" sz="1200" dirty="0">
                <a:solidFill>
                  <a:srgbClr val="5B6890"/>
                </a:solidFill>
                <a:latin typeface="Inter SemiBold Text SemiBold" pitchFamily="34" charset="0"/>
                <a:ea typeface="Inter SemiBold Text SemiBold" pitchFamily="34" charset="-122"/>
                <a:cs typeface="Inter SemiBold Text SemiBold" pitchFamily="34" charset="-120"/>
              </a:rPr>
              <a:t>Beispiele:  </a:t>
            </a:r>
            <a:r>
              <a:rPr lang="de-DE" sz="1200" dirty="0">
                <a:solidFill>
                  <a:srgbClr val="5B6890"/>
                </a:solidFill>
                <a:latin typeface="Inter Text" pitchFamily="34" charset="0"/>
                <a:ea typeface="Inter Text" pitchFamily="34" charset="-122"/>
                <a:cs typeface="Inter Text" pitchFamily="34" charset="-120"/>
              </a:rPr>
              <a:t>Kassenbons · Buchpreisbindung · Handel und Marktplätze · gesetzliche Bruttopreise</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de-DE" sz="1050" dirty="0">
                <a:solidFill>
                  <a:srgbClr val="B85C0A"/>
                </a:solidFill>
                <a:latin typeface="Inter SemiBold Text SemiBold" pitchFamily="34" charset="0"/>
                <a:ea typeface="Inter SemiBold Text SemiBold" pitchFamily="34" charset="-122"/>
                <a:cs typeface="Inter SemiBold Text SemiBold" pitchFamily="34" charset="-120"/>
              </a:rPr>
              <a:t>Nur die Toleranz von BR-S-9 </a:t>
            </a:r>
            <a:r>
              <a:rPr lang="de-DE" sz="1050" dirty="0">
                <a:solidFill>
                  <a:srgbClr val="B85C0A"/>
                </a:solidFill>
                <a:latin typeface="Inter Text" pitchFamily="34" charset="0"/>
                <a:ea typeface="Inter Text" pitchFamily="34" charset="-122"/>
                <a:cs typeface="Inter Text" pitchFamily="34" charset="-120"/>
              </a:rPr>
              <a:t>erlaubt 8,39 + 1,60 — mit einer USt, die nicht 19 % des Entgelts ist.</a:t>
            </a:r>
          </a:p>
        </p:txBody>
      </p:sp>
      <p:sp>
        <p:nvSpPr>
          <p:cNvPr id="30" name="Shape 20 c30"/>
          <p:cNvSpPr/>
          <p:nvPr/>
        </p:nvSpPr>
        <p:spPr>
          <a:xfrm>
            <a:off x="7909560" y="3310128"/>
            <a:ext cx="292608" cy="292608"/>
          </a:xfrm>
          <a:prstGeom prst="ellipse">
            <a:avLst/>
          </a:prstGeom>
          <a:solidFill>
            <a:srgbClr val="19C3C8"/>
          </a:solidFill>
          <a:ln>
            <a:noFill/>
          </a:ln>
        </p:spPr>
        <p:txBody>
          <a:bodyPr/>
          <a:lstStyle/>
          <a:p>
            <a:endParaRPr lang="de-DE"/>
          </a:p>
        </p:txBody>
      </p:sp>
      <p:sp>
        <p:nvSpPr>
          <p:cNvPr id="31" name="Text 21 c31"/>
          <p:cNvSpPr txBox="1"/>
          <p:nvPr/>
        </p:nvSpPr>
        <p:spPr>
          <a:xfrm>
            <a:off x="7909560" y="331012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2" name="Text 22 c32"/>
          <p:cNvSpPr txBox="1"/>
          <p:nvPr/>
        </p:nvSpPr>
        <p:spPr>
          <a:xfrm>
            <a:off x="8366760" y="3246120"/>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Rn. 17</a:t>
            </a:r>
            <a:r>
              <a:rPr lang="de-DE" sz="1250" dirty="0">
                <a:solidFill>
                  <a:srgbClr val="FFFFFF"/>
                </a:solidFill>
                <a:latin typeface="Inter Text" pitchFamily="34" charset="0"/>
                <a:ea typeface="Inter Text" pitchFamily="34" charset="-122"/>
                <a:cs typeface="Inter Text" pitchFamily="34" charset="-120"/>
              </a:rPr>
              <a:t>: Steuerbetrag nach Cent genau, kaufmännisch gerundet</a:t>
            </a:r>
          </a:p>
        </p:txBody>
      </p:sp>
      <p:sp>
        <p:nvSpPr>
          <p:cNvPr id="33" name="Shape 20 c33"/>
          <p:cNvSpPr/>
          <p:nvPr/>
        </p:nvSpPr>
        <p:spPr>
          <a:xfrm>
            <a:off x="7909560" y="3877056"/>
            <a:ext cx="292608" cy="292608"/>
          </a:xfrm>
          <a:prstGeom prst="ellipse">
            <a:avLst/>
          </a:prstGeom>
          <a:solidFill>
            <a:srgbClr val="19C3C8"/>
          </a:solidFill>
          <a:ln>
            <a:noFill/>
          </a:ln>
        </p:spPr>
        <p:txBody>
          <a:bodyPr/>
          <a:lstStyle/>
          <a:p>
            <a:endParaRPr lang="de-DE"/>
          </a:p>
        </p:txBody>
      </p:sp>
      <p:sp>
        <p:nvSpPr>
          <p:cNvPr id="34" name="Text 21 c34"/>
          <p:cNvSpPr txBox="1"/>
          <p:nvPr/>
        </p:nvSpPr>
        <p:spPr>
          <a:xfrm>
            <a:off x="7909560" y="387705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5" name="Text 22 c35"/>
          <p:cNvSpPr txBox="1"/>
          <p:nvPr/>
        </p:nvSpPr>
        <p:spPr>
          <a:xfrm>
            <a:off x="8366760" y="3813048"/>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Rn. 18</a:t>
            </a:r>
            <a:r>
              <a:rPr lang="de-DE" sz="1250" dirty="0">
                <a:solidFill>
                  <a:srgbClr val="FFFFFF"/>
                </a:solidFill>
                <a:latin typeface="Inter Text" pitchFamily="34" charset="0"/>
                <a:ea typeface="Inter Text" pitchFamily="34" charset="-122"/>
                <a:cs typeface="Inter Text" pitchFamily="34" charset="-120"/>
              </a:rPr>
              <a:t>: Kern und Rundungsregel nicht beide einhaltbar</a:t>
            </a:r>
          </a:p>
        </p:txBody>
      </p:sp>
      <p:sp>
        <p:nvSpPr>
          <p:cNvPr id="36" name="Shape 20 c36"/>
          <p:cNvSpPr/>
          <p:nvPr/>
        </p:nvSpPr>
        <p:spPr>
          <a:xfrm>
            <a:off x="7909560" y="4443984"/>
            <a:ext cx="292608" cy="292608"/>
          </a:xfrm>
          <a:prstGeom prst="ellipse">
            <a:avLst/>
          </a:prstGeom>
          <a:solidFill>
            <a:srgbClr val="19C3C8"/>
          </a:solidFill>
          <a:ln>
            <a:noFill/>
          </a:ln>
        </p:spPr>
        <p:txBody>
          <a:bodyPr/>
          <a:lstStyle/>
          <a:p>
            <a:endParaRPr lang="de-DE"/>
          </a:p>
        </p:txBody>
      </p:sp>
      <p:sp>
        <p:nvSpPr>
          <p:cNvPr id="37" name="Text 21 c37"/>
          <p:cNvSpPr txBox="1"/>
          <p:nvPr/>
        </p:nvSpPr>
        <p:spPr>
          <a:xfrm>
            <a:off x="7909560" y="444398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8" name="Text 22 c38"/>
          <p:cNvSpPr txBox="1"/>
          <p:nvPr/>
        </p:nvSpPr>
        <p:spPr>
          <a:xfrm>
            <a:off x="8366760" y="4379976"/>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Rn. 19</a:t>
            </a:r>
            <a:r>
              <a:rPr lang="de-DE" sz="1250" dirty="0">
                <a:solidFill>
                  <a:srgbClr val="FFFFFF"/>
                </a:solidFill>
                <a:latin typeface="Inter Text" pitchFamily="34" charset="0"/>
                <a:ea typeface="Inter Text" pitchFamily="34" charset="-122"/>
                <a:cs typeface="Inter Text" pitchFamily="34" charset="-120"/>
              </a:rPr>
              <a:t>: kein Bruttoformat in XRechnung, ZUGFeRD — Übergang bis 31.12.2027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URSACHE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Netto ↔ brutto umrechnen endet nie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Der vereinbarte Preis muss führen — nie je Zeile umrechnen.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10</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Die Umrechnung endet nie</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9,99 ÷ 1,19 = 8,394957983193… (periodisch)</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8,40 × 1,19 = 9,996 — kein Centbetrag</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Exakt nur mit unbegrenzten Nachkommastellen</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Jedes Maximum scheitert an einer Menge</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Preis an der d-ten NK gekappt: Fehler ≤ BT-129 × 0,5 × 10⁻ᵈ</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8 NK und 10.000.000 Stück: bis zu 0,05 €</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Tabelle von Cyrille Sautereau</a:t>
            </a:r>
            <a:r>
              <a:rPr lang="de-DE" sz="1200" dirty="0">
                <a:solidFill>
                  <a:srgbClr val="5B6890"/>
                </a:solidFill>
                <a:latin typeface="Inter Text" pitchFamily="34" charset="0"/>
                <a:ea typeface="Inter Text" pitchFamily="34" charset="-122"/>
                <a:cs typeface="Inter Text" pitchFamily="34" charset="-120"/>
              </a:rPr>
              <a:t>: 6 statt 4 NK beseitigen 0,05 €</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DIE REGEL</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Der Preis mit weniger Nachkommastellen ist der ursprüngliche und führt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Keine Umrechnung je Zeile: Zeilen sind netto (Nettomodell) oder brutto (Bruttomodell)</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Nur eine Umrechnung: USt einmal je Steuersatz herausrechnen (USt zuerst)</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Nettowerte nur, wo das Gesetz sie verlangt</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Nettomodell:  </a:t>
            </a:r>
            <a:r>
              <a:rPr lang="de-DE" sz="1100" dirty="0">
                <a:solidFill>
                  <a:srgbClr val="5B6890"/>
                </a:solidFill>
                <a:latin typeface="Inter Text" pitchFamily="34" charset="0"/>
                <a:ea typeface="Inter Text" pitchFamily="34" charset="-122"/>
                <a:cs typeface="Inter Text" pitchFamily="34" charset="-120"/>
              </a:rPr>
              <a:t>Nettopreis führt, USt aufgeschlagen  ·  Bruttomodell (#164): Preis plus USt führt, USt herausgerechnet</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VORSCHLAG 1/2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Bruttopreise für den Kern der EN </a:t>
            </a:r>
            <a:r>
              <a:rPr lang="de-DE" sz="3800" b="1" dirty="0">
                <a:solidFill>
                  <a:srgbClr val="1A2B5E"/>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(#164)</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Ist der Preis inklusive USt festgelegt, soll er die Rechnung führen.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11</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Schritt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Nettomodell (heute)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Bruttomodell (neu)</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2062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Preis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BT-146 Nettopreis des Artikels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BT-146V Nettopreis des Artikels plus Umsatzsteuer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Position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BT-131 = Preis × Menge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BT-131V = Preis plus USt × Menge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42062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Je Kategorie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BT-116 = Σ BT-131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BT-116V = Σ BT-131V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USt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BT-117 = BT-116 × Satz</a:t>
                      </a:r>
                      <a:r>
                        <a:rPr lang="de-DE" sz="1000" dirty="0">
                          <a:solidFill>
                            <a:srgbClr val="9AA4C2"/>
                          </a:solidFill>
                          <a:latin typeface="Inter Text" pitchFamily="34" charset="0"/>
                          <a:ea typeface="Inter Text" pitchFamily="34" charset="-122"/>
                          <a:cs typeface="Inter Text" pitchFamily="34" charset="-120"/>
                        </a:rPr>
                        <a:t>  aufgeschlagen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BT-117 = BT-116V × Satz ÷ (100 + Satz)</a:t>
                      </a:r>
                      <a:r>
                        <a:rPr lang="de-DE" sz="1000" dirty="0">
                          <a:solidFill>
                            <a:srgbClr val="0E7E82"/>
                          </a:solidFill>
                          <a:latin typeface="Inter SemiBold Text SemiBold" pitchFamily="34" charset="0"/>
                          <a:ea typeface="Inter SemiBold Text SemiBold" pitchFamily="34" charset="-122"/>
                          <a:cs typeface="Inter SemiBold Text SemiBold" pitchFamily="34" charset="-120"/>
                        </a:rPr>
                        <a:t>  herausgerechnet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42062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Netto je Kategorie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(gegeben)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BT-116 = BT-116V − BT-117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de-DE" sz="1100" dirty="0">
                <a:solidFill>
                  <a:srgbClr val="5B6890"/>
                </a:solidFill>
                <a:latin typeface="Inter Text" pitchFamily="34" charset="0"/>
                <a:ea typeface="Inter Text" pitchFamily="34" charset="-122"/>
                <a:cs typeface="Inter Text" pitchFamily="34" charset="-120"/>
              </a:rPr>
              <a:t>BT-146V je Position wählt das Modell; ein Indikator darf es bestätigen. BT-146 bleibt Pflicht (</a:t>
            </a:r>
            <a:r>
              <a:rPr lang="de-DE" sz="1100" dirty="0">
                <a:solidFill>
                  <a:srgbClr val="5B6890"/>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Art. 226 Nr. 8 MwStSystRL</a:t>
            </a:r>
            <a:r>
              <a:rPr lang="de-DE" sz="1100" dirty="0">
                <a:solidFill>
                  <a:srgbClr val="5B6890"/>
                </a:solidFill>
                <a:latin typeface="Inter Text" pitchFamily="34" charset="0"/>
                <a:ea typeface="Inter Text" pitchFamily="34" charset="-122"/>
                <a:cs typeface="Inter Text" pitchFamily="34" charset="-120"/>
              </a:rPr>
              <a:t>), im Bruttomodell nur zur Information. Nicht für N, D, F, I, J.</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de-DE" sz="1050" spc="150" dirty="0">
                <a:solidFill>
                  <a:srgbClr val="19C3C8"/>
                </a:solidFill>
                <a:latin typeface="Inter SemiBold Text SemiBold" pitchFamily="34" charset="0"/>
                <a:ea typeface="Inter SemiBold Text SemiBold" pitchFamily="34" charset="-122"/>
                <a:cs typeface="Inter SemiBold Text SemiBold" pitchFamily="34" charset="-120"/>
              </a:rPr>
              <a:t>BEISPIEL: BUCHPREISBINDUNG</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de-DE" sz="1300" dirty="0">
                <a:solidFill>
                  <a:srgbClr val="FFFFFF"/>
                </a:solidFill>
                <a:latin typeface="Inter SemiBold Text SemiBold" pitchFamily="34" charset="0"/>
                <a:ea typeface="Inter SemiBold Text SemiBold" pitchFamily="34" charset="-122"/>
                <a:cs typeface="Inter SemiBold Text SemiBold" pitchFamily="34" charset="-120"/>
              </a:rPr>
              <a:t>1.000 Bücher à 24,95 € inkl. 7 % USt</a:t>
            </a:r>
          </a:p>
        </p:txBody>
      </p:sp>
      <p:sp>
        <p:nvSpPr>
          <p:cNvPr id="13" name="Text 13"/>
          <p:cNvSpPr txBox="1"/>
          <p:nvPr/>
        </p:nvSpPr>
        <p:spPr>
          <a:xfrm>
            <a:off x="7909560" y="3291840"/>
            <a:ext cx="1143000" cy="274320"/>
          </a:xfrm>
          <a:prstGeom prst="rect">
            <a:avLst/>
          </a:prstGeom>
          <a:noFill/>
          <a:ln/>
        </p:spPr>
        <p:txBody>
          <a:bodyPr wrap="square" lIns="0" tIns="0" rIns="0" bIns="0" rtlCol="0" anchor="ctr"/>
          <a:lstStyle/>
          <a:p>
            <a:pPr marL="0" indent="0" algn="l">
              <a:buNone/>
            </a:pPr>
            <a:endParaRPr/>
          </a:p>
        </p:txBody>
      </p:sp>
      <p:sp>
        <p:nvSpPr>
          <p:cNvPr id="14" name="Text 14"/>
          <p:cNvSpPr txBox="1"/>
          <p:nvPr/>
        </p:nvSpPr>
        <p:spPr>
          <a:xfrm>
            <a:off x="9052560" y="3291840"/>
            <a:ext cx="1143000" cy="274320"/>
          </a:xfrm>
          <a:prstGeom prst="rect">
            <a:avLst/>
          </a:prstGeom>
          <a:noFill/>
          <a:ln/>
        </p:spPr>
        <p:txBody>
          <a:bodyPr wrap="square" lIns="0" tIns="0" rIns="0" bIns="0" rtlCol="0" anchor="ctr"/>
          <a:lstStyle/>
          <a:p>
            <a:pPr marL="0" indent="0" algn="r">
              <a:buNone/>
            </a:pPr>
            <a:r>
              <a:rPr lang="de-DE" sz="1000" dirty="0">
                <a:solidFill>
                  <a:srgbClr val="9AA4C2"/>
                </a:solidFill>
                <a:latin typeface="Inter SemiBold Text SemiBold" pitchFamily="34" charset="0"/>
                <a:ea typeface="Inter SemiBold Text SemiBold" pitchFamily="34" charset="-122"/>
                <a:cs typeface="Inter SemiBold Text SemiBold" pitchFamily="34" charset="-120"/>
              </a:rPr>
              <a:t>Gesamt</a:t>
            </a:r>
          </a:p>
        </p:txBody>
      </p:sp>
      <p:sp>
        <p:nvSpPr>
          <p:cNvPr id="15" name="Text 15"/>
          <p:cNvSpPr txBox="1"/>
          <p:nvPr/>
        </p:nvSpPr>
        <p:spPr>
          <a:xfrm>
            <a:off x="10195560" y="3291840"/>
            <a:ext cx="914400" cy="274320"/>
          </a:xfrm>
          <a:prstGeom prst="rect">
            <a:avLst/>
          </a:prstGeom>
          <a:noFill/>
          <a:ln/>
        </p:spPr>
        <p:txBody>
          <a:bodyPr wrap="square" lIns="0" tIns="0" rIns="0" bIns="0" rtlCol="0" anchor="ctr"/>
          <a:lstStyle/>
          <a:p>
            <a:pPr marL="0" indent="0" algn="r">
              <a:buNone/>
            </a:pPr>
            <a:r>
              <a:rPr lang="de-DE" sz="1000" dirty="0">
                <a:solidFill>
                  <a:srgbClr val="9AA4C2"/>
                </a:solidFill>
                <a:latin typeface="Inter SemiBold Text SemiBold" pitchFamily="34" charset="0"/>
                <a:ea typeface="Inter SemiBold Text SemiBold" pitchFamily="34" charset="-122"/>
                <a:cs typeface="Inter SemiBold Text SemiBold" pitchFamily="34" charset="-120"/>
              </a:rPr>
              <a:t>USt</a:t>
            </a:r>
          </a:p>
        </p:txBody>
      </p:sp>
      <p:sp>
        <p:nvSpPr>
          <p:cNvPr id="16" name="Text 16"/>
          <p:cNvSpPr txBox="1"/>
          <p:nvPr/>
        </p:nvSpPr>
        <p:spPr>
          <a:xfrm>
            <a:off x="7909560" y="3611880"/>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Soll</a:t>
            </a:r>
          </a:p>
        </p:txBody>
      </p:sp>
      <p:sp>
        <p:nvSpPr>
          <p:cNvPr id="17" name="Text 17"/>
          <p:cNvSpPr txBox="1"/>
          <p:nvPr/>
        </p:nvSpPr>
        <p:spPr>
          <a:xfrm>
            <a:off x="9052560" y="3611880"/>
            <a:ext cx="11430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24.950,00</a:t>
            </a:r>
          </a:p>
        </p:txBody>
      </p:sp>
      <p:sp>
        <p:nvSpPr>
          <p:cNvPr id="18" name="Text 18"/>
          <p:cNvSpPr txBox="1"/>
          <p:nvPr/>
        </p:nvSpPr>
        <p:spPr>
          <a:xfrm>
            <a:off x="10195560" y="3611880"/>
            <a:ext cx="9144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1.632,24</a:t>
            </a:r>
          </a:p>
        </p:txBody>
      </p:sp>
      <p:sp>
        <p:nvSpPr>
          <p:cNvPr id="19" name="Text 19"/>
          <p:cNvSpPr txBox="1"/>
          <p:nvPr/>
        </p:nvSpPr>
        <p:spPr>
          <a:xfrm>
            <a:off x="7909560" y="4087368"/>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Netto 2026</a:t>
            </a:r>
          </a:p>
        </p:txBody>
      </p:sp>
      <p:sp>
        <p:nvSpPr>
          <p:cNvPr id="20" name="Text 20"/>
          <p:cNvSpPr txBox="1"/>
          <p:nvPr/>
        </p:nvSpPr>
        <p:spPr>
          <a:xfrm>
            <a:off x="9052560" y="4087368"/>
            <a:ext cx="1143000" cy="365760"/>
          </a:xfrm>
          <a:prstGeom prst="rect">
            <a:avLst/>
          </a:prstGeom>
          <a:noFill/>
          <a:ln/>
        </p:spPr>
        <p:txBody>
          <a:bodyPr wrap="square" lIns="0" tIns="0" rIns="0" bIns="0" rtlCol="0" anchor="ctr"/>
          <a:lstStyle/>
          <a:p>
            <a:pPr marL="0" indent="0" algn="r">
              <a:buNone/>
            </a:pPr>
            <a:r>
              <a:rPr lang="de-DE" sz="1200" b="1" dirty="0">
                <a:solidFill>
                  <a:srgbClr val="FF8A80"/>
                </a:solidFill>
                <a:latin typeface="Consolas" pitchFamily="34" charset="0"/>
                <a:ea typeface="Consolas" pitchFamily="34" charset="-122"/>
                <a:cs typeface="Consolas" pitchFamily="34" charset="-120"/>
              </a:rPr>
              <a:t>24.950,05</a:t>
            </a:r>
          </a:p>
        </p:txBody>
      </p:sp>
      <p:sp>
        <p:nvSpPr>
          <p:cNvPr id="21" name="Text 21"/>
          <p:cNvSpPr txBox="1"/>
          <p:nvPr/>
        </p:nvSpPr>
        <p:spPr>
          <a:xfrm>
            <a:off x="10195560" y="4087368"/>
            <a:ext cx="914400" cy="365760"/>
          </a:xfrm>
          <a:prstGeom prst="rect">
            <a:avLst/>
          </a:prstGeom>
          <a:noFill/>
          <a:ln/>
        </p:spPr>
        <p:txBody>
          <a:bodyPr wrap="square" lIns="0" tIns="0" rIns="0" bIns="0" rtlCol="0" anchor="ctr"/>
          <a:lstStyle/>
          <a:p>
            <a:pPr marL="0" indent="0" algn="r">
              <a:buNone/>
            </a:pPr>
            <a:r>
              <a:rPr lang="de-DE" sz="1200" b="1" dirty="0">
                <a:solidFill>
                  <a:srgbClr val="FF8A80"/>
                </a:solidFill>
                <a:latin typeface="Consolas" pitchFamily="34" charset="0"/>
                <a:ea typeface="Consolas" pitchFamily="34" charset="-122"/>
                <a:cs typeface="Consolas" pitchFamily="34" charset="-120"/>
              </a:rPr>
              <a:t>1.632,25</a:t>
            </a:r>
          </a:p>
        </p:txBody>
      </p:sp>
      <p:sp>
        <p:nvSpPr>
          <p:cNvPr id="22" name="Text 22"/>
          <p:cNvSpPr txBox="1"/>
          <p:nvPr/>
        </p:nvSpPr>
        <p:spPr>
          <a:xfrm>
            <a:off x="7909560" y="4562856"/>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Bruttomodell</a:t>
            </a:r>
          </a:p>
        </p:txBody>
      </p:sp>
      <p:sp>
        <p:nvSpPr>
          <p:cNvPr id="23" name="Text 23"/>
          <p:cNvSpPr txBox="1"/>
          <p:nvPr/>
        </p:nvSpPr>
        <p:spPr>
          <a:xfrm>
            <a:off x="9052560" y="4562856"/>
            <a:ext cx="1143000" cy="365760"/>
          </a:xfrm>
          <a:prstGeom prst="rect">
            <a:avLst/>
          </a:prstGeom>
          <a:noFill/>
          <a:ln/>
        </p:spPr>
        <p:txBody>
          <a:bodyPr wrap="square" lIns="0" tIns="0" rIns="0" bIns="0" rtlCol="0" anchor="ctr"/>
          <a:lstStyle/>
          <a:p>
            <a:pPr marL="0" indent="0" algn="r">
              <a:buNone/>
            </a:pPr>
            <a:r>
              <a:rPr lang="de-DE" sz="1200" b="1" dirty="0">
                <a:solidFill>
                  <a:srgbClr val="58D6BB"/>
                </a:solidFill>
                <a:latin typeface="Consolas" pitchFamily="34" charset="0"/>
                <a:ea typeface="Consolas" pitchFamily="34" charset="-122"/>
                <a:cs typeface="Consolas" pitchFamily="34" charset="-120"/>
              </a:rPr>
              <a:t>24.950,00</a:t>
            </a:r>
          </a:p>
        </p:txBody>
      </p:sp>
      <p:sp>
        <p:nvSpPr>
          <p:cNvPr id="24" name="Text 24"/>
          <p:cNvSpPr txBox="1"/>
          <p:nvPr/>
        </p:nvSpPr>
        <p:spPr>
          <a:xfrm>
            <a:off x="10195560" y="4562856"/>
            <a:ext cx="914400" cy="365760"/>
          </a:xfrm>
          <a:prstGeom prst="rect">
            <a:avLst/>
          </a:prstGeom>
          <a:noFill/>
          <a:ln/>
        </p:spPr>
        <p:txBody>
          <a:bodyPr wrap="square" lIns="0" tIns="0" rIns="0" bIns="0" rtlCol="0" anchor="ctr"/>
          <a:lstStyle/>
          <a:p>
            <a:pPr marL="0" indent="0" algn="r">
              <a:buNone/>
            </a:pPr>
            <a:r>
              <a:rPr lang="de-DE" sz="1200" b="1" dirty="0">
                <a:solidFill>
                  <a:srgbClr val="58D6BB"/>
                </a:solidFill>
                <a:latin typeface="Consolas" pitchFamily="34" charset="0"/>
                <a:ea typeface="Consolas" pitchFamily="34" charset="-122"/>
                <a:cs typeface="Consolas" pitchFamily="34" charset="-120"/>
              </a:rPr>
              <a:t>1.632,24</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de-DE"/>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de-DE" sz="1050" dirty="0">
                <a:solidFill>
                  <a:srgbClr val="C2CADE"/>
                </a:solidFill>
                <a:latin typeface="Inter Text" pitchFamily="34" charset="0"/>
                <a:ea typeface="Inter Text" pitchFamily="34" charset="-122"/>
                <a:cs typeface="Inter Text" pitchFamily="34" charset="-120"/>
              </a:rPr>
              <a:t>Nettomodell: 5 Cent zu viel, USt 1 Cent zu hoch. Bruttomodell, USt zuerst: 1.632,24299… € einmal auf 1.632,24 € gerundet; das Entgelt ist der Rest.</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de-DE" sz="1200" dirty="0">
                <a:solidFill>
                  <a:srgbClr val="5B6890"/>
                </a:solidFill>
                <a:latin typeface="Inter Text" pitchFamily="34" charset="0"/>
                <a:ea typeface="Inter Text" pitchFamily="34" charset="-122"/>
                <a:cs typeface="Inter Text" pitchFamily="34" charset="-120"/>
              </a:rPr>
              <a:t>Anwendungsfälle:  </a:t>
            </a:r>
            <a:r>
              <a:rPr lang="de-DE" sz="1200" dirty="0">
                <a:solidFill>
                  <a:srgbClr val="0E7E82"/>
                </a:solidFill>
                <a:latin typeface="Inter SemiBold Text SemiBold" pitchFamily="34" charset="0"/>
                <a:ea typeface="Inter SemiBold Text SemiBold" pitchFamily="34" charset="-122"/>
                <a:cs typeface="Inter SemiBold Text SemiBold" pitchFamily="34" charset="-120"/>
              </a:rPr>
              <a:t>Buchpreisbindung · Kassenbon → Rechnung · Handel und Marktplätze · gesetzliche Bruttopreise</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de-DE" sz="1050" dirty="0">
                <a:solidFill>
                  <a:srgbClr val="B85C0A"/>
                </a:solidFill>
                <a:latin typeface="Inter SemiBold Text SemiBold" pitchFamily="34" charset="0"/>
                <a:ea typeface="Inter SemiBold Text SemiBold" pitchFamily="34" charset="-122"/>
                <a:cs typeface="Inter SemiBold Text SemiBold" pitchFamily="34" charset="-120"/>
              </a:rPr>
              <a:t>Heute oft unmöglich: </a:t>
            </a:r>
            <a:r>
              <a:rPr lang="de-DE" sz="1050" dirty="0">
                <a:solidFill>
                  <a:srgbClr val="5B6890"/>
                </a:solidFill>
                <a:latin typeface="Inter Text" pitchFamily="34" charset="0"/>
                <a:ea typeface="Inter Text" pitchFamily="34" charset="-122"/>
                <a:cs typeface="Inter Text" pitchFamily="34" charset="-120"/>
              </a:rPr>
              <a:t>Bei 19 % USt sind 16 % aller Bruttobeträge mit Netto und USt in der Minor Unit nicht erreichbar — 9,99 € = 8,39 + 1,59 → 9,98. Mit 5 Zeilen verfehlen 52 %, mit 35 Zeilen 81 % den Kassenbon.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BRUTTOMODELL </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(#164)</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 · DATENFLUSS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Ein Datenfluss, zwei Richtungen</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Gleiche Schritte, gespiegelte Business Terms — sie unterscheiden sich nur, wo die USt hinzukommt (orange).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12</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37" name="TextBox 36"/>
          <p:cNvSpPr txBox="1"/>
          <p:nvPr/>
        </p:nvSpPr>
        <p:spPr>
          <a:xfrm>
            <a:off x="822960" y="2231136"/>
            <a:ext cx="4041648" cy="219456"/>
          </a:xfrm>
          <a:prstGeom prst="rect">
            <a:avLst/>
          </a:prstGeom>
          <a:noFill/>
        </p:spPr>
        <p:txBody>
          <a:bodyPr wrap="none" lIns="0" rIns="0" tIns="0" bIns="0" anchor="ctr">
            <a:spAutoFit/>
          </a:bodyPr>
          <a:lstStyle/>
          <a:p>
            <a:pPr algn="l"/>
            <a:r>
              <a:rPr sz="950" spc="200">
                <a:solidFill>
                  <a:srgbClr val="5B6890"/>
                </a:solidFill>
                <a:latin typeface="Inter SemiBold Text SemiBold"/>
              </a:rPr>
              <a:t>NETTOMODELL · BT-146 FÜHRT</a:t>
            </a:r>
          </a:p>
        </p:txBody>
      </p:sp>
      <p:sp>
        <p:nvSpPr>
          <p:cNvPr id="38" name="TextBox 37"/>
          <p:cNvSpPr txBox="1"/>
          <p:nvPr/>
        </p:nvSpPr>
        <p:spPr>
          <a:xfrm>
            <a:off x="4974336" y="2231136"/>
            <a:ext cx="2240280" cy="219456"/>
          </a:xfrm>
          <a:prstGeom prst="rect">
            <a:avLst/>
          </a:prstGeom>
          <a:noFill/>
        </p:spPr>
        <p:txBody>
          <a:bodyPr wrap="none" lIns="0" rIns="0" tIns="0" bIns="0" anchor="ctr">
            <a:spAutoFit/>
          </a:bodyPr>
          <a:lstStyle/>
          <a:p>
            <a:pPr algn="ctr"/>
            <a:r>
              <a:rPr sz="950" spc="200">
                <a:solidFill>
                  <a:srgbClr val="1A2B5E"/>
                </a:solidFill>
                <a:latin typeface="Inter SemiBold Text SemiBold"/>
              </a:rPr>
              <a:t>GEMEINSAM</a:t>
            </a:r>
          </a:p>
        </p:txBody>
      </p:sp>
      <p:sp>
        <p:nvSpPr>
          <p:cNvPr id="39" name="TextBox 38"/>
          <p:cNvSpPr txBox="1"/>
          <p:nvPr/>
        </p:nvSpPr>
        <p:spPr>
          <a:xfrm>
            <a:off x="7324344" y="2231136"/>
            <a:ext cx="4041648" cy="219456"/>
          </a:xfrm>
          <a:prstGeom prst="rect">
            <a:avLst/>
          </a:prstGeom>
          <a:noFill/>
        </p:spPr>
        <p:txBody>
          <a:bodyPr wrap="none" lIns="0" rIns="0" tIns="0" bIns="0" anchor="ctr">
            <a:spAutoFit/>
          </a:bodyPr>
          <a:lstStyle/>
          <a:p>
            <a:pPr algn="l"/>
            <a:r>
              <a:rPr sz="950" spc="200">
                <a:solidFill>
                  <a:srgbClr val="0B7A7E"/>
                </a:solidFill>
                <a:latin typeface="Inter SemiBold Text SemiBold"/>
              </a:rPr>
              <a:t>BRUTTOMODELL </a:t>
            </a:r>
            <a:r>
              <a:rPr sz="950" spc="200">
                <a:solidFill>
                  <a:srgbClr val="0B7A7E"/>
                </a:solidFill>
                <a:latin typeface="Inter SemiBold Text SemiBold"/>
                <a:hlinkClick r:id="rId6">
                  <a:extLst>
                    <a:ext uri="{A12FA001-AC4F-418D-AE19-62706E023703}">
                      <ahyp:hlinkClr xmlns:ahyp="http://schemas.microsoft.com/office/drawing/2018/hyperlinkcolor" val="tx"/>
                    </a:ext>
                  </a:extLst>
                </a:hlinkClick>
              </a:rPr>
              <a:t>(#164)</a:t>
            </a:r>
            <a:r>
              <a:rPr sz="950" spc="200">
                <a:solidFill>
                  <a:srgbClr val="0B7A7E"/>
                </a:solidFill>
                <a:latin typeface="Inter SemiBold Text SemiBold"/>
              </a:rPr>
              <a:t> · BT-146V FÜHRT</a:t>
            </a:r>
          </a:p>
        </p:txBody>
      </p:sp>
      <p:sp>
        <p:nvSpPr>
          <p:cNvPr id="40" name="Rounded Rectangle 39"/>
          <p:cNvSpPr/>
          <p:nvPr/>
        </p:nvSpPr>
        <p:spPr>
          <a:xfrm>
            <a:off x="822960" y="2505456"/>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BT-146¹</a:t>
            </a:r>
            <a:r>
              <a:rPr sz="900">
                <a:solidFill>
                  <a:srgbClr val="5B6890"/>
                </a:solidFill>
                <a:latin typeface="Inter Text"/>
              </a:rPr>
              <a:t> = BT-148 − BT-147</a:t>
            </a:r>
          </a:p>
        </p:txBody>
      </p:sp>
      <p:sp>
        <p:nvSpPr>
          <p:cNvPr id="41" name="Rounded Rectangle 40"/>
          <p:cNvSpPr/>
          <p:nvPr/>
        </p:nvSpPr>
        <p:spPr>
          <a:xfrm>
            <a:off x="7324344" y="2505456"/>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BT-146V</a:t>
            </a:r>
            <a:r>
              <a:rPr sz="900">
                <a:solidFill>
                  <a:srgbClr val="1A2B5E"/>
                </a:solidFill>
                <a:latin typeface="Inter Text"/>
              </a:rPr>
              <a:t> = BT-148V − BT-147V  ·  BT-146¹ zur Information</a:t>
            </a:r>
          </a:p>
        </p:txBody>
      </p:sp>
      <p:sp>
        <p:nvSpPr>
          <p:cNvPr id="42" name="Rounded Rectangle 41"/>
          <p:cNvSpPr/>
          <p:nvPr/>
        </p:nvSpPr>
        <p:spPr>
          <a:xfrm>
            <a:off x="4974336" y="2505456"/>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Preis</a:t>
            </a:r>
          </a:p>
        </p:txBody>
      </p:sp>
      <p:sp>
        <p:nvSpPr>
          <p:cNvPr id="43" name="Rounded Rectangle 42"/>
          <p:cNvSpPr/>
          <p:nvPr/>
        </p:nvSpPr>
        <p:spPr>
          <a:xfrm>
            <a:off x="822960" y="2820924"/>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BT-131</a:t>
            </a:r>
            <a:r>
              <a:rPr sz="900">
                <a:solidFill>
                  <a:srgbClr val="5B6890"/>
                </a:solidFill>
                <a:latin typeface="Inter Text"/>
              </a:rPr>
              <a:t> = BT-146 ÷ BT-149 × BT-129 + Σ BT-141 − Σ BT-136</a:t>
            </a:r>
          </a:p>
        </p:txBody>
      </p:sp>
      <p:sp>
        <p:nvSpPr>
          <p:cNvPr id="44" name="Rounded Rectangle 43"/>
          <p:cNvSpPr/>
          <p:nvPr/>
        </p:nvSpPr>
        <p:spPr>
          <a:xfrm>
            <a:off x="7324344" y="2820924"/>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BT-131V</a:t>
            </a:r>
            <a:r>
              <a:rPr sz="900">
                <a:solidFill>
                  <a:srgbClr val="1A2B5E"/>
                </a:solidFill>
                <a:latin typeface="Inter Text"/>
              </a:rPr>
              <a:t> = BT-146V ÷ BT-149 × BT-129 + Σ BT-141V − Σ BT-136V</a:t>
            </a:r>
          </a:p>
        </p:txBody>
      </p:sp>
      <p:sp>
        <p:nvSpPr>
          <p:cNvPr id="45" name="Rounded Rectangle 44"/>
          <p:cNvSpPr/>
          <p:nvPr/>
        </p:nvSpPr>
        <p:spPr>
          <a:xfrm>
            <a:off x="4974336" y="2820924"/>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Position</a:t>
            </a:r>
            <a:r>
              <a:rPr sz="850">
                <a:solidFill>
                  <a:srgbClr val="C2CADE"/>
                </a:solidFill>
                <a:latin typeface="Inter Text"/>
              </a:rPr>
              <a:t>  ·  BT-129¹, BT-149</a:t>
            </a:r>
          </a:p>
        </p:txBody>
      </p:sp>
      <p:sp>
        <p:nvSpPr>
          <p:cNvPr id="46" name="Rounded Rectangle 45"/>
          <p:cNvSpPr/>
          <p:nvPr/>
        </p:nvSpPr>
        <p:spPr>
          <a:xfrm>
            <a:off x="822960" y="3136392"/>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5B6890"/>
                </a:solidFill>
                <a:latin typeface="Inter Text"/>
              </a:rPr>
              <a:t>BT-136¹, BT-141 auf den Grundbeträgen BT-137, BT-142</a:t>
            </a:r>
          </a:p>
        </p:txBody>
      </p:sp>
      <p:sp>
        <p:nvSpPr>
          <p:cNvPr id="47" name="Rounded Rectangle 46"/>
          <p:cNvSpPr/>
          <p:nvPr/>
        </p:nvSpPr>
        <p:spPr>
          <a:xfrm>
            <a:off x="7324344" y="3136392"/>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Text"/>
              </a:rPr>
              <a:t>BT-136V, BT-141V auf den Grundbeträgen BT-137V, BT-142V</a:t>
            </a:r>
          </a:p>
        </p:txBody>
      </p:sp>
      <p:sp>
        <p:nvSpPr>
          <p:cNvPr id="48" name="Rounded Rectangle 47"/>
          <p:cNvSpPr/>
          <p:nvPr/>
        </p:nvSpPr>
        <p:spPr>
          <a:xfrm>
            <a:off x="4974336" y="3136392"/>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Position A/Z</a:t>
            </a:r>
            <a:r>
              <a:rPr sz="850">
                <a:solidFill>
                  <a:srgbClr val="C2CADE"/>
                </a:solidFill>
                <a:latin typeface="Inter Text"/>
              </a:rPr>
              <a:t>  ·  BT-138, BT-143</a:t>
            </a:r>
          </a:p>
        </p:txBody>
      </p:sp>
      <p:sp>
        <p:nvSpPr>
          <p:cNvPr id="49" name="Rounded Rectangle 48"/>
          <p:cNvSpPr/>
          <p:nvPr/>
        </p:nvSpPr>
        <p:spPr>
          <a:xfrm>
            <a:off x="822960" y="3451860"/>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BT-92¹</a:t>
            </a:r>
            <a:r>
              <a:rPr sz="900">
                <a:solidFill>
                  <a:srgbClr val="5B6890"/>
                </a:solidFill>
                <a:latin typeface="Inter Text"/>
              </a:rPr>
              <a:t> = BT-94 × BT-93 ÷ 100  ·  BT-99 = BT-101 × BT-100 ÷ 100</a:t>
            </a:r>
          </a:p>
        </p:txBody>
      </p:sp>
      <p:sp>
        <p:nvSpPr>
          <p:cNvPr id="50" name="Rounded Rectangle 49"/>
          <p:cNvSpPr/>
          <p:nvPr/>
        </p:nvSpPr>
        <p:spPr>
          <a:xfrm>
            <a:off x="7324344" y="3451860"/>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BT-92V</a:t>
            </a:r>
            <a:r>
              <a:rPr sz="900">
                <a:solidFill>
                  <a:srgbClr val="1A2B5E"/>
                </a:solidFill>
                <a:latin typeface="Inter Text"/>
              </a:rPr>
              <a:t> = BT-94 × BT-93V ÷ 100  ·  BT-99V = BT-101 × BT-100V ÷ 100</a:t>
            </a:r>
          </a:p>
        </p:txBody>
      </p:sp>
      <p:sp>
        <p:nvSpPr>
          <p:cNvPr id="51" name="Rounded Rectangle 50"/>
          <p:cNvSpPr/>
          <p:nvPr/>
        </p:nvSpPr>
        <p:spPr>
          <a:xfrm>
            <a:off x="4974336" y="3451860"/>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Dokument A/Z</a:t>
            </a:r>
            <a:r>
              <a:rPr sz="850">
                <a:solidFill>
                  <a:srgbClr val="C2CADE"/>
                </a:solidFill>
                <a:latin typeface="Inter Text"/>
              </a:rPr>
              <a:t>  ·  BT-94, BT-101</a:t>
            </a:r>
          </a:p>
        </p:txBody>
      </p:sp>
      <p:sp>
        <p:nvSpPr>
          <p:cNvPr id="52" name="Rounded Rectangle 51"/>
          <p:cNvSpPr/>
          <p:nvPr/>
        </p:nvSpPr>
        <p:spPr>
          <a:xfrm>
            <a:off x="822960" y="3767328"/>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BT-106</a:t>
            </a:r>
            <a:r>
              <a:rPr sz="900">
                <a:solidFill>
                  <a:srgbClr val="5B6890"/>
                </a:solidFill>
                <a:latin typeface="Inter Text"/>
              </a:rPr>
              <a:t> = Σ BT-131  ·  BT-107 = Σ BT-92  ·  BT-108 = Σ BT-99</a:t>
            </a:r>
          </a:p>
        </p:txBody>
      </p:sp>
      <p:sp>
        <p:nvSpPr>
          <p:cNvPr id="53" name="Rounded Rectangle 52"/>
          <p:cNvSpPr/>
          <p:nvPr/>
        </p:nvSpPr>
        <p:spPr>
          <a:xfrm>
            <a:off x="7324344" y="3767328"/>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BT-106V</a:t>
            </a:r>
            <a:r>
              <a:rPr sz="900">
                <a:solidFill>
                  <a:srgbClr val="1A2B5E"/>
                </a:solidFill>
                <a:latin typeface="Inter Text"/>
              </a:rPr>
              <a:t> = Σ BT-131V  ·  BT-107V = Σ BT-92V  ·  BT-108V = Σ BT-99V</a:t>
            </a:r>
          </a:p>
        </p:txBody>
      </p:sp>
      <p:sp>
        <p:nvSpPr>
          <p:cNvPr id="54" name="Rounded Rectangle 53"/>
          <p:cNvSpPr/>
          <p:nvPr/>
        </p:nvSpPr>
        <p:spPr>
          <a:xfrm>
            <a:off x="4974336" y="3767328"/>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Summen</a:t>
            </a:r>
          </a:p>
        </p:txBody>
      </p:sp>
      <p:sp>
        <p:nvSpPr>
          <p:cNvPr id="55" name="Rounded Rectangle 54"/>
          <p:cNvSpPr/>
          <p:nvPr/>
        </p:nvSpPr>
        <p:spPr>
          <a:xfrm>
            <a:off x="822960" y="4082796"/>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BT-116</a:t>
            </a:r>
            <a:r>
              <a:rPr sz="900">
                <a:solidFill>
                  <a:srgbClr val="5B6890"/>
                </a:solidFill>
                <a:latin typeface="Inter Text"/>
              </a:rPr>
              <a:t> = Σ BT-131 + Σ BT-99 − Σ BT-92</a:t>
            </a:r>
          </a:p>
        </p:txBody>
      </p:sp>
      <p:sp>
        <p:nvSpPr>
          <p:cNvPr id="56" name="Rounded Rectangle 55"/>
          <p:cNvSpPr/>
          <p:nvPr/>
        </p:nvSpPr>
        <p:spPr>
          <a:xfrm>
            <a:off x="7324344" y="4082796"/>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BT-116V</a:t>
            </a:r>
            <a:r>
              <a:rPr sz="900">
                <a:solidFill>
                  <a:srgbClr val="1A2B5E"/>
                </a:solidFill>
                <a:latin typeface="Inter Text"/>
              </a:rPr>
              <a:t> = Σ BT-131V + Σ BT-99V − Σ BT-92V</a:t>
            </a:r>
          </a:p>
        </p:txBody>
      </p:sp>
      <p:sp>
        <p:nvSpPr>
          <p:cNvPr id="57" name="Rounded Rectangle 56"/>
          <p:cNvSpPr/>
          <p:nvPr/>
        </p:nvSpPr>
        <p:spPr>
          <a:xfrm>
            <a:off x="4974336" y="4082796"/>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USt-Kategorie</a:t>
            </a:r>
            <a:r>
              <a:rPr sz="850">
                <a:solidFill>
                  <a:srgbClr val="C2CADE"/>
                </a:solidFill>
                <a:latin typeface="Inter Text"/>
              </a:rPr>
              <a:t>  ·  BT-118, BT-119²³</a:t>
            </a:r>
          </a:p>
        </p:txBody>
      </p:sp>
      <p:sp>
        <p:nvSpPr>
          <p:cNvPr id="58" name="Rounded Rectangle 57"/>
          <p:cNvSpPr/>
          <p:nvPr/>
        </p:nvSpPr>
        <p:spPr>
          <a:xfrm>
            <a:off x="822960" y="4398264"/>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BT-117</a:t>
            </a:r>
            <a:r>
              <a:rPr sz="900">
                <a:solidFill>
                  <a:srgbClr val="5B6890"/>
                </a:solidFill>
                <a:latin typeface="Inter Text"/>
              </a:rPr>
              <a:t> = BT-116 × BT-119 ÷ 100  ·  aufgeschlagen</a:t>
            </a:r>
          </a:p>
        </p:txBody>
      </p:sp>
      <p:sp>
        <p:nvSpPr>
          <p:cNvPr id="59" name="Rounded Rectangle 58"/>
          <p:cNvSpPr/>
          <p:nvPr/>
        </p:nvSpPr>
        <p:spPr>
          <a:xfrm>
            <a:off x="7324344" y="4398264"/>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BT-117</a:t>
            </a:r>
            <a:r>
              <a:rPr sz="900">
                <a:solidFill>
                  <a:srgbClr val="1A2B5E"/>
                </a:solidFill>
                <a:latin typeface="Inter Text"/>
              </a:rPr>
              <a:t> = BT-116V × BT-119 ÷ (100 + BT-119)  ·  herausgerechnet</a:t>
            </a:r>
          </a:p>
        </p:txBody>
      </p:sp>
      <p:sp>
        <p:nvSpPr>
          <p:cNvPr id="60" name="Rounded Rectangle 59"/>
          <p:cNvSpPr/>
          <p:nvPr/>
        </p:nvSpPr>
        <p:spPr>
          <a:xfrm>
            <a:off x="4974336" y="4398264"/>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USt</a:t>
            </a:r>
            <a:r>
              <a:rPr sz="850">
                <a:solidFill>
                  <a:srgbClr val="C2CADE"/>
                </a:solidFill>
                <a:latin typeface="Inter Text"/>
              </a:rPr>
              <a:t>  ·  BT-117³</a:t>
            </a:r>
          </a:p>
        </p:txBody>
      </p:sp>
      <p:sp>
        <p:nvSpPr>
          <p:cNvPr id="61" name="Rounded Rectangle 60"/>
          <p:cNvSpPr/>
          <p:nvPr/>
        </p:nvSpPr>
        <p:spPr>
          <a:xfrm>
            <a:off x="822960" y="4713732"/>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5B6890"/>
                </a:solidFill>
                <a:latin typeface="Inter Text"/>
              </a:rPr>
              <a:t>BT-116 aus den Positionen, siehe oben</a:t>
            </a:r>
          </a:p>
        </p:txBody>
      </p:sp>
      <p:sp>
        <p:nvSpPr>
          <p:cNvPr id="62" name="Rounded Rectangle 61"/>
          <p:cNvSpPr/>
          <p:nvPr/>
        </p:nvSpPr>
        <p:spPr>
          <a:xfrm>
            <a:off x="7324344" y="4713732"/>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BT-116</a:t>
            </a:r>
            <a:r>
              <a:rPr sz="900">
                <a:solidFill>
                  <a:srgbClr val="1A2B5E"/>
                </a:solidFill>
                <a:latin typeface="Inter Text"/>
              </a:rPr>
              <a:t> = BT-116V − BT-117  ·  der Rest (USt zuerst)⁴</a:t>
            </a:r>
          </a:p>
        </p:txBody>
      </p:sp>
      <p:sp>
        <p:nvSpPr>
          <p:cNvPr id="63" name="Rounded Rectangle 62"/>
          <p:cNvSpPr/>
          <p:nvPr/>
        </p:nvSpPr>
        <p:spPr>
          <a:xfrm>
            <a:off x="4974336" y="4713732"/>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Bemessungsgrundlage</a:t>
            </a:r>
            <a:r>
              <a:rPr sz="850">
                <a:solidFill>
                  <a:srgbClr val="C2CADE"/>
                </a:solidFill>
                <a:latin typeface="Inter Text"/>
              </a:rPr>
              <a:t>  ·  BT-116¹³</a:t>
            </a:r>
          </a:p>
        </p:txBody>
      </p:sp>
      <p:sp>
        <p:nvSpPr>
          <p:cNvPr id="64" name="Rounded Rectangle 63"/>
          <p:cNvSpPr/>
          <p:nvPr/>
        </p:nvSpPr>
        <p:spPr>
          <a:xfrm>
            <a:off x="822960" y="5029200"/>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BT-109</a:t>
            </a:r>
            <a:r>
              <a:rPr sz="900">
                <a:solidFill>
                  <a:srgbClr val="5B6890"/>
                </a:solidFill>
                <a:latin typeface="Inter Text"/>
              </a:rPr>
              <a:t> = BT-106 − BT-107 + BT-108  ·  BT-112 = BT-109 + BT-110</a:t>
            </a:r>
          </a:p>
        </p:txBody>
      </p:sp>
      <p:sp>
        <p:nvSpPr>
          <p:cNvPr id="65" name="Rounded Rectangle 64"/>
          <p:cNvSpPr/>
          <p:nvPr/>
        </p:nvSpPr>
        <p:spPr>
          <a:xfrm>
            <a:off x="7324344" y="5029200"/>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BT-112</a:t>
            </a:r>
            <a:r>
              <a:rPr sz="900">
                <a:solidFill>
                  <a:srgbClr val="1A2B5E"/>
                </a:solidFill>
                <a:latin typeface="Inter Text"/>
              </a:rPr>
              <a:t> = BT-106V − BT-107V + BT-108V  ·  BT-109 = BT-112 − BT-110</a:t>
            </a:r>
          </a:p>
        </p:txBody>
      </p:sp>
      <p:sp>
        <p:nvSpPr>
          <p:cNvPr id="66" name="Rounded Rectangle 65"/>
          <p:cNvSpPr/>
          <p:nvPr/>
        </p:nvSpPr>
        <p:spPr>
          <a:xfrm>
            <a:off x="4974336" y="5029200"/>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Gesamtbeträge</a:t>
            </a:r>
            <a:r>
              <a:rPr sz="850">
                <a:solidFill>
                  <a:srgbClr val="C2CADE"/>
                </a:solidFill>
                <a:latin typeface="Inter Text"/>
              </a:rPr>
              <a:t>  ·  BT-110² = Σ BT-117</a:t>
            </a:r>
          </a:p>
        </p:txBody>
      </p:sp>
      <p:sp>
        <p:nvSpPr>
          <p:cNvPr id="67" name="Rounded Rectangle 66"/>
          <p:cNvSpPr/>
          <p:nvPr/>
        </p:nvSpPr>
        <p:spPr>
          <a:xfrm>
            <a:off x="822960" y="5344668"/>
            <a:ext cx="10543032"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900">
                <a:solidFill>
                  <a:srgbClr val="FFFFFF"/>
                </a:solidFill>
                <a:latin typeface="Inter SemiBold Text SemiBold"/>
              </a:rPr>
              <a:t>Zahlung  ·  </a:t>
            </a:r>
            <a:r>
              <a:rPr sz="900">
                <a:solidFill>
                  <a:srgbClr val="FFFFFF"/>
                </a:solidFill>
                <a:latin typeface="Inter Text"/>
              </a:rPr>
              <a:t>BT-115 = BT-112 − BT-113 + Σ BT-179 + BT-114 — gleich in beiden Modellen; BT-114 zeigt die eine Rundung</a:t>
            </a:r>
          </a:p>
        </p:txBody>
      </p:sp>
      <p:sp>
        <p:nvSpPr>
          <p:cNvPr id="68" name="TextBox 67"/>
          <p:cNvSpPr txBox="1"/>
          <p:nvPr/>
        </p:nvSpPr>
        <p:spPr>
          <a:xfrm>
            <a:off x="822960" y="5710428"/>
            <a:ext cx="10543032" cy="685800"/>
          </a:xfrm>
          <a:prstGeom prst="rect">
            <a:avLst/>
          </a:prstGeom>
          <a:noFill/>
        </p:spPr>
        <p:txBody>
          <a:bodyPr wrap="square" lIns="0" rIns="0" tIns="0" bIns="0">
            <a:spAutoFit/>
          </a:bodyPr>
          <a:lstStyle/>
          <a:p>
            <a:r>
              <a:rPr sz="750">
                <a:solidFill>
                  <a:srgbClr val="C9D1E3"/>
                </a:solidFill>
                <a:latin typeface="Inter Text"/>
              </a:rPr>
              <a:t>■ </a:t>
            </a:r>
            <a:r>
              <a:rPr sz="750">
                <a:solidFill>
                  <a:srgbClr val="5B6890"/>
                </a:solidFill>
                <a:latin typeface="Inter Text"/>
              </a:rPr>
              <a:t>Netto-Begriff   </a:t>
            </a:r>
            <a:r>
              <a:rPr sz="750">
                <a:solidFill>
                  <a:srgbClr val="7FD6D9"/>
                </a:solidFill>
                <a:latin typeface="Inter Text"/>
              </a:rPr>
              <a:t>■ </a:t>
            </a:r>
            <a:r>
              <a:rPr sz="750">
                <a:solidFill>
                  <a:srgbClr val="5B6890"/>
                </a:solidFill>
                <a:latin typeface="Inter Text"/>
              </a:rPr>
              <a:t>Gegenstück „plus USt“   </a:t>
            </a:r>
            <a:r>
              <a:rPr sz="750">
                <a:solidFill>
                  <a:srgbClr val="1A2B5E"/>
                </a:solidFill>
                <a:latin typeface="Inter Text"/>
              </a:rPr>
              <a:t>■ </a:t>
            </a:r>
            <a:r>
              <a:rPr sz="750">
                <a:solidFill>
                  <a:srgbClr val="5B6890"/>
                </a:solidFill>
                <a:latin typeface="Inter Text"/>
              </a:rPr>
              <a:t>gemeinsam   </a:t>
            </a:r>
            <a:r>
              <a:rPr sz="750">
                <a:solidFill>
                  <a:srgbClr val="F0B27A"/>
                </a:solidFill>
                <a:latin typeface="Inter Text"/>
              </a:rPr>
              <a:t>■ </a:t>
            </a:r>
            <a:r>
              <a:rPr sz="750">
                <a:solidFill>
                  <a:srgbClr val="5B6890"/>
                </a:solidFill>
                <a:latin typeface="Inter Text"/>
              </a:rPr>
              <a:t>wo sich die Modelle unterscheiden   </a:t>
            </a:r>
            <a:r>
              <a:rPr sz="750">
                <a:solidFill>
                  <a:srgbClr val="5B6890"/>
                </a:solidFill>
                <a:latin typeface="Inter Text"/>
              </a:rPr>
              <a:t>A/Z = Abschläge und Zuschläge   </a:t>
            </a:r>
            <a:r>
              <a:rPr sz="750">
                <a:solidFill>
                  <a:srgbClr val="1A2B5E"/>
                </a:solidFill>
                <a:latin typeface="Inter SemiBold Text SemiBold"/>
              </a:rPr>
              <a:t>¹ ² ³ ⁴ </a:t>
            </a:r>
            <a:r>
              <a:rPr sz="750">
                <a:solidFill>
                  <a:srgbClr val="5B6890"/>
                </a:solidFill>
                <a:latin typeface="Inter Text"/>
              </a:rPr>
              <a:t>gesetzlich verlangt:</a:t>
            </a:r>
          </a:p>
          <a:p>
            <a:r>
              <a:rPr sz="750">
                <a:solidFill>
                  <a:srgbClr val="1A2B5E"/>
                </a:solidFill>
                <a:latin typeface="Inter SemiBold Text SemiBold"/>
              </a:rPr>
              <a:t>¹ </a:t>
            </a:r>
            <a:r>
              <a:rPr sz="750">
                <a:solidFill>
                  <a:srgbClr val="5B6890"/>
                </a:solidFill>
                <a:latin typeface="Inter Text"/>
                <a:hlinkClick r:id="rId7">
                  <a:extLst>
                    <a:ext uri="{A12FA001-AC4F-418D-AE19-62706E023703}">
                      <ahyp:hlinkClr xmlns:ahyp="http://schemas.microsoft.com/office/drawing/2018/hyperlinkcolor" val="tx"/>
                    </a:ext>
                  </a:extLst>
                </a:hlinkClick>
              </a:rPr>
              <a:t>MwStSystRL 2006/112/EG, Art. 226 Nr. 6 und 8</a:t>
            </a:r>
            <a:r>
              <a:rPr sz="750">
                <a:solidFill>
                  <a:srgbClr val="5B6890"/>
                </a:solidFill>
                <a:latin typeface="Inter Text"/>
              </a:rPr>
              <a:t>: Menge, Preis je Einheit ohne MwSt., nicht darin enthaltene Rabatte, Bemessungsgrundlage je Steuersatz</a:t>
            </a:r>
          </a:p>
          <a:p>
            <a:r>
              <a:rPr sz="750">
                <a:solidFill>
                  <a:srgbClr val="1A2B5E"/>
                </a:solidFill>
                <a:latin typeface="Inter SemiBold Text SemiBold"/>
              </a:rPr>
              <a:t>² </a:t>
            </a:r>
            <a:r>
              <a:rPr sz="750">
                <a:solidFill>
                  <a:srgbClr val="5B6890"/>
                </a:solidFill>
                <a:latin typeface="Inter Text"/>
                <a:hlinkClick r:id="rId7">
                  <a:extLst>
                    <a:ext uri="{A12FA001-AC4F-418D-AE19-62706E023703}">
                      <ahyp:hlinkClr xmlns:ahyp="http://schemas.microsoft.com/office/drawing/2018/hyperlinkcolor" val="tx"/>
                    </a:ext>
                  </a:extLst>
                </a:hlinkClick>
              </a:rPr>
              <a:t>Art. 226 Nr. 9 und 10</a:t>
            </a:r>
            <a:r>
              <a:rPr sz="750">
                <a:solidFill>
                  <a:srgbClr val="5B6890"/>
                </a:solidFill>
                <a:latin typeface="Inter Text"/>
              </a:rPr>
              <a:t>: Steuersatz und zu zahlender MwSt.-Betrag (EN 16931-1:2026, Anhang B)</a:t>
            </a:r>
          </a:p>
          <a:p>
            <a:r>
              <a:rPr sz="750">
                <a:solidFill>
                  <a:srgbClr val="1A2B5E"/>
                </a:solidFill>
                <a:latin typeface="Inter SemiBold Text SemiBold"/>
              </a:rPr>
              <a:t>³ </a:t>
            </a:r>
            <a:r>
              <a:rPr sz="750">
                <a:solidFill>
                  <a:srgbClr val="5B6890"/>
                </a:solidFill>
                <a:latin typeface="Inter Text"/>
              </a:rPr>
              <a:t>Deutschland, </a:t>
            </a:r>
            <a:r>
              <a:rPr sz="750">
                <a:solidFill>
                  <a:srgbClr val="5B6890"/>
                </a:solidFill>
                <a:latin typeface="Inter Text"/>
                <a:hlinkClick r:id="rId8">
                  <a:extLst>
                    <a:ext uri="{A12FA001-AC4F-418D-AE19-62706E023703}">
                      <ahyp:hlinkClr xmlns:ahyp="http://schemas.microsoft.com/office/drawing/2018/hyperlinkcolor" val="tx"/>
                    </a:ext>
                  </a:extLst>
                </a:hlinkClick>
              </a:rPr>
              <a:t>§ 14 Abs. 4 Satz 1 Nr. 7 und 8 UStG</a:t>
            </a:r>
            <a:r>
              <a:rPr sz="750">
                <a:solidFill>
                  <a:srgbClr val="5B6890"/>
                </a:solidFill>
                <a:latin typeface="Inter Text"/>
              </a:rPr>
              <a:t>: Entgelt je Steuersatz, Steuersatz und Steuerbetrag — der Steuerbetrag nach Cent genau berechnet und kaufmännisch gerundet (</a:t>
            </a:r>
            <a:r>
              <a:rPr sz="750">
                <a:solidFill>
                  <a:srgbClr val="5B6890"/>
                </a:solidFill>
                <a:latin typeface="Inter Text"/>
                <a:hlinkClick r:id="rId9">
                  <a:extLst>
                    <a:ext uri="{A12FA001-AC4F-418D-AE19-62706E023703}">
                      <ahyp:hlinkClr xmlns:ahyp="http://schemas.microsoft.com/office/drawing/2018/hyperlinkcolor" val="tx"/>
                    </a:ext>
                  </a:extLst>
                </a:hlinkClick>
              </a:rPr>
              <a:t>UStAE 14.5 Abs. 20</a:t>
            </a:r>
            <a:r>
              <a:rPr sz="750">
                <a:solidFill>
                  <a:srgbClr val="5B6890"/>
                </a:solidFill>
                <a:latin typeface="Inter Text"/>
              </a:rPr>
              <a:t>; </a:t>
            </a:r>
            <a:r>
              <a:rPr sz="750">
                <a:solidFill>
                  <a:srgbClr val="5B6890"/>
                </a:solidFill>
                <a:latin typeface="Inter Text"/>
                <a:hlinkClick r:id="rId10">
                  <a:extLst>
                    <a:ext uri="{A12FA001-AC4F-418D-AE19-62706E023703}">
                      <ahyp:hlinkClr xmlns:ahyp="http://schemas.microsoft.com/office/drawing/2018/hyperlinkcolor" val="tx"/>
                    </a:ext>
                  </a:extLst>
                </a:hlinkClick>
              </a:rPr>
              <a:t>BMF-Schreiben vom 15.10.2026, Rn. 17</a:t>
            </a:r>
            <a:r>
              <a:rPr sz="750">
                <a:solidFill>
                  <a:srgbClr val="5B6890"/>
                </a:solidFill>
                <a:latin typeface="Inter Text"/>
              </a:rPr>
              <a:t>)</a:t>
            </a:r>
          </a:p>
          <a:p>
            <a:r>
              <a:rPr sz="750">
                <a:solidFill>
                  <a:srgbClr val="1A2B5E"/>
                </a:solidFill>
                <a:latin typeface="Inter SemiBold Text SemiBold"/>
              </a:rPr>
              <a:t>⁴ </a:t>
            </a:r>
            <a:r>
              <a:rPr sz="750">
                <a:solidFill>
                  <a:srgbClr val="5B6890"/>
                </a:solidFill>
                <a:latin typeface="Inter Text"/>
                <a:hlinkClick r:id="rId11">
                  <a:extLst>
                    <a:ext uri="{A12FA001-AC4F-418D-AE19-62706E023703}">
                      <ahyp:hlinkClr xmlns:ahyp="http://schemas.microsoft.com/office/drawing/2018/hyperlinkcolor" val="tx"/>
                    </a:ext>
                  </a:extLst>
                </a:hlinkClick>
              </a:rPr>
              <a:t>§ 10 Abs. 1 UStG</a:t>
            </a:r>
            <a:r>
              <a:rPr sz="750">
                <a:solidFill>
                  <a:srgbClr val="5B6890"/>
                </a:solidFill>
                <a:latin typeface="Inter Text"/>
              </a:rPr>
              <a:t>: Das Entgelt ist die Gegenleistung abzüglich der Umsatzsteuer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BRUTTOMODELL </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(#164)</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 · BEISPIEL</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Kraftstoff: Der Zehntelcent steckt im Preis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Die Beträge, die bezahlt, gebucht und erklärt werden, bleiben in Cent.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13</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Business Term</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Wert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Herkunft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BT-146V Nettopreis des Artikels plus Umsatzsteuer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1,799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Preis an der Zapfsäule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BT-129 in Rechnung gestellte Menge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45,37 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gezapft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BT-131V Nettobetrag der Rechnungsposition plus Umsatzsteuer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81,62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81,62063, bezahlt als 81,62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BT-117 Kategoriespezifischer Steuerbetrag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13,03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81,62 × 19 ÷ 119, einmal gerundet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BT-116 Kategoriespezifischer Steuerbasisbetrag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68,59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81,62 − 13,03, der Rest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de-DE" sz="1100" dirty="0">
                <a:solidFill>
                  <a:srgbClr val="5B6890"/>
                </a:solidFill>
                <a:latin typeface="Inter Text" pitchFamily="34" charset="0"/>
                <a:ea typeface="Inter Text" pitchFamily="34" charset="-122"/>
                <a:cs typeface="Inter Text" pitchFamily="34" charset="-120"/>
              </a:rPr>
              <a:t>BT-116V = BT-112 = BT-115 = 81,62. BT-131 Nettobetrag der Rechnungsposition wird im Bruttomodell nicht verwendet: keine Umrechnung je Position, keine Toleranz.</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de-DE" sz="1050" spc="150" dirty="0">
                <a:solidFill>
                  <a:srgbClr val="19C3C8"/>
                </a:solidFill>
                <a:latin typeface="Inter SemiBold Text SemiBold" pitchFamily="34" charset="0"/>
                <a:ea typeface="Inter SemiBold Text SemiBold" pitchFamily="34" charset="-122"/>
                <a:cs typeface="Inter SemiBold Text SemiBold" pitchFamily="34" charset="-120"/>
              </a:rPr>
              <a:t>DER NETTOPREIS BESTÄTIGT DIE UST</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de-DE" sz="1300" dirty="0">
                <a:solidFill>
                  <a:srgbClr val="FFFFFF"/>
                </a:solidFill>
                <a:latin typeface="Inter SemiBold Text SemiBold" pitchFamily="34" charset="0"/>
                <a:ea typeface="Inter SemiBold Text SemiBold" pitchFamily="34" charset="-122"/>
                <a:cs typeface="Inter SemiBold Text SemiBold" pitchFamily="34" charset="-120"/>
              </a:rPr>
              <a:t>1.000 × 24,95 € inkl. 7 % USt </a:t>
            </a:r>
            <a:r>
              <a:rPr lang="de-DE" sz="1300" dirty="0">
                <a:solidFill>
                  <a:srgbClr val="FFFFFF"/>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(#164)</a:t>
            </a:r>
          </a:p>
        </p:txBody>
      </p:sp>
      <p:sp>
        <p:nvSpPr>
          <p:cNvPr id="13" name="Text 13"/>
          <p:cNvSpPr txBox="1"/>
          <p:nvPr/>
        </p:nvSpPr>
        <p:spPr>
          <a:xfrm>
            <a:off x="7909560" y="3291840"/>
            <a:ext cx="1143000" cy="274320"/>
          </a:xfrm>
          <a:prstGeom prst="rect">
            <a:avLst/>
          </a:prstGeom>
          <a:noFill/>
          <a:ln/>
        </p:spPr>
        <p:txBody>
          <a:bodyPr wrap="square" lIns="0" tIns="0" rIns="0" bIns="0" rtlCol="0" anchor="ctr"/>
          <a:lstStyle/>
          <a:p>
            <a:pPr marL="0" indent="0" algn="l">
              <a:buNone/>
            </a:pPr>
            <a:endParaRPr/>
          </a:p>
        </p:txBody>
      </p:sp>
      <p:sp>
        <p:nvSpPr>
          <p:cNvPr id="14" name="Text 14"/>
          <p:cNvSpPr txBox="1"/>
          <p:nvPr/>
        </p:nvSpPr>
        <p:spPr>
          <a:xfrm>
            <a:off x="9052560" y="3291840"/>
            <a:ext cx="1143000" cy="274320"/>
          </a:xfrm>
          <a:prstGeom prst="rect">
            <a:avLst/>
          </a:prstGeom>
          <a:noFill/>
          <a:ln/>
        </p:spPr>
        <p:txBody>
          <a:bodyPr wrap="square" lIns="0" tIns="0" rIns="0" bIns="0" rtlCol="0" anchor="ctr"/>
          <a:lstStyle/>
          <a:p>
            <a:pPr marL="0" indent="0" algn="r">
              <a:buNone/>
            </a:pPr>
            <a:r>
              <a:rPr lang="de-DE" sz="1000" dirty="0">
                <a:solidFill>
                  <a:srgbClr val="C2CADE"/>
                </a:solidFill>
                <a:latin typeface="Inter SemiBold Text SemiBold" pitchFamily="34" charset="0"/>
                <a:ea typeface="Inter SemiBold Text SemiBold" pitchFamily="34" charset="-122"/>
                <a:cs typeface="Inter SemiBold Text SemiBold" pitchFamily="34" charset="-120"/>
              </a:rPr>
              <a:t>Netto</a:t>
            </a:r>
          </a:p>
        </p:txBody>
      </p:sp>
      <p:sp>
        <p:nvSpPr>
          <p:cNvPr id="15" name="Text 15"/>
          <p:cNvSpPr txBox="1"/>
          <p:nvPr/>
        </p:nvSpPr>
        <p:spPr>
          <a:xfrm>
            <a:off x="10195560" y="3291840"/>
            <a:ext cx="914400" cy="274320"/>
          </a:xfrm>
          <a:prstGeom prst="rect">
            <a:avLst/>
          </a:prstGeom>
          <a:noFill/>
          <a:ln/>
        </p:spPr>
        <p:txBody>
          <a:bodyPr wrap="square" lIns="0" tIns="0" rIns="0" bIns="0" rtlCol="0" anchor="ctr"/>
          <a:lstStyle/>
          <a:p>
            <a:pPr marL="0" indent="0" algn="r">
              <a:buNone/>
            </a:pPr>
            <a:r>
              <a:rPr lang="de-DE" sz="1000" dirty="0">
                <a:solidFill>
                  <a:srgbClr val="C2CADE"/>
                </a:solidFill>
                <a:latin typeface="Inter SemiBold Text SemiBold" pitchFamily="34" charset="0"/>
                <a:ea typeface="Inter SemiBold Text SemiBold" pitchFamily="34" charset="-122"/>
                <a:cs typeface="Inter SemiBold Text SemiBold" pitchFamily="34" charset="-120"/>
              </a:rPr>
              <a:t>USt</a:t>
            </a:r>
          </a:p>
        </p:txBody>
      </p:sp>
      <p:sp>
        <p:nvSpPr>
          <p:cNvPr id="16" name="Text 16"/>
          <p:cNvSpPr txBox="1"/>
          <p:nvPr/>
        </p:nvSpPr>
        <p:spPr>
          <a:xfrm>
            <a:off x="7909560" y="3611880"/>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4 NK  ✗</a:t>
            </a:r>
          </a:p>
        </p:txBody>
      </p:sp>
      <p:sp>
        <p:nvSpPr>
          <p:cNvPr id="17" name="Text 17"/>
          <p:cNvSpPr txBox="1"/>
          <p:nvPr/>
        </p:nvSpPr>
        <p:spPr>
          <a:xfrm>
            <a:off x="9052560" y="3611880"/>
            <a:ext cx="1143000" cy="365760"/>
          </a:xfrm>
          <a:prstGeom prst="rect">
            <a:avLst/>
          </a:prstGeom>
          <a:noFill/>
          <a:ln/>
        </p:spPr>
        <p:txBody>
          <a:bodyPr wrap="square" lIns="0" tIns="0" rIns="0" bIns="0" rtlCol="0" anchor="ctr"/>
          <a:lstStyle/>
          <a:p>
            <a:pPr marL="0" indent="0" algn="r">
              <a:buNone/>
            </a:pPr>
            <a:r>
              <a:rPr lang="de-DE" sz="1200" b="1" dirty="0">
                <a:solidFill>
                  <a:srgbClr val="FF8A80"/>
                </a:solidFill>
                <a:latin typeface="Consolas" pitchFamily="34" charset="0"/>
                <a:ea typeface="Consolas" pitchFamily="34" charset="-122"/>
                <a:cs typeface="Consolas" pitchFamily="34" charset="-120"/>
              </a:rPr>
              <a:t>23.317,80</a:t>
            </a:r>
          </a:p>
        </p:txBody>
      </p:sp>
      <p:sp>
        <p:nvSpPr>
          <p:cNvPr id="18" name="Text 18"/>
          <p:cNvSpPr txBox="1"/>
          <p:nvPr/>
        </p:nvSpPr>
        <p:spPr>
          <a:xfrm>
            <a:off x="10195560" y="3611880"/>
            <a:ext cx="914400" cy="365760"/>
          </a:xfrm>
          <a:prstGeom prst="rect">
            <a:avLst/>
          </a:prstGeom>
          <a:noFill/>
          <a:ln/>
        </p:spPr>
        <p:txBody>
          <a:bodyPr wrap="square" lIns="0" tIns="0" rIns="0" bIns="0" rtlCol="0" anchor="ctr"/>
          <a:lstStyle/>
          <a:p>
            <a:pPr marL="0" indent="0" algn="r">
              <a:buNone/>
            </a:pPr>
            <a:r>
              <a:rPr lang="de-DE" sz="1200" b="1" dirty="0">
                <a:solidFill>
                  <a:srgbClr val="FF8A80"/>
                </a:solidFill>
                <a:latin typeface="Consolas" pitchFamily="34" charset="0"/>
                <a:ea typeface="Consolas" pitchFamily="34" charset="-122"/>
                <a:cs typeface="Consolas" pitchFamily="34" charset="-120"/>
              </a:rPr>
              <a:t>1.632,25</a:t>
            </a:r>
          </a:p>
        </p:txBody>
      </p:sp>
      <p:sp>
        <p:nvSpPr>
          <p:cNvPr id="19" name="Text 19"/>
          <p:cNvSpPr txBox="1"/>
          <p:nvPr/>
        </p:nvSpPr>
        <p:spPr>
          <a:xfrm>
            <a:off x="7909560" y="4087368"/>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6 NK  ✓</a:t>
            </a:r>
          </a:p>
        </p:txBody>
      </p:sp>
      <p:sp>
        <p:nvSpPr>
          <p:cNvPr id="20" name="Text 20"/>
          <p:cNvSpPr txBox="1"/>
          <p:nvPr/>
        </p:nvSpPr>
        <p:spPr>
          <a:xfrm>
            <a:off x="9052560" y="4087368"/>
            <a:ext cx="11430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23.317,757</a:t>
            </a:r>
          </a:p>
        </p:txBody>
      </p:sp>
      <p:sp>
        <p:nvSpPr>
          <p:cNvPr id="21" name="Text 21"/>
          <p:cNvSpPr txBox="1"/>
          <p:nvPr/>
        </p:nvSpPr>
        <p:spPr>
          <a:xfrm>
            <a:off x="10195560" y="4087368"/>
            <a:ext cx="9144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1.632,24</a:t>
            </a:r>
          </a:p>
        </p:txBody>
      </p:sp>
      <p:sp>
        <p:nvSpPr>
          <p:cNvPr id="22" name="Text 22"/>
          <p:cNvSpPr txBox="1"/>
          <p:nvPr/>
        </p:nvSpPr>
        <p:spPr>
          <a:xfrm>
            <a:off x="7909560" y="4562856"/>
            <a:ext cx="1143000" cy="365760"/>
          </a:xfrm>
          <a:prstGeom prst="rect">
            <a:avLst/>
          </a:prstGeom>
          <a:noFill/>
          <a:ln/>
        </p:spPr>
        <p:txBody>
          <a:bodyPr wrap="square" lIns="0" tIns="0" rIns="0" bIns="0" rtlCol="0" anchor="ctr"/>
          <a:lstStyle/>
          <a:p>
            <a:pPr marL="0" indent="0" algn="l">
              <a:buNone/>
            </a:pPr>
            <a:r>
              <a:rPr lang="de-DE" sz="1150" dirty="0">
                <a:solidFill>
                  <a:srgbClr val="C2CADE"/>
                </a:solidFill>
                <a:latin typeface="Inter Text" pitchFamily="34" charset="0"/>
                <a:ea typeface="Inter Text" pitchFamily="34" charset="-122"/>
                <a:cs typeface="Inter Text" pitchFamily="34" charset="-120"/>
              </a:rPr>
              <a:t>Extrahiert</a:t>
            </a:r>
          </a:p>
        </p:txBody>
      </p:sp>
      <p:sp>
        <p:nvSpPr>
          <p:cNvPr id="23" name="Text 23"/>
          <p:cNvSpPr txBox="1"/>
          <p:nvPr/>
        </p:nvSpPr>
        <p:spPr>
          <a:xfrm>
            <a:off x="9052560" y="4562856"/>
            <a:ext cx="11430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23.317,76</a:t>
            </a:r>
          </a:p>
        </p:txBody>
      </p:sp>
      <p:sp>
        <p:nvSpPr>
          <p:cNvPr id="24" name="Text 24"/>
          <p:cNvSpPr txBox="1"/>
          <p:nvPr/>
        </p:nvSpPr>
        <p:spPr>
          <a:xfrm>
            <a:off x="10195560" y="4562856"/>
            <a:ext cx="914400" cy="365760"/>
          </a:xfrm>
          <a:prstGeom prst="rect">
            <a:avLst/>
          </a:prstGeom>
          <a:noFill/>
          <a:ln/>
        </p:spPr>
        <p:txBody>
          <a:bodyPr wrap="square" lIns="0" tIns="0" rIns="0" bIns="0" rtlCol="0" anchor="ctr"/>
          <a:lstStyle/>
          <a:p>
            <a:pPr marL="0" indent="0" algn="r">
              <a:buNone/>
            </a:pPr>
            <a:r>
              <a:rPr lang="de-DE" sz="1200" b="1" dirty="0">
                <a:solidFill>
                  <a:srgbClr val="FFFFFF"/>
                </a:solidFill>
                <a:latin typeface="Consolas" pitchFamily="34" charset="0"/>
                <a:ea typeface="Consolas" pitchFamily="34" charset="-122"/>
                <a:cs typeface="Consolas" pitchFamily="34" charset="-120"/>
              </a:rPr>
              <a:t>1.632,24</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de-DE"/>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de-DE" sz="1050" dirty="0">
                <a:solidFill>
                  <a:srgbClr val="C2CADE"/>
                </a:solidFill>
                <a:latin typeface="Inter Text" pitchFamily="34" charset="0"/>
                <a:ea typeface="Inter Text" pitchFamily="34" charset="-122"/>
                <a:cs typeface="Inter Text" pitchFamily="34" charset="-120"/>
              </a:rPr>
              <a:t>BT-146 × BT-129 × 7 %: Mit 4 NK widerspricht der Nettopreis der herausgerechneten USt, mit 6 NK bestätigt er sie.</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de-DE" sz="1200" dirty="0">
                <a:solidFill>
                  <a:srgbClr val="5B6890"/>
                </a:solidFill>
                <a:latin typeface="Inter SemiBold Text SemiBold" pitchFamily="34" charset="0"/>
                <a:ea typeface="Inter SemiBold Text SemiBold" pitchFamily="34" charset="-122"/>
                <a:cs typeface="Inter SemiBold Text SemiBold" pitchFamily="34" charset="-120"/>
              </a:rPr>
              <a:t>Vorgeschlagene Prüfung:  </a:t>
            </a:r>
            <a:r>
              <a:rPr lang="de-DE" sz="1200" dirty="0">
                <a:solidFill>
                  <a:srgbClr val="5B6890"/>
                </a:solidFill>
                <a:latin typeface="Inter Text" pitchFamily="34" charset="0"/>
                <a:ea typeface="Inter Text" pitchFamily="34" charset="-122"/>
                <a:cs typeface="Inter Text" pitchFamily="34" charset="-120"/>
              </a:rPr>
              <a:t>Σ BT-146 × BT-129 ÷ BT-149 × Satz ergibt BT-117 auf den Cent — nur ohne Maximum möglich</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de-DE" sz="1050" dirty="0">
                <a:solidFill>
                  <a:srgbClr val="B85C0A"/>
                </a:solidFill>
                <a:latin typeface="Inter SemiBold Text SemiBold" pitchFamily="34" charset="0"/>
                <a:ea typeface="Inter SemiBold Text SemiBold" pitchFamily="34" charset="-122"/>
                <a:cs typeface="Inter SemiBold Text SemiBold" pitchFamily="34" charset="-120"/>
              </a:rPr>
              <a:t>Nur zur Information: </a:t>
            </a:r>
            <a:r>
              <a:rPr lang="de-DE" sz="1050" dirty="0">
                <a:solidFill>
                  <a:srgbClr val="B85C0A"/>
                </a:solidFill>
                <a:latin typeface="Inter Text" pitchFamily="34" charset="0"/>
                <a:ea typeface="Inter Text" pitchFamily="34" charset="-122"/>
                <a:cs typeface="Inter Text" pitchFamily="34" charset="-120"/>
              </a:rPr>
              <a:t>BT-146 Nettopreis des Artikels = 1,799 ÷ 1,19 = 1,51176470… — der einzige Wert mit endlosen Nachkommastellen.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VORSCHLAG 2/2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Nur einmal runden </a:t>
            </a:r>
            <a:r>
              <a:rPr lang="de-DE" sz="3800" b="1" dirty="0">
                <a:solidFill>
                  <a:srgbClr val="1A2B5E"/>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(#163)</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Gerundet wird nur, was bezahlt wird, und zwar einmal: Zahlbetrag und USt.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14</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Gezahlte Beträge und USt — einmal gerundet</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BT-115 Fälliger Zahlungsbetrag, in der Minor Unit (EUR: Cent)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BT-117 Kategoriespezifischer Steuerbetrag: einmal je Kategorie</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BT-114 Rundungsbetrag trägt die Rundung von BT-115</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Ebenso BT-110, BT-111, BT-113, BT-172, BT-179, BT-183</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Alles andere: wie berechnet</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Preise, Mengen, Positionsbeträge und Summen: kein Maximum</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BT-116 Kategoriespezifischer Steuerbasisbetrag: exakt, Cent per CIUS</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Denn die nötigen Stellen wachsen mit Menge und Zeilen</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WAS SICH ÄNDERT</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6.5.14 gilt für die ganze Rechenkette, nicht nur je Regel</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Exakte Validierung (decimal128); jede Regel behält die heutige Toleranz</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Fehler nur außerhalb; Warnung nur, wo eine Rundung BT-117 oder BT-112 ändert</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Keine Anforderung an Software: weder Maximum noch Minimum an Nachkommastellen</a:t>
            </a:r>
          </a:p>
        </p:txBody>
      </p:sp>
      <p:sp>
        <p:nvSpPr>
          <p:cNvPr id="32" name="Shape 32"/>
          <p:cNvSpPr/>
          <p:nvPr/>
        </p:nvSpPr>
        <p:spPr>
          <a:xfrm>
            <a:off x="6492240" y="5212080"/>
            <a:ext cx="292608" cy="292608"/>
          </a:xfrm>
          <a:prstGeom prst="ellipse">
            <a:avLst/>
          </a:prstGeom>
          <a:solidFill>
            <a:srgbClr val="19C3C8"/>
          </a:solidFill>
          <a:ln>
            <a:noFill/>
          </a:ln>
        </p:spPr>
        <p:txBody>
          <a:bodyPr/>
          <a:lstStyle/>
          <a:p>
            <a:endParaRPr lang="de-DE"/>
          </a:p>
        </p:txBody>
      </p:sp>
      <p:sp>
        <p:nvSpPr>
          <p:cNvPr id="33" name="Text 33"/>
          <p:cNvSpPr txBox="1"/>
          <p:nvPr/>
        </p:nvSpPr>
        <p:spPr>
          <a:xfrm>
            <a:off x="6492240" y="5212080"/>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4" name="Text 34"/>
          <p:cNvSpPr txBox="1"/>
          <p:nvPr/>
        </p:nvSpPr>
        <p:spPr>
          <a:xfrm>
            <a:off x="6949440" y="5148072"/>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Syntax unverändert: Beträge in UBL und CII sind xsd:decimal</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Stand 16.10.2026: Update 4 in WG1  ·  </a:t>
            </a:r>
            <a:r>
              <a:rPr lang="de-DE" sz="1100" dirty="0">
                <a:solidFill>
                  <a:srgbClr val="5B6890"/>
                </a:solidFill>
                <a:latin typeface="Inter Text" pitchFamily="34" charset="0"/>
                <a:ea typeface="Inter Text" pitchFamily="34" charset="-122"/>
                <a:cs typeface="Inter Text" pitchFamily="34" charset="-120"/>
              </a:rPr>
              <a:t>USt in Cent, wie </a:t>
            </a:r>
            <a:r>
              <a:rPr lang="de-DE" sz="11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Paul Simons</a:t>
            </a:r>
            <a:r>
              <a:rPr lang="de-DE" sz="1100" dirty="0">
                <a:solidFill>
                  <a:srgbClr val="5B6890"/>
                </a:solidFill>
                <a:latin typeface="Inter Text" pitchFamily="34" charset="0"/>
                <a:ea typeface="Inter Text" pitchFamily="34" charset="-122"/>
                <a:cs typeface="Inter Text" pitchFamily="34" charset="-120"/>
              </a:rPr>
              <a:t> es wollte; keine Warnung für eine Rundung, die das Ergebnis nicht ändert</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RECHENKETTE · VORSCHLAG EN 16931-1:2026 AMENDMENT </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Vom Bruttopreis über Nettopreis zur USt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4055174-2971-41F0-AAA2-FCF21F98D99D}"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15</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ill 8"/>
          <p:cNvSpPr/>
          <p:nvPr/>
        </p:nvSpPr>
        <p:spPr>
          <a:xfrm>
            <a:off x="822960" y="1856232"/>
            <a:ext cx="2291486"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de-DE" sz="1200" dirty="0">
                <a:solidFill>
                  <a:srgbClr val="1E8A4C"/>
                </a:solidFill>
                <a:latin typeface="Inter SemiBold Text SemiBold" pitchFamily="34" charset="0"/>
                <a:ea typeface="Inter SemiBold Text SemiBold" pitchFamily="34" charset="-122"/>
                <a:cs typeface="Inter SemiBold Text SemiBold" pitchFamily="34" charset="-120"/>
              </a:rPr>
              <a:t>Keine Zwischenrundung</a:t>
            </a:r>
          </a:p>
        </p:txBody>
      </p:sp>
      <p:sp>
        <p:nvSpPr>
          <p:cNvPr id="9" name="Text 9"/>
          <p:cNvSpPr txBox="1"/>
          <p:nvPr/>
        </p:nvSpPr>
        <p:spPr>
          <a:xfrm>
            <a:off x="3242462" y="1847088"/>
            <a:ext cx="7273138" cy="329184"/>
          </a:xfrm>
          <a:prstGeom prst="rect">
            <a:avLst/>
          </a:prstGeom>
          <a:noFill/>
          <a:ln/>
        </p:spPr>
        <p:txBody>
          <a:bodyPr wrap="non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 nur BT-115 und BT-117 werden gerundet, einmal; BT-114 zeigt die Rundung von BT-115.</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de-DE"/>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de-DE" sz="850" spc="150" dirty="0">
                <a:solidFill>
                  <a:srgbClr val="2F7FD8"/>
                </a:solidFill>
                <a:latin typeface="Inter SemiBold Text SemiBold" pitchFamily="34" charset="0"/>
                <a:ea typeface="Inter SemiBold Text SemiBold" pitchFamily="34" charset="-122"/>
                <a:cs typeface="Inter SemiBold Text SemiBold" pitchFamily="34" charset="-120"/>
              </a:rPr>
              <a:t>EINGABE- &amp; ZWISCHENWERTE</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de-DE"/>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de-DE" sz="850" spc="150" dirty="0">
                <a:solidFill>
                  <a:srgbClr val="7B57D1"/>
                </a:solidFill>
                <a:latin typeface="Inter SemiBold Text SemiBold" pitchFamily="34" charset="0"/>
                <a:ea typeface="Inter SemiBold Text SemiBold" pitchFamily="34" charset="-122"/>
                <a:cs typeface="Inter SemiBold Text SemiBold" pitchFamily="34" charset="-120"/>
              </a:rPr>
              <a:t>ENDERGEBNISSE</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Nettopreis des Artikels</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de-DE"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de-DE" sz="1150" dirty="0">
                <a:solidFill>
                  <a:srgbClr val="5B6890"/>
                </a:solidFill>
                <a:latin typeface="Inter SemiBold Text SemiBold" pitchFamily="34" charset="0"/>
                <a:ea typeface="Inter SemiBold Text SemiBold" pitchFamily="34" charset="-122"/>
                <a:cs typeface="Inter SemiBold Text SemiBold" pitchFamily="34" charset="-120"/>
              </a:rPr>
              <a:t>frei</a:t>
            </a:r>
          </a:p>
          <a:p>
            <a:pPr marL="0" indent="0" algn="ctr">
              <a:buNone/>
            </a:pPr>
            <a:r>
              <a:rPr lang="de-DE" sz="800" dirty="0">
                <a:solidFill>
                  <a:srgbClr val="5B6890"/>
                </a:solidFill>
                <a:latin typeface="Inter Text" pitchFamily="34" charset="0"/>
                <a:ea typeface="Inter Text" pitchFamily="34" charset="-122"/>
                <a:cs typeface="Inter Text" pitchFamily="34" charset="-120"/>
              </a:rPr>
              <a:t>ungerundet</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wie vereinbart</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Nettobetrag der Rechnungsposition</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de-DE"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de-DE" sz="1150" dirty="0">
                <a:solidFill>
                  <a:srgbClr val="5B6890"/>
                </a:solidFill>
                <a:latin typeface="Inter SemiBold Text SemiBold" pitchFamily="34" charset="0"/>
                <a:ea typeface="Inter SemiBold Text SemiBold" pitchFamily="34" charset="-122"/>
                <a:cs typeface="Inter SemiBold Text SemiBold" pitchFamily="34" charset="-120"/>
              </a:rPr>
              <a:t>frei</a:t>
            </a:r>
          </a:p>
          <a:p>
            <a:pPr marL="0" indent="0" algn="ctr">
              <a:buNone/>
            </a:pPr>
            <a:r>
              <a:rPr lang="de-DE" sz="800" dirty="0">
                <a:solidFill>
                  <a:srgbClr val="5B6890"/>
                </a:solidFill>
                <a:latin typeface="Inter Text" pitchFamily="34" charset="0"/>
                <a:ea typeface="Inter Text" pitchFamily="34" charset="-122"/>
                <a:cs typeface="Inter Text" pitchFamily="34" charset="-120"/>
              </a:rPr>
              <a:t>ungerundet</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exakt</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de-DE" sz="850" dirty="0">
                <a:solidFill>
                  <a:srgbClr val="1A2B5E"/>
                </a:solidFill>
                <a:latin typeface="Inter SemiBold Text SemiBold" pitchFamily="34" charset="0"/>
                <a:ea typeface="Inter SemiBold Text SemiBold" pitchFamily="34" charset="-122"/>
                <a:cs typeface="Inter SemiBold Text SemiBold" pitchFamily="34" charset="-120"/>
              </a:rPr>
              <a:t>Summe der Nettobeträge aller Rechnungspositionen</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de-DE" sz="1150" dirty="0">
                <a:solidFill>
                  <a:srgbClr val="5B6890"/>
                </a:solidFill>
                <a:latin typeface="Inter SemiBold Text SemiBold" pitchFamily="34" charset="0"/>
                <a:ea typeface="Inter SemiBold Text SemiBold" pitchFamily="34" charset="-122"/>
                <a:cs typeface="Inter SemiBold Text SemiBold" pitchFamily="34" charset="-120"/>
              </a:rPr>
              <a:t>frei</a:t>
            </a:r>
          </a:p>
          <a:p>
            <a:pPr marL="0" indent="0" algn="ctr">
              <a:buNone/>
            </a:pPr>
            <a:r>
              <a:rPr lang="de-DE" sz="800" dirty="0">
                <a:solidFill>
                  <a:srgbClr val="5B6890"/>
                </a:solidFill>
                <a:latin typeface="Inter Text" pitchFamily="34" charset="0"/>
                <a:ea typeface="Inter Text" pitchFamily="34" charset="-122"/>
                <a:cs typeface="Inter Text" pitchFamily="34" charset="-120"/>
              </a:rPr>
              <a:t>ungerundet</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exakte Summe</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Steuerbasisbetrag</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de-DE" sz="800" dirty="0">
                <a:solidFill>
                  <a:srgbClr val="5B6890"/>
                </a:solidFill>
                <a:latin typeface="Inter Text" pitchFamily="34" charset="0"/>
                <a:ea typeface="Inter Text" pitchFamily="34" charset="-122"/>
                <a:cs typeface="Inter Text" pitchFamily="34" charset="-120"/>
              </a:rPr>
              <a:t/>
            </a:r>
            <a:r>
              <a:rPr lang="de-DE" sz="800" dirty="0">
                <a:solidFill>
                  <a:srgbClr val="5B6890"/>
                </a:solidFill>
                <a:latin typeface="Inter Text" pitchFamily="34" charset="0"/>
                <a:ea typeface="Inter Text" pitchFamily="34" charset="-122"/>
                <a:cs typeface="Inter Text" pitchFamily="34" charset="-120"/>
              </a:rPr>
              <a:t> − Σ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de-DE"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de-DE" sz="1150" dirty="0">
                <a:solidFill>
                  <a:srgbClr val="5B6890"/>
                </a:solidFill>
                <a:latin typeface="Inter SemiBold Text SemiBold" pitchFamily="34" charset="0"/>
                <a:ea typeface="Inter SemiBold Text SemiBold" pitchFamily="34" charset="-122"/>
                <a:cs typeface="Inter SemiBold Text SemiBold" pitchFamily="34" charset="-120"/>
              </a:rPr>
              <a:t>frei</a:t>
            </a:r>
          </a:p>
          <a:p>
            <a:pPr marL="0" indent="0" algn="ctr">
              <a:buNone/>
            </a:pPr>
            <a:r>
              <a:rPr lang="de-DE" sz="800" dirty="0">
                <a:solidFill>
                  <a:srgbClr val="5B6890"/>
                </a:solidFill>
                <a:latin typeface="Inter Text" pitchFamily="34" charset="0"/>
                <a:ea typeface="Inter Text" pitchFamily="34" charset="-122"/>
                <a:cs typeface="Inter Text" pitchFamily="34" charset="-120"/>
              </a:rPr>
              <a:t>ungerundet</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exakt</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Kategoriespezifischer Steuerbetrag</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a:t>
            </a:r>
            <a:r>
              <a:rPr lang="de-DE"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800" dirty="0">
                <a:solidFill>
                  <a:srgbClr val="5B6890"/>
                </a:solidFill>
                <a:latin typeface="Inter Text" pitchFamily="34" charset="0"/>
                <a:ea typeface="Inter Text" pitchFamily="34" charset="-122"/>
                <a:cs typeface="Inter Text" pitchFamily="34" charset="-120"/>
              </a:rPr>
              <a:t> × </a:t>
            </a:r>
            <a:r>
              <a:rPr lang="de-DE"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de-DE"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de-DE"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1E8A4C"/>
                </a:solidFill>
                <a:latin typeface="Inter Text" pitchFamily="34" charset="0"/>
                <a:ea typeface="Inter Text" pitchFamily="34" charset="-122"/>
                <a:cs typeface="Inter Text" pitchFamily="34" charset="-120"/>
              </a:rPr>
              <a:t>einmal gerundet</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einmal je Kategorie</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Gesamtbetrag der Rechnungsumsatzsteuer</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de-DE" sz="800" dirty="0">
                <a:solidFill>
                  <a:srgbClr val="5B6890"/>
                </a:solidFill>
                <a:latin typeface="Inter Text" pitchFamily="34" charset="0"/>
                <a:ea typeface="Inter Text" pitchFamily="34" charset="-122"/>
                <a:cs typeface="Inter Text" pitchFamily="34" charset="-120"/>
              </a:rPr>
              <a:t>= Σ </a:t>
            </a:r>
            <a:r>
              <a:rPr lang="de-DE"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de-DE"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de-DE"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1E8A4C"/>
                </a:solidFill>
                <a:latin typeface="Inter Text" pitchFamily="34" charset="0"/>
                <a:ea typeface="Inter Text" pitchFamily="34" charset="-122"/>
                <a:cs typeface="Inter Text" pitchFamily="34" charset="-120"/>
              </a:rPr>
              <a:t>Σ der BT-117</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de-DE"/>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de-DE" sz="950" spc="120" dirty="0">
                <a:solidFill>
                  <a:srgbClr val="7DB3FF"/>
                </a:solidFill>
                <a:latin typeface="Inter SemiBold Text SemiBold" pitchFamily="34" charset="0"/>
                <a:ea typeface="Inter SemiBold Text SemiBold" pitchFamily="34" charset="-122"/>
                <a:cs typeface="Inter SemiBold Text SemiBold" pitchFamily="34" charset="-120"/>
              </a:rPr>
              <a:t>ERLAUBTE NACHKOMMASTELLEN</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de-DE"/>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de-DE" sz="950" spc="120" dirty="0">
                <a:solidFill>
                  <a:srgbClr val="B9A2FF"/>
                </a:solidFill>
                <a:latin typeface="Inter SemiBold Text SemiBold" pitchFamily="34" charset="0"/>
                <a:ea typeface="Inter SemiBold Text SemiBold" pitchFamily="34" charset="-122"/>
                <a:cs typeface="Inter SemiBold Text SemiBold" pitchFamily="34" charset="-120"/>
              </a:rPr>
              <a:t>NACHKOMMASTELLEN · ENDWERTE</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de-DE" sz="75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de-DE" sz="750" dirty="0">
                <a:solidFill>
                  <a:srgbClr val="9AA4C2"/>
                </a:solidFill>
                <a:latin typeface="Inter Text" pitchFamily="34" charset="0"/>
                <a:ea typeface="Inter Text" pitchFamily="34" charset="-122"/>
                <a:cs typeface="Inter Text" pitchFamily="34" charset="-120"/>
              </a:rPr>
              <a:t>Kategoriespezifischer Steuerbasisbetrag</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de-DE" sz="10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de-DE" sz="75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de-DE" sz="750" dirty="0">
                <a:solidFill>
                  <a:srgbClr val="9AA4C2"/>
                </a:solidFill>
                <a:latin typeface="Inter Text" pitchFamily="34" charset="0"/>
                <a:ea typeface="Inter Text" pitchFamily="34" charset="-122"/>
                <a:cs typeface="Inter Text" pitchFamily="34" charset="-120"/>
              </a:rPr>
              <a:t>Kategoriespezifischer Steuerbetrag</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de-DE"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de-DE" sz="75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de-DE" sz="750" dirty="0">
                <a:solidFill>
                  <a:srgbClr val="9AA4C2"/>
                </a:solidFill>
                <a:latin typeface="Inter Text" pitchFamily="34" charset="0"/>
                <a:ea typeface="Inter Text" pitchFamily="34" charset="-122"/>
                <a:cs typeface="Inter Text" pitchFamily="34" charset="-120"/>
              </a:rPr>
              <a:t>Gesamtbetrag der Rechnungsumsatzsteuer</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de-DE"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de-DE"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de-DE" sz="950" dirty="0">
                <a:solidFill>
                  <a:srgbClr val="9AA4C2"/>
                </a:solidFill>
                <a:latin typeface="Inter Text" pitchFamily="34" charset="0"/>
                <a:ea typeface="Inter Text" pitchFamily="34" charset="-122"/>
                <a:cs typeface="Inter Text" pitchFamily="34" charset="-120"/>
              </a:rPr>
              <a:t>mit Zeilenanzahl und Menge:</a:t>
            </a:r>
          </a:p>
          <a:p>
            <a:pPr marL="0" indent="0" algn="l">
              <a:buNone/>
            </a:pPr>
            <a:r>
              <a:rPr lang="de-DE" sz="950" dirty="0">
                <a:solidFill>
                  <a:srgbClr val="9AA4C2"/>
                </a:solidFill>
                <a:latin typeface="Inter Text" pitchFamily="34" charset="0"/>
                <a:ea typeface="Inter Text" pitchFamily="34" charset="-122"/>
                <a:cs typeface="Inter Text" pitchFamily="34" charset="-120"/>
              </a:rPr>
              <a:t>→ „Wie groß wird die Abweichung?“</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de-DE" sz="850" dirty="0">
                <a:solidFill>
                  <a:srgbClr val="C0392B"/>
                </a:solidFill>
                <a:latin typeface="Inter SemiBold Text SemiBold" pitchFamily="34" charset="0"/>
                <a:ea typeface="Inter SemiBold Text SemiBold" pitchFamily="34" charset="-122"/>
                <a:cs typeface="Inter SemiBold Text SemiBold" pitchFamily="34" charset="-120"/>
              </a:rPr>
              <a:t>Rot</a:t>
            </a:r>
            <a:r>
              <a:rPr lang="de-DE" sz="850" dirty="0">
                <a:solidFill>
                  <a:srgbClr val="9AA4C2"/>
                </a:solidFill>
                <a:latin typeface="Inter Text" pitchFamily="34" charset="0"/>
                <a:ea typeface="Inter Text" pitchFamily="34" charset="-122"/>
                <a:cs typeface="Inter Text" pitchFamily="34" charset="-120"/>
              </a:rPr>
              <a:t> = gerundeter Zwischenwert   </a:t>
            </a:r>
            <a:r>
              <a:rPr lang="de-DE" sz="850" dirty="0">
                <a:solidFill>
                  <a:srgbClr val="1E8A4C"/>
                </a:solidFill>
                <a:latin typeface="Inter SemiBold Text SemiBold" pitchFamily="34" charset="0"/>
                <a:ea typeface="Inter SemiBold Text SemiBold" pitchFamily="34" charset="-122"/>
                <a:cs typeface="Inter SemiBold Text SemiBold" pitchFamily="34" charset="-120"/>
              </a:rPr>
              <a:t>Grün</a:t>
            </a:r>
            <a:r>
              <a:rPr lang="de-DE" sz="850" dirty="0">
                <a:solidFill>
                  <a:srgbClr val="9AA4C2"/>
                </a:solidFill>
                <a:latin typeface="Inter Text" pitchFamily="34" charset="0"/>
                <a:ea typeface="Inter Text" pitchFamily="34" charset="-122"/>
                <a:cs typeface="Inter Text" pitchFamily="34" charset="-120"/>
              </a:rPr>
              <a:t> = gezahlter Betrag oder USt, einmal gerundet   </a:t>
            </a:r>
            <a:r>
              <a:rPr lang="de-DE"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de-DE" sz="850" dirty="0">
                <a:solidFill>
                  <a:srgbClr val="9AA4C2"/>
                </a:solidFill>
                <a:latin typeface="Inter Text" pitchFamily="34" charset="0"/>
                <a:ea typeface="Inter Text" pitchFamily="34" charset="-122"/>
                <a:cs typeface="Inter Text" pitchFamily="34" charset="-120"/>
              </a:rPr>
              <a:t> = gerundeter Eingangswert</a:t>
            </a:r>
          </a:p>
          <a:p>
            <a:pPr marL="0" indent="0" algn="l">
              <a:buNone/>
            </a:pPr>
            <a:r>
              <a:rPr lang="de-DE" sz="850" dirty="0">
                <a:solidFill>
                  <a:srgbClr val="9AA4C2"/>
                </a:solidFill>
                <a:latin typeface="Inter Text" pitchFamily="34" charset="0"/>
                <a:ea typeface="Inter Text" pitchFamily="34" charset="-122"/>
                <a:cs typeface="Inter Text" pitchFamily="34" charset="-120"/>
              </a:rPr>
              <a:t>NK = Nachkommastellen · Minor Unit = kleinste Währungseinheit, ISO 4217 (EUR: 2 NK) · ± bei 100 Zeilen à 100 Stück, 19 % USt</a:t>
            </a:r>
          </a:p>
          <a:p>
            <a:pPr marL="0" indent="0" algn="l">
              <a:buNone/>
            </a:pPr>
            <a:r>
              <a:rPr lang="de-DE" sz="850" dirty="0">
                <a:solidFill>
                  <a:srgbClr val="D32F2F"/>
                </a:solidFill>
                <a:latin typeface="Inter SemiBold Text SemiBold" pitchFamily="34" charset="0"/>
                <a:ea typeface="Inter SemiBold Text SemiBold" pitchFamily="34" charset="-122"/>
                <a:cs typeface="Inter SemiBold Text SemiBold" pitchFamily="34" charset="-120"/>
              </a:rPr>
              <a:t>Regen</a:t>
            </a:r>
            <a:r>
              <a:rPr lang="de-DE"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de-DE" sz="850" dirty="0">
                <a:solidFill>
                  <a:srgbClr val="1565C0"/>
                </a:solidFill>
                <a:latin typeface="Inter SemiBold Text SemiBold" pitchFamily="34" charset="0"/>
                <a:ea typeface="Inter SemiBold Text SemiBold" pitchFamily="34" charset="-122"/>
                <a:cs typeface="Inter SemiBold Text SemiBold" pitchFamily="34" charset="-120"/>
              </a:rPr>
              <a:t>gen</a:t>
            </a:r>
            <a:r>
              <a:rPr lang="de-DE" sz="850" dirty="0">
                <a:solidFill>
                  <a:srgbClr val="9AA4C2"/>
                </a:solidFill>
                <a:latin typeface="Inter Text" pitchFamily="34" charset="0"/>
                <a:ea typeface="Inter Text" pitchFamily="34" charset="-122"/>
                <a:cs typeface="Inter Text" pitchFamily="34" charset="-120"/>
              </a:rPr>
              <a:t> = Reihenfolge der Rechenschritte; ein BT behält seine Farbe, wo er weiter unten wieder verwendet wird</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de-DE"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de-DE" sz="1000" dirty="0">
                <a:solidFill>
                  <a:srgbClr val="1A2B5E"/>
                </a:solidFill>
                <a:latin typeface="Inter SemiBold Text SemiBold" pitchFamily="34" charset="0"/>
                <a:ea typeface="Inter SemiBold Text SemiBold" pitchFamily="34" charset="-122"/>
                <a:cs typeface="Inter SemiBold Text SemiBold" pitchFamily="34" charset="-120"/>
              </a:rPr>
              <a:t>Fälliger Zahlungsbetrag</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de-DE" sz="700" dirty="0">
                <a:solidFill>
                  <a:srgbClr val="5B6890"/>
                </a:solidFill>
                <a:latin typeface="Inter Text" pitchFamily="34" charset="0"/>
                <a:ea typeface="Inter Text" pitchFamily="34" charset="-122"/>
                <a:cs typeface="Inter Text" pitchFamily="34" charset="-120"/>
              </a:rPr>
              <a:t>= </a:t>
            </a:r>
            <a:r>
              <a:rPr lang="de-DE" sz="7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de-DE" sz="700" dirty="0">
                <a:solidFill>
                  <a:srgbClr val="5B6890"/>
                </a:solidFill>
                <a:latin typeface="Inter Text" pitchFamily="34" charset="0"/>
                <a:ea typeface="Inter Text" pitchFamily="34" charset="-122"/>
                <a:cs typeface="Inter Text" pitchFamily="34" charset="-120"/>
              </a:rPr>
              <a:t>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de-DE" sz="700" dirty="0">
                <a:solidFill>
                  <a:srgbClr val="5B6890"/>
                </a:solidFill>
                <a:latin typeface="Inter Text" pitchFamily="34" charset="0"/>
                <a:ea typeface="Inter Text" pitchFamily="34" charset="-122"/>
                <a:cs typeface="Inter Text" pitchFamily="34" charset="-120"/>
              </a:rPr>
              <a:t> Rechnungsgesamtbetrag ohne Umsatzsteuer</a:t>
            </a:r>
            <a:br>
              <a:rPr lang="de-DE" sz="700" dirty="0">
                <a:solidFill>
                  <a:srgbClr val="5B6890"/>
                </a:solidFill>
                <a:latin typeface="Inter Text" pitchFamily="34" charset="0"/>
                <a:ea typeface="Inter Text" pitchFamily="34" charset="-122"/>
                <a:cs typeface="Inter Text" pitchFamily="34" charset="-120"/>
              </a:rPr>
            </a:br>
            <a:r>
              <a:rPr lang="de-DE" sz="700" dirty="0">
                <a:solidFill>
                  <a:srgbClr val="5B6890"/>
                </a:solidFill>
                <a:latin typeface="Inter Text" pitchFamily="34" charset="0"/>
                <a:ea typeface="Inter Text" pitchFamily="34" charset="-122"/>
                <a:cs typeface="Inter Text" pitchFamily="34" charset="-120"/>
              </a:rPr>
              <a:t>−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de-DE" sz="700" dirty="0">
                <a:solidFill>
                  <a:srgbClr val="5B6890"/>
                </a:solidFill>
                <a:latin typeface="Inter Text" pitchFamily="34" charset="0"/>
                <a:ea typeface="Inter Text" pitchFamily="34" charset="-122"/>
                <a:cs typeface="Inter Text" pitchFamily="34" charset="-120"/>
              </a:rPr>
              <a:t> Vorauszahlungsbetrag + </a:t>
            </a:r>
            <a:r>
              <a:rPr lang="de-DE" sz="7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de-DE" sz="700" dirty="0">
                <a:solidFill>
                  <a:srgbClr val="5B6890"/>
                </a:solidFill>
                <a:latin typeface="Inter Text" pitchFamily="34" charset="0"/>
                <a:ea typeface="Inter Text" pitchFamily="34" charset="-122"/>
                <a:cs typeface="Inter Text" pitchFamily="34" charset="-120"/>
              </a:rPr>
              <a:t> Rundungsbetrag</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de-DE"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de-DE" sz="800" dirty="0">
                <a:solidFill>
                  <a:srgbClr val="1E8A4C"/>
                </a:solidFill>
                <a:latin typeface="Inter Text" pitchFamily="34" charset="0"/>
                <a:ea typeface="Inter Text" pitchFamily="34" charset="-122"/>
                <a:cs typeface="Inter Text" pitchFamily="34" charset="-120"/>
              </a:rPr>
              <a:t>einmal gerundet</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de-DE" sz="1300" b="1" dirty="0">
                <a:solidFill>
                  <a:srgbClr val="1E8A4C"/>
                </a:solidFill>
                <a:latin typeface="Consolas" pitchFamily="34" charset="0"/>
                <a:ea typeface="Consolas" pitchFamily="34" charset="-122"/>
                <a:cs typeface="Consolas" pitchFamily="34" charset="-120"/>
              </a:rPr>
              <a:t>± 0</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de-DE" sz="850" dirty="0">
                <a:solidFill>
                  <a:srgbClr val="9AA4C2"/>
                </a:solidFill>
                <a:latin typeface="Inter Text" pitchFamily="34" charset="0"/>
                <a:ea typeface="Inter Text" pitchFamily="34" charset="-122"/>
                <a:cs typeface="Inter Text" pitchFamily="34" charset="-120"/>
              </a:rPr>
              <a:t>BT-114 zeigt die Rundung</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de-DE" sz="75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de-DE" sz="750" dirty="0">
                <a:solidFill>
                  <a:srgbClr val="9AA4C2"/>
                </a:solidFill>
                <a:latin typeface="Inter Text" pitchFamily="34" charset="0"/>
                <a:ea typeface="Inter Text" pitchFamily="34" charset="-122"/>
                <a:cs typeface="Inter Text" pitchFamily="34" charset="-120"/>
              </a:rPr>
              <a:t>Fälliger Zahlungsbetrag</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de-DE"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de-DE"/>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de-DE"/>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de-DE"/>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de-DE"/>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de-DE"/>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de-DE"/>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de-DE" sz="650" dirty="0">
                <a:solidFill>
                  <a:srgbClr val="9AA4C2"/>
                </a:solidFill>
                <a:latin typeface="Inter Text" pitchFamily="34" charset="0"/>
                <a:ea typeface="Inter Text" pitchFamily="34" charset="-122"/>
                <a:cs typeface="Inter Text" pitchFamily="34" charset="-120"/>
              </a:rPr>
              <a:t>Bruttopreis des Artikels</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de-DE" sz="650" dirty="0">
                <a:solidFill>
                  <a:srgbClr val="9AA4C2"/>
                </a:solidFill>
                <a:latin typeface="Inter Text" pitchFamily="34" charset="0"/>
                <a:ea typeface="Inter Text" pitchFamily="34" charset="-122"/>
                <a:cs typeface="Inter Text" pitchFamily="34" charset="-120"/>
              </a:rPr>
              <a:t>Nachlass auf den Artikelpreis</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de-DE" sz="65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de-DE" sz="650" dirty="0">
                <a:solidFill>
                  <a:srgbClr val="9AA4C2"/>
                </a:solidFill>
                <a:latin typeface="Inter Text" pitchFamily="34" charset="0"/>
                <a:ea typeface="Inter Text" pitchFamily="34" charset="-122"/>
                <a:cs typeface="Inter Text" pitchFamily="34" charset="-120"/>
              </a:rPr>
              <a:t>Nettopreis des Artikels</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de-DE" sz="650" dirty="0">
                <a:solidFill>
                  <a:srgbClr val="9AA4C2"/>
                </a:solidFill>
                <a:latin typeface="Inter Text" pitchFamily="34" charset="0"/>
                <a:ea typeface="Inter Text" pitchFamily="34" charset="-122"/>
                <a:cs typeface="Inter Text" pitchFamily="34" charset="-120"/>
              </a:rPr>
              <a:t>in Rechnung gestellte Menge</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de-DE" sz="650" dirty="0">
                <a:solidFill>
                  <a:srgbClr val="9AA4C2"/>
                </a:solidFill>
                <a:latin typeface="Inter Text" pitchFamily="34" charset="0"/>
                <a:ea typeface="Inter Text" pitchFamily="34" charset="-122"/>
                <a:cs typeface="Inter Text" pitchFamily="34" charset="-120"/>
              </a:rPr>
              <a:t>Basismenge zum Artikelpreis</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de-DE" sz="650" dirty="0">
                <a:solidFill>
                  <a:srgbClr val="9AA4C2"/>
                </a:solidFill>
                <a:latin typeface="Inter Text" pitchFamily="34" charset="0"/>
                <a:ea typeface="Inter Text" pitchFamily="34" charset="-122"/>
                <a:cs typeface="Inter Text" pitchFamily="34" charset="-120"/>
              </a:rPr>
              <a:t>Betrag des Zuschlags auf Ebene der Rechnungsposition</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de-DE" sz="650" dirty="0">
                <a:solidFill>
                  <a:srgbClr val="9AA4C2"/>
                </a:solidFill>
                <a:latin typeface="Inter Text" pitchFamily="34" charset="0"/>
                <a:ea typeface="Inter Text" pitchFamily="34" charset="-122"/>
                <a:cs typeface="Inter Text" pitchFamily="34" charset="-120"/>
              </a:rPr>
              <a:t>Betrag des Abschlags auf Ebene der Rechnungsposition</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de-DE" sz="65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de-DE" sz="650" dirty="0">
                <a:solidFill>
                  <a:srgbClr val="9AA4C2"/>
                </a:solidFill>
                <a:latin typeface="Inter Text" pitchFamily="34" charset="0"/>
                <a:ea typeface="Inter Text" pitchFamily="34" charset="-122"/>
                <a:cs typeface="Inter Text" pitchFamily="34" charset="-120"/>
              </a:rPr>
              <a:t>Nettobetrag der Rechnungsposition</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de-DE" sz="65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de-DE" sz="650" dirty="0">
                <a:solidFill>
                  <a:srgbClr val="9AA4C2"/>
                </a:solidFill>
                <a:latin typeface="Inter Text" pitchFamily="34" charset="0"/>
                <a:ea typeface="Inter Text" pitchFamily="34" charset="-122"/>
                <a:cs typeface="Inter Text" pitchFamily="34" charset="-120"/>
              </a:rPr>
              <a:t>Summe der Nettobeträge aller Rechnungspositionen</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BT-99 </a:t>
            </a:r>
            <a:r>
              <a:rPr lang="de-DE" sz="650" dirty="0">
                <a:solidFill>
                  <a:srgbClr val="9AA4C2"/>
                </a:solidFill>
                <a:latin typeface="Inter Text" pitchFamily="34" charset="0"/>
                <a:ea typeface="Inter Text" pitchFamily="34" charset="-122"/>
                <a:cs typeface="Inter Text" pitchFamily="34" charset="-120"/>
              </a:rPr>
              <a:t>Betrag des Zuschlags auf Dokumentenebene</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BT-92 </a:t>
            </a:r>
            <a:r>
              <a:rPr lang="de-DE" sz="650" dirty="0">
                <a:solidFill>
                  <a:srgbClr val="9AA4C2"/>
                </a:solidFill>
                <a:latin typeface="Inter Text" pitchFamily="34" charset="0"/>
                <a:ea typeface="Inter Text" pitchFamily="34" charset="-122"/>
                <a:cs typeface="Inter Text" pitchFamily="34" charset="-120"/>
              </a:rPr>
              <a:t>Betrag des Abschlags auf Dokumentenebene</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de-DE" sz="700" dirty="0">
                <a:solidFill>
                  <a:srgbClr val="58D6BB"/>
                </a:solidFill>
                <a:latin typeface="Inter SemiBold Text SemiBold" pitchFamily="34" charset="0"/>
                <a:ea typeface="Inter SemiBold Text SemiBold" pitchFamily="34" charset="-122"/>
                <a:cs typeface="Inter SemiBold Text SemiBold" pitchFamily="34" charset="-120"/>
              </a:rPr>
              <a:t>frei</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de-DE" sz="65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de-DE" sz="650" dirty="0">
                <a:solidFill>
                  <a:srgbClr val="9AA4C2"/>
                </a:solidFill>
                <a:latin typeface="Inter Text" pitchFamily="34" charset="0"/>
                <a:ea typeface="Inter Text" pitchFamily="34" charset="-122"/>
                <a:cs typeface="Inter Text" pitchFamily="34" charset="-120"/>
              </a:rPr>
              <a:t>kategoriespezifischer Umsatzsteuersatz (Gesetz)</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de-DE" sz="700" dirty="0">
                <a:solidFill>
                  <a:srgbClr val="FFFFFF"/>
                </a:solidFill>
                <a:latin typeface="Inter SemiBold Text SemiBold" pitchFamily="34" charset="0"/>
                <a:ea typeface="Inter SemiBold Text SemiBold" pitchFamily="34" charset="-122"/>
                <a:cs typeface="Inter SemiBold Text SemiBold" pitchFamily="34" charset="-120"/>
              </a:rPr>
              <a:t>2 NK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Folie 3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VORSCHLAG AMENDMENT </a:t>
            </a: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Wie groß wird die Abweichung?</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B4244B92-B2BD-4779-B150-313396024C5D}"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16</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Kein Faktor: ohne Zwischenrundung bleibt es bei ± 0 — für jede Menge und jede Zeilenanzahl.</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de-DE"/>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1 · Preisrundung × Menge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de-DE" sz="9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de-DE" sz="950" dirty="0">
                <a:solidFill>
                  <a:srgbClr val="D32F2F"/>
                </a:solidFill>
                <a:latin typeface="Inter Text" pitchFamily="34" charset="0"/>
                <a:ea typeface="Inter Text" pitchFamily="34" charset="-122"/>
                <a:cs typeface="Inter Text" pitchFamily="34" charset="-120"/>
              </a:rPr>
              <a:t> Nettopreis des Artikels</a:t>
            </a:r>
            <a:r>
              <a:rPr lang="de-DE" sz="950" dirty="0">
                <a:solidFill>
                  <a:srgbClr val="5B6890"/>
                </a:solidFill>
                <a:latin typeface="Inter Text" pitchFamily="34" charset="0"/>
                <a:ea typeface="Inter Text" pitchFamily="34" charset="-122"/>
                <a:cs typeface="Inter Text" pitchFamily="34" charset="-120"/>
              </a:rPr>
              <a:t> und </a:t>
            </a:r>
            <a:r>
              <a:rPr lang="de-DE" sz="9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950" dirty="0">
                <a:solidFill>
                  <a:srgbClr val="EF6C00"/>
                </a:solidFill>
                <a:latin typeface="Inter Text" pitchFamily="34" charset="0"/>
                <a:ea typeface="Inter Text" pitchFamily="34" charset="-122"/>
                <a:cs typeface="Inter Text" pitchFamily="34" charset="-120"/>
              </a:rPr>
              <a:t> Nettobetrag der Rechnungsposition</a:t>
            </a:r>
            <a:r>
              <a:rPr lang="de-DE" sz="950" dirty="0">
                <a:solidFill>
                  <a:srgbClr val="5B6890"/>
                </a:solidFill>
                <a:latin typeface="Inter Text" pitchFamily="34" charset="0"/>
                <a:ea typeface="Inter Text" pitchFamily="34" charset="-122"/>
                <a:cs typeface="Inter Text" pitchFamily="34" charset="-120"/>
              </a:rPr>
              <a:t> bleiben exakt — die Menge vergrößert keinen Fehler.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de-DE" sz="1150" b="1" dirty="0">
                <a:solidFill>
                  <a:srgbClr val="1E8A4C"/>
                </a:solidFill>
                <a:latin typeface="Consolas" pitchFamily="34" charset="0"/>
                <a:ea typeface="Consolas" pitchFamily="34" charset="-122"/>
                <a:cs typeface="Consolas" pitchFamily="34" charset="-120"/>
              </a:rPr>
              <a:t>entfällt</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6" name="IconCircle 16"/>
          <p:cNvSpPr/>
          <p:nvPr/>
        </p:nvSpPr>
        <p:spPr>
          <a:xfrm>
            <a:off x="6437376"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de-DE"/>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de-DE" sz="1400" dirty="0">
                <a:solidFill>
                  <a:srgbClr val="1A2B5E"/>
                </a:solidFill>
                <a:latin typeface="Inter SemiBold Text SemiBold" pitchFamily="34" charset="0"/>
                <a:ea typeface="Inter SemiBold Text SemiBold" pitchFamily="34" charset="-122"/>
                <a:cs typeface="Inter SemiBold Text SemiBold" pitchFamily="34" charset="-120"/>
              </a:rPr>
              <a:t>Faktor 2 · Zeilenanzahl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de-DE" sz="9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de-DE" sz="950" dirty="0">
                <a:solidFill>
                  <a:srgbClr val="EF6C00"/>
                </a:solidFill>
                <a:latin typeface="Inter Text" pitchFamily="34" charset="0"/>
                <a:ea typeface="Inter Text" pitchFamily="34" charset="-122"/>
                <a:cs typeface="Inter Text" pitchFamily="34" charset="-120"/>
              </a:rPr>
              <a:t> Nettobetrag der Rechnungsposition</a:t>
            </a:r>
            <a:r>
              <a:rPr lang="de-DE" sz="950" dirty="0">
                <a:solidFill>
                  <a:srgbClr val="5B6890"/>
                </a:solidFill>
                <a:latin typeface="Inter Text" pitchFamily="34" charset="0"/>
                <a:ea typeface="Inter Text" pitchFamily="34" charset="-122"/>
                <a:cs typeface="Inter Text" pitchFamily="34" charset="-120"/>
              </a:rPr>
              <a:t> bleibt exakt — es spielt keine Rolle, wie viele Zeilen</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 BT-106</a:t>
            </a:r>
            <a:r>
              <a:rPr lang="de-DE" sz="950" dirty="0">
                <a:solidFill>
                  <a:srgbClr val="C79100"/>
                </a:solidFill>
                <a:latin typeface="Inter Text" pitchFamily="34" charset="0"/>
                <a:ea typeface="Inter Text" pitchFamily="34" charset="-122"/>
                <a:cs typeface="Inter Text" pitchFamily="34" charset="-120"/>
              </a:rPr>
              <a:t> Summe der Nettobeträge aller Rechnungspositionen</a:t>
            </a:r>
            <a:r>
              <a:rPr lang="de-DE" sz="950" dirty="0">
                <a:solidFill>
                  <a:srgbClr val="5B6890"/>
                </a:solidFill>
                <a:latin typeface="Inter Text" pitchFamily="34" charset="0"/>
                <a:ea typeface="Inter Text" pitchFamily="34" charset="-122"/>
                <a:cs typeface="Inter Text" pitchFamily="34" charset="-120"/>
              </a:rPr>
              <a:t> und </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950" dirty="0">
                <a:solidFill>
                  <a:srgbClr val="2E7D32"/>
                </a:solidFill>
                <a:latin typeface="Inter Text" pitchFamily="34" charset="0"/>
                <a:ea typeface="Inter Text" pitchFamily="34" charset="-122"/>
                <a:cs typeface="Inter Text" pitchFamily="34" charset="-120"/>
              </a:rPr>
              <a:t> Kategoriespezifischer Steuerbasisbetrag</a:t>
            </a:r>
            <a:r>
              <a:rPr lang="de-DE" sz="950" dirty="0">
                <a:solidFill>
                  <a:srgbClr val="5B6890"/>
                </a:solidFill>
                <a:latin typeface="Inter Text" pitchFamily="34" charset="0"/>
                <a:ea typeface="Inter Text" pitchFamily="34" charset="-122"/>
                <a:cs typeface="Inter Text" pitchFamily="34" charset="-120"/>
              </a:rPr>
              <a:t> summieren.</a:t>
            </a:r>
          </a:p>
        </p:txBody>
      </p:sp>
      <p:sp>
        <p:nvSpPr>
          <p:cNvPr id="20" name="Pill 20"/>
          <p:cNvSpPr/>
          <p:nvPr/>
        </p:nvSpPr>
        <p:spPr>
          <a:xfrm>
            <a:off x="6473952"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de-DE" sz="1150" b="1" dirty="0">
                <a:solidFill>
                  <a:srgbClr val="1E8A4C"/>
                </a:solidFill>
                <a:latin typeface="Consolas" pitchFamily="34" charset="0"/>
                <a:ea typeface="Consolas" pitchFamily="34" charset="-122"/>
                <a:cs typeface="Consolas" pitchFamily="34" charset="-120"/>
              </a:rPr>
              <a:t>entfällt</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de-DE" sz="950" spc="120" dirty="0">
                <a:solidFill>
                  <a:srgbClr val="0E7E82"/>
                </a:solidFill>
                <a:latin typeface="Inter SemiBold Text SemiBold" pitchFamily="34" charset="0"/>
                <a:ea typeface="Inter SemiBold Text SemiBold" pitchFamily="34" charset="-122"/>
                <a:cs typeface="Inter SemiBold Text SemiBold" pitchFamily="34" charset="-120"/>
              </a:rPr>
              <a:t>ABWEICHUNG NETTO  </a:t>
            </a:r>
            <a:r>
              <a:rPr lang="de-DE"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de-DE" sz="950" dirty="0">
                <a:solidFill>
                  <a:srgbClr val="C79100"/>
                </a:solidFill>
                <a:latin typeface="Inter Text" pitchFamily="34" charset="0"/>
                <a:ea typeface="Inter Text" pitchFamily="34" charset="-122"/>
                <a:cs typeface="Inter Text" pitchFamily="34" charset="-120"/>
              </a:rPr>
              <a:t/>
            </a:r>
            <a:r>
              <a:rPr lang="de-DE" sz="950" dirty="0">
                <a:solidFill>
                  <a:srgbClr val="5B6890"/>
                </a:solidFill>
                <a:latin typeface="Inter Text" pitchFamily="34" charset="0"/>
                <a:ea typeface="Inter Text" pitchFamily="34" charset="-122"/>
                <a:cs typeface="Inter Text" pitchFamily="34" charset="-120"/>
              </a:rPr>
              <a:t> / </a:t>
            </a:r>
            <a:r>
              <a:rPr lang="de-DE"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de-DE" sz="950" dirty="0">
                <a:solidFill>
                  <a:srgbClr val="2E7D32"/>
                </a:solidFill>
                <a:latin typeface="Inter Text" pitchFamily="34" charset="0"/>
                <a:ea typeface="Inter Text" pitchFamily="34" charset="-122"/>
                <a:cs typeface="Inter Text" pitchFamily="34" charset="-120"/>
              </a:rPr>
              <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de-DE" sz="850" dirty="0">
                          <a:solidFill>
                            <a:srgbClr val="9FB0D8"/>
                          </a:solidFill>
                          <a:latin typeface="Inter Text" pitchFamily="34" charset="0"/>
                          <a:ea typeface="Inter Text" pitchFamily="34" charset="-122"/>
                          <a:cs typeface="Inter Text" pitchFamily="34" charset="-120"/>
                        </a:rPr>
                        <a:t>Stück je Zeile (Q) →</a:t>
                      </a:r>
                    </a:p>
                    <a:p>
                      <a:pPr marL="0" indent="0" algn="l">
                        <a:buNone/>
                      </a:pPr>
                      <a:r>
                        <a:rPr lang="de-DE" sz="850" dirty="0">
                          <a:solidFill>
                            <a:srgbClr val="9FB0D8"/>
                          </a:solidFill>
                          <a:latin typeface="Inter Text" pitchFamily="34" charset="0"/>
                          <a:ea typeface="Inter Text" pitchFamily="34" charset="-122"/>
                          <a:cs typeface="Inter Text" pitchFamily="34" charset="-120"/>
                        </a:rPr>
                        <a:t>↓ Zeilen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1.000.000 Stück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 Zeile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a:t>
                      </a:r>
                    </a:p>
                    <a:p>
                      <a:pPr marL="0" indent="0" algn="r">
                        <a:buNone/>
                      </a:pPr>
                      <a:r>
                        <a:rPr lang="de-DE"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a:t>
                      </a:r>
                    </a:p>
                    <a:p>
                      <a:pPr marL="0" indent="0" algn="r">
                        <a:buNone/>
                      </a:pPr>
                      <a:r>
                        <a:rPr lang="de-DE"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850" dirty="0">
                          <a:solidFill>
                            <a:srgbClr val="D32F2F"/>
                          </a:solidFill>
                          <a:latin typeface="Inter Text" pitchFamily="34" charset="0"/>
                          <a:ea typeface="Inter Text" pitchFamily="34" charset="-122"/>
                          <a:cs typeface="Inter Text" pitchFamily="34" charset="-120"/>
                        </a:rPr>
                        <a:t>Preis × Menge  </a:t>
                      </a:r>
                      <a:r>
                        <a:rPr lang="de-DE" sz="850" b="1" dirty="0">
                          <a:solidFill>
                            <a:srgbClr val="D32F2F"/>
                          </a:solidFill>
                          <a:latin typeface="Consolas" pitchFamily="34" charset="0"/>
                          <a:ea typeface="Consolas" pitchFamily="34" charset="-122"/>
                          <a:cs typeface="Consolas" pitchFamily="34" charset="-120"/>
                        </a:rPr>
                        <a:t>± 0</a:t>
                      </a:r>
                    </a:p>
                    <a:p>
                      <a:pPr marL="0" indent="0" algn="r">
                        <a:buNone/>
                      </a:pPr>
                      <a:r>
                        <a:rPr lang="de-DE" sz="850" dirty="0">
                          <a:solidFill>
                            <a:srgbClr val="EF6C00"/>
                          </a:solidFill>
                          <a:latin typeface="Inter Text" pitchFamily="34" charset="0"/>
                          <a:ea typeface="Inter Text" pitchFamily="34" charset="-122"/>
                          <a:cs typeface="Inter Text" pitchFamily="34" charset="-120"/>
                        </a:rPr>
                        <a:t>+ Rundung BT-131  </a:t>
                      </a:r>
                      <a:r>
                        <a:rPr lang="de-DE" sz="850" b="1" dirty="0">
                          <a:solidFill>
                            <a:srgbClr val="EF6C00"/>
                          </a:solidFill>
                          <a:latin typeface="Consolas" pitchFamily="34" charset="0"/>
                          <a:ea typeface="Consolas" pitchFamily="34" charset="-122"/>
                          <a:cs typeface="Consolas" pitchFamily="34" charset="-120"/>
                        </a:rPr>
                        <a:t>± 0</a:t>
                      </a:r>
                    </a:p>
                    <a:p>
                      <a:pPr marL="0" indent="0" algn="r">
                        <a:buNone/>
                      </a:pPr>
                      <a:r>
                        <a:rPr lang="de-DE"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1"/>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2"/>
                  </a:ext>
                </a:extLst>
              </a:tr>
              <a:tr h="31089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10.000 Zeilen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de-DE"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de-DE" sz="1000" spc="150" dirty="0">
                <a:solidFill>
                  <a:srgbClr val="19C3C8"/>
                </a:solidFill>
                <a:latin typeface="Inter SemiBold Text SemiBold" pitchFamily="34" charset="0"/>
                <a:ea typeface="Inter SemiBold Text SemiBold" pitchFamily="34" charset="-122"/>
                <a:cs typeface="Inter SemiBold Text SemiBold" pitchFamily="34" charset="-120"/>
              </a:rPr>
              <a:t>ZUSAMMEN · NETTO</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de-DE" sz="1800" b="1" dirty="0">
                <a:solidFill>
                  <a:srgbClr val="FFFFFF"/>
                </a:solidFill>
                <a:latin typeface="Consolas" pitchFamily="34" charset="0"/>
                <a:ea typeface="Consolas" pitchFamily="34" charset="-122"/>
                <a:cs typeface="Consolas" pitchFamily="34" charset="-120"/>
              </a:rPr>
              <a:t>± 0</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de-DE" sz="1000" dirty="0">
                <a:solidFill>
                  <a:srgbClr val="C2CADE"/>
                </a:solidFill>
                <a:latin typeface="Inter Text" pitchFamily="34" charset="0"/>
                <a:ea typeface="Inter Text" pitchFamily="34" charset="-122"/>
                <a:cs typeface="Inter Text" pitchFamily="34" charset="-120"/>
              </a:rPr>
              <a:t>Gerundet werden nur BT-115 Fälliger Zahlungsbetrag und BT-117 Kategoriespezifischer Steuerbetrag, einmal.</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de-DE"/>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de-DE" sz="950" dirty="0">
                <a:solidFill>
                  <a:srgbClr val="9AA4C2"/>
                </a:solidFill>
                <a:latin typeface="Inter Text" pitchFamily="34" charset="0"/>
                <a:ea typeface="Inter Text" pitchFamily="34" charset="-122"/>
                <a:cs typeface="Inter Text" pitchFamily="34" charset="-120"/>
              </a:rPr>
              <a:t>100 Zeilen à 10.000 Stück</a:t>
            </a:r>
          </a:p>
          <a:p>
            <a:pPr marL="0" indent="0" algn="l">
              <a:buNone/>
            </a:pPr>
            <a:r>
              <a:rPr lang="de-DE" sz="1000" dirty="0">
                <a:solidFill>
                  <a:srgbClr val="C2CADE"/>
                </a:solidFill>
                <a:latin typeface="Inter Text" pitchFamily="34" charset="0"/>
                <a:ea typeface="Inter Text" pitchFamily="34" charset="-122"/>
                <a:cs typeface="Inter Text" pitchFamily="34" charset="-120"/>
              </a:rPr>
              <a:t>Netto </a:t>
            </a:r>
            <a:r>
              <a:rPr lang="de-DE" sz="1100" b="1" dirty="0">
                <a:solidFill>
                  <a:srgbClr val="FFFFFF"/>
                </a:solidFill>
                <a:latin typeface="Consolas" pitchFamily="34" charset="0"/>
                <a:ea typeface="Consolas" pitchFamily="34" charset="-122"/>
                <a:cs typeface="Consolas" pitchFamily="34" charset="-120"/>
              </a:rPr>
              <a:t>± 0</a:t>
            </a:r>
            <a:r>
              <a:rPr lang="de-DE" sz="1000" dirty="0">
                <a:solidFill>
                  <a:srgbClr val="C2CADE"/>
                </a:solidFill>
                <a:latin typeface="Inter Text" pitchFamily="34" charset="0"/>
                <a:ea typeface="Inter Text" pitchFamily="34" charset="-122"/>
                <a:cs typeface="Inter Text" pitchFamily="34" charset="-120"/>
              </a:rPr>
              <a:t>   USt </a:t>
            </a:r>
            <a:r>
              <a:rPr lang="de-DE" sz="1100" b="1" dirty="0">
                <a:solidFill>
                  <a:srgbClr val="FFFFFF"/>
                </a:solidFill>
                <a:latin typeface="Consolas" pitchFamily="34" charset="0"/>
                <a:ea typeface="Consolas" pitchFamily="34" charset="-122"/>
                <a:cs typeface="Consolas" pitchFamily="34" charset="-120"/>
              </a:rPr>
              <a:t>± 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de-DE" sz="850" dirty="0">
                <a:solidFill>
                  <a:srgbClr val="9AA4C2"/>
                </a:solidFill>
                <a:latin typeface="Inter Text" pitchFamily="34" charset="0"/>
                <a:ea typeface="Inter Text" pitchFamily="34" charset="-122"/>
                <a:cs typeface="Inter Text" pitchFamily="34" charset="-120"/>
              </a:rPr>
              <a:t>Annahme: alle Rundungen fallen in dieselbe Richtung, BT-149 Basismenge zum Artikelpreis = 1, 19 % USt.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AUSWIRKUNGEN</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Was sich für Implementierungen ändert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Nichts, was heute funktioniert, bricht — Aufwand nur, wo Genauigkeit unmöglich war.</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17</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Wer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Was sich ändert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de-DE" sz="1050" dirty="0">
                          <a:solidFill>
                            <a:srgbClr val="FFFFFF"/>
                          </a:solidFill>
                          <a:latin typeface="Inter SemiBold Text SemiBold" pitchFamily="34" charset="0"/>
                          <a:ea typeface="Inter SemiBold Text SemiBold" pitchFamily="34" charset="-122"/>
                          <a:cs typeface="Inter SemiBold Text SemiBold" pitchFamily="34" charset="-120"/>
                        </a:rPr>
                        <a:t>Aufwand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Aussteller: Nettopreise, 2 NK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nichts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keiner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Empfänger mit 2 NK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runden genaue Werte einmal beim Import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gering, nur bei genauen Rechnungen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Bruttopreisrechnungen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neue „plus USt“-Begriffe </a:t>
                      </a:r>
                      <a:r>
                        <a:rPr lang="de-DE" sz="1100" dirty="0">
                          <a:solidFill>
                            <a:srgbClr val="5B6890"/>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neue Kernfunktion; es gab keinen korrekten Weg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Validatoren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exakte Dezimalarithmetik (decimal128)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Testdokumente existieren (</a:t>
                      </a:r>
                      <a:r>
                        <a:rPr lang="de-DE"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Svanton</a:t>
                      </a:r>
                      <a:r>
                        <a:rPr lang="de-DE"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de-DE" sz="1100" dirty="0">
                          <a:solidFill>
                            <a:srgbClr val="1A2B5E"/>
                          </a:solidFill>
                          <a:latin typeface="Inter SemiBold Text SemiBold" pitchFamily="34" charset="0"/>
                          <a:ea typeface="Inter SemiBold Text SemiBold" pitchFamily="34" charset="-122"/>
                          <a:cs typeface="Inter SemiBold Text SemiBold" pitchFamily="34" charset="-120"/>
                        </a:rPr>
                        <a:t>Syntaxen UBL und CII</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keine: Beträge sind xsd:decimal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de-DE" sz="1100" dirty="0">
                          <a:solidFill>
                            <a:srgbClr val="5B6890"/>
                          </a:solidFill>
                          <a:latin typeface="Inter Text" pitchFamily="34" charset="0"/>
                          <a:ea typeface="Inter Text" pitchFamily="34" charset="-122"/>
                          <a:cs typeface="Inter Text" pitchFamily="34" charset="-120"/>
                        </a:rPr>
                        <a:t>keiner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de-DE" sz="1100" dirty="0">
                <a:solidFill>
                  <a:srgbClr val="5B6890"/>
                </a:solidFill>
                <a:latin typeface="Inter Text" pitchFamily="34" charset="0"/>
                <a:ea typeface="Inter Text" pitchFamily="34" charset="-122"/>
                <a:cs typeface="Inter Text" pitchFamily="34" charset="-120"/>
              </a:rPr>
              <a:t>Ein Maximum zu streichen ist kein Minimum: Jede heute konforme Rechnung bleibt konform, höchstens mit Warnung </a:t>
            </a:r>
            <a:r>
              <a:rPr lang="de-DE" sz="1100" dirty="0">
                <a:solidFill>
                  <a:srgbClr val="5B6890"/>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(#163)</a:t>
            </a:r>
            <a:r>
              <a:rPr lang="de-DE" sz="1100" dirty="0">
                <a:solidFill>
                  <a:srgbClr val="5B6890"/>
                </a:solidFill>
                <a:latin typeface="Inter Text" pitchFamily="34" charset="0"/>
                <a:ea typeface="Inter Text" pitchFamily="34" charset="-122"/>
                <a:cs typeface="Inter Text" pitchFamily="34" charset="-120"/>
              </a:rPr>
              <a:t>.</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de-DE" sz="1050" spc="150" dirty="0">
                <a:solidFill>
                  <a:srgbClr val="19C3C8"/>
                </a:solidFill>
                <a:latin typeface="Inter SemiBold Text SemiBold" pitchFamily="34" charset="0"/>
                <a:ea typeface="Inter SemiBold Text SemiBold" pitchFamily="34" charset="-122"/>
                <a:cs typeface="Inter SemiBold Text SemiBold" pitchFamily="34" charset="-120"/>
              </a:rPr>
              <a:t>WAS BLEIBT</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de-DE" sz="1200" dirty="0">
                <a:solidFill>
                  <a:srgbClr val="5B6890"/>
                </a:solidFill>
                <a:latin typeface="Inter SemiBold Text SemiBold" pitchFamily="34" charset="0"/>
                <a:ea typeface="Inter SemiBold Text SemiBold" pitchFamily="34" charset="-122"/>
                <a:cs typeface="Inter SemiBold Text SemiBold" pitchFamily="34" charset="-120"/>
              </a:rPr>
              <a:t>Impact-Studie (</a:t>
            </a:r>
            <a:r>
              <a:rPr lang="de-DE" sz="1200" dirty="0">
                <a:solidFill>
                  <a:srgbClr val="5B6890"/>
                </a:solidFill>
                <a:latin typeface="Inter SemiBold Text SemiBold" pitchFamily="34" charset="0"/>
                <a:ea typeface="Inter SemiBold Text SemiBold" pitchFamily="34" charset="-122"/>
                <a:cs typeface="Inter SemiBold Text SemiBold" pitchFamily="34" charset="-120"/>
                <a:hlinkClick r:id="rId7">
                  <a:extLst>
                    <a:ext uri="{A12FA001-AC4F-418D-AE19-62706E023703}">
                      <ahyp:hlinkClr xmlns:ahyp="http://schemas.microsoft.com/office/drawing/2018/hyperlinkcolor" val="tx"/>
                    </a:ext>
                  </a:extLst>
                </a:hlinkClick>
              </a:rPr>
              <a:t>Cyrille Sautereau</a:t>
            </a:r>
            <a:r>
              <a:rPr lang="de-DE" sz="1200" dirty="0">
                <a:solidFill>
                  <a:srgbClr val="5B6890"/>
                </a:solidFill>
                <a:latin typeface="Inter SemiBold Text SemiBold" pitchFamily="34" charset="0"/>
                <a:ea typeface="Inter SemiBold Text SemiBold" pitchFamily="34" charset="-122"/>
                <a:cs typeface="Inter SemiBold Text SemiBold" pitchFamily="34" charset="-120"/>
              </a:rPr>
              <a:t>):  </a:t>
            </a:r>
            <a:r>
              <a:rPr lang="de-DE" sz="1200" dirty="0">
                <a:solidFill>
                  <a:srgbClr val="5B6890"/>
                </a:solidFill>
                <a:latin typeface="Inter Text" pitchFamily="34" charset="0"/>
                <a:ea typeface="Inter Text" pitchFamily="34" charset="-122"/>
                <a:cs typeface="Inter Text" pitchFamily="34" charset="-120"/>
              </a:rPr>
              <a:t>Rundet ein System einen genauen Wert beim Import — oder lehnt es die Rechnung ab?</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de-DE" sz="1050" dirty="0">
                <a:solidFill>
                  <a:srgbClr val="B85C0A"/>
                </a:solidFill>
                <a:latin typeface="Inter SemiBold Text SemiBold" pitchFamily="34" charset="0"/>
                <a:ea typeface="Inter SemiBold Text SemiBold" pitchFamily="34" charset="-122"/>
                <a:cs typeface="Inter SemiBold Text SemiBold" pitchFamily="34" charset="-120"/>
              </a:rPr>
              <a:t>Bruttopreisrechnungen funktionierten im Kern nie: </a:t>
            </a:r>
            <a:r>
              <a:rPr lang="de-DE" sz="1050" dirty="0">
                <a:solidFill>
                  <a:srgbClr val="B85C0A"/>
                </a:solidFill>
                <a:latin typeface="Inter Text" pitchFamily="34" charset="0"/>
                <a:ea typeface="Inter Text" pitchFamily="34" charset="-122"/>
                <a:cs typeface="Inter Text" pitchFamily="34" charset="-120"/>
              </a:rPr>
              <a:t>BMF-Schreiben Rn. 18; Übergangslösung nur bis 31.12.2027 (Rn. 19).</a:t>
            </a:r>
          </a:p>
        </p:txBody>
      </p:sp>
      <p:sp>
        <p:nvSpPr>
          <p:cNvPr id="30" name="Shape 20 c30"/>
          <p:cNvSpPr/>
          <p:nvPr/>
        </p:nvSpPr>
        <p:spPr>
          <a:xfrm>
            <a:off x="7909560" y="2990088"/>
            <a:ext cx="292608" cy="292608"/>
          </a:xfrm>
          <a:prstGeom prst="ellipse">
            <a:avLst/>
          </a:prstGeom>
          <a:solidFill>
            <a:srgbClr val="19C3C8"/>
          </a:solidFill>
          <a:ln>
            <a:noFill/>
          </a:ln>
        </p:spPr>
        <p:txBody>
          <a:bodyPr/>
          <a:lstStyle/>
          <a:p>
            <a:endParaRPr lang="de-DE"/>
          </a:p>
        </p:txBody>
      </p:sp>
      <p:sp>
        <p:nvSpPr>
          <p:cNvPr id="31" name="Text 21 c31"/>
          <p:cNvSpPr txBox="1"/>
          <p:nvPr/>
        </p:nvSpPr>
        <p:spPr>
          <a:xfrm>
            <a:off x="7909560" y="299008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2" name="Text 22 c32"/>
          <p:cNvSpPr txBox="1"/>
          <p:nvPr/>
        </p:nvSpPr>
        <p:spPr>
          <a:xfrm>
            <a:off x="8366760" y="2926080"/>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Rechnungen mit 2 Nachkommastellen bleiben konform</a:t>
            </a:r>
          </a:p>
        </p:txBody>
      </p:sp>
      <p:sp>
        <p:nvSpPr>
          <p:cNvPr id="33" name="Shape 20 c33"/>
          <p:cNvSpPr/>
          <p:nvPr/>
        </p:nvSpPr>
        <p:spPr>
          <a:xfrm>
            <a:off x="7909560" y="3557016"/>
            <a:ext cx="292608" cy="292608"/>
          </a:xfrm>
          <a:prstGeom prst="ellipse">
            <a:avLst/>
          </a:prstGeom>
          <a:solidFill>
            <a:srgbClr val="19C3C8"/>
          </a:solidFill>
          <a:ln>
            <a:noFill/>
          </a:ln>
        </p:spPr>
        <p:txBody>
          <a:bodyPr/>
          <a:lstStyle/>
          <a:p>
            <a:endParaRPr lang="de-DE"/>
          </a:p>
        </p:txBody>
      </p:sp>
      <p:sp>
        <p:nvSpPr>
          <p:cNvPr id="34" name="Text 21 c34"/>
          <p:cNvSpPr txBox="1"/>
          <p:nvPr/>
        </p:nvSpPr>
        <p:spPr>
          <a:xfrm>
            <a:off x="7909560" y="355701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5" name="Text 22 c35"/>
          <p:cNvSpPr txBox="1"/>
          <p:nvPr/>
        </p:nvSpPr>
        <p:spPr>
          <a:xfrm>
            <a:off x="8366760" y="3493008"/>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Das Nettomodell bleibt unverändert</a:t>
            </a:r>
          </a:p>
        </p:txBody>
      </p:sp>
      <p:sp>
        <p:nvSpPr>
          <p:cNvPr id="36" name="Shape 20 c36"/>
          <p:cNvSpPr/>
          <p:nvPr/>
        </p:nvSpPr>
        <p:spPr>
          <a:xfrm>
            <a:off x="7909560" y="4123944"/>
            <a:ext cx="292608" cy="292608"/>
          </a:xfrm>
          <a:prstGeom prst="ellipse">
            <a:avLst/>
          </a:prstGeom>
          <a:solidFill>
            <a:srgbClr val="19C3C8"/>
          </a:solidFill>
          <a:ln>
            <a:noFill/>
          </a:ln>
        </p:spPr>
        <p:txBody>
          <a:bodyPr/>
          <a:lstStyle/>
          <a:p>
            <a:endParaRPr lang="de-DE"/>
          </a:p>
        </p:txBody>
      </p:sp>
      <p:sp>
        <p:nvSpPr>
          <p:cNvPr id="37" name="Text 21 c37"/>
          <p:cNvSpPr txBox="1"/>
          <p:nvPr/>
        </p:nvSpPr>
        <p:spPr>
          <a:xfrm>
            <a:off x="7909560" y="412394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8" name="Text 22 c38"/>
          <p:cNvSpPr txBox="1"/>
          <p:nvPr/>
        </p:nvSpPr>
        <p:spPr>
          <a:xfrm>
            <a:off x="8366760" y="4059936"/>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BT-110, BT-115, BT-117 wie heute in Cent gebucht</a:t>
            </a:r>
          </a:p>
        </p:txBody>
      </p:sp>
      <p:sp>
        <p:nvSpPr>
          <p:cNvPr id="39" name="Shape 20 c39"/>
          <p:cNvSpPr/>
          <p:nvPr/>
        </p:nvSpPr>
        <p:spPr>
          <a:xfrm>
            <a:off x="7909560" y="4690872"/>
            <a:ext cx="292608" cy="292608"/>
          </a:xfrm>
          <a:prstGeom prst="ellipse">
            <a:avLst/>
          </a:prstGeom>
          <a:solidFill>
            <a:srgbClr val="19C3C8"/>
          </a:solidFill>
          <a:ln>
            <a:noFill/>
          </a:ln>
        </p:spPr>
        <p:txBody>
          <a:bodyPr/>
          <a:lstStyle/>
          <a:p>
            <a:endParaRPr lang="de-DE"/>
          </a:p>
        </p:txBody>
      </p:sp>
      <p:sp>
        <p:nvSpPr>
          <p:cNvPr id="40" name="Text 21 c40"/>
          <p:cNvSpPr txBox="1"/>
          <p:nvPr/>
        </p:nvSpPr>
        <p:spPr>
          <a:xfrm>
            <a:off x="7909560" y="469087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41" name="Text 22 c41"/>
          <p:cNvSpPr txBox="1"/>
          <p:nvPr/>
        </p:nvSpPr>
        <p:spPr>
          <a:xfrm>
            <a:off x="8366760" y="4626864"/>
            <a:ext cx="274320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Heutige Toleranzen bleiben; Warnung nur bei geändertem Ergebnis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BRUTTOMODELL (#164) · WO</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Warum das Bruttomodell in den Kern gehört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Läden und Kassen haben keine Vorabvereinbarung mit ihren Käufern.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18</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Nur der Kern erreicht jeden Empfänger</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Keine Zustimmung nötig für EN-16931-Rechnungen (</a:t>
            </a:r>
            <a:r>
              <a:rPr lang="de-DE"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neuer Art. 232, ViDA</a:t>
            </a:r>
            <a:r>
              <a:rPr lang="de-DE"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DRR nimmt EN-konforme Daten an (</a:t>
            </a:r>
            <a:r>
              <a:rPr lang="de-DE"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neuer Art. 263 Abs. 3, ViDA</a:t>
            </a:r>
            <a:r>
              <a:rPr lang="de-DE"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Eine CIUS wie XRechnung kann nur einschränken (7.1, Tabelle 29)</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Die Alternativen schließen die Lücke nicht</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Erweitertes Profil oder Extension: nur mit Vorabvereinbarung</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Kleinbetragsrechnung: nur kleine Beträge (</a:t>
            </a:r>
            <a:r>
              <a:rPr lang="de-DE"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Art. 220a</a:t>
            </a:r>
            <a:r>
              <a:rPr lang="de-DE" sz="1200" dirty="0">
                <a:solidFill>
                  <a:srgbClr val="5B6890"/>
                </a:solidFill>
                <a:latin typeface="Inter Text" pitchFamily="34" charset="0"/>
                <a:ea typeface="Inter Text" pitchFamily="34" charset="-122"/>
                <a:cs typeface="Inter Text" pitchFamily="34" charset="-120"/>
              </a:rPr>
              <a:t>; </a:t>
            </a:r>
            <a:r>
              <a:rPr lang="de-DE"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DE ≤ 250 €</a:t>
            </a:r>
            <a:r>
              <a:rPr lang="de-DE"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Eine Zeile je Steuersatz + Anlage: bis 31.12.2027</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9">
                  <a:extLst>
                    <a:ext uri="{A12FA001-AC4F-418D-AE19-62706E023703}">
                      <ahyp:hlinkClr xmlns:ahyp="http://schemas.microsoft.com/office/drawing/2018/hyperlinkcolor" val="tx"/>
                    </a:ext>
                  </a:extLst>
                </a:hlinkClick>
              </a:rPr>
              <a:t>BMF-SCHREIBEN · 15.10.2026</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Rn. 17</a:t>
            </a:r>
            <a:r>
              <a:rPr lang="de-DE" sz="1250" dirty="0">
                <a:solidFill>
                  <a:srgbClr val="FFFFFF"/>
                </a:solidFill>
                <a:latin typeface="Inter Text" pitchFamily="34" charset="0"/>
                <a:ea typeface="Inter Text" pitchFamily="34" charset="-122"/>
                <a:cs typeface="Inter Text" pitchFamily="34" charset="-120"/>
              </a:rPr>
              <a:t>: USt nach Cent genau; Entgelt = Gegenleistung abzüglich USt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Rn. 18</a:t>
            </a:r>
            <a:r>
              <a:rPr lang="de-DE" sz="1250" dirty="0">
                <a:solidFill>
                  <a:srgbClr val="FFFFFF"/>
                </a:solidFill>
                <a:latin typeface="Inter Text" pitchFamily="34" charset="0"/>
                <a:ea typeface="Inter Text" pitchFamily="34" charset="-122"/>
                <a:cs typeface="Inter Text" pitchFamily="34" charset="-120"/>
              </a:rPr>
              <a:t>: Kernmodell und steuerliche Rundungsregel nicht beide einhaltbar</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Rn. 18</a:t>
            </a:r>
            <a:r>
              <a:rPr lang="de-DE" sz="1250" dirty="0">
                <a:solidFill>
                  <a:srgbClr val="FFFFFF"/>
                </a:solidFill>
                <a:latin typeface="Inter Text" pitchFamily="34" charset="0"/>
                <a:ea typeface="Inter Text" pitchFamily="34" charset="-122"/>
                <a:cs typeface="Inter Text" pitchFamily="34" charset="-120"/>
              </a:rPr>
              <a:t>: Ein Format auf Basis von Bruttopreisen bietet sich an</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Rn. 19</a:t>
            </a:r>
            <a:r>
              <a:rPr lang="de-DE" sz="1250" dirty="0">
                <a:solidFill>
                  <a:srgbClr val="FFFFFF"/>
                </a:solidFill>
                <a:latin typeface="Inter Text" pitchFamily="34" charset="0"/>
                <a:ea typeface="Inter Text" pitchFamily="34" charset="-122"/>
                <a:cs typeface="Inter Text" pitchFamily="34" charset="-120"/>
              </a:rPr>
              <a:t>: XRechnung und ZUGFeRD haben noch kein Bruttoformat</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Anwendungsfälle:  </a:t>
            </a:r>
            <a:r>
              <a:rPr lang="de-DE" sz="1100" dirty="0">
                <a:solidFill>
                  <a:srgbClr val="5B6890"/>
                </a:solidFill>
                <a:latin typeface="Inter Text" pitchFamily="34" charset="0"/>
                <a:ea typeface="Inter Text" pitchFamily="34" charset="-122"/>
                <a:cs typeface="Inter Text" pitchFamily="34" charset="-120"/>
              </a:rPr>
              <a:t>Buchpreisbindung · Kassenbon → Rechnung · Handel und Marktplätze · Kraftstoff · gesetzliche Bruttopreise</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STAND · 20.10.2026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Wo die Diskussion steht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Vieles ist schon Konsens — vier Punkte sind noch offen.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19</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2"/>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Wo sich die Vorschläge treffen</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USt in der Minor Unit, einmal je Kategorie gerundet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„Plus USt“-Begriffe und ein Indikator im Kern</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Genaue Positionswerte und mehr Preisstellen als heute</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Von </a:t>
            </a:r>
            <a:r>
              <a:rPr lang="de-DE" sz="1200" dirty="0">
                <a:solidFill>
                  <a:srgbClr val="5B6890"/>
                </a:solidFill>
                <a:latin typeface="Inter Text" pitchFamily="34" charset="0"/>
                <a:ea typeface="Inter Text" pitchFamily="34" charset="-122"/>
                <a:cs typeface="Inter Text" pitchFamily="34" charset="-120"/>
                <a:hlinkClick r:id="rId11">
                  <a:extLst>
                    <a:ext uri="{A12FA001-AC4F-418D-AE19-62706E023703}">
                      <ahyp:hlinkClr xmlns:ahyp="http://schemas.microsoft.com/office/drawing/2018/hyperlinkcolor" val="tx"/>
                    </a:ext>
                  </a:extLst>
                </a:hlinkClick>
              </a:rPr>
              <a:t>Paul Simons</a:t>
            </a:r>
            <a:r>
              <a:rPr lang="de-DE" sz="1200" dirty="0">
                <a:solidFill>
                  <a:srgbClr val="5B6890"/>
                </a:solidFill>
                <a:latin typeface="Inter Text" pitchFamily="34" charset="0"/>
                <a:ea typeface="Inter Text" pitchFamily="34" charset="-122"/>
                <a:cs typeface="Inter Text" pitchFamily="34" charset="-120"/>
              </a:rPr>
              <a:t> und </a:t>
            </a:r>
            <a:r>
              <a:rPr lang="de-DE" sz="1200" dirty="0">
                <a:solidFill>
                  <a:srgbClr val="5B6890"/>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Cyrille Sautereau</a:t>
            </a:r>
            <a:r>
              <a:rPr lang="de-DE" sz="1200" dirty="0">
                <a:solidFill>
                  <a:srgbClr val="5B6890"/>
                </a:solidFill>
                <a:latin typeface="Inter Text" pitchFamily="34" charset="0"/>
                <a:ea typeface="Inter Text" pitchFamily="34" charset="-122"/>
                <a:cs typeface="Inter Text" pitchFamily="34" charset="-120"/>
              </a:rPr>
              <a:t>, 16.–19.10.</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3"/>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Noch offen</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Ein Positionsbetrag oder ein zweiter, genauer (BT-131NR)</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Maximal 8 Nachkommastellen oder kein Maximum</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BT-116 Kategoriespezifischer Steuerbasisbetrag in Cent?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USt zuerst: Regel im Kern oder Leitfaden und CIUS</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AM ENDE: GENAUE DATEN FÜR ALLE</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Normkonform zur EN und rechtskonform nach nationalem USt-Recht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Toleranz für die, die sie akzeptieren, keine Hürde für andere</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Empfänger runden beim Import, statt abzulehnen (</a:t>
            </a:r>
            <a:r>
              <a:rPr lang="de-DE" sz="1250" dirty="0">
                <a:solidFill>
                  <a:srgbClr val="FFFFFF"/>
                </a:solidFill>
                <a:latin typeface="Inter Text" pitchFamily="34" charset="0"/>
                <a:ea typeface="Inter Text" pitchFamily="34" charset="-122"/>
                <a:cs typeface="Inter Text" pitchFamily="34" charset="-120"/>
                <a:hlinkClick r:id="rId13">
                  <a:extLst>
                    <a:ext uri="{A12FA001-AC4F-418D-AE19-62706E023703}">
                      <ahyp:hlinkClr xmlns:ahyp="http://schemas.microsoft.com/office/drawing/2018/hyperlinkcolor" val="tx"/>
                    </a:ext>
                  </a:extLst>
                </a:hlinkClick>
              </a:rPr>
              <a:t>neuer Art. 232, ViDA</a:t>
            </a:r>
            <a:r>
              <a:rPr lang="de-DE" sz="1250" dirty="0">
                <a:solidFill>
                  <a:srgbClr val="FFFFFF"/>
                </a:solidFill>
                <a:latin typeface="Inter Text" pitchFamily="34" charset="0"/>
                <a:ea typeface="Inter Text" pitchFamily="34" charset="-122"/>
                <a:cs typeface="Inter Text" pitchFamily="34" charset="-120"/>
              </a:rPr>
              <a:t>)</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Software nennt ihre Genauigkeit (decimal32, 64, 128); der Markt wählt</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Normkonform ≠ rechtskonform:  </a:t>
            </a:r>
            <a:r>
              <a:rPr lang="de-DE" sz="1100" dirty="0">
                <a:solidFill>
                  <a:srgbClr val="5B6890"/>
                </a:solidFill>
                <a:latin typeface="Inter Text" pitchFamily="34" charset="0"/>
                <a:ea typeface="Inter Text" pitchFamily="34" charset="-122"/>
                <a:cs typeface="Inter Text" pitchFamily="34" charset="-120"/>
              </a:rPr>
              <a:t>dieselbe Leistung ergibt bei </a:t>
            </a:r>
            <a:r>
              <a:rPr lang="de-DE" sz="1100" dirty="0">
                <a:solidFill>
                  <a:srgbClr val="5B6890"/>
                </a:solidFill>
                <a:latin typeface="Inter Text" pitchFamily="34" charset="0"/>
                <a:ea typeface="Inter Text" pitchFamily="34" charset="-122"/>
                <a:cs typeface="Inter Text" pitchFamily="34" charset="-120"/>
                <a:hlinkClick r:id="rId14">
                  <a:extLst>
                    <a:ext uri="{A12FA001-AC4F-418D-AE19-62706E023703}">
                      <ahyp:hlinkClr xmlns:ahyp="http://schemas.microsoft.com/office/drawing/2018/hyperlinkcolor" val="tx"/>
                    </a:ext>
                  </a:extLst>
                </a:hlinkClick>
              </a:rPr>
              <a:t>Paul Simons</a:t>
            </a:r>
            <a:r>
              <a:rPr lang="de-DE" sz="1100" dirty="0">
                <a:solidFill>
                  <a:srgbClr val="5B6890"/>
                </a:solidFill>
                <a:latin typeface="Inter Text" pitchFamily="34" charset="0"/>
                <a:ea typeface="Inter Text" pitchFamily="34" charset="-122"/>
                <a:cs typeface="Inter Text" pitchFamily="34" charset="-120"/>
              </a:rPr>
              <a:t> 1,20 € oder 1,21 €; die EN toleriert es, deutsches Recht nicht</a:t>
            </a:r>
          </a:p>
        </p:txBody>
      </p:sp>
      <p:sp>
        <p:nvSpPr>
          <p:cNvPr id="36" name="Speaker 36">
            <a:hlinkClick r:id="rId4"/>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C2CADE"/>
                </a:solidFill>
                <a:latin typeface="Inter Text" pitchFamily="34" charset="0"/>
                <a:ea typeface="Inter Text" pitchFamily="34" charset="-122"/>
                <a:cs typeface="Inter Text" pitchFamily="34" charset="-120"/>
              </a:rPr>
              <a:t>   ·   </a:t>
            </a:r>
            <a:r>
              <a:rPr lang="de-DE" sz="950" spc="100" dirty="0">
                <a:solidFill>
                  <a:srgbClr val="9AA4C2"/>
                </a:solidFill>
                <a:latin typeface="Inter Text" pitchFamily="34" charset="0"/>
                <a:ea typeface="Inter Text" pitchFamily="34" charset="-122"/>
                <a:cs typeface="Inter Text" pitchFamily="34" charset="-120"/>
              </a:rPr>
              <a:t>EN 16931-1:2026 Amendment · Bruttopreise und Rundung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ENTSCHEIDUNGEN</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1A2B5E"/>
                </a:solidFill>
                <a:latin typeface="Inter Text" pitchFamily="34" charset="0"/>
                <a:ea typeface="Inter Text" pitchFamily="34" charset="-122"/>
                <a:cs typeface="Inter Text" pitchFamily="34" charset="-120"/>
              </a:rPr>
              <a:t>Zwei Entscheidungen für die WG1</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de-DE" sz="1300" dirty="0">
                <a:solidFill>
                  <a:srgbClr val="5B6890"/>
                </a:solidFill>
                <a:latin typeface="Inter Text" pitchFamily="34" charset="0"/>
                <a:ea typeface="Inter Text" pitchFamily="34" charset="-122"/>
                <a:cs typeface="Inter Text" pitchFamily="34" charset="-120"/>
              </a:rPr>
              <a:t>Beide halten jede funktionierende Implementierung konform.</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de-DE" sz="1000" spc="200" dirty="0">
                <a:solidFill>
                  <a:srgbClr val="5B6890"/>
                </a:solidFill>
                <a:latin typeface="Inter SemiBold Text SemiBold" pitchFamily="34" charset="0"/>
                <a:ea typeface="Inter SemiBold Text SemiBold" pitchFamily="34" charset="-122"/>
                <a:cs typeface="Inter SemiBold Text SemiBold" pitchFamily="34" charset="-120"/>
              </a:rPr>
              <a:t>20</a:t>
            </a:fld>
            <a:endParaRPr lang="de-DE"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1 · Bruttomodell im Kern </a:t>
            </a:r>
            <a:r>
              <a:rPr lang="de-DE" sz="1500" dirty="0">
                <a:solidFill>
                  <a:srgbClr val="1A2B5E"/>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(#164)</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„Plus USt“-Begriffe wie BT-146V, BT-131V, BT-116V</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USt zuerst: BT-117 einmal gerundet, BT-116 als Rest</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Keine Netto-Zwischenwerte; BT-146 zur Information</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de-DE"/>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de-DE"/>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de-DE" sz="1500" dirty="0">
                <a:solidFill>
                  <a:srgbClr val="1A2B5E"/>
                </a:solidFill>
                <a:latin typeface="Inter SemiBold Text SemiBold" pitchFamily="34" charset="0"/>
                <a:ea typeface="Inter SemiBold Text SemiBold" pitchFamily="34" charset="-122"/>
                <a:cs typeface="Inter SemiBold Text SemiBold" pitchFamily="34" charset="-120"/>
              </a:rPr>
              <a:t>2 · Keine erzwungene Rundung </a:t>
            </a:r>
            <a:r>
              <a:rPr lang="de-DE" sz="1500" dirty="0">
                <a:solidFill>
                  <a:srgbClr val="1A2B5E"/>
                </a:solidFill>
                <a:latin typeface="Inter SemiBold Text SemiBold" pitchFamily="34" charset="0"/>
                <a:ea typeface="Inter SemiBold Text SemiBold" pitchFamily="34" charset="-122"/>
                <a:cs typeface="Inter SemiBold Text SemiBold" pitchFamily="34" charset="-120"/>
                <a:hlinkClick r:id="rId7">
                  <a:extLst>
                    <a:ext uri="{A12FA001-AC4F-418D-AE19-62706E023703}">
                      <ahyp:hlinkClr xmlns:ahyp="http://schemas.microsoft.com/office/drawing/2018/hyperlinkcolor" val="tx"/>
                    </a:ext>
                  </a:extLst>
                </a:hlinkClick>
              </a:rPr>
              <a:t>(#163)</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Kein Maximum an NK für Preise, Mengen, Zwischenwerte</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Nur Zahlbetrag und USt gerundet, einmal; BT-114 zeigt es</a:t>
            </a:r>
          </a:p>
          <a:p>
            <a:pPr marL="164592" indent="-164592" algn="l">
              <a:spcAft>
                <a:spcPts val="200"/>
              </a:spcAft>
              <a:buSzPct val="100000"/>
              <a:buChar char="•"/>
            </a:pPr>
            <a:r>
              <a:rPr lang="de-DE" sz="1200" dirty="0">
                <a:solidFill>
                  <a:srgbClr val="5B6890"/>
                </a:solidFill>
                <a:latin typeface="Inter Text" pitchFamily="34" charset="0"/>
                <a:ea typeface="Inter Text" pitchFamily="34" charset="-122"/>
                <a:cs typeface="Inter Text" pitchFamily="34" charset="-120"/>
              </a:rPr>
              <a:t>Toleranzen bleiben; Warnung nur bei geändertem Ergebnis</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de-DE"/>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NÄCHSTE SCHRITTE</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de-DE"/>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„USt zuerst“ mit TAXUD als europäische Methode bestätigen</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de-DE"/>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TAXUD fragen: Preis ohne MwSt. optional bei Bruttorechnungen?</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de-DE"/>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Testdokumente für die Dezimalstufen decimal32, 64 und 128</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de-DE"/>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de-DE"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de-DE" sz="1250" dirty="0">
                <a:solidFill>
                  <a:srgbClr val="FFFFFF"/>
                </a:solidFill>
                <a:latin typeface="Inter Text" pitchFamily="34" charset="0"/>
                <a:ea typeface="Inter Text" pitchFamily="34" charset="-122"/>
                <a:cs typeface="Inter Text" pitchFamily="34" charset="-120"/>
              </a:rPr>
              <a:t>Impact-Test mit ERP- und E-Rechnungs-Anbietern</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de-DE" sz="1100" dirty="0">
                <a:solidFill>
                  <a:srgbClr val="5B6890"/>
                </a:solidFill>
                <a:latin typeface="Inter SemiBold Text SemiBold" pitchFamily="34" charset="0"/>
                <a:ea typeface="Inter SemiBold Text SemiBold" pitchFamily="34" charset="-122"/>
                <a:cs typeface="Inter SemiBold Text SemiBold" pitchFamily="34" charset="-120"/>
              </a:rPr>
              <a:t>Issues:  </a:t>
            </a:r>
            <a:r>
              <a:rPr lang="de-DE"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github.com/ConnectingEurope/CEN-TC434-WG1/issues/164</a:t>
            </a:r>
            <a:r>
              <a:rPr lang="de-DE" sz="1100" dirty="0">
                <a:solidFill>
                  <a:srgbClr val="5B6890"/>
                </a:solidFill>
                <a:latin typeface="Inter Text" pitchFamily="34" charset="0"/>
                <a:ea typeface="Inter Text" pitchFamily="34" charset="-122"/>
                <a:cs typeface="Inter Text" pitchFamily="34" charset="-120"/>
              </a:rPr>
              <a:t>  ·  </a:t>
            </a:r>
            <a:r>
              <a:rPr lang="de-DE" sz="11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/163</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Folie 34">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de-DE" sz="950" spc="100" dirty="0">
                <a:solidFill>
                  <a:srgbClr val="9FB0D8"/>
                </a:solidFill>
                <a:latin typeface="Inter Medium Text Medium" pitchFamily="34" charset="0"/>
                <a:ea typeface="Inter Medium Text Medium" pitchFamily="34" charset="-122"/>
                <a:cs typeface="Inter Medium Text Medium" pitchFamily="34" charset="-120"/>
              </a:rPr>
              <a:t>CEN/TC 434 WG1</a:t>
            </a:r>
            <a:r>
              <a:rPr lang="de-DE" sz="950" spc="100" dirty="0">
                <a:solidFill>
                  <a:srgbClr val="44598F"/>
                </a:solidFill>
                <a:latin typeface="Inter Text" pitchFamily="34" charset="0"/>
                <a:ea typeface="Inter Text" pitchFamily="34" charset="-122"/>
                <a:cs typeface="Inter Text" pitchFamily="34" charset="-120"/>
              </a:rPr>
              <a:t>   ·   </a:t>
            </a:r>
            <a:r>
              <a:rPr lang="de-DE" sz="950" spc="100" dirty="0">
                <a:solidFill>
                  <a:srgbClr val="7E91C4"/>
                </a:solidFill>
                <a:latin typeface="Inter Text" pitchFamily="34" charset="0"/>
                <a:ea typeface="Inter Text" pitchFamily="34" charset="-122"/>
                <a:cs typeface="Inter Text" pitchFamily="34" charset="-120"/>
              </a:rPr>
              <a:t>EN 16931-1:2026 Amendment · Bruttopreise und Rundung</a:t>
            </a:r>
          </a:p>
        </p:txBody>
      </p:sp>
      <p:sp>
        <p:nvSpPr>
          <p:cNvPr id="5" name="SectionLabel 5"/>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de-DE" sz="1100" spc="300" dirty="0">
                <a:solidFill>
                  <a:srgbClr val="19C3C8"/>
                </a:solidFill>
                <a:latin typeface="Inter SemiBold Text SemiBold" pitchFamily="34" charset="0"/>
                <a:ea typeface="Inter SemiBold Text SemiBold" pitchFamily="34" charset="-122"/>
                <a:cs typeface="Inter SemiBold Text SemiBold" pitchFamily="34" charset="-120"/>
              </a:rPr>
              <a:t>KONTAKT</a:t>
            </a:r>
          </a:p>
        </p:txBody>
      </p:sp>
      <p:sp>
        <p:nvSpPr>
          <p:cNvPr id="6" name="Title 6"/>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de-DE" sz="3800" b="1" dirty="0">
                <a:solidFill>
                  <a:srgbClr val="FFFFFF"/>
                </a:solidFill>
                <a:latin typeface="Inter Text" pitchFamily="34" charset="0"/>
                <a:ea typeface="Inter Text" pitchFamily="34" charset="-122"/>
                <a:cs typeface="Inter Text" pitchFamily="34" charset="-120"/>
              </a:rPr>
              <a:t>Sprechen Sie mich an</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87DA7C0F-D619-4F2F-88AE-3AFCE6D46308}" type="slidenum">
              <a:rPr lang="de-DE" sz="1000" spc="200" dirty="0">
                <a:solidFill>
                  <a:srgbClr val="8EA0CC"/>
                </a:solidFill>
                <a:latin typeface="Inter SemiBold Text SemiBold" pitchFamily="34" charset="0"/>
                <a:ea typeface="Inter SemiBold Text SemiBold" pitchFamily="34" charset="-122"/>
                <a:cs typeface="Inter SemiBold Text SemiBold" pitchFamily="34" charset="-120"/>
              </a:rPr>
              <a:t>21</a:t>
            </a:fld>
            <a:endParaRPr lang="de-DE" sz="1000" spc="200" dirty="0">
              <a:solidFill>
                <a:srgbClr val="8EA0CC"/>
              </a:solidFill>
              <a:latin typeface="Inter SemiBold Text SemiBold" pitchFamily="34" charset="0"/>
              <a:ea typeface="Inter SemiBold Text SemiBold" pitchFamily="34" charset="-122"/>
              <a:cs typeface="Inter SemiBold Text SemiBold" pitchFamily="34" charset="-120"/>
            </a:endParaRPr>
          </a:p>
        </p:txBody>
      </p:sp>
      <p:sp>
        <p:nvSpPr>
          <p:cNvPr id="8" name="Shape 8"/>
          <p:cNvSpPr/>
          <p:nvPr/>
        </p:nvSpPr>
        <p:spPr>
          <a:xfrm>
            <a:off x="82296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de-DE"/>
          </a:p>
        </p:txBody>
      </p:sp>
      <p:sp>
        <p:nvSpPr>
          <p:cNvPr id="9" name="Shape 9"/>
          <p:cNvSpPr/>
          <p:nvPr/>
        </p:nvSpPr>
        <p:spPr>
          <a:xfrm>
            <a:off x="1133856" y="3054096"/>
            <a:ext cx="640080" cy="64008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de-DE"/>
          </a:p>
        </p:txBody>
      </p:sp>
      <p:pic>
        <p:nvPicPr>
          <p:cNvPr id="10" name="Image 10"/>
          <p:cNvPicPr>
            <a:picLocks noChangeAspect="1"/>
          </p:cNvPicPr>
          <p:nvPr/>
        </p:nvPicPr>
        <p:blipFill>
          <a:blip r:embed="rId4"/>
          <a:stretch>
            <a:fillRect/>
          </a:stretch>
        </p:blipFill>
        <p:spPr>
          <a:xfrm>
            <a:off x="1307592" y="3227832"/>
            <a:ext cx="292608" cy="292608"/>
          </a:xfrm>
          <a:prstGeom prst="rect">
            <a:avLst/>
          </a:prstGeom>
        </p:spPr>
      </p:pic>
      <p:sp>
        <p:nvSpPr>
          <p:cNvPr id="11" name="Text 11"/>
          <p:cNvSpPr txBox="1"/>
          <p:nvPr/>
        </p:nvSpPr>
        <p:spPr>
          <a:xfrm>
            <a:off x="1965960" y="3063240"/>
            <a:ext cx="3749040" cy="1463040"/>
          </a:xfrm>
          <a:prstGeom prst="rect">
            <a:avLst/>
          </a:prstGeom>
          <a:noFill/>
          <a:ln/>
        </p:spPr>
        <p:txBody>
          <a:bodyPr wrap="square" lIns="0" tIns="0" rIns="0" bIns="0" rtlCol="0" anchor="t"/>
          <a:lstStyle/>
          <a:p>
            <a:pPr marL="0" indent="0" algn="l">
              <a:lnSpc>
                <a:spcPct val="110000"/>
              </a:lnSpc>
              <a:spcAft>
                <a:spcPts val="300"/>
              </a:spcAft>
              <a:buNone/>
            </a:pPr>
            <a:r>
              <a:rPr lang="de-DE" sz="18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10000"/>
              </a:lnSpc>
              <a:buNone/>
            </a:pPr>
            <a:r>
              <a:rPr lang="de-DE" sz="1200" dirty="0">
                <a:solidFill>
                  <a:srgbClr val="BFD0F4"/>
                </a:solidFill>
                <a:latin typeface="Inter Text" pitchFamily="34" charset="0"/>
                <a:ea typeface="Inter Text" pitchFamily="34" charset="-122"/>
                <a:cs typeface="Inter Text" pitchFamily="34" charset="-120"/>
              </a:rPr>
              <a:t>Syntax-Bindings · Validierung · Tooling</a:t>
            </a:r>
          </a:p>
          <a:p>
            <a:pPr marL="0" indent="0" algn="l">
              <a:lnSpc>
                <a:spcPct val="110000"/>
              </a:lnSpc>
              <a:buNone/>
            </a:pPr>
            <a:r>
              <a:rPr lang="de-DE" sz="1200" dirty="0">
                <a:solidFill>
                  <a:srgbClr val="BFD0F4"/>
                </a:solidFill>
                <a:latin typeface="Inter Text" pitchFamily="34" charset="0"/>
                <a:ea typeface="Inter Text" pitchFamily="34" charset="-122"/>
                <a:cs typeface="Inter Text" pitchFamily="34" charset="-120"/>
              </a:rPr>
              <a:t>Editor der Syntax-Bindings, CEN/TC 434 WG3</a:t>
            </a:r>
          </a:p>
        </p:txBody>
      </p:sp>
      <p:sp>
        <p:nvSpPr>
          <p:cNvPr id="12" name="Shape 12"/>
          <p:cNvSpPr/>
          <p:nvPr/>
        </p:nvSpPr>
        <p:spPr>
          <a:xfrm>
            <a:off x="626364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de-DE"/>
          </a:p>
        </p:txBody>
      </p:sp>
      <p:sp>
        <p:nvSpPr>
          <p:cNvPr id="13" name="Text 13"/>
          <p:cNvSpPr txBox="1"/>
          <p:nvPr/>
        </p:nvSpPr>
        <p:spPr>
          <a:xfrm>
            <a:off x="6583680" y="2880360"/>
            <a:ext cx="4572000" cy="365760"/>
          </a:xfrm>
          <a:prstGeom prst="rect">
            <a:avLst/>
          </a:prstGeom>
          <a:noFill/>
          <a:ln/>
        </p:spPr>
        <p:txBody>
          <a:bodyPr wrap="square" lIns="0" tIns="0" rIns="0" bIns="0" rtlCol="0" anchor="ctr"/>
          <a:lstStyle/>
          <a:p>
            <a:pPr marL="0" indent="0" algn="l">
              <a:buNone/>
            </a:pPr>
            <a:r>
              <a:rPr lang="de-DE" sz="1500" dirty="0">
                <a:solidFill>
                  <a:srgbClr val="FFFFFF"/>
                </a:solidFill>
                <a:latin typeface="Inter SemiBold Text SemiBold" pitchFamily="34" charset="0"/>
                <a:ea typeface="Inter SemiBold Text SemiBold" pitchFamily="34" charset="-122"/>
                <a:cs typeface="Inter SemiBold Text SemiBold" pitchFamily="34" charset="-120"/>
              </a:rPr>
              <a:t>Mitlesen &amp; mitreden</a:t>
            </a:r>
          </a:p>
        </p:txBody>
      </p:sp>
      <p:sp>
        <p:nvSpPr>
          <p:cNvPr id="14" name="Text 14">
            <a:hlinkClick r:id="rId13"/>
          </p:cNvPr>
          <p:cNvSpPr txBox="1"/>
          <p:nvPr/>
        </p:nvSpPr>
        <p:spPr>
          <a:xfrm>
            <a:off x="6583680" y="3310128"/>
            <a:ext cx="4572000" cy="274320"/>
          </a:xfrm>
          <a:prstGeom prst="rect">
            <a:avLst/>
          </a:prstGeom>
          <a:noFill/>
          <a:ln/>
        </p:spPr>
        <p:txBody>
          <a:bodyPr wrap="square" lIns="0" tIns="0" rIns="0" bIns="0" rtlCol="0" anchor="ctr"/>
          <a:lstStyle/>
          <a:p>
            <a:pPr marL="0" indent="0" algn="l">
              <a:buNone/>
            </a:pPr>
            <a:r>
              <a:rPr lang="de-DE"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de-DE" sz="1200" dirty="0">
                <a:solidFill>
                  <a:srgbClr val="BFD0F4"/>
                </a:solidFill>
                <a:latin typeface="Inter Text" pitchFamily="34" charset="0"/>
                <a:ea typeface="Inter Text" pitchFamily="34" charset="-122"/>
                <a:cs typeface="Inter Text" pitchFamily="34" charset="-120"/>
              </a:rPr>
              <a:t>WG1-Issue #164 · Bruttopreismodell</a:t>
            </a:r>
          </a:p>
        </p:txBody>
      </p:sp>
      <p:sp>
        <p:nvSpPr>
          <p:cNvPr id="15" name="Text 15">
            <a:hlinkClick r:id="rId5"/>
          </p:cNvPr>
          <p:cNvSpPr txBox="1"/>
          <p:nvPr/>
        </p:nvSpPr>
        <p:spPr>
          <a:xfrm>
            <a:off x="6583680" y="3611880"/>
            <a:ext cx="4572000" cy="274320"/>
          </a:xfrm>
          <a:prstGeom prst="rect">
            <a:avLst/>
          </a:prstGeom>
          <a:noFill/>
          <a:ln/>
        </p:spPr>
        <p:txBody>
          <a:bodyPr wrap="square" lIns="0" tIns="0" rIns="0" bIns="0" rtlCol="0" anchor="ctr"/>
          <a:lstStyle/>
          <a:p>
            <a:pPr marL="0" indent="0" algn="l">
              <a:buNone/>
            </a:pPr>
            <a:r>
              <a:rPr lang="de-DE"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de-DE" sz="1200" dirty="0">
                <a:solidFill>
                  <a:srgbClr val="BFD0F4"/>
                </a:solidFill>
                <a:latin typeface="Inter Text" pitchFamily="34" charset="0"/>
                <a:ea typeface="Inter Text" pitchFamily="34" charset="-122"/>
                <a:cs typeface="Inter Text" pitchFamily="34" charset="-120"/>
              </a:rPr>
              <a:t>WG1-Issue #163 · nur einmal runden</a:t>
            </a:r>
          </a:p>
        </p:txBody>
      </p:sp>
      <p:sp>
        <p:nvSpPr>
          <p:cNvPr id="16" name="Text 16">
            <a:hlinkClick r:id="rId14"/>
          </p:cNvPr>
          <p:cNvSpPr txBox="1"/>
          <p:nvPr/>
        </p:nvSpPr>
        <p:spPr>
          <a:xfrm>
            <a:off x="6583680" y="3913632"/>
            <a:ext cx="4572000" cy="274320"/>
          </a:xfrm>
          <a:prstGeom prst="rect">
            <a:avLst/>
          </a:prstGeom>
          <a:noFill/>
          <a:ln/>
        </p:spPr>
        <p:txBody>
          <a:bodyPr wrap="square" lIns="0" tIns="0" rIns="0" bIns="0" rtlCol="0" anchor="ctr"/>
          <a:lstStyle/>
          <a:p>
            <a:pPr marL="0" indent="0" algn="l">
              <a:buNone/>
            </a:pPr>
            <a:r>
              <a:rPr lang="de-DE"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de-DE" sz="1200" dirty="0">
                <a:solidFill>
                  <a:srgbClr val="BFD0F4"/>
                </a:solidFill>
                <a:latin typeface="Inter Text" pitchFamily="34" charset="0"/>
                <a:ea typeface="Inter Text" pitchFamily="34" charset="-122"/>
                <a:cs typeface="Inter Text" pitchFamily="34" charset="-120"/>
              </a:rPr>
              <a:t>BMF-Schreiben vom 15.10.2026, Abschnitt 2.5</a:t>
            </a:r>
          </a:p>
        </p:txBody>
      </p:sp>
      <p:sp>
        <p:nvSpPr>
          <p:cNvPr id="17" name="Text 17">
            <a:hlinkClick r:id="rId7"/>
          </p:cNvPr>
          <p:cNvSpPr txBox="1"/>
          <p:nvPr/>
        </p:nvSpPr>
        <p:spPr>
          <a:xfrm>
            <a:off x="6583680" y="4215384"/>
            <a:ext cx="4572000" cy="274320"/>
          </a:xfrm>
          <a:prstGeom prst="rect">
            <a:avLst/>
          </a:prstGeom>
          <a:noFill/>
          <a:ln/>
        </p:spPr>
        <p:txBody>
          <a:bodyPr wrap="square" lIns="0" tIns="0" rIns="0" bIns="0" rtlCol="0" anchor="ctr"/>
          <a:lstStyle/>
          <a:p>
            <a:pPr marL="0" indent="0" algn="l">
              <a:buNone/>
            </a:pPr>
            <a:r>
              <a:rPr lang="de-DE"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de-DE" sz="1200" dirty="0">
                <a:solidFill>
                  <a:srgbClr val="BFD0F4"/>
                </a:solidFill>
                <a:latin typeface="Inter Text" pitchFamily="34" charset="0"/>
                <a:ea typeface="Inter Text" pitchFamily="34" charset="-122"/>
                <a:cs typeface="Inter Text" pitchFamily="34" charset="-120"/>
              </a:rPr>
              <a:t>Svanton: exakte Dezimalarithmetik für Saxon</a:t>
            </a:r>
          </a:p>
        </p:txBody>
      </p:sp>
      <p:sp>
        <p:nvSpPr>
          <p:cNvPr id="18" name="Text 18"/>
          <p:cNvSpPr txBox="1"/>
          <p:nvPr/>
        </p:nvSpPr>
        <p:spPr>
          <a:xfrm>
            <a:off x="822960" y="5074920"/>
            <a:ext cx="10058400" cy="548640"/>
          </a:xfrm>
          <a:prstGeom prst="rect">
            <a:avLst/>
          </a:prstGeom>
          <a:noFill/>
          <a:ln/>
        </p:spPr>
        <p:txBody>
          <a:bodyPr wrap="square" lIns="0" tIns="0" rIns="0" bIns="0" rtlCol="0" anchor="ctr"/>
          <a:lstStyle/>
          <a:p>
            <a:pPr marL="0" indent="0" algn="l">
              <a:lnSpc>
                <a:spcPct val="110000"/>
              </a:lnSpc>
              <a:buNone/>
            </a:pPr>
            <a:r>
              <a:rPr lang="de-DE" sz="1500" dirty="0">
                <a:solidFill>
                  <a:srgbClr val="FFFFFF"/>
                </a:solidFill>
                <a:latin typeface="Inter SemiBold Text SemiBold" pitchFamily="34" charset="0"/>
                <a:ea typeface="Inter SemiBold Text SemiBold" pitchFamily="34" charset="-122"/>
                <a:cs typeface="Inter SemiBold Text SemiBold" pitchFamily="34" charset="-120"/>
              </a:rPr>
              <a:t>Vielen Dank für Ihre Aufmerksamkeit </a:t>
            </a:r>
            <a:r>
              <a:rPr lang="de-DE" sz="1500" dirty="0">
                <a:solidFill>
                  <a:srgbClr val="FFFFFF"/>
                </a:solidFill>
                <a:latin typeface="Inter Text" pitchFamily="34" charset="0"/>
                <a:ea typeface="Inter Text" pitchFamily="34" charset="-122"/>
                <a:cs typeface="Inter Text" pitchFamily="34" charset="-120"/>
              </a:rPr>
              <a:t>— ich freue mich auf die Diskussion in der WG1.</a:t>
            </a:r>
          </a:p>
        </p:txBody>
      </p:sp>
      <p:sp>
        <p:nvSpPr>
          <p:cNvPr id="19" name="Speaker 19">
            <a:hlinkClick r:id="rId9"/>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de-DE" sz="1000" spc="100" dirty="0">
                <a:solidFill>
                  <a:srgbClr val="8EA0CC"/>
                </a:solidFill>
                <a:latin typeface="Inter Medium Text Medium" pitchFamily="34" charset="0"/>
                <a:ea typeface="Inter Medium Text Medium" pitchFamily="34" charset="-122"/>
                <a:cs typeface="Inter Medium Text Medium" pitchFamily="34" charset="-120"/>
              </a:rPr>
              <a:t>© Svante Schubert</a:t>
            </a:r>
          </a:p>
        </p:txBody>
      </p:sp>
      <p:sp>
        <p:nvSpPr>
          <p:cNvPr id="20" name="QR Card pptx"/>
          <p:cNvSpPr/>
          <p:nvPr/>
        </p:nvSpPr>
        <p:spPr>
          <a:xfrm>
            <a:off x="9902952" y="822960"/>
            <a:ext cx="1463040" cy="146304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de-DE"/>
          </a:p>
        </p:txBody>
      </p:sp>
      <p:pic>
        <p:nvPicPr>
          <p:cNvPr id="21" name="QR Slides pptx" descr="QR code: slides as PPTX (https://svanteschubert.github.io/testy/ZUGFeRD_Entwicklertage_2026_SvanteSchubert_Syntax-Binding_EN.pptx)">
            <a:hlinkClick r:id="rId16"/>
          </p:cNvPr>
          <p:cNvPicPr>
            <a:picLocks noChangeAspect="1"/>
          </p:cNvPicPr>
          <p:nvPr/>
        </p:nvPicPr>
        <p:blipFill>
          <a:blip r:embed="rId17"/>
          <a:stretch>
            <a:fillRect/>
          </a:stretch>
        </p:blipFill>
        <p:spPr>
          <a:xfrm>
            <a:off x="9976104" y="896112"/>
            <a:ext cx="1316736" cy="1316736"/>
          </a:xfrm>
          <a:prstGeom prst="rect">
            <a:avLst/>
          </a:prstGeom>
        </p:spPr>
      </p:pic>
      <p:sp>
        <p:nvSpPr>
          <p:cNvPr id="22" name="QR Caption pptx">
            <a:hlinkClick r:id="rId16"/>
          </p:cNvPr>
          <p:cNvSpPr txBox="1"/>
          <p:nvPr/>
        </p:nvSpPr>
        <p:spPr>
          <a:xfrm>
            <a:off x="9537192" y="2340864"/>
            <a:ext cx="2194560" cy="256032"/>
          </a:xfrm>
          <a:prstGeom prst="rect">
            <a:avLst/>
          </a:prstGeom>
          <a:noFill/>
          <a:ln/>
        </p:spPr>
        <p:txBody>
          <a:bodyPr wrap="square" lIns="0" tIns="0" rIns="0" bIns="0" rtlCol="0" anchor="ctr"/>
          <a:lstStyle/>
          <a:p>
            <a:pPr marL="0" indent="0" algn="ctr">
              <a:buNone/>
            </a:pPr>
            <a:r>
              <a:rPr lang="de-DE" sz="1000" spc="100" dirty="0">
                <a:solidFill>
                  <a:srgbClr val="C4D2F4"/>
                </a:solidFill>
                <a:latin typeface="Inter Medium Text Medium" pitchFamily="34" charset="0"/>
                <a:ea typeface="Inter Medium Text Medium" pitchFamily="34" charset="-122"/>
                <a:cs typeface="Inter Medium Text Medium" pitchFamily="34" charset="-120"/>
              </a:rPr>
              <a:t>Folien als 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TotalTime>
  <Words>13885</Words>
  <Application>Microsoft Macintosh PowerPoint</Application>
  <PresentationFormat>Widescreen</PresentationFormat>
  <Paragraphs>1503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Consolas</vt:lpstr>
      <vt:lpstr>Inter Text</vt:lpstr>
      <vt:lpstr>Arial</vt:lpstr>
      <vt:lpstr>Inter SemiBold Text SemiBold</vt:lpstr>
      <vt:lpstr>Inter Medium Text Medium</vt:lpstr>
      <vt:lpstr>Inter Light Text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Schubert Consulting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Rounding and gross prices in EN 16931 (excerpt)</dc:title>
  <dc:subject>Update on the syntax binding (EN)</dc:subject>
  <dc:creator>Svante Schubert</dc:creator>
  <cp:keywords/>
  <dc:description>ZUGFeRD Entwicklertage 2026</dc:description>
  <cp:lastModifiedBy>Svante Schubert</cp:lastModifiedBy>
  <cp:revision>58</cp:revision>
  <dcterms:created xsi:type="dcterms:W3CDTF">2026-06-19T07:48:12Z</dcterms:created>
  <dcterms:modified xsi:type="dcterms:W3CDTF">2026-10-15T08:47:41Z</dcterms:modified>
  <cp:category/>
</cp:coreProperties>
</file>